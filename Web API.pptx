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1" r:id="rId13"/>
    <p:sldId id="282" r:id="rId14"/>
    <p:sldId id="268" r:id="rId15"/>
    <p:sldId id="272" r:id="rId16"/>
    <p:sldId id="269" r:id="rId17"/>
    <p:sldId id="270" r:id="rId18"/>
    <p:sldId id="271" r:id="rId19"/>
    <p:sldId id="273" r:id="rId20"/>
    <p:sldId id="274" r:id="rId21"/>
    <p:sldId id="277" r:id="rId22"/>
    <p:sldId id="275" r:id="rId23"/>
    <p:sldId id="278" r:id="rId24"/>
    <p:sldId id="279" r:id="rId25"/>
    <p:sldId id="276" r:id="rId26"/>
    <p:sldId id="280" r:id="rId27"/>
    <p:sldId id="281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13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2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7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95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9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5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32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9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17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9043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38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97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99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74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9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9F313F4-CDFA-4786-A897-17E006B9CFCF}" type="datetimeFigureOut">
              <a:rPr lang="en-US" smtClean="0"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88DA071-83C6-445C-99C1-F26DF14C7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399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232/api/employee/88" TargetMode="External"/><Relationship Id="rId2" Type="http://schemas.openxmlformats.org/officeDocument/2006/relationships/hyperlink" Target="http://localhost:5232/api/employe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host-and-deploy/iis/hosting-bundle?view=aspnetcore-8.0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file:///C:\inetpub\wwwroot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CEB2E37-4DFD-A2C8-3698-4025B7578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40D30F6-7C7D-3179-B5D8-10D2CD2B11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2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25312C-447D-4554-132C-C7E62DC0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807" y="0"/>
            <a:ext cx="10353762" cy="697584"/>
          </a:xfrm>
        </p:spPr>
        <p:txBody>
          <a:bodyPr>
            <a:noAutofit/>
          </a:bodyPr>
          <a:lstStyle/>
          <a:p>
            <a:r>
              <a:rPr lang="en-US" sz="2400" dirty="0"/>
              <a:t>Assume we want to make application with 2 version</a:t>
            </a:r>
            <a:br>
              <a:rPr lang="en-US" sz="2400" dirty="0"/>
            </a:br>
            <a:r>
              <a:rPr lang="en-US" sz="2400" dirty="0"/>
              <a:t>Web App , mobile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24E555-AF14-8749-54D7-4F01BC3A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810706"/>
            <a:ext cx="10353762" cy="5608948"/>
          </a:xfrm>
        </p:spPr>
        <p:txBody>
          <a:bodyPr/>
          <a:lstStyle/>
          <a:p>
            <a:r>
              <a:rPr lang="en-US" dirty="0"/>
              <a:t>Any app in general consist of 3 layers: UI, Code, DB (Storage) for example</a:t>
            </a:r>
          </a:p>
          <a:p>
            <a:pPr marL="369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model has some of drawbacks</a:t>
            </a:r>
          </a:p>
          <a:p>
            <a:pPr lvl="1"/>
            <a:r>
              <a:rPr lang="en-US" dirty="0"/>
              <a:t>Separated DB: SQL Server, SQLite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need to reconcile changes: </a:t>
            </a:r>
            <a:r>
              <a:rPr lang="ar-EG" dirty="0"/>
              <a:t>محتاجين الاتنين داتا بيز يسمعوا فى بعض</a:t>
            </a:r>
            <a:endParaRPr lang="en-US" dirty="0"/>
          </a:p>
          <a:p>
            <a:pPr lvl="1"/>
            <a:r>
              <a:rPr lang="en-US" dirty="0"/>
              <a:t>need two implementations for java and C# (duplication of code) because of syntax</a:t>
            </a:r>
          </a:p>
          <a:p>
            <a:pPr lvl="1"/>
            <a:r>
              <a:rPr lang="en-US" dirty="0"/>
              <a:t>mobile processing is weak to execute the layer the of code and layer of DB so these two layers are executed on different machine</a:t>
            </a:r>
          </a:p>
          <a:p>
            <a:r>
              <a:rPr lang="en-US" dirty="0"/>
              <a:t>To solve these problems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C5C9B19E-4A93-3433-D5E6-783CD0D98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054207"/>
              </p:ext>
            </p:extLst>
          </p:nvPr>
        </p:nvGraphicFramePr>
        <p:xfrm>
          <a:off x="1391935" y="1527143"/>
          <a:ext cx="4632753" cy="1545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4251">
                  <a:extLst>
                    <a:ext uri="{9D8B030D-6E8A-4147-A177-3AD203B41FA5}">
                      <a16:colId xmlns:a16="http://schemas.microsoft.com/office/drawing/2014/main" xmlns="" val="1980617982"/>
                    </a:ext>
                  </a:extLst>
                </a:gridCol>
                <a:gridCol w="1544251">
                  <a:extLst>
                    <a:ext uri="{9D8B030D-6E8A-4147-A177-3AD203B41FA5}">
                      <a16:colId xmlns:a16="http://schemas.microsoft.com/office/drawing/2014/main" xmlns="" val="3059332618"/>
                    </a:ext>
                  </a:extLst>
                </a:gridCol>
                <a:gridCol w="1544251">
                  <a:extLst>
                    <a:ext uri="{9D8B030D-6E8A-4147-A177-3AD203B41FA5}">
                      <a16:colId xmlns:a16="http://schemas.microsoft.com/office/drawing/2014/main" xmlns="" val="712778186"/>
                    </a:ext>
                  </a:extLst>
                </a:gridCol>
              </a:tblGrid>
              <a:tr h="3825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mobile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0598555"/>
                  </a:ext>
                </a:extLst>
              </a:tr>
              <a:tr h="387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XML android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5056423"/>
                  </a:ext>
                </a:extLst>
              </a:tr>
              <a:tr h="387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Java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35055513"/>
                  </a:ext>
                </a:extLst>
              </a:tr>
              <a:tr h="3878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SQL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SQLITE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99923253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958648AF-296E-5AB4-FCE9-D54DD6D36BDA}"/>
              </a:ext>
            </a:extLst>
          </p:cNvPr>
          <p:cNvSpPr/>
          <p:nvPr/>
        </p:nvSpPr>
        <p:spPr>
          <a:xfrm>
            <a:off x="2819575" y="5330857"/>
            <a:ext cx="3205113" cy="46191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7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D49BFB-01BE-3302-8753-89A59B985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9" y="188537"/>
            <a:ext cx="5331370" cy="399225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DE464A-CD2E-D62A-3694-A52DA792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091"/>
            <a:ext cx="5331370" cy="3902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A8C5FE2-F78B-460E-C49E-E8B733CE854B}"/>
              </a:ext>
            </a:extLst>
          </p:cNvPr>
          <p:cNvSpPr txBox="1"/>
          <p:nvPr/>
        </p:nvSpPr>
        <p:spPr>
          <a:xfrm>
            <a:off x="5331370" y="131975"/>
            <a:ext cx="686062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solve the previous problems we will implement this model</a:t>
            </a:r>
          </a:p>
          <a:p>
            <a:r>
              <a:rPr lang="en-US" dirty="0"/>
              <a:t>	DB:  will be on different machine</a:t>
            </a:r>
          </a:p>
          <a:p>
            <a:r>
              <a:rPr lang="en-US" dirty="0"/>
              <a:t>	Code: will be on different machine</a:t>
            </a:r>
          </a:p>
          <a:p>
            <a:r>
              <a:rPr lang="en-US" dirty="0"/>
              <a:t>	UI : will be on different machine</a:t>
            </a:r>
          </a:p>
          <a:p>
            <a:endParaRPr lang="en-US" dirty="0"/>
          </a:p>
          <a:p>
            <a:r>
              <a:rPr lang="en-US" dirty="0"/>
              <a:t>This model is consider the </a:t>
            </a:r>
            <a:r>
              <a:rPr lang="en-US" sz="2000" b="1" dirty="0">
                <a:solidFill>
                  <a:srgbClr val="FF0000"/>
                </a:solidFill>
              </a:rPr>
              <a:t>web service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  <a:p>
            <a:r>
              <a:rPr lang="en-US" dirty="0"/>
              <a:t>We have some challenges on this model</a:t>
            </a:r>
          </a:p>
          <a:p>
            <a:r>
              <a:rPr lang="en-US" dirty="0"/>
              <a:t>	how machines communicate with each others</a:t>
            </a:r>
          </a:p>
          <a:p>
            <a:r>
              <a:rPr lang="en-US" dirty="0"/>
              <a:t>	how IOS or Java call the methods of C# </a:t>
            </a:r>
          </a:p>
          <a:p>
            <a:r>
              <a:rPr lang="en-US" dirty="0"/>
              <a:t>	how to send and receive data between IOS or C#</a:t>
            </a:r>
          </a:p>
          <a:p>
            <a:r>
              <a:rPr lang="en-US" dirty="0"/>
              <a:t>	desc of service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implement </a:t>
            </a:r>
            <a:r>
              <a:rPr lang="en-US" b="1" dirty="0">
                <a:solidFill>
                  <a:srgbClr val="FF0000"/>
                </a:solidFill>
              </a:rPr>
              <a:t>Web Service</a:t>
            </a:r>
            <a:r>
              <a:rPr lang="en-US" dirty="0"/>
              <a:t> you have 2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SOAP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REST: Web API, HTTP Service,, HTTP API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Any function on the server called http resources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1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1AA4D0-32B8-D465-72E4-9E5EA863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0"/>
            <a:ext cx="10353762" cy="970450"/>
          </a:xfrm>
        </p:spPr>
        <p:txBody>
          <a:bodyPr/>
          <a:lstStyle/>
          <a:p>
            <a:r>
              <a:rPr lang="en-US" dirty="0"/>
              <a:t>Web service model (SOAP, REST)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F6986694-E71F-D921-DE2E-0889684E6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519" y="970450"/>
            <a:ext cx="8116478" cy="5713157"/>
          </a:xfrm>
        </p:spPr>
      </p:pic>
    </p:spTree>
    <p:extLst>
      <p:ext uri="{BB962C8B-B14F-4D97-AF65-F5344CB8AC3E}">
        <p14:creationId xmlns:p14="http://schemas.microsoft.com/office/powerpoint/2010/main" val="188908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5C5FFE-186A-D151-3275-1ADC7B35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 dirty="0"/>
              <a:t>When and why we use web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7C61245-BC43-47EF-A883-D79691AD5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40" y="970450"/>
            <a:ext cx="11557262" cy="5571751"/>
          </a:xfrm>
        </p:spPr>
        <p:txBody>
          <a:bodyPr/>
          <a:lstStyle/>
          <a:p>
            <a:r>
              <a:rPr lang="en-US" dirty="0"/>
              <a:t>If we want to make more than version of your app </a:t>
            </a:r>
            <a:r>
              <a:rPr lang="en-US" dirty="0">
                <a:sym typeface="Wingdings" panose="05000000000000000000" pitchFamily="2" charset="2"/>
              </a:rPr>
              <a:t> android, web, IOS, Flutter, Desktop</a:t>
            </a:r>
          </a:p>
          <a:p>
            <a:r>
              <a:rPr lang="en-US" dirty="0">
                <a:sym typeface="Wingdings" panose="05000000000000000000" pitchFamily="2" charset="2"/>
              </a:rPr>
              <a:t>Separation : you can build front and back separately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74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E55BDD-B211-E3F1-9593-D3B65752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3417"/>
            <a:ext cx="10353762" cy="729008"/>
          </a:xfrm>
        </p:spPr>
        <p:txBody>
          <a:bodyPr/>
          <a:lstStyle/>
          <a:p>
            <a:r>
              <a:rPr lang="en-US" dirty="0"/>
              <a:t>Create New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05F622B-FE31-9776-D415-42468850A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090" y="716291"/>
            <a:ext cx="8484729" cy="26465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FF67931-DBCB-14BD-A6B1-C547811B8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0" y="3445864"/>
            <a:ext cx="6312669" cy="335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1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6D7753-042C-2BBE-B055-4C16B1425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8642"/>
            <a:ext cx="10353762" cy="695502"/>
          </a:xfrm>
        </p:spPr>
        <p:txBody>
          <a:bodyPr>
            <a:normAutofit/>
          </a:bodyPr>
          <a:lstStyle/>
          <a:p>
            <a:r>
              <a:rPr lang="en-US" sz="2800" dirty="0"/>
              <a:t>Create Controller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D9268DBD-357E-4EED-1D16-F82D62F99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070" y="614395"/>
            <a:ext cx="5989850" cy="25377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7E67582-70D1-2352-67E5-64F778DB3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773" y="3236950"/>
            <a:ext cx="9407951" cy="360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33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BDA73E-142D-6157-061A-2E6CD5B6C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856531" cy="782425"/>
          </a:xfrm>
        </p:spPr>
        <p:txBody>
          <a:bodyPr/>
          <a:lstStyle/>
          <a:p>
            <a:r>
              <a:rPr lang="en-US" dirty="0"/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E8567F-1F66-4E49-6FC2-E5CAC54A7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744719"/>
            <a:ext cx="11142482" cy="585404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r>
              <a:rPr lang="en-US" dirty="0"/>
              <a:t>                                                                       </a:t>
            </a:r>
          </a:p>
          <a:p>
            <a:endParaRPr lang="en-US" dirty="0"/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http://localhost:5232/api/employee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the output is Ahmed</a:t>
            </a:r>
          </a:p>
          <a:p>
            <a:r>
              <a:rPr lang="en-US" dirty="0">
                <a:hlinkClick r:id="rId3"/>
              </a:rPr>
              <a:t>http://localhost:5232/api/employee/88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the output is Employee name from DB with id = 88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42F0A630-441D-606B-2F3A-0C41C35BC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531" y="605301"/>
            <a:ext cx="6264061" cy="452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83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275463-2101-445B-C25A-4C608056E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43" y="0"/>
            <a:ext cx="10353762" cy="744718"/>
          </a:xfrm>
        </p:spPr>
        <p:txBody>
          <a:bodyPr/>
          <a:lstStyle/>
          <a:p>
            <a:r>
              <a:rPr lang="en-US" dirty="0"/>
              <a:t>General information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924CEC-A04D-F0E5-6EC9-CF52ED2CA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449" y="744718"/>
            <a:ext cx="10617108" cy="611328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8A12E89-619D-4B50-742E-78EFDBEB4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43" y="744718"/>
            <a:ext cx="4124325" cy="400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A7E62B7-00E1-B079-3C1C-F73D3611C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90" y="1171867"/>
            <a:ext cx="5086350" cy="34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984F2CB-4B41-8F4D-5821-CAF99B407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42" y="1535716"/>
            <a:ext cx="5232482" cy="23796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1A1D0C6-ABFC-C0D9-FA94-555C260F66F3}"/>
              </a:ext>
            </a:extLst>
          </p:cNvPr>
          <p:cNvSpPr txBox="1"/>
          <p:nvPr/>
        </p:nvSpPr>
        <p:spPr>
          <a:xfrm>
            <a:off x="6327339" y="2196445"/>
            <a:ext cx="458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control the response status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ActionResult as return DT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3AE2108B-33FD-006A-E26F-E747C3E8F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02" y="3934253"/>
            <a:ext cx="6097189" cy="2956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6B2EC7F-9685-08ED-B52A-316C8281D5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862" y="3606348"/>
            <a:ext cx="5507619" cy="326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97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7E5EE3-95A7-6C12-A394-60C9129E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934"/>
            <a:ext cx="10353762" cy="601235"/>
          </a:xfrm>
        </p:spPr>
        <p:txBody>
          <a:bodyPr>
            <a:noAutofit/>
          </a:bodyPr>
          <a:lstStyle/>
          <a:p>
            <a:r>
              <a:rPr lang="en-US" sz="3200" dirty="0"/>
              <a:t>General info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02B62E-EE2E-F099-7EE1-8518B6B53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43" y="622169"/>
            <a:ext cx="11623250" cy="574092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FromBody</a:t>
            </a:r>
            <a:r>
              <a:rPr lang="en-US" dirty="0"/>
              <a:t>] : it’s a restriction on param to be passed through body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BE6DA4-2178-690C-3B54-871F84589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8" y="731696"/>
            <a:ext cx="11229975" cy="400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3795D71-32D2-6F35-E2F6-5CEA0DDEB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57" y="2037682"/>
            <a:ext cx="11620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72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7E5EE3-95A7-6C12-A394-60C9129E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0934"/>
            <a:ext cx="10353762" cy="601235"/>
          </a:xfrm>
        </p:spPr>
        <p:txBody>
          <a:bodyPr>
            <a:noAutofit/>
          </a:bodyPr>
          <a:lstStyle/>
          <a:p>
            <a:r>
              <a:rPr lang="en-US" sz="3200" dirty="0"/>
              <a:t>General info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02B62E-EE2E-F099-7EE1-8518B6B53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43" y="622169"/>
            <a:ext cx="11623250" cy="5740924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FromBody</a:t>
            </a:r>
            <a:r>
              <a:rPr lang="en-US" dirty="0"/>
              <a:t>] : it’s a restriction on param to be passed through body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51D6EF3-2EE8-D996-BD53-2E4CC5B1A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59" y="622169"/>
            <a:ext cx="53625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79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60B41E-32D8-C10C-BA31-EC600573D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970450"/>
          </a:xfrm>
        </p:spPr>
        <p:txBody>
          <a:bodyPr/>
          <a:lstStyle/>
          <a:p>
            <a:r>
              <a:rPr lang="en-US" dirty="0"/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D875E4-681D-8F8F-EF51-9D0912325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980388"/>
            <a:ext cx="11965858" cy="5542959"/>
          </a:xfrm>
        </p:spPr>
        <p:txBody>
          <a:bodyPr>
            <a:normAutofit/>
          </a:bodyPr>
          <a:lstStyle/>
          <a:p>
            <a:r>
              <a:rPr lang="en-US" dirty="0"/>
              <a:t>The signature : api/{controller}/{id?}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You can’t have any action without http verb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{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id:int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?} optional Parameter,   {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id:int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=3} Default Value</a:t>
            </a:r>
          </a:p>
          <a:p>
            <a:r>
              <a:rPr lang="en-US" dirty="0"/>
              <a:t>HTTP Status code</a:t>
            </a:r>
          </a:p>
          <a:p>
            <a:pPr lvl="1"/>
            <a:r>
              <a:rPr lang="en-US" dirty="0"/>
              <a:t>404 : not found , at code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return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NotFound();</a:t>
            </a:r>
          </a:p>
          <a:p>
            <a:pPr lvl="1"/>
            <a:r>
              <a:rPr lang="en-US" dirty="0"/>
              <a:t>200 : success-ok, at code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Ok(res); where res is the returned data</a:t>
            </a:r>
          </a:p>
          <a:p>
            <a:pPr lvl="1"/>
            <a:r>
              <a:rPr lang="en-US" dirty="0"/>
              <a:t>204: no content, at code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NoContent();</a:t>
            </a:r>
          </a:p>
          <a:p>
            <a:pPr lvl="1"/>
            <a:r>
              <a:rPr lang="en-US" dirty="0"/>
              <a:t>201: created , at code    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latin typeface="Cascadia Mono" panose="020B0609020000020004" pitchFamily="49" charset="0"/>
              </a:rPr>
              <a:t>Created();</a:t>
            </a:r>
          </a:p>
          <a:p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</a:rPr>
              <a:t>[Consumes("application/</a:t>
            </a:r>
            <a:r>
              <a:rPr lang="en-US" sz="1600" dirty="0" err="1">
                <a:solidFill>
                  <a:schemeClr val="tx1"/>
                </a:solidFill>
                <a:latin typeface="Cascadia Mono" panose="020B0609020000020004" pitchFamily="49" charset="0"/>
              </a:rPr>
              <a:t>json</a:t>
            </a:r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</a:rPr>
              <a:t>")] //the parameter data that passes to must be in the form of </a:t>
            </a:r>
            <a:r>
              <a:rPr lang="en-US" sz="1600" dirty="0" err="1">
                <a:solidFill>
                  <a:schemeClr val="tx1"/>
                </a:solidFill>
                <a:latin typeface="Cascadia Mono" panose="020B0609020000020004" pitchFamily="49" charset="0"/>
              </a:rPr>
              <a:t>json</a:t>
            </a:r>
            <a:endParaRPr lang="en-US" sz="1600" dirty="0">
              <a:solidFill>
                <a:schemeClr val="tx1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</a:rPr>
              <a:t>[Consumes("text/xml") //the parameter data that passes to must be in the form of xml</a:t>
            </a:r>
          </a:p>
          <a:p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</a:rPr>
              <a:t>[Produces("application/</a:t>
            </a:r>
            <a:r>
              <a:rPr lang="en-US" sz="1600" dirty="0" err="1">
                <a:solidFill>
                  <a:schemeClr val="tx1"/>
                </a:solidFill>
                <a:latin typeface="Cascadia Mono" panose="020B0609020000020004" pitchFamily="49" charset="0"/>
              </a:rPr>
              <a:t>json</a:t>
            </a:r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</a:rPr>
              <a:t>")]  // the returned data must be in the form </a:t>
            </a:r>
            <a:r>
              <a:rPr lang="en-US" sz="1600" dirty="0" err="1">
                <a:solidFill>
                  <a:schemeClr val="tx1"/>
                </a:solidFill>
                <a:latin typeface="Cascadia Mono" panose="020B0609020000020004" pitchFamily="49" charset="0"/>
              </a:rPr>
              <a:t>json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dirty="0"/>
              <a:t>Note: </a:t>
            </a:r>
            <a:r>
              <a:rPr lang="en-US" sz="2000" dirty="0">
                <a:solidFill>
                  <a:schemeClr val="tx1"/>
                </a:solidFill>
                <a:latin typeface="Cascadia Mono" panose="020B0609020000020004" pitchFamily="49" charset="0"/>
              </a:rPr>
              <a:t>Consumes, Produces can assign to Action, controller, application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5AC1B28-0FED-C5D0-7C2E-5D16E546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962" y="1893689"/>
            <a:ext cx="4124325" cy="400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61BDC23-6234-F293-5FE9-98EAB0999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1" y="1922264"/>
            <a:ext cx="50863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87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E13325-2E91-D639-4B7F-CC072EAF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source parameter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4E6910C-CF08-B477-A699-11BB6CE9B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68351"/>
          </a:xfrm>
        </p:spPr>
        <p:txBody>
          <a:bodyPr/>
          <a:lstStyle/>
          <a:p>
            <a:r>
              <a:rPr lang="en-US" dirty="0"/>
              <a:t>A binding source attribute defines the location at which an action parameter's value is found. The following binding source attributes exist: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[</a:t>
            </a:r>
            <a:r>
              <a:rPr lang="en-US" sz="2400" b="1" dirty="0" err="1">
                <a:solidFill>
                  <a:srgbClr val="FF0000"/>
                </a:solidFill>
              </a:rPr>
              <a:t>FromBody</a:t>
            </a:r>
            <a:r>
              <a:rPr lang="en-US" sz="2400" b="1" dirty="0">
                <a:solidFill>
                  <a:srgbClr val="FF0000"/>
                </a:solidFill>
              </a:rPr>
              <a:t>]</a:t>
            </a:r>
            <a:r>
              <a:rPr lang="en-US" b="1" dirty="0"/>
              <a:t> </a:t>
            </a:r>
            <a:r>
              <a:rPr lang="en-US" dirty="0"/>
              <a:t>: Request body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[</a:t>
            </a:r>
            <a:r>
              <a:rPr lang="en-US" sz="2400" b="1" dirty="0" err="1">
                <a:solidFill>
                  <a:srgbClr val="FF0000"/>
                </a:solidFill>
              </a:rPr>
              <a:t>FromForm</a:t>
            </a:r>
            <a:r>
              <a:rPr lang="en-US" sz="2400" b="1" dirty="0">
                <a:solidFill>
                  <a:srgbClr val="FF0000"/>
                </a:solidFill>
              </a:rPr>
              <a:t>] </a:t>
            </a:r>
            <a:r>
              <a:rPr lang="en-US" dirty="0"/>
              <a:t>: Form data in the request body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[</a:t>
            </a:r>
            <a:r>
              <a:rPr lang="en-US" sz="2400" b="1" dirty="0" err="1">
                <a:solidFill>
                  <a:srgbClr val="FF0000"/>
                </a:solidFill>
              </a:rPr>
              <a:t>FromHeader</a:t>
            </a:r>
            <a:r>
              <a:rPr lang="en-US" sz="2400" b="1" dirty="0">
                <a:solidFill>
                  <a:srgbClr val="FF0000"/>
                </a:solidFill>
              </a:rPr>
              <a:t>] </a:t>
            </a:r>
            <a:r>
              <a:rPr lang="en-US" dirty="0"/>
              <a:t>: Request header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[</a:t>
            </a:r>
            <a:r>
              <a:rPr lang="en-US" sz="2400" b="1" dirty="0" err="1">
                <a:solidFill>
                  <a:srgbClr val="FF0000"/>
                </a:solidFill>
              </a:rPr>
              <a:t>FromQuery</a:t>
            </a:r>
            <a:r>
              <a:rPr lang="en-US" sz="2400" b="1" dirty="0">
                <a:solidFill>
                  <a:srgbClr val="FF0000"/>
                </a:solidFill>
              </a:rPr>
              <a:t>]</a:t>
            </a:r>
            <a:r>
              <a:rPr lang="en-US" dirty="0"/>
              <a:t> : Request query string parameter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[</a:t>
            </a:r>
            <a:r>
              <a:rPr lang="en-US" sz="2400" b="1" dirty="0" err="1">
                <a:solidFill>
                  <a:srgbClr val="FF0000"/>
                </a:solidFill>
              </a:rPr>
              <a:t>FromRoute</a:t>
            </a:r>
            <a:r>
              <a:rPr lang="en-US" sz="2400" b="1" dirty="0">
                <a:solidFill>
                  <a:srgbClr val="FF0000"/>
                </a:solidFill>
              </a:rPr>
              <a:t>] </a:t>
            </a:r>
            <a:r>
              <a:rPr lang="en-US" dirty="0"/>
              <a:t>: Route data from the current request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[</a:t>
            </a:r>
            <a:r>
              <a:rPr lang="en-US" sz="2400" b="1" dirty="0" err="1">
                <a:solidFill>
                  <a:srgbClr val="FF0000"/>
                </a:solidFill>
              </a:rPr>
              <a:t>ExcludeFromDescription</a:t>
            </a:r>
            <a:r>
              <a:rPr lang="en-US" sz="2400" b="1" dirty="0">
                <a:solidFill>
                  <a:srgbClr val="FF0000"/>
                </a:solidFill>
              </a:rPr>
              <a:t>] </a:t>
            </a:r>
            <a:r>
              <a:rPr lang="en-US" dirty="0"/>
              <a:t>: not be included in the generated API metadata.</a:t>
            </a:r>
          </a:p>
        </p:txBody>
      </p:sp>
    </p:spTree>
    <p:extLst>
      <p:ext uri="{BB962C8B-B14F-4D97-AF65-F5344CB8AC3E}">
        <p14:creationId xmlns:p14="http://schemas.microsoft.com/office/powerpoint/2010/main" val="2195886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AA47DA-7229-414C-4660-C6603A28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818050"/>
          </a:xfrm>
        </p:spPr>
        <p:txBody>
          <a:bodyPr/>
          <a:lstStyle/>
          <a:p>
            <a:r>
              <a:rPr lang="en-US" dirty="0" err="1"/>
              <a:t>GetALL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E5BB1F-1470-AF12-6F8E-52C5092F3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242" y="914400"/>
            <a:ext cx="11965757" cy="5646655"/>
          </a:xfrm>
        </p:spPr>
        <p:txBody>
          <a:bodyPr/>
          <a:lstStyle/>
          <a:p>
            <a:r>
              <a:rPr lang="en-US" dirty="0"/>
              <a:t>Write a method to get all courses</a:t>
            </a:r>
          </a:p>
          <a:p>
            <a:pPr lvl="1"/>
            <a:r>
              <a:rPr lang="en-US" sz="2000" dirty="0"/>
              <a:t> If found any course : return 200 status code + List of courses</a:t>
            </a:r>
          </a:p>
          <a:p>
            <a:pPr lvl="1"/>
            <a:r>
              <a:rPr lang="en-US" sz="2000" dirty="0"/>
              <a:t> If not found any course: return 404 status code, </a:t>
            </a:r>
          </a:p>
          <a:p>
            <a:pPr marL="369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5250E1F-5E5D-0BD4-073D-41EC84A5B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42" y="2708868"/>
            <a:ext cx="11764651" cy="3234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get()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36900" indent="0">
              <a:buNone/>
            </a:pP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appContext.Courses.ToList</a:t>
            </a:r>
            <a:r>
              <a:rPr lang="fr-F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res.Count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0)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Ok(res);       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NotFound();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altLang="en-US" sz="3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773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DB9C14-675C-926E-C273-BA971DDA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405352"/>
          </a:xfrm>
        </p:spPr>
        <p:txBody>
          <a:bodyPr>
            <a:noAutofit/>
          </a:bodyPr>
          <a:lstStyle/>
          <a:p>
            <a:r>
              <a:rPr lang="en-US" sz="2400" b="1" dirty="0"/>
              <a:t>Get by name &amp; get by name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93F467-4280-700F-9F4B-5710B14D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575035"/>
            <a:ext cx="11698664" cy="6282964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dirty="0"/>
              <a:t>Get by id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Get </a:t>
            </a:r>
            <a:r>
              <a:rPr lang="en-US"/>
              <a:t>by name</a:t>
            </a:r>
          </a:p>
          <a:p>
            <a:pPr marL="3690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FA5979D-8C88-622F-9E1B-86EFC500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537" y="984991"/>
            <a:ext cx="10862821" cy="265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id:int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course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(x=&gt;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(course==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NotFound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Ok(course);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US" altLang="en-US" sz="18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7D475B7C-186A-EA8D-464E-E33DC21AB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68" y="4128884"/>
            <a:ext cx="10862821" cy="265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</a:t>
            </a:r>
            <a:r>
              <a:rPr lang="en-US" sz="1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name:alpha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couseByName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course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x.CrsName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name);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(course ==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NotFound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Ok(course);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US" altLang="en-US" sz="1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718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45E11F-1FE6-91FD-FC49-4444C273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31596"/>
          </a:xfrm>
        </p:spPr>
        <p:txBody>
          <a:bodyPr>
            <a:normAutofit fontScale="90000"/>
          </a:bodyPr>
          <a:lstStyle/>
          <a:p>
            <a:r>
              <a:rPr lang="en-US" dirty="0"/>
              <a:t>Delete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6C4FC5-8754-261F-854B-DC639836E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06" y="801279"/>
            <a:ext cx="11902909" cy="5844618"/>
          </a:xfrm>
        </p:spPr>
        <p:txBody>
          <a:bodyPr/>
          <a:lstStyle/>
          <a:p>
            <a:r>
              <a:rPr lang="en-US" sz="2400" dirty="0" err="1"/>
              <a:t>deleteCourse</a:t>
            </a:r>
            <a:r>
              <a:rPr lang="en-US" sz="2400" dirty="0"/>
              <a:t>(id) </a:t>
            </a:r>
          </a:p>
          <a:p>
            <a:pPr lvl="1"/>
            <a:r>
              <a:rPr lang="en-US" sz="2000" dirty="0"/>
              <a:t>If id not found in course list: return 404 status code </a:t>
            </a:r>
          </a:p>
          <a:p>
            <a:pPr lvl="1"/>
            <a:r>
              <a:rPr lang="en-US" sz="2000" dirty="0"/>
              <a:t>If course is found delete it and return 200 status code + List of courses.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4ECD6210-D191-04A9-AD3A-E76E84C67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42" y="2299526"/>
            <a:ext cx="11764651" cy="4053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HttpDelete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deleteCourse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res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appContext.Courses.FirstOrDefault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(res ==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NotFound();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appContext.Courses.Remove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(res);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appContext.SaveChanges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get();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the previous function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US" altLang="en-US" sz="3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653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DB9C14-675C-926E-C273-BA971DDA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405352"/>
          </a:xfrm>
        </p:spPr>
        <p:txBody>
          <a:bodyPr>
            <a:noAutofit/>
          </a:bodyPr>
          <a:lstStyle/>
          <a:p>
            <a:r>
              <a:rPr lang="en-US" sz="2400" b="1" dirty="0"/>
              <a:t>Update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93F467-4280-700F-9F4B-5710B14D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299031"/>
            <a:ext cx="11698664" cy="6558968"/>
          </a:xfrm>
        </p:spPr>
        <p:txBody>
          <a:bodyPr>
            <a:normAutofit/>
          </a:bodyPr>
          <a:lstStyle/>
          <a:p>
            <a:r>
              <a:rPr lang="en-US" dirty="0"/>
              <a:t>put(id, course) :</a:t>
            </a:r>
          </a:p>
          <a:p>
            <a:pPr lvl="1"/>
            <a:r>
              <a:rPr lang="en-US" dirty="0"/>
              <a:t>If id != course.id : return 400 status code. </a:t>
            </a:r>
          </a:p>
          <a:p>
            <a:pPr lvl="1"/>
            <a:r>
              <a:rPr lang="en-US" dirty="0"/>
              <a:t>If id not found in course list : return 404 status code. </a:t>
            </a:r>
          </a:p>
          <a:p>
            <a:pPr lvl="1"/>
            <a:r>
              <a:rPr lang="en-US" dirty="0"/>
              <a:t>If found update course and return 204 status code.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[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FromBody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] : it’s a restriction on param to be passed through body and it’s the default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FA5979D-8C88-622F-9E1B-86EFC500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674" y="2017441"/>
            <a:ext cx="10862821" cy="4333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Put([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FromRoute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]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id,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FromBody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 Course course)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(id !=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course.Id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             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BadRequest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          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DBCourse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DBCourse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NotFound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to avoid conflicting tracked entities with the same key value.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appContext.Entry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DBCourse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).State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Microsoft.EntityFrameworkCore.EntityState.Detached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               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appContext.Entry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(course).State =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Microsoft.EntityFrameworkCore.EntityState.Modified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appContext.SaveChanges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  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NoContent(); // 204 status code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en-US" altLang="en-US" sz="2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43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DB9C14-675C-926E-C273-BA971DDA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405352"/>
          </a:xfrm>
        </p:spPr>
        <p:txBody>
          <a:bodyPr>
            <a:noAutofit/>
          </a:bodyPr>
          <a:lstStyle/>
          <a:p>
            <a:r>
              <a:rPr lang="en-US" sz="2400" b="1" dirty="0"/>
              <a:t>post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93F467-4280-700F-9F4B-5710B14DE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299031"/>
            <a:ext cx="11698664" cy="655896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US" dirty="0"/>
          </a:p>
          <a:p>
            <a:r>
              <a:rPr lang="en-US" dirty="0"/>
              <a:t>[</a:t>
            </a:r>
            <a:r>
              <a:rPr lang="en-US" dirty="0" err="1"/>
              <a:t>FromBody</a:t>
            </a:r>
            <a:r>
              <a:rPr lang="en-US" dirty="0"/>
              <a:t>] : it’s a restriction on param to be passed through body and it’s the default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FA5979D-8C88-622F-9E1B-86EFC5008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91474"/>
            <a:ext cx="7902804" cy="33270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HttpPost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post(Course course)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(course ==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BadRequest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appContext.Courses.Add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(course);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appContext.SaveChanges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//return Created(); // 201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Created(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"course inserted successfully"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,course); </a:t>
            </a:r>
            <a:r>
              <a:rPr lang="en-US" sz="1400" dirty="0">
                <a:solidFill>
                  <a:srgbClr val="008000"/>
                </a:solidFill>
                <a:latin typeface="Cascadia Mono" panose="020B0609020000020004" pitchFamily="49" charset="0"/>
              </a:rPr>
              <a:t>// 201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US" altLang="en-US" sz="18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0C07D46-9346-A05A-2362-99DEFC47F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804" y="1191180"/>
            <a:ext cx="4194928" cy="3327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4CD5C42-FC28-07A3-E5E5-58CF316AF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1831"/>
            <a:ext cx="7154944" cy="4000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46B2EC7F-9685-08ED-B52A-316C8281D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212" y="4611831"/>
            <a:ext cx="4402318" cy="2114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41381AB-16FF-9711-4538-AD1ECFE93CDB}"/>
              </a:ext>
            </a:extLst>
          </p:cNvPr>
          <p:cNvSpPr txBox="1"/>
          <p:nvPr/>
        </p:nvSpPr>
        <p:spPr>
          <a:xfrm>
            <a:off x="160255" y="5481860"/>
            <a:ext cx="6495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CreatedAtAction</a:t>
            </a:r>
            <a:r>
              <a:rPr lang="en-US" dirty="0"/>
              <a:t> used to generate URL asking for specified method at this example I asked the method </a:t>
            </a:r>
            <a:r>
              <a:rPr lang="en-US" dirty="0" err="1"/>
              <a:t>getbyid</a:t>
            </a:r>
            <a:r>
              <a:rPr lang="en-US" dirty="0"/>
              <a:t>(int id) and passed its parameter as anonymous object</a:t>
            </a:r>
          </a:p>
        </p:txBody>
      </p:sp>
    </p:spTree>
    <p:extLst>
      <p:ext uri="{BB962C8B-B14F-4D97-AF65-F5344CB8AC3E}">
        <p14:creationId xmlns:p14="http://schemas.microsoft.com/office/powerpoint/2010/main" val="3934963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ADF20-20F8-A780-9594-DF1C0444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0361"/>
            <a:ext cx="10353762" cy="554101"/>
          </a:xfrm>
        </p:spPr>
        <p:txBody>
          <a:bodyPr>
            <a:normAutofit fontScale="90000"/>
          </a:bodyPr>
          <a:lstStyle/>
          <a:p>
            <a:r>
              <a:rPr lang="en-US" dirty="0"/>
              <a:t>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72654A-311A-F825-28F0-3AAC79F21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474" y="584462"/>
            <a:ext cx="11161335" cy="5835191"/>
          </a:xfrm>
        </p:spPr>
        <p:txBody>
          <a:bodyPr/>
          <a:lstStyle/>
          <a:p>
            <a:r>
              <a:rPr lang="en-US" dirty="0"/>
              <a:t>Remember we have the application (flutter, web, android) and API</a:t>
            </a:r>
          </a:p>
          <a:p>
            <a:r>
              <a:rPr lang="en-US" dirty="0"/>
              <a:t>Serialize: convert the data object into common format like JSON or XML</a:t>
            </a:r>
          </a:p>
          <a:p>
            <a:r>
              <a:rPr lang="en-US" dirty="0"/>
              <a:t>Deserialize: convert common format like JSON or XML like understanded object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175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64C65F-D2D8-C828-B19C-F994B1A3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"/>
            <a:ext cx="10353762" cy="584462"/>
          </a:xfrm>
        </p:spPr>
        <p:txBody>
          <a:bodyPr>
            <a:normAutofit fontScale="90000"/>
          </a:bodyPr>
          <a:lstStyle/>
          <a:p>
            <a:r>
              <a:rPr lang="en-US" dirty="0"/>
              <a:t>Dot Net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F772CE-3C33-C12D-BDC1-76FBB0303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56" y="584463"/>
            <a:ext cx="10755983" cy="5759776"/>
          </a:xfrm>
        </p:spPr>
        <p:txBody>
          <a:bodyPr/>
          <a:lstStyle/>
          <a:p>
            <a:r>
              <a:rPr lang="en-US" dirty="0"/>
              <a:t>The Dot Net Applications are hosted on IIS</a:t>
            </a:r>
          </a:p>
          <a:p>
            <a:r>
              <a:rPr lang="en-US" dirty="0"/>
              <a:t>IIS : is Integrated server (proxy server) </a:t>
            </a:r>
          </a:p>
          <a:p>
            <a:r>
              <a:rPr lang="en-US" dirty="0"/>
              <a:t>IIS receives incoming HTTP requests, forwards them to Kestrel web server for processing, and then passes the responses back to the IIS then IIS passes it to the client</a:t>
            </a:r>
          </a:p>
          <a:p>
            <a:r>
              <a:rPr lang="en-US" dirty="0"/>
              <a:t>Kestral: manage pipeline</a:t>
            </a:r>
          </a:p>
          <a:p>
            <a:r>
              <a:rPr lang="en-US" dirty="0"/>
              <a:t>IIS : work as integrated server</a:t>
            </a:r>
          </a:p>
        </p:txBody>
      </p:sp>
    </p:spTree>
    <p:extLst>
      <p:ext uri="{BB962C8B-B14F-4D97-AF65-F5344CB8AC3E}">
        <p14:creationId xmlns:p14="http://schemas.microsoft.com/office/powerpoint/2010/main" val="3405058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CB1088-A0BE-1423-5983-63B1F2B92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03123"/>
          </a:xfrm>
        </p:spPr>
        <p:txBody>
          <a:bodyPr>
            <a:normAutofit fontScale="90000"/>
          </a:bodyPr>
          <a:lstStyle/>
          <a:p>
            <a:r>
              <a:rPr lang="en-US" dirty="0"/>
              <a:t>Navigation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B82E16-EE8B-3C48-0E90-6E82B05F8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" y="481781"/>
            <a:ext cx="12015020" cy="60960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Navigation property department is null: ok I know it because I do not use eager or lazy or explicit loading </a:t>
            </a:r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  <a:p>
            <a:r>
              <a:rPr lang="en-US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ERROR: 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JsonException: A possible object cycle was detected </a:t>
            </a:r>
            <a:r>
              <a:rPr lang="en-US" dirty="0"/>
              <a:t>  </a:t>
            </a:r>
            <a:r>
              <a:rPr lang="en-US" b="1" dirty="0"/>
              <a:t>it’s occurred when JSON serializer try to serialize navigation property of type list (Circular Exception)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62CDC57A-8872-453D-21A1-84BC375BD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780" y="453354"/>
            <a:ext cx="6931743" cy="16496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("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{id}"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ActionResult&lt;Student&gt;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getStudentById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appContext.Students.FirstOrDefault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US" altLang="en-US" sz="14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1F655C5-C770-D11C-0D9B-0D6A9BCA8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670" y="453354"/>
            <a:ext cx="2143432" cy="1657811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52755AD9-9139-55B0-761E-81215FD2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541" y="2810555"/>
            <a:ext cx="10977717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ActionResult&lt;Student&gt;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getStudentById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appContext.Students.Include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(d=&gt;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d.department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 }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409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7DD56E-FEF0-82A0-12F8-03506C0E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1166842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solve: circular exception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BCAC12-6C04-338F-35E1-C2A36991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914401"/>
            <a:ext cx="10353762" cy="5279010"/>
          </a:xfrm>
        </p:spPr>
        <p:txBody>
          <a:bodyPr/>
          <a:lstStyle/>
          <a:p>
            <a:r>
              <a:rPr lang="en-US" sz="2400" b="1" dirty="0">
                <a:solidFill>
                  <a:srgbClr val="FF0000"/>
                </a:solidFill>
              </a:rPr>
              <a:t>[JsonIgnore]</a:t>
            </a:r>
            <a:r>
              <a:rPr lang="en-US" dirty="0"/>
              <a:t>: is an attribute which tells the JSON serializer to ignore a particular  property when serializing or deserializing an object to or from JSON, but if I want to get this property later, I will not be able to do</a:t>
            </a:r>
          </a:p>
          <a:p>
            <a:r>
              <a:rPr lang="en-US" dirty="0"/>
              <a:t>If I need to control level of serialization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8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7DD56E-FEF0-82A0-12F8-03506C0E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6350"/>
            <a:ext cx="10353762" cy="670566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solve: circular exception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BCAC12-6C04-338F-35E1-C2A36991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806" y="914400"/>
            <a:ext cx="11297674" cy="5943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need to control level of serialization I need to install reference loop handling package</a:t>
            </a:r>
          </a:p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Install the Package: </a:t>
            </a:r>
          </a:p>
          <a:p>
            <a:pPr lvl="1"/>
            <a:r>
              <a:rPr lang="en-US" b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nstall-Package 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Microsoft.AspNetCore.Mvc.NewtonsoftJson</a:t>
            </a:r>
            <a:endParaRPr 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builder.Services.AddControllers().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AddNewtonsoftJson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(x=&gt;</a:t>
            </a:r>
            <a:r>
              <a:rPr lang="en-US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x.SerializerSettings.ReferenceLoopHandling</a:t>
            </a: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= Newtonsoft.Json.ReferenceLoopHandling.Ignore);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Json initializer here get the department properties id, name, location and for each </a:t>
            </a:r>
          </a:p>
          <a:p>
            <a:r>
              <a:rPr lang="en-US" dirty="0"/>
              <a:t>Student at student list it get the id, name, age, address, </a:t>
            </a:r>
            <a:r>
              <a:rPr lang="en-US" dirty="0" err="1"/>
              <a:t>dep_id</a:t>
            </a:r>
            <a:r>
              <a:rPr lang="en-US" dirty="0"/>
              <a:t> and not get the</a:t>
            </a:r>
          </a:p>
          <a:p>
            <a:r>
              <a:rPr lang="en-US" dirty="0"/>
              <a:t>Department object and that’s how to avoid circular exception</a:t>
            </a:r>
          </a:p>
          <a:p>
            <a:r>
              <a:rPr lang="en-US" dirty="0"/>
              <a:t>Once circular exception is detected </a:t>
            </a:r>
            <a:r>
              <a:rPr lang="en-US" dirty="0" err="1"/>
              <a:t>json</a:t>
            </a:r>
            <a:r>
              <a:rPr lang="en-US" dirty="0"/>
              <a:t> serializer stop and data is returned</a:t>
            </a:r>
          </a:p>
          <a:p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D81DBADC-BB28-50DB-D9DE-553F25DED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3169968"/>
            <a:ext cx="9812594" cy="16496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ActionResult&lt;Department&gt;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getDeptById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appContext.Departments.Include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(c=&gt;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c.students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en-US" altLang="en-US" sz="11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9127AF8-4118-DB7A-F837-295689F7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595" y="2781300"/>
            <a:ext cx="2379406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733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3DCBF7-55D1-95BB-861C-B3DD881E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37" y="0"/>
            <a:ext cx="10353762" cy="970450"/>
          </a:xfrm>
        </p:spPr>
        <p:txBody>
          <a:bodyPr>
            <a:noAutofit/>
          </a:bodyPr>
          <a:lstStyle/>
          <a:p>
            <a:r>
              <a:rPr lang="en-US" sz="2800" dirty="0"/>
              <a:t>But: </a:t>
            </a:r>
            <a:r>
              <a:rPr lang="en-US" sz="2800" b="1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Microsoft.AspNetCore.Mvc.NewtonsoftJson</a:t>
            </a:r>
            <a:r>
              <a:rPr lang="en-US" sz="2800" dirty="0"/>
              <a:t> has drawbacks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A826EE-BC10-5B49-B0AC-6C7352F5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4" y="1071717"/>
            <a:ext cx="11267767" cy="5309418"/>
          </a:xfrm>
        </p:spPr>
        <p:txBody>
          <a:bodyPr/>
          <a:lstStyle/>
          <a:p>
            <a:r>
              <a:rPr lang="en-US" dirty="0"/>
              <a:t>The logic does not make sense sometimes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7"/>
            <a:r>
              <a:rPr lang="en-US" sz="2800" dirty="0"/>
              <a:t>So, the suitable solution and current solution is DTO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14392D0-7F27-8C2F-11A7-B660B8527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019" y="1650349"/>
            <a:ext cx="10977717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HttpGet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ascadia Mono" panose="020B0609020000020004" pitchFamily="49" charset="0"/>
              </a:rPr>
              <a:t>"{id}"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ActionResult&lt;Student&gt;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getStudentById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appContext.Students.Include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(d=&gt;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d.department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FirstOrDefault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id); }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AE75C5B-EF91-55B9-6EEB-FE59B6CBA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3" y="3023386"/>
            <a:ext cx="2752725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0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88B85C-6183-A980-62AB-32CFB1A2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DTO (data to object)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6F29BA-29B9-6B38-47AC-591BAFD00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457201"/>
            <a:ext cx="11788878" cy="6075574"/>
          </a:xfrm>
        </p:spPr>
        <p:txBody>
          <a:bodyPr/>
          <a:lstStyle/>
          <a:p>
            <a:r>
              <a:rPr lang="en-US" dirty="0"/>
              <a:t>It’s like </a:t>
            </a:r>
            <a:r>
              <a:rPr lang="en-US" dirty="0" err="1"/>
              <a:t>ViewModel</a:t>
            </a:r>
            <a:r>
              <a:rPr lang="en-US" dirty="0"/>
              <a:t> at MVC, Create folder called DTO and make your custom class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51F693D-E9D8-59C5-6C63-B9BF358F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25" y="837584"/>
            <a:ext cx="9415409" cy="2950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FAA25E7-FD06-9A59-1455-886C80115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25" y="3896104"/>
            <a:ext cx="7826478" cy="2961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B55D559-8FB1-FD1F-7071-BC5DF817A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48" y="6648450"/>
            <a:ext cx="182880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89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EF794A-0B15-C9D2-A63B-315BAA460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92318"/>
            <a:ext cx="10353762" cy="970450"/>
          </a:xfrm>
        </p:spPr>
        <p:txBody>
          <a:bodyPr/>
          <a:lstStyle/>
          <a:p>
            <a:r>
              <a:rPr lang="en-US" dirty="0"/>
              <a:t>Consume Api at C# windows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0E3628-4994-9AD7-D142-2E837796F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062768"/>
            <a:ext cx="10353762" cy="5338031"/>
          </a:xfrm>
        </p:spPr>
        <p:txBody>
          <a:bodyPr/>
          <a:lstStyle/>
          <a:p>
            <a:r>
              <a:rPr lang="en-US" dirty="0"/>
              <a:t>Install this package : Install-Package </a:t>
            </a:r>
            <a:r>
              <a:rPr lang="en-US" dirty="0" err="1"/>
              <a:t>Microsoft.AspNet.WebApi.Client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deserialize from Json to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ccc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4FD8751-C90A-C773-7087-26F8E700D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20" y="1587041"/>
            <a:ext cx="53244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250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C67BF8-2301-125B-8AF7-83CD349D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707923"/>
          </a:xfrm>
        </p:spPr>
        <p:txBody>
          <a:bodyPr/>
          <a:lstStyle/>
          <a:p>
            <a:r>
              <a:rPr lang="en-US" dirty="0"/>
              <a:t>Consume Api at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90342B-DA8D-C46A-C9AE-AD01B513E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4" y="707924"/>
            <a:ext cx="10884310" cy="6066502"/>
          </a:xfrm>
        </p:spPr>
        <p:txBody>
          <a:bodyPr>
            <a:normAutofit/>
          </a:bodyPr>
          <a:lstStyle/>
          <a:p>
            <a:r>
              <a:rPr lang="en-US" dirty="0"/>
              <a:t>Api needs to allow cores: because the browser by default prevent request outside domain which means Ajax call does not allowed </a:t>
            </a:r>
            <a:endParaRPr lang="ar-EG" dirty="0"/>
          </a:p>
          <a:p>
            <a:r>
              <a:rPr lang="en-US" dirty="0"/>
              <a:t>So, you need to Enable Cross-Origin Requests (CORS) </a:t>
            </a:r>
          </a:p>
          <a:p>
            <a:r>
              <a:rPr lang="en-US" dirty="0"/>
              <a:t> Define string variable as Cors policy in start class </a:t>
            </a:r>
          </a:p>
          <a:p>
            <a:pPr marL="450000" lvl="1" indent="0">
              <a:buNone/>
            </a:pPr>
            <a:r>
              <a:rPr lang="en-US" b="1" dirty="0"/>
              <a:t>var MyAllowSpecificOrigins = "_myAllowSpecificOrigins"; </a:t>
            </a:r>
          </a:p>
          <a:p>
            <a:r>
              <a:rPr lang="en-US" dirty="0"/>
              <a:t>Register AddCors in ConfigureServices method</a:t>
            </a:r>
          </a:p>
          <a:p>
            <a:pPr marL="450000" lvl="1" indent="0">
              <a:buNone/>
            </a:pPr>
            <a:r>
              <a:rPr lang="en-US" dirty="0" err="1"/>
              <a:t>builder.Services.AddCors</a:t>
            </a:r>
            <a:r>
              <a:rPr lang="en-US" dirty="0"/>
              <a:t>(options =&gt; { </a:t>
            </a:r>
          </a:p>
          <a:p>
            <a:pPr marL="450000" lvl="1" indent="0">
              <a:buNone/>
            </a:pPr>
            <a:r>
              <a:rPr lang="en-US" dirty="0"/>
              <a:t>		options.AddPolicy(MyAllowSpecificOrigins, builder =&gt; {</a:t>
            </a:r>
          </a:p>
          <a:p>
            <a:pPr marL="450000" lvl="1" indent="0">
              <a:buNone/>
            </a:pPr>
            <a:r>
              <a:rPr lang="en-US" dirty="0"/>
              <a:t>	 	builder.AllowAnyOrigin();</a:t>
            </a:r>
          </a:p>
          <a:p>
            <a:pPr marL="450000" lvl="1" indent="0">
              <a:buNone/>
            </a:pPr>
            <a:r>
              <a:rPr lang="en-US" dirty="0"/>
              <a:t>	 	builder.AllowAnyMethod();</a:t>
            </a:r>
          </a:p>
          <a:p>
            <a:pPr marL="450000" lvl="1" indent="0">
              <a:buNone/>
            </a:pPr>
            <a:r>
              <a:rPr lang="en-US" dirty="0"/>
              <a:t> 	builder.AllowAnyHeader(); </a:t>
            </a:r>
          </a:p>
          <a:p>
            <a:pPr marL="450000" lvl="1" indent="0">
              <a:buNone/>
            </a:pPr>
            <a:r>
              <a:rPr lang="en-US" dirty="0"/>
              <a:t>}); });</a:t>
            </a:r>
          </a:p>
          <a:p>
            <a:r>
              <a:rPr lang="en-US" dirty="0"/>
              <a:t>Add UseCors Middleware in Configure method</a:t>
            </a:r>
          </a:p>
          <a:p>
            <a:pPr marL="450000" lvl="1" indent="0">
              <a:buNone/>
            </a:pPr>
            <a:r>
              <a:rPr lang="en-US" dirty="0"/>
              <a:t>app.UseCors(MyAllowSpecificOrigins);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90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5DA5FD-B30D-7219-5DE4-A2A84BCD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58761"/>
          </a:xfrm>
        </p:spPr>
        <p:txBody>
          <a:bodyPr>
            <a:normAutofit fontScale="90000"/>
          </a:bodyPr>
          <a:lstStyle/>
          <a:p>
            <a:r>
              <a:rPr lang="en-US" dirty="0"/>
              <a:t>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5BDCFB-227D-615B-7693-16DF4CE32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658761"/>
            <a:ext cx="10972589" cy="5997678"/>
          </a:xfrm>
        </p:spPr>
        <p:txBody>
          <a:bodyPr/>
          <a:lstStyle/>
          <a:p>
            <a:r>
              <a:rPr lang="en-US" dirty="0"/>
              <a:t>Model : data model, DbContext </a:t>
            </a:r>
          </a:p>
          <a:p>
            <a:r>
              <a:rPr lang="en-US" dirty="0"/>
              <a:t>Repository is a Layer between Model(data access) and controller (business logic)</a:t>
            </a:r>
          </a:p>
          <a:p>
            <a:r>
              <a:rPr lang="en-US" dirty="0"/>
              <a:t>Repository is a Layer between Model and controller</a:t>
            </a:r>
          </a:p>
          <a:p>
            <a:r>
              <a:rPr lang="en-US" dirty="0"/>
              <a:t>Full example next slide</a:t>
            </a:r>
          </a:p>
          <a:p>
            <a:r>
              <a:rPr lang="en-US" dirty="0"/>
              <a:t>We inject the repository at controller (dependency injection) </a:t>
            </a:r>
            <a:r>
              <a:rPr lang="en-US" dirty="0">
                <a:sym typeface="Wingdings" panose="05000000000000000000" pitchFamily="2" charset="2"/>
              </a:rPr>
              <a:t> dependency inversion</a:t>
            </a:r>
          </a:p>
          <a:p>
            <a:r>
              <a:rPr lang="en-US" dirty="0">
                <a:sym typeface="Wingdings" panose="05000000000000000000" pitchFamily="2" charset="2"/>
              </a:rPr>
              <a:t>When register service </a:t>
            </a:r>
            <a:r>
              <a:rPr lang="en-US" dirty="0"/>
              <a:t> builder.Services.AddScoped&lt;StudentRespoitory&gt;(); is similar to  builder.Services.AddScoped&lt;StudentRespoitory, StudentRespoitory &gt;();</a:t>
            </a:r>
            <a:endParaRPr lang="en-US" alt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651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FD794362-68C6-3F23-9536-0EB7E49AA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13"/>
            <a:ext cx="6971071" cy="65464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class StudentRespoitory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StudentRespoitory(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  {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this.db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List&lt;Student&gt;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	return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db.Students.ToList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	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Student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selectbyid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(int id)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	return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db.Students.Find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(id);	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void add(Student s)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db.Students.Add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db.SaveChanges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void edit(Student s)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db.Entry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(s).State=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Microsoft.EntityFrameworkCore.EntityState.Modified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void delete(int id)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Student s=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db.Students.Find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db.Students.Remove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void save()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{	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db.SaveChanges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 } 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altLang="en-US" sz="105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3B95A2F3-AA83-E8C3-FDC6-579DE251A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4309" y="1759857"/>
            <a:ext cx="4886632" cy="18651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StudentRespoitory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studentRepos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publicstudentsController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(StudentRespoitory repos)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    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this.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studentRepos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repos;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0EEBE466-1AD1-AB1C-72EC-361BB5005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1573" y="315576"/>
            <a:ext cx="5329084" cy="6432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// at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program.cs</a:t>
            </a: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builder.Services.AddScoped&lt;StudentRespoitory&gt;();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D54EC56-64E4-7C9E-2489-AC35DB22FADF}"/>
              </a:ext>
            </a:extLst>
          </p:cNvPr>
          <p:cNvSpPr txBox="1"/>
          <p:nvPr/>
        </p:nvSpPr>
        <p:spPr>
          <a:xfrm>
            <a:off x="7511845" y="4198374"/>
            <a:ext cx="3519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It’s better to make the repository dependencies based on abstract (DI)</a:t>
            </a:r>
          </a:p>
          <a:p>
            <a:r>
              <a:rPr lang="en-US" dirty="0">
                <a:sym typeface="Wingdings" panose="05000000000000000000" pitchFamily="2" charset="2"/>
              </a:rPr>
              <a:t> Next slide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90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FD794362-68C6-3F23-9536-0EB7E49AA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-76326"/>
            <a:ext cx="6469625" cy="67156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class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StudentRespoitory:IStudentRepoistory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StudentRespoitory(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  {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this.db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List&lt;Student&gt;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	return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db.Students.ToList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	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Student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selectbyid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(int id)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	return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db.Students.Find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(id);	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void add(Student s)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db.Students.Add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db.SaveChanges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void edit(Student s)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db.Entry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(s).State=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Microsoft.EntityFrameworkCore.EntityState.Modified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public void delete(int id)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Student s=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db.Students.Find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db.Students.Remove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void save()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{	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db.SaveChanges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 } 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altLang="en-US" sz="105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DF8424D1-61A5-CBD2-615D-FB803D9EE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799" y="27861"/>
            <a:ext cx="4444177" cy="265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interface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IStudentRepoistory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List&lt;Student&gt;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selectall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Student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selectbyid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(int id);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void add(Student s);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void edit(Student s);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void delete(int id);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public void save();     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xmlns="" id="{3B95A2F3-AA83-E8C3-FDC6-579DE251A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368" y="3239729"/>
            <a:ext cx="5648632" cy="8586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IStudentRepoistory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repos;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studentsController(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IStudentRepoistory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repos)        {           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this.repos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repos;        }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0EEBE466-1AD1-AB1C-72EC-361BB5005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367" y="4654182"/>
            <a:ext cx="5648633" cy="6432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builder.Services.AddScoped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&lt;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IStudentRepoistory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,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StudentListRespoistory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7775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60F76-7AF8-86BF-D943-40562694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646" y="128685"/>
            <a:ext cx="3834370" cy="727587"/>
          </a:xfrm>
        </p:spPr>
        <p:txBody>
          <a:bodyPr>
            <a:normAutofit/>
          </a:bodyPr>
          <a:lstStyle/>
          <a:p>
            <a:r>
              <a:rPr lang="en-US" sz="2800" dirty="0"/>
              <a:t>Generic repository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8AC64AED-C105-7D20-F046-45D368F93162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49160" y="-32155"/>
            <a:ext cx="8337857" cy="68449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GenericRepository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GenericRepository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ToList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selectbyid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&gt;().Find(id); }</a:t>
            </a:r>
          </a:p>
          <a:p>
            <a:pPr marL="36900" indent="0">
              <a:buNone/>
            </a:pP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add(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entity)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&gt;().Add(entity); }</a:t>
            </a:r>
          </a:p>
          <a:p>
            <a:pPr marL="36900" indent="0">
              <a:buNone/>
            </a:pP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update(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entity)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db.Entry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(entity).State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Microsoft.EntityFrameworkCore.EntityState.Modified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delete(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obj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&gt;().Find(id);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&gt;().Remove(obj);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save()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db.SaveChanges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US" altLang="en-US" sz="8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7106B150-22F7-1668-0D83-6FA6ECBA6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8831" y="2574148"/>
            <a:ext cx="3721353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builder.Services.AddScoped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&lt;GenericRepository&lt;Student&gt;&gt;();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E0ECC45-0BD1-1BC2-D4D9-EF9D0E104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147" y="878139"/>
            <a:ext cx="4032852" cy="167414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79AAF5F6-063E-241D-E323-B9AA5C785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5859" y="4467538"/>
            <a:ext cx="5606981" cy="11726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GetFirstByFilter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filter)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FirstOrDefault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(filter);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US" altLang="en-US" sz="10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4C3192EB-6201-6CB3-69F1-F5EEF3F50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0503" y="5651099"/>
            <a:ext cx="5757705" cy="11726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Func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 filter){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query = _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TEntity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&gt;().Where(filter);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query.ToList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  <a:endParaRPr lang="en-US" altLang="en-US" sz="7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757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7913F8-0B2B-1A7C-5842-E533751AA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Unit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994416-D6BF-5A8A-68A3-7F0994125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457200"/>
            <a:ext cx="11828207" cy="6400799"/>
          </a:xfrm>
        </p:spPr>
        <p:txBody>
          <a:bodyPr/>
          <a:lstStyle/>
          <a:p>
            <a:r>
              <a:rPr lang="en-US" dirty="0"/>
              <a:t>If your controller use more than one repository, each repository is working with different DbContext object 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GenericRepository&lt;Student&gt; stdRepo;</a:t>
            </a:r>
          </a:p>
          <a:p>
            <a:pPr lvl="1"/>
            <a:r>
              <a:rPr lang="en-US" dirty="0"/>
              <a:t>GenericRepository&lt;Department&gt; depRepo;</a:t>
            </a:r>
          </a:p>
          <a:p>
            <a:pPr lvl="1"/>
            <a:r>
              <a:rPr lang="en-US" dirty="0" err="1"/>
              <a:t>stdRepo.add</a:t>
            </a:r>
            <a:r>
              <a:rPr lang="en-US" dirty="0"/>
              <a:t>(</a:t>
            </a:r>
            <a:r>
              <a:rPr lang="en-US" dirty="0" err="1"/>
              <a:t>std_obj</a:t>
            </a:r>
            <a:r>
              <a:rPr lang="en-US" dirty="0"/>
              <a:t>);</a:t>
            </a:r>
          </a:p>
          <a:p>
            <a:pPr lvl="1"/>
            <a:r>
              <a:rPr lang="en-US" dirty="0" err="1"/>
              <a:t>depRepo.add</a:t>
            </a:r>
            <a:r>
              <a:rPr lang="en-US" dirty="0"/>
              <a:t>(</a:t>
            </a:r>
            <a:r>
              <a:rPr lang="en-US" dirty="0" err="1"/>
              <a:t>dep_obj</a:t>
            </a:r>
            <a:r>
              <a:rPr lang="en-US" dirty="0"/>
              <a:t>);</a:t>
            </a:r>
          </a:p>
          <a:p>
            <a:r>
              <a:rPr lang="en-US" dirty="0"/>
              <a:t>The problem here you need call savechanges() before the second add to reconcile changes</a:t>
            </a:r>
          </a:p>
          <a:p>
            <a:r>
              <a:rPr lang="en-US" dirty="0"/>
              <a:t>So unit of work ensure that you work with one DbContext and save all transactions using with one savechanges()</a:t>
            </a:r>
          </a:p>
          <a:p>
            <a:r>
              <a:rPr lang="en-US" dirty="0"/>
              <a:t>Unit of work layer class will have DbContext and all repositories  objects</a:t>
            </a:r>
            <a:endParaRPr lang="ar-EG" dirty="0"/>
          </a:p>
          <a:p>
            <a:r>
              <a:rPr lang="en-US" dirty="0"/>
              <a:t>When you use unity of work ? When you have 2 controllers deals with more than 1 repository therefore each repo work with different DbContext object</a:t>
            </a:r>
          </a:p>
          <a:p>
            <a:r>
              <a:rPr lang="en-US" dirty="0"/>
              <a:t>Using a single context </a:t>
            </a:r>
            <a:r>
              <a:rPr lang="en-US"/>
              <a:t>object leads to all </a:t>
            </a:r>
            <a:r>
              <a:rPr lang="en-US" dirty="0"/>
              <a:t>changes are part of a single unit of work</a:t>
            </a:r>
          </a:p>
        </p:txBody>
      </p:sp>
    </p:spTree>
    <p:extLst>
      <p:ext uri="{BB962C8B-B14F-4D97-AF65-F5344CB8AC3E}">
        <p14:creationId xmlns:p14="http://schemas.microsoft.com/office/powerpoint/2010/main" val="3844136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3AE438-6C33-2EC6-73AB-0F1CE78A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217" y="185293"/>
            <a:ext cx="313628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Unit of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58FCCD3C-7B45-F2CC-26CD-434D6E9BAAB9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0" y="155796"/>
            <a:ext cx="7236542" cy="65464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UnitOfWOrks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GenericRepository&lt;Student&gt;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GenericRepository&lt;Department&gt;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departmentRepository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UnitOfWOrks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ITIContext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  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this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GenericRepository&lt;Student&gt;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StudentsRepository</a:t>
            </a: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GenericRepository&lt;Student&gt;(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GenericRepository&lt;Department&gt;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DepartmentRepository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departmentRepository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departmentRepository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GenericRepository&lt;Department&gt;(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departmentRepository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savechanges(){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db.SaveChanges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1DDE114E-A881-4533-AA34-C9D2D28EE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370" y="707947"/>
            <a:ext cx="4807974" cy="24160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UnitOfWOrks unit;</a:t>
            </a:r>
          </a:p>
          <a:p>
            <a:pPr marL="36900" indent="0">
              <a:buNone/>
            </a:pP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studentsController(UnitOfWOrks unit) {    this.unit = unit;  }</a:t>
            </a:r>
          </a:p>
          <a:p>
            <a:pPr marL="36900" indent="0">
              <a:buNone/>
            </a:pPr>
            <a:endParaRPr lang="en-US" alt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ActionResult getall(){</a:t>
            </a:r>
          </a:p>
          <a:p>
            <a:pPr marL="36900" indent="0">
              <a:buNone/>
            </a:pPr>
            <a:r>
              <a:rPr lang="en-US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	List&lt;Student&gt; </a:t>
            </a:r>
            <a:r>
              <a:rPr lang="en-US" alt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sts</a:t>
            </a:r>
            <a:r>
              <a:rPr lang="en-US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	</a:t>
            </a:r>
            <a:r>
              <a:rPr lang="en-US" alt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unit.StudentsRepository.selectall</a:t>
            </a:r>
            <a:r>
              <a:rPr lang="en-US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marL="36900" indent="0">
              <a:buNone/>
            </a:pPr>
            <a:r>
              <a:rPr lang="en-US" alt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xmlns="" id="{559A4F60-2E29-9C93-5793-3E1D959F5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370" y="3580119"/>
            <a:ext cx="4807974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builder.Services.AddScoped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&lt;UnitOfWOrks&gt;();</a:t>
            </a:r>
            <a:endParaRPr lang="en-US" alt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6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234595-578F-1F8D-A143-58CF7D63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21" y="0"/>
            <a:ext cx="10353762" cy="540774"/>
          </a:xfrm>
        </p:spPr>
        <p:txBody>
          <a:bodyPr>
            <a:normAutofit fontScale="90000"/>
          </a:bodyPr>
          <a:lstStyle/>
          <a:p>
            <a:r>
              <a:rPr lang="en-US" dirty="0"/>
              <a:t>JWT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78D06B-D150-18AF-3AAE-CB9C49C2A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064" y="540775"/>
            <a:ext cx="11774291" cy="6164826"/>
          </a:xfrm>
        </p:spPr>
        <p:txBody>
          <a:bodyPr>
            <a:normAutofit/>
          </a:bodyPr>
          <a:lstStyle/>
          <a:p>
            <a:r>
              <a:rPr lang="en-US" dirty="0"/>
              <a:t>After login token created and hashed using secret key</a:t>
            </a:r>
          </a:p>
          <a:p>
            <a:r>
              <a:rPr lang="en-US" dirty="0"/>
              <a:t>Token is sent (included ) with each request, the API  validate it if valid return with needed response else return 404, </a:t>
            </a:r>
          </a:p>
          <a:p>
            <a:r>
              <a:rPr lang="en-US" dirty="0"/>
              <a:t>Token must be  stored locally</a:t>
            </a:r>
          </a:p>
          <a:p>
            <a:r>
              <a:rPr lang="en-US" dirty="0"/>
              <a:t>Token consists of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ym typeface="Wingdings" panose="05000000000000000000" pitchFamily="2" charset="2"/>
              </a:rPr>
              <a:t>header.payload.signature</a:t>
            </a:r>
            <a:endParaRPr lang="en-US" b="1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Header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b="1" dirty="0">
                <a:solidFill>
                  <a:srgbClr val="FFC000"/>
                </a:solidFill>
                <a:sym typeface="Wingdings" panose="05000000000000000000" pitchFamily="2" charset="2"/>
              </a:rPr>
              <a:t>metadata about token :</a:t>
            </a:r>
            <a:r>
              <a:rPr lang="en-US" sz="1800" dirty="0">
                <a:sym typeface="Wingdings" panose="05000000000000000000" pitchFamily="2" charset="2"/>
              </a:rPr>
              <a:t>  </a:t>
            </a:r>
            <a:r>
              <a:rPr lang="en-US" sz="1800" b="1" dirty="0">
                <a:solidFill>
                  <a:srgbClr val="FF0000"/>
                </a:solidFill>
                <a:sym typeface="Wingdings" panose="05000000000000000000" pitchFamily="2" charset="2"/>
              </a:rPr>
              <a:t>type of token like bearer token </a:t>
            </a:r>
            <a:r>
              <a:rPr lang="en-US" sz="1600" dirty="0">
                <a:sym typeface="Wingdings" panose="05000000000000000000" pitchFamily="2" charset="2"/>
              </a:rPr>
              <a:t>+ </a:t>
            </a:r>
            <a:r>
              <a:rPr lang="en-US" sz="1800" b="1" dirty="0">
                <a:solidFill>
                  <a:srgbClr val="FF0000"/>
                </a:solidFill>
                <a:sym typeface="Wingdings" panose="05000000000000000000" pitchFamily="2" charset="2"/>
              </a:rPr>
              <a:t>hashing algorithm (</a:t>
            </a:r>
            <a:r>
              <a:rPr lang="en-US" sz="1800" dirty="0"/>
              <a:t>Signing Algorithm</a:t>
            </a:r>
            <a:r>
              <a:rPr lang="en-US" sz="1800" b="1" dirty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endParaRPr lang="en-US" sz="24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Payload  data included with tokens like claims (extra info about user(key, value)), expire date</a:t>
            </a:r>
          </a:p>
          <a:p>
            <a:r>
              <a:rPr lang="en-US" dirty="0">
                <a:sym typeface="Wingdings" panose="05000000000000000000" pitchFamily="2" charset="2"/>
              </a:rPr>
              <a:t>Signature: hash value computed, consist of  [base64{header}+ base64{payload} + secret key] hashed using signing algorithm, base64 means encoding</a:t>
            </a:r>
          </a:p>
          <a:p>
            <a:r>
              <a:rPr lang="en-US" dirty="0"/>
              <a:t>EX: HMACSHA256( base64UrlEncode(header) + "." + base64UrlEncode(payload), secret)</a:t>
            </a:r>
            <a:r>
              <a:rPr lang="en-US" dirty="0">
                <a:sym typeface="Wingdings" panose="05000000000000000000" pitchFamily="2" charset="2"/>
              </a:rPr>
              <a:t> you get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eyJhbGciOiJIUzI1NiIsInR5cCI6IkpXVCJ9.eyJzdWIiOiIxMjM0NTY3ODkwIiwibmFtZSI6IkpvaG4gRG9lIiwiaWF0IjoxNTE2MjM5MDIyfQ.SflKxwRJSMeKKF2QT4fwpMeJf36POk6yJV_adQssw5c 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Encryption data can be decrypted using key, hashed data can not be decrypted </a:t>
            </a:r>
          </a:p>
          <a:p>
            <a:r>
              <a:rPr lang="en-US" dirty="0">
                <a:sym typeface="Wingdings" panose="05000000000000000000" pitchFamily="2" charset="2"/>
              </a:rPr>
              <a:t>To validate token : server get the token from request header and compute hash , if result hash is equal to hash came in token</a:t>
            </a:r>
          </a:p>
          <a:p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8081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399D9C-FBD2-1DA8-13FE-5241EA2A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2722" y="19665"/>
            <a:ext cx="3283763" cy="1209368"/>
          </a:xfrm>
        </p:spPr>
        <p:txBody>
          <a:bodyPr>
            <a:normAutofit/>
          </a:bodyPr>
          <a:lstStyle/>
          <a:p>
            <a:r>
              <a:rPr lang="en-US" sz="3200" dirty="0"/>
              <a:t>JWT bearer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3F38C7-2AC6-61C1-BECF-7631734F7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2723" y="1592826"/>
            <a:ext cx="3548628" cy="5122606"/>
          </a:xfrm>
        </p:spPr>
        <p:txBody>
          <a:bodyPr>
            <a:normAutofit/>
          </a:bodyPr>
          <a:lstStyle/>
          <a:p>
            <a:r>
              <a:rPr lang="en-US" sz="1800" dirty="0"/>
              <a:t>Install-package </a:t>
            </a:r>
            <a:r>
              <a:rPr lang="en-US" sz="1800" dirty="0" err="1"/>
              <a:t>Microsoft.AspNetCore.Authentication.JwtBearer</a:t>
            </a:r>
            <a:endParaRPr lang="en-US" sz="1800" dirty="0"/>
          </a:p>
          <a:p>
            <a:r>
              <a:rPr lang="en-US" sz="1800" dirty="0"/>
              <a:t>Install-package </a:t>
            </a:r>
            <a:r>
              <a:rPr lang="en-US" sz="1800" dirty="0" err="1"/>
              <a:t>System.IdentityModel.Tokens.Jwt</a:t>
            </a:r>
            <a:endParaRPr lang="en-US" sz="1800" dirty="0"/>
          </a:p>
          <a:p>
            <a:r>
              <a:rPr lang="en-US" sz="1600" b="1" dirty="0">
                <a:solidFill>
                  <a:srgbClr val="FFC000"/>
                </a:solidFill>
                <a:latin typeface="Cascadia Mono" panose="020B0609020000020004" pitchFamily="49" charset="0"/>
              </a:rPr>
              <a:t>SecurityAlgorithms.HmacSha256: </a:t>
            </a:r>
            <a:r>
              <a:rPr lang="en-US" sz="1800" dirty="0"/>
              <a:t>algorithm used for signing tokens,</a:t>
            </a:r>
          </a:p>
          <a:p>
            <a:endParaRPr lang="en-US" sz="1800" dirty="0"/>
          </a:p>
          <a:p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 Unicode MS"/>
              </a:rPr>
              <a:t>SigningCredentials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object specifies the key and algorithm used to generate TOKEN digital signature.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D14CE3D7-7EDB-E22A-976C-C3FB72526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40" y="6524"/>
            <a:ext cx="8529482" cy="68449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 [</a:t>
            </a:r>
            <a:r>
              <a:rPr lang="en-US" sz="12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HttpGet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]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ActionResult login(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username,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password)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(username ==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"admin"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&amp;&amp; password ==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"123"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 {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List&lt;Claim&gt;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userdata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List&lt;Claim&gt;();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userdata.Add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"username"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"admin"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userdata.Add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Claim(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ClaimTypes.MobilePhone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"01064111685"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key = </a:t>
            </a:r>
            <a:r>
              <a:rPr lang="en-US" sz="1200" dirty="0">
                <a:solidFill>
                  <a:srgbClr val="A31515"/>
                </a:solidFill>
                <a:latin typeface="Cascadia Mono" panose="020B0609020000020004" pitchFamily="49" charset="0"/>
              </a:rPr>
              <a:t>"welcome to my secret key Ahmed Mohamed Samir"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	   //It represents the actual cryptographic key that will be used by algorithms like AES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secertkey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SymmetricSecurityKey(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Encoding.ASCII.GetBytes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(key));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		// determine how tokens are signed and verified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signingcer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(secertkey, SecurityAlgorithms.HmacSha256);</a:t>
            </a:r>
          </a:p>
          <a:p>
            <a:pPr marL="36900" indent="0">
              <a:buNone/>
            </a:pPr>
            <a:endParaRPr lang="en-US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//header =&gt;hashing algo , payload=&gt;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claims,expiredate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signture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=&gt; secertkey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token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JwtSecurityToken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claims: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userdata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expires: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DateTime.Now.AddDays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(1),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signingCredentials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signingcer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//token object =&gt; encoded string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	   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JwtSecurityTokenHandler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WriteToken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(token);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Ok(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tokenstring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</a:p>
          <a:p>
            <a:pPr marL="36900" indent="0">
              <a:buNone/>
            </a:pP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Unauthorized();}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98251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3B2F71-5892-5D3E-EAD4-2585605B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7" y="137652"/>
            <a:ext cx="3475703" cy="970450"/>
          </a:xfrm>
        </p:spPr>
        <p:txBody>
          <a:bodyPr>
            <a:noAutofit/>
          </a:bodyPr>
          <a:lstStyle/>
          <a:p>
            <a:r>
              <a:rPr lang="en-US" sz="2400" dirty="0"/>
              <a:t>JWT bearer implementation [cont.]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xmlns="" id="{603A160B-FF78-C13E-D8E5-FB45B5557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" y="1238002"/>
            <a:ext cx="7938197" cy="556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300" dirty="0">
                <a:solidFill>
                  <a:srgbClr val="008000"/>
                </a:solidFill>
                <a:latin typeface="Cascadia Mono" panose="020B0609020000020004" pitchFamily="49" charset="0"/>
              </a:rPr>
              <a:t>//validate token</a:t>
            </a:r>
            <a:endParaRPr lang="en-US" sz="13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builder.Services.AddAuthentication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option =&gt; 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option.DefaultAuthenticateScheme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myscheme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).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AddJwtBearer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myscheme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op =&gt;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808080"/>
                </a:solidFill>
                <a:latin typeface="Cascadia Mono" panose="020B0609020000020004" pitchFamily="49" charset="0"/>
              </a:rPr>
              <a:t>#region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secret key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key = </a:t>
            </a:r>
            <a:r>
              <a:rPr lang="en-US" sz="1300" dirty="0">
                <a:solidFill>
                  <a:srgbClr val="A31515"/>
                </a:solidFill>
                <a:latin typeface="Cascadia Mono" panose="020B0609020000020004" pitchFamily="49" charset="0"/>
              </a:rPr>
              <a:t>"welcome to my secret key Ahmed Mohamed Samir"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secertkey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SymmetricSecurityKey(</a:t>
            </a:r>
            <a:r>
              <a:rPr lang="en-US" sz="13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Encoding.ASCII.GetBytes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(key));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300" dirty="0">
                <a:solidFill>
                  <a:srgbClr val="808080"/>
                </a:solidFill>
                <a:latin typeface="Cascadia Mono" panose="020B0609020000020004" pitchFamily="49" charset="0"/>
              </a:rPr>
              <a:t>#endregion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op.TokenValidationParameters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TokenValidationParameters()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{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IssuerSigningKey = secertkey,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ValidateIssuer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ValidateAudience = </a:t>
            </a:r>
            <a:r>
              <a:rPr lang="en-US" sz="1300" dirty="0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</a:p>
          <a:p>
            <a:pPr marL="36900" indent="0">
              <a:buNone/>
            </a:pPr>
            <a:endParaRPr lang="en-US" sz="13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};</a:t>
            </a:r>
          </a:p>
          <a:p>
            <a:pPr marL="36900" indent="0">
              <a:buNone/>
            </a:pPr>
            <a:r>
              <a:rPr lang="en-US" sz="1300" dirty="0">
                <a:solidFill>
                  <a:srgbClr val="000000"/>
                </a:solidFill>
                <a:latin typeface="Cascadia Mono" panose="020B0609020000020004" pitchFamily="49" charset="0"/>
              </a:rPr>
              <a:t>    });</a:t>
            </a:r>
            <a:endParaRPr 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B18E3E2-AEA9-F4C8-5A1A-BD17B658EC4E}"/>
              </a:ext>
            </a:extLst>
          </p:cNvPr>
          <p:cNvSpPr txBox="1"/>
          <p:nvPr/>
        </p:nvSpPr>
        <p:spPr>
          <a:xfrm>
            <a:off x="8068826" y="1288026"/>
            <a:ext cx="41231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c#</a:t>
            </a:r>
            <a:r>
              <a:rPr lang="en-US" dirty="0"/>
              <a:t> attribute [Authorize] is added above action that refers to can not access this action without valid token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4282B57-355A-F714-39A4-B9D5498FC2A9}"/>
              </a:ext>
            </a:extLst>
          </p:cNvPr>
          <p:cNvSpPr txBox="1"/>
          <p:nvPr/>
        </p:nvSpPr>
        <p:spPr>
          <a:xfrm>
            <a:off x="8068826" y="2397911"/>
            <a:ext cx="4039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check the authentication inside method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A6681ECD-71CA-F840-6A4D-13E772CB3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198" y="3536759"/>
            <a:ext cx="4558485" cy="293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179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54A002-7DB5-CCED-8846-93EC2276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698090"/>
          </a:xfrm>
        </p:spPr>
        <p:txBody>
          <a:bodyPr>
            <a:normAutofit fontScale="90000"/>
          </a:bodyPr>
          <a:lstStyle/>
          <a:p>
            <a:r>
              <a:rPr lang="en-US" dirty="0"/>
              <a:t>Host Web Api on IIS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0249A3-2F0C-0F67-8E8B-4BA05EB8B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4" y="698090"/>
            <a:ext cx="11956026" cy="60665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 to control panel, program, at program and features (Turn windows features on or off), internet information services, world wide web services, application development features 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check on </a:t>
            </a:r>
            <a:r>
              <a:rPr lang="en-US" dirty="0" err="1"/>
              <a:t>.Net</a:t>
            </a:r>
            <a:r>
              <a:rPr lang="en-US" dirty="0"/>
              <a:t> Extendibility 3.5 , </a:t>
            </a:r>
            <a:r>
              <a:rPr lang="en-US" dirty="0" err="1"/>
              <a:t>.Net</a:t>
            </a:r>
            <a:r>
              <a:rPr lang="en-US" dirty="0"/>
              <a:t> Extendibility 4.8 , ASP.NET 3.5</a:t>
            </a:r>
          </a:p>
          <a:p>
            <a:r>
              <a:rPr lang="en-US" dirty="0"/>
              <a:t>install asp hosting bundle that includes the .</a:t>
            </a:r>
            <a:r>
              <a:rPr lang="en-US" sz="2400" b="1" dirty="0">
                <a:solidFill>
                  <a:srgbClr val="FF0000"/>
                </a:solidFill>
              </a:rPr>
              <a:t>NET Run-Time and IIS support </a:t>
            </a:r>
            <a:r>
              <a:rPr lang="en-US" sz="1800" dirty="0">
                <a:hlinkClick r:id="rId2"/>
              </a:rPr>
              <a:t>https://learn.microsoft.com/en-us/aspnet/core/host-and-deploy/iis/hosting-bundle?view=aspnetcore-8.0</a:t>
            </a:r>
            <a:endParaRPr lang="en-US" sz="1800" dirty="0"/>
          </a:p>
          <a:p>
            <a:pPr lvl="1"/>
            <a:r>
              <a:rPr lang="en-US" dirty="0"/>
              <a:t>G:\programs\asp hosting bundle</a:t>
            </a:r>
          </a:p>
          <a:p>
            <a:r>
              <a:rPr lang="en-US" dirty="0"/>
              <a:t>make DB works with SQL server user : we will make user on DB, right click on logins , write login name , check SQL server Authentication and make password, uncheck enforce password policy , at left from select a page choose user mapping and choose database that user will have a permission on it and make him owner from role membership</a:t>
            </a:r>
          </a:p>
          <a:p>
            <a:r>
              <a:rPr lang="en-US" dirty="0"/>
              <a:t>ensure that SQL server work as SQL server authentication --&gt; right click on the server + properties + from select a page choose security -&gt;  at server Authentication check SQL server and windows authentication mode</a:t>
            </a:r>
          </a:p>
          <a:p>
            <a:r>
              <a:rPr lang="en-US" dirty="0"/>
              <a:t>At connection string instead of </a:t>
            </a:r>
            <a:r>
              <a:rPr lang="en-US" dirty="0">
                <a:sym typeface="Wingdings" panose="05000000000000000000" pitchFamily="2" charset="2"/>
              </a:rPr>
              <a:t> </a:t>
            </a:r>
          </a:p>
          <a:p>
            <a:r>
              <a:rPr lang="en-US" sz="1800" dirty="0">
                <a:sym typeface="Wingdings" panose="05000000000000000000" pitchFamily="2" charset="2"/>
              </a:rPr>
              <a:t>"Server=.;Database=</a:t>
            </a:r>
            <a:r>
              <a:rPr lang="en-US" sz="1800" dirty="0" err="1">
                <a:sym typeface="Wingdings" panose="05000000000000000000" pitchFamily="2" charset="2"/>
              </a:rPr>
              <a:t>ITI;User</a:t>
            </a:r>
            <a:r>
              <a:rPr lang="en-US" sz="1800" dirty="0">
                <a:sym typeface="Wingdings" panose="05000000000000000000" pitchFamily="2" charset="2"/>
              </a:rPr>
              <a:t> Id=ahmed44;Password=1234;Trusted_Connection</a:t>
            </a:r>
            <a:r>
              <a:rPr lang="en-US" sz="1800">
                <a:sym typeface="Wingdings" panose="05000000000000000000" pitchFamily="2" charset="2"/>
              </a:rPr>
              <a:t>=True;"</a:t>
            </a:r>
            <a:endParaRPr lang="en-US" sz="1800" dirty="0">
              <a:sym typeface="Wingdings" panose="05000000000000000000" pitchFamily="2" charset="2"/>
            </a:endParaRPr>
          </a:p>
          <a:p>
            <a:r>
              <a:rPr lang="en-US" dirty="0"/>
              <a:t>Ensure  that you web </a:t>
            </a:r>
            <a:r>
              <a:rPr lang="en-US" dirty="0" err="1"/>
              <a:t>api</a:t>
            </a:r>
            <a:r>
              <a:rPr lang="en-US" dirty="0"/>
              <a:t> app works after changing in connection string</a:t>
            </a:r>
          </a:p>
          <a:p>
            <a:r>
              <a:rPr lang="en-US" dirty="0"/>
              <a:t>Run your visual studio run as </a:t>
            </a:r>
            <a:r>
              <a:rPr lang="en-US" dirty="0" err="1"/>
              <a:t>adminstrator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46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1D8336-B9F0-AA57-2DF0-D4451DDA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 Web Api on IIS [cont.]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088CDF-EC13-C8EB-8454-55E4DF72D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Right click on project name + publish + new profile + folder +  choose the folder where published files will be + chick on publish button</a:t>
            </a:r>
          </a:p>
          <a:p>
            <a:r>
              <a:rPr lang="en-US" dirty="0">
                <a:sym typeface="Wingdings" panose="05000000000000000000" pitchFamily="2" charset="2"/>
              </a:rPr>
              <a:t>at </a:t>
            </a:r>
            <a:r>
              <a:rPr lang="en-US" dirty="0">
                <a:sym typeface="Wingdings" panose="05000000000000000000" pitchFamily="2" charset="2"/>
                <a:hlinkClick r:id="rId2" action="ppaction://hlinkfile"/>
              </a:rPr>
              <a:t>C:\inetpub\wwwroot</a:t>
            </a:r>
            <a:r>
              <a:rPr lang="en-US" dirty="0">
                <a:sym typeface="Wingdings" panose="05000000000000000000" pitchFamily="2" charset="2"/>
              </a:rPr>
              <a:t> create new folder and give it name and copy published files inside it</a:t>
            </a:r>
            <a:endParaRPr lang="en-US" dirty="0"/>
          </a:p>
          <a:p>
            <a:r>
              <a:rPr lang="en-US" dirty="0"/>
              <a:t>Publish on IIS </a:t>
            </a:r>
            <a:r>
              <a:rPr lang="en-US" dirty="0">
                <a:sym typeface="Wingdings" panose="05000000000000000000" pitchFamily="2" charset="2"/>
              </a:rPr>
              <a:t> on start menu open [ Internet Information Services Manager ]</a:t>
            </a:r>
          </a:p>
          <a:p>
            <a:r>
              <a:rPr lang="en-US" dirty="0"/>
              <a:t>Right click  + </a:t>
            </a:r>
            <a:r>
              <a:rPr lang="en-US" dirty="0">
                <a:sym typeface="Wingdings" panose="05000000000000000000" pitchFamily="2" charset="2"/>
              </a:rPr>
              <a:t>Add sites + write site name + give port number + choose the physical path of created folder that has the published files</a:t>
            </a:r>
          </a:p>
          <a:p>
            <a:r>
              <a:rPr lang="en-US" dirty="0">
                <a:sym typeface="Wingdings" panose="05000000000000000000" pitchFamily="2" charset="2"/>
              </a:rPr>
              <a:t>At browser: </a:t>
            </a:r>
          </a:p>
        </p:txBody>
      </p:sp>
    </p:spTree>
    <p:extLst>
      <p:ext uri="{BB962C8B-B14F-4D97-AF65-F5344CB8AC3E}">
        <p14:creationId xmlns:p14="http://schemas.microsoft.com/office/powerpoint/2010/main" val="9459628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07CEF6-3921-0E3E-1DA9-E1EDF288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7579653-CC34-728E-97AA-EFE6A756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192.168.5.14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728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9532</TotalTime>
  <Words>2745</Words>
  <Application>Microsoft Office PowerPoint</Application>
  <PresentationFormat>Widescreen</PresentationFormat>
  <Paragraphs>547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 Unicode MS</vt:lpstr>
      <vt:lpstr>Arial</vt:lpstr>
      <vt:lpstr>Calisto MT</vt:lpstr>
      <vt:lpstr>Cascadia Mono</vt:lpstr>
      <vt:lpstr>Segoe UI</vt:lpstr>
      <vt:lpstr>Söhne</vt:lpstr>
      <vt:lpstr>Trebuchet MS</vt:lpstr>
      <vt:lpstr>Wingdings</vt:lpstr>
      <vt:lpstr>Wingdings 2</vt:lpstr>
      <vt:lpstr>Slate</vt:lpstr>
      <vt:lpstr>Web API</vt:lpstr>
      <vt:lpstr>Assume we want to make application with 2 version Web App , mobile app</vt:lpstr>
      <vt:lpstr>PowerPoint Presentation</vt:lpstr>
      <vt:lpstr>Web service model (SOAP, REST)</vt:lpstr>
      <vt:lpstr>When and why we use web service</vt:lpstr>
      <vt:lpstr>Create New Project</vt:lpstr>
      <vt:lpstr>Create Controller</vt:lpstr>
      <vt:lpstr>General information</vt:lpstr>
      <vt:lpstr>General information [cont.]</vt:lpstr>
      <vt:lpstr>General info [cont.]</vt:lpstr>
      <vt:lpstr>General info [cont.]</vt:lpstr>
      <vt:lpstr>General information</vt:lpstr>
      <vt:lpstr>Binding source parameter inference</vt:lpstr>
      <vt:lpstr>GetALL Example</vt:lpstr>
      <vt:lpstr>Get by name &amp; get by name example</vt:lpstr>
      <vt:lpstr>Delete example</vt:lpstr>
      <vt:lpstr>Update example</vt:lpstr>
      <vt:lpstr>post example</vt:lpstr>
      <vt:lpstr>Serialization</vt:lpstr>
      <vt:lpstr>Dot Net Application</vt:lpstr>
      <vt:lpstr>Navigation property</vt:lpstr>
      <vt:lpstr>How To solve: circular exception </vt:lpstr>
      <vt:lpstr>How To solve: circular exception [cont.]</vt:lpstr>
      <vt:lpstr>But: Microsoft.AspNetCore.Mvc.NewtonsoftJson has drawbacks</vt:lpstr>
      <vt:lpstr>DTO (data to object)</vt:lpstr>
      <vt:lpstr>Consume Api at C# windows form</vt:lpstr>
      <vt:lpstr>Consume Api at JS</vt:lpstr>
      <vt:lpstr>Repository</vt:lpstr>
      <vt:lpstr>PowerPoint Presentation</vt:lpstr>
      <vt:lpstr>PowerPoint Presentation</vt:lpstr>
      <vt:lpstr>Generic repository</vt:lpstr>
      <vt:lpstr>Unit of work</vt:lpstr>
      <vt:lpstr>Unit of work</vt:lpstr>
      <vt:lpstr>JWT Authentication</vt:lpstr>
      <vt:lpstr>JWT bearer implementation</vt:lpstr>
      <vt:lpstr>JWT bearer implementation [cont.]</vt:lpstr>
      <vt:lpstr>Host Web Api on IIS</vt:lpstr>
      <vt:lpstr>Host Web Api on IIS [cont.]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API</dc:title>
  <dc:creator>احمد محمد سمير</dc:creator>
  <cp:lastModifiedBy>OffBeat</cp:lastModifiedBy>
  <cp:revision>284</cp:revision>
  <dcterms:created xsi:type="dcterms:W3CDTF">2024-04-17T14:44:44Z</dcterms:created>
  <dcterms:modified xsi:type="dcterms:W3CDTF">2024-12-09T16:04:11Z</dcterms:modified>
</cp:coreProperties>
</file>