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5" r:id="rId10"/>
    <p:sldId id="266" r:id="rId11"/>
    <p:sldId id="264" r:id="rId12"/>
    <p:sldId id="267" r:id="rId13"/>
    <p:sldId id="268" r:id="rId14"/>
    <p:sldId id="269" r:id="rId15"/>
    <p:sldId id="270" r:id="rId16"/>
    <p:sldId id="271" r:id="rId17"/>
    <p:sldId id="274" r:id="rId18"/>
    <p:sldId id="273" r:id="rId19"/>
    <p:sldId id="276" r:id="rId20"/>
    <p:sldId id="272" r:id="rId21"/>
    <p:sldId id="275" r:id="rId22"/>
    <p:sldId id="278" r:id="rId23"/>
    <p:sldId id="277" r:id="rId24"/>
    <p:sldId id="285" r:id="rId25"/>
    <p:sldId id="284" r:id="rId26"/>
    <p:sldId id="283"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68" autoAdjust="0"/>
    <p:restoredTop sz="94660"/>
  </p:normalViewPr>
  <p:slideViewPr>
    <p:cSldViewPr snapToGrid="0">
      <p:cViewPr varScale="1">
        <p:scale>
          <a:sx n="82" d="100"/>
          <a:sy n="82" d="100"/>
        </p:scale>
        <p:origin x="58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3D597A-2C7F-4D3E-AE8F-CE741ECE496E}"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2811021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3D597A-2C7F-4D3E-AE8F-CE741ECE496E}"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3802113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A3D597A-2C7F-4D3E-AE8F-CE741ECE496E}"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3282499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3D597A-2C7F-4D3E-AE8F-CE741ECE496E}"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3357569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A3D597A-2C7F-4D3E-AE8F-CE741ECE496E}" type="datetimeFigureOut">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2508767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3D597A-2C7F-4D3E-AE8F-CE741ECE496E}" type="datetimeFigureOut">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3726703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3D597A-2C7F-4D3E-AE8F-CE741ECE496E}" type="datetimeFigureOut">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3124431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3D597A-2C7F-4D3E-AE8F-CE741ECE496E}"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1348418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A3D597A-2C7F-4D3E-AE8F-CE741ECE496E}"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2154616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D597A-2C7F-4D3E-AE8F-CE741ECE496E}"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3084484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D597A-2C7F-4D3E-AE8F-CE741ECE496E}"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14077086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D597A-2C7F-4D3E-AE8F-CE741ECE496E}"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153CFC-BC47-4544-A3BD-411AB9C7DFB9}"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545686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3D597A-2C7F-4D3E-AE8F-CE741ECE496E}"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22109166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A3D597A-2C7F-4D3E-AE8F-CE741ECE496E}" type="datetimeFigureOut">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1033038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A3D597A-2C7F-4D3E-AE8F-CE741ECE496E}" type="datetimeFigureOut">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1548127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3D597A-2C7F-4D3E-AE8F-CE741ECE496E}"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24073418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3D597A-2C7F-4D3E-AE8F-CE741ECE496E}"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153CFC-BC47-4544-A3BD-411AB9C7DFB9}" type="slidenum">
              <a:rPr lang="en-US" smtClean="0"/>
              <a:t>‹#›</a:t>
            </a:fld>
            <a:endParaRPr lang="en-US"/>
          </a:p>
        </p:txBody>
      </p:sp>
    </p:spTree>
    <p:extLst>
      <p:ext uri="{BB962C8B-B14F-4D97-AF65-F5344CB8AC3E}">
        <p14:creationId xmlns:p14="http://schemas.microsoft.com/office/powerpoint/2010/main" val="204270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A3D597A-2C7F-4D3E-AE8F-CE741ECE496E}" type="datetimeFigureOut">
              <a:rPr lang="en-US" smtClean="0"/>
              <a:t>8/23/2025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3153CFC-BC47-4544-A3BD-411AB9C7DFB9}" type="slidenum">
              <a:rPr lang="en-US" smtClean="0"/>
              <a:t>‹#›</a:t>
            </a:fld>
            <a:endParaRPr lang="en-US"/>
          </a:p>
        </p:txBody>
      </p:sp>
    </p:spTree>
    <p:extLst>
      <p:ext uri="{BB962C8B-B14F-4D97-AF65-F5344CB8AC3E}">
        <p14:creationId xmlns:p14="http://schemas.microsoft.com/office/powerpoint/2010/main" val="30482987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hmedmohamedmvp@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localhost:7269/"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13C2A-9B56-FD58-1C1E-A867F23BFAA8}"/>
              </a:ext>
            </a:extLst>
          </p:cNvPr>
          <p:cNvSpPr>
            <a:spLocks noGrp="1"/>
          </p:cNvSpPr>
          <p:nvPr>
            <p:ph type="ctrTitle"/>
          </p:nvPr>
        </p:nvSpPr>
        <p:spPr/>
        <p:txBody>
          <a:bodyPr/>
          <a:lstStyle/>
          <a:p>
            <a:r>
              <a:rPr lang="en-US" dirty="0"/>
              <a:t>Blazor (web assembly)</a:t>
            </a:r>
          </a:p>
        </p:txBody>
      </p:sp>
      <p:sp>
        <p:nvSpPr>
          <p:cNvPr id="3" name="Subtitle 2">
            <a:extLst>
              <a:ext uri="{FF2B5EF4-FFF2-40B4-BE49-F238E27FC236}">
                <a16:creationId xmlns:a16="http://schemas.microsoft.com/office/drawing/2014/main" id="{0E844E8A-475F-CEF0-FCB7-2CA3DDAA13F8}"/>
              </a:ext>
            </a:extLst>
          </p:cNvPr>
          <p:cNvSpPr>
            <a:spLocks noGrp="1"/>
          </p:cNvSpPr>
          <p:nvPr>
            <p:ph type="subTitle" idx="1"/>
          </p:nvPr>
        </p:nvSpPr>
        <p:spPr/>
        <p:txBody>
          <a:bodyPr/>
          <a:lstStyle/>
          <a:p>
            <a:r>
              <a:rPr lang="en-US" dirty="0"/>
              <a:t>By. Ahmed Mohamed Samir</a:t>
            </a:r>
          </a:p>
          <a:p>
            <a:r>
              <a:rPr lang="en-US" dirty="0">
                <a:hlinkClick r:id="rId2"/>
              </a:rPr>
              <a:t>ahmedmohamedmvp@gmail.com</a:t>
            </a:r>
            <a:endParaRPr lang="en-US" dirty="0"/>
          </a:p>
        </p:txBody>
      </p:sp>
    </p:spTree>
    <p:extLst>
      <p:ext uri="{BB962C8B-B14F-4D97-AF65-F5344CB8AC3E}">
        <p14:creationId xmlns:p14="http://schemas.microsoft.com/office/powerpoint/2010/main" val="1163817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C3399-8174-A6C2-9CA9-DFF1470C46DF}"/>
              </a:ext>
            </a:extLst>
          </p:cNvPr>
          <p:cNvSpPr>
            <a:spLocks noGrp="1"/>
          </p:cNvSpPr>
          <p:nvPr>
            <p:ph type="title"/>
          </p:nvPr>
        </p:nvSpPr>
        <p:spPr>
          <a:xfrm>
            <a:off x="913795" y="0"/>
            <a:ext cx="10353762" cy="717755"/>
          </a:xfrm>
        </p:spPr>
        <p:txBody>
          <a:bodyPr/>
          <a:lstStyle/>
          <a:p>
            <a:r>
              <a:rPr lang="en-US" dirty="0"/>
              <a:t>introduction</a:t>
            </a:r>
          </a:p>
        </p:txBody>
      </p:sp>
      <p:sp>
        <p:nvSpPr>
          <p:cNvPr id="3" name="Content Placeholder 2">
            <a:extLst>
              <a:ext uri="{FF2B5EF4-FFF2-40B4-BE49-F238E27FC236}">
                <a16:creationId xmlns:a16="http://schemas.microsoft.com/office/drawing/2014/main" id="{358C21AE-B75E-E965-41EF-3A9D21DC0BA7}"/>
              </a:ext>
            </a:extLst>
          </p:cNvPr>
          <p:cNvSpPr>
            <a:spLocks noGrp="1"/>
          </p:cNvSpPr>
          <p:nvPr>
            <p:ph idx="1"/>
          </p:nvPr>
        </p:nvSpPr>
        <p:spPr>
          <a:xfrm>
            <a:off x="103694" y="717756"/>
            <a:ext cx="12088305" cy="5852726"/>
          </a:xfrm>
        </p:spPr>
        <p:txBody>
          <a:bodyPr>
            <a:normAutofit/>
          </a:bodyPr>
          <a:lstStyle/>
          <a:p>
            <a:r>
              <a:rPr lang="en-US" dirty="0"/>
              <a:t>BLAZOR: it’s a client-side web framework help developer to build interactive UI using DotNet (C#)</a:t>
            </a:r>
          </a:p>
          <a:p>
            <a:r>
              <a:rPr lang="en-US" dirty="0"/>
              <a:t>MVC, the server generates(render) HTML views and sends them to the client's browser as static HTML.</a:t>
            </a:r>
          </a:p>
          <a:p>
            <a:r>
              <a:rPr lang="en-US" dirty="0"/>
              <a:t>Blazor is a technology to make single page application, which serves as the entry point for the application.</a:t>
            </a:r>
          </a:p>
          <a:p>
            <a:r>
              <a:rPr lang="en-US" dirty="0"/>
              <a:t>The entire application runs within a single HTML page.  </a:t>
            </a:r>
          </a:p>
          <a:p>
            <a:r>
              <a:rPr lang="en-US" dirty="0"/>
              <a:t>Single page application: provide navigation within the application without full page reloads.</a:t>
            </a:r>
          </a:p>
          <a:p>
            <a:r>
              <a:rPr lang="en-US" dirty="0"/>
              <a:t>Navigation within the application typically involves updating the URL’s</a:t>
            </a:r>
          </a:p>
          <a:p>
            <a:r>
              <a:rPr lang="en-US" dirty="0"/>
              <a:t>Instead of navigating to different HTML pages to view different content or perform different actions the SPA dynamically updates portions of the page in response to user interactions, data changes, or navigation events, This is achieved using JavaScript to manipulate the Document Object Model (DOM) of the HTML page.</a:t>
            </a:r>
          </a:p>
          <a:p>
            <a:endParaRPr lang="en-US" dirty="0"/>
          </a:p>
          <a:p>
            <a:r>
              <a:rPr lang="en-US" dirty="0"/>
              <a:t>Blazor</a:t>
            </a:r>
          </a:p>
          <a:p>
            <a:pPr lvl="1"/>
            <a:r>
              <a:rPr lang="en-US" dirty="0"/>
              <a:t>Blazor server </a:t>
            </a:r>
          </a:p>
          <a:p>
            <a:pPr lvl="1"/>
            <a:r>
              <a:rPr lang="en-US" dirty="0"/>
              <a:t>Blazor client (web assembly)</a:t>
            </a:r>
          </a:p>
          <a:p>
            <a:endParaRPr lang="en-US" dirty="0"/>
          </a:p>
          <a:p>
            <a:endParaRPr lang="en-US" dirty="0"/>
          </a:p>
          <a:p>
            <a:endParaRPr lang="en-US" dirty="0"/>
          </a:p>
        </p:txBody>
      </p:sp>
    </p:spTree>
    <p:extLst>
      <p:ext uri="{BB962C8B-B14F-4D97-AF65-F5344CB8AC3E}">
        <p14:creationId xmlns:p14="http://schemas.microsoft.com/office/powerpoint/2010/main" val="1620751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F065-A7A8-EC9D-A1D2-968FE8EC7575}"/>
              </a:ext>
            </a:extLst>
          </p:cNvPr>
          <p:cNvSpPr>
            <a:spLocks noGrp="1"/>
          </p:cNvSpPr>
          <p:nvPr>
            <p:ph type="title"/>
          </p:nvPr>
        </p:nvSpPr>
        <p:spPr>
          <a:xfrm>
            <a:off x="744415" y="34565"/>
            <a:ext cx="10353762" cy="606458"/>
          </a:xfrm>
        </p:spPr>
        <p:txBody>
          <a:bodyPr>
            <a:normAutofit fontScale="90000"/>
          </a:bodyPr>
          <a:lstStyle/>
          <a:p>
            <a:r>
              <a:rPr lang="en-US" dirty="0"/>
              <a:t>Introduction  [cont.]</a:t>
            </a:r>
          </a:p>
        </p:txBody>
      </p:sp>
      <p:sp>
        <p:nvSpPr>
          <p:cNvPr id="3" name="Content Placeholder 2">
            <a:extLst>
              <a:ext uri="{FF2B5EF4-FFF2-40B4-BE49-F238E27FC236}">
                <a16:creationId xmlns:a16="http://schemas.microsoft.com/office/drawing/2014/main" id="{3DF5FDF5-5893-3D40-0FAD-20CA8E71119A}"/>
              </a:ext>
            </a:extLst>
          </p:cNvPr>
          <p:cNvSpPr>
            <a:spLocks noGrp="1"/>
          </p:cNvSpPr>
          <p:nvPr>
            <p:ph idx="1"/>
          </p:nvPr>
        </p:nvSpPr>
        <p:spPr>
          <a:xfrm>
            <a:off x="575034" y="641023"/>
            <a:ext cx="11236751" cy="6033154"/>
          </a:xfrm>
        </p:spPr>
        <p:txBody>
          <a:bodyPr>
            <a:normAutofit/>
          </a:bodyPr>
          <a:lstStyle/>
          <a:p>
            <a:pPr marL="36513" indent="0" algn="ctr">
              <a:buNone/>
            </a:pPr>
            <a:r>
              <a:rPr lang="en-US" sz="2800" b="1" u="sng" dirty="0">
                <a:solidFill>
                  <a:srgbClr val="FF0000"/>
                </a:solidFill>
              </a:rPr>
              <a:t>loading process in SPAs:</a:t>
            </a:r>
          </a:p>
          <a:p>
            <a:pPr marL="344488" indent="-307975">
              <a:buFont typeface="+mj-lt"/>
              <a:buAutoNum type="arabicPeriod"/>
            </a:pPr>
            <a:r>
              <a:rPr lang="en-US" dirty="0"/>
              <a:t>Initial Load: When a user first opens the SPA in his browser, the browser loads the initial HTML, CSS,	and JavaScript files required to render the application's UI</a:t>
            </a:r>
          </a:p>
          <a:p>
            <a:pPr marL="344488" indent="-307975">
              <a:buFont typeface="+mj-lt"/>
              <a:buAutoNum type="arabicPeriod"/>
            </a:pPr>
            <a:r>
              <a:rPr lang="en-US" dirty="0"/>
              <a:t>After the initial load, the SPA may make additional requests to the server to fetch data as needed. These requests are typically made asynchronously using AJAX or fetch </a:t>
            </a:r>
          </a:p>
          <a:p>
            <a:pPr marL="344488" indent="-307975">
              <a:buFont typeface="+mj-lt"/>
              <a:buAutoNum type="arabicPeriod"/>
            </a:pPr>
            <a:r>
              <a:rPr lang="en-US" dirty="0"/>
              <a:t>When a new data is fetched from the server, the SPA updates the relevant portions of the page without reloading the entire page This approach provides a smoother and faster user experience compared to traditional multi-page web applications, where each user action typically results in a full page reload.</a:t>
            </a:r>
          </a:p>
          <a:p>
            <a:pPr marL="344488" indent="-307975">
              <a:buFont typeface="+mj-lt"/>
              <a:buAutoNum type="arabicPeriod"/>
            </a:pPr>
            <a:r>
              <a:rPr lang="en-US" dirty="0"/>
              <a:t>SPAs often implement client-side routing to handle navigation within the application without triggering full page reloads. </a:t>
            </a:r>
          </a:p>
        </p:txBody>
      </p:sp>
    </p:spTree>
    <p:extLst>
      <p:ext uri="{BB962C8B-B14F-4D97-AF65-F5344CB8AC3E}">
        <p14:creationId xmlns:p14="http://schemas.microsoft.com/office/powerpoint/2010/main" val="2510937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EBBC4-72C7-376F-E8E1-BEB8F2217E65}"/>
              </a:ext>
            </a:extLst>
          </p:cNvPr>
          <p:cNvSpPr>
            <a:spLocks noGrp="1"/>
          </p:cNvSpPr>
          <p:nvPr>
            <p:ph type="title"/>
          </p:nvPr>
        </p:nvSpPr>
        <p:spPr>
          <a:xfrm>
            <a:off x="913795" y="0"/>
            <a:ext cx="10353762" cy="540774"/>
          </a:xfrm>
        </p:spPr>
        <p:txBody>
          <a:bodyPr>
            <a:normAutofit fontScale="90000"/>
          </a:bodyPr>
          <a:lstStyle/>
          <a:p>
            <a:r>
              <a:rPr lang="en-US" dirty="0"/>
              <a:t>How can browser execute C#</a:t>
            </a:r>
          </a:p>
        </p:txBody>
      </p:sp>
      <p:sp>
        <p:nvSpPr>
          <p:cNvPr id="3" name="Content Placeholder 2">
            <a:extLst>
              <a:ext uri="{FF2B5EF4-FFF2-40B4-BE49-F238E27FC236}">
                <a16:creationId xmlns:a16="http://schemas.microsoft.com/office/drawing/2014/main" id="{645D3E1A-6C35-F5E2-7EF9-08C6FCEAE24D}"/>
              </a:ext>
            </a:extLst>
          </p:cNvPr>
          <p:cNvSpPr>
            <a:spLocks noGrp="1"/>
          </p:cNvSpPr>
          <p:nvPr>
            <p:ph idx="1"/>
          </p:nvPr>
        </p:nvSpPr>
        <p:spPr>
          <a:xfrm>
            <a:off x="265063" y="540774"/>
            <a:ext cx="11651226" cy="6317225"/>
          </a:xfrm>
        </p:spPr>
        <p:txBody>
          <a:bodyPr>
            <a:normAutofit fontScale="92500" lnSpcReduction="10000"/>
          </a:bodyPr>
          <a:lstStyle/>
          <a:p>
            <a:r>
              <a:rPr lang="en-US" dirty="0"/>
              <a:t>The answer is by using </a:t>
            </a:r>
            <a:r>
              <a:rPr lang="en-US" b="1" dirty="0">
                <a:solidFill>
                  <a:srgbClr val="FF0000"/>
                </a:solidFill>
              </a:rPr>
              <a:t>WebAssembly</a:t>
            </a:r>
          </a:p>
          <a:p>
            <a:r>
              <a:rPr lang="en-US" dirty="0"/>
              <a:t>In 2015 cross platform language called </a:t>
            </a:r>
            <a:r>
              <a:rPr lang="en-US" b="1" dirty="0">
                <a:solidFill>
                  <a:srgbClr val="FF0000"/>
                </a:solidFill>
              </a:rPr>
              <a:t>WASM</a:t>
            </a:r>
            <a:r>
              <a:rPr lang="en-US" dirty="0"/>
              <a:t> is developed to be executed on  web browser </a:t>
            </a:r>
          </a:p>
          <a:p>
            <a:r>
              <a:rPr lang="en-US" dirty="0"/>
              <a:t>WASM is a machine language not human programming, it’s close to [Assembly-binary]</a:t>
            </a:r>
          </a:p>
          <a:p>
            <a:r>
              <a:rPr lang="en-US" dirty="0"/>
              <a:t>W3C organization make standard to WASM to this language and called </a:t>
            </a:r>
            <a:r>
              <a:rPr lang="en-US" b="1" dirty="0">
                <a:solidFill>
                  <a:srgbClr val="FF0000"/>
                </a:solidFill>
              </a:rPr>
              <a:t>WebAssembly</a:t>
            </a:r>
          </a:p>
          <a:p>
            <a:r>
              <a:rPr lang="en-US" dirty="0"/>
              <a:t>The browser can understand the WebAssembly.</a:t>
            </a:r>
          </a:p>
          <a:p>
            <a:r>
              <a:rPr lang="en-US" dirty="0"/>
              <a:t>Due to this language close to binary and browser can understand it so most of programming language can compiled into </a:t>
            </a:r>
            <a:r>
              <a:rPr lang="en-US" b="1" dirty="0">
                <a:solidFill>
                  <a:srgbClr val="FF0000"/>
                </a:solidFill>
              </a:rPr>
              <a:t>WebAssembly</a:t>
            </a:r>
            <a:r>
              <a:rPr lang="en-US" dirty="0"/>
              <a:t> to run on browser.</a:t>
            </a:r>
          </a:p>
          <a:p>
            <a:r>
              <a:rPr lang="en-US" dirty="0"/>
              <a:t>At core 7 the IL is sent to the browser then browser convert it to web assembly and execute it</a:t>
            </a:r>
          </a:p>
          <a:p>
            <a:r>
              <a:rPr lang="en-US" dirty="0"/>
              <a:t>At core 8 the IL is converted into WebAssembly on the server to the browser then browser execute it</a:t>
            </a:r>
          </a:p>
          <a:p>
            <a:r>
              <a:rPr lang="en-US" b="1" dirty="0">
                <a:solidFill>
                  <a:srgbClr val="FF0000"/>
                </a:solidFill>
              </a:rPr>
              <a:t>When user request app created using Blazor the server response with like</a:t>
            </a:r>
          </a:p>
          <a:p>
            <a:pPr lvl="1"/>
            <a:r>
              <a:rPr lang="en-US" b="1" dirty="0">
                <a:solidFill>
                  <a:srgbClr val="FF0000"/>
                </a:solidFill>
              </a:rPr>
              <a:t>app.wasm : </a:t>
            </a:r>
            <a:r>
              <a:rPr lang="en-US" sz="2000" dirty="0"/>
              <a:t>The main file responsible for executing a Blazor application in the browser , This file contains the compiled WebAssembly code for the application</a:t>
            </a:r>
          </a:p>
          <a:p>
            <a:pPr lvl="1"/>
            <a:r>
              <a:rPr lang="en-US" sz="2000" b="1" dirty="0">
                <a:solidFill>
                  <a:srgbClr val="FF0000"/>
                </a:solidFill>
              </a:rPr>
              <a:t>blazor.webassembly.js</a:t>
            </a:r>
            <a:r>
              <a:rPr lang="en-US" sz="2000" dirty="0"/>
              <a:t> : sets up the execution environment for running your Blazor WebAssembly application within the browser. This includes initializing the </a:t>
            </a:r>
            <a:r>
              <a:rPr lang="en-US" sz="2000" b="1" dirty="0">
                <a:solidFill>
                  <a:srgbClr val="FF0000"/>
                </a:solidFill>
              </a:rPr>
              <a:t>.NET runtime</a:t>
            </a:r>
            <a:r>
              <a:rPr lang="en-US" sz="2000" dirty="0"/>
              <a:t>, </a:t>
            </a:r>
            <a:r>
              <a:rPr lang="en-US" sz="2100" dirty="0"/>
              <a:t>handles the rendering of Blazor components</a:t>
            </a:r>
          </a:p>
          <a:p>
            <a:pPr lvl="1"/>
            <a:r>
              <a:rPr lang="en-US" sz="2100" dirty="0"/>
              <a:t>Blazor WebAssembly applications are powered by the .</a:t>
            </a:r>
            <a:r>
              <a:rPr lang="en-US" sz="2100" b="1" dirty="0">
                <a:solidFill>
                  <a:srgbClr val="FF0000"/>
                </a:solidFill>
              </a:rPr>
              <a:t>NET runtime</a:t>
            </a:r>
            <a:r>
              <a:rPr lang="en-US" sz="2100" dirty="0"/>
              <a:t>, which is compiled to WebAssembly to run the application within the browser environment.</a:t>
            </a:r>
          </a:p>
        </p:txBody>
      </p:sp>
    </p:spTree>
    <p:extLst>
      <p:ext uri="{BB962C8B-B14F-4D97-AF65-F5344CB8AC3E}">
        <p14:creationId xmlns:p14="http://schemas.microsoft.com/office/powerpoint/2010/main" val="1829685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404C5-602A-CA6B-9EDA-2FFA9BD94DB9}"/>
              </a:ext>
            </a:extLst>
          </p:cNvPr>
          <p:cNvSpPr>
            <a:spLocks noGrp="1"/>
          </p:cNvSpPr>
          <p:nvPr>
            <p:ph type="title"/>
          </p:nvPr>
        </p:nvSpPr>
        <p:spPr>
          <a:xfrm>
            <a:off x="1080943" y="0"/>
            <a:ext cx="10353762" cy="570271"/>
          </a:xfrm>
        </p:spPr>
        <p:txBody>
          <a:bodyPr>
            <a:normAutofit fontScale="90000"/>
          </a:bodyPr>
          <a:lstStyle/>
          <a:p>
            <a:r>
              <a:rPr lang="en-US" dirty="0"/>
              <a:t>Create new Blazor project</a:t>
            </a:r>
          </a:p>
        </p:txBody>
      </p:sp>
      <p:pic>
        <p:nvPicPr>
          <p:cNvPr id="5" name="Content Placeholder 4">
            <a:extLst>
              <a:ext uri="{FF2B5EF4-FFF2-40B4-BE49-F238E27FC236}">
                <a16:creationId xmlns:a16="http://schemas.microsoft.com/office/drawing/2014/main" id="{6AE3C8BB-78B3-C06E-82D7-D93A84EE091A}"/>
              </a:ext>
            </a:extLst>
          </p:cNvPr>
          <p:cNvPicPr>
            <a:picLocks noGrp="1" noChangeAspect="1"/>
          </p:cNvPicPr>
          <p:nvPr>
            <p:ph idx="1"/>
          </p:nvPr>
        </p:nvPicPr>
        <p:blipFill>
          <a:blip r:embed="rId2"/>
          <a:stretch>
            <a:fillRect/>
          </a:stretch>
        </p:blipFill>
        <p:spPr>
          <a:xfrm>
            <a:off x="135654" y="570270"/>
            <a:ext cx="6108117" cy="2924481"/>
          </a:xfrm>
        </p:spPr>
      </p:pic>
      <p:pic>
        <p:nvPicPr>
          <p:cNvPr id="7" name="Picture 6">
            <a:extLst>
              <a:ext uri="{FF2B5EF4-FFF2-40B4-BE49-F238E27FC236}">
                <a16:creationId xmlns:a16="http://schemas.microsoft.com/office/drawing/2014/main" id="{C0E1F511-B623-7E54-3D51-07B294028766}"/>
              </a:ext>
            </a:extLst>
          </p:cNvPr>
          <p:cNvPicPr>
            <a:picLocks noChangeAspect="1"/>
          </p:cNvPicPr>
          <p:nvPr/>
        </p:nvPicPr>
        <p:blipFill>
          <a:blip r:embed="rId3"/>
          <a:stretch>
            <a:fillRect/>
          </a:stretch>
        </p:blipFill>
        <p:spPr>
          <a:xfrm>
            <a:off x="6690444" y="504518"/>
            <a:ext cx="5245918" cy="2924482"/>
          </a:xfrm>
          <a:prstGeom prst="rect">
            <a:avLst/>
          </a:prstGeom>
        </p:spPr>
      </p:pic>
      <p:pic>
        <p:nvPicPr>
          <p:cNvPr id="11" name="Picture 10">
            <a:extLst>
              <a:ext uri="{FF2B5EF4-FFF2-40B4-BE49-F238E27FC236}">
                <a16:creationId xmlns:a16="http://schemas.microsoft.com/office/drawing/2014/main" id="{A642BE8F-BFBE-8A0C-509D-F64684D7E8C5}"/>
              </a:ext>
            </a:extLst>
          </p:cNvPr>
          <p:cNvPicPr>
            <a:picLocks noChangeAspect="1"/>
          </p:cNvPicPr>
          <p:nvPr/>
        </p:nvPicPr>
        <p:blipFill>
          <a:blip r:embed="rId4"/>
          <a:stretch>
            <a:fillRect/>
          </a:stretch>
        </p:blipFill>
        <p:spPr>
          <a:xfrm>
            <a:off x="155319" y="3730420"/>
            <a:ext cx="3181350" cy="2838450"/>
          </a:xfrm>
          <a:prstGeom prst="rect">
            <a:avLst/>
          </a:prstGeom>
        </p:spPr>
      </p:pic>
      <p:sp>
        <p:nvSpPr>
          <p:cNvPr id="12" name="TextBox 11">
            <a:extLst>
              <a:ext uri="{FF2B5EF4-FFF2-40B4-BE49-F238E27FC236}">
                <a16:creationId xmlns:a16="http://schemas.microsoft.com/office/drawing/2014/main" id="{A5AFA40F-F865-5EF5-FD08-F5EFA91188D2}"/>
              </a:ext>
            </a:extLst>
          </p:cNvPr>
          <p:cNvSpPr txBox="1"/>
          <p:nvPr/>
        </p:nvSpPr>
        <p:spPr>
          <a:xfrm>
            <a:off x="4184373" y="3677478"/>
            <a:ext cx="7354957" cy="1015663"/>
          </a:xfrm>
          <a:prstGeom prst="rect">
            <a:avLst/>
          </a:prstGeom>
          <a:noFill/>
        </p:spPr>
        <p:txBody>
          <a:bodyPr wrap="square" rtlCol="0">
            <a:spAutoFit/>
          </a:bodyPr>
          <a:lstStyle/>
          <a:p>
            <a:r>
              <a:rPr lang="en-US" sz="2000" dirty="0"/>
              <a:t>Progressive web application</a:t>
            </a:r>
          </a:p>
          <a:p>
            <a:r>
              <a:rPr lang="en-US" sz="2000" dirty="0"/>
              <a:t>	Offline : can work offline  and sync data when become online</a:t>
            </a:r>
          </a:p>
          <a:p>
            <a:r>
              <a:rPr lang="en-US" sz="2000" dirty="0"/>
              <a:t>	standalone: do not need browser to run (can run on desktop)</a:t>
            </a:r>
          </a:p>
        </p:txBody>
      </p:sp>
    </p:spTree>
    <p:extLst>
      <p:ext uri="{BB962C8B-B14F-4D97-AF65-F5344CB8AC3E}">
        <p14:creationId xmlns:p14="http://schemas.microsoft.com/office/powerpoint/2010/main" val="999582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3888A-9745-BA0D-3BFF-16CD658D8B5D}"/>
              </a:ext>
            </a:extLst>
          </p:cNvPr>
          <p:cNvSpPr>
            <a:spLocks noGrp="1"/>
          </p:cNvSpPr>
          <p:nvPr>
            <p:ph type="title"/>
          </p:nvPr>
        </p:nvSpPr>
        <p:spPr>
          <a:xfrm>
            <a:off x="913795" y="0"/>
            <a:ext cx="10353762" cy="530942"/>
          </a:xfrm>
        </p:spPr>
        <p:txBody>
          <a:bodyPr>
            <a:normAutofit fontScale="90000"/>
          </a:bodyPr>
          <a:lstStyle/>
          <a:p>
            <a:r>
              <a:rPr lang="en-US" dirty="0"/>
              <a:t>Solution files</a:t>
            </a:r>
          </a:p>
        </p:txBody>
      </p:sp>
      <p:sp>
        <p:nvSpPr>
          <p:cNvPr id="3" name="Content Placeholder 2">
            <a:extLst>
              <a:ext uri="{FF2B5EF4-FFF2-40B4-BE49-F238E27FC236}">
                <a16:creationId xmlns:a16="http://schemas.microsoft.com/office/drawing/2014/main" id="{35212DC3-3C07-71E5-CFA8-AC57B69E3442}"/>
              </a:ext>
            </a:extLst>
          </p:cNvPr>
          <p:cNvSpPr>
            <a:spLocks noGrp="1"/>
          </p:cNvSpPr>
          <p:nvPr>
            <p:ph idx="1"/>
          </p:nvPr>
        </p:nvSpPr>
        <p:spPr>
          <a:xfrm>
            <a:off x="913795" y="619433"/>
            <a:ext cx="10353762" cy="5801032"/>
          </a:xfrm>
        </p:spPr>
        <p:txBody>
          <a:bodyPr/>
          <a:lstStyle/>
          <a:p>
            <a:r>
              <a:rPr lang="en-US" dirty="0"/>
              <a:t>wwwroot: carry css, js images, files, we can create appsetting inside it</a:t>
            </a:r>
          </a:p>
          <a:p>
            <a:r>
              <a:rPr lang="en-US" dirty="0"/>
              <a:t>index.html the single page application</a:t>
            </a:r>
          </a:p>
          <a:p>
            <a:r>
              <a:rPr lang="en-US" dirty="0"/>
              <a:t>App.razor is the root component that catch URL and return the component that has the URL if it’s found </a:t>
            </a:r>
          </a:p>
          <a:p>
            <a:r>
              <a:rPr lang="en-US" dirty="0"/>
              <a:t>Layout folder: components that contains common UI elements such as headers, footers, navigation bars, etc., which are shared across the application. </a:t>
            </a:r>
          </a:p>
          <a:p>
            <a:r>
              <a:rPr lang="en-US" dirty="0"/>
              <a:t>_Imports.razor: contains all import that component will read</a:t>
            </a:r>
          </a:p>
          <a:p>
            <a:r>
              <a:rPr lang="en-US" dirty="0"/>
              <a:t>pages folder: custom components with URL</a:t>
            </a:r>
          </a:p>
          <a:p>
            <a:r>
              <a:rPr lang="en-US" dirty="0"/>
              <a:t>components : you can create it to carry the components with no URL</a:t>
            </a:r>
          </a:p>
          <a:p>
            <a:endParaRPr lang="en-US" dirty="0"/>
          </a:p>
        </p:txBody>
      </p:sp>
    </p:spTree>
    <p:extLst>
      <p:ext uri="{BB962C8B-B14F-4D97-AF65-F5344CB8AC3E}">
        <p14:creationId xmlns:p14="http://schemas.microsoft.com/office/powerpoint/2010/main" val="296405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DF437-3C14-EBF3-C852-7EA591837030}"/>
              </a:ext>
            </a:extLst>
          </p:cNvPr>
          <p:cNvSpPr>
            <a:spLocks noGrp="1"/>
          </p:cNvSpPr>
          <p:nvPr>
            <p:ph type="title"/>
          </p:nvPr>
        </p:nvSpPr>
        <p:spPr>
          <a:xfrm>
            <a:off x="913795" y="0"/>
            <a:ext cx="10353762" cy="970450"/>
          </a:xfrm>
        </p:spPr>
        <p:txBody>
          <a:bodyPr/>
          <a:lstStyle/>
          <a:p>
            <a:r>
              <a:rPr lang="en-US" dirty="0"/>
              <a:t>Blazor page &amp;  component</a:t>
            </a:r>
          </a:p>
        </p:txBody>
      </p:sp>
      <p:sp>
        <p:nvSpPr>
          <p:cNvPr id="3" name="Content Placeholder 2">
            <a:extLst>
              <a:ext uri="{FF2B5EF4-FFF2-40B4-BE49-F238E27FC236}">
                <a16:creationId xmlns:a16="http://schemas.microsoft.com/office/drawing/2014/main" id="{4605B340-8D82-EAA7-4ADF-120E31368A8E}"/>
              </a:ext>
            </a:extLst>
          </p:cNvPr>
          <p:cNvSpPr>
            <a:spLocks noGrp="1"/>
          </p:cNvSpPr>
          <p:nvPr>
            <p:ph idx="1"/>
          </p:nvPr>
        </p:nvSpPr>
        <p:spPr>
          <a:xfrm>
            <a:off x="117986" y="865239"/>
            <a:ext cx="12074013" cy="5820696"/>
          </a:xfrm>
        </p:spPr>
        <p:txBody>
          <a:bodyPr/>
          <a:lstStyle/>
          <a:p>
            <a:r>
              <a:rPr lang="en-US" dirty="0"/>
              <a:t>Is a set of component, each component (C#, HTML, CSS)</a:t>
            </a:r>
          </a:p>
          <a:p>
            <a:r>
              <a:rPr lang="en-US" dirty="0"/>
              <a:t>Component types:</a:t>
            </a:r>
          </a:p>
          <a:p>
            <a:pPr lvl="1"/>
            <a:r>
              <a:rPr lang="en-US" dirty="0"/>
              <a:t>Built-in component</a:t>
            </a:r>
          </a:p>
          <a:p>
            <a:pPr lvl="1"/>
            <a:r>
              <a:rPr lang="en-US" dirty="0"/>
              <a:t>Custom component </a:t>
            </a:r>
          </a:p>
          <a:p>
            <a:pPr lvl="2"/>
            <a:r>
              <a:rPr lang="en-US" dirty="0"/>
              <a:t>Page component (has URL)</a:t>
            </a:r>
          </a:p>
          <a:p>
            <a:pPr lvl="2"/>
            <a:r>
              <a:rPr lang="en-US" dirty="0"/>
              <a:t>Non-page component (has no component) to be used in another component</a:t>
            </a:r>
          </a:p>
          <a:p>
            <a:r>
              <a:rPr lang="en-US" dirty="0"/>
              <a:t>Component extension is razor</a:t>
            </a:r>
          </a:p>
          <a:p>
            <a:r>
              <a:rPr lang="en-US" dirty="0"/>
              <a:t>Once you create component class is created on background with the name of component and inherit from </a:t>
            </a:r>
            <a:r>
              <a:rPr lang="en-US" b="1" dirty="0">
                <a:solidFill>
                  <a:srgbClr val="FF0000"/>
                </a:solidFill>
              </a:rPr>
              <a:t>ComponentBase class</a:t>
            </a:r>
          </a:p>
          <a:p>
            <a:r>
              <a:rPr lang="en-US" b="1" dirty="0">
                <a:solidFill>
                  <a:srgbClr val="FF0000"/>
                </a:solidFill>
              </a:rPr>
              <a:t>Layout component </a:t>
            </a:r>
            <a:r>
              <a:rPr lang="en-US" sz="2000" dirty="0">
                <a:solidFill>
                  <a:srgbClr val="2B91AF"/>
                </a:solidFill>
                <a:latin typeface="Cascadia Mono" panose="020B0609020000020004" pitchFamily="49" charset="0"/>
              </a:rPr>
              <a:t>inherits from LayoutComponentBase class</a:t>
            </a:r>
            <a:endParaRPr lang="en-US" b="1" dirty="0">
              <a:solidFill>
                <a:srgbClr val="FF0000"/>
              </a:solidFill>
            </a:endParaRPr>
          </a:p>
          <a:p>
            <a:r>
              <a:rPr lang="en-US" b="1" dirty="0" err="1">
                <a:solidFill>
                  <a:srgbClr val="FF0000"/>
                </a:solidFill>
              </a:rPr>
              <a:t>MainLayout.razor</a:t>
            </a:r>
            <a:r>
              <a:rPr lang="en-US" dirty="0"/>
              <a:t>: inherit from </a:t>
            </a:r>
            <a:r>
              <a:rPr lang="en-US" dirty="0">
                <a:sym typeface="Wingdings" panose="05000000000000000000" pitchFamily="2" charset="2"/>
              </a:rPr>
              <a:t> </a:t>
            </a:r>
            <a:r>
              <a:rPr lang="en-US" dirty="0"/>
              <a:t> </a:t>
            </a:r>
            <a:r>
              <a:rPr lang="en-US" sz="1800" dirty="0">
                <a:solidFill>
                  <a:srgbClr val="2B91AF"/>
                </a:solidFill>
                <a:latin typeface="Cascadia Mono" panose="020B0609020000020004" pitchFamily="49" charset="0"/>
              </a:rPr>
              <a:t>@inherits LayoutComponentBase </a:t>
            </a:r>
            <a:r>
              <a:rPr lang="en-US" dirty="0"/>
              <a:t>that has </a:t>
            </a:r>
            <a:r>
              <a:rPr lang="en-US" sz="1800" dirty="0">
                <a:solidFill>
                  <a:srgbClr val="2B91AF"/>
                </a:solidFill>
                <a:latin typeface="Cascadia Mono" panose="020B0609020000020004" pitchFamily="49" charset="0"/>
              </a:rPr>
              <a:t>@Body </a:t>
            </a:r>
            <a:r>
              <a:rPr lang="en-US" dirty="0"/>
              <a:t>directive where the content of specific component will be rendered, specific means navigated component</a:t>
            </a:r>
          </a:p>
          <a:p>
            <a:r>
              <a:rPr lang="en-US" dirty="0"/>
              <a:t>App.razor is the root component that catch URL and return the component that has the URL if it’s found </a:t>
            </a:r>
          </a:p>
          <a:p>
            <a:endParaRPr lang="en-US" dirty="0"/>
          </a:p>
          <a:p>
            <a:endParaRPr lang="en-US" dirty="0"/>
          </a:p>
          <a:p>
            <a:endParaRPr lang="en-US" dirty="0"/>
          </a:p>
        </p:txBody>
      </p:sp>
    </p:spTree>
    <p:extLst>
      <p:ext uri="{BB962C8B-B14F-4D97-AF65-F5344CB8AC3E}">
        <p14:creationId xmlns:p14="http://schemas.microsoft.com/office/powerpoint/2010/main" val="4230142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12705-4F70-7AFE-09E9-9B429B5F701B}"/>
              </a:ext>
            </a:extLst>
          </p:cNvPr>
          <p:cNvSpPr>
            <a:spLocks noGrp="1"/>
          </p:cNvSpPr>
          <p:nvPr>
            <p:ph type="title"/>
          </p:nvPr>
        </p:nvSpPr>
        <p:spPr>
          <a:xfrm>
            <a:off x="913795" y="96350"/>
            <a:ext cx="10353762" cy="749224"/>
          </a:xfrm>
        </p:spPr>
        <p:txBody>
          <a:bodyPr/>
          <a:lstStyle/>
          <a:p>
            <a:r>
              <a:rPr lang="en-US" dirty="0"/>
              <a:t>Component [cont.]</a:t>
            </a:r>
          </a:p>
        </p:txBody>
      </p:sp>
      <p:sp>
        <p:nvSpPr>
          <p:cNvPr id="3" name="Content Placeholder 2">
            <a:extLst>
              <a:ext uri="{FF2B5EF4-FFF2-40B4-BE49-F238E27FC236}">
                <a16:creationId xmlns:a16="http://schemas.microsoft.com/office/drawing/2014/main" id="{3652B099-2D7D-FE01-C89F-82D7982A6C74}"/>
              </a:ext>
            </a:extLst>
          </p:cNvPr>
          <p:cNvSpPr>
            <a:spLocks noGrp="1"/>
          </p:cNvSpPr>
          <p:nvPr>
            <p:ph idx="1"/>
          </p:nvPr>
        </p:nvSpPr>
        <p:spPr>
          <a:xfrm>
            <a:off x="235974" y="845574"/>
            <a:ext cx="11828207" cy="5722373"/>
          </a:xfrm>
        </p:spPr>
        <p:txBody>
          <a:bodyPr>
            <a:normAutofit/>
          </a:bodyPr>
          <a:lstStyle/>
          <a:p>
            <a:r>
              <a:rPr lang="en-US" dirty="0"/>
              <a:t>Create Razor component: Component name must start with capital, and it’s better to be followed by Component for example </a:t>
            </a:r>
            <a:r>
              <a:rPr lang="en-US" dirty="0">
                <a:sym typeface="Wingdings" panose="05000000000000000000" pitchFamily="2" charset="2"/>
              </a:rPr>
              <a:t>FirstComponent</a:t>
            </a:r>
          </a:p>
          <a:p>
            <a:r>
              <a:rPr lang="en-US" dirty="0">
                <a:sym typeface="Wingdings" panose="05000000000000000000" pitchFamily="2" charset="2"/>
              </a:rPr>
              <a:t>To set URL to component  </a:t>
            </a:r>
            <a:r>
              <a:rPr lang="en-US" sz="1800" b="1" dirty="0">
                <a:solidFill>
                  <a:srgbClr val="800080"/>
                </a:solidFill>
                <a:latin typeface="Cascadia Mono" panose="020B0609020000020004" pitchFamily="49" charset="0"/>
              </a:rPr>
              <a:t>@page </a:t>
            </a:r>
            <a:r>
              <a:rPr lang="en-US" sz="1800" dirty="0">
                <a:solidFill>
                  <a:srgbClr val="FF0000"/>
                </a:solidFill>
                <a:latin typeface="Cascadia Mono" panose="020B0609020000020004" pitchFamily="49" charset="0"/>
              </a:rPr>
              <a:t>"/first"  </a:t>
            </a:r>
            <a:r>
              <a:rPr lang="en-US" dirty="0"/>
              <a:t>, must start with /</a:t>
            </a:r>
          </a:p>
          <a:p>
            <a:r>
              <a:rPr lang="en-US" dirty="0"/>
              <a:t>To change the title inside component  </a:t>
            </a:r>
            <a:r>
              <a:rPr lang="en-US" sz="1800" dirty="0">
                <a:solidFill>
                  <a:srgbClr val="0000FF"/>
                </a:solidFill>
                <a:latin typeface="Cascadia Mono" panose="020B0609020000020004" pitchFamily="49" charset="0"/>
              </a:rPr>
              <a:t>&lt;</a:t>
            </a:r>
            <a:r>
              <a:rPr lang="en-US" dirty="0" err="1">
                <a:solidFill>
                  <a:srgbClr val="2B91AF"/>
                </a:solidFill>
                <a:latin typeface="Cascadia Mono" panose="020B0609020000020004" pitchFamily="49" charset="0"/>
              </a:rPr>
              <a:t>PageTitle</a:t>
            </a:r>
            <a:r>
              <a:rPr lang="en-US" sz="1800" b="0" dirty="0">
                <a:solidFill>
                  <a:srgbClr val="0000FF"/>
                </a:solidFill>
                <a:latin typeface="Cascadia Mono" panose="020B0609020000020004" pitchFamily="49" charset="0"/>
              </a:rPr>
              <a:t>&gt;</a:t>
            </a:r>
            <a:r>
              <a:rPr lang="en-US" dirty="0"/>
              <a:t>First component</a:t>
            </a:r>
            <a:r>
              <a:rPr lang="en-US" sz="1800" b="0" dirty="0">
                <a:solidFill>
                  <a:srgbClr val="0000FF"/>
                </a:solidFill>
                <a:latin typeface="Cascadia Mono" panose="020B0609020000020004" pitchFamily="49" charset="0"/>
              </a:rPr>
              <a:t>&lt;/</a:t>
            </a:r>
            <a:r>
              <a:rPr lang="en-US" dirty="0" err="1">
                <a:solidFill>
                  <a:srgbClr val="2B91AF"/>
                </a:solidFill>
                <a:latin typeface="Cascadia Mono" panose="020B0609020000020004" pitchFamily="49" charset="0"/>
              </a:rPr>
              <a:t>PageTitle</a:t>
            </a:r>
            <a:r>
              <a:rPr lang="en-US" sz="1800" b="0" dirty="0">
                <a:solidFill>
                  <a:srgbClr val="0000FF"/>
                </a:solidFill>
                <a:latin typeface="Cascadia Mono" panose="020B0609020000020004" pitchFamily="49" charset="0"/>
              </a:rPr>
              <a:t>&gt; page title is built in component</a:t>
            </a:r>
            <a:endParaRPr lang="en-US" dirty="0"/>
          </a:p>
          <a:p>
            <a:r>
              <a:rPr lang="en-US" b="1" dirty="0">
                <a:solidFill>
                  <a:srgbClr val="FF0000"/>
                </a:solidFill>
              </a:rPr>
              <a:t>NavLink:</a:t>
            </a:r>
            <a:r>
              <a:rPr lang="en-US" dirty="0"/>
              <a:t> is a built-in component that active the link if its href matches the URL</a:t>
            </a:r>
          </a:p>
          <a:p>
            <a:pPr lvl="1"/>
            <a:r>
              <a:rPr lang="en-US" sz="1600" dirty="0">
                <a:solidFill>
                  <a:srgbClr val="0000FF"/>
                </a:solidFill>
                <a:latin typeface="Cascadia Mono" panose="020B0609020000020004" pitchFamily="49" charset="0"/>
              </a:rPr>
              <a:t>&lt;</a:t>
            </a:r>
            <a:r>
              <a:rPr lang="en-US" sz="1600" dirty="0">
                <a:solidFill>
                  <a:srgbClr val="2B91AF"/>
                </a:solidFill>
                <a:latin typeface="Cascadia Mono" panose="020B0609020000020004" pitchFamily="49" charset="0"/>
              </a:rPr>
              <a:t>NavLink</a:t>
            </a:r>
            <a:r>
              <a:rPr lang="en-US" sz="1600" b="0" dirty="0">
                <a:solidFill>
                  <a:srgbClr val="000000"/>
                </a:solidFill>
                <a:latin typeface="Cascadia Mono" panose="020B0609020000020004" pitchFamily="49" charset="0"/>
              </a:rPr>
              <a:t> </a:t>
            </a:r>
            <a:r>
              <a:rPr lang="en-US" sz="1600" b="0" dirty="0">
                <a:solidFill>
                  <a:srgbClr val="FF0000"/>
                </a:solidFill>
                <a:latin typeface="Cascadia Mono" panose="020B0609020000020004" pitchFamily="49" charset="0"/>
              </a:rPr>
              <a:t>class</a:t>
            </a:r>
            <a:r>
              <a:rPr lang="en-US" sz="1600" b="0" dirty="0">
                <a:solidFill>
                  <a:srgbClr val="0000FF"/>
                </a:solidFill>
                <a:latin typeface="Cascadia Mono" panose="020B0609020000020004" pitchFamily="49" charset="0"/>
              </a:rPr>
              <a:t>="nav-link"</a:t>
            </a:r>
            <a:r>
              <a:rPr lang="en-US" sz="1600" b="0" dirty="0">
                <a:solidFill>
                  <a:srgbClr val="000000"/>
                </a:solidFill>
                <a:latin typeface="Cascadia Mono" panose="020B0609020000020004" pitchFamily="49" charset="0"/>
              </a:rPr>
              <a:t> </a:t>
            </a:r>
            <a:r>
              <a:rPr lang="en-US" sz="1600" b="0" dirty="0">
                <a:solidFill>
                  <a:srgbClr val="FF0000"/>
                </a:solidFill>
                <a:latin typeface="Cascadia Mono" panose="020B0609020000020004" pitchFamily="49" charset="0"/>
              </a:rPr>
              <a:t>href</a:t>
            </a:r>
            <a:r>
              <a:rPr lang="en-US" sz="1600" b="0" dirty="0">
                <a:solidFill>
                  <a:srgbClr val="0000FF"/>
                </a:solidFill>
                <a:latin typeface="Cascadia Mono" panose="020B0609020000020004" pitchFamily="49" charset="0"/>
              </a:rPr>
              <a:t>="counter"&gt; // it active the link if its href matched</a:t>
            </a:r>
          </a:p>
          <a:p>
            <a:pPr lvl="1"/>
            <a:r>
              <a:rPr lang="en-US" sz="1600" dirty="0">
                <a:solidFill>
                  <a:srgbClr val="0000FF"/>
                </a:solidFill>
                <a:latin typeface="Cascadia Mono" panose="020B0609020000020004" pitchFamily="49" charset="0"/>
              </a:rPr>
              <a:t>At any component @code { </a:t>
            </a:r>
            <a:r>
              <a:rPr lang="en-US" sz="1600" dirty="0">
                <a:solidFill>
                  <a:srgbClr val="008000"/>
                </a:solidFill>
                <a:latin typeface="Cascadia Mono" panose="020B0609020000020004" pitchFamily="49" charset="0"/>
              </a:rPr>
              <a:t>// enter </a:t>
            </a:r>
            <a:r>
              <a:rPr lang="en-US" sz="1600" dirty="0" err="1">
                <a:solidFill>
                  <a:srgbClr val="008000"/>
                </a:solidFill>
                <a:latin typeface="Cascadia Mono" panose="020B0609020000020004" pitchFamily="49" charset="0"/>
              </a:rPr>
              <a:t>c#</a:t>
            </a:r>
            <a:r>
              <a:rPr lang="en-US" sz="1600" dirty="0">
                <a:solidFill>
                  <a:srgbClr val="008000"/>
                </a:solidFill>
                <a:latin typeface="Cascadia Mono" panose="020B0609020000020004" pitchFamily="49" charset="0"/>
              </a:rPr>
              <a:t> code here that will executed at browser</a:t>
            </a:r>
            <a:r>
              <a:rPr lang="en-US" sz="1600" dirty="0">
                <a:solidFill>
                  <a:srgbClr val="000000"/>
                </a:solidFill>
                <a:latin typeface="Cascadia Mono" panose="020B0609020000020004" pitchFamily="49" charset="0"/>
              </a:rPr>
              <a:t> }</a:t>
            </a:r>
          </a:p>
          <a:p>
            <a:r>
              <a:rPr lang="en-US" sz="1800" b="0" dirty="0">
                <a:solidFill>
                  <a:srgbClr val="0000FF"/>
                </a:solidFill>
                <a:latin typeface="Cascadia Mono" panose="020B0609020000020004" pitchFamily="49" charset="0"/>
              </a:rPr>
              <a:t> </a:t>
            </a:r>
            <a:endParaRPr lang="en-US" dirty="0"/>
          </a:p>
        </p:txBody>
      </p:sp>
    </p:spTree>
    <p:extLst>
      <p:ext uri="{BB962C8B-B14F-4D97-AF65-F5344CB8AC3E}">
        <p14:creationId xmlns:p14="http://schemas.microsoft.com/office/powerpoint/2010/main" val="6033119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0FA3D-2B18-F076-7BC5-30AA50E9A8A6}"/>
              </a:ext>
            </a:extLst>
          </p:cNvPr>
          <p:cNvSpPr>
            <a:spLocks noGrp="1"/>
          </p:cNvSpPr>
          <p:nvPr>
            <p:ph type="title"/>
          </p:nvPr>
        </p:nvSpPr>
        <p:spPr>
          <a:xfrm>
            <a:off x="913795" y="96350"/>
            <a:ext cx="10353762" cy="444424"/>
          </a:xfrm>
        </p:spPr>
        <p:txBody>
          <a:bodyPr>
            <a:normAutofit fontScale="90000"/>
          </a:bodyPr>
          <a:lstStyle/>
          <a:p>
            <a:r>
              <a:rPr lang="en-US" dirty="0"/>
              <a:t>General info</a:t>
            </a:r>
          </a:p>
        </p:txBody>
      </p:sp>
      <p:sp>
        <p:nvSpPr>
          <p:cNvPr id="3" name="Content Placeholder 2">
            <a:extLst>
              <a:ext uri="{FF2B5EF4-FFF2-40B4-BE49-F238E27FC236}">
                <a16:creationId xmlns:a16="http://schemas.microsoft.com/office/drawing/2014/main" id="{400F2A6E-5556-3A3C-0928-4829E5D897AF}"/>
              </a:ext>
            </a:extLst>
          </p:cNvPr>
          <p:cNvSpPr>
            <a:spLocks noGrp="1"/>
          </p:cNvSpPr>
          <p:nvPr>
            <p:ph idx="1"/>
          </p:nvPr>
        </p:nvSpPr>
        <p:spPr>
          <a:xfrm>
            <a:off x="294968" y="658760"/>
            <a:ext cx="10972589" cy="5830529"/>
          </a:xfrm>
        </p:spPr>
        <p:txBody>
          <a:bodyPr/>
          <a:lstStyle/>
          <a:p>
            <a:pPr marL="36900" indent="0">
              <a:buNone/>
            </a:pPr>
            <a:r>
              <a:rPr lang="en-US" sz="1800" dirty="0">
                <a:solidFill>
                  <a:srgbClr val="FF0000"/>
                </a:solidFill>
                <a:latin typeface="Cascadia Mono" panose="020B0609020000020004" pitchFamily="49" charset="0"/>
              </a:rPr>
              <a:t>&lt;button class</a:t>
            </a:r>
            <a:r>
              <a:rPr lang="en-US" sz="1800" dirty="0">
                <a:solidFill>
                  <a:srgbClr val="0000FF"/>
                </a:solidFill>
                <a:latin typeface="Cascadia Mono" panose="020B0609020000020004" pitchFamily="49" charset="0"/>
              </a:rPr>
              <a:t>="</a:t>
            </a:r>
            <a:r>
              <a:rPr lang="en-US" sz="1800" dirty="0" err="1">
                <a:solidFill>
                  <a:srgbClr val="0000FF"/>
                </a:solidFill>
                <a:latin typeface="Cascadia Mono" panose="020B0609020000020004" pitchFamily="49" charset="0"/>
              </a:rPr>
              <a:t>btn</a:t>
            </a:r>
            <a:r>
              <a:rPr lang="en-US" sz="1800" dirty="0">
                <a:solidFill>
                  <a:srgbClr val="0000FF"/>
                </a:solidFill>
                <a:latin typeface="Cascadia Mono" panose="020B0609020000020004" pitchFamily="49" charset="0"/>
              </a:rPr>
              <a:t> </a:t>
            </a:r>
            <a:r>
              <a:rPr lang="en-US" sz="1800" dirty="0" err="1">
                <a:solidFill>
                  <a:srgbClr val="0000FF"/>
                </a:solidFill>
                <a:latin typeface="Cascadia Mono" panose="020B0609020000020004" pitchFamily="49" charset="0"/>
              </a:rPr>
              <a:t>btn</a:t>
            </a:r>
            <a:r>
              <a:rPr lang="en-US" sz="1800" dirty="0">
                <a:solidFill>
                  <a:srgbClr val="0000FF"/>
                </a:solidFill>
                <a:latin typeface="Cascadia Mono" panose="020B0609020000020004" pitchFamily="49" charset="0"/>
              </a:rPr>
              <a:t>-success"</a:t>
            </a:r>
            <a:r>
              <a:rPr lang="en-US" sz="1800" dirty="0">
                <a:solidFill>
                  <a:srgbClr val="000000"/>
                </a:solidFill>
                <a:latin typeface="Cascadia Mono" panose="020B0609020000020004" pitchFamily="49" charset="0"/>
              </a:rPr>
              <a:t> </a:t>
            </a:r>
            <a:r>
              <a:rPr lang="en-US" sz="1800" dirty="0">
                <a:solidFill>
                  <a:schemeClr val="tx1"/>
                </a:solidFill>
                <a:latin typeface="Cascadia Mono" panose="020B0609020000020004" pitchFamily="49" charset="0"/>
              </a:rPr>
              <a:t>@onclick="test"&gt;</a:t>
            </a:r>
            <a:r>
              <a:rPr lang="en-US" sz="1800" dirty="0">
                <a:solidFill>
                  <a:srgbClr val="800080"/>
                </a:solidFill>
                <a:latin typeface="Cascadia Mono" panose="020B0609020000020004" pitchFamily="49" charset="0"/>
              </a:rPr>
              <a:t>Enter </a:t>
            </a:r>
            <a:r>
              <a:rPr lang="en-US" sz="1800" dirty="0">
                <a:solidFill>
                  <a:srgbClr val="FF0000"/>
                </a:solidFill>
                <a:latin typeface="Cascadia Mono" panose="020B0609020000020004" pitchFamily="49" charset="0"/>
              </a:rPr>
              <a:t>&lt;/button&gt;</a:t>
            </a:r>
          </a:p>
          <a:p>
            <a:pPr marL="36900" indent="0">
              <a:buNone/>
            </a:pPr>
            <a:r>
              <a:rPr lang="en-US" sz="1800" dirty="0">
                <a:solidFill>
                  <a:schemeClr val="tx1"/>
                </a:solidFill>
                <a:latin typeface="Cascadia Mono" panose="020B0609020000020004" pitchFamily="49" charset="0"/>
              </a:rPr>
              <a:t>At @code </a:t>
            </a:r>
            <a:r>
              <a:rPr lang="en-US" sz="1800" dirty="0">
                <a:solidFill>
                  <a:schemeClr val="tx1"/>
                </a:solidFill>
                <a:latin typeface="Cascadia Mono" panose="020B0609020000020004" pitchFamily="49" charset="0"/>
                <a:sym typeface="Wingdings" panose="05000000000000000000" pitchFamily="2" charset="2"/>
              </a:rPr>
              <a:t> </a:t>
            </a:r>
            <a:r>
              <a:rPr lang="en-US" sz="1800" dirty="0">
                <a:solidFill>
                  <a:schemeClr val="tx1"/>
                </a:solidFill>
                <a:latin typeface="Cascadia Mono" panose="020B0609020000020004" pitchFamily="49" charset="0"/>
              </a:rPr>
              <a:t>void test(){</a:t>
            </a:r>
            <a:r>
              <a:rPr lang="en-US" sz="1800" dirty="0" err="1">
                <a:solidFill>
                  <a:schemeClr val="tx1"/>
                </a:solidFill>
                <a:latin typeface="Cascadia Mono" panose="020B0609020000020004" pitchFamily="49" charset="0"/>
              </a:rPr>
              <a:t>Console.WriteLine</a:t>
            </a:r>
            <a:r>
              <a:rPr lang="en-US" sz="1800" dirty="0">
                <a:solidFill>
                  <a:schemeClr val="tx1"/>
                </a:solidFill>
                <a:latin typeface="Cascadia Mono" panose="020B0609020000020004" pitchFamily="49" charset="0"/>
              </a:rPr>
              <a:t>("hello from test");}</a:t>
            </a:r>
          </a:p>
          <a:p>
            <a:pPr marL="36900" indent="0">
              <a:buNone/>
            </a:pPr>
            <a:r>
              <a:rPr lang="en-US" sz="1800" dirty="0">
                <a:solidFill>
                  <a:schemeClr val="tx1"/>
                </a:solidFill>
                <a:latin typeface="Cascadia Mono" panose="020B0609020000020004" pitchFamily="49" charset="0"/>
              </a:rPr>
              <a:t>// @onclick="test" == @onclick=test</a:t>
            </a:r>
          </a:p>
          <a:p>
            <a:pPr marL="36900" indent="0">
              <a:buNone/>
            </a:pPr>
            <a:r>
              <a:rPr lang="en-US" sz="1800" dirty="0">
                <a:solidFill>
                  <a:schemeClr val="tx1"/>
                </a:solidFill>
                <a:latin typeface="Cascadia Mono" panose="020B0609020000020004" pitchFamily="49" charset="0"/>
              </a:rPr>
              <a:t>-----------------------------------------------------------------</a:t>
            </a:r>
          </a:p>
          <a:p>
            <a:pPr marL="36900" indent="0">
              <a:buNone/>
            </a:pPr>
            <a:r>
              <a:rPr lang="en-US" sz="1800" dirty="0">
                <a:solidFill>
                  <a:schemeClr val="tx1"/>
                </a:solidFill>
                <a:latin typeface="Cascadia Mono" panose="020B0609020000020004" pitchFamily="49" charset="0"/>
              </a:rPr>
              <a:t>&lt;&lt; call function with params &gt;&gt;</a:t>
            </a:r>
          </a:p>
          <a:p>
            <a:pPr marL="36900" indent="0">
              <a:buNone/>
            </a:pPr>
            <a:r>
              <a:rPr lang="en-US" sz="1800" dirty="0">
                <a:solidFill>
                  <a:schemeClr val="tx1"/>
                </a:solidFill>
                <a:latin typeface="Cascadia Mono" panose="020B0609020000020004" pitchFamily="49" charset="0"/>
              </a:rPr>
              <a:t>&lt;button class="</a:t>
            </a:r>
            <a:r>
              <a:rPr lang="en-US" sz="1800" dirty="0" err="1">
                <a:solidFill>
                  <a:schemeClr val="tx1"/>
                </a:solidFill>
                <a:latin typeface="Cascadia Mono" panose="020B0609020000020004" pitchFamily="49" charset="0"/>
              </a:rPr>
              <a:t>btn</a:t>
            </a:r>
            <a:r>
              <a:rPr lang="en-US" sz="1800" dirty="0">
                <a:solidFill>
                  <a:schemeClr val="tx1"/>
                </a:solidFill>
                <a:latin typeface="Cascadia Mono" panose="020B0609020000020004" pitchFamily="49" charset="0"/>
              </a:rPr>
              <a:t> </a:t>
            </a:r>
            <a:r>
              <a:rPr lang="en-US" sz="1800" dirty="0" err="1">
                <a:solidFill>
                  <a:schemeClr val="tx1"/>
                </a:solidFill>
                <a:latin typeface="Cascadia Mono" panose="020B0609020000020004" pitchFamily="49" charset="0"/>
              </a:rPr>
              <a:t>btn</a:t>
            </a:r>
            <a:r>
              <a:rPr lang="en-US" sz="1800" dirty="0">
                <a:solidFill>
                  <a:schemeClr val="tx1"/>
                </a:solidFill>
                <a:latin typeface="Cascadia Mono" panose="020B0609020000020004" pitchFamily="49" charset="0"/>
              </a:rPr>
              <a:t>-success" @onclick='()=&gt;{test("sss");}' &gt;Enter &lt;/button</a:t>
            </a:r>
            <a:r>
              <a:rPr lang="en-US" sz="1800" dirty="0">
                <a:solidFill>
                  <a:srgbClr val="0000FF"/>
                </a:solidFill>
                <a:latin typeface="Cascadia Mono" panose="020B0609020000020004" pitchFamily="49" charset="0"/>
              </a:rPr>
              <a:t>&gt;</a:t>
            </a:r>
          </a:p>
          <a:p>
            <a:pPr marL="36900" indent="0">
              <a:buNone/>
            </a:pPr>
            <a:r>
              <a:rPr lang="en-US" sz="1800" dirty="0">
                <a:solidFill>
                  <a:srgbClr val="000000"/>
                </a:solidFill>
                <a:latin typeface="Cascadia Mono" panose="020B0609020000020004" pitchFamily="49" charset="0"/>
              </a:rPr>
              <a:t> </a:t>
            </a:r>
            <a:r>
              <a:rPr lang="en-US" sz="1800" dirty="0">
                <a:solidFill>
                  <a:schemeClr val="tx1"/>
                </a:solidFill>
                <a:latin typeface="Cascadia Mono" panose="020B0609020000020004" pitchFamily="49" charset="0"/>
              </a:rPr>
              <a:t>void test(string msg) =&gt; </a:t>
            </a:r>
            <a:r>
              <a:rPr lang="en-US" sz="1800" dirty="0" err="1">
                <a:solidFill>
                  <a:schemeClr val="tx1"/>
                </a:solidFill>
                <a:latin typeface="Cascadia Mono" panose="020B0609020000020004" pitchFamily="49" charset="0"/>
              </a:rPr>
              <a:t>Console.WriteLine</a:t>
            </a:r>
            <a:r>
              <a:rPr lang="en-US" sz="1800" dirty="0">
                <a:solidFill>
                  <a:schemeClr val="tx1"/>
                </a:solidFill>
                <a:latin typeface="Cascadia Mono" panose="020B0609020000020004" pitchFamily="49" charset="0"/>
              </a:rPr>
              <a:t>(msg);</a:t>
            </a:r>
          </a:p>
          <a:p>
            <a:pPr marL="36900" indent="0">
              <a:buNone/>
            </a:pPr>
            <a:r>
              <a:rPr lang="en-US" sz="1800" dirty="0">
                <a:solidFill>
                  <a:schemeClr val="tx1"/>
                </a:solidFill>
                <a:latin typeface="Cascadia Mono" panose="020B0609020000020004" pitchFamily="49" charset="0"/>
              </a:rPr>
              <a:t>-----------------------------------------------------------------</a:t>
            </a:r>
          </a:p>
          <a:p>
            <a:pPr marL="36900" indent="0">
              <a:buNone/>
            </a:pPr>
            <a:r>
              <a:rPr lang="en-US" sz="1800" dirty="0">
                <a:solidFill>
                  <a:schemeClr val="tx1"/>
                </a:solidFill>
                <a:latin typeface="Cascadia Mono" panose="020B0609020000020004" pitchFamily="49" charset="0"/>
              </a:rPr>
              <a:t>To read variable from @code directive in html element </a:t>
            </a:r>
            <a:r>
              <a:rPr lang="en-US" sz="1800" b="1" dirty="0">
                <a:solidFill>
                  <a:srgbClr val="FF0000"/>
                </a:solidFill>
                <a:latin typeface="Cascadia Mono" panose="020B0609020000020004" pitchFamily="49" charset="0"/>
              </a:rPr>
              <a:t>(one way binding)</a:t>
            </a:r>
          </a:p>
          <a:p>
            <a:pPr marL="450000" lvl="1" indent="0">
              <a:buNone/>
            </a:pPr>
            <a:r>
              <a:rPr lang="en-US" sz="1600" dirty="0">
                <a:solidFill>
                  <a:schemeClr val="tx1"/>
                </a:solidFill>
                <a:latin typeface="Cascadia Mono" panose="020B0609020000020004" pitchFamily="49" charset="0"/>
              </a:rPr>
              <a:t>@code {string msg = "Ahmed";} , </a:t>
            </a:r>
          </a:p>
          <a:p>
            <a:pPr marL="450000" lvl="1" indent="0">
              <a:buNone/>
            </a:pPr>
            <a:r>
              <a:rPr lang="en-US" sz="1600" dirty="0">
                <a:solidFill>
                  <a:schemeClr val="tx1"/>
                </a:solidFill>
                <a:latin typeface="Cascadia Mono" panose="020B0609020000020004" pitchFamily="49" charset="0"/>
              </a:rPr>
              <a:t>at html &lt;p&gt;@msg&lt;/p&gt;  &lt;input type="text" value="@msg" /&gt;</a:t>
            </a:r>
          </a:p>
          <a:p>
            <a:pPr marL="36900" indent="0">
              <a:buNone/>
            </a:pPr>
            <a:r>
              <a:rPr lang="en-US" sz="1800" dirty="0">
                <a:solidFill>
                  <a:schemeClr val="tx1"/>
                </a:solidFill>
                <a:latin typeface="Cascadia Mono" panose="020B0609020000020004" pitchFamily="49" charset="0"/>
              </a:rPr>
              <a:t>two-way binding</a:t>
            </a:r>
          </a:p>
          <a:p>
            <a:pPr marL="36900" indent="0">
              <a:buNone/>
            </a:pPr>
            <a:r>
              <a:rPr lang="en-US" sz="1800" dirty="0">
                <a:solidFill>
                  <a:schemeClr val="tx1"/>
                </a:solidFill>
                <a:latin typeface="Cascadia Mono" panose="020B0609020000020004" pitchFamily="49" charset="0"/>
              </a:rPr>
              <a:t>	&lt;input type="text" </a:t>
            </a:r>
            <a:r>
              <a:rPr lang="en-US" sz="1800" dirty="0">
                <a:solidFill>
                  <a:srgbClr val="FF0000"/>
                </a:solidFill>
                <a:latin typeface="Cascadia Mono" panose="020B0609020000020004" pitchFamily="49" charset="0"/>
              </a:rPr>
              <a:t>@bind-value:event="oninput" @bind-value="@msg" </a:t>
            </a:r>
            <a:r>
              <a:rPr lang="en-US" sz="1800" dirty="0">
                <a:solidFill>
                  <a:schemeClr val="tx1"/>
                </a:solidFill>
                <a:latin typeface="Cascadia Mono" panose="020B0609020000020004" pitchFamily="49" charset="0"/>
              </a:rPr>
              <a:t>/&gt;</a:t>
            </a:r>
          </a:p>
          <a:p>
            <a:pPr marL="36900" indent="0">
              <a:buNone/>
            </a:pPr>
            <a:endParaRPr lang="en-US" sz="1800" dirty="0">
              <a:solidFill>
                <a:schemeClr val="tx1"/>
              </a:solidFill>
              <a:latin typeface="Cascadia Mono" panose="020B0609020000020004" pitchFamily="49" charset="0"/>
            </a:endParaRPr>
          </a:p>
          <a:p>
            <a:pPr marL="36900" indent="0">
              <a:buNone/>
            </a:pPr>
            <a:endParaRPr lang="en-US" sz="1800" dirty="0">
              <a:solidFill>
                <a:schemeClr val="tx1"/>
              </a:solidFill>
              <a:latin typeface="Cascadia Mono" panose="020B0609020000020004" pitchFamily="49" charset="0"/>
            </a:endParaRPr>
          </a:p>
        </p:txBody>
      </p:sp>
    </p:spTree>
    <p:extLst>
      <p:ext uri="{BB962C8B-B14F-4D97-AF65-F5344CB8AC3E}">
        <p14:creationId xmlns:p14="http://schemas.microsoft.com/office/powerpoint/2010/main" val="258351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5B1A-8CFB-157F-1058-94CF753DC308}"/>
              </a:ext>
            </a:extLst>
          </p:cNvPr>
          <p:cNvSpPr>
            <a:spLocks noGrp="1"/>
          </p:cNvSpPr>
          <p:nvPr>
            <p:ph type="title"/>
          </p:nvPr>
        </p:nvSpPr>
        <p:spPr>
          <a:xfrm>
            <a:off x="913795" y="96350"/>
            <a:ext cx="10353762" cy="601740"/>
          </a:xfrm>
        </p:spPr>
        <p:txBody>
          <a:bodyPr>
            <a:normAutofit fontScale="90000"/>
          </a:bodyPr>
          <a:lstStyle/>
          <a:p>
            <a:r>
              <a:rPr lang="en-US" dirty="0"/>
              <a:t>General info</a:t>
            </a:r>
          </a:p>
        </p:txBody>
      </p:sp>
      <p:sp>
        <p:nvSpPr>
          <p:cNvPr id="3" name="Content Placeholder 2">
            <a:extLst>
              <a:ext uri="{FF2B5EF4-FFF2-40B4-BE49-F238E27FC236}">
                <a16:creationId xmlns:a16="http://schemas.microsoft.com/office/drawing/2014/main" id="{9028DA4D-720B-3145-2E80-65D3E85B9929}"/>
              </a:ext>
            </a:extLst>
          </p:cNvPr>
          <p:cNvSpPr>
            <a:spLocks noGrp="1"/>
          </p:cNvSpPr>
          <p:nvPr>
            <p:ph idx="1"/>
          </p:nvPr>
        </p:nvSpPr>
        <p:spPr>
          <a:xfrm>
            <a:off x="344128" y="825911"/>
            <a:ext cx="11700387" cy="5781366"/>
          </a:xfrm>
        </p:spPr>
        <p:txBody>
          <a:bodyPr>
            <a:normAutofit lnSpcReduction="10000"/>
          </a:bodyPr>
          <a:lstStyle/>
          <a:p>
            <a:r>
              <a:rPr lang="en-US" sz="1800" dirty="0">
                <a:solidFill>
                  <a:srgbClr val="0000FF"/>
                </a:solidFill>
                <a:latin typeface="Cascadia Mono" panose="020B0609020000020004" pitchFamily="49" charset="0"/>
              </a:rPr>
              <a:t>The @bind directive used with select input</a:t>
            </a:r>
          </a:p>
          <a:p>
            <a:pPr marL="36900" indent="0">
              <a:buNone/>
            </a:pP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select</a:t>
            </a:r>
            <a:r>
              <a:rPr lang="en-US" sz="1800" dirty="0">
                <a:solidFill>
                  <a:srgbClr val="000000"/>
                </a:solidFill>
                <a:latin typeface="Cascadia Mono" panose="020B0609020000020004" pitchFamily="49" charset="0"/>
              </a:rPr>
              <a:t> @</a:t>
            </a:r>
            <a:r>
              <a:rPr lang="en-US" sz="1800" dirty="0">
                <a:solidFill>
                  <a:srgbClr val="800080"/>
                </a:solidFill>
                <a:latin typeface="Cascadia Mono" panose="020B0609020000020004" pitchFamily="49" charset="0"/>
              </a:rPr>
              <a:t>bind</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msg</a:t>
            </a:r>
            <a:r>
              <a:rPr lang="en-US" sz="1800" dirty="0">
                <a:solidFill>
                  <a:srgbClr val="0000FF"/>
                </a:solidFill>
                <a:latin typeface="Cascadia Mono" panose="020B0609020000020004" pitchFamily="49" charset="0"/>
              </a:rPr>
              <a:t>"</a:t>
            </a:r>
            <a:r>
              <a:rPr lang="en-US" sz="1800" dirty="0">
                <a:solidFill>
                  <a:srgbClr val="000000"/>
                </a:solidFill>
                <a:latin typeface="Cascadia Mono" panose="020B0609020000020004" pitchFamily="49" charset="0"/>
              </a:rPr>
              <a:t> @</a:t>
            </a:r>
            <a:r>
              <a:rPr lang="en-US" sz="1800" dirty="0">
                <a:solidFill>
                  <a:srgbClr val="800080"/>
                </a:solidFill>
                <a:latin typeface="Cascadia Mono" panose="020B0609020000020004" pitchFamily="49" charset="0"/>
              </a:rPr>
              <a:t>bind</a:t>
            </a:r>
            <a:r>
              <a:rPr lang="en-US" sz="1800" dirty="0">
                <a:solidFill>
                  <a:srgbClr val="000000"/>
                </a:solidFill>
                <a:latin typeface="Cascadia Mono" panose="020B0609020000020004" pitchFamily="49" charset="0"/>
              </a:rPr>
              <a:t>:</a:t>
            </a:r>
            <a:r>
              <a:rPr lang="en-US" sz="1800" dirty="0">
                <a:solidFill>
                  <a:srgbClr val="800080"/>
                </a:solidFill>
                <a:latin typeface="Cascadia Mono" panose="020B0609020000020004" pitchFamily="49" charset="0"/>
              </a:rPr>
              <a:t>event</a:t>
            </a:r>
            <a:r>
              <a:rPr lang="en-US" sz="1800" dirty="0">
                <a:solidFill>
                  <a:srgbClr val="0000FF"/>
                </a:solidFill>
                <a:latin typeface="Cascadia Mono" panose="020B0609020000020004" pitchFamily="49" charset="0"/>
              </a:rPr>
              <a:t>="onchange"&gt;</a:t>
            </a:r>
            <a:endParaRPr lang="en-US" sz="1800" dirty="0">
              <a:solidFill>
                <a:srgbClr val="000000"/>
              </a:solidFill>
              <a:latin typeface="Cascadia Mono" panose="020B0609020000020004" pitchFamily="49" charset="0"/>
            </a:endParaRPr>
          </a:p>
          <a:p>
            <a:pPr marL="3690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option</a:t>
            </a:r>
            <a:r>
              <a:rPr lang="en-US" sz="1800" dirty="0">
                <a:solidFill>
                  <a:srgbClr val="000000"/>
                </a:solidFill>
                <a:latin typeface="Cascadia Mono" panose="020B0609020000020004" pitchFamily="49" charset="0"/>
              </a:rPr>
              <a:t> </a:t>
            </a:r>
            <a:r>
              <a:rPr lang="en-US" sz="1800" dirty="0">
                <a:solidFill>
                  <a:srgbClr val="FF0000"/>
                </a:solidFill>
                <a:latin typeface="Cascadia Mono" panose="020B0609020000020004" pitchFamily="49" charset="0"/>
              </a:rPr>
              <a:t>value</a:t>
            </a:r>
            <a:r>
              <a:rPr lang="en-US" sz="1800" dirty="0">
                <a:solidFill>
                  <a:srgbClr val="0000FF"/>
                </a:solidFill>
                <a:latin typeface="Cascadia Mono" panose="020B0609020000020004" pitchFamily="49" charset="0"/>
              </a:rPr>
              <a:t>="1"&gt;</a:t>
            </a:r>
            <a:r>
              <a:rPr lang="en-US" dirty="0" err="1"/>
              <a:t>alex</a:t>
            </a: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option</a:t>
            </a:r>
            <a:r>
              <a:rPr lang="en-US" sz="1800" dirty="0">
                <a:solidFill>
                  <a:srgbClr val="0000FF"/>
                </a:solidFill>
                <a:latin typeface="Cascadia Mono" panose="020B0609020000020004" pitchFamily="49" charset="0"/>
              </a:rPr>
              <a:t>&gt;</a:t>
            </a:r>
            <a:endParaRPr lang="en-US" sz="1800" dirty="0">
              <a:solidFill>
                <a:srgbClr val="000000"/>
              </a:solidFill>
              <a:latin typeface="Cascadia Mono" panose="020B0609020000020004" pitchFamily="49" charset="0"/>
            </a:endParaRPr>
          </a:p>
          <a:p>
            <a:pPr marL="3690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option</a:t>
            </a:r>
            <a:r>
              <a:rPr lang="en-US" sz="1800" dirty="0">
                <a:solidFill>
                  <a:srgbClr val="000000"/>
                </a:solidFill>
                <a:latin typeface="Cascadia Mono" panose="020B0609020000020004" pitchFamily="49" charset="0"/>
              </a:rPr>
              <a:t> </a:t>
            </a:r>
            <a:r>
              <a:rPr lang="en-US" sz="1800" dirty="0">
                <a:solidFill>
                  <a:srgbClr val="FF0000"/>
                </a:solidFill>
                <a:latin typeface="Cascadia Mono" panose="020B0609020000020004" pitchFamily="49" charset="0"/>
              </a:rPr>
              <a:t>value</a:t>
            </a:r>
            <a:r>
              <a:rPr lang="en-US" sz="1800" dirty="0">
                <a:solidFill>
                  <a:srgbClr val="0000FF"/>
                </a:solidFill>
                <a:latin typeface="Cascadia Mono" panose="020B0609020000020004" pitchFamily="49" charset="0"/>
              </a:rPr>
              <a:t>="2"&gt;</a:t>
            </a:r>
            <a:r>
              <a:rPr lang="en-US" dirty="0" err="1"/>
              <a:t>cairo</a:t>
            </a: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option</a:t>
            </a:r>
            <a:r>
              <a:rPr lang="en-US" sz="1800" dirty="0">
                <a:solidFill>
                  <a:srgbClr val="0000FF"/>
                </a:solidFill>
                <a:latin typeface="Cascadia Mono" panose="020B0609020000020004" pitchFamily="49" charset="0"/>
              </a:rPr>
              <a:t>&gt;</a:t>
            </a:r>
            <a:endParaRPr lang="en-US" sz="1800" dirty="0">
              <a:solidFill>
                <a:srgbClr val="000000"/>
              </a:solidFill>
              <a:latin typeface="Cascadia Mono" panose="020B0609020000020004" pitchFamily="49" charset="0"/>
            </a:endParaRPr>
          </a:p>
          <a:p>
            <a:pPr marL="36900" indent="0">
              <a:buNone/>
            </a:pPr>
            <a:r>
              <a:rPr lang="en-US" sz="1800" dirty="0">
                <a:solidFill>
                  <a:srgbClr val="000000"/>
                </a:solidFill>
                <a:latin typeface="Cascadia Mono" panose="020B0609020000020004" pitchFamily="49" charset="0"/>
              </a:rPr>
              <a:t>    </a:t>
            </a: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option</a:t>
            </a:r>
            <a:r>
              <a:rPr lang="en-US" sz="1800" dirty="0">
                <a:solidFill>
                  <a:srgbClr val="000000"/>
                </a:solidFill>
                <a:latin typeface="Cascadia Mono" panose="020B0609020000020004" pitchFamily="49" charset="0"/>
              </a:rPr>
              <a:t> </a:t>
            </a:r>
            <a:r>
              <a:rPr lang="en-US" sz="1800" dirty="0">
                <a:solidFill>
                  <a:srgbClr val="FF0000"/>
                </a:solidFill>
                <a:latin typeface="Cascadia Mono" panose="020B0609020000020004" pitchFamily="49" charset="0"/>
              </a:rPr>
              <a:t>value</a:t>
            </a:r>
            <a:r>
              <a:rPr lang="en-US" sz="1800" dirty="0">
                <a:solidFill>
                  <a:srgbClr val="0000FF"/>
                </a:solidFill>
                <a:latin typeface="Cascadia Mono" panose="020B0609020000020004" pitchFamily="49" charset="0"/>
              </a:rPr>
              <a:t>="3"&gt;</a:t>
            </a:r>
            <a:r>
              <a:rPr lang="en-US" dirty="0" err="1"/>
              <a:t>mansoura</a:t>
            </a: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option</a:t>
            </a:r>
            <a:r>
              <a:rPr lang="en-US" sz="1800" dirty="0">
                <a:solidFill>
                  <a:srgbClr val="0000FF"/>
                </a:solidFill>
                <a:latin typeface="Cascadia Mono" panose="020B0609020000020004" pitchFamily="49" charset="0"/>
              </a:rPr>
              <a:t>&gt;</a:t>
            </a:r>
            <a:endParaRPr lang="en-US" sz="1800" dirty="0">
              <a:solidFill>
                <a:srgbClr val="000000"/>
              </a:solidFill>
              <a:latin typeface="Cascadia Mono" panose="020B0609020000020004" pitchFamily="49" charset="0"/>
            </a:endParaRPr>
          </a:p>
          <a:p>
            <a:pPr marL="36900" indent="0">
              <a:buNone/>
            </a:pPr>
            <a:r>
              <a:rPr lang="en-US" sz="1800" dirty="0">
                <a:solidFill>
                  <a:srgbClr val="0000FF"/>
                </a:solidFill>
                <a:latin typeface="Cascadia Mono" panose="020B0609020000020004" pitchFamily="49" charset="0"/>
              </a:rPr>
              <a:t>&lt;/</a:t>
            </a:r>
            <a:r>
              <a:rPr lang="en-US" sz="1800" dirty="0">
                <a:solidFill>
                  <a:srgbClr val="FF0000"/>
                </a:solidFill>
                <a:latin typeface="Cascadia Mono" panose="020B0609020000020004" pitchFamily="49" charset="0"/>
              </a:rPr>
              <a:t>select</a:t>
            </a:r>
            <a:r>
              <a:rPr lang="en-US" sz="1800" dirty="0">
                <a:solidFill>
                  <a:srgbClr val="0000FF"/>
                </a:solidFill>
                <a:latin typeface="Cascadia Mono" panose="020B0609020000020004" pitchFamily="49" charset="0"/>
              </a:rPr>
              <a:t>&gt;</a:t>
            </a:r>
          </a:p>
          <a:p>
            <a:pPr marL="36900" indent="0">
              <a:buNone/>
            </a:pPr>
            <a:r>
              <a:rPr lang="en-US" dirty="0"/>
              <a:t>&lt;select class="form form-control" </a:t>
            </a:r>
          </a:p>
          <a:p>
            <a:pPr marL="36900" indent="0">
              <a:buNone/>
            </a:pPr>
            <a:r>
              <a:rPr lang="en-US" dirty="0"/>
              <a:t>	@foreach (var item in </a:t>
            </a:r>
            <a:r>
              <a:rPr lang="en-US" dirty="0" err="1"/>
              <a:t>DeptList</a:t>
            </a:r>
            <a:r>
              <a:rPr lang="en-US" dirty="0"/>
              <a:t>)</a:t>
            </a:r>
          </a:p>
          <a:p>
            <a:pPr marL="36900" indent="0">
              <a:buNone/>
            </a:pPr>
            <a:r>
              <a:rPr lang="en-US" dirty="0"/>
              <a:t>    		{  &lt;option value="@</a:t>
            </a:r>
            <a:r>
              <a:rPr lang="en-US" dirty="0" err="1"/>
              <a:t>item.Id</a:t>
            </a:r>
            <a:r>
              <a:rPr lang="en-US" dirty="0"/>
              <a:t>"&gt;@item.Name&lt;/option&gt;}</a:t>
            </a:r>
          </a:p>
          <a:p>
            <a:pPr marL="36900" indent="0">
              <a:buNone/>
            </a:pPr>
            <a:r>
              <a:rPr lang="en-US" dirty="0"/>
              <a:t>&lt;/select&gt;</a:t>
            </a:r>
          </a:p>
          <a:p>
            <a:pPr marL="36900" indent="0">
              <a:buNone/>
            </a:pPr>
            <a:r>
              <a:rPr lang="en-US" sz="1800" dirty="0">
                <a:solidFill>
                  <a:srgbClr val="0000FF"/>
                </a:solidFill>
                <a:latin typeface="Cascadia Mono" panose="020B0609020000020004" pitchFamily="49" charset="0"/>
              </a:rPr>
              <a:t>&lt;</a:t>
            </a:r>
            <a:r>
              <a:rPr lang="en-US" sz="1800" dirty="0" err="1">
                <a:solidFill>
                  <a:srgbClr val="0000FF"/>
                </a:solidFill>
                <a:latin typeface="Cascadia Mono" panose="020B0609020000020004" pitchFamily="49" charset="0"/>
              </a:rPr>
              <a:t>img</a:t>
            </a:r>
            <a:r>
              <a:rPr lang="en-US" sz="1800" dirty="0">
                <a:solidFill>
                  <a:srgbClr val="0000FF"/>
                </a:solidFill>
                <a:latin typeface="Cascadia Mono" panose="020B0609020000020004" pitchFamily="49" charset="0"/>
              </a:rPr>
              <a:t> </a:t>
            </a:r>
            <a:r>
              <a:rPr lang="en-US" sz="1800" dirty="0" err="1">
                <a:solidFill>
                  <a:srgbClr val="0000FF"/>
                </a:solidFill>
                <a:latin typeface="Cascadia Mono" panose="020B0609020000020004" pitchFamily="49" charset="0"/>
              </a:rPr>
              <a:t>src</a:t>
            </a:r>
            <a:r>
              <a:rPr lang="en-US" sz="1800" dirty="0">
                <a:solidFill>
                  <a:srgbClr val="0000FF"/>
                </a:solidFill>
                <a:latin typeface="Cascadia Mono" panose="020B0609020000020004" pitchFamily="49" charset="0"/>
              </a:rPr>
              <a:t>="Images/@product.Image" class="card-</a:t>
            </a:r>
            <a:r>
              <a:rPr lang="en-US" sz="1800" dirty="0" err="1">
                <a:solidFill>
                  <a:srgbClr val="0000FF"/>
                </a:solidFill>
                <a:latin typeface="Cascadia Mono" panose="020B0609020000020004" pitchFamily="49" charset="0"/>
              </a:rPr>
              <a:t>img</a:t>
            </a:r>
            <a:r>
              <a:rPr lang="en-US" sz="1800" dirty="0">
                <a:solidFill>
                  <a:srgbClr val="0000FF"/>
                </a:solidFill>
                <a:latin typeface="Cascadia Mono" panose="020B0609020000020004" pitchFamily="49" charset="0"/>
              </a:rPr>
              <a:t>-top" alt="@</a:t>
            </a:r>
            <a:r>
              <a:rPr lang="en-US" sz="1800" dirty="0" err="1">
                <a:solidFill>
                  <a:srgbClr val="0000FF"/>
                </a:solidFill>
                <a:latin typeface="Cascadia Mono" panose="020B0609020000020004" pitchFamily="49" charset="0"/>
              </a:rPr>
              <a:t>product.Name</a:t>
            </a:r>
            <a:r>
              <a:rPr lang="en-US" sz="1800" dirty="0">
                <a:solidFill>
                  <a:srgbClr val="0000FF"/>
                </a:solidFill>
                <a:latin typeface="Cascadia Mono" panose="020B0609020000020004" pitchFamily="49" charset="0"/>
              </a:rPr>
              <a:t>"&gt;</a:t>
            </a:r>
          </a:p>
          <a:p>
            <a:r>
              <a:rPr lang="en-US" dirty="0"/>
              <a:t>You can separate the component </a:t>
            </a:r>
            <a:r>
              <a:rPr lang="en-US" dirty="0" err="1"/>
              <a:t>c#</a:t>
            </a:r>
            <a:r>
              <a:rPr lang="en-US" dirty="0"/>
              <a:t> code in file </a:t>
            </a:r>
            <a:r>
              <a:rPr lang="en-US" dirty="0">
                <a:sym typeface="Wingdings" panose="05000000000000000000" pitchFamily="2" charset="2"/>
              </a:rPr>
              <a:t>  for </a:t>
            </a:r>
            <a:r>
              <a:rPr lang="en-US" sz="1800" b="1" dirty="0" err="1">
                <a:solidFill>
                  <a:srgbClr val="FF0000"/>
                </a:solidFill>
                <a:latin typeface="Cascadia Mono" panose="020B0609020000020004" pitchFamily="49" charset="0"/>
                <a:sym typeface="Wingdings" panose="05000000000000000000" pitchFamily="2" charset="2"/>
              </a:rPr>
              <a:t>FirstComponent.razor</a:t>
            </a:r>
            <a:r>
              <a:rPr lang="en-US" sz="1800" dirty="0">
                <a:solidFill>
                  <a:srgbClr val="FF0000"/>
                </a:solidFill>
                <a:latin typeface="Cascadia Mono" panose="020B0609020000020004" pitchFamily="49" charset="0"/>
                <a:sym typeface="Wingdings" panose="05000000000000000000" pitchFamily="2" charset="2"/>
              </a:rPr>
              <a:t>  </a:t>
            </a:r>
            <a:r>
              <a:rPr lang="en-US" dirty="0">
                <a:sym typeface="Wingdings" panose="05000000000000000000" pitchFamily="2" charset="2"/>
              </a:rPr>
              <a:t>component you can create class with name  </a:t>
            </a:r>
            <a:r>
              <a:rPr lang="en-US" sz="1800" b="1" dirty="0" err="1">
                <a:solidFill>
                  <a:srgbClr val="FF0000"/>
                </a:solidFill>
                <a:latin typeface="Cascadia Mono" panose="020B0609020000020004" pitchFamily="49" charset="0"/>
                <a:sym typeface="Wingdings" panose="05000000000000000000" pitchFamily="2" charset="2"/>
              </a:rPr>
              <a:t>FirstComponent</a:t>
            </a:r>
            <a:r>
              <a:rPr lang="en-US" sz="2400" b="1" dirty="0" err="1">
                <a:solidFill>
                  <a:srgbClr val="FF0000"/>
                </a:solidFill>
                <a:sym typeface="Wingdings" panose="05000000000000000000" pitchFamily="2" charset="2"/>
              </a:rPr>
              <a:t>.razor.cs</a:t>
            </a:r>
            <a:r>
              <a:rPr lang="en-US" dirty="0">
                <a:sym typeface="Wingdings" panose="05000000000000000000" pitchFamily="2" charset="2"/>
              </a:rPr>
              <a:t> and make class partial and delete the @code directive from component</a:t>
            </a:r>
            <a:endParaRPr lang="en-US" dirty="0"/>
          </a:p>
        </p:txBody>
      </p:sp>
    </p:spTree>
    <p:extLst>
      <p:ext uri="{BB962C8B-B14F-4D97-AF65-F5344CB8AC3E}">
        <p14:creationId xmlns:p14="http://schemas.microsoft.com/office/powerpoint/2010/main" val="2957311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109C3-B3A4-0578-50E6-CA2C355E3383}"/>
              </a:ext>
            </a:extLst>
          </p:cNvPr>
          <p:cNvSpPr>
            <a:spLocks noGrp="1"/>
          </p:cNvSpPr>
          <p:nvPr>
            <p:ph type="title"/>
          </p:nvPr>
        </p:nvSpPr>
        <p:spPr>
          <a:xfrm>
            <a:off x="913795" y="0"/>
            <a:ext cx="10353762" cy="970450"/>
          </a:xfrm>
        </p:spPr>
        <p:txBody>
          <a:bodyPr/>
          <a:lstStyle/>
          <a:p>
            <a:r>
              <a:rPr lang="en-US" dirty="0"/>
              <a:t>Get parameter from route</a:t>
            </a:r>
          </a:p>
        </p:txBody>
      </p:sp>
      <p:sp>
        <p:nvSpPr>
          <p:cNvPr id="3" name="Content Placeholder 2">
            <a:extLst>
              <a:ext uri="{FF2B5EF4-FFF2-40B4-BE49-F238E27FC236}">
                <a16:creationId xmlns:a16="http://schemas.microsoft.com/office/drawing/2014/main" id="{50A2E22E-668B-F0E8-8A06-15D96726A3A4}"/>
              </a:ext>
            </a:extLst>
          </p:cNvPr>
          <p:cNvSpPr>
            <a:spLocks noGrp="1"/>
          </p:cNvSpPr>
          <p:nvPr>
            <p:ph idx="1"/>
          </p:nvPr>
        </p:nvSpPr>
        <p:spPr>
          <a:xfrm>
            <a:off x="196645" y="970450"/>
            <a:ext cx="11070912" cy="5518839"/>
          </a:xfrm>
        </p:spPr>
        <p:txBody>
          <a:bodyPr/>
          <a:lstStyle/>
          <a:p>
            <a:r>
              <a:rPr lang="en-US" sz="1800" dirty="0">
                <a:solidFill>
                  <a:schemeClr val="tx1"/>
                </a:solidFill>
                <a:latin typeface="Cascadia Mono" panose="020B0609020000020004" pitchFamily="49" charset="0"/>
              </a:rPr>
              <a:t>@page "/first/{</a:t>
            </a:r>
            <a:r>
              <a:rPr lang="en-US" sz="1800" dirty="0" err="1">
                <a:solidFill>
                  <a:schemeClr val="tx1"/>
                </a:solidFill>
                <a:latin typeface="Cascadia Mono" panose="020B0609020000020004" pitchFamily="49" charset="0"/>
              </a:rPr>
              <a:t>id</a:t>
            </a:r>
            <a:r>
              <a:rPr lang="en-US" sz="1800" dirty="0" err="1">
                <a:solidFill>
                  <a:srgbClr val="FF0000"/>
                </a:solidFill>
                <a:latin typeface="Cascadia Mono" panose="020B0609020000020004" pitchFamily="49" charset="0"/>
              </a:rPr>
              <a:t>:int</a:t>
            </a:r>
            <a:r>
              <a:rPr lang="en-US" sz="1800" dirty="0">
                <a:solidFill>
                  <a:schemeClr val="tx1"/>
                </a:solidFill>
                <a:latin typeface="Cascadia Mono" panose="020B0609020000020004" pitchFamily="49" charset="0"/>
              </a:rPr>
              <a:t>}"    // id will pass to component at property named id</a:t>
            </a:r>
          </a:p>
          <a:p>
            <a:r>
              <a:rPr lang="en-US" sz="1800" dirty="0">
                <a:solidFill>
                  <a:schemeClr val="tx1"/>
                </a:solidFill>
                <a:latin typeface="Cascadia Mono" panose="020B0609020000020004" pitchFamily="49" charset="0"/>
              </a:rPr>
              <a:t>&lt;p&gt;@id&lt;/p&gt;</a:t>
            </a:r>
          </a:p>
          <a:p>
            <a:r>
              <a:rPr lang="en-US" sz="1800" dirty="0">
                <a:solidFill>
                  <a:schemeClr val="tx1"/>
                </a:solidFill>
                <a:latin typeface="Cascadia Mono" panose="020B0609020000020004" pitchFamily="49" charset="0"/>
              </a:rPr>
              <a:t>[Parameter]</a:t>
            </a:r>
          </a:p>
          <a:p>
            <a:r>
              <a:rPr lang="en-US" sz="1800" dirty="0">
                <a:solidFill>
                  <a:schemeClr val="tx1"/>
                </a:solidFill>
                <a:latin typeface="Cascadia Mono" panose="020B0609020000020004" pitchFamily="49" charset="0"/>
              </a:rPr>
              <a:t>public int id { get; set; }  // the name must be similar to route parameter</a:t>
            </a:r>
          </a:p>
        </p:txBody>
      </p:sp>
    </p:spTree>
    <p:extLst>
      <p:ext uri="{BB962C8B-B14F-4D97-AF65-F5344CB8AC3E}">
        <p14:creationId xmlns:p14="http://schemas.microsoft.com/office/powerpoint/2010/main" val="782502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4F9E-2781-7DD4-A159-F126C0A9A3F9}"/>
              </a:ext>
            </a:extLst>
          </p:cNvPr>
          <p:cNvSpPr>
            <a:spLocks noGrp="1"/>
          </p:cNvSpPr>
          <p:nvPr>
            <p:ph type="title"/>
          </p:nvPr>
        </p:nvSpPr>
        <p:spPr>
          <a:xfrm>
            <a:off x="913795" y="0"/>
            <a:ext cx="10353762" cy="648929"/>
          </a:xfrm>
        </p:spPr>
        <p:txBody>
          <a:bodyPr>
            <a:normAutofit fontScale="90000"/>
          </a:bodyPr>
          <a:lstStyle/>
          <a:p>
            <a:r>
              <a:rPr lang="en-US" dirty="0"/>
              <a:t>Pass data between component</a:t>
            </a:r>
          </a:p>
        </p:txBody>
      </p:sp>
      <p:sp>
        <p:nvSpPr>
          <p:cNvPr id="3" name="Content Placeholder 2">
            <a:extLst>
              <a:ext uri="{FF2B5EF4-FFF2-40B4-BE49-F238E27FC236}">
                <a16:creationId xmlns:a16="http://schemas.microsoft.com/office/drawing/2014/main" id="{46747C24-93C7-09AD-D8C0-76A271BF60D5}"/>
              </a:ext>
            </a:extLst>
          </p:cNvPr>
          <p:cNvSpPr>
            <a:spLocks noGrp="1"/>
          </p:cNvSpPr>
          <p:nvPr>
            <p:ph idx="1"/>
          </p:nvPr>
        </p:nvSpPr>
        <p:spPr>
          <a:xfrm>
            <a:off x="88490" y="648929"/>
            <a:ext cx="12103510" cy="6076336"/>
          </a:xfrm>
        </p:spPr>
        <p:txBody>
          <a:bodyPr/>
          <a:lstStyle/>
          <a:p>
            <a:r>
              <a:rPr lang="en-US" sz="2800" b="1" dirty="0">
                <a:solidFill>
                  <a:srgbClr val="FF0000"/>
                </a:solidFill>
              </a:rPr>
              <a:t>From parent to child</a:t>
            </a:r>
          </a:p>
          <a:p>
            <a:r>
              <a:rPr lang="en-US" dirty="0"/>
              <a:t>At child component</a:t>
            </a:r>
            <a:endParaRPr lang="en-US" b="1" dirty="0">
              <a:solidFill>
                <a:srgbClr val="FF0000"/>
              </a:solidFill>
            </a:endParaRPr>
          </a:p>
          <a:p>
            <a:pPr marL="36900" indent="0">
              <a:buNone/>
            </a:pPr>
            <a:r>
              <a:rPr lang="en-US" sz="1800" dirty="0"/>
              <a:t>	</a:t>
            </a:r>
            <a:r>
              <a:rPr lang="en-US" dirty="0"/>
              <a:t>[Parameter]</a:t>
            </a:r>
          </a:p>
          <a:p>
            <a:pPr marL="36900" indent="0">
              <a:buNone/>
            </a:pPr>
            <a:r>
              <a:rPr lang="en-US" dirty="0"/>
              <a:t> 	public string msg { get; set; } </a:t>
            </a:r>
          </a:p>
          <a:p>
            <a:r>
              <a:rPr lang="en-US" dirty="0"/>
              <a:t>[Parameter] // </a:t>
            </a:r>
            <a:r>
              <a:rPr lang="en-US" sz="2000" dirty="0"/>
              <a:t>this means msg property value is gotten from </a:t>
            </a:r>
            <a:r>
              <a:rPr lang="en-US" b="1" dirty="0">
                <a:solidFill>
                  <a:srgbClr val="FF0000"/>
                </a:solidFill>
              </a:rPr>
              <a:t>route</a:t>
            </a:r>
            <a:r>
              <a:rPr lang="en-US" sz="2000" dirty="0"/>
              <a:t> else if from </a:t>
            </a:r>
            <a:r>
              <a:rPr lang="en-US" sz="2000" b="1" dirty="0">
                <a:solidFill>
                  <a:srgbClr val="FF0000"/>
                </a:solidFill>
              </a:rPr>
              <a:t>direct parent </a:t>
            </a:r>
            <a:r>
              <a:rPr lang="en-US" sz="2000" dirty="0"/>
              <a:t>component as </a:t>
            </a:r>
            <a:r>
              <a:rPr lang="en-US" b="1" dirty="0">
                <a:solidFill>
                  <a:srgbClr val="FF0000"/>
                </a:solidFill>
              </a:rPr>
              <a:t>attribute</a:t>
            </a:r>
            <a:r>
              <a:rPr lang="en-US" sz="2000" dirty="0"/>
              <a:t> else default </a:t>
            </a:r>
            <a:r>
              <a:rPr lang="en-US" b="1" dirty="0">
                <a:solidFill>
                  <a:srgbClr val="FF0000"/>
                </a:solidFill>
              </a:rPr>
              <a:t>value</a:t>
            </a:r>
          </a:p>
          <a:p>
            <a:r>
              <a:rPr lang="en-US" dirty="0"/>
              <a:t>At parent component</a:t>
            </a:r>
          </a:p>
          <a:p>
            <a:pPr marL="810000" lvl="2" indent="0">
              <a:buNone/>
            </a:pPr>
            <a:r>
              <a:rPr lang="en-US" sz="2000" b="1" dirty="0">
                <a:solidFill>
                  <a:srgbClr val="0000FF"/>
                </a:solidFill>
                <a:latin typeface="Cascadia Mono" panose="020B0609020000020004" pitchFamily="49" charset="0"/>
              </a:rPr>
              <a:t>&lt;</a:t>
            </a:r>
            <a:r>
              <a:rPr lang="en-US" sz="2000" b="1" dirty="0">
                <a:solidFill>
                  <a:srgbClr val="800080"/>
                </a:solidFill>
                <a:latin typeface="Cascadia Mono" panose="020B0609020000020004" pitchFamily="49" charset="0"/>
              </a:rPr>
              <a:t>ChildComponent</a:t>
            </a:r>
            <a:r>
              <a:rPr lang="en-US" sz="2000" b="1" dirty="0">
                <a:solidFill>
                  <a:srgbClr val="000000"/>
                </a:solidFill>
                <a:latin typeface="Cascadia Mono" panose="020B0609020000020004" pitchFamily="49" charset="0"/>
              </a:rPr>
              <a:t> </a:t>
            </a:r>
            <a:r>
              <a:rPr lang="en-US" sz="2000" b="1" dirty="0">
                <a:solidFill>
                  <a:srgbClr val="800080"/>
                </a:solidFill>
                <a:latin typeface="Cascadia Mono" panose="020B0609020000020004" pitchFamily="49" charset="0"/>
              </a:rPr>
              <a:t>msg</a:t>
            </a:r>
            <a:r>
              <a:rPr lang="en-US" sz="2000" b="1" dirty="0">
                <a:solidFill>
                  <a:srgbClr val="0000FF"/>
                </a:solidFill>
                <a:latin typeface="Cascadia Mono" panose="020B0609020000020004" pitchFamily="49" charset="0"/>
              </a:rPr>
              <a:t>="hello Ahmed this is my message"&gt;&lt;/</a:t>
            </a:r>
            <a:r>
              <a:rPr lang="en-US" sz="2000" b="1" dirty="0">
                <a:solidFill>
                  <a:srgbClr val="800080"/>
                </a:solidFill>
                <a:latin typeface="Cascadia Mono" panose="020B0609020000020004" pitchFamily="49" charset="0"/>
              </a:rPr>
              <a:t>ChildComponent</a:t>
            </a:r>
            <a:r>
              <a:rPr lang="en-US" sz="2000" b="1" dirty="0">
                <a:solidFill>
                  <a:srgbClr val="0000FF"/>
                </a:solidFill>
                <a:latin typeface="Cascadia Mono" panose="020B0609020000020004" pitchFamily="49" charset="0"/>
              </a:rPr>
              <a:t>&gt;</a:t>
            </a:r>
            <a:endParaRPr lang="en-US" sz="2000" b="1" dirty="0">
              <a:solidFill>
                <a:srgbClr val="000000"/>
              </a:solidFill>
              <a:latin typeface="Cascadia Mono" panose="020B0609020000020004" pitchFamily="49" charset="0"/>
            </a:endParaRPr>
          </a:p>
          <a:p>
            <a:pPr marL="810000" lvl="2" indent="0">
              <a:buNone/>
            </a:pPr>
            <a:endParaRPr lang="en-US" dirty="0"/>
          </a:p>
        </p:txBody>
      </p:sp>
    </p:spTree>
    <p:extLst>
      <p:ext uri="{BB962C8B-B14F-4D97-AF65-F5344CB8AC3E}">
        <p14:creationId xmlns:p14="http://schemas.microsoft.com/office/powerpoint/2010/main" val="33758667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4F9E-2781-7DD4-A159-F126C0A9A3F9}"/>
              </a:ext>
            </a:extLst>
          </p:cNvPr>
          <p:cNvSpPr>
            <a:spLocks noGrp="1"/>
          </p:cNvSpPr>
          <p:nvPr>
            <p:ph type="title"/>
          </p:nvPr>
        </p:nvSpPr>
        <p:spPr>
          <a:xfrm>
            <a:off x="913795" y="0"/>
            <a:ext cx="10353762" cy="648929"/>
          </a:xfrm>
        </p:spPr>
        <p:txBody>
          <a:bodyPr>
            <a:normAutofit fontScale="90000"/>
          </a:bodyPr>
          <a:lstStyle/>
          <a:p>
            <a:r>
              <a:rPr lang="en-US" dirty="0"/>
              <a:t>Pass data between component</a:t>
            </a:r>
          </a:p>
        </p:txBody>
      </p:sp>
      <p:sp>
        <p:nvSpPr>
          <p:cNvPr id="3" name="Content Placeholder 2">
            <a:extLst>
              <a:ext uri="{FF2B5EF4-FFF2-40B4-BE49-F238E27FC236}">
                <a16:creationId xmlns:a16="http://schemas.microsoft.com/office/drawing/2014/main" id="{46747C24-93C7-09AD-D8C0-76A271BF60D5}"/>
              </a:ext>
            </a:extLst>
          </p:cNvPr>
          <p:cNvSpPr>
            <a:spLocks noGrp="1"/>
          </p:cNvSpPr>
          <p:nvPr>
            <p:ph idx="1"/>
          </p:nvPr>
        </p:nvSpPr>
        <p:spPr>
          <a:xfrm>
            <a:off x="88490" y="648929"/>
            <a:ext cx="12103510" cy="6076336"/>
          </a:xfrm>
        </p:spPr>
        <p:txBody>
          <a:bodyPr>
            <a:normAutofit/>
          </a:bodyPr>
          <a:lstStyle/>
          <a:p>
            <a:r>
              <a:rPr lang="en-US" b="1" dirty="0">
                <a:solidFill>
                  <a:srgbClr val="FF0000"/>
                </a:solidFill>
              </a:rPr>
              <a:t>From </a:t>
            </a:r>
            <a:r>
              <a:rPr lang="en-US" b="1" dirty="0" err="1">
                <a:solidFill>
                  <a:srgbClr val="FF0000"/>
                </a:solidFill>
              </a:rPr>
              <a:t>GrandParent</a:t>
            </a:r>
            <a:r>
              <a:rPr lang="en-US" b="1" dirty="0">
                <a:solidFill>
                  <a:srgbClr val="FF0000"/>
                </a:solidFill>
              </a:rPr>
              <a:t> to Child</a:t>
            </a:r>
          </a:p>
          <a:p>
            <a:r>
              <a:rPr lang="en-US" b="1" dirty="0">
                <a:solidFill>
                  <a:schemeClr val="tx1"/>
                </a:solidFill>
              </a:rPr>
              <a:t>At child component						at parent					at </a:t>
            </a:r>
            <a:r>
              <a:rPr lang="en-US" b="1" dirty="0" err="1">
                <a:solidFill>
                  <a:schemeClr val="tx1"/>
                </a:solidFill>
              </a:rPr>
              <a:t>GrandParent</a:t>
            </a:r>
            <a:endParaRPr lang="en-US" b="1" dirty="0">
              <a:solidFill>
                <a:schemeClr val="tx1"/>
              </a:solidFill>
            </a:endParaRPr>
          </a:p>
          <a:p>
            <a:endParaRPr lang="en-US" b="1" dirty="0">
              <a:solidFill>
                <a:srgbClr val="FF0000"/>
              </a:solidFill>
            </a:endParaRPr>
          </a:p>
        </p:txBody>
      </p:sp>
      <p:pic>
        <p:nvPicPr>
          <p:cNvPr id="5" name="Picture 4">
            <a:extLst>
              <a:ext uri="{FF2B5EF4-FFF2-40B4-BE49-F238E27FC236}">
                <a16:creationId xmlns:a16="http://schemas.microsoft.com/office/drawing/2014/main" id="{0D339868-82C9-02FF-44F1-A6ED0E100258}"/>
              </a:ext>
            </a:extLst>
          </p:cNvPr>
          <p:cNvPicPr>
            <a:picLocks noChangeAspect="1"/>
          </p:cNvPicPr>
          <p:nvPr/>
        </p:nvPicPr>
        <p:blipFill>
          <a:blip r:embed="rId2"/>
          <a:stretch>
            <a:fillRect/>
          </a:stretch>
        </p:blipFill>
        <p:spPr>
          <a:xfrm>
            <a:off x="0" y="1530874"/>
            <a:ext cx="4552336" cy="4358147"/>
          </a:xfrm>
          <a:prstGeom prst="rect">
            <a:avLst/>
          </a:prstGeom>
        </p:spPr>
      </p:pic>
      <p:sp>
        <p:nvSpPr>
          <p:cNvPr id="6" name="TextBox 5">
            <a:extLst>
              <a:ext uri="{FF2B5EF4-FFF2-40B4-BE49-F238E27FC236}">
                <a16:creationId xmlns:a16="http://schemas.microsoft.com/office/drawing/2014/main" id="{08266D29-D3CD-C7EF-2BEC-09DC00A1628F}"/>
              </a:ext>
            </a:extLst>
          </p:cNvPr>
          <p:cNvSpPr txBox="1"/>
          <p:nvPr/>
        </p:nvSpPr>
        <p:spPr>
          <a:xfrm>
            <a:off x="0" y="5879690"/>
            <a:ext cx="4552336" cy="707886"/>
          </a:xfrm>
          <a:prstGeom prst="rect">
            <a:avLst/>
          </a:prstGeom>
          <a:noFill/>
        </p:spPr>
        <p:txBody>
          <a:bodyPr wrap="square" rtlCol="0">
            <a:spAutoFit/>
          </a:bodyPr>
          <a:lstStyle/>
          <a:p>
            <a:r>
              <a:rPr lang="en-US" sz="1800" dirty="0">
                <a:solidFill>
                  <a:srgbClr val="000000"/>
                </a:solidFill>
                <a:latin typeface="Cascadia Mono" panose="020B0609020000020004" pitchFamily="49" charset="0"/>
              </a:rPr>
              <a:t>[</a:t>
            </a:r>
            <a:r>
              <a:rPr lang="en-US" sz="2000" b="1" dirty="0" err="1">
                <a:ln>
                  <a:solidFill>
                    <a:schemeClr val="bg1">
                      <a:lumMod val="75000"/>
                      <a:lumOff val="25000"/>
                      <a:alpha val="10000"/>
                    </a:schemeClr>
                  </a:solidFill>
                </a:ln>
                <a:effectLst>
                  <a:outerShdw blurRad="9525" dist="25400" dir="14640000" algn="tl" rotWithShape="0">
                    <a:schemeClr val="bg1">
                      <a:alpha val="30000"/>
                    </a:schemeClr>
                  </a:outerShdw>
                </a:effectLst>
              </a:rPr>
              <a:t>CascadingParameter</a:t>
            </a:r>
            <a:r>
              <a:rPr lang="en-US" sz="2000" b="1" dirty="0">
                <a:ln>
                  <a:solidFill>
                    <a:schemeClr val="bg1">
                      <a:lumMod val="75000"/>
                      <a:lumOff val="25000"/>
                      <a:alpha val="10000"/>
                    </a:schemeClr>
                  </a:solidFill>
                </a:ln>
                <a:effectLst>
                  <a:outerShdw blurRad="9525" dist="25400" dir="14640000" algn="tl" rotWithShape="0">
                    <a:schemeClr val="bg1">
                      <a:alpha val="30000"/>
                    </a:schemeClr>
                  </a:outerShdw>
                </a:effectLst>
              </a:rPr>
              <a:t> means any parent level can pass value to property</a:t>
            </a:r>
          </a:p>
        </p:txBody>
      </p:sp>
      <p:pic>
        <p:nvPicPr>
          <p:cNvPr id="10" name="Picture 9">
            <a:extLst>
              <a:ext uri="{FF2B5EF4-FFF2-40B4-BE49-F238E27FC236}">
                <a16:creationId xmlns:a16="http://schemas.microsoft.com/office/drawing/2014/main" id="{9F2F2045-DC30-B601-1534-6682CC58EB17}"/>
              </a:ext>
            </a:extLst>
          </p:cNvPr>
          <p:cNvPicPr>
            <a:picLocks noChangeAspect="1"/>
          </p:cNvPicPr>
          <p:nvPr/>
        </p:nvPicPr>
        <p:blipFill>
          <a:blip r:embed="rId3"/>
          <a:stretch>
            <a:fillRect/>
          </a:stretch>
        </p:blipFill>
        <p:spPr>
          <a:xfrm>
            <a:off x="4601497" y="1521543"/>
            <a:ext cx="1759974" cy="3009900"/>
          </a:xfrm>
          <a:prstGeom prst="rect">
            <a:avLst/>
          </a:prstGeom>
        </p:spPr>
      </p:pic>
      <p:pic>
        <p:nvPicPr>
          <p:cNvPr id="12" name="Picture 11">
            <a:extLst>
              <a:ext uri="{FF2B5EF4-FFF2-40B4-BE49-F238E27FC236}">
                <a16:creationId xmlns:a16="http://schemas.microsoft.com/office/drawing/2014/main" id="{49DA1544-3FC7-5E7D-602D-90266E248B97}"/>
              </a:ext>
            </a:extLst>
          </p:cNvPr>
          <p:cNvPicPr>
            <a:picLocks noChangeAspect="1"/>
          </p:cNvPicPr>
          <p:nvPr/>
        </p:nvPicPr>
        <p:blipFill>
          <a:blip r:embed="rId4"/>
          <a:stretch>
            <a:fillRect/>
          </a:stretch>
        </p:blipFill>
        <p:spPr>
          <a:xfrm>
            <a:off x="6408175" y="1521543"/>
            <a:ext cx="5687960" cy="4046620"/>
          </a:xfrm>
          <a:prstGeom prst="rect">
            <a:avLst/>
          </a:prstGeom>
        </p:spPr>
      </p:pic>
    </p:spTree>
    <p:extLst>
      <p:ext uri="{BB962C8B-B14F-4D97-AF65-F5344CB8AC3E}">
        <p14:creationId xmlns:p14="http://schemas.microsoft.com/office/powerpoint/2010/main" val="3081617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4F9E-2781-7DD4-A159-F126C0A9A3F9}"/>
              </a:ext>
            </a:extLst>
          </p:cNvPr>
          <p:cNvSpPr>
            <a:spLocks noGrp="1"/>
          </p:cNvSpPr>
          <p:nvPr>
            <p:ph type="title"/>
          </p:nvPr>
        </p:nvSpPr>
        <p:spPr>
          <a:xfrm>
            <a:off x="913795" y="0"/>
            <a:ext cx="10353762" cy="648929"/>
          </a:xfrm>
        </p:spPr>
        <p:txBody>
          <a:bodyPr>
            <a:normAutofit fontScale="90000"/>
          </a:bodyPr>
          <a:lstStyle/>
          <a:p>
            <a:r>
              <a:rPr lang="en-US" dirty="0"/>
              <a:t>Pass data between component</a:t>
            </a:r>
          </a:p>
        </p:txBody>
      </p:sp>
      <p:sp>
        <p:nvSpPr>
          <p:cNvPr id="3" name="Content Placeholder 2">
            <a:extLst>
              <a:ext uri="{FF2B5EF4-FFF2-40B4-BE49-F238E27FC236}">
                <a16:creationId xmlns:a16="http://schemas.microsoft.com/office/drawing/2014/main" id="{46747C24-93C7-09AD-D8C0-76A271BF60D5}"/>
              </a:ext>
            </a:extLst>
          </p:cNvPr>
          <p:cNvSpPr>
            <a:spLocks noGrp="1"/>
          </p:cNvSpPr>
          <p:nvPr>
            <p:ph idx="1"/>
          </p:nvPr>
        </p:nvSpPr>
        <p:spPr>
          <a:xfrm>
            <a:off x="88490" y="648929"/>
            <a:ext cx="12103510" cy="6076336"/>
          </a:xfrm>
        </p:spPr>
        <p:txBody>
          <a:bodyPr/>
          <a:lstStyle/>
          <a:p>
            <a:r>
              <a:rPr lang="en-US" sz="2800" b="1" dirty="0">
                <a:solidFill>
                  <a:srgbClr val="FF0000"/>
                </a:solidFill>
              </a:rPr>
              <a:t>From Child  to parent</a:t>
            </a:r>
          </a:p>
          <a:p>
            <a:r>
              <a:rPr lang="en-US" dirty="0"/>
              <a:t>At child component										at parent component</a:t>
            </a:r>
            <a:endParaRPr lang="en-US" b="1" dirty="0">
              <a:solidFill>
                <a:srgbClr val="FF0000"/>
              </a:solidFill>
            </a:endParaRPr>
          </a:p>
        </p:txBody>
      </p:sp>
      <p:sp>
        <p:nvSpPr>
          <p:cNvPr id="4" name="Rectangle 1">
            <a:extLst>
              <a:ext uri="{FF2B5EF4-FFF2-40B4-BE49-F238E27FC236}">
                <a16:creationId xmlns:a16="http://schemas.microsoft.com/office/drawing/2014/main" id="{ABAE587C-E832-2589-101D-1389993D739B}"/>
              </a:ext>
            </a:extLst>
          </p:cNvPr>
          <p:cNvSpPr txBox="1">
            <a:spLocks noChangeArrowheads="1"/>
          </p:cNvSpPr>
          <p:nvPr/>
        </p:nvSpPr>
        <p:spPr bwMode="auto">
          <a:xfrm>
            <a:off x="234810" y="1906609"/>
            <a:ext cx="5492481" cy="35609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h3</a:t>
            </a:r>
            <a:r>
              <a:rPr lang="en-US" sz="1200" dirty="0">
                <a:solidFill>
                  <a:srgbClr val="0000FF"/>
                </a:solidFill>
                <a:latin typeface="Cascadia Mono" panose="020B0609020000020004" pitchFamily="49" charset="0"/>
              </a:rPr>
              <a:t>&gt;</a:t>
            </a:r>
            <a:r>
              <a:rPr lang="en-US" sz="1200" dirty="0">
                <a:solidFill>
                  <a:srgbClr val="000000"/>
                </a:solidFill>
                <a:latin typeface="Cascadia Mono" panose="020B0609020000020004" pitchFamily="49" charset="0"/>
              </a:rPr>
              <a:t> I'm Child Component</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h3</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button</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a:t>
            </a:r>
            <a:r>
              <a:rPr lang="en-US" sz="1200" dirty="0" err="1">
                <a:solidFill>
                  <a:srgbClr val="0000FF"/>
                </a:solidFill>
                <a:latin typeface="Cascadia Mono" panose="020B0609020000020004" pitchFamily="49" charset="0"/>
              </a:rPr>
              <a:t>btn</a:t>
            </a:r>
            <a:r>
              <a:rPr lang="en-US" sz="1200" dirty="0">
                <a:solidFill>
                  <a:srgbClr val="0000FF"/>
                </a:solidFill>
                <a:latin typeface="Cascadia Mono" panose="020B0609020000020004" pitchFamily="49" charset="0"/>
              </a:rPr>
              <a:t> </a:t>
            </a:r>
            <a:r>
              <a:rPr lang="en-US" sz="1200" dirty="0" err="1">
                <a:solidFill>
                  <a:srgbClr val="0000FF"/>
                </a:solidFill>
                <a:latin typeface="Cascadia Mono" panose="020B0609020000020004" pitchFamily="49" charset="0"/>
              </a:rPr>
              <a:t>btn</a:t>
            </a:r>
            <a:r>
              <a:rPr lang="en-US" sz="1200" dirty="0">
                <a:solidFill>
                  <a:srgbClr val="0000FF"/>
                </a:solidFill>
                <a:latin typeface="Cascadia Mono" panose="020B0609020000020004" pitchFamily="49" charset="0"/>
              </a:rPr>
              <a:t>-success"</a:t>
            </a: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r>
              <a:rPr lang="en-US" sz="1200" dirty="0">
                <a:solidFill>
                  <a:srgbClr val="800080"/>
                </a:solidFill>
                <a:latin typeface="Cascadia Mono" panose="020B0609020000020004" pitchFamily="49" charset="0"/>
              </a:rPr>
              <a:t>onclick</a:t>
            </a:r>
            <a:r>
              <a:rPr lang="en-US" sz="1200" dirty="0">
                <a:solidFill>
                  <a:srgbClr val="0000FF"/>
                </a:solidFill>
                <a:latin typeface="Cascadia Mono" panose="020B0609020000020004" pitchFamily="49" charset="0"/>
              </a:rPr>
              <a:t>="</a:t>
            </a:r>
            <a:r>
              <a:rPr lang="en-US" sz="1200" dirty="0">
                <a:solidFill>
                  <a:srgbClr val="000000"/>
                </a:solidFill>
                <a:latin typeface="Cascadia Mono" panose="020B0609020000020004" pitchFamily="49" charset="0"/>
              </a:rPr>
              <a:t>change</a:t>
            </a:r>
            <a:r>
              <a:rPr lang="en-US" sz="1200" dirty="0">
                <a:solidFill>
                  <a:srgbClr val="0000FF"/>
                </a:solidFill>
                <a:latin typeface="Cascadia Mono" panose="020B0609020000020004" pitchFamily="49" charset="0"/>
              </a:rPr>
              <a:t>"&gt;</a:t>
            </a:r>
            <a:r>
              <a:rPr lang="en-US" sz="1200" dirty="0">
                <a:solidFill>
                  <a:srgbClr val="000000"/>
                </a:solidFill>
                <a:latin typeface="Cascadia Mono" panose="020B0609020000020004" pitchFamily="49" charset="0"/>
              </a:rPr>
              <a:t>change message</a:t>
            </a: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button</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@code {</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 msg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Parameter</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EventCallback</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&gt; changeMsgEvent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change(){</a:t>
            </a:r>
          </a:p>
          <a:p>
            <a:pPr marL="36900" indent="0">
              <a:buNone/>
            </a:pP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changeMsgEvent.InvokeAsync</a:t>
            </a:r>
            <a:r>
              <a:rPr lang="en-US" sz="1200" dirty="0">
                <a:solidFill>
                  <a:srgbClr val="000000"/>
                </a:solidFill>
                <a:latin typeface="Cascadia Mono" panose="020B0609020000020004" pitchFamily="49" charset="0"/>
              </a:rPr>
              <a:t>(</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mesg</a:t>
            </a:r>
            <a:r>
              <a:rPr lang="en-US" sz="1200" dirty="0">
                <a:solidFill>
                  <a:srgbClr val="A31515"/>
                </a:solidFill>
                <a:latin typeface="Cascadia Mono" panose="020B0609020000020004" pitchFamily="49" charset="0"/>
              </a:rPr>
              <a:t> from child"</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a:t>
            </a:r>
          </a:p>
        </p:txBody>
      </p:sp>
      <p:sp>
        <p:nvSpPr>
          <p:cNvPr id="5" name="Rectangle 1">
            <a:extLst>
              <a:ext uri="{FF2B5EF4-FFF2-40B4-BE49-F238E27FC236}">
                <a16:creationId xmlns:a16="http://schemas.microsoft.com/office/drawing/2014/main" id="{D4CFA87D-571E-881D-936F-D6BCDCC0C39E}"/>
              </a:ext>
            </a:extLst>
          </p:cNvPr>
          <p:cNvSpPr txBox="1">
            <a:spLocks noChangeArrowheads="1"/>
          </p:cNvSpPr>
          <p:nvPr/>
        </p:nvSpPr>
        <p:spPr bwMode="auto">
          <a:xfrm>
            <a:off x="5982521" y="1906609"/>
            <a:ext cx="5492481" cy="32070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@page  </a:t>
            </a:r>
            <a:r>
              <a:rPr lang="en-US" sz="1400" dirty="0">
                <a:solidFill>
                  <a:srgbClr val="A31515"/>
                </a:solidFill>
                <a:latin typeface="Cascadia Mono" panose="020B0609020000020004" pitchFamily="49" charset="0"/>
              </a:rPr>
              <a:t>"/parent"</a:t>
            </a:r>
            <a:endParaRPr lang="en-US" sz="1400" dirty="0">
              <a:solidFill>
                <a:srgbClr val="000000"/>
              </a:solidFill>
              <a:latin typeface="Cascadia Mono" panose="020B0609020000020004" pitchFamily="49" charset="0"/>
            </a:endParaRPr>
          </a:p>
          <a:p>
            <a:pPr marL="36900" indent="0">
              <a:buNone/>
            </a:pPr>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h3</a:t>
            </a:r>
            <a:r>
              <a:rPr lang="en-US" sz="1400" dirty="0">
                <a:solidFill>
                  <a:srgbClr val="0000FF"/>
                </a:solidFill>
                <a:latin typeface="Cascadia Mono" panose="020B0609020000020004" pitchFamily="49" charset="0"/>
              </a:rPr>
              <a:t>&gt;</a:t>
            </a:r>
            <a:r>
              <a:rPr lang="en-US" sz="1400" dirty="0">
                <a:solidFill>
                  <a:srgbClr val="000000"/>
                </a:solidFill>
                <a:latin typeface="Cascadia Mono" panose="020B0609020000020004" pitchFamily="49" charset="0"/>
              </a:rPr>
              <a:t> ParentComponent</a:t>
            </a:r>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h3</a:t>
            </a:r>
            <a:r>
              <a:rPr lang="en-US" sz="1400" dirty="0">
                <a:solidFill>
                  <a:srgbClr val="0000FF"/>
                </a:solidFill>
                <a:latin typeface="Cascadia Mono" panose="020B0609020000020004" pitchFamily="49" charset="0"/>
              </a:rPr>
              <a:t>&gt;</a:t>
            </a:r>
            <a:endParaRPr lang="en-US" sz="1400" dirty="0">
              <a:solidFill>
                <a:srgbClr val="000000"/>
              </a:solidFill>
              <a:latin typeface="Cascadia Mono" panose="020B0609020000020004" pitchFamily="49" charset="0"/>
            </a:endParaRPr>
          </a:p>
          <a:p>
            <a:pPr marL="36900" indent="0">
              <a:buNone/>
            </a:pPr>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p</a:t>
            </a:r>
            <a:r>
              <a:rPr lang="en-US" sz="1400" dirty="0">
                <a:solidFill>
                  <a:srgbClr val="0000FF"/>
                </a:solidFill>
                <a:latin typeface="Cascadia Mono" panose="020B0609020000020004" pitchFamily="49" charset="0"/>
              </a:rPr>
              <a:t>&gt;</a:t>
            </a:r>
            <a:r>
              <a:rPr lang="en-US" sz="1400" dirty="0">
                <a:solidFill>
                  <a:srgbClr val="000000"/>
                </a:solidFill>
                <a:latin typeface="Cascadia Mono" panose="020B0609020000020004" pitchFamily="49" charset="0"/>
              </a:rPr>
              <a:t>parent msg is @parentMsg</a:t>
            </a:r>
            <a:r>
              <a:rPr lang="en-US" sz="1400" dirty="0">
                <a:solidFill>
                  <a:srgbClr val="0000FF"/>
                </a:solidFill>
                <a:latin typeface="Cascadia Mono" panose="020B0609020000020004" pitchFamily="49" charset="0"/>
              </a:rPr>
              <a:t>&lt;/</a:t>
            </a:r>
            <a:r>
              <a:rPr lang="en-US" sz="1400" dirty="0">
                <a:solidFill>
                  <a:srgbClr val="800000"/>
                </a:solidFill>
                <a:latin typeface="Cascadia Mono" panose="020B0609020000020004" pitchFamily="49" charset="0"/>
              </a:rPr>
              <a:t>p</a:t>
            </a:r>
            <a:r>
              <a:rPr lang="en-US" sz="1400" dirty="0">
                <a:solidFill>
                  <a:srgbClr val="0000FF"/>
                </a:solidFill>
                <a:latin typeface="Cascadia Mono" panose="020B0609020000020004" pitchFamily="49" charset="0"/>
              </a:rPr>
              <a:t>&gt;</a:t>
            </a:r>
            <a:endParaRPr lang="en-US" sz="1400" dirty="0">
              <a:solidFill>
                <a:srgbClr val="000000"/>
              </a:solidFill>
              <a:latin typeface="Cascadia Mono" panose="020B0609020000020004" pitchFamily="49" charset="0"/>
            </a:endParaRPr>
          </a:p>
          <a:p>
            <a:pPr marL="36900" indent="0">
              <a:buNone/>
            </a:pPr>
            <a:r>
              <a:rPr lang="en-US" sz="1400" dirty="0">
                <a:solidFill>
                  <a:srgbClr val="0000FF"/>
                </a:solidFill>
                <a:latin typeface="Cascadia Mono" panose="020B0609020000020004" pitchFamily="49" charset="0"/>
              </a:rPr>
              <a:t>&lt;</a:t>
            </a:r>
            <a:r>
              <a:rPr lang="en-US" sz="1400" b="1" dirty="0">
                <a:solidFill>
                  <a:srgbClr val="800080"/>
                </a:solidFill>
                <a:latin typeface="Cascadia Mono" panose="020B0609020000020004" pitchFamily="49" charset="0"/>
              </a:rPr>
              <a:t>ChildComponent</a:t>
            </a:r>
            <a:r>
              <a:rPr lang="en-US" sz="1400" b="0" dirty="0">
                <a:solidFill>
                  <a:srgbClr val="000000"/>
                </a:solidFill>
                <a:latin typeface="Cascadia Mono" panose="020B0609020000020004" pitchFamily="49" charset="0"/>
              </a:rPr>
              <a:t> </a:t>
            </a:r>
            <a:r>
              <a:rPr lang="en-US" sz="1400" b="1" dirty="0">
                <a:solidFill>
                  <a:srgbClr val="800080"/>
                </a:solidFill>
                <a:latin typeface="Cascadia Mono" panose="020B0609020000020004" pitchFamily="49" charset="0"/>
              </a:rPr>
              <a:t>changeMsgEvent</a:t>
            </a:r>
            <a:r>
              <a:rPr lang="en-US" sz="1400" b="0" dirty="0">
                <a:solidFill>
                  <a:srgbClr val="0000FF"/>
                </a:solidFill>
                <a:latin typeface="Cascadia Mono" panose="020B0609020000020004" pitchFamily="49" charset="0"/>
              </a:rPr>
              <a:t>="</a:t>
            </a:r>
            <a:r>
              <a:rPr lang="en-US" sz="1400" b="0" dirty="0">
                <a:solidFill>
                  <a:srgbClr val="000000"/>
                </a:solidFill>
                <a:latin typeface="Cascadia Mono" panose="020B0609020000020004" pitchFamily="49" charset="0"/>
              </a:rPr>
              <a:t>changeMsg</a:t>
            </a:r>
            <a:r>
              <a:rPr lang="en-US" sz="1400" b="0" dirty="0">
                <a:solidFill>
                  <a:srgbClr val="0000FF"/>
                </a:solidFill>
                <a:latin typeface="Cascadia Mono" panose="020B0609020000020004" pitchFamily="49" charset="0"/>
              </a:rPr>
              <a:t>"&gt;&lt;/</a:t>
            </a:r>
            <a:r>
              <a:rPr lang="en-US" sz="1400" b="1" dirty="0">
                <a:solidFill>
                  <a:srgbClr val="800080"/>
                </a:solidFill>
                <a:latin typeface="Cascadia Mono" panose="020B0609020000020004" pitchFamily="49" charset="0"/>
              </a:rPr>
              <a:t>ChildComponent</a:t>
            </a:r>
            <a:r>
              <a:rPr lang="en-US" sz="1400" b="0" dirty="0">
                <a:solidFill>
                  <a:srgbClr val="0000FF"/>
                </a:solidFill>
                <a:latin typeface="Cascadia Mono" panose="020B0609020000020004" pitchFamily="49" charset="0"/>
              </a:rPr>
              <a:t>&gt;</a:t>
            </a:r>
            <a:endParaRPr lang="en-US" sz="1400" b="0" dirty="0">
              <a:solidFill>
                <a:srgbClr val="000000"/>
              </a:solidFill>
              <a:latin typeface="Cascadia Mono" panose="020B0609020000020004" pitchFamily="49" charset="0"/>
            </a:endParaRPr>
          </a:p>
          <a:p>
            <a:pPr marL="36900" indent="0">
              <a:buNone/>
            </a:pPr>
            <a:r>
              <a:rPr lang="en-US" sz="1400" b="0" dirty="0">
                <a:solidFill>
                  <a:srgbClr val="000000"/>
                </a:solidFill>
                <a:latin typeface="Cascadia Mono" panose="020B0609020000020004" pitchFamily="49" charset="0"/>
              </a:rPr>
              <a:t>@code {</a:t>
            </a: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public</a:t>
            </a: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string</a:t>
            </a:r>
            <a:r>
              <a:rPr lang="en-US" sz="1400" b="0" dirty="0">
                <a:solidFill>
                  <a:srgbClr val="000000"/>
                </a:solidFill>
                <a:latin typeface="Cascadia Mono" panose="020B0609020000020004" pitchFamily="49" charset="0"/>
              </a:rPr>
              <a:t>  parentMsg { </a:t>
            </a:r>
            <a:r>
              <a:rPr lang="en-US" sz="1400" b="0" dirty="0">
                <a:solidFill>
                  <a:srgbClr val="0000FF"/>
                </a:solidFill>
                <a:latin typeface="Cascadia Mono" panose="020B0609020000020004" pitchFamily="49" charset="0"/>
              </a:rPr>
              <a:t>get</a:t>
            </a: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set</a:t>
            </a:r>
            <a:r>
              <a:rPr lang="en-US" sz="1400" b="0" dirty="0">
                <a:solidFill>
                  <a:srgbClr val="000000"/>
                </a:solidFill>
                <a:latin typeface="Cascadia Mono" panose="020B0609020000020004" pitchFamily="49" charset="0"/>
              </a:rPr>
              <a:t>; }</a:t>
            </a:r>
          </a:p>
          <a:p>
            <a:pPr marL="36900" indent="0">
              <a:buNone/>
            </a:pPr>
            <a:r>
              <a:rPr lang="en-US" sz="1400" b="0" dirty="0">
                <a:solidFill>
                  <a:srgbClr val="000000"/>
                </a:solidFill>
                <a:latin typeface="Cascadia Mono" panose="020B0609020000020004" pitchFamily="49" charset="0"/>
              </a:rPr>
              <a:t>    </a:t>
            </a:r>
            <a:r>
              <a:rPr lang="en-US" sz="1400" b="0" dirty="0">
                <a:solidFill>
                  <a:srgbClr val="0000FF"/>
                </a:solidFill>
                <a:latin typeface="Cascadia Mono" panose="020B0609020000020004" pitchFamily="49" charset="0"/>
              </a:rPr>
              <a:t>void</a:t>
            </a:r>
            <a:r>
              <a:rPr lang="en-US" sz="1400" b="0" dirty="0">
                <a:solidFill>
                  <a:srgbClr val="000000"/>
                </a:solidFill>
                <a:latin typeface="Cascadia Mono" panose="020B0609020000020004" pitchFamily="49" charset="0"/>
              </a:rPr>
              <a:t>  changeMsg(</a:t>
            </a:r>
            <a:r>
              <a:rPr lang="en-US" sz="1400" b="0" dirty="0">
                <a:solidFill>
                  <a:srgbClr val="0000FF"/>
                </a:solidFill>
                <a:latin typeface="Cascadia Mono" panose="020B0609020000020004" pitchFamily="49" charset="0"/>
              </a:rPr>
              <a:t>string</a:t>
            </a:r>
            <a:r>
              <a:rPr lang="en-US" sz="1400" b="0" dirty="0">
                <a:solidFill>
                  <a:srgbClr val="000000"/>
                </a:solidFill>
                <a:latin typeface="Cascadia Mono" panose="020B0609020000020004" pitchFamily="49" charset="0"/>
              </a:rPr>
              <a:t> s)</a:t>
            </a:r>
          </a:p>
          <a:p>
            <a:pPr marL="36900" indent="0">
              <a:buNone/>
            </a:pPr>
            <a:r>
              <a:rPr lang="en-US" sz="1400" b="0" dirty="0">
                <a:solidFill>
                  <a:srgbClr val="000000"/>
                </a:solidFill>
                <a:latin typeface="Cascadia Mono" panose="020B0609020000020004" pitchFamily="49" charset="0"/>
              </a:rPr>
              <a:t>    {        parentMsg = s; }</a:t>
            </a:r>
          </a:p>
          <a:p>
            <a:pPr marL="36900" indent="0">
              <a:buNone/>
            </a:pPr>
            <a:r>
              <a:rPr lang="en-US" sz="1400" b="0" dirty="0">
                <a:solidFill>
                  <a:srgbClr val="000000"/>
                </a:solidFill>
                <a:latin typeface="Cascadia Mono" panose="020B0609020000020004" pitchFamily="49" charset="0"/>
              </a:rPr>
              <a:t>}</a:t>
            </a:r>
          </a:p>
        </p:txBody>
      </p:sp>
    </p:spTree>
    <p:extLst>
      <p:ext uri="{BB962C8B-B14F-4D97-AF65-F5344CB8AC3E}">
        <p14:creationId xmlns:p14="http://schemas.microsoft.com/office/powerpoint/2010/main" val="3229692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915F-A9E0-4961-CD89-285EAF64BC5E}"/>
              </a:ext>
            </a:extLst>
          </p:cNvPr>
          <p:cNvSpPr>
            <a:spLocks noGrp="1"/>
          </p:cNvSpPr>
          <p:nvPr>
            <p:ph type="title"/>
          </p:nvPr>
        </p:nvSpPr>
        <p:spPr>
          <a:xfrm>
            <a:off x="1002286" y="0"/>
            <a:ext cx="10353762" cy="599768"/>
          </a:xfrm>
        </p:spPr>
        <p:txBody>
          <a:bodyPr>
            <a:normAutofit fontScale="90000"/>
          </a:bodyPr>
          <a:lstStyle/>
          <a:p>
            <a:r>
              <a:rPr lang="en-US" dirty="0"/>
              <a:t>Life Cycle of component</a:t>
            </a:r>
          </a:p>
        </p:txBody>
      </p:sp>
      <p:sp>
        <p:nvSpPr>
          <p:cNvPr id="3" name="Content Placeholder 2">
            <a:extLst>
              <a:ext uri="{FF2B5EF4-FFF2-40B4-BE49-F238E27FC236}">
                <a16:creationId xmlns:a16="http://schemas.microsoft.com/office/drawing/2014/main" id="{EE474AA4-8038-2707-7169-5950642E3014}"/>
              </a:ext>
            </a:extLst>
          </p:cNvPr>
          <p:cNvSpPr>
            <a:spLocks noGrp="1"/>
          </p:cNvSpPr>
          <p:nvPr>
            <p:ph idx="1"/>
          </p:nvPr>
        </p:nvSpPr>
        <p:spPr>
          <a:xfrm>
            <a:off x="5486400" y="599768"/>
            <a:ext cx="5781157" cy="5948515"/>
          </a:xfrm>
        </p:spPr>
        <p:txBody>
          <a:bodyPr/>
          <a:lstStyle/>
          <a:p>
            <a:r>
              <a:rPr lang="en-US" dirty="0"/>
              <a:t>Component is a class and life cycle is </a:t>
            </a:r>
          </a:p>
          <a:p>
            <a:pPr marL="494100" indent="-457200">
              <a:buFont typeface="+mj-lt"/>
              <a:buAutoNum type="arabicPeriod"/>
            </a:pPr>
            <a:r>
              <a:rPr lang="en-US" dirty="0"/>
              <a:t>Constructor():  initialized with default value</a:t>
            </a:r>
          </a:p>
          <a:p>
            <a:pPr marL="494100" indent="-457200">
              <a:buFont typeface="+mj-lt"/>
              <a:buAutoNum type="arabicPeriod"/>
            </a:pPr>
            <a:r>
              <a:rPr lang="en-US" dirty="0" err="1"/>
              <a:t>SetParameter</a:t>
            </a:r>
            <a:r>
              <a:rPr lang="en-US" dirty="0"/>
              <a:t>(): set values to properties that has parameter or cascade parameter from route or parent component</a:t>
            </a:r>
          </a:p>
          <a:p>
            <a:pPr marL="494100" indent="-457200">
              <a:buFont typeface="+mj-lt"/>
              <a:buAutoNum type="arabicPeriod"/>
            </a:pPr>
            <a:r>
              <a:rPr lang="en-US" dirty="0" err="1"/>
              <a:t>oninitialized</a:t>
            </a:r>
            <a:r>
              <a:rPr lang="en-US" dirty="0"/>
              <a:t>() // to make instructions based on parameters</a:t>
            </a:r>
          </a:p>
          <a:p>
            <a:pPr marL="494100" indent="-457200">
              <a:buFont typeface="+mj-lt"/>
              <a:buAutoNum type="arabicPeriod"/>
            </a:pPr>
            <a:r>
              <a:rPr lang="en-US" dirty="0" err="1"/>
              <a:t>OnParameterSet</a:t>
            </a:r>
            <a:r>
              <a:rPr lang="en-US" dirty="0"/>
              <a:t>(): called at each changing on parameters properties</a:t>
            </a:r>
          </a:p>
        </p:txBody>
      </p:sp>
      <p:pic>
        <p:nvPicPr>
          <p:cNvPr id="5" name="Picture 4">
            <a:extLst>
              <a:ext uri="{FF2B5EF4-FFF2-40B4-BE49-F238E27FC236}">
                <a16:creationId xmlns:a16="http://schemas.microsoft.com/office/drawing/2014/main" id="{FCBE141C-BBF5-5EFC-AD94-4CE593C3A293}"/>
              </a:ext>
            </a:extLst>
          </p:cNvPr>
          <p:cNvPicPr>
            <a:picLocks noChangeAspect="1"/>
          </p:cNvPicPr>
          <p:nvPr/>
        </p:nvPicPr>
        <p:blipFill>
          <a:blip r:embed="rId2"/>
          <a:stretch>
            <a:fillRect/>
          </a:stretch>
        </p:blipFill>
        <p:spPr>
          <a:xfrm>
            <a:off x="0" y="1429788"/>
            <a:ext cx="5381318" cy="3998424"/>
          </a:xfrm>
          <a:prstGeom prst="rect">
            <a:avLst/>
          </a:prstGeom>
        </p:spPr>
      </p:pic>
      <p:pic>
        <p:nvPicPr>
          <p:cNvPr id="7" name="Picture 6">
            <a:extLst>
              <a:ext uri="{FF2B5EF4-FFF2-40B4-BE49-F238E27FC236}">
                <a16:creationId xmlns:a16="http://schemas.microsoft.com/office/drawing/2014/main" id="{DC85F573-36A6-C814-249A-60CB7F767F44}"/>
              </a:ext>
            </a:extLst>
          </p:cNvPr>
          <p:cNvPicPr>
            <a:picLocks noChangeAspect="1"/>
          </p:cNvPicPr>
          <p:nvPr/>
        </p:nvPicPr>
        <p:blipFill>
          <a:blip r:embed="rId3"/>
          <a:stretch>
            <a:fillRect/>
          </a:stretch>
        </p:blipFill>
        <p:spPr>
          <a:xfrm>
            <a:off x="5994197" y="4586133"/>
            <a:ext cx="4152900" cy="1962150"/>
          </a:xfrm>
          <a:prstGeom prst="rect">
            <a:avLst/>
          </a:prstGeom>
        </p:spPr>
      </p:pic>
      <p:pic>
        <p:nvPicPr>
          <p:cNvPr id="9" name="Picture 8">
            <a:extLst>
              <a:ext uri="{FF2B5EF4-FFF2-40B4-BE49-F238E27FC236}">
                <a16:creationId xmlns:a16="http://schemas.microsoft.com/office/drawing/2014/main" id="{BE32BBE1-B9D1-3CE1-9BCD-C7DB5192D7AC}"/>
              </a:ext>
            </a:extLst>
          </p:cNvPr>
          <p:cNvPicPr>
            <a:picLocks noChangeAspect="1"/>
          </p:cNvPicPr>
          <p:nvPr/>
        </p:nvPicPr>
        <p:blipFill>
          <a:blip r:embed="rId4"/>
          <a:stretch>
            <a:fillRect/>
          </a:stretch>
        </p:blipFill>
        <p:spPr>
          <a:xfrm>
            <a:off x="0" y="953231"/>
            <a:ext cx="3228975" cy="361950"/>
          </a:xfrm>
          <a:prstGeom prst="rect">
            <a:avLst/>
          </a:prstGeom>
        </p:spPr>
      </p:pic>
    </p:spTree>
    <p:extLst>
      <p:ext uri="{BB962C8B-B14F-4D97-AF65-F5344CB8AC3E}">
        <p14:creationId xmlns:p14="http://schemas.microsoft.com/office/powerpoint/2010/main" val="2521560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5174A-AAFF-5FD1-5697-18D27BFB085F}"/>
              </a:ext>
            </a:extLst>
          </p:cNvPr>
          <p:cNvSpPr>
            <a:spLocks noGrp="1"/>
          </p:cNvSpPr>
          <p:nvPr>
            <p:ph type="title"/>
          </p:nvPr>
        </p:nvSpPr>
        <p:spPr>
          <a:xfrm>
            <a:off x="6980902" y="285135"/>
            <a:ext cx="4454014" cy="432619"/>
          </a:xfrm>
        </p:spPr>
        <p:txBody>
          <a:bodyPr>
            <a:noAutofit/>
          </a:bodyPr>
          <a:lstStyle/>
          <a:p>
            <a:r>
              <a:rPr lang="en-US" sz="3200" b="1" dirty="0"/>
              <a:t>Injection at </a:t>
            </a:r>
            <a:r>
              <a:rPr lang="en-US" sz="3200" b="1" dirty="0" err="1"/>
              <a:t>Blazor</a:t>
            </a:r>
            <a:endParaRPr lang="en-US" sz="3200" b="1" dirty="0"/>
          </a:p>
        </p:txBody>
      </p:sp>
      <p:sp>
        <p:nvSpPr>
          <p:cNvPr id="3" name="Content Placeholder 2">
            <a:extLst>
              <a:ext uri="{FF2B5EF4-FFF2-40B4-BE49-F238E27FC236}">
                <a16:creationId xmlns:a16="http://schemas.microsoft.com/office/drawing/2014/main" id="{5634ADBD-E888-7738-43CF-A69504C76240}"/>
              </a:ext>
            </a:extLst>
          </p:cNvPr>
          <p:cNvSpPr>
            <a:spLocks noGrp="1"/>
          </p:cNvSpPr>
          <p:nvPr>
            <p:ph idx="1"/>
          </p:nvPr>
        </p:nvSpPr>
        <p:spPr>
          <a:xfrm>
            <a:off x="235974" y="167148"/>
            <a:ext cx="11956026" cy="6351639"/>
          </a:xfrm>
        </p:spPr>
        <p:txBody>
          <a:bodyPr/>
          <a:lstStyle/>
          <a:p>
            <a:endParaRPr lang="en-US" dirty="0"/>
          </a:p>
          <a:p>
            <a:pPr lvl="2"/>
            <a:endParaRPr lang="en-US" dirty="0"/>
          </a:p>
          <a:p>
            <a:pPr marL="36900" indent="0">
              <a:buNone/>
            </a:pPr>
            <a:endParaRPr lang="ar-EG" dirty="0"/>
          </a:p>
          <a:p>
            <a:pPr marL="36900" indent="0">
              <a:buNone/>
            </a:pPr>
            <a:endParaRPr lang="ar-EG" dirty="0"/>
          </a:p>
          <a:p>
            <a:pPr marL="36900" indent="0">
              <a:buNone/>
            </a:pPr>
            <a:endParaRPr lang="en-US" dirty="0"/>
          </a:p>
          <a:p>
            <a:endParaRPr lang="en-US" dirty="0"/>
          </a:p>
          <a:p>
            <a:endParaRPr lang="en-US" dirty="0"/>
          </a:p>
          <a:p>
            <a:endParaRPr lang="en-US" dirty="0"/>
          </a:p>
        </p:txBody>
      </p:sp>
      <p:sp>
        <p:nvSpPr>
          <p:cNvPr id="11" name="Rectangle 1">
            <a:extLst>
              <a:ext uri="{FF2B5EF4-FFF2-40B4-BE49-F238E27FC236}">
                <a16:creationId xmlns:a16="http://schemas.microsoft.com/office/drawing/2014/main" id="{D6C979BB-ADCB-23D3-BBDA-C5B56AD39EA5}"/>
              </a:ext>
            </a:extLst>
          </p:cNvPr>
          <p:cNvSpPr txBox="1">
            <a:spLocks noChangeArrowheads="1"/>
          </p:cNvSpPr>
          <p:nvPr/>
        </p:nvSpPr>
        <p:spPr bwMode="auto">
          <a:xfrm>
            <a:off x="9835" y="-171617"/>
            <a:ext cx="5928849" cy="72142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200" dirty="0">
                <a:solidFill>
                  <a:srgbClr val="000000"/>
                </a:solidFill>
                <a:latin typeface="Cascadia Mono" panose="020B0609020000020004" pitchFamily="49" charset="0"/>
              </a:rPr>
              <a:t>@page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allproducts</a:t>
            </a:r>
            <a:r>
              <a:rPr lang="en-US" sz="1200" dirty="0">
                <a:solidFill>
                  <a:srgbClr val="A31515"/>
                </a:solidFill>
                <a:latin typeface="Cascadia Mono" panose="020B0609020000020004" pitchFamily="49" charset="0"/>
              </a:rPr>
              <a: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@inject </a:t>
            </a:r>
            <a:r>
              <a:rPr lang="en-US" sz="1200" dirty="0" err="1">
                <a:solidFill>
                  <a:srgbClr val="2B91AF"/>
                </a:solidFill>
                <a:latin typeface="Cascadia Mono" panose="020B0609020000020004" pitchFamily="49" charset="0"/>
              </a:rPr>
              <a:t>IService</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Product</a:t>
            </a:r>
            <a:r>
              <a:rPr lang="en-US" sz="1200" dirty="0">
                <a:solidFill>
                  <a:srgbClr val="000000"/>
                </a:solidFill>
                <a:latin typeface="Cascadia Mono" panose="020B0609020000020004" pitchFamily="49" charset="0"/>
              </a:rPr>
              <a:t>&gt; service </a:t>
            </a: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h3</a:t>
            </a:r>
            <a:r>
              <a:rPr lang="en-US" sz="1200" dirty="0">
                <a:solidFill>
                  <a:srgbClr val="0000FF"/>
                </a:solidFill>
                <a:latin typeface="Cascadia Mono" panose="020B0609020000020004" pitchFamily="49" charset="0"/>
              </a:rPr>
              <a:t>&gt;</a:t>
            </a:r>
            <a:r>
              <a:rPr lang="en-US" sz="1200" dirty="0" err="1">
                <a:solidFill>
                  <a:srgbClr val="000000"/>
                </a:solidFill>
                <a:latin typeface="Cascadia Mono" panose="020B0609020000020004" pitchFamily="49" charset="0"/>
              </a:rPr>
              <a:t>AllProductsComponent</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h3</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="container"&gt;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="row"&gt;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foreach</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Product</a:t>
            </a:r>
            <a:r>
              <a:rPr lang="en-US" sz="1200" dirty="0">
                <a:solidFill>
                  <a:srgbClr val="000000"/>
                </a:solidFill>
                <a:latin typeface="Cascadia Mono" panose="020B0609020000020004" pitchFamily="49" charset="0"/>
              </a:rPr>
              <a:t> product </a:t>
            </a:r>
            <a:r>
              <a:rPr lang="en-US" sz="1200" dirty="0">
                <a:solidFill>
                  <a:srgbClr val="0000FF"/>
                </a:solidFill>
                <a:latin typeface="Cascadia Mono" panose="020B0609020000020004" pitchFamily="49" charset="0"/>
              </a:rPr>
              <a:t>in</a:t>
            </a:r>
            <a:r>
              <a:rPr lang="en-US" sz="1200" dirty="0">
                <a:solidFill>
                  <a:srgbClr val="000000"/>
                </a:solidFill>
                <a:latin typeface="Cascadia Mono" panose="020B0609020000020004" pitchFamily="49" charset="0"/>
              </a:rPr>
              <a:t> products){</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style</a:t>
            </a:r>
            <a:r>
              <a:rPr lang="en-US" sz="1200" dirty="0">
                <a:solidFill>
                  <a:srgbClr val="0000FF"/>
                </a:solidFill>
                <a:latin typeface="Cascadia Mono" panose="020B0609020000020004" pitchFamily="49" charset="0"/>
              </a:rPr>
              <a:t>="width: 18rem; col-sm-3"&gt;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err="1">
                <a:solidFill>
                  <a:srgbClr val="800000"/>
                </a:solidFill>
                <a:latin typeface="Cascadia Mono" panose="020B0609020000020004" pitchFamily="49" charset="0"/>
              </a:rPr>
              <a:t>img</a:t>
            </a:r>
            <a:r>
              <a:rPr lang="en-US" sz="1200" dirty="0">
                <a:solidFill>
                  <a:srgbClr val="000000"/>
                </a:solidFill>
                <a:latin typeface="Cascadia Mono" panose="020B0609020000020004" pitchFamily="49" charset="0"/>
              </a:rPr>
              <a:t> </a:t>
            </a:r>
            <a:r>
              <a:rPr lang="en-US" sz="1200" dirty="0" err="1">
                <a:solidFill>
                  <a:srgbClr val="FF0000"/>
                </a:solidFill>
                <a:latin typeface="Cascadia Mono" panose="020B0609020000020004" pitchFamily="49" charset="0"/>
              </a:rPr>
              <a:t>src</a:t>
            </a:r>
            <a:r>
              <a:rPr lang="en-US" sz="1200" dirty="0">
                <a:solidFill>
                  <a:srgbClr val="0000FF"/>
                </a:solidFill>
                <a:latin typeface="Cascadia Mono" panose="020B0609020000020004" pitchFamily="49" charset="0"/>
              </a:rPr>
              <a:t>="Images/</a:t>
            </a:r>
            <a:r>
              <a:rPr lang="en-US" sz="1200" dirty="0">
                <a:solidFill>
                  <a:srgbClr val="000000"/>
                </a:solidFill>
                <a:latin typeface="Cascadia Mono" panose="020B0609020000020004" pitchFamily="49" charset="0"/>
              </a:rPr>
              <a:t>@product.Image</a:t>
            </a:r>
            <a:r>
              <a:rPr lang="en-US" sz="1200" dirty="0">
                <a:solidFill>
                  <a:srgbClr val="0000FF"/>
                </a:solidFill>
                <a:latin typeface="Cascadia Mono" panose="020B0609020000020004" pitchFamily="49" charset="0"/>
              </a:rPr>
              <a:t>"</a:t>
            </a: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a:t>
            </a:r>
            <a:r>
              <a:rPr lang="en-US" sz="1200" dirty="0" err="1">
                <a:solidFill>
                  <a:srgbClr val="0000FF"/>
                </a:solidFill>
                <a:latin typeface="Cascadia Mono" panose="020B0609020000020004" pitchFamily="49" charset="0"/>
              </a:rPr>
              <a:t>img</a:t>
            </a:r>
            <a:r>
              <a:rPr lang="en-US" sz="1200" dirty="0">
                <a:solidFill>
                  <a:srgbClr val="0000FF"/>
                </a:solidFill>
                <a:latin typeface="Cascadia Mono" panose="020B0609020000020004" pitchFamily="49" charset="0"/>
              </a:rPr>
              <a:t>-top"</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alt</a:t>
            </a:r>
            <a:r>
              <a:rPr lang="en-US" sz="1200" dirty="0">
                <a:solidFill>
                  <a:srgbClr val="0000FF"/>
                </a:solidFill>
                <a:latin typeface="Cascadia Mono" panose="020B0609020000020004" pitchFamily="49" charset="0"/>
              </a:rPr>
              <a:t>="</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product.Name</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="card-body"&gt;</a:t>
            </a:r>
            <a:endParaRPr lang="en-US" sz="1200" dirty="0">
              <a:solidFill>
                <a:srgbClr val="000000"/>
              </a:solidFill>
              <a:latin typeface="Cascadia Mono" panose="020B0609020000020004" pitchFamily="49" charset="0"/>
            </a:endParaRPr>
          </a:p>
          <a:p>
            <a:pPr marL="36900" indent="0">
              <a:buNone/>
            </a:pPr>
            <a:r>
              <a:rPr lang="pt-BR" sz="1200" dirty="0">
                <a:solidFill>
                  <a:srgbClr val="000000"/>
                </a:solidFill>
                <a:latin typeface="Cascadia Mono" panose="020B0609020000020004" pitchFamily="49" charset="0"/>
              </a:rPr>
              <a:t>                </a:t>
            </a:r>
            <a:r>
              <a:rPr lang="pt-BR" sz="1200" dirty="0">
                <a:solidFill>
                  <a:srgbClr val="0000FF"/>
                </a:solidFill>
                <a:latin typeface="Cascadia Mono" panose="020B0609020000020004" pitchFamily="49" charset="0"/>
              </a:rPr>
              <a:t>&lt;</a:t>
            </a:r>
            <a:r>
              <a:rPr lang="pt-BR" sz="1200" dirty="0">
                <a:solidFill>
                  <a:srgbClr val="800000"/>
                </a:solidFill>
                <a:latin typeface="Cascadia Mono" panose="020B0609020000020004" pitchFamily="49" charset="0"/>
              </a:rPr>
              <a:t>h5</a:t>
            </a:r>
            <a:r>
              <a:rPr lang="pt-BR" sz="1200" dirty="0">
                <a:solidFill>
                  <a:srgbClr val="000000"/>
                </a:solidFill>
                <a:latin typeface="Cascadia Mono" panose="020B0609020000020004" pitchFamily="49" charset="0"/>
              </a:rPr>
              <a:t> </a:t>
            </a:r>
            <a:r>
              <a:rPr lang="pt-BR" sz="1200" dirty="0">
                <a:solidFill>
                  <a:srgbClr val="FF0000"/>
                </a:solidFill>
                <a:latin typeface="Cascadia Mono" panose="020B0609020000020004" pitchFamily="49" charset="0"/>
              </a:rPr>
              <a:t>class</a:t>
            </a:r>
            <a:r>
              <a:rPr lang="pt-BR" sz="1200" dirty="0">
                <a:solidFill>
                  <a:srgbClr val="0000FF"/>
                </a:solidFill>
                <a:latin typeface="Cascadia Mono" panose="020B0609020000020004" pitchFamily="49" charset="0"/>
              </a:rPr>
              <a:t>="card-title"&gt;</a:t>
            </a:r>
            <a:r>
              <a:rPr lang="pt-BR" sz="1200" dirty="0">
                <a:solidFill>
                  <a:srgbClr val="000000"/>
                </a:solidFill>
                <a:latin typeface="Cascadia Mono" panose="020B0609020000020004" pitchFamily="49" charset="0"/>
              </a:rPr>
              <a:t>@product.Name</a:t>
            </a:r>
            <a:r>
              <a:rPr lang="pt-BR" sz="1200" dirty="0">
                <a:solidFill>
                  <a:srgbClr val="0000FF"/>
                </a:solidFill>
                <a:latin typeface="Cascadia Mono" panose="020B0609020000020004" pitchFamily="49" charset="0"/>
              </a:rPr>
              <a:t>&lt;/</a:t>
            </a:r>
            <a:r>
              <a:rPr lang="pt-BR" sz="1200" dirty="0">
                <a:solidFill>
                  <a:srgbClr val="800000"/>
                </a:solidFill>
                <a:latin typeface="Cascadia Mono" panose="020B0609020000020004" pitchFamily="49" charset="0"/>
              </a:rPr>
              <a:t>h5</a:t>
            </a:r>
            <a:r>
              <a:rPr lang="pt-BR" sz="1200" dirty="0">
                <a:solidFill>
                  <a:srgbClr val="0000FF"/>
                </a:solidFill>
                <a:latin typeface="Cascadia Mono" panose="020B0609020000020004" pitchFamily="49" charset="0"/>
              </a:rPr>
              <a:t>&gt;</a:t>
            </a:r>
            <a:endParaRPr lang="pt-BR"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p</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="card-text"&gt;</a:t>
            </a:r>
            <a:r>
              <a:rPr lang="en-US" sz="1200" dirty="0">
                <a:solidFill>
                  <a:srgbClr val="000000"/>
                </a:solidFill>
                <a:latin typeface="Cascadia Mono" panose="020B0609020000020004" pitchFamily="49" charset="0"/>
              </a:rPr>
              <a:t>price: @product.Price$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p</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@code {</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List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Product</a:t>
            </a:r>
            <a:r>
              <a:rPr lang="en-US" sz="1200" dirty="0">
                <a:solidFill>
                  <a:srgbClr val="000000"/>
                </a:solidFill>
                <a:latin typeface="Cascadia Mono" panose="020B0609020000020004" pitchFamily="49" charset="0"/>
              </a:rPr>
              <a:t>&gt; products;</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AllProductsComponent</a:t>
            </a:r>
            <a:r>
              <a:rPr lang="en-US" sz="1200" dirty="0">
                <a:solidFill>
                  <a:srgbClr val="000000"/>
                </a:solidFill>
                <a:latin typeface="Cascadia Mono" panose="020B0609020000020004" pitchFamily="49" charset="0"/>
              </a:rPr>
              <a:t>(</a:t>
            </a:r>
            <a:r>
              <a:rPr lang="en-US" sz="1200" dirty="0" err="1">
                <a:solidFill>
                  <a:srgbClr val="2B91AF"/>
                </a:solidFill>
                <a:latin typeface="Cascadia Mono" panose="020B0609020000020004" pitchFamily="49" charset="0"/>
              </a:rPr>
              <a:t>IService</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Product</a:t>
            </a:r>
            <a:r>
              <a:rPr lang="en-US" sz="1200" dirty="0">
                <a:solidFill>
                  <a:srgbClr val="000000"/>
                </a:solidFill>
                <a:latin typeface="Cascadia Mono" panose="020B0609020000020004" pitchFamily="49" charset="0"/>
              </a:rPr>
              <a:t>&gt; service)</a:t>
            </a:r>
          </a:p>
          <a:p>
            <a:pPr marL="36900" indent="0">
              <a:buNone/>
            </a:pPr>
            <a:r>
              <a:rPr lang="en-US" sz="1200" dirty="0">
                <a:solidFill>
                  <a:srgbClr val="000000"/>
                </a:solidFill>
                <a:latin typeface="Cascadia Mono" panose="020B0609020000020004" pitchFamily="49" charset="0"/>
              </a:rPr>
              <a:t>    { </a:t>
            </a:r>
            <a:r>
              <a:rPr lang="en-US" sz="1200" dirty="0" err="1">
                <a:solidFill>
                  <a:srgbClr val="0000FF"/>
                </a:solidFill>
                <a:latin typeface="Cascadia Mono" panose="020B0609020000020004" pitchFamily="49" charset="0"/>
              </a:rPr>
              <a:t>this</a:t>
            </a:r>
            <a:r>
              <a:rPr lang="en-US" sz="1200" dirty="0" err="1">
                <a:solidFill>
                  <a:srgbClr val="000000"/>
                </a:solidFill>
                <a:latin typeface="Cascadia Mono" panose="020B0609020000020004" pitchFamily="49" charset="0"/>
              </a:rPr>
              <a:t>.service</a:t>
            </a:r>
            <a:r>
              <a:rPr lang="en-US" sz="1200" dirty="0">
                <a:solidFill>
                  <a:srgbClr val="000000"/>
                </a:solidFill>
                <a:latin typeface="Cascadia Mono" panose="020B0609020000020004" pitchFamily="49" charset="0"/>
              </a:rPr>
              <a:t> = service; }</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protected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override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OnInitialized</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 products = </a:t>
            </a:r>
            <a:r>
              <a:rPr lang="en-US" sz="1200" dirty="0" err="1">
                <a:solidFill>
                  <a:srgbClr val="000000"/>
                </a:solidFill>
                <a:latin typeface="Cascadia Mono" panose="020B0609020000020004" pitchFamily="49" charset="0"/>
              </a:rPr>
              <a:t>service.getAll</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base</a:t>
            </a:r>
            <a:r>
              <a:rPr lang="en-US" sz="1200" dirty="0" err="1">
                <a:solidFill>
                  <a:srgbClr val="000000"/>
                </a:solidFill>
                <a:latin typeface="Cascadia Mono" panose="020B0609020000020004" pitchFamily="49" charset="0"/>
              </a:rPr>
              <a:t>.OnInitialized</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a:t>
            </a:r>
          </a:p>
        </p:txBody>
      </p:sp>
      <p:sp>
        <p:nvSpPr>
          <p:cNvPr id="12" name="Rectangle 1">
            <a:extLst>
              <a:ext uri="{FF2B5EF4-FFF2-40B4-BE49-F238E27FC236}">
                <a16:creationId xmlns:a16="http://schemas.microsoft.com/office/drawing/2014/main" id="{C854C35B-A366-E03E-BACA-681461751A80}"/>
              </a:ext>
            </a:extLst>
          </p:cNvPr>
          <p:cNvSpPr txBox="1">
            <a:spLocks noChangeArrowheads="1"/>
          </p:cNvSpPr>
          <p:nvPr/>
        </p:nvSpPr>
        <p:spPr bwMode="auto">
          <a:xfrm>
            <a:off x="6007510" y="1570386"/>
            <a:ext cx="6174655"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builder.Services.AddScoped</a:t>
            </a:r>
            <a:r>
              <a:rPr lang="en-US" sz="1600" dirty="0">
                <a:solidFill>
                  <a:srgbClr val="000000"/>
                </a:solidFill>
                <a:latin typeface="Cascadia Mono" panose="020B0609020000020004" pitchFamily="49" charset="0"/>
              </a:rPr>
              <a:t>&lt;</a:t>
            </a:r>
            <a:r>
              <a:rPr lang="en-US" sz="1600" dirty="0" err="1">
                <a:solidFill>
                  <a:srgbClr val="000000"/>
                </a:solidFill>
                <a:latin typeface="Cascadia Mono" panose="020B0609020000020004" pitchFamily="49" charset="0"/>
              </a:rPr>
              <a:t>IService</a:t>
            </a:r>
            <a:r>
              <a:rPr lang="en-US" sz="1600" dirty="0">
                <a:solidFill>
                  <a:srgbClr val="000000"/>
                </a:solidFill>
                <a:latin typeface="Cascadia Mono" panose="020B0609020000020004" pitchFamily="49" charset="0"/>
              </a:rPr>
              <a:t>&lt;Product&gt;, </a:t>
            </a:r>
            <a:r>
              <a:rPr lang="en-US" sz="1600" dirty="0" err="1">
                <a:solidFill>
                  <a:srgbClr val="000000"/>
                </a:solidFill>
                <a:latin typeface="Cascadia Mono" panose="020B0609020000020004" pitchFamily="49" charset="0"/>
              </a:rPr>
              <a:t>ProductService</a:t>
            </a:r>
            <a:r>
              <a:rPr lang="en-US" sz="1600" dirty="0">
                <a:solidFill>
                  <a:srgbClr val="000000"/>
                </a:solidFill>
                <a:latin typeface="Cascadia Mono" panose="020B0609020000020004" pitchFamily="49" charset="0"/>
              </a:rPr>
              <a:t>&gt;();</a:t>
            </a:r>
            <a:endParaRPr lang="en-US" sz="1200" b="0" dirty="0">
              <a:solidFill>
                <a:srgbClr val="000000"/>
              </a:solidFill>
              <a:latin typeface="Cascadia Mono" panose="020B0609020000020004" pitchFamily="49" charset="0"/>
            </a:endParaRPr>
          </a:p>
        </p:txBody>
      </p:sp>
      <p:sp>
        <p:nvSpPr>
          <p:cNvPr id="13" name="TextBox 12">
            <a:extLst>
              <a:ext uri="{FF2B5EF4-FFF2-40B4-BE49-F238E27FC236}">
                <a16:creationId xmlns:a16="http://schemas.microsoft.com/office/drawing/2014/main" id="{68BC9510-CC58-9D7B-8AB1-AEDD94B25ACF}"/>
              </a:ext>
            </a:extLst>
          </p:cNvPr>
          <p:cNvSpPr txBox="1"/>
          <p:nvPr/>
        </p:nvSpPr>
        <p:spPr>
          <a:xfrm>
            <a:off x="7275872" y="1000894"/>
            <a:ext cx="2448232" cy="400110"/>
          </a:xfrm>
          <a:prstGeom prst="rect">
            <a:avLst/>
          </a:prstGeom>
          <a:noFill/>
        </p:spPr>
        <p:txBody>
          <a:bodyPr wrap="square" rtlCol="0">
            <a:spAutoFit/>
          </a:bodyPr>
          <a:lstStyle/>
          <a:p>
            <a:r>
              <a:rPr lang="en-US" sz="2000" b="1" dirty="0"/>
              <a:t>At </a:t>
            </a:r>
            <a:r>
              <a:rPr lang="en-US" sz="2000" b="1" dirty="0" err="1"/>
              <a:t>program.cs</a:t>
            </a:r>
            <a:endParaRPr lang="en-US" sz="2000" b="1" dirty="0"/>
          </a:p>
        </p:txBody>
      </p:sp>
    </p:spTree>
    <p:extLst>
      <p:ext uri="{BB962C8B-B14F-4D97-AF65-F5344CB8AC3E}">
        <p14:creationId xmlns:p14="http://schemas.microsoft.com/office/powerpoint/2010/main" val="1139098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5174A-AAFF-5FD1-5697-18D27BFB085F}"/>
              </a:ext>
            </a:extLst>
          </p:cNvPr>
          <p:cNvSpPr>
            <a:spLocks noGrp="1"/>
          </p:cNvSpPr>
          <p:nvPr>
            <p:ph type="title"/>
          </p:nvPr>
        </p:nvSpPr>
        <p:spPr>
          <a:xfrm>
            <a:off x="6980902" y="285135"/>
            <a:ext cx="4454014" cy="432619"/>
          </a:xfrm>
        </p:spPr>
        <p:txBody>
          <a:bodyPr>
            <a:noAutofit/>
          </a:bodyPr>
          <a:lstStyle/>
          <a:p>
            <a:r>
              <a:rPr lang="en-US" sz="3200" b="1" dirty="0"/>
              <a:t>Injection at </a:t>
            </a:r>
            <a:r>
              <a:rPr lang="en-US" sz="3200" b="1" dirty="0" err="1"/>
              <a:t>Blazor</a:t>
            </a:r>
            <a:endParaRPr lang="en-US" sz="3200" b="1" dirty="0"/>
          </a:p>
        </p:txBody>
      </p:sp>
      <p:sp>
        <p:nvSpPr>
          <p:cNvPr id="3" name="Content Placeholder 2">
            <a:extLst>
              <a:ext uri="{FF2B5EF4-FFF2-40B4-BE49-F238E27FC236}">
                <a16:creationId xmlns:a16="http://schemas.microsoft.com/office/drawing/2014/main" id="{5634ADBD-E888-7738-43CF-A69504C76240}"/>
              </a:ext>
            </a:extLst>
          </p:cNvPr>
          <p:cNvSpPr>
            <a:spLocks noGrp="1"/>
          </p:cNvSpPr>
          <p:nvPr>
            <p:ph idx="1"/>
          </p:nvPr>
        </p:nvSpPr>
        <p:spPr>
          <a:xfrm>
            <a:off x="235974" y="167148"/>
            <a:ext cx="11956026" cy="6351639"/>
          </a:xfrm>
        </p:spPr>
        <p:txBody>
          <a:bodyPr/>
          <a:lstStyle/>
          <a:p>
            <a:endParaRPr lang="en-US" dirty="0"/>
          </a:p>
          <a:p>
            <a:pPr lvl="2"/>
            <a:endParaRPr lang="en-US" dirty="0"/>
          </a:p>
          <a:p>
            <a:pPr marL="36900" indent="0">
              <a:buNone/>
            </a:pPr>
            <a:endParaRPr lang="ar-EG" dirty="0"/>
          </a:p>
          <a:p>
            <a:pPr marL="36900" indent="0">
              <a:buNone/>
            </a:pPr>
            <a:endParaRPr lang="ar-EG" dirty="0"/>
          </a:p>
          <a:p>
            <a:pPr marL="36900" indent="0">
              <a:buNone/>
            </a:pPr>
            <a:endParaRPr lang="en-US" dirty="0"/>
          </a:p>
          <a:p>
            <a:endParaRPr lang="en-US" dirty="0"/>
          </a:p>
          <a:p>
            <a:endParaRPr lang="en-US" dirty="0"/>
          </a:p>
          <a:p>
            <a:endParaRPr lang="en-US" dirty="0"/>
          </a:p>
        </p:txBody>
      </p:sp>
      <p:sp>
        <p:nvSpPr>
          <p:cNvPr id="11" name="Rectangle 1">
            <a:extLst>
              <a:ext uri="{FF2B5EF4-FFF2-40B4-BE49-F238E27FC236}">
                <a16:creationId xmlns:a16="http://schemas.microsoft.com/office/drawing/2014/main" id="{D6C979BB-ADCB-23D3-BBDA-C5B56AD39EA5}"/>
              </a:ext>
            </a:extLst>
          </p:cNvPr>
          <p:cNvSpPr txBox="1">
            <a:spLocks noChangeArrowheads="1"/>
          </p:cNvSpPr>
          <p:nvPr/>
        </p:nvSpPr>
        <p:spPr bwMode="auto">
          <a:xfrm>
            <a:off x="9835" y="-79287"/>
            <a:ext cx="6420464" cy="702961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200" dirty="0">
                <a:solidFill>
                  <a:srgbClr val="000000"/>
                </a:solidFill>
                <a:latin typeface="Cascadia Mono" panose="020B0609020000020004" pitchFamily="49" charset="0"/>
              </a:rPr>
              <a:t>@page </a:t>
            </a:r>
            <a:r>
              <a:rPr lang="en-US" sz="1200" dirty="0">
                <a:solidFill>
                  <a:srgbClr val="A31515"/>
                </a:solidFill>
                <a:latin typeface="Cascadia Mono" panose="020B0609020000020004" pitchFamily="49" charset="0"/>
              </a:rPr>
              <a:t>"/</a:t>
            </a:r>
            <a:r>
              <a:rPr lang="en-US" sz="1200" dirty="0" err="1">
                <a:solidFill>
                  <a:srgbClr val="A31515"/>
                </a:solidFill>
                <a:latin typeface="Cascadia Mono" panose="020B0609020000020004" pitchFamily="49" charset="0"/>
              </a:rPr>
              <a:t>allproducts</a:t>
            </a:r>
            <a:r>
              <a:rPr lang="en-US" sz="1200" dirty="0">
                <a:solidFill>
                  <a:srgbClr val="A31515"/>
                </a:solidFill>
                <a:latin typeface="Cascadia Mono" panose="020B0609020000020004" pitchFamily="49" charset="0"/>
              </a:rPr>
              <a:t>"</a:t>
            </a:r>
            <a:endParaRPr lang="en-US" sz="1200" dirty="0">
              <a:solidFill>
                <a:srgbClr val="000000"/>
              </a:solidFill>
              <a:latin typeface="Cascadia Mono" panose="020B0609020000020004" pitchFamily="49" charset="0"/>
            </a:endParaRP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h3</a:t>
            </a:r>
            <a:r>
              <a:rPr lang="en-US" sz="1200" dirty="0">
                <a:solidFill>
                  <a:srgbClr val="0000FF"/>
                </a:solidFill>
                <a:latin typeface="Cascadia Mono" panose="020B0609020000020004" pitchFamily="49" charset="0"/>
              </a:rPr>
              <a:t>&gt;</a:t>
            </a:r>
            <a:r>
              <a:rPr lang="en-US" sz="1200" dirty="0" err="1">
                <a:solidFill>
                  <a:srgbClr val="000000"/>
                </a:solidFill>
                <a:latin typeface="Cascadia Mono" panose="020B0609020000020004" pitchFamily="49" charset="0"/>
              </a:rPr>
              <a:t>AllProductsComponent</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h3</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="container"&gt;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="row"&gt;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foreach</a:t>
            </a:r>
            <a:r>
              <a:rPr lang="en-US" sz="1200" dirty="0">
                <a:solidFill>
                  <a:srgbClr val="000000"/>
                </a:solidFill>
                <a:latin typeface="Cascadia Mono" panose="020B0609020000020004" pitchFamily="49" charset="0"/>
              </a:rPr>
              <a:t>(</a:t>
            </a:r>
            <a:r>
              <a:rPr lang="en-US" sz="1200" dirty="0">
                <a:solidFill>
                  <a:srgbClr val="2B91AF"/>
                </a:solidFill>
                <a:latin typeface="Cascadia Mono" panose="020B0609020000020004" pitchFamily="49" charset="0"/>
              </a:rPr>
              <a:t>Product</a:t>
            </a:r>
            <a:r>
              <a:rPr lang="en-US" sz="1200" dirty="0">
                <a:solidFill>
                  <a:srgbClr val="000000"/>
                </a:solidFill>
                <a:latin typeface="Cascadia Mono" panose="020B0609020000020004" pitchFamily="49" charset="0"/>
              </a:rPr>
              <a:t> product </a:t>
            </a:r>
            <a:r>
              <a:rPr lang="en-US" sz="1200" dirty="0">
                <a:solidFill>
                  <a:srgbClr val="0000FF"/>
                </a:solidFill>
                <a:latin typeface="Cascadia Mono" panose="020B0609020000020004" pitchFamily="49" charset="0"/>
              </a:rPr>
              <a:t>in</a:t>
            </a:r>
            <a:r>
              <a:rPr lang="en-US" sz="1200" dirty="0">
                <a:solidFill>
                  <a:srgbClr val="000000"/>
                </a:solidFill>
                <a:latin typeface="Cascadia Mono" panose="020B0609020000020004" pitchFamily="49" charset="0"/>
              </a:rPr>
              <a:t> products){</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style</a:t>
            </a:r>
            <a:r>
              <a:rPr lang="en-US" sz="1200" dirty="0">
                <a:solidFill>
                  <a:srgbClr val="0000FF"/>
                </a:solidFill>
                <a:latin typeface="Cascadia Mono" panose="020B0609020000020004" pitchFamily="49" charset="0"/>
              </a:rPr>
              <a:t>="width: 18rem; col-sm-3"&gt;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err="1">
                <a:solidFill>
                  <a:srgbClr val="800000"/>
                </a:solidFill>
                <a:latin typeface="Cascadia Mono" panose="020B0609020000020004" pitchFamily="49" charset="0"/>
              </a:rPr>
              <a:t>img</a:t>
            </a:r>
            <a:r>
              <a:rPr lang="en-US" sz="1200" dirty="0">
                <a:solidFill>
                  <a:srgbClr val="000000"/>
                </a:solidFill>
                <a:latin typeface="Cascadia Mono" panose="020B0609020000020004" pitchFamily="49" charset="0"/>
              </a:rPr>
              <a:t> </a:t>
            </a:r>
            <a:r>
              <a:rPr lang="en-US" sz="1200" dirty="0" err="1">
                <a:solidFill>
                  <a:srgbClr val="FF0000"/>
                </a:solidFill>
                <a:latin typeface="Cascadia Mono" panose="020B0609020000020004" pitchFamily="49" charset="0"/>
              </a:rPr>
              <a:t>src</a:t>
            </a:r>
            <a:r>
              <a:rPr lang="en-US" sz="1200" dirty="0">
                <a:solidFill>
                  <a:srgbClr val="0000FF"/>
                </a:solidFill>
                <a:latin typeface="Cascadia Mono" panose="020B0609020000020004" pitchFamily="49" charset="0"/>
              </a:rPr>
              <a:t>="Images/</a:t>
            </a:r>
            <a:r>
              <a:rPr lang="en-US" sz="1200" dirty="0">
                <a:solidFill>
                  <a:srgbClr val="000000"/>
                </a:solidFill>
                <a:latin typeface="Cascadia Mono" panose="020B0609020000020004" pitchFamily="49" charset="0"/>
              </a:rPr>
              <a:t>@product.Image</a:t>
            </a:r>
            <a:r>
              <a:rPr lang="en-US" sz="1200" dirty="0">
                <a:solidFill>
                  <a:srgbClr val="0000FF"/>
                </a:solidFill>
                <a:latin typeface="Cascadia Mono" panose="020B0609020000020004" pitchFamily="49" charset="0"/>
              </a:rPr>
              <a:t>"</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a:t>
            </a:r>
            <a:r>
              <a:rPr lang="en-US" sz="1200" dirty="0" err="1">
                <a:solidFill>
                  <a:srgbClr val="0000FF"/>
                </a:solidFill>
                <a:latin typeface="Cascadia Mono" panose="020B0609020000020004" pitchFamily="49" charset="0"/>
              </a:rPr>
              <a:t>img</a:t>
            </a:r>
            <a:r>
              <a:rPr lang="en-US" sz="1200" dirty="0">
                <a:solidFill>
                  <a:srgbClr val="0000FF"/>
                </a:solidFill>
                <a:latin typeface="Cascadia Mono" panose="020B0609020000020004" pitchFamily="49" charset="0"/>
              </a:rPr>
              <a:t>-top"</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alt</a:t>
            </a:r>
            <a:r>
              <a:rPr lang="en-US" sz="1200" dirty="0">
                <a:solidFill>
                  <a:srgbClr val="0000FF"/>
                </a:solidFill>
                <a:latin typeface="Cascadia Mono" panose="020B0609020000020004" pitchFamily="49" charset="0"/>
              </a:rPr>
              <a:t>="</a:t>
            </a:r>
            <a:r>
              <a:rPr lang="en-US" sz="1200" dirty="0">
                <a:solidFill>
                  <a:srgbClr val="000000"/>
                </a:solidFill>
                <a:latin typeface="Cascadia Mono" panose="020B0609020000020004" pitchFamily="49" charset="0"/>
              </a:rPr>
              <a:t>@</a:t>
            </a:r>
            <a:r>
              <a:rPr lang="en-US" sz="1200" dirty="0" err="1">
                <a:solidFill>
                  <a:srgbClr val="000000"/>
                </a:solidFill>
                <a:latin typeface="Cascadia Mono" panose="020B0609020000020004" pitchFamily="49" charset="0"/>
              </a:rPr>
              <a:t>product.Name</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="card-body"&gt;</a:t>
            </a:r>
            <a:endParaRPr lang="en-US" sz="1200" dirty="0">
              <a:solidFill>
                <a:srgbClr val="000000"/>
              </a:solidFill>
              <a:latin typeface="Cascadia Mono" panose="020B0609020000020004" pitchFamily="49" charset="0"/>
            </a:endParaRPr>
          </a:p>
          <a:p>
            <a:pPr marL="36900" indent="0">
              <a:buNone/>
            </a:pPr>
            <a:r>
              <a:rPr lang="pt-BR" sz="1200" dirty="0">
                <a:solidFill>
                  <a:srgbClr val="000000"/>
                </a:solidFill>
                <a:latin typeface="Cascadia Mono" panose="020B0609020000020004" pitchFamily="49" charset="0"/>
              </a:rPr>
              <a:t>                </a:t>
            </a:r>
            <a:r>
              <a:rPr lang="pt-BR" sz="1200" dirty="0">
                <a:solidFill>
                  <a:srgbClr val="0000FF"/>
                </a:solidFill>
                <a:latin typeface="Cascadia Mono" panose="020B0609020000020004" pitchFamily="49" charset="0"/>
              </a:rPr>
              <a:t>&lt;</a:t>
            </a:r>
            <a:r>
              <a:rPr lang="pt-BR" sz="1200" dirty="0">
                <a:solidFill>
                  <a:srgbClr val="800000"/>
                </a:solidFill>
                <a:latin typeface="Cascadia Mono" panose="020B0609020000020004" pitchFamily="49" charset="0"/>
              </a:rPr>
              <a:t>h5</a:t>
            </a:r>
            <a:r>
              <a:rPr lang="pt-BR" sz="1200" dirty="0">
                <a:solidFill>
                  <a:srgbClr val="000000"/>
                </a:solidFill>
                <a:latin typeface="Cascadia Mono" panose="020B0609020000020004" pitchFamily="49" charset="0"/>
              </a:rPr>
              <a:t> </a:t>
            </a:r>
            <a:r>
              <a:rPr lang="pt-BR" sz="1200" dirty="0">
                <a:solidFill>
                  <a:srgbClr val="FF0000"/>
                </a:solidFill>
                <a:latin typeface="Cascadia Mono" panose="020B0609020000020004" pitchFamily="49" charset="0"/>
              </a:rPr>
              <a:t>class</a:t>
            </a:r>
            <a:r>
              <a:rPr lang="pt-BR" sz="1200" dirty="0">
                <a:solidFill>
                  <a:srgbClr val="0000FF"/>
                </a:solidFill>
                <a:latin typeface="Cascadia Mono" panose="020B0609020000020004" pitchFamily="49" charset="0"/>
              </a:rPr>
              <a:t>="card-title"&gt;</a:t>
            </a:r>
            <a:r>
              <a:rPr lang="pt-BR" sz="1200" dirty="0">
                <a:solidFill>
                  <a:srgbClr val="000000"/>
                </a:solidFill>
                <a:latin typeface="Cascadia Mono" panose="020B0609020000020004" pitchFamily="49" charset="0"/>
              </a:rPr>
              <a:t>@product.Name</a:t>
            </a:r>
            <a:r>
              <a:rPr lang="pt-BR" sz="1200" dirty="0">
                <a:solidFill>
                  <a:srgbClr val="0000FF"/>
                </a:solidFill>
                <a:latin typeface="Cascadia Mono" panose="020B0609020000020004" pitchFamily="49" charset="0"/>
              </a:rPr>
              <a:t>&lt;/</a:t>
            </a:r>
            <a:r>
              <a:rPr lang="pt-BR" sz="1200" dirty="0">
                <a:solidFill>
                  <a:srgbClr val="800000"/>
                </a:solidFill>
                <a:latin typeface="Cascadia Mono" panose="020B0609020000020004" pitchFamily="49" charset="0"/>
              </a:rPr>
              <a:t>h5</a:t>
            </a:r>
            <a:r>
              <a:rPr lang="pt-BR" sz="1200" dirty="0">
                <a:solidFill>
                  <a:srgbClr val="0000FF"/>
                </a:solidFill>
                <a:latin typeface="Cascadia Mono" panose="020B0609020000020004" pitchFamily="49" charset="0"/>
              </a:rPr>
              <a:t>&gt;</a:t>
            </a:r>
            <a:endParaRPr lang="pt-BR"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p</a:t>
            </a:r>
            <a:r>
              <a:rPr lang="en-US" sz="1200" dirty="0">
                <a:solidFill>
                  <a:srgbClr val="000000"/>
                </a:solidFill>
                <a:latin typeface="Cascadia Mono" panose="020B0609020000020004" pitchFamily="49" charset="0"/>
              </a:rPr>
              <a:t> </a:t>
            </a:r>
            <a:r>
              <a:rPr lang="en-US" sz="1200" dirty="0">
                <a:solidFill>
                  <a:srgbClr val="FF0000"/>
                </a:solidFill>
                <a:latin typeface="Cascadia Mono" panose="020B0609020000020004" pitchFamily="49" charset="0"/>
              </a:rPr>
              <a:t>class</a:t>
            </a:r>
            <a:r>
              <a:rPr lang="en-US" sz="1200" dirty="0">
                <a:solidFill>
                  <a:srgbClr val="0000FF"/>
                </a:solidFill>
                <a:latin typeface="Cascadia Mono" panose="020B0609020000020004" pitchFamily="49" charset="0"/>
              </a:rPr>
              <a:t>="card-text"&gt;</a:t>
            </a:r>
            <a:r>
              <a:rPr lang="en-US" sz="1200" dirty="0">
                <a:solidFill>
                  <a:srgbClr val="000000"/>
                </a:solidFill>
                <a:latin typeface="Cascadia Mono" panose="020B0609020000020004" pitchFamily="49" charset="0"/>
              </a:rPr>
              <a:t>price: @product.Price$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p</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FF"/>
                </a:solidFill>
                <a:latin typeface="Cascadia Mono" panose="020B0609020000020004" pitchFamily="49" charset="0"/>
              </a:rPr>
              <a:t>&lt;/</a:t>
            </a:r>
            <a:r>
              <a:rPr lang="en-US" sz="1200" dirty="0">
                <a:solidFill>
                  <a:srgbClr val="800000"/>
                </a:solidFill>
                <a:latin typeface="Cascadia Mono" panose="020B0609020000020004" pitchFamily="49" charset="0"/>
              </a:rPr>
              <a:t>div</a:t>
            </a:r>
            <a:r>
              <a:rPr lang="en-US" sz="1200" dirty="0">
                <a:solidFill>
                  <a:srgbClr val="0000FF"/>
                </a:solidFill>
                <a:latin typeface="Cascadia Mono" panose="020B0609020000020004" pitchFamily="49" charset="0"/>
              </a:rPr>
              <a:t>&gt;</a:t>
            </a:r>
            <a:endParaRPr lang="en-US" sz="1200" dirty="0">
              <a:solidFill>
                <a:srgbClr val="000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@code {</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List</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Product</a:t>
            </a:r>
            <a:r>
              <a:rPr lang="en-US" sz="1200" dirty="0">
                <a:solidFill>
                  <a:srgbClr val="000000"/>
                </a:solidFill>
                <a:latin typeface="Cascadia Mono" panose="020B0609020000020004" pitchFamily="49" charset="0"/>
              </a:rPr>
              <a:t>&gt; products;</a:t>
            </a:r>
          </a:p>
          <a:p>
            <a:pPr marL="36900" indent="0">
              <a:buNone/>
            </a:pPr>
            <a:r>
              <a:rPr lang="en-US" sz="1200" dirty="0">
                <a:solidFill>
                  <a:srgbClr val="000000"/>
                </a:solidFill>
                <a:latin typeface="Cascadia Mono" panose="020B0609020000020004" pitchFamily="49" charset="0"/>
              </a:rPr>
              <a:t>    [</a:t>
            </a:r>
            <a:r>
              <a:rPr lang="en-US" sz="1200" dirty="0">
                <a:solidFill>
                  <a:srgbClr val="2B91AF"/>
                </a:solidFill>
                <a:latin typeface="Cascadia Mono" panose="020B0609020000020004" pitchFamily="49" charset="0"/>
              </a:rPr>
              <a:t>Inject</a:t>
            </a:r>
            <a:r>
              <a:rPr lang="en-US" sz="1200" dirty="0">
                <a:solidFill>
                  <a:srgbClr val="000000"/>
                </a:solidFill>
                <a:latin typeface="Cascadia Mono" panose="020B0609020000020004" pitchFamily="49" charset="0"/>
              </a:rPr>
              <a:t>] //</a:t>
            </a:r>
            <a:r>
              <a:rPr lang="en-US" sz="1200" b="1" dirty="0">
                <a:solidFill>
                  <a:srgbClr val="00B050"/>
                </a:solidFill>
              </a:rPr>
              <a:t>Created at </a:t>
            </a:r>
            <a:r>
              <a:rPr lang="en-US" sz="1200" b="1" dirty="0" err="1">
                <a:solidFill>
                  <a:srgbClr val="00B050"/>
                </a:solidFill>
              </a:rPr>
              <a:t>SetParameter</a:t>
            </a:r>
            <a:r>
              <a:rPr lang="en-US" sz="1200" b="1" dirty="0">
                <a:solidFill>
                  <a:srgbClr val="00B050"/>
                </a:solidFill>
              </a:rPr>
              <a:t>() method</a:t>
            </a:r>
            <a:endParaRPr lang="en-US" sz="1200" b="1" dirty="0">
              <a:solidFill>
                <a:srgbClr val="00B05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IService</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Product</a:t>
            </a:r>
            <a:r>
              <a:rPr lang="en-US" sz="1200" dirty="0">
                <a:solidFill>
                  <a:srgbClr val="000000"/>
                </a:solidFill>
                <a:latin typeface="Cascadia Mono" panose="020B0609020000020004" pitchFamily="49" charset="0"/>
              </a:rPr>
              <a:t>&gt; service { </a:t>
            </a:r>
            <a:r>
              <a:rPr lang="en-US" sz="1200" dirty="0">
                <a:solidFill>
                  <a:srgbClr val="0000FF"/>
                </a:solidFill>
                <a:latin typeface="Cascadia Mono" panose="020B0609020000020004" pitchFamily="49" charset="0"/>
              </a:rPr>
              <a:t>get</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set</a:t>
            </a: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err="1">
                <a:solidFill>
                  <a:srgbClr val="2B91AF"/>
                </a:solidFill>
                <a:latin typeface="Cascadia Mono" panose="020B0609020000020004" pitchFamily="49" charset="0"/>
              </a:rPr>
              <a:t>AllProductsComponent</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protected</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override</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void</a:t>
            </a: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OnInitialized</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  products = </a:t>
            </a:r>
            <a:r>
              <a:rPr lang="en-US" sz="1200" dirty="0" err="1">
                <a:solidFill>
                  <a:srgbClr val="000000"/>
                </a:solidFill>
                <a:latin typeface="Cascadia Mono" panose="020B0609020000020004" pitchFamily="49" charset="0"/>
              </a:rPr>
              <a:t>service.getAll</a:t>
            </a:r>
            <a:r>
              <a:rPr lang="en-US" sz="1200" dirty="0">
                <a:solidFill>
                  <a:srgbClr val="000000"/>
                </a:solidFill>
                <a:latin typeface="Cascadia Mono" panose="020B0609020000020004" pitchFamily="49" charset="0"/>
              </a:rPr>
              <a:t>();  </a:t>
            </a:r>
            <a:r>
              <a:rPr lang="en-US" sz="1200" dirty="0" err="1">
                <a:solidFill>
                  <a:srgbClr val="0000FF"/>
                </a:solidFill>
                <a:latin typeface="Cascadia Mono" panose="020B0609020000020004" pitchFamily="49" charset="0"/>
              </a:rPr>
              <a:t>base</a:t>
            </a:r>
            <a:r>
              <a:rPr lang="en-US" sz="1200" dirty="0" err="1">
                <a:solidFill>
                  <a:srgbClr val="000000"/>
                </a:solidFill>
                <a:latin typeface="Cascadia Mono" panose="020B0609020000020004" pitchFamily="49" charset="0"/>
              </a:rPr>
              <a:t>.OnInitialized</a:t>
            </a: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a:t>
            </a:r>
          </a:p>
        </p:txBody>
      </p:sp>
      <p:sp>
        <p:nvSpPr>
          <p:cNvPr id="12" name="Rectangle 1">
            <a:extLst>
              <a:ext uri="{FF2B5EF4-FFF2-40B4-BE49-F238E27FC236}">
                <a16:creationId xmlns:a16="http://schemas.microsoft.com/office/drawing/2014/main" id="{C854C35B-A366-E03E-BACA-681461751A80}"/>
              </a:ext>
            </a:extLst>
          </p:cNvPr>
          <p:cNvSpPr txBox="1">
            <a:spLocks noChangeArrowheads="1"/>
          </p:cNvSpPr>
          <p:nvPr/>
        </p:nvSpPr>
        <p:spPr bwMode="auto">
          <a:xfrm>
            <a:off x="6430299" y="1570386"/>
            <a:ext cx="5761701" cy="58477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600" dirty="0">
                <a:solidFill>
                  <a:srgbClr val="000000"/>
                </a:solidFill>
                <a:latin typeface="Cascadia Mono" panose="020B0609020000020004" pitchFamily="49" charset="0"/>
              </a:rPr>
              <a:t> </a:t>
            </a:r>
            <a:r>
              <a:rPr lang="en-US" sz="1600" dirty="0" err="1">
                <a:solidFill>
                  <a:srgbClr val="000000"/>
                </a:solidFill>
                <a:latin typeface="Cascadia Mono" panose="020B0609020000020004" pitchFamily="49" charset="0"/>
              </a:rPr>
              <a:t>builder.Services.AddScoped</a:t>
            </a:r>
            <a:r>
              <a:rPr lang="en-US" sz="1600" dirty="0">
                <a:solidFill>
                  <a:srgbClr val="000000"/>
                </a:solidFill>
                <a:latin typeface="Cascadia Mono" panose="020B0609020000020004" pitchFamily="49" charset="0"/>
              </a:rPr>
              <a:t>&lt;</a:t>
            </a:r>
            <a:r>
              <a:rPr lang="en-US" sz="1600" dirty="0" err="1">
                <a:solidFill>
                  <a:srgbClr val="000000"/>
                </a:solidFill>
                <a:latin typeface="Cascadia Mono" panose="020B0609020000020004" pitchFamily="49" charset="0"/>
              </a:rPr>
              <a:t>IService</a:t>
            </a:r>
            <a:r>
              <a:rPr lang="en-US" sz="1600" dirty="0">
                <a:solidFill>
                  <a:srgbClr val="000000"/>
                </a:solidFill>
                <a:latin typeface="Cascadia Mono" panose="020B0609020000020004" pitchFamily="49" charset="0"/>
              </a:rPr>
              <a:t>&lt;Product&gt;, </a:t>
            </a:r>
            <a:r>
              <a:rPr lang="en-US" sz="1600" dirty="0" err="1">
                <a:solidFill>
                  <a:srgbClr val="000000"/>
                </a:solidFill>
                <a:latin typeface="Cascadia Mono" panose="020B0609020000020004" pitchFamily="49" charset="0"/>
              </a:rPr>
              <a:t>ProductService</a:t>
            </a:r>
            <a:r>
              <a:rPr lang="en-US" sz="1600" dirty="0">
                <a:solidFill>
                  <a:srgbClr val="000000"/>
                </a:solidFill>
                <a:latin typeface="Cascadia Mono" panose="020B0609020000020004" pitchFamily="49" charset="0"/>
              </a:rPr>
              <a:t>&gt;();</a:t>
            </a:r>
            <a:endParaRPr lang="en-US" sz="1200" b="0" dirty="0">
              <a:solidFill>
                <a:srgbClr val="000000"/>
              </a:solidFill>
              <a:latin typeface="Cascadia Mono" panose="020B0609020000020004" pitchFamily="49" charset="0"/>
            </a:endParaRPr>
          </a:p>
        </p:txBody>
      </p:sp>
      <p:sp>
        <p:nvSpPr>
          <p:cNvPr id="13" name="TextBox 12">
            <a:extLst>
              <a:ext uri="{FF2B5EF4-FFF2-40B4-BE49-F238E27FC236}">
                <a16:creationId xmlns:a16="http://schemas.microsoft.com/office/drawing/2014/main" id="{68BC9510-CC58-9D7B-8AB1-AEDD94B25ACF}"/>
              </a:ext>
            </a:extLst>
          </p:cNvPr>
          <p:cNvSpPr txBox="1"/>
          <p:nvPr/>
        </p:nvSpPr>
        <p:spPr>
          <a:xfrm>
            <a:off x="7275872" y="1000894"/>
            <a:ext cx="2448232" cy="400110"/>
          </a:xfrm>
          <a:prstGeom prst="rect">
            <a:avLst/>
          </a:prstGeom>
          <a:noFill/>
        </p:spPr>
        <p:txBody>
          <a:bodyPr wrap="square" rtlCol="0">
            <a:spAutoFit/>
          </a:bodyPr>
          <a:lstStyle/>
          <a:p>
            <a:r>
              <a:rPr lang="en-US" sz="2000" b="1" dirty="0"/>
              <a:t>At </a:t>
            </a:r>
            <a:r>
              <a:rPr lang="en-US" sz="2000" b="1" dirty="0" err="1"/>
              <a:t>program.cs</a:t>
            </a:r>
            <a:endParaRPr lang="en-US" sz="2000" b="1" dirty="0"/>
          </a:p>
        </p:txBody>
      </p:sp>
    </p:spTree>
    <p:extLst>
      <p:ext uri="{BB962C8B-B14F-4D97-AF65-F5344CB8AC3E}">
        <p14:creationId xmlns:p14="http://schemas.microsoft.com/office/powerpoint/2010/main" val="11352128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656DE-813E-6FDE-48E4-58619343D064}"/>
              </a:ext>
            </a:extLst>
          </p:cNvPr>
          <p:cNvSpPr>
            <a:spLocks noGrp="1"/>
          </p:cNvSpPr>
          <p:nvPr>
            <p:ph type="title"/>
          </p:nvPr>
        </p:nvSpPr>
        <p:spPr>
          <a:xfrm>
            <a:off x="913795" y="0"/>
            <a:ext cx="10353762" cy="570271"/>
          </a:xfrm>
        </p:spPr>
        <p:txBody>
          <a:bodyPr>
            <a:normAutofit fontScale="90000"/>
          </a:bodyPr>
          <a:lstStyle/>
          <a:p>
            <a:r>
              <a:rPr lang="en-US" dirty="0"/>
              <a:t>Built-in form component</a:t>
            </a:r>
          </a:p>
        </p:txBody>
      </p:sp>
      <p:sp>
        <p:nvSpPr>
          <p:cNvPr id="3" name="Content Placeholder 2">
            <a:extLst>
              <a:ext uri="{FF2B5EF4-FFF2-40B4-BE49-F238E27FC236}">
                <a16:creationId xmlns:a16="http://schemas.microsoft.com/office/drawing/2014/main" id="{75FE2160-F44E-C0CB-642C-6DF14BD0DF1C}"/>
              </a:ext>
            </a:extLst>
          </p:cNvPr>
          <p:cNvSpPr>
            <a:spLocks noGrp="1"/>
          </p:cNvSpPr>
          <p:nvPr>
            <p:ph idx="1"/>
          </p:nvPr>
        </p:nvSpPr>
        <p:spPr>
          <a:xfrm>
            <a:off x="481781" y="570271"/>
            <a:ext cx="11454580" cy="6046839"/>
          </a:xfrm>
        </p:spPr>
        <p:txBody>
          <a:bodyPr/>
          <a:lstStyle/>
          <a:p>
            <a:r>
              <a:rPr lang="en-US" dirty="0"/>
              <a:t>&lt;EditForm Model="obj_name"&gt;&lt;/EditForm&gt; , &lt;InputText&gt; , &lt;</a:t>
            </a:r>
            <a:r>
              <a:rPr lang="en-US" dirty="0" err="1"/>
              <a:t>InputNumber</a:t>
            </a:r>
            <a:r>
              <a:rPr lang="en-US" dirty="0"/>
              <a:t>&gt;, &lt;</a:t>
            </a:r>
            <a:r>
              <a:rPr lang="en-US" dirty="0" err="1"/>
              <a:t>InputSelect</a:t>
            </a:r>
            <a:r>
              <a:rPr lang="en-US" dirty="0"/>
              <a:t>&gt;</a:t>
            </a:r>
          </a:p>
          <a:p>
            <a:pPr marL="36900" indent="0">
              <a:buNone/>
            </a:pPr>
            <a:endParaRPr lang="en-US" dirty="0"/>
          </a:p>
          <a:p>
            <a:endParaRPr lang="en-US" dirty="0"/>
          </a:p>
          <a:p>
            <a:pPr marL="36900" indent="0">
              <a:buNone/>
            </a:pPr>
            <a:endParaRPr lang="ar-EG" dirty="0">
              <a:solidFill>
                <a:srgbClr val="FFFFFF"/>
              </a:solidFill>
              <a:effectLst/>
              <a:highlight>
                <a:srgbClr val="0D0D0D"/>
              </a:highlight>
              <a:latin typeface="Söhne Mono"/>
            </a:endParaRPr>
          </a:p>
          <a:p>
            <a:pPr marL="36900" indent="0">
              <a:buNone/>
            </a:pPr>
            <a:endParaRPr lang="en-US" dirty="0"/>
          </a:p>
          <a:p>
            <a:endParaRPr lang="en-US" dirty="0"/>
          </a:p>
        </p:txBody>
      </p:sp>
      <p:sp>
        <p:nvSpPr>
          <p:cNvPr id="4" name="Rectangle 1">
            <a:extLst>
              <a:ext uri="{FF2B5EF4-FFF2-40B4-BE49-F238E27FC236}">
                <a16:creationId xmlns:a16="http://schemas.microsoft.com/office/drawing/2014/main" id="{C4229F5E-2FF6-FF05-C5CE-5EF8569A7A59}"/>
              </a:ext>
            </a:extLst>
          </p:cNvPr>
          <p:cNvSpPr txBox="1">
            <a:spLocks noChangeArrowheads="1"/>
          </p:cNvSpPr>
          <p:nvPr/>
        </p:nvSpPr>
        <p:spPr bwMode="auto">
          <a:xfrm>
            <a:off x="481781" y="1320271"/>
            <a:ext cx="10854813" cy="535223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200" dirty="0">
                <a:solidFill>
                  <a:srgbClr val="0000FF"/>
                </a:solidFill>
                <a:latin typeface="Cascadia Mono" panose="020B0609020000020004" pitchFamily="49" charset="0"/>
              </a:rPr>
              <a:t>&lt;</a:t>
            </a:r>
            <a:r>
              <a:rPr lang="en-US" sz="1200" b="1" dirty="0">
                <a:solidFill>
                  <a:srgbClr val="800080"/>
                </a:solidFill>
                <a:latin typeface="Cascadia Mono" panose="020B0609020000020004" pitchFamily="49" charset="0"/>
              </a:rPr>
              <a:t>EditForm</a:t>
            </a:r>
            <a:r>
              <a:rPr lang="en-US" sz="1200" b="0" dirty="0">
                <a:solidFill>
                  <a:srgbClr val="000000"/>
                </a:solidFill>
                <a:latin typeface="Cascadia Mono" panose="020B0609020000020004" pitchFamily="49" charset="0"/>
              </a:rPr>
              <a:t> </a:t>
            </a:r>
            <a:r>
              <a:rPr lang="en-US" sz="1200" b="1" dirty="0">
                <a:solidFill>
                  <a:srgbClr val="800080"/>
                </a:solidFill>
                <a:latin typeface="Cascadia Mono" panose="020B0609020000020004" pitchFamily="49" charset="0"/>
              </a:rPr>
              <a:t>Model</a:t>
            </a:r>
            <a:r>
              <a:rPr lang="en-US" sz="1200" b="0" dirty="0">
                <a:solidFill>
                  <a:srgbClr val="0000FF"/>
                </a:solidFill>
                <a:latin typeface="Cascadia Mono" panose="020B0609020000020004" pitchFamily="49" charset="0"/>
              </a:rPr>
              <a:t>="</a:t>
            </a:r>
            <a:r>
              <a:rPr lang="en-US" sz="1200" b="0" dirty="0">
                <a:solidFill>
                  <a:srgbClr val="000000"/>
                </a:solidFill>
                <a:latin typeface="Cascadia Mono" panose="020B0609020000020004" pitchFamily="49" charset="0"/>
              </a:rPr>
              <a:t>product</a:t>
            </a:r>
            <a:r>
              <a:rPr lang="en-US" sz="1200" b="0" dirty="0">
                <a:solidFill>
                  <a:srgbClr val="0000FF"/>
                </a:solidFill>
                <a:latin typeface="Cascadia Mono" panose="020B0609020000020004" pitchFamily="49" charset="0"/>
              </a:rPr>
              <a:t>"</a:t>
            </a:r>
            <a:r>
              <a:rPr lang="en-US" sz="1200" b="0" dirty="0">
                <a:solidFill>
                  <a:srgbClr val="000000"/>
                </a:solidFill>
                <a:latin typeface="Cascadia Mono" panose="020B0609020000020004" pitchFamily="49" charset="0"/>
              </a:rPr>
              <a:t> </a:t>
            </a:r>
            <a:r>
              <a:rPr lang="en-US" sz="1200" b="1" dirty="0" err="1">
                <a:solidFill>
                  <a:srgbClr val="800080"/>
                </a:solidFill>
                <a:latin typeface="Cascadia Mono" panose="020B0609020000020004" pitchFamily="49" charset="0"/>
              </a:rPr>
              <a:t>OnSubmit</a:t>
            </a:r>
            <a:r>
              <a:rPr lang="en-US" sz="1200" b="0" dirty="0">
                <a:solidFill>
                  <a:srgbClr val="0000FF"/>
                </a:solidFill>
                <a:latin typeface="Cascadia Mono" panose="020B0609020000020004" pitchFamily="49" charset="0"/>
              </a:rPr>
              <a:t>="</a:t>
            </a:r>
            <a:r>
              <a:rPr lang="en-US" sz="1200" b="0" dirty="0">
                <a:solidFill>
                  <a:srgbClr val="000000"/>
                </a:solidFill>
                <a:latin typeface="Cascadia Mono" panose="020B0609020000020004" pitchFamily="49" charset="0"/>
              </a:rPr>
              <a:t>Save</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div</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label</a:t>
            </a:r>
            <a:r>
              <a:rPr lang="en-US" sz="1200" b="0" dirty="0">
                <a:solidFill>
                  <a:srgbClr val="0000FF"/>
                </a:solidFill>
                <a:latin typeface="Cascadia Mono" panose="020B0609020000020004" pitchFamily="49" charset="0"/>
              </a:rPr>
              <a:t>&gt;</a:t>
            </a:r>
            <a:r>
              <a:rPr lang="en-US" sz="1200" b="0" dirty="0">
                <a:solidFill>
                  <a:srgbClr val="000000"/>
                </a:solidFill>
                <a:latin typeface="Cascadia Mono" panose="020B0609020000020004" pitchFamily="49" charset="0"/>
              </a:rPr>
              <a:t>Name</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label</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1" dirty="0">
                <a:solidFill>
                  <a:srgbClr val="800080"/>
                </a:solidFill>
                <a:latin typeface="Cascadia Mono" panose="020B0609020000020004" pitchFamily="49" charset="0"/>
              </a:rPr>
              <a:t>InputText</a:t>
            </a:r>
            <a:r>
              <a:rPr lang="en-US" sz="1200" b="0" dirty="0">
                <a:solidFill>
                  <a:srgbClr val="000000"/>
                </a:solidFill>
                <a:latin typeface="Cascadia Mono" panose="020B0609020000020004" pitchFamily="49" charset="0"/>
              </a:rPr>
              <a:t> </a:t>
            </a:r>
            <a:r>
              <a:rPr lang="en-US" sz="1200" b="0" dirty="0">
                <a:solidFill>
                  <a:srgbClr val="FF0000"/>
                </a:solidFill>
                <a:latin typeface="Cascadia Mono" panose="020B0609020000020004" pitchFamily="49" charset="0"/>
              </a:rPr>
              <a:t>class</a:t>
            </a:r>
            <a:r>
              <a:rPr lang="en-US" sz="1200" b="0" dirty="0">
                <a:solidFill>
                  <a:srgbClr val="0000FF"/>
                </a:solidFill>
                <a:latin typeface="Cascadia Mono" panose="020B0609020000020004" pitchFamily="49" charset="0"/>
              </a:rPr>
              <a:t>="form form-control"</a:t>
            </a:r>
            <a:r>
              <a:rPr lang="en-US" sz="1200" b="0" dirty="0">
                <a:solidFill>
                  <a:srgbClr val="000000"/>
                </a:solidFill>
                <a:latin typeface="Cascadia Mono" panose="020B0609020000020004" pitchFamily="49" charset="0"/>
              </a:rPr>
              <a:t> @</a:t>
            </a:r>
            <a:r>
              <a:rPr lang="en-US" sz="1200" b="0" dirty="0">
                <a:solidFill>
                  <a:srgbClr val="800080"/>
                </a:solidFill>
                <a:latin typeface="Cascadia Mono" panose="020B0609020000020004" pitchFamily="49" charset="0"/>
              </a:rPr>
              <a:t>bind-Value</a:t>
            </a:r>
            <a:r>
              <a:rPr lang="en-US" sz="1200" b="0" dirty="0">
                <a:solidFill>
                  <a:srgbClr val="0000FF"/>
                </a:solidFill>
                <a:latin typeface="Cascadia Mono" panose="020B0609020000020004" pitchFamily="49" charset="0"/>
              </a:rPr>
              <a:t>="</a:t>
            </a:r>
            <a:r>
              <a:rPr lang="en-US" sz="1200" b="0" dirty="0">
                <a:solidFill>
                  <a:srgbClr val="000000"/>
                </a:solidFill>
                <a:latin typeface="Cascadia Mono" panose="020B0609020000020004" pitchFamily="49" charset="0"/>
              </a:rPr>
              <a:t>product.Name</a:t>
            </a:r>
            <a:r>
              <a:rPr lang="en-US" sz="1200" b="0" dirty="0">
                <a:solidFill>
                  <a:srgbClr val="0000FF"/>
                </a:solidFill>
                <a:latin typeface="Cascadia Mono" panose="020B0609020000020004" pitchFamily="49" charset="0"/>
              </a:rPr>
              <a:t>"&gt;&lt;/</a:t>
            </a:r>
            <a:r>
              <a:rPr lang="en-US" sz="1200" b="1" dirty="0">
                <a:solidFill>
                  <a:srgbClr val="800080"/>
                </a:solidFill>
                <a:latin typeface="Cascadia Mono" panose="020B0609020000020004" pitchFamily="49" charset="0"/>
              </a:rPr>
              <a:t>InputText</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div</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div</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label</a:t>
            </a:r>
            <a:r>
              <a:rPr lang="en-US" sz="1200" b="0" dirty="0">
                <a:solidFill>
                  <a:srgbClr val="0000FF"/>
                </a:solidFill>
                <a:latin typeface="Cascadia Mono" panose="020B0609020000020004" pitchFamily="49" charset="0"/>
              </a:rPr>
              <a:t>&gt;</a:t>
            </a:r>
            <a:r>
              <a:rPr lang="en-US" sz="1200" b="0" dirty="0">
                <a:solidFill>
                  <a:srgbClr val="000000"/>
                </a:solidFill>
                <a:latin typeface="Cascadia Mono" panose="020B0609020000020004" pitchFamily="49" charset="0"/>
              </a:rPr>
              <a:t>Price</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label</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1" dirty="0" err="1">
                <a:solidFill>
                  <a:srgbClr val="800080"/>
                </a:solidFill>
                <a:latin typeface="Cascadia Mono" panose="020B0609020000020004" pitchFamily="49" charset="0"/>
              </a:rPr>
              <a:t>InputNumber</a:t>
            </a:r>
            <a:r>
              <a:rPr lang="en-US" sz="1200" b="0" dirty="0">
                <a:solidFill>
                  <a:srgbClr val="000000"/>
                </a:solidFill>
                <a:latin typeface="Cascadia Mono" panose="020B0609020000020004" pitchFamily="49" charset="0"/>
              </a:rPr>
              <a:t> </a:t>
            </a:r>
            <a:r>
              <a:rPr lang="en-US" sz="1200" b="0" dirty="0">
                <a:solidFill>
                  <a:srgbClr val="FF0000"/>
                </a:solidFill>
                <a:latin typeface="Cascadia Mono" panose="020B0609020000020004" pitchFamily="49" charset="0"/>
              </a:rPr>
              <a:t>class</a:t>
            </a:r>
            <a:r>
              <a:rPr lang="en-US" sz="1200" b="0" dirty="0">
                <a:solidFill>
                  <a:srgbClr val="0000FF"/>
                </a:solidFill>
                <a:latin typeface="Cascadia Mono" panose="020B0609020000020004" pitchFamily="49" charset="0"/>
              </a:rPr>
              <a:t>="form form-control"</a:t>
            </a:r>
            <a:r>
              <a:rPr lang="en-US" sz="1200" b="0" dirty="0">
                <a:solidFill>
                  <a:srgbClr val="000000"/>
                </a:solidFill>
                <a:latin typeface="Cascadia Mono" panose="020B0609020000020004" pitchFamily="49" charset="0"/>
              </a:rPr>
              <a:t> @</a:t>
            </a:r>
            <a:r>
              <a:rPr lang="en-US" sz="1200" b="0" dirty="0">
                <a:solidFill>
                  <a:srgbClr val="800080"/>
                </a:solidFill>
                <a:latin typeface="Cascadia Mono" panose="020B0609020000020004" pitchFamily="49" charset="0"/>
              </a:rPr>
              <a:t>bind-Value</a:t>
            </a:r>
            <a:r>
              <a:rPr lang="en-US" sz="1200" b="0" dirty="0">
                <a:solidFill>
                  <a:srgbClr val="0000FF"/>
                </a:solidFill>
                <a:latin typeface="Cascadia Mono" panose="020B0609020000020004" pitchFamily="49" charset="0"/>
              </a:rPr>
              <a:t>="</a:t>
            </a:r>
            <a:r>
              <a:rPr lang="en-US" sz="1200" b="0" dirty="0">
                <a:solidFill>
                  <a:srgbClr val="000000"/>
                </a:solidFill>
                <a:latin typeface="Cascadia Mono" panose="020B0609020000020004" pitchFamily="49" charset="0"/>
              </a:rPr>
              <a:t>product.Price</a:t>
            </a:r>
            <a:r>
              <a:rPr lang="en-US" sz="1200" b="0" dirty="0">
                <a:solidFill>
                  <a:srgbClr val="0000FF"/>
                </a:solidFill>
                <a:latin typeface="Cascadia Mono" panose="020B0609020000020004" pitchFamily="49" charset="0"/>
              </a:rPr>
              <a:t>"&gt;&lt;/</a:t>
            </a:r>
            <a:r>
              <a:rPr lang="en-US" sz="1200" b="1" dirty="0">
                <a:solidFill>
                  <a:srgbClr val="800080"/>
                </a:solidFill>
                <a:latin typeface="Cascadia Mono" panose="020B0609020000020004" pitchFamily="49" charset="0"/>
              </a:rPr>
              <a:t>InputNumber</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div</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div</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label</a:t>
            </a:r>
            <a:r>
              <a:rPr lang="en-US" sz="1200" b="0" dirty="0">
                <a:solidFill>
                  <a:srgbClr val="0000FF"/>
                </a:solidFill>
                <a:latin typeface="Cascadia Mono" panose="020B0609020000020004" pitchFamily="49" charset="0"/>
              </a:rPr>
              <a:t>&gt;</a:t>
            </a:r>
            <a:r>
              <a:rPr lang="en-US" sz="1200" b="0" dirty="0">
                <a:solidFill>
                  <a:srgbClr val="000000"/>
                </a:solidFill>
                <a:latin typeface="Cascadia Mono" panose="020B0609020000020004" pitchFamily="49" charset="0"/>
              </a:rPr>
              <a:t>category</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label</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1" dirty="0" err="1">
                <a:solidFill>
                  <a:srgbClr val="800080"/>
                </a:solidFill>
                <a:latin typeface="Cascadia Mono" panose="020B0609020000020004" pitchFamily="49" charset="0"/>
              </a:rPr>
              <a:t>InputSelect</a:t>
            </a:r>
            <a:r>
              <a:rPr lang="en-US" sz="1200" b="0" dirty="0">
                <a:solidFill>
                  <a:srgbClr val="000000"/>
                </a:solidFill>
                <a:latin typeface="Cascadia Mono" panose="020B0609020000020004" pitchFamily="49" charset="0"/>
              </a:rPr>
              <a:t> </a:t>
            </a:r>
            <a:r>
              <a:rPr lang="en-US" sz="1200" b="0" dirty="0">
                <a:solidFill>
                  <a:srgbClr val="FF0000"/>
                </a:solidFill>
                <a:latin typeface="Cascadia Mono" panose="020B0609020000020004" pitchFamily="49" charset="0"/>
              </a:rPr>
              <a:t>class</a:t>
            </a:r>
            <a:r>
              <a:rPr lang="en-US" sz="1200" b="0" dirty="0">
                <a:solidFill>
                  <a:srgbClr val="0000FF"/>
                </a:solidFill>
                <a:latin typeface="Cascadia Mono" panose="020B0609020000020004" pitchFamily="49" charset="0"/>
              </a:rPr>
              <a:t>="form form-control"</a:t>
            </a:r>
            <a:r>
              <a:rPr lang="en-US" sz="1200" b="0" dirty="0">
                <a:solidFill>
                  <a:srgbClr val="000000"/>
                </a:solidFill>
                <a:latin typeface="Cascadia Mono" panose="020B0609020000020004" pitchFamily="49" charset="0"/>
              </a:rPr>
              <a:t> @</a:t>
            </a:r>
            <a:r>
              <a:rPr lang="en-US" sz="1200" b="0" dirty="0">
                <a:solidFill>
                  <a:srgbClr val="800080"/>
                </a:solidFill>
                <a:latin typeface="Cascadia Mono" panose="020B0609020000020004" pitchFamily="49" charset="0"/>
              </a:rPr>
              <a:t>bind-Value</a:t>
            </a:r>
            <a:r>
              <a:rPr lang="en-US" sz="1200" b="0" dirty="0">
                <a:solidFill>
                  <a:srgbClr val="0000FF"/>
                </a:solidFill>
                <a:latin typeface="Cascadia Mono" panose="020B0609020000020004" pitchFamily="49" charset="0"/>
              </a:rPr>
              <a:t>="</a:t>
            </a:r>
            <a:r>
              <a:rPr lang="en-US" sz="1200" b="0" dirty="0">
                <a:solidFill>
                  <a:srgbClr val="000000"/>
                </a:solidFill>
                <a:latin typeface="Cascadia Mono" panose="020B0609020000020004" pitchFamily="49" charset="0"/>
              </a:rPr>
              <a:t>product.CatId</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foreach</a:t>
            </a: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var</a:t>
            </a:r>
            <a:r>
              <a:rPr lang="en-US" sz="1200" b="0" dirty="0">
                <a:solidFill>
                  <a:srgbClr val="000000"/>
                </a:solidFill>
                <a:latin typeface="Cascadia Mono" panose="020B0609020000020004" pitchFamily="49" charset="0"/>
              </a:rPr>
              <a:t> cat </a:t>
            </a:r>
            <a:r>
              <a:rPr lang="en-US" sz="1200" b="0" dirty="0">
                <a:solidFill>
                  <a:srgbClr val="0000FF"/>
                </a:solidFill>
                <a:latin typeface="Cascadia Mono" panose="020B0609020000020004" pitchFamily="49" charset="0"/>
              </a:rPr>
              <a:t>in</a:t>
            </a:r>
            <a:r>
              <a:rPr lang="en-US" sz="1200" b="0" dirty="0">
                <a:solidFill>
                  <a:srgbClr val="000000"/>
                </a:solidFill>
                <a:latin typeface="Cascadia Mono" panose="020B0609020000020004" pitchFamily="49" charset="0"/>
              </a:rPr>
              <a:t> categories)</a:t>
            </a:r>
          </a:p>
          <a:p>
            <a:pPr marL="36900" indent="0">
              <a:buNone/>
            </a:pPr>
            <a:r>
              <a:rPr lang="fr-FR" sz="1200" b="0" dirty="0">
                <a:solidFill>
                  <a:srgbClr val="000000"/>
                </a:solidFill>
                <a:latin typeface="Cascadia Mono" panose="020B0609020000020004" pitchFamily="49" charset="0"/>
              </a:rPr>
              <a:t>            { </a:t>
            </a:r>
            <a:r>
              <a:rPr lang="fr-FR" sz="1200" b="0" dirty="0">
                <a:solidFill>
                  <a:srgbClr val="0000FF"/>
                </a:solidFill>
                <a:latin typeface="Cascadia Mono" panose="020B0609020000020004" pitchFamily="49" charset="0"/>
              </a:rPr>
              <a:t>&lt;</a:t>
            </a:r>
            <a:r>
              <a:rPr lang="fr-FR" sz="1200" b="0" dirty="0">
                <a:solidFill>
                  <a:srgbClr val="800000"/>
                </a:solidFill>
                <a:latin typeface="Cascadia Mono" panose="020B0609020000020004" pitchFamily="49" charset="0"/>
              </a:rPr>
              <a:t>option</a:t>
            </a:r>
            <a:r>
              <a:rPr lang="fr-FR" sz="1200" b="0" dirty="0">
                <a:solidFill>
                  <a:srgbClr val="000000"/>
                </a:solidFill>
                <a:latin typeface="Cascadia Mono" panose="020B0609020000020004" pitchFamily="49" charset="0"/>
              </a:rPr>
              <a:t> </a:t>
            </a:r>
            <a:r>
              <a:rPr lang="fr-FR" sz="1200" b="0" dirty="0">
                <a:solidFill>
                  <a:srgbClr val="FF0000"/>
                </a:solidFill>
                <a:latin typeface="Cascadia Mono" panose="020B0609020000020004" pitchFamily="49" charset="0"/>
              </a:rPr>
              <a:t>value</a:t>
            </a:r>
            <a:r>
              <a:rPr lang="fr-FR" sz="1200" b="0" dirty="0">
                <a:solidFill>
                  <a:srgbClr val="0000FF"/>
                </a:solidFill>
                <a:latin typeface="Cascadia Mono" panose="020B0609020000020004" pitchFamily="49" charset="0"/>
              </a:rPr>
              <a:t>="</a:t>
            </a:r>
            <a:r>
              <a:rPr lang="fr-FR" sz="1200" b="0" dirty="0">
                <a:solidFill>
                  <a:srgbClr val="000000"/>
                </a:solidFill>
                <a:latin typeface="Cascadia Mono" panose="020B0609020000020004" pitchFamily="49" charset="0"/>
              </a:rPr>
              <a:t>@</a:t>
            </a:r>
            <a:r>
              <a:rPr lang="fr-FR" sz="1200" b="0" dirty="0" err="1">
                <a:solidFill>
                  <a:srgbClr val="000000"/>
                </a:solidFill>
                <a:latin typeface="Cascadia Mono" panose="020B0609020000020004" pitchFamily="49" charset="0"/>
              </a:rPr>
              <a:t>cat.Id</a:t>
            </a:r>
            <a:r>
              <a:rPr lang="fr-FR" sz="1200" b="0" dirty="0">
                <a:solidFill>
                  <a:srgbClr val="0000FF"/>
                </a:solidFill>
                <a:latin typeface="Cascadia Mono" panose="020B0609020000020004" pitchFamily="49" charset="0"/>
              </a:rPr>
              <a:t>"&gt;</a:t>
            </a:r>
            <a:r>
              <a:rPr lang="fr-FR" sz="1200" b="0" dirty="0">
                <a:solidFill>
                  <a:srgbClr val="000000"/>
                </a:solidFill>
                <a:latin typeface="Cascadia Mono" panose="020B0609020000020004" pitchFamily="49" charset="0"/>
              </a:rPr>
              <a:t>@cat.Name</a:t>
            </a:r>
            <a:r>
              <a:rPr lang="fr-FR" sz="1200" b="0" dirty="0">
                <a:solidFill>
                  <a:srgbClr val="0000FF"/>
                </a:solidFill>
                <a:latin typeface="Cascadia Mono" panose="020B0609020000020004" pitchFamily="49" charset="0"/>
              </a:rPr>
              <a:t>&lt;/</a:t>
            </a:r>
            <a:r>
              <a:rPr lang="fr-FR" sz="1200" b="0" dirty="0">
                <a:solidFill>
                  <a:srgbClr val="800000"/>
                </a:solidFill>
                <a:latin typeface="Cascadia Mono" panose="020B0609020000020004" pitchFamily="49" charset="0"/>
              </a:rPr>
              <a:t>option</a:t>
            </a:r>
            <a:r>
              <a:rPr lang="fr-FR" sz="1200" b="0" dirty="0">
                <a:solidFill>
                  <a:srgbClr val="0000FF"/>
                </a:solidFill>
                <a:latin typeface="Cascadia Mono" panose="020B0609020000020004" pitchFamily="49" charset="0"/>
              </a:rPr>
              <a:t>&gt;</a:t>
            </a:r>
            <a:r>
              <a:rPr lang="fr-FR" sz="1200" b="0" dirty="0">
                <a:solidFill>
                  <a:srgbClr val="000000"/>
                </a:solidFill>
                <a:latin typeface="Cascadia Mono" panose="020B0609020000020004" pitchFamily="49" charset="0"/>
              </a:rPr>
              <a:t>}</a:t>
            </a: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1" dirty="0" err="1">
                <a:solidFill>
                  <a:srgbClr val="800080"/>
                </a:solidFill>
                <a:latin typeface="Cascadia Mono" panose="020B0609020000020004" pitchFamily="49" charset="0"/>
              </a:rPr>
              <a:t>InputSelect</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div</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00"/>
                </a:solidFill>
                <a:latin typeface="Cascadia Mono" panose="020B0609020000020004" pitchFamily="49" charset="0"/>
              </a:rPr>
              <a:t>    </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button</a:t>
            </a:r>
            <a:r>
              <a:rPr lang="en-US" sz="1200" b="0" dirty="0">
                <a:solidFill>
                  <a:srgbClr val="000000"/>
                </a:solidFill>
                <a:latin typeface="Cascadia Mono" panose="020B0609020000020004" pitchFamily="49" charset="0"/>
              </a:rPr>
              <a:t> </a:t>
            </a:r>
            <a:r>
              <a:rPr lang="en-US" sz="1200" b="0" dirty="0">
                <a:solidFill>
                  <a:srgbClr val="FF0000"/>
                </a:solidFill>
                <a:latin typeface="Cascadia Mono" panose="020B0609020000020004" pitchFamily="49" charset="0"/>
              </a:rPr>
              <a:t>class</a:t>
            </a:r>
            <a:r>
              <a:rPr lang="en-US" sz="1200" b="0" dirty="0">
                <a:solidFill>
                  <a:srgbClr val="0000FF"/>
                </a:solidFill>
                <a:latin typeface="Cascadia Mono" panose="020B0609020000020004" pitchFamily="49" charset="0"/>
              </a:rPr>
              <a:t>="</a:t>
            </a:r>
            <a:r>
              <a:rPr lang="en-US" sz="1200" b="0" dirty="0" err="1">
                <a:solidFill>
                  <a:srgbClr val="0000FF"/>
                </a:solidFill>
                <a:latin typeface="Cascadia Mono" panose="020B0609020000020004" pitchFamily="49" charset="0"/>
              </a:rPr>
              <a:t>btn</a:t>
            </a:r>
            <a:r>
              <a:rPr lang="en-US" sz="1200" b="0" dirty="0">
                <a:solidFill>
                  <a:srgbClr val="0000FF"/>
                </a:solidFill>
                <a:latin typeface="Cascadia Mono" panose="020B0609020000020004" pitchFamily="49" charset="0"/>
              </a:rPr>
              <a:t> </a:t>
            </a:r>
            <a:r>
              <a:rPr lang="en-US" sz="1200" b="0" dirty="0" err="1">
                <a:solidFill>
                  <a:srgbClr val="0000FF"/>
                </a:solidFill>
                <a:latin typeface="Cascadia Mono" panose="020B0609020000020004" pitchFamily="49" charset="0"/>
              </a:rPr>
              <a:t>btn</a:t>
            </a:r>
            <a:r>
              <a:rPr lang="en-US" sz="1200" b="0" dirty="0">
                <a:solidFill>
                  <a:srgbClr val="0000FF"/>
                </a:solidFill>
                <a:latin typeface="Cascadia Mono" panose="020B0609020000020004" pitchFamily="49" charset="0"/>
              </a:rPr>
              <a:t>-success"&gt;</a:t>
            </a:r>
            <a:r>
              <a:rPr lang="en-US" sz="1200" b="0" dirty="0">
                <a:solidFill>
                  <a:srgbClr val="000000"/>
                </a:solidFill>
                <a:latin typeface="Cascadia Mono" panose="020B0609020000020004" pitchFamily="49" charset="0"/>
              </a:rPr>
              <a:t>Save changes</a:t>
            </a:r>
            <a:r>
              <a:rPr lang="en-US" sz="1200" b="0" dirty="0">
                <a:solidFill>
                  <a:srgbClr val="0000FF"/>
                </a:solidFill>
                <a:latin typeface="Cascadia Mono" panose="020B0609020000020004" pitchFamily="49" charset="0"/>
              </a:rPr>
              <a:t>&lt;/</a:t>
            </a:r>
            <a:r>
              <a:rPr lang="en-US" sz="1200" b="0" dirty="0">
                <a:solidFill>
                  <a:srgbClr val="800000"/>
                </a:solidFill>
                <a:latin typeface="Cascadia Mono" panose="020B0609020000020004" pitchFamily="49" charset="0"/>
              </a:rPr>
              <a:t>button</a:t>
            </a:r>
            <a:r>
              <a:rPr lang="en-US" sz="1200" b="0" dirty="0">
                <a:solidFill>
                  <a:srgbClr val="0000FF"/>
                </a:solidFill>
                <a:latin typeface="Cascadia Mono" panose="020B0609020000020004" pitchFamily="49" charset="0"/>
              </a:rPr>
              <a:t>&gt;</a:t>
            </a:r>
            <a:endParaRPr lang="en-US" sz="1200" b="0" dirty="0">
              <a:solidFill>
                <a:srgbClr val="000000"/>
              </a:solidFill>
              <a:latin typeface="Cascadia Mono" panose="020B0609020000020004" pitchFamily="49" charset="0"/>
            </a:endParaRPr>
          </a:p>
          <a:p>
            <a:pPr marL="36900" indent="0">
              <a:buNone/>
            </a:pPr>
            <a:r>
              <a:rPr lang="en-US" sz="1200" b="0" dirty="0">
                <a:solidFill>
                  <a:srgbClr val="0000FF"/>
                </a:solidFill>
                <a:latin typeface="Cascadia Mono" panose="020B0609020000020004" pitchFamily="49" charset="0"/>
              </a:rPr>
              <a:t>&lt;/</a:t>
            </a:r>
            <a:r>
              <a:rPr lang="en-US" sz="1200" b="1" dirty="0">
                <a:solidFill>
                  <a:srgbClr val="800080"/>
                </a:solidFill>
                <a:latin typeface="Cascadia Mono" panose="020B0609020000020004" pitchFamily="49" charset="0"/>
              </a:rPr>
              <a:t>EditForm</a:t>
            </a:r>
            <a:r>
              <a:rPr lang="en-US" sz="1200" b="0" dirty="0">
                <a:solidFill>
                  <a:srgbClr val="0000FF"/>
                </a:solidFill>
                <a:latin typeface="Cascadia Mono" panose="020B0609020000020004" pitchFamily="49" charset="0"/>
              </a:rPr>
              <a:t>&gt;</a:t>
            </a:r>
            <a:endParaRPr lang="en-US" sz="10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739383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A89A3-5E1A-033B-F42B-96C3B5432240}"/>
              </a:ext>
            </a:extLst>
          </p:cNvPr>
          <p:cNvSpPr>
            <a:spLocks noGrp="1"/>
          </p:cNvSpPr>
          <p:nvPr>
            <p:ph type="title"/>
          </p:nvPr>
        </p:nvSpPr>
        <p:spPr>
          <a:xfrm>
            <a:off x="913795" y="0"/>
            <a:ext cx="10353762" cy="609600"/>
          </a:xfrm>
        </p:spPr>
        <p:txBody>
          <a:bodyPr>
            <a:normAutofit fontScale="90000"/>
          </a:bodyPr>
          <a:lstStyle/>
          <a:p>
            <a:r>
              <a:rPr lang="en-US" dirty="0"/>
              <a:t>Form validation</a:t>
            </a:r>
          </a:p>
        </p:txBody>
      </p:sp>
      <p:sp>
        <p:nvSpPr>
          <p:cNvPr id="3" name="Content Placeholder 2">
            <a:extLst>
              <a:ext uri="{FF2B5EF4-FFF2-40B4-BE49-F238E27FC236}">
                <a16:creationId xmlns:a16="http://schemas.microsoft.com/office/drawing/2014/main" id="{6C9E690C-BC79-B0D9-8BA7-769C139B4DD7}"/>
              </a:ext>
            </a:extLst>
          </p:cNvPr>
          <p:cNvSpPr>
            <a:spLocks noGrp="1"/>
          </p:cNvSpPr>
          <p:nvPr>
            <p:ph idx="1"/>
          </p:nvPr>
        </p:nvSpPr>
        <p:spPr>
          <a:xfrm>
            <a:off x="226142" y="609600"/>
            <a:ext cx="11838039" cy="6164826"/>
          </a:xfrm>
        </p:spPr>
        <p:txBody>
          <a:bodyPr>
            <a:normAutofit/>
          </a:bodyPr>
          <a:lstStyle/>
          <a:p>
            <a:r>
              <a:rPr lang="en-US" sz="1800" dirty="0">
                <a:solidFill>
                  <a:schemeClr val="tx1"/>
                </a:solidFill>
                <a:latin typeface="Cascadia Mono" panose="020B0609020000020004" pitchFamily="49" charset="0"/>
              </a:rPr>
              <a:t>using </a:t>
            </a:r>
            <a:r>
              <a:rPr lang="en-US" sz="1800" dirty="0" err="1">
                <a:solidFill>
                  <a:schemeClr val="tx1"/>
                </a:solidFill>
                <a:latin typeface="Cascadia Mono" panose="020B0609020000020004" pitchFamily="49" charset="0"/>
              </a:rPr>
              <a:t>System.ComponentModel.DataAnnotations</a:t>
            </a:r>
            <a:r>
              <a:rPr lang="en-US" sz="1800" dirty="0">
                <a:solidFill>
                  <a:schemeClr val="tx1"/>
                </a:solidFill>
                <a:latin typeface="Cascadia Mono" panose="020B0609020000020004" pitchFamily="49" charset="0"/>
              </a:rPr>
              <a:t>;</a:t>
            </a:r>
          </a:p>
          <a:p>
            <a:r>
              <a:rPr lang="en-US" sz="1800" dirty="0">
                <a:solidFill>
                  <a:schemeClr val="tx1"/>
                </a:solidFill>
                <a:latin typeface="Cascadia Mono" panose="020B0609020000020004" pitchFamily="49" charset="0"/>
              </a:rPr>
              <a:t>[Required(ErrorMessage = "product name is required")]</a:t>
            </a:r>
          </a:p>
          <a:p>
            <a:r>
              <a:rPr lang="en-US" sz="1800" dirty="0">
                <a:solidFill>
                  <a:schemeClr val="tx1"/>
                </a:solidFill>
                <a:latin typeface="Cascadia Mono" panose="020B0609020000020004" pitchFamily="49" charset="0"/>
              </a:rPr>
              <a:t>[MinLength(3, ErrorMessage ="length must be at least 3")]</a:t>
            </a:r>
          </a:p>
          <a:p>
            <a:r>
              <a:rPr lang="en-US" sz="1800" dirty="0">
                <a:solidFill>
                  <a:schemeClr val="tx1"/>
                </a:solidFill>
                <a:latin typeface="Cascadia Mono" panose="020B0609020000020004" pitchFamily="49" charset="0"/>
              </a:rPr>
              <a:t>[</a:t>
            </a:r>
            <a:r>
              <a:rPr lang="en-US" sz="1800" dirty="0" err="1">
                <a:solidFill>
                  <a:schemeClr val="tx1"/>
                </a:solidFill>
                <a:latin typeface="Cascadia Mono" panose="020B0609020000020004" pitchFamily="49" charset="0"/>
              </a:rPr>
              <a:t>RegularExpression</a:t>
            </a:r>
            <a:r>
              <a:rPr lang="en-US" sz="1800" dirty="0">
                <a:solidFill>
                  <a:schemeClr val="tx1"/>
                </a:solidFill>
                <a:latin typeface="Cascadia Mono" panose="020B0609020000020004" pitchFamily="49" charset="0"/>
              </a:rPr>
              <a:t>("^[1-9][0-9]*$", ErrorMessage ="choose category"),]</a:t>
            </a:r>
          </a:p>
          <a:p>
            <a:r>
              <a:rPr lang="en-US" sz="1800" dirty="0">
                <a:solidFill>
                  <a:schemeClr val="tx1"/>
                </a:solidFill>
                <a:latin typeface="Cascadia Mono" panose="020B0609020000020004" pitchFamily="49" charset="0"/>
              </a:rPr>
              <a:t>[Range(10, 1000,ErrorMessage ="price must be between 10 and 1000")]</a:t>
            </a:r>
          </a:p>
          <a:p>
            <a:r>
              <a:rPr lang="en-US" dirty="0">
                <a:solidFill>
                  <a:schemeClr val="tx1"/>
                </a:solidFill>
              </a:rPr>
              <a:t>To active the validation feature </a:t>
            </a:r>
            <a:r>
              <a:rPr lang="en-US" dirty="0">
                <a:solidFill>
                  <a:schemeClr val="tx1"/>
                </a:solidFill>
                <a:sym typeface="Wingdings" panose="05000000000000000000" pitchFamily="2" charset="2"/>
              </a:rPr>
              <a:t> inside </a:t>
            </a:r>
            <a:r>
              <a:rPr lang="en-US" dirty="0" err="1">
                <a:solidFill>
                  <a:schemeClr val="tx1"/>
                </a:solidFill>
                <a:sym typeface="Wingdings" panose="05000000000000000000" pitchFamily="2" charset="2"/>
              </a:rPr>
              <a:t>EditForm</a:t>
            </a:r>
            <a:r>
              <a:rPr lang="en-US" dirty="0">
                <a:solidFill>
                  <a:schemeClr val="tx1"/>
                </a:solidFill>
                <a:sym typeface="Wingdings" panose="05000000000000000000" pitchFamily="2" charset="2"/>
              </a:rPr>
              <a:t> Element</a:t>
            </a:r>
          </a:p>
          <a:p>
            <a:pPr lvl="1"/>
            <a:r>
              <a:rPr lang="en-US" sz="1800" dirty="0">
                <a:solidFill>
                  <a:srgbClr val="0070C0"/>
                </a:solidFill>
                <a:latin typeface="Cascadia Mono" panose="020B0609020000020004" pitchFamily="49" charset="0"/>
              </a:rPr>
              <a:t>&lt;</a:t>
            </a:r>
            <a:r>
              <a:rPr lang="en-US" sz="1800" b="1" dirty="0" err="1">
                <a:solidFill>
                  <a:srgbClr val="0070C0"/>
                </a:solidFill>
                <a:latin typeface="Cascadia Mono" panose="020B0609020000020004" pitchFamily="49" charset="0"/>
              </a:rPr>
              <a:t>DataAnnotationsValidator</a:t>
            </a:r>
            <a:r>
              <a:rPr lang="en-US" sz="1800" b="0" dirty="0">
                <a:solidFill>
                  <a:srgbClr val="0070C0"/>
                </a:solidFill>
                <a:latin typeface="Cascadia Mono" panose="020B0609020000020004" pitchFamily="49" charset="0"/>
              </a:rPr>
              <a:t>&gt;&lt;/</a:t>
            </a:r>
            <a:r>
              <a:rPr lang="en-US" sz="1800" b="1" dirty="0" err="1">
                <a:solidFill>
                  <a:srgbClr val="0070C0"/>
                </a:solidFill>
                <a:latin typeface="Cascadia Mono" panose="020B0609020000020004" pitchFamily="49" charset="0"/>
              </a:rPr>
              <a:t>DataAnnotationsValidator</a:t>
            </a:r>
            <a:r>
              <a:rPr lang="en-US" sz="1800" b="0" dirty="0">
                <a:solidFill>
                  <a:srgbClr val="0070C0"/>
                </a:solidFill>
                <a:latin typeface="Cascadia Mono" panose="020B0609020000020004" pitchFamily="49" charset="0"/>
              </a:rPr>
              <a:t>&gt;</a:t>
            </a:r>
            <a:r>
              <a:rPr lang="ar-EG" sz="1800" b="0" dirty="0">
                <a:solidFill>
                  <a:srgbClr val="0070C0"/>
                </a:solidFill>
                <a:latin typeface="Cascadia Mono" panose="020B0609020000020004" pitchFamily="49" charset="0"/>
              </a:rPr>
              <a:t>   </a:t>
            </a:r>
            <a:r>
              <a:rPr lang="en-US" dirty="0">
                <a:solidFill>
                  <a:srgbClr val="0070C0"/>
                </a:solidFill>
                <a:latin typeface="Cascadia Mono" panose="020B0609020000020004" pitchFamily="49" charset="0"/>
              </a:rPr>
              <a:t> //</a:t>
            </a:r>
            <a:r>
              <a:rPr lang="en-US" sz="1600" dirty="0">
                <a:solidFill>
                  <a:srgbClr val="0070C0"/>
                </a:solidFill>
                <a:latin typeface="Cascadia Mono" panose="020B0609020000020004" pitchFamily="49" charset="0"/>
              </a:rPr>
              <a:t>it show only client message</a:t>
            </a:r>
            <a:endParaRPr lang="en-US" dirty="0">
              <a:solidFill>
                <a:srgbClr val="0070C0"/>
              </a:solidFill>
              <a:sym typeface="Wingdings" panose="05000000000000000000" pitchFamily="2" charset="2"/>
            </a:endParaRPr>
          </a:p>
          <a:p>
            <a:r>
              <a:rPr lang="en-US" dirty="0">
                <a:solidFill>
                  <a:schemeClr val="tx1"/>
                </a:solidFill>
              </a:rPr>
              <a:t> to show the validation error message</a:t>
            </a:r>
          </a:p>
          <a:p>
            <a:pPr marL="36900" indent="0">
              <a:buNone/>
            </a:pPr>
            <a:r>
              <a:rPr lang="en-US" sz="1800" dirty="0">
                <a:solidFill>
                  <a:srgbClr val="000000"/>
                </a:solidFill>
                <a:latin typeface="Cascadia Mono" panose="020B0609020000020004" pitchFamily="49" charset="0"/>
              </a:rPr>
              <a:t> </a:t>
            </a:r>
            <a:r>
              <a:rPr lang="en-US" sz="1800" dirty="0">
                <a:solidFill>
                  <a:schemeClr val="tx1"/>
                </a:solidFill>
                <a:latin typeface="Cascadia Mono" panose="020B0609020000020004" pitchFamily="49" charset="0"/>
              </a:rPr>
              <a:t>&lt;div&gt;</a:t>
            </a:r>
          </a:p>
          <a:p>
            <a:pPr marL="36900" indent="0">
              <a:buNone/>
            </a:pPr>
            <a:r>
              <a:rPr lang="en-US" sz="1800" dirty="0">
                <a:solidFill>
                  <a:schemeClr val="tx1"/>
                </a:solidFill>
                <a:latin typeface="Cascadia Mono" panose="020B0609020000020004" pitchFamily="49" charset="0"/>
              </a:rPr>
              <a:t>       </a:t>
            </a:r>
            <a:r>
              <a:rPr lang="en-US" sz="1800" b="1" dirty="0">
                <a:solidFill>
                  <a:schemeClr val="tx1"/>
                </a:solidFill>
                <a:latin typeface="Cascadia Mono" panose="020B0609020000020004" pitchFamily="49" charset="0"/>
              </a:rPr>
              <a:t>&lt;label&gt;Name&lt;/label&gt;</a:t>
            </a:r>
          </a:p>
          <a:p>
            <a:pPr marL="36900" indent="0">
              <a:buNone/>
            </a:pPr>
            <a:r>
              <a:rPr lang="en-US" sz="1800" dirty="0">
                <a:solidFill>
                  <a:schemeClr val="tx1"/>
                </a:solidFill>
                <a:latin typeface="Cascadia Mono" panose="020B0609020000020004" pitchFamily="49" charset="0"/>
              </a:rPr>
              <a:t>       &lt;</a:t>
            </a:r>
            <a:r>
              <a:rPr lang="en-US" sz="1800" b="1" dirty="0">
                <a:solidFill>
                  <a:schemeClr val="tx1"/>
                </a:solidFill>
                <a:latin typeface="Cascadia Mono" panose="020B0609020000020004" pitchFamily="49" charset="0"/>
              </a:rPr>
              <a:t>InputText</a:t>
            </a:r>
            <a:r>
              <a:rPr lang="en-US" sz="1800" b="0" dirty="0">
                <a:solidFill>
                  <a:schemeClr val="tx1"/>
                </a:solidFill>
                <a:latin typeface="Cascadia Mono" panose="020B0609020000020004" pitchFamily="49" charset="0"/>
              </a:rPr>
              <a:t> class="form form-control" @bind-Value="product.Name"&gt;&lt;/</a:t>
            </a:r>
            <a:r>
              <a:rPr lang="en-US" sz="1800" b="1" dirty="0">
                <a:solidFill>
                  <a:schemeClr val="tx1"/>
                </a:solidFill>
                <a:latin typeface="Cascadia Mono" panose="020B0609020000020004" pitchFamily="49" charset="0"/>
              </a:rPr>
              <a:t>InputText</a:t>
            </a:r>
            <a:r>
              <a:rPr lang="en-US" sz="1800" b="0" dirty="0">
                <a:solidFill>
                  <a:schemeClr val="tx1"/>
                </a:solidFill>
                <a:latin typeface="Cascadia Mono" panose="020B0609020000020004" pitchFamily="49" charset="0"/>
              </a:rPr>
              <a:t>&gt;</a:t>
            </a:r>
          </a:p>
          <a:p>
            <a:pPr marL="36900" indent="0">
              <a:buNone/>
            </a:pPr>
            <a:r>
              <a:rPr lang="en-US" sz="1800" b="0" dirty="0">
                <a:solidFill>
                  <a:schemeClr val="tx1"/>
                </a:solidFill>
                <a:latin typeface="Cascadia Mono" panose="020B0609020000020004" pitchFamily="49" charset="0"/>
              </a:rPr>
              <a:t>       &lt;</a:t>
            </a:r>
            <a:r>
              <a:rPr lang="en-US" sz="1800" b="1" dirty="0">
                <a:solidFill>
                  <a:schemeClr val="tx1"/>
                </a:solidFill>
                <a:latin typeface="Cascadia Mono" panose="020B0609020000020004" pitchFamily="49" charset="0"/>
              </a:rPr>
              <a:t>ValidationMessage</a:t>
            </a:r>
            <a:r>
              <a:rPr lang="en-US" sz="1800" b="0" dirty="0">
                <a:solidFill>
                  <a:schemeClr val="tx1"/>
                </a:solidFill>
                <a:latin typeface="Cascadia Mono" panose="020B0609020000020004" pitchFamily="49" charset="0"/>
              </a:rPr>
              <a:t> </a:t>
            </a:r>
            <a:r>
              <a:rPr lang="en-US" sz="1800" b="1" dirty="0">
                <a:solidFill>
                  <a:schemeClr val="tx1"/>
                </a:solidFill>
                <a:latin typeface="Cascadia Mono" panose="020B0609020000020004" pitchFamily="49" charset="0"/>
              </a:rPr>
              <a:t>For</a:t>
            </a:r>
            <a:r>
              <a:rPr lang="en-US" sz="1800" b="0" dirty="0">
                <a:solidFill>
                  <a:schemeClr val="tx1"/>
                </a:solidFill>
                <a:latin typeface="Cascadia Mono" panose="020B0609020000020004" pitchFamily="49" charset="0"/>
              </a:rPr>
              <a:t>="()=&gt;</a:t>
            </a:r>
            <a:r>
              <a:rPr lang="en-US" sz="1800" b="0" dirty="0" err="1">
                <a:solidFill>
                  <a:schemeClr val="tx1"/>
                </a:solidFill>
                <a:latin typeface="Cascadia Mono" panose="020B0609020000020004" pitchFamily="49" charset="0"/>
              </a:rPr>
              <a:t>product.Name</a:t>
            </a:r>
            <a:r>
              <a:rPr lang="en-US" sz="1800" b="0" dirty="0">
                <a:solidFill>
                  <a:schemeClr val="tx1"/>
                </a:solidFill>
                <a:latin typeface="Cascadia Mono" panose="020B0609020000020004" pitchFamily="49" charset="0"/>
              </a:rPr>
              <a:t>"&gt;&lt;/</a:t>
            </a:r>
            <a:r>
              <a:rPr lang="en-US" sz="1800" b="1" dirty="0">
                <a:solidFill>
                  <a:schemeClr val="tx1"/>
                </a:solidFill>
                <a:latin typeface="Cascadia Mono" panose="020B0609020000020004" pitchFamily="49" charset="0"/>
              </a:rPr>
              <a:t>ValidationMessage</a:t>
            </a:r>
            <a:r>
              <a:rPr lang="en-US" sz="1800" b="0" dirty="0">
                <a:solidFill>
                  <a:schemeClr val="tx1"/>
                </a:solidFill>
                <a:latin typeface="Cascadia Mono" panose="020B0609020000020004" pitchFamily="49" charset="0"/>
              </a:rPr>
              <a:t>&gt;</a:t>
            </a:r>
          </a:p>
          <a:p>
            <a:pPr marL="36900" indent="0">
              <a:buNone/>
            </a:pPr>
            <a:r>
              <a:rPr lang="en-US" sz="1800" b="0" dirty="0">
                <a:solidFill>
                  <a:schemeClr val="tx1"/>
                </a:solidFill>
                <a:latin typeface="Cascadia Mono" panose="020B0609020000020004" pitchFamily="49" charset="0"/>
              </a:rPr>
              <a:t>  &lt;/div&gt;</a:t>
            </a:r>
          </a:p>
          <a:p>
            <a:r>
              <a:rPr lang="en-US" sz="1800" dirty="0">
                <a:solidFill>
                  <a:schemeClr val="tx1"/>
                </a:solidFill>
                <a:latin typeface="Cascadia Mono" panose="020B0609020000020004" pitchFamily="49" charset="0"/>
              </a:rPr>
              <a:t>Also you can use </a:t>
            </a:r>
            <a:r>
              <a:rPr lang="en-US" sz="1800" dirty="0">
                <a:solidFill>
                  <a:srgbClr val="0000FF"/>
                </a:solidFill>
                <a:latin typeface="Cascadia Mono" panose="020B0609020000020004" pitchFamily="49" charset="0"/>
              </a:rPr>
              <a:t>&lt;</a:t>
            </a:r>
            <a:r>
              <a:rPr lang="en-US" sz="1800" b="1" dirty="0" err="1">
                <a:solidFill>
                  <a:srgbClr val="800080"/>
                </a:solidFill>
                <a:latin typeface="Cascadia Mono" panose="020B0609020000020004" pitchFamily="49" charset="0"/>
              </a:rPr>
              <a:t>ValidationSummary</a:t>
            </a:r>
            <a:r>
              <a:rPr lang="en-US" sz="1800" b="0" dirty="0">
                <a:solidFill>
                  <a:srgbClr val="0000FF"/>
                </a:solidFill>
                <a:latin typeface="Cascadia Mono" panose="020B0609020000020004" pitchFamily="49" charset="0"/>
              </a:rPr>
              <a:t>&gt;&lt;/</a:t>
            </a:r>
            <a:r>
              <a:rPr lang="en-US" sz="1800" b="1" dirty="0" err="1">
                <a:solidFill>
                  <a:srgbClr val="800080"/>
                </a:solidFill>
                <a:latin typeface="Cascadia Mono" panose="020B0609020000020004" pitchFamily="49" charset="0"/>
              </a:rPr>
              <a:t>ValidationSummary</a:t>
            </a:r>
            <a:r>
              <a:rPr lang="en-US" sz="1800" b="0" dirty="0">
                <a:solidFill>
                  <a:srgbClr val="0000FF"/>
                </a:solidFill>
                <a:latin typeface="Cascadia Mono" panose="020B0609020000020004" pitchFamily="49" charset="0"/>
              </a:rPr>
              <a:t>&gt; </a:t>
            </a:r>
            <a:r>
              <a:rPr lang="en-US" sz="1800" dirty="0">
                <a:solidFill>
                  <a:schemeClr val="tx1"/>
                </a:solidFill>
                <a:latin typeface="Cascadia Mono" panose="020B0609020000020004" pitchFamily="49" charset="0"/>
              </a:rPr>
              <a:t>to list the error a the top of the form</a:t>
            </a:r>
          </a:p>
        </p:txBody>
      </p:sp>
    </p:spTree>
    <p:extLst>
      <p:ext uri="{BB962C8B-B14F-4D97-AF65-F5344CB8AC3E}">
        <p14:creationId xmlns:p14="http://schemas.microsoft.com/office/powerpoint/2010/main" val="11889466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F1D4-10A3-8327-AC06-94DCD58C962D}"/>
              </a:ext>
            </a:extLst>
          </p:cNvPr>
          <p:cNvSpPr>
            <a:spLocks noGrp="1"/>
          </p:cNvSpPr>
          <p:nvPr>
            <p:ph type="title"/>
          </p:nvPr>
        </p:nvSpPr>
        <p:spPr>
          <a:xfrm>
            <a:off x="913795" y="0"/>
            <a:ext cx="10353762" cy="530942"/>
          </a:xfrm>
        </p:spPr>
        <p:txBody>
          <a:bodyPr>
            <a:normAutofit fontScale="90000"/>
          </a:bodyPr>
          <a:lstStyle/>
          <a:p>
            <a:r>
              <a:rPr lang="en-US" dirty="0"/>
              <a:t>navigation</a:t>
            </a:r>
          </a:p>
        </p:txBody>
      </p:sp>
      <p:sp>
        <p:nvSpPr>
          <p:cNvPr id="3" name="Content Placeholder 2">
            <a:extLst>
              <a:ext uri="{FF2B5EF4-FFF2-40B4-BE49-F238E27FC236}">
                <a16:creationId xmlns:a16="http://schemas.microsoft.com/office/drawing/2014/main" id="{4E2F47AB-A50E-078A-4A31-5D3D77C6999F}"/>
              </a:ext>
            </a:extLst>
          </p:cNvPr>
          <p:cNvSpPr>
            <a:spLocks noGrp="1"/>
          </p:cNvSpPr>
          <p:nvPr>
            <p:ph idx="1"/>
          </p:nvPr>
        </p:nvSpPr>
        <p:spPr>
          <a:xfrm>
            <a:off x="501445" y="530942"/>
            <a:ext cx="10766112" cy="6027173"/>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042300F9-C2B5-50BA-598D-CB3E6AA4929A}"/>
              </a:ext>
            </a:extLst>
          </p:cNvPr>
          <p:cNvPicPr>
            <a:picLocks noChangeAspect="1"/>
          </p:cNvPicPr>
          <p:nvPr/>
        </p:nvPicPr>
        <p:blipFill>
          <a:blip r:embed="rId2"/>
          <a:stretch>
            <a:fillRect/>
          </a:stretch>
        </p:blipFill>
        <p:spPr>
          <a:xfrm>
            <a:off x="694711" y="709459"/>
            <a:ext cx="9544050" cy="704850"/>
          </a:xfrm>
          <a:prstGeom prst="rect">
            <a:avLst/>
          </a:prstGeom>
        </p:spPr>
      </p:pic>
      <p:pic>
        <p:nvPicPr>
          <p:cNvPr id="9" name="Picture 8">
            <a:extLst>
              <a:ext uri="{FF2B5EF4-FFF2-40B4-BE49-F238E27FC236}">
                <a16:creationId xmlns:a16="http://schemas.microsoft.com/office/drawing/2014/main" id="{73BC673E-DBEC-AFE7-7C10-B717CCA15264}"/>
              </a:ext>
            </a:extLst>
          </p:cNvPr>
          <p:cNvPicPr>
            <a:picLocks noChangeAspect="1"/>
          </p:cNvPicPr>
          <p:nvPr/>
        </p:nvPicPr>
        <p:blipFill>
          <a:blip r:embed="rId3"/>
          <a:stretch>
            <a:fillRect/>
          </a:stretch>
        </p:blipFill>
        <p:spPr>
          <a:xfrm>
            <a:off x="694711" y="1788088"/>
            <a:ext cx="3562350" cy="314325"/>
          </a:xfrm>
          <a:prstGeom prst="rect">
            <a:avLst/>
          </a:prstGeom>
        </p:spPr>
      </p:pic>
    </p:spTree>
    <p:extLst>
      <p:ext uri="{BB962C8B-B14F-4D97-AF65-F5344CB8AC3E}">
        <p14:creationId xmlns:p14="http://schemas.microsoft.com/office/powerpoint/2010/main" val="1876097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C27E-CB46-4481-F1EC-8EB6108E971D}"/>
              </a:ext>
            </a:extLst>
          </p:cNvPr>
          <p:cNvSpPr>
            <a:spLocks noGrp="1"/>
          </p:cNvSpPr>
          <p:nvPr>
            <p:ph type="title"/>
          </p:nvPr>
        </p:nvSpPr>
        <p:spPr>
          <a:xfrm>
            <a:off x="913795" y="29497"/>
            <a:ext cx="10353762" cy="353961"/>
          </a:xfrm>
        </p:spPr>
        <p:txBody>
          <a:bodyPr>
            <a:normAutofit fontScale="90000"/>
          </a:bodyPr>
          <a:lstStyle/>
          <a:p>
            <a:r>
              <a:rPr lang="en-US" dirty="0"/>
              <a:t>Consume API</a:t>
            </a:r>
          </a:p>
        </p:txBody>
      </p:sp>
      <p:sp>
        <p:nvSpPr>
          <p:cNvPr id="3" name="Content Placeholder 2">
            <a:extLst>
              <a:ext uri="{FF2B5EF4-FFF2-40B4-BE49-F238E27FC236}">
                <a16:creationId xmlns:a16="http://schemas.microsoft.com/office/drawing/2014/main" id="{20370F8C-1E46-3187-63C6-7F1B7BF952E1}"/>
              </a:ext>
            </a:extLst>
          </p:cNvPr>
          <p:cNvSpPr>
            <a:spLocks noGrp="1"/>
          </p:cNvSpPr>
          <p:nvPr>
            <p:ph idx="1"/>
          </p:nvPr>
        </p:nvSpPr>
        <p:spPr>
          <a:xfrm>
            <a:off x="255638" y="383458"/>
            <a:ext cx="11759381" cy="6292645"/>
          </a:xfrm>
        </p:spPr>
        <p:txBody>
          <a:bodyPr/>
          <a:lstStyle/>
          <a:p>
            <a:r>
              <a:rPr lang="en-US" dirty="0"/>
              <a:t>Create model its properties names are like returned properties</a:t>
            </a:r>
          </a:p>
          <a:p>
            <a:r>
              <a:rPr lang="en-US" dirty="0"/>
              <a:t>The API must enable cores to accept requests from outside domains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fr-FR" dirty="0" err="1"/>
              <a:t>GetFromJsonAsync</a:t>
            </a:r>
            <a:r>
              <a:rPr lang="fr-FR" dirty="0"/>
              <a:t>&lt;List&lt;Course&gt;&gt; de-</a:t>
            </a:r>
            <a:r>
              <a:rPr lang="fr-FR" dirty="0" err="1"/>
              <a:t>serializes</a:t>
            </a:r>
            <a:r>
              <a:rPr lang="fr-FR" dirty="0"/>
              <a:t> the </a:t>
            </a:r>
            <a:r>
              <a:rPr lang="fr-FR" dirty="0" err="1"/>
              <a:t>returned</a:t>
            </a:r>
            <a:r>
              <a:rPr lang="fr-FR" dirty="0"/>
              <a:t> </a:t>
            </a:r>
            <a:r>
              <a:rPr lang="fr-FR" dirty="0" err="1"/>
              <a:t>json</a:t>
            </a:r>
            <a:r>
              <a:rPr lang="fr-FR" dirty="0"/>
              <a:t> </a:t>
            </a:r>
            <a:r>
              <a:rPr lang="fr-FR" dirty="0" err="1"/>
              <a:t>into</a:t>
            </a:r>
            <a:r>
              <a:rPr lang="fr-FR" dirty="0"/>
              <a:t> List&lt;Course&gt;</a:t>
            </a:r>
            <a:endParaRPr lang="en-US" dirty="0"/>
          </a:p>
          <a:p>
            <a:r>
              <a:rPr lang="en-US" dirty="0"/>
              <a:t>This is the naïve code let’s make a service and put web </a:t>
            </a:r>
            <a:r>
              <a:rPr lang="en-US" dirty="0" err="1"/>
              <a:t>api</a:t>
            </a:r>
            <a:r>
              <a:rPr lang="en-US" dirty="0"/>
              <a:t>  link in app-setting</a:t>
            </a:r>
          </a:p>
          <a:p>
            <a:endParaRPr lang="en-US" dirty="0"/>
          </a:p>
        </p:txBody>
      </p:sp>
      <p:sp>
        <p:nvSpPr>
          <p:cNvPr id="4" name="Rectangle 1">
            <a:extLst>
              <a:ext uri="{FF2B5EF4-FFF2-40B4-BE49-F238E27FC236}">
                <a16:creationId xmlns:a16="http://schemas.microsoft.com/office/drawing/2014/main" id="{E2EB1970-146D-5ED2-419F-CEC9FFF88B49}"/>
              </a:ext>
            </a:extLst>
          </p:cNvPr>
          <p:cNvSpPr txBox="1">
            <a:spLocks noChangeArrowheads="1"/>
          </p:cNvSpPr>
          <p:nvPr/>
        </p:nvSpPr>
        <p:spPr bwMode="auto">
          <a:xfrm>
            <a:off x="329380" y="1487280"/>
            <a:ext cx="11611896" cy="33270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@code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List</a:t>
            </a:r>
            <a:r>
              <a:rPr lang="en-US" sz="1400" dirty="0">
                <a:solidFill>
                  <a:srgbClr val="000000"/>
                </a:solidFill>
                <a:latin typeface="Cascadia Mono" panose="020B0609020000020004" pitchFamily="49" charset="0"/>
              </a:rPr>
              <a:t>&lt;</a:t>
            </a:r>
            <a:r>
              <a:rPr lang="en-US" sz="1400" dirty="0">
                <a:solidFill>
                  <a:srgbClr val="2B91AF"/>
                </a:solidFill>
                <a:latin typeface="Cascadia Mono" panose="020B0609020000020004" pitchFamily="49" charset="0"/>
              </a:rPr>
              <a:t>Course</a:t>
            </a:r>
            <a:r>
              <a:rPr lang="en-US" sz="1400" dirty="0">
                <a:solidFill>
                  <a:srgbClr val="000000"/>
                </a:solidFill>
                <a:latin typeface="Cascadia Mono" panose="020B0609020000020004" pitchFamily="49" charset="0"/>
              </a:rPr>
              <a:t>&gt;? courses;</a:t>
            </a:r>
          </a:p>
          <a:p>
            <a:pPr marL="36900" indent="0">
              <a:buNone/>
            </a:pP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HttpClient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httpClient</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protected</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override</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Task</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OnInitializedAsync</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httpClient</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a:t>
            </a:r>
            <a:r>
              <a:rPr lang="en-US" sz="1400" dirty="0" err="1">
                <a:solidFill>
                  <a:srgbClr val="2B91AF"/>
                </a:solidFill>
                <a:latin typeface="Cascadia Mono" panose="020B0609020000020004" pitchFamily="49" charset="0"/>
              </a:rPr>
              <a:t>HttpClient</a:t>
            </a:r>
            <a:r>
              <a:rPr lang="en-US" sz="1400" dirty="0">
                <a:solidFill>
                  <a:srgbClr val="000000"/>
                </a:solidFill>
                <a:latin typeface="Cascadia Mono" panose="020B0609020000020004" pitchFamily="49" charset="0"/>
              </a:rPr>
              <a:t>();</a:t>
            </a:r>
          </a:p>
          <a:p>
            <a:pPr marL="36900" indent="0">
              <a:buNone/>
            </a:pPr>
            <a:r>
              <a:rPr lang="fr-FR" sz="1400" dirty="0">
                <a:solidFill>
                  <a:srgbClr val="000000"/>
                </a:solidFill>
                <a:latin typeface="Cascadia Mono" panose="020B0609020000020004" pitchFamily="49" charset="0"/>
              </a:rPr>
              <a:t>        courses =  </a:t>
            </a:r>
            <a:r>
              <a:rPr lang="fr-FR" sz="1400" dirty="0" err="1">
                <a:solidFill>
                  <a:srgbClr val="0000FF"/>
                </a:solidFill>
                <a:latin typeface="Cascadia Mono" panose="020B0609020000020004" pitchFamily="49" charset="0"/>
              </a:rPr>
              <a:t>await</a:t>
            </a:r>
            <a:r>
              <a:rPr lang="fr-FR" sz="1400" dirty="0">
                <a:solidFill>
                  <a:srgbClr val="000000"/>
                </a:solidFill>
                <a:latin typeface="Cascadia Mono" panose="020B0609020000020004" pitchFamily="49" charset="0"/>
              </a:rPr>
              <a:t> </a:t>
            </a:r>
            <a:r>
              <a:rPr lang="fr-FR" sz="1400" dirty="0" err="1">
                <a:solidFill>
                  <a:srgbClr val="000000"/>
                </a:solidFill>
                <a:latin typeface="Cascadia Mono" panose="020B0609020000020004" pitchFamily="49" charset="0"/>
              </a:rPr>
              <a:t>httpClient.GetFromJsonAsync</a:t>
            </a:r>
            <a:r>
              <a:rPr lang="fr-FR" sz="1400" dirty="0">
                <a:solidFill>
                  <a:srgbClr val="000000"/>
                </a:solidFill>
                <a:latin typeface="Cascadia Mono" panose="020B0609020000020004" pitchFamily="49" charset="0"/>
              </a:rPr>
              <a:t>&lt;</a:t>
            </a:r>
            <a:r>
              <a:rPr lang="fr-FR" sz="1400" dirty="0">
                <a:solidFill>
                  <a:srgbClr val="2B91AF"/>
                </a:solidFill>
                <a:latin typeface="Cascadia Mono" panose="020B0609020000020004" pitchFamily="49" charset="0"/>
              </a:rPr>
              <a:t>List</a:t>
            </a:r>
            <a:r>
              <a:rPr lang="fr-FR" sz="1400" dirty="0">
                <a:solidFill>
                  <a:srgbClr val="000000"/>
                </a:solidFill>
                <a:latin typeface="Cascadia Mono" panose="020B0609020000020004" pitchFamily="49" charset="0"/>
              </a:rPr>
              <a:t>&lt;</a:t>
            </a:r>
            <a:r>
              <a:rPr lang="fr-FR" sz="1400" dirty="0">
                <a:solidFill>
                  <a:srgbClr val="2B91AF"/>
                </a:solidFill>
                <a:latin typeface="Cascadia Mono" panose="020B0609020000020004" pitchFamily="49" charset="0"/>
              </a:rPr>
              <a:t>Course</a:t>
            </a:r>
            <a:r>
              <a:rPr lang="fr-FR" sz="1400" dirty="0">
                <a:solidFill>
                  <a:srgbClr val="000000"/>
                </a:solidFill>
                <a:latin typeface="Cascadia Mono" panose="020B0609020000020004" pitchFamily="49" charset="0"/>
              </a:rPr>
              <a:t>&gt;&gt;(</a:t>
            </a:r>
            <a:r>
              <a:rPr lang="fr-FR" sz="1400" dirty="0">
                <a:solidFill>
                  <a:srgbClr val="A31515"/>
                </a:solidFill>
                <a:latin typeface="Cascadia Mono" panose="020B0609020000020004" pitchFamily="49" charset="0"/>
              </a:rPr>
              <a:t>"https://localhost:7269/api/Course"</a:t>
            </a:r>
            <a:r>
              <a:rPr lang="fr-FR"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base</a:t>
            </a:r>
            <a:r>
              <a:rPr lang="en-US" sz="1400" dirty="0" err="1">
                <a:solidFill>
                  <a:srgbClr val="000000"/>
                </a:solidFill>
                <a:latin typeface="Cascadia Mono" panose="020B0609020000020004" pitchFamily="49" charset="0"/>
              </a:rPr>
              <a:t>.OnInitializedAsync</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a:t>
            </a:r>
            <a:endParaRPr lang="en-US" sz="8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2884860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8C27E-CB46-4481-F1EC-8EB6108E971D}"/>
              </a:ext>
            </a:extLst>
          </p:cNvPr>
          <p:cNvSpPr>
            <a:spLocks noGrp="1"/>
          </p:cNvSpPr>
          <p:nvPr>
            <p:ph type="title"/>
          </p:nvPr>
        </p:nvSpPr>
        <p:spPr>
          <a:xfrm>
            <a:off x="913795" y="29497"/>
            <a:ext cx="10353762" cy="353961"/>
          </a:xfrm>
        </p:spPr>
        <p:txBody>
          <a:bodyPr>
            <a:normAutofit fontScale="90000"/>
          </a:bodyPr>
          <a:lstStyle/>
          <a:p>
            <a:r>
              <a:rPr lang="en-US" dirty="0"/>
              <a:t>Consume API [cont.] (inject </a:t>
            </a:r>
            <a:r>
              <a:rPr lang="en-US" dirty="0" err="1"/>
              <a:t>HttpClient</a:t>
            </a:r>
            <a:r>
              <a:rPr lang="en-US" dirty="0"/>
              <a:t> )</a:t>
            </a:r>
          </a:p>
        </p:txBody>
      </p:sp>
      <p:sp>
        <p:nvSpPr>
          <p:cNvPr id="3" name="Content Placeholder 2">
            <a:extLst>
              <a:ext uri="{FF2B5EF4-FFF2-40B4-BE49-F238E27FC236}">
                <a16:creationId xmlns:a16="http://schemas.microsoft.com/office/drawing/2014/main" id="{20370F8C-1E46-3187-63C6-7F1B7BF952E1}"/>
              </a:ext>
            </a:extLst>
          </p:cNvPr>
          <p:cNvSpPr>
            <a:spLocks noGrp="1"/>
          </p:cNvSpPr>
          <p:nvPr>
            <p:ph idx="1"/>
          </p:nvPr>
        </p:nvSpPr>
        <p:spPr>
          <a:xfrm>
            <a:off x="93406" y="599768"/>
            <a:ext cx="11921614" cy="6076335"/>
          </a:xfrm>
        </p:spPr>
        <p:txBody>
          <a:bodyPr>
            <a:normAutofit/>
          </a:bodyPr>
          <a:lstStyle/>
          <a:p>
            <a:r>
              <a:rPr lang="en-US" dirty="0"/>
              <a:t>Create </a:t>
            </a:r>
            <a:r>
              <a:rPr lang="en-US" dirty="0" err="1"/>
              <a:t>appsettings.json</a:t>
            </a:r>
            <a:r>
              <a:rPr lang="en-US" dirty="0"/>
              <a:t> at www root folder if not exist</a:t>
            </a:r>
          </a:p>
          <a:p>
            <a:r>
              <a:rPr lang="en-US" dirty="0"/>
              <a:t>At </a:t>
            </a:r>
            <a:r>
              <a:rPr lang="en-US" dirty="0" err="1"/>
              <a:t>appsettings.json</a:t>
            </a:r>
            <a:r>
              <a:rPr lang="en-US" dirty="0"/>
              <a:t> </a:t>
            </a:r>
            <a:r>
              <a:rPr lang="en-US" dirty="0">
                <a:sym typeface="Wingdings" panose="05000000000000000000" pitchFamily="2" charset="2"/>
              </a:rPr>
              <a:t> </a:t>
            </a:r>
            <a:r>
              <a:rPr lang="en-US" sz="1800" dirty="0">
                <a:solidFill>
                  <a:schemeClr val="tx1"/>
                </a:solidFill>
                <a:latin typeface="Cascadia Mono" panose="020B0609020000020004" pitchFamily="49" charset="0"/>
              </a:rPr>
              <a:t>"SP": </a:t>
            </a:r>
            <a:r>
              <a:rPr lang="en-US" sz="1800" dirty="0">
                <a:solidFill>
                  <a:schemeClr val="tx1"/>
                </a:solidFill>
                <a:latin typeface="Cascadia Mono" panose="020B0609020000020004" pitchFamily="49" charset="0"/>
                <a:hlinkClick r:id="rId2"/>
              </a:rPr>
              <a:t>https://localhost:7269/</a:t>
            </a:r>
            <a:endParaRPr lang="en-US" sz="1800" dirty="0">
              <a:solidFill>
                <a:schemeClr val="tx1"/>
              </a:solidFill>
              <a:latin typeface="Cascadia Mono" panose="020B0609020000020004" pitchFamily="49" charset="0"/>
            </a:endParaRPr>
          </a:p>
          <a:p>
            <a:r>
              <a:rPr lang="en-US" dirty="0">
                <a:solidFill>
                  <a:schemeClr val="tx1"/>
                </a:solidFill>
              </a:rPr>
              <a:t>At </a:t>
            </a:r>
            <a:r>
              <a:rPr lang="en-US" dirty="0" err="1">
                <a:solidFill>
                  <a:schemeClr val="tx1"/>
                </a:solidFill>
              </a:rPr>
              <a:t>program.cs</a:t>
            </a:r>
            <a:r>
              <a:rPr lang="en-US" dirty="0">
                <a:solidFill>
                  <a:schemeClr val="tx1"/>
                </a:solidFill>
              </a:rPr>
              <a:t> </a:t>
            </a:r>
            <a:r>
              <a:rPr lang="en-US" dirty="0">
                <a:solidFill>
                  <a:schemeClr val="tx1"/>
                </a:solidFill>
                <a:sym typeface="Wingdings" panose="05000000000000000000" pitchFamily="2" charset="2"/>
              </a:rPr>
              <a:t> you will find </a:t>
            </a:r>
            <a:endParaRPr lang="en-US" dirty="0">
              <a:solidFill>
                <a:schemeClr val="tx1"/>
              </a:solidFill>
            </a:endParaRPr>
          </a:p>
          <a:p>
            <a:endParaRPr lang="en-US" dirty="0"/>
          </a:p>
          <a:p>
            <a:r>
              <a:rPr lang="en-US" dirty="0"/>
              <a:t>Change it to </a:t>
            </a:r>
          </a:p>
          <a:p>
            <a:endParaRPr lang="en-US" dirty="0"/>
          </a:p>
          <a:p>
            <a:endParaRPr lang="en-US" dirty="0"/>
          </a:p>
          <a:p>
            <a:endParaRPr lang="en-US" dirty="0"/>
          </a:p>
          <a:p>
            <a:pPr marL="36900" indent="0">
              <a:buNone/>
            </a:pPr>
            <a:endParaRPr lang="en-US" dirty="0"/>
          </a:p>
          <a:p>
            <a:endParaRPr lang="fr-FR" dirty="0"/>
          </a:p>
          <a:p>
            <a:endParaRPr lang="fr-FR" dirty="0"/>
          </a:p>
          <a:p>
            <a:endParaRPr lang="en-US" dirty="0"/>
          </a:p>
          <a:p>
            <a:endParaRPr lang="en-US" dirty="0"/>
          </a:p>
        </p:txBody>
      </p:sp>
      <p:sp>
        <p:nvSpPr>
          <p:cNvPr id="4" name="Rectangle 1">
            <a:extLst>
              <a:ext uri="{FF2B5EF4-FFF2-40B4-BE49-F238E27FC236}">
                <a16:creationId xmlns:a16="http://schemas.microsoft.com/office/drawing/2014/main" id="{E2EB1970-146D-5ED2-419F-CEC9FFF88B49}"/>
              </a:ext>
            </a:extLst>
          </p:cNvPr>
          <p:cNvSpPr txBox="1">
            <a:spLocks noChangeArrowheads="1"/>
          </p:cNvSpPr>
          <p:nvPr/>
        </p:nvSpPr>
        <p:spPr bwMode="auto">
          <a:xfrm>
            <a:off x="93406" y="2939635"/>
            <a:ext cx="11774129" cy="9787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builder.Services.AddScoped</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sp</a:t>
            </a:r>
            <a:r>
              <a:rPr lang="en-US" sz="1400" dirty="0">
                <a:solidFill>
                  <a:srgbClr val="000000"/>
                </a:solidFill>
                <a:latin typeface="Cascadia Mono" panose="020B0609020000020004" pitchFamily="49" charset="0"/>
              </a:rPr>
              <a:t> =&gt;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HttpClient</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BaseAddress</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Uri(</a:t>
            </a:r>
            <a:r>
              <a:rPr lang="en-US" sz="1400" dirty="0" err="1">
                <a:solidFill>
                  <a:srgbClr val="000000"/>
                </a:solidFill>
                <a:latin typeface="Cascadia Mono" panose="020B0609020000020004" pitchFamily="49" charset="0"/>
              </a:rPr>
              <a:t>builder.Configuration.GetValue</a:t>
            </a:r>
            <a:r>
              <a:rPr lang="en-US" sz="1400" dirty="0">
                <a:solidFill>
                  <a:srgbClr val="000000"/>
                </a:solidFill>
                <a:latin typeface="Cascadia Mono" panose="020B0609020000020004" pitchFamily="49" charset="0"/>
              </a:rPr>
              <a:t>&lt;</a:t>
            </a:r>
            <a:r>
              <a:rPr lang="en-US" sz="1400" dirty="0">
                <a:solidFill>
                  <a:srgbClr val="0000FF"/>
                </a:solidFill>
                <a:latin typeface="Cascadia Mono" panose="020B0609020000020004" pitchFamily="49" charset="0"/>
              </a:rPr>
              <a:t>string</a:t>
            </a:r>
            <a:r>
              <a:rPr lang="en-US" sz="1400" dirty="0">
                <a:solidFill>
                  <a:srgbClr val="000000"/>
                </a:solidFill>
                <a:latin typeface="Cascadia Mono" panose="020B0609020000020004" pitchFamily="49" charset="0"/>
              </a:rPr>
              <a:t>&gt;(</a:t>
            </a:r>
            <a:r>
              <a:rPr lang="en-US" sz="1400" dirty="0">
                <a:solidFill>
                  <a:srgbClr val="A31515"/>
                </a:solidFill>
                <a:latin typeface="Cascadia Mono" panose="020B0609020000020004" pitchFamily="49" charset="0"/>
              </a:rPr>
              <a:t>"SP"</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endParaRPr lang="en-US" sz="600" dirty="0">
              <a:solidFill>
                <a:srgbClr val="000000"/>
              </a:solidFill>
              <a:latin typeface="Cascadia Mono" panose="020B0609020000020004" pitchFamily="49" charset="0"/>
            </a:endParaRPr>
          </a:p>
        </p:txBody>
      </p:sp>
      <p:sp>
        <p:nvSpPr>
          <p:cNvPr id="5" name="Rectangle 1">
            <a:extLst>
              <a:ext uri="{FF2B5EF4-FFF2-40B4-BE49-F238E27FC236}">
                <a16:creationId xmlns:a16="http://schemas.microsoft.com/office/drawing/2014/main" id="{0D7EF808-3EC1-4CD0-4E94-1DF9876166FA}"/>
              </a:ext>
            </a:extLst>
          </p:cNvPr>
          <p:cNvSpPr txBox="1">
            <a:spLocks noChangeArrowheads="1"/>
          </p:cNvSpPr>
          <p:nvPr/>
        </p:nvSpPr>
        <p:spPr bwMode="auto">
          <a:xfrm>
            <a:off x="93406" y="1931726"/>
            <a:ext cx="12192000" cy="3077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builder.Services.AddScoped</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sp</a:t>
            </a:r>
            <a:r>
              <a:rPr lang="en-US" sz="1400" dirty="0">
                <a:solidFill>
                  <a:srgbClr val="000000"/>
                </a:solidFill>
                <a:latin typeface="Cascadia Mono" panose="020B0609020000020004" pitchFamily="49" charset="0"/>
              </a:rPr>
              <a:t> =&gt;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HttpClient</a:t>
            </a:r>
            <a:r>
              <a:rPr lang="en-US" sz="1400" dirty="0">
                <a:solidFill>
                  <a:srgbClr val="000000"/>
                </a:solidFill>
                <a:latin typeface="Cascadia Mono" panose="020B0609020000020004" pitchFamily="49" charset="0"/>
              </a:rPr>
              <a:t> { </a:t>
            </a:r>
            <a:r>
              <a:rPr lang="en-US" sz="1400" dirty="0" err="1">
                <a:solidFill>
                  <a:srgbClr val="000000"/>
                </a:solidFill>
                <a:latin typeface="Cascadia Mono" panose="020B0609020000020004" pitchFamily="49" charset="0"/>
              </a:rPr>
              <a:t>BaseAddress</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new</a:t>
            </a:r>
            <a:r>
              <a:rPr lang="en-US" sz="1400" dirty="0">
                <a:solidFill>
                  <a:srgbClr val="000000"/>
                </a:solidFill>
                <a:latin typeface="Cascadia Mono" panose="020B0609020000020004" pitchFamily="49" charset="0"/>
              </a:rPr>
              <a:t> Uri(</a:t>
            </a:r>
            <a:r>
              <a:rPr lang="en-US" sz="1400" dirty="0" err="1">
                <a:solidFill>
                  <a:srgbClr val="000000"/>
                </a:solidFill>
                <a:latin typeface="Cascadia Mono" panose="020B0609020000020004" pitchFamily="49" charset="0"/>
              </a:rPr>
              <a:t>builder.HostEnvironment.BaseAddress</a:t>
            </a:r>
            <a:r>
              <a:rPr lang="en-US" sz="1400" dirty="0">
                <a:solidFill>
                  <a:srgbClr val="000000"/>
                </a:solidFill>
                <a:latin typeface="Cascadia Mono" panose="020B0609020000020004" pitchFamily="49" charset="0"/>
              </a:rPr>
              <a:t>) });</a:t>
            </a:r>
            <a:endParaRPr lang="en-US" sz="4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15282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EEFBE-6461-54FE-60DD-EF14F4D62368}"/>
              </a:ext>
            </a:extLst>
          </p:cNvPr>
          <p:cNvSpPr>
            <a:spLocks noGrp="1"/>
          </p:cNvSpPr>
          <p:nvPr>
            <p:ph type="title"/>
          </p:nvPr>
        </p:nvSpPr>
        <p:spPr>
          <a:xfrm>
            <a:off x="913795" y="0"/>
            <a:ext cx="10353762" cy="402533"/>
          </a:xfrm>
        </p:spPr>
        <p:txBody>
          <a:bodyPr>
            <a:normAutofit fontScale="90000"/>
          </a:bodyPr>
          <a:lstStyle/>
          <a:p>
            <a:r>
              <a:rPr lang="en-US" dirty="0"/>
              <a:t>Create Service</a:t>
            </a:r>
          </a:p>
        </p:txBody>
      </p:sp>
      <p:sp>
        <p:nvSpPr>
          <p:cNvPr id="4" name="Rectangle 1">
            <a:extLst>
              <a:ext uri="{FF2B5EF4-FFF2-40B4-BE49-F238E27FC236}">
                <a16:creationId xmlns:a16="http://schemas.microsoft.com/office/drawing/2014/main" id="{5FDA85B1-52E7-74C2-1E38-466565DD750A}"/>
              </a:ext>
            </a:extLst>
          </p:cNvPr>
          <p:cNvSpPr txBox="1">
            <a:spLocks noGrp="1" noChangeArrowheads="1"/>
          </p:cNvSpPr>
          <p:nvPr>
            <p:ph idx="1"/>
          </p:nvPr>
        </p:nvSpPr>
        <p:spPr bwMode="auto">
          <a:xfrm>
            <a:off x="0" y="570271"/>
            <a:ext cx="3382297" cy="236680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200" dirty="0">
                <a:solidFill>
                  <a:srgbClr val="0000FF"/>
                </a:solidFill>
                <a:latin typeface="Cascadia Mono" panose="020B0609020000020004" pitchFamily="49" charset="0"/>
              </a:rPr>
              <a:t>public</a:t>
            </a:r>
            <a:r>
              <a:rPr lang="en-US" sz="1200" dirty="0">
                <a:solidFill>
                  <a:srgbClr val="000000"/>
                </a:solidFill>
                <a:latin typeface="Cascadia Mono" panose="020B0609020000020004" pitchFamily="49" charset="0"/>
              </a:rPr>
              <a:t> </a:t>
            </a:r>
            <a:r>
              <a:rPr lang="en-US" sz="1200" dirty="0">
                <a:solidFill>
                  <a:srgbClr val="0000FF"/>
                </a:solidFill>
                <a:latin typeface="Cascadia Mono" panose="020B0609020000020004" pitchFamily="49" charset="0"/>
              </a:rPr>
              <a:t>interface </a:t>
            </a:r>
            <a:r>
              <a:rPr lang="en-US" sz="1200" dirty="0">
                <a:solidFill>
                  <a:srgbClr val="2B91AF"/>
                </a:solidFill>
                <a:latin typeface="Cascadia Mono" panose="020B0609020000020004" pitchFamily="49" charset="0"/>
              </a:rPr>
              <a:t>IGeneralService</a:t>
            </a:r>
            <a:r>
              <a:rPr lang="en-US" sz="1200" dirty="0">
                <a:solidFill>
                  <a:srgbClr val="000000"/>
                </a:solidFill>
                <a:latin typeface="Cascadia Mono" panose="020B0609020000020004" pitchFamily="49" charset="0"/>
              </a:rPr>
              <a:t>&lt;</a:t>
            </a:r>
            <a:r>
              <a:rPr lang="en-US" sz="1200" dirty="0">
                <a:solidFill>
                  <a:srgbClr val="2B91AF"/>
                </a:solidFill>
                <a:latin typeface="Cascadia Mono" panose="020B0609020000020004" pitchFamily="49" charset="0"/>
              </a:rPr>
              <a:t>T</a:t>
            </a:r>
            <a:r>
              <a:rPr lang="en-US" sz="1200" dirty="0">
                <a:solidFill>
                  <a:srgbClr val="000000"/>
                </a:solidFill>
                <a:latin typeface="Cascadia Mono" panose="020B0609020000020004" pitchFamily="49" charset="0"/>
              </a:rPr>
              <a:t>&gt;</a:t>
            </a:r>
          </a:p>
          <a:p>
            <a:pPr marL="36900" indent="0">
              <a:buNone/>
            </a:pPr>
            <a:r>
              <a:rPr lang="en-US" sz="1200" dirty="0">
                <a:solidFill>
                  <a:srgbClr val="000000"/>
                </a:solidFill>
                <a:latin typeface="Cascadia Mono" panose="020B0609020000020004" pitchFamily="49" charset="0"/>
              </a:rPr>
              <a:t> {</a:t>
            </a:r>
          </a:p>
          <a:p>
            <a:pPr marL="36900" indent="0">
              <a:buNone/>
            </a:pPr>
            <a:r>
              <a:rPr lang="en-US" sz="1200" dirty="0">
                <a:solidFill>
                  <a:srgbClr val="000000"/>
                </a:solidFill>
                <a:latin typeface="Cascadia Mono" panose="020B0609020000020004" pitchFamily="49" charset="0"/>
              </a:rPr>
              <a:t>     Task&lt;List&lt;T&gt;&gt; </a:t>
            </a:r>
            <a:r>
              <a:rPr lang="en-US" sz="1200" dirty="0" err="1">
                <a:solidFill>
                  <a:srgbClr val="000000"/>
                </a:solidFill>
                <a:latin typeface="Cascadia Mono" panose="020B0609020000020004" pitchFamily="49" charset="0"/>
              </a:rPr>
              <a:t>getAll</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Task&lt;T&gt; </a:t>
            </a:r>
            <a:r>
              <a:rPr lang="en-US" sz="1200" dirty="0" err="1">
                <a:solidFill>
                  <a:srgbClr val="000000"/>
                </a:solidFill>
                <a:latin typeface="Cascadia Mono" panose="020B0609020000020004" pitchFamily="49" charset="0"/>
              </a:rPr>
              <a:t>getById</a:t>
            </a:r>
            <a:r>
              <a:rPr lang="en-US" sz="1200" dirty="0">
                <a:solidFill>
                  <a:srgbClr val="000000"/>
                </a:solidFill>
                <a:latin typeface="Cascadia Mono" panose="020B0609020000020004" pitchFamily="49" charset="0"/>
              </a:rPr>
              <a:t>(</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a:t>
            </a:r>
          </a:p>
          <a:p>
            <a:pPr marL="36900" indent="0">
              <a:buNone/>
            </a:pPr>
            <a:r>
              <a:rPr lang="en-US" sz="1200" dirty="0">
                <a:solidFill>
                  <a:srgbClr val="000000"/>
                </a:solidFill>
                <a:latin typeface="Cascadia Mono" panose="020B0609020000020004" pitchFamily="49" charset="0"/>
              </a:rPr>
              <a:t>     Task insert(T entity);</a:t>
            </a:r>
          </a:p>
          <a:p>
            <a:pPr marL="36900" indent="0">
              <a:buNone/>
            </a:pPr>
            <a:r>
              <a:rPr lang="en-US" sz="1200" dirty="0">
                <a:solidFill>
                  <a:srgbClr val="000000"/>
                </a:solidFill>
                <a:latin typeface="Cascadia Mono" panose="020B0609020000020004" pitchFamily="49" charset="0"/>
              </a:rPr>
              <a:t>     Task update(</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 T entity);</a:t>
            </a:r>
          </a:p>
          <a:p>
            <a:pPr marL="36900" indent="0">
              <a:buNone/>
            </a:pPr>
            <a:r>
              <a:rPr lang="en-US" sz="1200" dirty="0">
                <a:solidFill>
                  <a:srgbClr val="000000"/>
                </a:solidFill>
                <a:latin typeface="Cascadia Mono" panose="020B0609020000020004" pitchFamily="49" charset="0"/>
              </a:rPr>
              <a:t>     Task delete(</a:t>
            </a:r>
            <a:r>
              <a:rPr lang="en-US" sz="1200" dirty="0">
                <a:solidFill>
                  <a:srgbClr val="0000FF"/>
                </a:solidFill>
                <a:latin typeface="Cascadia Mono" panose="020B0609020000020004" pitchFamily="49" charset="0"/>
              </a:rPr>
              <a:t>int</a:t>
            </a:r>
            <a:r>
              <a:rPr lang="en-US" sz="1200" dirty="0">
                <a:solidFill>
                  <a:srgbClr val="000000"/>
                </a:solidFill>
                <a:latin typeface="Cascadia Mono" panose="020B0609020000020004" pitchFamily="49" charset="0"/>
              </a:rPr>
              <a:t> id);</a:t>
            </a:r>
          </a:p>
          <a:p>
            <a:pPr marL="36900" indent="0">
              <a:buNone/>
            </a:pPr>
            <a:r>
              <a:rPr lang="en-US" sz="1200" dirty="0">
                <a:solidFill>
                  <a:srgbClr val="000000"/>
                </a:solidFill>
                <a:latin typeface="Cascadia Mono" panose="020B0609020000020004" pitchFamily="49" charset="0"/>
              </a:rPr>
              <a:t> }</a:t>
            </a:r>
            <a:endParaRPr lang="en-US" sz="700" dirty="0">
              <a:solidFill>
                <a:srgbClr val="000000"/>
              </a:solidFill>
              <a:latin typeface="Cascadia Mono" panose="020B0609020000020004" pitchFamily="49" charset="0"/>
            </a:endParaRPr>
          </a:p>
        </p:txBody>
      </p:sp>
      <p:sp>
        <p:nvSpPr>
          <p:cNvPr id="5" name="Rectangle 1">
            <a:extLst>
              <a:ext uri="{FF2B5EF4-FFF2-40B4-BE49-F238E27FC236}">
                <a16:creationId xmlns:a16="http://schemas.microsoft.com/office/drawing/2014/main" id="{BB038E86-7FD8-6B7E-5904-4E58BE1EF1D3}"/>
              </a:ext>
            </a:extLst>
          </p:cNvPr>
          <p:cNvSpPr txBox="1">
            <a:spLocks noChangeArrowheads="1"/>
          </p:cNvSpPr>
          <p:nvPr/>
        </p:nvSpPr>
        <p:spPr bwMode="auto">
          <a:xfrm>
            <a:off x="3385696" y="436039"/>
            <a:ext cx="8731660" cy="63463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class</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CourseService</a:t>
            </a:r>
            <a:r>
              <a:rPr lang="en-US" sz="1400" dirty="0">
                <a:solidFill>
                  <a:srgbClr val="000000"/>
                </a:solidFill>
                <a:latin typeface="Cascadia Mono" panose="020B0609020000020004" pitchFamily="49" charset="0"/>
              </a:rPr>
              <a:t> : IGeneralService&lt;Course&gt;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readonly</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HttpClient</a:t>
            </a:r>
            <a:r>
              <a:rPr lang="en-US" sz="1400" dirty="0">
                <a:solidFill>
                  <a:srgbClr val="000000"/>
                </a:solidFill>
                <a:latin typeface="Cascadia Mono" panose="020B0609020000020004" pitchFamily="49" charset="0"/>
              </a:rPr>
              <a:t> client;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CourseService</a:t>
            </a:r>
            <a:r>
              <a:rPr lang="en-US" sz="1400" dirty="0">
                <a:solidFill>
                  <a:srgbClr val="000000"/>
                </a:solidFill>
                <a:latin typeface="Cascadia Mono" panose="020B0609020000020004" pitchFamily="49" charset="0"/>
              </a:rPr>
              <a:t>(</a:t>
            </a:r>
            <a:r>
              <a:rPr lang="en-US" sz="1400" dirty="0" err="1">
                <a:solidFill>
                  <a:srgbClr val="000000"/>
                </a:solidFill>
                <a:latin typeface="Cascadia Mono" panose="020B0609020000020004" pitchFamily="49" charset="0"/>
              </a:rPr>
              <a:t>HttpClient</a:t>
            </a:r>
            <a:r>
              <a:rPr lang="en-US" sz="1400" dirty="0">
                <a:solidFill>
                  <a:srgbClr val="000000"/>
                </a:solidFill>
                <a:latin typeface="Cascadia Mono" panose="020B0609020000020004" pitchFamily="49" charset="0"/>
              </a:rPr>
              <a:t> _client) {  </a:t>
            </a:r>
            <a:r>
              <a:rPr lang="en-US" sz="1400" dirty="0" err="1">
                <a:solidFill>
                  <a:srgbClr val="0000FF"/>
                </a:solidFill>
                <a:latin typeface="Cascadia Mono" panose="020B0609020000020004" pitchFamily="49" charset="0"/>
              </a:rPr>
              <a:t>this</a:t>
            </a:r>
            <a:r>
              <a:rPr lang="en-US" sz="1400" dirty="0" err="1">
                <a:solidFill>
                  <a:srgbClr val="000000"/>
                </a:solidFill>
                <a:latin typeface="Cascadia Mono" panose="020B0609020000020004" pitchFamily="49" charset="0"/>
              </a:rPr>
              <a:t>.client</a:t>
            </a:r>
            <a:r>
              <a:rPr lang="en-US" sz="1400" dirty="0">
                <a:solidFill>
                  <a:srgbClr val="000000"/>
                </a:solidFill>
                <a:latin typeface="Cascadia Mono" panose="020B0609020000020004" pitchFamily="49" charset="0"/>
              </a:rPr>
              <a:t> = _client;   }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 delete(</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id)</a:t>
            </a:r>
          </a:p>
          <a:p>
            <a:pPr marL="36900" indent="0">
              <a:buNone/>
            </a:pP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client.DeleteAsync</a:t>
            </a:r>
            <a:r>
              <a:rPr lang="en-US" sz="1400" dirty="0">
                <a:solidFill>
                  <a:srgbClr val="000000"/>
                </a:solidFill>
                <a:latin typeface="Cascadia Mono" panose="020B0609020000020004" pitchFamily="49" charset="0"/>
              </a:rPr>
              <a:t>(</a:t>
            </a:r>
            <a:r>
              <a:rPr lang="en-US" sz="1400" dirty="0">
                <a:solidFill>
                  <a:srgbClr val="A31515"/>
                </a:solidFill>
                <a:latin typeface="Cascadia Mono" panose="020B0609020000020004" pitchFamily="49" charset="0"/>
              </a:rPr>
              <a:t>$"</a:t>
            </a:r>
            <a:r>
              <a:rPr lang="en-US" sz="1400" dirty="0" err="1">
                <a:solidFill>
                  <a:srgbClr val="A31515"/>
                </a:solidFill>
                <a:latin typeface="Cascadia Mono" panose="020B0609020000020004" pitchFamily="49" charset="0"/>
              </a:rPr>
              <a:t>api</a:t>
            </a:r>
            <a:r>
              <a:rPr lang="en-US" sz="1400" dirty="0">
                <a:solidFill>
                  <a:srgbClr val="A31515"/>
                </a:solidFill>
                <a:latin typeface="Cascadia Mono" panose="020B0609020000020004" pitchFamily="49" charset="0"/>
              </a:rPr>
              <a:t>/Course/</a:t>
            </a:r>
            <a:r>
              <a:rPr lang="en-US" sz="1400" dirty="0">
                <a:solidFill>
                  <a:srgbClr val="000000"/>
                </a:solidFill>
                <a:latin typeface="Cascadia Mono" panose="020B0609020000020004" pitchFamily="49" charset="0"/>
              </a:rPr>
              <a:t>{id}</a:t>
            </a:r>
            <a:r>
              <a:rPr lang="en-US" sz="1400" dirty="0">
                <a:solidFill>
                  <a:srgbClr val="A31515"/>
                </a:solidFill>
                <a:latin typeface="Cascadia Mono" panose="020B0609020000020004" pitchFamily="49" charset="0"/>
              </a:rPr>
              <a:t>"</a:t>
            </a:r>
            <a:r>
              <a:rPr lang="en-US" sz="1400" dirty="0">
                <a:solidFill>
                  <a:srgbClr val="000000"/>
                </a:solidFill>
                <a:latin typeface="Cascadia Mono" panose="020B0609020000020004" pitchFamily="49" charset="0"/>
              </a:rPr>
              <a:t>); }</a:t>
            </a:r>
          </a:p>
          <a:p>
            <a:pPr marL="36900" indent="0">
              <a:buNone/>
            </a:pPr>
            <a:endParaRPr lang="en-US" sz="1400" dirty="0">
              <a:solidFill>
                <a:srgbClr val="000000"/>
              </a:solidFill>
              <a:latin typeface="Cascadia Mono" panose="020B0609020000020004" pitchFamily="49" charset="0"/>
            </a:endParaRP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Task&lt;List&lt;Course&gt;&gt; </a:t>
            </a:r>
            <a:r>
              <a:rPr lang="en-US" sz="1400" dirty="0" err="1">
                <a:solidFill>
                  <a:srgbClr val="000000"/>
                </a:solidFill>
                <a:latin typeface="Cascadia Mono" panose="020B0609020000020004" pitchFamily="49" charset="0"/>
              </a:rPr>
              <a:t>getAll</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client.GetFromJsonAsync</a:t>
            </a:r>
            <a:r>
              <a:rPr lang="en-US" sz="1400" dirty="0">
                <a:solidFill>
                  <a:srgbClr val="000000"/>
                </a:solidFill>
                <a:latin typeface="Cascadia Mono" panose="020B0609020000020004" pitchFamily="49" charset="0"/>
              </a:rPr>
              <a:t>&lt;List&lt;Course&gt;&gt;(</a:t>
            </a:r>
            <a:r>
              <a:rPr lang="en-US" sz="1400" dirty="0">
                <a:solidFill>
                  <a:srgbClr val="A31515"/>
                </a:solidFill>
                <a:latin typeface="Cascadia Mono" panose="020B0609020000020004" pitchFamily="49" charset="0"/>
              </a:rPr>
              <a:t>"</a:t>
            </a:r>
            <a:r>
              <a:rPr lang="en-US" sz="1400" dirty="0" err="1">
                <a:solidFill>
                  <a:srgbClr val="A31515"/>
                </a:solidFill>
                <a:latin typeface="Cascadia Mono" panose="020B0609020000020004" pitchFamily="49" charset="0"/>
              </a:rPr>
              <a:t>api</a:t>
            </a:r>
            <a:r>
              <a:rPr lang="en-US" sz="1400" dirty="0">
                <a:solidFill>
                  <a:srgbClr val="A31515"/>
                </a:solidFill>
                <a:latin typeface="Cascadia Mono" panose="020B0609020000020004" pitchFamily="49" charset="0"/>
              </a:rPr>
              <a:t>/Course"</a:t>
            </a:r>
            <a:r>
              <a:rPr lang="en-US" sz="1400" dirty="0">
                <a:solidFill>
                  <a:srgbClr val="000000"/>
                </a:solidFill>
                <a:latin typeface="Cascadia Mono" panose="020B0609020000020004" pitchFamily="49" charset="0"/>
              </a:rPr>
              <a:t>);  }</a:t>
            </a:r>
          </a:p>
          <a:p>
            <a:pPr marL="36900" indent="0">
              <a:buNone/>
            </a:pPr>
            <a:endParaRPr lang="en-US" sz="1400" dirty="0">
              <a:solidFill>
                <a:srgbClr val="000000"/>
              </a:solidFill>
              <a:latin typeface="Cascadia Mono" panose="020B0609020000020004" pitchFamily="49" charset="0"/>
            </a:endParaRP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Task&lt;Course&gt; </a:t>
            </a:r>
            <a:r>
              <a:rPr lang="en-US" sz="1400" dirty="0" err="1">
                <a:solidFill>
                  <a:srgbClr val="000000"/>
                </a:solidFill>
                <a:latin typeface="Cascadia Mono" panose="020B0609020000020004" pitchFamily="49" charset="0"/>
              </a:rPr>
              <a:t>getById</a:t>
            </a:r>
            <a:r>
              <a:rPr lang="en-US" sz="1400" dirty="0">
                <a:solidFill>
                  <a:srgbClr val="000000"/>
                </a:solidFill>
                <a:latin typeface="Cascadia Mono" panose="020B0609020000020004" pitchFamily="49" charset="0"/>
              </a:rPr>
              <a:t>(</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id)</a:t>
            </a:r>
          </a:p>
          <a:p>
            <a:pPr marL="36900" indent="0">
              <a:buNone/>
            </a:pP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return</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client.GetFromJsonAsync</a:t>
            </a:r>
            <a:r>
              <a:rPr lang="en-US" sz="1400" dirty="0">
                <a:solidFill>
                  <a:srgbClr val="000000"/>
                </a:solidFill>
                <a:latin typeface="Cascadia Mono" panose="020B0609020000020004" pitchFamily="49" charset="0"/>
              </a:rPr>
              <a:t>&lt;Course&gt;(</a:t>
            </a:r>
            <a:r>
              <a:rPr lang="en-US" sz="1400" dirty="0">
                <a:solidFill>
                  <a:srgbClr val="A31515"/>
                </a:solidFill>
                <a:latin typeface="Cascadia Mono" panose="020B0609020000020004" pitchFamily="49" charset="0"/>
              </a:rPr>
              <a:t>$"</a:t>
            </a:r>
            <a:r>
              <a:rPr lang="en-US" sz="1400" dirty="0" err="1">
                <a:solidFill>
                  <a:srgbClr val="A31515"/>
                </a:solidFill>
                <a:latin typeface="Cascadia Mono" panose="020B0609020000020004" pitchFamily="49" charset="0"/>
              </a:rPr>
              <a:t>api</a:t>
            </a:r>
            <a:r>
              <a:rPr lang="en-US" sz="1400" dirty="0">
                <a:solidFill>
                  <a:srgbClr val="A31515"/>
                </a:solidFill>
                <a:latin typeface="Cascadia Mono" panose="020B0609020000020004" pitchFamily="49" charset="0"/>
              </a:rPr>
              <a:t>/Course/</a:t>
            </a:r>
            <a:r>
              <a:rPr lang="en-US" sz="1400" dirty="0">
                <a:solidFill>
                  <a:srgbClr val="000000"/>
                </a:solidFill>
                <a:latin typeface="Cascadia Mono" panose="020B0609020000020004" pitchFamily="49" charset="0"/>
              </a:rPr>
              <a:t>{id}</a:t>
            </a:r>
            <a:r>
              <a:rPr lang="en-US" sz="1400" dirty="0">
                <a:solidFill>
                  <a:srgbClr val="A31515"/>
                </a:solidFill>
                <a:latin typeface="Cascadia Mono" panose="020B0609020000020004" pitchFamily="49" charset="0"/>
              </a:rPr>
              <a:t>"</a:t>
            </a: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 insert(Course entity)</a:t>
            </a:r>
          </a:p>
          <a:p>
            <a:pPr marL="36900" indent="0">
              <a:buNone/>
            </a:pP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var</a:t>
            </a:r>
            <a:r>
              <a:rPr lang="en-US" sz="1400" dirty="0">
                <a:solidFill>
                  <a:srgbClr val="000000"/>
                </a:solidFill>
                <a:latin typeface="Cascadia Mono" panose="020B0609020000020004" pitchFamily="49" charset="0"/>
              </a:rPr>
              <a:t> response = </a:t>
            </a:r>
            <a:r>
              <a:rPr lang="en-US" sz="1400" dirty="0" err="1">
                <a:solidFill>
                  <a:srgbClr val="000000"/>
                </a:solidFill>
                <a:latin typeface="Cascadia Mono" panose="020B0609020000020004" pitchFamily="49" charset="0"/>
              </a:rPr>
              <a:t>client.PostAsJsonAsync</a:t>
            </a:r>
            <a:r>
              <a:rPr lang="en-US" sz="1400" dirty="0">
                <a:solidFill>
                  <a:srgbClr val="000000"/>
                </a:solidFill>
                <a:latin typeface="Cascadia Mono" panose="020B0609020000020004" pitchFamily="49" charset="0"/>
              </a:rPr>
              <a:t>&lt;Course&gt;(</a:t>
            </a:r>
            <a:r>
              <a:rPr lang="en-US" sz="1400" dirty="0">
                <a:solidFill>
                  <a:srgbClr val="A31515"/>
                </a:solidFill>
                <a:latin typeface="Cascadia Mono" panose="020B0609020000020004" pitchFamily="49" charset="0"/>
              </a:rPr>
              <a:t>"</a:t>
            </a:r>
            <a:r>
              <a:rPr lang="en-US" sz="1400" dirty="0" err="1">
                <a:solidFill>
                  <a:srgbClr val="A31515"/>
                </a:solidFill>
                <a:latin typeface="Cascadia Mono" panose="020B0609020000020004" pitchFamily="49" charset="0"/>
              </a:rPr>
              <a:t>api</a:t>
            </a:r>
            <a:r>
              <a:rPr lang="en-US" sz="1400" dirty="0">
                <a:solidFill>
                  <a:srgbClr val="A31515"/>
                </a:solidFill>
                <a:latin typeface="Cascadia Mono" panose="020B0609020000020004" pitchFamily="49" charset="0"/>
              </a:rPr>
              <a:t>/Course"</a:t>
            </a:r>
            <a:r>
              <a:rPr lang="en-US" sz="1400" dirty="0">
                <a:solidFill>
                  <a:srgbClr val="000000"/>
                </a:solidFill>
                <a:latin typeface="Cascadia Mono" panose="020B0609020000020004" pitchFamily="49" charset="0"/>
              </a:rPr>
              <a:t>, entity);  }      </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Task update(</a:t>
            </a:r>
            <a:r>
              <a:rPr lang="en-US" sz="1400" dirty="0">
                <a:solidFill>
                  <a:srgbClr val="0000FF"/>
                </a:solidFill>
                <a:latin typeface="Cascadia Mono" panose="020B0609020000020004" pitchFamily="49" charset="0"/>
              </a:rPr>
              <a:t>int</a:t>
            </a:r>
            <a:r>
              <a:rPr lang="en-US" sz="1400" dirty="0">
                <a:solidFill>
                  <a:srgbClr val="000000"/>
                </a:solidFill>
                <a:latin typeface="Cascadia Mono" panose="020B0609020000020004" pitchFamily="49" charset="0"/>
              </a:rPr>
              <a:t> id, Course entity)</a:t>
            </a:r>
          </a:p>
          <a:p>
            <a:pPr marL="36900" indent="0">
              <a:buNone/>
            </a:pP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client.PutAsJsonAsync</a:t>
            </a:r>
            <a:r>
              <a:rPr lang="en-US" sz="1400" dirty="0">
                <a:solidFill>
                  <a:srgbClr val="000000"/>
                </a:solidFill>
                <a:latin typeface="Cascadia Mono" panose="020B0609020000020004" pitchFamily="49" charset="0"/>
              </a:rPr>
              <a:t>&lt;Course&gt;(</a:t>
            </a:r>
            <a:r>
              <a:rPr lang="en-US" sz="1400" dirty="0">
                <a:solidFill>
                  <a:srgbClr val="A31515"/>
                </a:solidFill>
                <a:latin typeface="Cascadia Mono" panose="020B0609020000020004" pitchFamily="49" charset="0"/>
              </a:rPr>
              <a:t>$"</a:t>
            </a:r>
            <a:r>
              <a:rPr lang="en-US" sz="1400" dirty="0" err="1">
                <a:solidFill>
                  <a:srgbClr val="A31515"/>
                </a:solidFill>
                <a:latin typeface="Cascadia Mono" panose="020B0609020000020004" pitchFamily="49" charset="0"/>
              </a:rPr>
              <a:t>api</a:t>
            </a:r>
            <a:r>
              <a:rPr lang="en-US" sz="1400" dirty="0">
                <a:solidFill>
                  <a:srgbClr val="A31515"/>
                </a:solidFill>
                <a:latin typeface="Cascadia Mono" panose="020B0609020000020004" pitchFamily="49" charset="0"/>
              </a:rPr>
              <a:t>/Course/</a:t>
            </a:r>
            <a:r>
              <a:rPr lang="en-US" sz="1400" dirty="0">
                <a:solidFill>
                  <a:srgbClr val="000000"/>
                </a:solidFill>
                <a:latin typeface="Cascadia Mono" panose="020B0609020000020004" pitchFamily="49" charset="0"/>
              </a:rPr>
              <a:t>{id}</a:t>
            </a:r>
            <a:r>
              <a:rPr lang="en-US" sz="1400" dirty="0">
                <a:solidFill>
                  <a:srgbClr val="A31515"/>
                </a:solidFill>
                <a:latin typeface="Cascadia Mono" panose="020B0609020000020004" pitchFamily="49" charset="0"/>
              </a:rPr>
              <a:t>"</a:t>
            </a:r>
            <a:r>
              <a:rPr lang="en-US" sz="1400" dirty="0">
                <a:solidFill>
                  <a:srgbClr val="000000"/>
                </a:solidFill>
                <a:latin typeface="Cascadia Mono" panose="020B0609020000020004" pitchFamily="49" charset="0"/>
              </a:rPr>
              <a:t>, entity);   }</a:t>
            </a:r>
          </a:p>
          <a:p>
            <a:pPr marL="36900" indent="0">
              <a:buNone/>
            </a:pPr>
            <a:r>
              <a:rPr lang="en-US" sz="1400" dirty="0">
                <a:solidFill>
                  <a:srgbClr val="000000"/>
                </a:solidFill>
                <a:latin typeface="Cascadia Mono" panose="020B0609020000020004" pitchFamily="49" charset="0"/>
              </a:rPr>
              <a:t>    }</a:t>
            </a:r>
            <a:endParaRPr lang="en-US" sz="5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38545746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62A8-4963-5499-7452-BAB5012A44F3}"/>
              </a:ext>
            </a:extLst>
          </p:cNvPr>
          <p:cNvSpPr>
            <a:spLocks noGrp="1"/>
          </p:cNvSpPr>
          <p:nvPr>
            <p:ph type="title"/>
          </p:nvPr>
        </p:nvSpPr>
        <p:spPr>
          <a:xfrm>
            <a:off x="913795" y="0"/>
            <a:ext cx="10353762" cy="462116"/>
          </a:xfrm>
        </p:spPr>
        <p:txBody>
          <a:bodyPr>
            <a:normAutofit fontScale="90000"/>
          </a:bodyPr>
          <a:lstStyle/>
          <a:p>
            <a:r>
              <a:rPr lang="en-US" dirty="0"/>
              <a:t>Create service [cont.]</a:t>
            </a:r>
          </a:p>
        </p:txBody>
      </p:sp>
      <p:sp>
        <p:nvSpPr>
          <p:cNvPr id="3" name="Content Placeholder 2">
            <a:extLst>
              <a:ext uri="{FF2B5EF4-FFF2-40B4-BE49-F238E27FC236}">
                <a16:creationId xmlns:a16="http://schemas.microsoft.com/office/drawing/2014/main" id="{6D58A97C-57CC-D9AB-CA35-B250EBD64A53}"/>
              </a:ext>
            </a:extLst>
          </p:cNvPr>
          <p:cNvSpPr>
            <a:spLocks noGrp="1"/>
          </p:cNvSpPr>
          <p:nvPr>
            <p:ph idx="1"/>
          </p:nvPr>
        </p:nvSpPr>
        <p:spPr>
          <a:xfrm>
            <a:off x="196645" y="462117"/>
            <a:ext cx="11857703" cy="6066502"/>
          </a:xfrm>
        </p:spPr>
        <p:txBody>
          <a:bodyPr/>
          <a:lstStyle/>
          <a:p>
            <a:r>
              <a:rPr lang="en-US" dirty="0"/>
              <a:t>At program.cs </a:t>
            </a:r>
            <a:r>
              <a:rPr lang="en-US" dirty="0">
                <a:sym typeface="Wingdings" panose="05000000000000000000" pitchFamily="2" charset="2"/>
              </a:rPr>
              <a:t> register the service</a:t>
            </a:r>
          </a:p>
          <a:p>
            <a:endParaRPr lang="en-US" dirty="0">
              <a:sym typeface="Wingdings" panose="05000000000000000000" pitchFamily="2" charset="2"/>
            </a:endParaRPr>
          </a:p>
          <a:p>
            <a:endParaRPr lang="en-US" dirty="0"/>
          </a:p>
        </p:txBody>
      </p:sp>
      <p:sp>
        <p:nvSpPr>
          <p:cNvPr id="4" name="Rectangle 1">
            <a:extLst>
              <a:ext uri="{FF2B5EF4-FFF2-40B4-BE49-F238E27FC236}">
                <a16:creationId xmlns:a16="http://schemas.microsoft.com/office/drawing/2014/main" id="{551D2B44-4AD7-A9BD-E4B9-770D6A7C7A3B}"/>
              </a:ext>
            </a:extLst>
          </p:cNvPr>
          <p:cNvSpPr txBox="1">
            <a:spLocks noChangeArrowheads="1"/>
          </p:cNvSpPr>
          <p:nvPr/>
        </p:nvSpPr>
        <p:spPr bwMode="auto">
          <a:xfrm>
            <a:off x="373628" y="959407"/>
            <a:ext cx="9635612"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800" dirty="0">
                <a:solidFill>
                  <a:srgbClr val="000000"/>
                </a:solidFill>
                <a:latin typeface="Cascadia Mono" panose="020B0609020000020004" pitchFamily="49" charset="0"/>
              </a:rPr>
              <a:t> builder.Services.AddScoped&lt;IGeneralService&lt;Course&gt;, CourseService&gt;();</a:t>
            </a:r>
            <a:endParaRPr lang="en-US" sz="400" dirty="0">
              <a:solidFill>
                <a:srgbClr val="000000"/>
              </a:solidFill>
              <a:latin typeface="Cascadia Mono" panose="020B0609020000020004" pitchFamily="49" charset="0"/>
            </a:endParaRPr>
          </a:p>
        </p:txBody>
      </p:sp>
      <p:sp>
        <p:nvSpPr>
          <p:cNvPr id="5" name="Rectangle 1">
            <a:extLst>
              <a:ext uri="{FF2B5EF4-FFF2-40B4-BE49-F238E27FC236}">
                <a16:creationId xmlns:a16="http://schemas.microsoft.com/office/drawing/2014/main" id="{78A67126-7B9E-F7BC-D153-DC7109BBB1C3}"/>
              </a:ext>
            </a:extLst>
          </p:cNvPr>
          <p:cNvSpPr txBox="1">
            <a:spLocks noChangeArrowheads="1"/>
          </p:cNvSpPr>
          <p:nvPr/>
        </p:nvSpPr>
        <p:spPr bwMode="auto">
          <a:xfrm>
            <a:off x="373627" y="1414133"/>
            <a:ext cx="9635613" cy="366254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400" dirty="0">
                <a:solidFill>
                  <a:srgbClr val="000000"/>
                </a:solidFill>
                <a:latin typeface="Cascadia Mono" panose="020B0609020000020004" pitchFamily="49" charset="0"/>
              </a:rPr>
              <a:t>@code {</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List</a:t>
            </a:r>
            <a:r>
              <a:rPr lang="en-US" sz="1400" dirty="0">
                <a:solidFill>
                  <a:srgbClr val="000000"/>
                </a:solidFill>
                <a:latin typeface="Cascadia Mono" panose="020B0609020000020004" pitchFamily="49" charset="0"/>
              </a:rPr>
              <a:t>&lt;</a:t>
            </a:r>
            <a:r>
              <a:rPr lang="en-US" sz="1400" dirty="0">
                <a:solidFill>
                  <a:srgbClr val="2B91AF"/>
                </a:solidFill>
                <a:latin typeface="Cascadia Mono" panose="020B0609020000020004" pitchFamily="49" charset="0"/>
              </a:rPr>
              <a:t>Course</a:t>
            </a:r>
            <a:r>
              <a:rPr lang="en-US" sz="1400" dirty="0">
                <a:solidFill>
                  <a:srgbClr val="000000"/>
                </a:solidFill>
                <a:latin typeface="Cascadia Mono" panose="020B0609020000020004" pitchFamily="49" charset="0"/>
              </a:rPr>
              <a:t>&gt;? courses;</a:t>
            </a:r>
          </a:p>
          <a:p>
            <a:pPr marL="36900" indent="0">
              <a:buNone/>
            </a:pP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Inject</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public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IGeneralService</a:t>
            </a:r>
            <a:r>
              <a:rPr lang="en-US" sz="1400" dirty="0">
                <a:solidFill>
                  <a:srgbClr val="000000"/>
                </a:solidFill>
                <a:latin typeface="Cascadia Mono" panose="020B0609020000020004" pitchFamily="49" charset="0"/>
              </a:rPr>
              <a:t>&lt;</a:t>
            </a:r>
            <a:r>
              <a:rPr lang="en-US" sz="1400" dirty="0">
                <a:solidFill>
                  <a:srgbClr val="2B91AF"/>
                </a:solidFill>
                <a:latin typeface="Cascadia Mono" panose="020B0609020000020004" pitchFamily="49" charset="0"/>
              </a:rPr>
              <a:t>Course</a:t>
            </a:r>
            <a:r>
              <a:rPr lang="en-US" sz="1400" dirty="0">
                <a:solidFill>
                  <a:srgbClr val="000000"/>
                </a:solidFill>
                <a:latin typeface="Cascadia Mono" panose="020B0609020000020004" pitchFamily="49" charset="0"/>
              </a:rPr>
              <a:t>&gt; </a:t>
            </a:r>
            <a:r>
              <a:rPr lang="en-US" sz="1400" dirty="0" err="1">
                <a:solidFill>
                  <a:srgbClr val="000000"/>
                </a:solidFill>
                <a:latin typeface="Cascadia Mono" panose="020B0609020000020004" pitchFamily="49" charset="0"/>
              </a:rPr>
              <a:t>crsService</a:t>
            </a:r>
            <a:r>
              <a:rPr lang="en-US" sz="1400" dirty="0">
                <a:solidFill>
                  <a:srgbClr val="000000"/>
                </a:solidFill>
                <a:latin typeface="Cascadia Mono" panose="020B0609020000020004" pitchFamily="49" charset="0"/>
              </a:rPr>
              <a:t> { </a:t>
            </a:r>
            <a:r>
              <a:rPr lang="en-US" sz="1400" dirty="0">
                <a:solidFill>
                  <a:srgbClr val="0000FF"/>
                </a:solidFill>
                <a:latin typeface="Cascadia Mono" panose="020B0609020000020004" pitchFamily="49" charset="0"/>
              </a:rPr>
              <a:t>get</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set</a:t>
            </a:r>
            <a:r>
              <a:rPr lang="en-US" sz="1400" dirty="0">
                <a:solidFill>
                  <a:srgbClr val="000000"/>
                </a:solidFill>
                <a:latin typeface="Cascadia Mono" panose="020B0609020000020004" pitchFamily="49" charset="0"/>
              </a:rPr>
              <a:t>; }</a:t>
            </a:r>
          </a:p>
          <a:p>
            <a:pPr marL="36900" indent="0">
              <a:buNone/>
            </a:pPr>
            <a:endParaRPr lang="en-US" sz="1400" dirty="0">
              <a:solidFill>
                <a:srgbClr val="000000"/>
              </a:solidFill>
              <a:latin typeface="Cascadia Mono" panose="020B0609020000020004" pitchFamily="49" charset="0"/>
            </a:endParaRPr>
          </a:p>
          <a:p>
            <a:pPr marL="36900" indent="0">
              <a:buNone/>
            </a:pP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protected</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override</a:t>
            </a:r>
            <a:r>
              <a:rPr lang="en-US" sz="1400" dirty="0">
                <a:solidFill>
                  <a:srgbClr val="000000"/>
                </a:solidFill>
                <a:latin typeface="Cascadia Mono" panose="020B0609020000020004" pitchFamily="49" charset="0"/>
              </a:rPr>
              <a:t> </a:t>
            </a:r>
            <a:r>
              <a:rPr lang="en-US" sz="1400" dirty="0">
                <a:solidFill>
                  <a:srgbClr val="0000FF"/>
                </a:solidFill>
                <a:latin typeface="Cascadia Mono" panose="020B0609020000020004" pitchFamily="49" charset="0"/>
              </a:rPr>
              <a:t>async</a:t>
            </a:r>
            <a:r>
              <a:rPr lang="en-US" sz="1400" dirty="0">
                <a:solidFill>
                  <a:srgbClr val="000000"/>
                </a:solidFill>
                <a:latin typeface="Cascadia Mono" panose="020B0609020000020004" pitchFamily="49" charset="0"/>
              </a:rPr>
              <a:t> </a:t>
            </a:r>
            <a:r>
              <a:rPr lang="en-US" sz="1400" dirty="0">
                <a:solidFill>
                  <a:srgbClr val="2B91AF"/>
                </a:solidFill>
                <a:latin typeface="Cascadia Mono" panose="020B0609020000020004" pitchFamily="49" charset="0"/>
              </a:rPr>
              <a:t>Task</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OnInitializedAsync</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        courses =  </a:t>
            </a:r>
            <a:r>
              <a:rPr lang="en-US" sz="1400" dirty="0">
                <a:solidFill>
                  <a:srgbClr val="0000FF"/>
                </a:solidFill>
                <a:latin typeface="Cascadia Mono" panose="020B0609020000020004" pitchFamily="49" charset="0"/>
              </a:rPr>
              <a:t>await</a:t>
            </a:r>
            <a:r>
              <a:rPr lang="en-US" sz="1400" dirty="0">
                <a:solidFill>
                  <a:srgbClr val="000000"/>
                </a:solidFill>
                <a:latin typeface="Cascadia Mono" panose="020B0609020000020004" pitchFamily="49" charset="0"/>
              </a:rPr>
              <a:t> </a:t>
            </a:r>
            <a:r>
              <a:rPr lang="en-US" sz="1400" dirty="0" err="1">
                <a:solidFill>
                  <a:srgbClr val="000000"/>
                </a:solidFill>
                <a:latin typeface="Cascadia Mono" panose="020B0609020000020004" pitchFamily="49" charset="0"/>
              </a:rPr>
              <a:t>crsService.getAll</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r>
              <a:rPr lang="en-US" sz="1400" dirty="0" err="1">
                <a:solidFill>
                  <a:srgbClr val="0000FF"/>
                </a:solidFill>
                <a:latin typeface="Cascadia Mono" panose="020B0609020000020004" pitchFamily="49" charset="0"/>
              </a:rPr>
              <a:t>base</a:t>
            </a:r>
            <a:r>
              <a:rPr lang="en-US" sz="1400" dirty="0" err="1">
                <a:solidFill>
                  <a:srgbClr val="000000"/>
                </a:solidFill>
                <a:latin typeface="Cascadia Mono" panose="020B0609020000020004" pitchFamily="49" charset="0"/>
              </a:rPr>
              <a:t>.OnInitializedAsync</a:t>
            </a:r>
            <a:r>
              <a:rPr lang="en-US" sz="1400" dirty="0">
                <a:solidFill>
                  <a:srgbClr val="000000"/>
                </a:solidFill>
                <a:latin typeface="Cascadia Mono" panose="020B0609020000020004" pitchFamily="49" charset="0"/>
              </a:rPr>
              <a:t>();</a:t>
            </a:r>
          </a:p>
          <a:p>
            <a:pPr marL="36900" indent="0">
              <a:buNone/>
            </a:pPr>
            <a:r>
              <a:rPr lang="en-US" sz="1400" dirty="0">
                <a:solidFill>
                  <a:srgbClr val="000000"/>
                </a:solidFill>
                <a:latin typeface="Cascadia Mono" panose="020B0609020000020004" pitchFamily="49" charset="0"/>
              </a:rPr>
              <a:t>    }</a:t>
            </a:r>
          </a:p>
          <a:p>
            <a:pPr marL="36900" indent="0">
              <a:buNone/>
            </a:pPr>
            <a:r>
              <a:rPr lang="en-US" sz="1400" dirty="0">
                <a:solidFill>
                  <a:srgbClr val="000000"/>
                </a:solidFill>
                <a:latin typeface="Cascadia Mono" panose="020B0609020000020004" pitchFamily="49" charset="0"/>
              </a:rPr>
              <a:t>}</a:t>
            </a:r>
            <a:endParaRPr lang="en-US" sz="5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21024270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07B9-A1DB-0CD7-A951-6362AA84D0BD}"/>
              </a:ext>
            </a:extLst>
          </p:cNvPr>
          <p:cNvSpPr>
            <a:spLocks noGrp="1"/>
          </p:cNvSpPr>
          <p:nvPr>
            <p:ph type="title"/>
          </p:nvPr>
        </p:nvSpPr>
        <p:spPr>
          <a:xfrm>
            <a:off x="913795" y="78659"/>
            <a:ext cx="10353762" cy="599768"/>
          </a:xfrm>
        </p:spPr>
        <p:txBody>
          <a:bodyPr>
            <a:normAutofit fontScale="90000"/>
          </a:bodyPr>
          <a:lstStyle/>
          <a:p>
            <a:r>
              <a:rPr lang="en-US" dirty="0"/>
              <a:t>Consume more than 1 API at your application</a:t>
            </a:r>
          </a:p>
        </p:txBody>
      </p:sp>
      <p:sp>
        <p:nvSpPr>
          <p:cNvPr id="3" name="Content Placeholder 2">
            <a:extLst>
              <a:ext uri="{FF2B5EF4-FFF2-40B4-BE49-F238E27FC236}">
                <a16:creationId xmlns:a16="http://schemas.microsoft.com/office/drawing/2014/main" id="{84BB5B40-A307-66ED-8375-4090A1CF3D4B}"/>
              </a:ext>
            </a:extLst>
          </p:cNvPr>
          <p:cNvSpPr>
            <a:spLocks noGrp="1"/>
          </p:cNvSpPr>
          <p:nvPr>
            <p:ph idx="1"/>
          </p:nvPr>
        </p:nvSpPr>
        <p:spPr>
          <a:xfrm>
            <a:off x="206476" y="766916"/>
            <a:ext cx="11818375" cy="5692877"/>
          </a:xfrm>
        </p:spPr>
        <p:txBody>
          <a:bodyPr/>
          <a:lstStyle/>
          <a:p>
            <a:r>
              <a:rPr lang="en-US" dirty="0"/>
              <a:t>Install this package </a:t>
            </a:r>
            <a:r>
              <a:rPr lang="en-US" dirty="0">
                <a:sym typeface="Wingdings" panose="05000000000000000000" pitchFamily="2" charset="2"/>
              </a:rPr>
              <a:t></a:t>
            </a:r>
            <a:r>
              <a:rPr lang="en-US" dirty="0">
                <a:solidFill>
                  <a:srgbClr val="FFFFFF"/>
                </a:solidFill>
                <a:effectLst/>
                <a:highlight>
                  <a:srgbClr val="0D0D0D"/>
                </a:highlight>
                <a:latin typeface="Söhne Mono"/>
                <a:sym typeface="Wingdings" panose="05000000000000000000" pitchFamily="2" charset="2"/>
              </a:rPr>
              <a:t>install-package</a:t>
            </a:r>
            <a:r>
              <a:rPr lang="en-US" b="0" i="0" dirty="0">
                <a:solidFill>
                  <a:srgbClr val="FFFFFF"/>
                </a:solidFill>
                <a:effectLst/>
                <a:highlight>
                  <a:srgbClr val="0D0D0D"/>
                </a:highlight>
                <a:latin typeface="Söhne Mono"/>
              </a:rPr>
              <a:t> </a:t>
            </a:r>
            <a:r>
              <a:rPr lang="en-US" b="0" i="0" dirty="0" err="1">
                <a:solidFill>
                  <a:srgbClr val="FFFFFF"/>
                </a:solidFill>
                <a:effectLst/>
                <a:highlight>
                  <a:srgbClr val="0D0D0D"/>
                </a:highlight>
                <a:latin typeface="Söhne Mono"/>
              </a:rPr>
              <a:t>Microsoft.Extensions.Http</a:t>
            </a:r>
            <a:endParaRPr lang="en-US" b="0" i="0" dirty="0">
              <a:solidFill>
                <a:srgbClr val="FFFFFF"/>
              </a:solidFill>
              <a:effectLst/>
              <a:highlight>
                <a:srgbClr val="0D0D0D"/>
              </a:highlight>
              <a:latin typeface="Söhne Mono"/>
            </a:endParaRPr>
          </a:p>
          <a:p>
            <a:r>
              <a:rPr lang="en-US" dirty="0"/>
              <a:t>At </a:t>
            </a:r>
            <a:r>
              <a:rPr lang="en-US" dirty="0" err="1"/>
              <a:t>appsetting.json</a:t>
            </a:r>
            <a:endParaRPr lang="en-US" dirty="0"/>
          </a:p>
          <a:p>
            <a:endParaRPr lang="en-US" dirty="0"/>
          </a:p>
          <a:p>
            <a:pPr marL="36900" indent="0">
              <a:buNone/>
            </a:pPr>
            <a:endParaRPr lang="en-US" dirty="0"/>
          </a:p>
          <a:p>
            <a:r>
              <a:rPr lang="en-US" dirty="0"/>
              <a:t>At </a:t>
            </a:r>
            <a:r>
              <a:rPr lang="en-US" dirty="0" err="1"/>
              <a:t>program.cs</a:t>
            </a:r>
            <a:endParaRPr lang="en-US" dirty="0"/>
          </a:p>
          <a:p>
            <a:endParaRPr lang="en-US" dirty="0"/>
          </a:p>
          <a:p>
            <a:endParaRPr lang="en-US" dirty="0"/>
          </a:p>
        </p:txBody>
      </p:sp>
      <p:pic>
        <p:nvPicPr>
          <p:cNvPr id="5" name="Picture 4">
            <a:extLst>
              <a:ext uri="{FF2B5EF4-FFF2-40B4-BE49-F238E27FC236}">
                <a16:creationId xmlns:a16="http://schemas.microsoft.com/office/drawing/2014/main" id="{1495B3DC-1802-7EC4-9EB0-AAF324DCD9D6}"/>
              </a:ext>
            </a:extLst>
          </p:cNvPr>
          <p:cNvPicPr>
            <a:picLocks noChangeAspect="1"/>
          </p:cNvPicPr>
          <p:nvPr/>
        </p:nvPicPr>
        <p:blipFill>
          <a:blip r:embed="rId2"/>
          <a:stretch>
            <a:fillRect/>
          </a:stretch>
        </p:blipFill>
        <p:spPr>
          <a:xfrm>
            <a:off x="1476375" y="1733396"/>
            <a:ext cx="3143250" cy="638175"/>
          </a:xfrm>
          <a:prstGeom prst="rect">
            <a:avLst/>
          </a:prstGeom>
        </p:spPr>
      </p:pic>
      <p:sp>
        <p:nvSpPr>
          <p:cNvPr id="8" name="Rectangle 1">
            <a:extLst>
              <a:ext uri="{FF2B5EF4-FFF2-40B4-BE49-F238E27FC236}">
                <a16:creationId xmlns:a16="http://schemas.microsoft.com/office/drawing/2014/main" id="{A2D70A05-5AF5-1282-1575-9F33DF500E1D}"/>
              </a:ext>
            </a:extLst>
          </p:cNvPr>
          <p:cNvSpPr txBox="1">
            <a:spLocks noChangeArrowheads="1"/>
          </p:cNvSpPr>
          <p:nvPr/>
        </p:nvSpPr>
        <p:spPr bwMode="auto">
          <a:xfrm>
            <a:off x="78659" y="3175051"/>
            <a:ext cx="10613922" cy="33732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r>
              <a:rPr lang="en-US" sz="1050" dirty="0">
                <a:solidFill>
                  <a:srgbClr val="000000"/>
                </a:solidFill>
                <a:latin typeface="Cascadia Mono" panose="020B0609020000020004" pitchFamily="49" charset="0"/>
              </a:rPr>
              <a:t>// it’s registration to service and http client </a:t>
            </a:r>
            <a:r>
              <a:rPr lang="en-US" sz="1200" dirty="0">
                <a:solidFill>
                  <a:srgbClr val="000000"/>
                </a:solidFill>
                <a:latin typeface="Cascadia Mono" panose="020B0609020000020004" pitchFamily="49" charset="0"/>
              </a:rPr>
              <a:t> </a:t>
            </a:r>
          </a:p>
          <a:p>
            <a:pPr marL="36900" indent="0">
              <a:buNone/>
            </a:pPr>
            <a:r>
              <a:rPr lang="en-US" sz="1200" dirty="0" err="1">
                <a:solidFill>
                  <a:srgbClr val="000000"/>
                </a:solidFill>
                <a:latin typeface="Cascadia Mono" panose="020B0609020000020004" pitchFamily="49" charset="0"/>
              </a:rPr>
              <a:t>builder.Services.AddHttpClient</a:t>
            </a:r>
            <a:r>
              <a:rPr lang="en-US" sz="1200" dirty="0">
                <a:solidFill>
                  <a:srgbClr val="000000"/>
                </a:solidFill>
                <a:latin typeface="Cascadia Mono" panose="020B0609020000020004" pitchFamily="49" charset="0"/>
              </a:rPr>
              <a:t>&lt;IGeneralService&lt;Course&gt;, CourseService&gt;(</a:t>
            </a:r>
          </a:p>
          <a:p>
            <a:pPr marL="36900" indent="0">
              <a:buNone/>
            </a:pP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httpclient</a:t>
            </a:r>
            <a:r>
              <a:rPr lang="en-US" sz="1200" dirty="0">
                <a:solidFill>
                  <a:srgbClr val="000000"/>
                </a:solidFill>
                <a:latin typeface="Cascadia Mono" panose="020B0609020000020004" pitchFamily="49" charset="0"/>
              </a:rPr>
              <a:t> =&gt; </a:t>
            </a:r>
            <a:r>
              <a:rPr lang="en-US" sz="1200" dirty="0" err="1">
                <a:solidFill>
                  <a:srgbClr val="000000"/>
                </a:solidFill>
                <a:latin typeface="Cascadia Mono" panose="020B0609020000020004" pitchFamily="49" charset="0"/>
              </a:rPr>
              <a:t>httpclient.BaseAddress</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Uri(</a:t>
            </a:r>
            <a:r>
              <a:rPr lang="en-US" sz="1200" dirty="0" err="1">
                <a:solidFill>
                  <a:srgbClr val="000000"/>
                </a:solidFill>
                <a:latin typeface="Cascadia Mono" panose="020B0609020000020004" pitchFamily="49" charset="0"/>
              </a:rPr>
              <a:t>builder.Configuration.GetValue</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&gt;(</a:t>
            </a:r>
            <a:r>
              <a:rPr lang="en-US" sz="1200" dirty="0">
                <a:solidFill>
                  <a:srgbClr val="A31515"/>
                </a:solidFill>
                <a:latin typeface="Cascadia Mono" panose="020B0609020000020004" pitchFamily="49" charset="0"/>
              </a:rPr>
              <a:t>"SP"</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a:t>
            </a:r>
          </a:p>
          <a:p>
            <a:pPr marL="36900" indent="0">
              <a:buNone/>
            </a:pPr>
            <a:r>
              <a:rPr lang="en-US" sz="18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builder.Services.AddHttpClient</a:t>
            </a:r>
            <a:r>
              <a:rPr lang="en-US" sz="1200" dirty="0">
                <a:solidFill>
                  <a:srgbClr val="000000"/>
                </a:solidFill>
                <a:latin typeface="Cascadia Mono" panose="020B0609020000020004" pitchFamily="49" charset="0"/>
              </a:rPr>
              <a:t>&lt;IGeneralService&lt;Product&gt;, </a:t>
            </a:r>
            <a:r>
              <a:rPr lang="en-US" sz="1200" dirty="0" err="1">
                <a:solidFill>
                  <a:srgbClr val="000000"/>
                </a:solidFill>
                <a:latin typeface="Cascadia Mono" panose="020B0609020000020004" pitchFamily="49" charset="0"/>
              </a:rPr>
              <a:t>ProductService</a:t>
            </a:r>
            <a:r>
              <a:rPr lang="en-US" sz="1200" dirty="0">
                <a:solidFill>
                  <a:srgbClr val="000000"/>
                </a:solidFill>
                <a:latin typeface="Cascadia Mono" panose="020B0609020000020004" pitchFamily="49" charset="0"/>
              </a:rPr>
              <a:t>&gt;(</a:t>
            </a:r>
          </a:p>
          <a:p>
            <a:pPr marL="36900" indent="0">
              <a:buNone/>
            </a:pPr>
            <a:r>
              <a:rPr lang="en-US" sz="1200" dirty="0">
                <a:solidFill>
                  <a:srgbClr val="000000"/>
                </a:solidFill>
                <a:latin typeface="Cascadia Mono" panose="020B0609020000020004" pitchFamily="49" charset="0"/>
              </a:rPr>
              <a:t>         </a:t>
            </a:r>
            <a:r>
              <a:rPr lang="en-US" sz="1200" dirty="0" err="1">
                <a:solidFill>
                  <a:srgbClr val="000000"/>
                </a:solidFill>
                <a:latin typeface="Cascadia Mono" panose="020B0609020000020004" pitchFamily="49" charset="0"/>
              </a:rPr>
              <a:t>httpclient</a:t>
            </a:r>
            <a:r>
              <a:rPr lang="en-US" sz="1200" dirty="0">
                <a:solidFill>
                  <a:srgbClr val="000000"/>
                </a:solidFill>
                <a:latin typeface="Cascadia Mono" panose="020B0609020000020004" pitchFamily="49" charset="0"/>
              </a:rPr>
              <a:t> =&gt; </a:t>
            </a:r>
            <a:r>
              <a:rPr lang="en-US" sz="1200" dirty="0" err="1">
                <a:solidFill>
                  <a:srgbClr val="000000"/>
                </a:solidFill>
                <a:latin typeface="Cascadia Mono" panose="020B0609020000020004" pitchFamily="49" charset="0"/>
              </a:rPr>
              <a:t>httpclient.BaseAddress</a:t>
            </a:r>
            <a:r>
              <a:rPr lang="en-US" sz="1200" dirty="0">
                <a:solidFill>
                  <a:srgbClr val="000000"/>
                </a:solidFill>
                <a:latin typeface="Cascadia Mono" panose="020B0609020000020004" pitchFamily="49" charset="0"/>
              </a:rPr>
              <a:t> = </a:t>
            </a:r>
            <a:r>
              <a:rPr lang="en-US" sz="1200" dirty="0">
                <a:solidFill>
                  <a:srgbClr val="0000FF"/>
                </a:solidFill>
                <a:latin typeface="Cascadia Mono" panose="020B0609020000020004" pitchFamily="49" charset="0"/>
              </a:rPr>
              <a:t>new</a:t>
            </a:r>
            <a:r>
              <a:rPr lang="en-US" sz="1200" dirty="0">
                <a:solidFill>
                  <a:srgbClr val="000000"/>
                </a:solidFill>
                <a:latin typeface="Cascadia Mono" panose="020B0609020000020004" pitchFamily="49" charset="0"/>
              </a:rPr>
              <a:t> Uri(</a:t>
            </a:r>
            <a:r>
              <a:rPr lang="en-US" sz="1200" dirty="0" err="1">
                <a:solidFill>
                  <a:srgbClr val="000000"/>
                </a:solidFill>
                <a:latin typeface="Cascadia Mono" panose="020B0609020000020004" pitchFamily="49" charset="0"/>
              </a:rPr>
              <a:t>builder.Configuration.GetValue</a:t>
            </a:r>
            <a:r>
              <a:rPr lang="en-US" sz="1200" dirty="0">
                <a:solidFill>
                  <a:srgbClr val="000000"/>
                </a:solidFill>
                <a:latin typeface="Cascadia Mono" panose="020B0609020000020004" pitchFamily="49" charset="0"/>
              </a:rPr>
              <a:t>&lt;</a:t>
            </a:r>
            <a:r>
              <a:rPr lang="en-US" sz="1200" dirty="0">
                <a:solidFill>
                  <a:srgbClr val="0000FF"/>
                </a:solidFill>
                <a:latin typeface="Cascadia Mono" panose="020B0609020000020004" pitchFamily="49" charset="0"/>
              </a:rPr>
              <a:t>string</a:t>
            </a:r>
            <a:r>
              <a:rPr lang="en-US" sz="1200" dirty="0">
                <a:solidFill>
                  <a:srgbClr val="000000"/>
                </a:solidFill>
                <a:latin typeface="Cascadia Mono" panose="020B0609020000020004" pitchFamily="49" charset="0"/>
              </a:rPr>
              <a:t>&gt;(</a:t>
            </a:r>
            <a:r>
              <a:rPr lang="en-US" sz="1200" dirty="0">
                <a:solidFill>
                  <a:srgbClr val="A31515"/>
                </a:solidFill>
                <a:latin typeface="Cascadia Mono" panose="020B0609020000020004" pitchFamily="49" charset="0"/>
              </a:rPr>
              <a:t>"IP"</a:t>
            </a:r>
            <a:r>
              <a:rPr lang="en-US" sz="1200" dirty="0">
                <a:solidFill>
                  <a:srgbClr val="000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 ;</a:t>
            </a:r>
          </a:p>
          <a:p>
            <a:pPr marL="36900" indent="0">
              <a:buNone/>
            </a:pP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builder.Services.AddScoped</a:t>
            </a:r>
            <a:r>
              <a:rPr lang="en-US" sz="1200" dirty="0">
                <a:solidFill>
                  <a:srgbClr val="008000"/>
                </a:solidFill>
                <a:latin typeface="Cascadia Mono" panose="020B0609020000020004" pitchFamily="49" charset="0"/>
              </a:rPr>
              <a:t>(</a:t>
            </a:r>
            <a:r>
              <a:rPr lang="en-US" sz="1200" dirty="0" err="1">
                <a:solidFill>
                  <a:srgbClr val="008000"/>
                </a:solidFill>
                <a:latin typeface="Cascadia Mono" panose="020B0609020000020004" pitchFamily="49" charset="0"/>
              </a:rPr>
              <a:t>sp</a:t>
            </a:r>
            <a:r>
              <a:rPr lang="en-US" sz="1200" dirty="0">
                <a:solidFill>
                  <a:srgbClr val="008000"/>
                </a:solidFill>
                <a:latin typeface="Cascadia Mono" panose="020B0609020000020004" pitchFamily="49" charset="0"/>
              </a:rPr>
              <a:t> =&gt; new </a:t>
            </a:r>
            <a:r>
              <a:rPr lang="en-US" sz="1200" dirty="0" err="1">
                <a:solidFill>
                  <a:srgbClr val="008000"/>
                </a:solidFill>
                <a:latin typeface="Cascadia Mono" panose="020B0609020000020004" pitchFamily="49" charset="0"/>
              </a:rPr>
              <a:t>HttpClient</a:t>
            </a:r>
            <a:endParaRPr lang="en-US" sz="1200" dirty="0">
              <a:solidFill>
                <a:srgbClr val="008000"/>
              </a:solidFill>
              <a:latin typeface="Cascadia Mono" panose="020B0609020000020004" pitchFamily="49" charset="0"/>
            </a:endParaRPr>
          </a:p>
          <a:p>
            <a:pPr marL="36900" indent="0">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p>
          <a:p>
            <a:pPr marL="36900" indent="0">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    </a:t>
            </a:r>
            <a:r>
              <a:rPr lang="en-US" sz="1200" dirty="0" err="1">
                <a:solidFill>
                  <a:srgbClr val="008000"/>
                </a:solidFill>
                <a:latin typeface="Cascadia Mono" panose="020B0609020000020004" pitchFamily="49" charset="0"/>
              </a:rPr>
              <a:t>BaseAddress</a:t>
            </a:r>
            <a:r>
              <a:rPr lang="en-US" sz="1200" dirty="0">
                <a:solidFill>
                  <a:srgbClr val="008000"/>
                </a:solidFill>
                <a:latin typeface="Cascadia Mono" panose="020B0609020000020004" pitchFamily="49" charset="0"/>
              </a:rPr>
              <a:t> = new Uri(</a:t>
            </a:r>
            <a:r>
              <a:rPr lang="en-US" sz="1200" dirty="0" err="1">
                <a:solidFill>
                  <a:srgbClr val="008000"/>
                </a:solidFill>
                <a:latin typeface="Cascadia Mono" panose="020B0609020000020004" pitchFamily="49" charset="0"/>
              </a:rPr>
              <a:t>builder.Configuration.GetValue</a:t>
            </a:r>
            <a:r>
              <a:rPr lang="en-US" sz="1200" dirty="0">
                <a:solidFill>
                  <a:srgbClr val="008000"/>
                </a:solidFill>
                <a:latin typeface="Cascadia Mono" panose="020B0609020000020004" pitchFamily="49" charset="0"/>
              </a:rPr>
              <a:t>&lt;string&gt;("SP"))</a:t>
            </a:r>
          </a:p>
          <a:p>
            <a:pPr marL="36900" indent="0">
              <a:buNone/>
            </a:pPr>
            <a:r>
              <a:rPr lang="en-US" sz="1200" dirty="0">
                <a:solidFill>
                  <a:srgbClr val="000000"/>
                </a:solidFill>
                <a:latin typeface="Cascadia Mono" panose="020B0609020000020004" pitchFamily="49" charset="0"/>
              </a:rPr>
              <a:t> </a:t>
            </a:r>
            <a:r>
              <a:rPr lang="en-US" sz="1200" dirty="0">
                <a:solidFill>
                  <a:srgbClr val="008000"/>
                </a:solidFill>
                <a:latin typeface="Cascadia Mono" panose="020B0609020000020004" pitchFamily="49" charset="0"/>
              </a:rPr>
              <a:t>//});</a:t>
            </a:r>
            <a:endParaRPr lang="en-US" sz="1000" dirty="0">
              <a:solidFill>
                <a:srgbClr val="000000"/>
              </a:solidFill>
              <a:latin typeface="Cascadia Mono" panose="020B0609020000020004" pitchFamily="49" charset="0"/>
            </a:endParaRPr>
          </a:p>
        </p:txBody>
      </p:sp>
    </p:spTree>
    <p:extLst>
      <p:ext uri="{BB962C8B-B14F-4D97-AF65-F5344CB8AC3E}">
        <p14:creationId xmlns:p14="http://schemas.microsoft.com/office/powerpoint/2010/main" val="1221694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DA5FD-B30D-7219-5DE4-A2A84BCD04BB}"/>
              </a:ext>
            </a:extLst>
          </p:cNvPr>
          <p:cNvSpPr>
            <a:spLocks noGrp="1"/>
          </p:cNvSpPr>
          <p:nvPr>
            <p:ph type="title"/>
          </p:nvPr>
        </p:nvSpPr>
        <p:spPr>
          <a:xfrm>
            <a:off x="913795" y="0"/>
            <a:ext cx="10353762" cy="658761"/>
          </a:xfrm>
        </p:spPr>
        <p:txBody>
          <a:bodyPr>
            <a:normAutofit fontScale="90000"/>
          </a:bodyPr>
          <a:lstStyle/>
          <a:p>
            <a:r>
              <a:rPr lang="en-US" dirty="0"/>
              <a:t>Global using file</a:t>
            </a:r>
          </a:p>
        </p:txBody>
      </p:sp>
      <p:sp>
        <p:nvSpPr>
          <p:cNvPr id="3" name="Content Placeholder 2">
            <a:extLst>
              <a:ext uri="{FF2B5EF4-FFF2-40B4-BE49-F238E27FC236}">
                <a16:creationId xmlns:a16="http://schemas.microsoft.com/office/drawing/2014/main" id="{1F5BDCFB-227D-615B-7693-16DF4CE32B2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436513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10921</TotalTime>
  <Words>2992</Words>
  <Application>Microsoft Office PowerPoint</Application>
  <PresentationFormat>Widescreen</PresentationFormat>
  <Paragraphs>356</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Calisto MT</vt:lpstr>
      <vt:lpstr>Cascadia Mono</vt:lpstr>
      <vt:lpstr>Söhne Mono</vt:lpstr>
      <vt:lpstr>Wingdings</vt:lpstr>
      <vt:lpstr>Wingdings 2</vt:lpstr>
      <vt:lpstr>Slate</vt:lpstr>
      <vt:lpstr>Blazor (web assembly)</vt:lpstr>
      <vt:lpstr>introduction</vt:lpstr>
      <vt:lpstr>Introduction  [cont.]</vt:lpstr>
      <vt:lpstr>How can browser execute C#</vt:lpstr>
      <vt:lpstr>Create new Blazor project</vt:lpstr>
      <vt:lpstr>Solution files</vt:lpstr>
      <vt:lpstr>Blazor page &amp;  component</vt:lpstr>
      <vt:lpstr>Component [cont.]</vt:lpstr>
      <vt:lpstr>General info</vt:lpstr>
      <vt:lpstr>General info</vt:lpstr>
      <vt:lpstr>Get parameter from route</vt:lpstr>
      <vt:lpstr>Pass data between component</vt:lpstr>
      <vt:lpstr>Pass data between component</vt:lpstr>
      <vt:lpstr>Pass data between component</vt:lpstr>
      <vt:lpstr>Life Cycle of component</vt:lpstr>
      <vt:lpstr>Injection at Blazor</vt:lpstr>
      <vt:lpstr>Injection at Blazor</vt:lpstr>
      <vt:lpstr>Built-in form component</vt:lpstr>
      <vt:lpstr>Form validation</vt:lpstr>
      <vt:lpstr>navigation</vt:lpstr>
      <vt:lpstr>Consume API</vt:lpstr>
      <vt:lpstr>Consume API [cont.] (inject HttpClient )</vt:lpstr>
      <vt:lpstr>Create Service</vt:lpstr>
      <vt:lpstr>Create service [cont.]</vt:lpstr>
      <vt:lpstr>Consume more than 1 API at your application</vt:lpstr>
      <vt:lpstr>Global using file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Blazor</dc:title>
  <dc:creator>احمد محمد سمير</dc:creator>
  <cp:lastModifiedBy>احمد محمد سمير</cp:lastModifiedBy>
  <cp:revision>188</cp:revision>
  <dcterms:created xsi:type="dcterms:W3CDTF">2024-04-26T08:29:36Z</dcterms:created>
  <dcterms:modified xsi:type="dcterms:W3CDTF">2025-08-27T08:20:48Z</dcterms:modified>
</cp:coreProperties>
</file>