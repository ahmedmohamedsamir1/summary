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307B98-21D3-4892-BAD0-A2507B536819}" type="datetimeFigureOut">
              <a:rPr lang="en-US" smtClean="0"/>
              <a:t>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F524C4-661D-48F6-8367-5FD3881E95AB}" type="slidenum">
              <a:rPr lang="en-US" smtClean="0"/>
              <a:t>‹#›</a:t>
            </a:fld>
            <a:endParaRPr lang="en-US"/>
          </a:p>
        </p:txBody>
      </p:sp>
    </p:spTree>
    <p:extLst>
      <p:ext uri="{BB962C8B-B14F-4D97-AF65-F5344CB8AC3E}">
        <p14:creationId xmlns:p14="http://schemas.microsoft.com/office/powerpoint/2010/main" val="1923940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Delude : </a:t>
            </a:r>
            <a:r>
              <a:rPr lang="ar-EG" dirty="0"/>
              <a:t>يوهم</a:t>
            </a:r>
            <a:endParaRPr lang="en-US" dirty="0"/>
          </a:p>
        </p:txBody>
      </p:sp>
      <p:sp>
        <p:nvSpPr>
          <p:cNvPr id="4" name="Slide Number Placeholder 3"/>
          <p:cNvSpPr>
            <a:spLocks noGrp="1"/>
          </p:cNvSpPr>
          <p:nvPr>
            <p:ph type="sldNum" sz="quarter" idx="5"/>
          </p:nvPr>
        </p:nvSpPr>
        <p:spPr/>
        <p:txBody>
          <a:bodyPr/>
          <a:lstStyle/>
          <a:p>
            <a:fld id="{C4F524C4-661D-48F6-8367-5FD3881E95AB}" type="slidenum">
              <a:rPr lang="en-US" smtClean="0"/>
              <a:t>2</a:t>
            </a:fld>
            <a:endParaRPr lang="en-US"/>
          </a:p>
        </p:txBody>
      </p:sp>
    </p:spTree>
    <p:extLst>
      <p:ext uri="{BB962C8B-B14F-4D97-AF65-F5344CB8AC3E}">
        <p14:creationId xmlns:p14="http://schemas.microsoft.com/office/powerpoint/2010/main" val="35444039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0049E9F-2EA7-48BF-B76F-CE2BF0DDB6BF}"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7461D4-E1A1-4F18-9A27-31633D6E8032}" type="slidenum">
              <a:rPr lang="en-US" smtClean="0"/>
              <a:t>‹#›</a:t>
            </a:fld>
            <a:endParaRPr lang="en-US"/>
          </a:p>
        </p:txBody>
      </p:sp>
    </p:spTree>
    <p:extLst>
      <p:ext uri="{BB962C8B-B14F-4D97-AF65-F5344CB8AC3E}">
        <p14:creationId xmlns:p14="http://schemas.microsoft.com/office/powerpoint/2010/main" val="2327918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049E9F-2EA7-48BF-B76F-CE2BF0DDB6BF}"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7461D4-E1A1-4F18-9A27-31633D6E8032}" type="slidenum">
              <a:rPr lang="en-US" smtClean="0"/>
              <a:t>‹#›</a:t>
            </a:fld>
            <a:endParaRPr lang="en-US"/>
          </a:p>
        </p:txBody>
      </p:sp>
    </p:spTree>
    <p:extLst>
      <p:ext uri="{BB962C8B-B14F-4D97-AF65-F5344CB8AC3E}">
        <p14:creationId xmlns:p14="http://schemas.microsoft.com/office/powerpoint/2010/main" val="1389172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049E9F-2EA7-48BF-B76F-CE2BF0DDB6BF}"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7461D4-E1A1-4F18-9A27-31633D6E8032}" type="slidenum">
              <a:rPr lang="en-US" smtClean="0"/>
              <a:t>‹#›</a:t>
            </a:fld>
            <a:endParaRPr lang="en-US"/>
          </a:p>
        </p:txBody>
      </p:sp>
    </p:spTree>
    <p:extLst>
      <p:ext uri="{BB962C8B-B14F-4D97-AF65-F5344CB8AC3E}">
        <p14:creationId xmlns:p14="http://schemas.microsoft.com/office/powerpoint/2010/main" val="1628310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0049E9F-2EA7-48BF-B76F-CE2BF0DDB6BF}"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7461D4-E1A1-4F18-9A27-31633D6E8032}" type="slidenum">
              <a:rPr lang="en-US" smtClean="0"/>
              <a:t>‹#›</a:t>
            </a:fld>
            <a:endParaRPr lang="en-US"/>
          </a:p>
        </p:txBody>
      </p:sp>
    </p:spTree>
    <p:extLst>
      <p:ext uri="{BB962C8B-B14F-4D97-AF65-F5344CB8AC3E}">
        <p14:creationId xmlns:p14="http://schemas.microsoft.com/office/powerpoint/2010/main" val="301003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0049E9F-2EA7-48BF-B76F-CE2BF0DDB6BF}" type="datetimeFigureOut">
              <a:rPr lang="en-US" smtClean="0"/>
              <a:t>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7461D4-E1A1-4F18-9A27-31633D6E8032}" type="slidenum">
              <a:rPr lang="en-US" smtClean="0"/>
              <a:t>‹#›</a:t>
            </a:fld>
            <a:endParaRPr lang="en-US"/>
          </a:p>
        </p:txBody>
      </p:sp>
    </p:spTree>
    <p:extLst>
      <p:ext uri="{BB962C8B-B14F-4D97-AF65-F5344CB8AC3E}">
        <p14:creationId xmlns:p14="http://schemas.microsoft.com/office/powerpoint/2010/main" val="1072929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0049E9F-2EA7-48BF-B76F-CE2BF0DDB6BF}" type="datetimeFigureOut">
              <a:rPr lang="en-US" smtClean="0"/>
              <a:t>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7461D4-E1A1-4F18-9A27-31633D6E8032}" type="slidenum">
              <a:rPr lang="en-US" smtClean="0"/>
              <a:t>‹#›</a:t>
            </a:fld>
            <a:endParaRPr lang="en-US"/>
          </a:p>
        </p:txBody>
      </p:sp>
    </p:spTree>
    <p:extLst>
      <p:ext uri="{BB962C8B-B14F-4D97-AF65-F5344CB8AC3E}">
        <p14:creationId xmlns:p14="http://schemas.microsoft.com/office/powerpoint/2010/main" val="2805135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049E9F-2EA7-48BF-B76F-CE2BF0DDB6BF}" type="datetimeFigureOut">
              <a:rPr lang="en-US" smtClean="0"/>
              <a:t>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7461D4-E1A1-4F18-9A27-31633D6E8032}" type="slidenum">
              <a:rPr lang="en-US" smtClean="0"/>
              <a:t>‹#›</a:t>
            </a:fld>
            <a:endParaRPr lang="en-US"/>
          </a:p>
        </p:txBody>
      </p:sp>
    </p:spTree>
    <p:extLst>
      <p:ext uri="{BB962C8B-B14F-4D97-AF65-F5344CB8AC3E}">
        <p14:creationId xmlns:p14="http://schemas.microsoft.com/office/powerpoint/2010/main" val="1420338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049E9F-2EA7-48BF-B76F-CE2BF0DDB6BF}"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7461D4-E1A1-4F18-9A27-31633D6E8032}" type="slidenum">
              <a:rPr lang="en-US" smtClean="0"/>
              <a:t>‹#›</a:t>
            </a:fld>
            <a:endParaRPr lang="en-US"/>
          </a:p>
        </p:txBody>
      </p:sp>
    </p:spTree>
    <p:extLst>
      <p:ext uri="{BB962C8B-B14F-4D97-AF65-F5344CB8AC3E}">
        <p14:creationId xmlns:p14="http://schemas.microsoft.com/office/powerpoint/2010/main" val="7503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049E9F-2EA7-48BF-B76F-CE2BF0DDB6BF}"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7461D4-E1A1-4F18-9A27-31633D6E8032}" type="slidenum">
              <a:rPr lang="en-US" smtClean="0"/>
              <a:t>‹#›</a:t>
            </a:fld>
            <a:endParaRPr lang="en-US"/>
          </a:p>
        </p:txBody>
      </p:sp>
    </p:spTree>
    <p:extLst>
      <p:ext uri="{BB962C8B-B14F-4D97-AF65-F5344CB8AC3E}">
        <p14:creationId xmlns:p14="http://schemas.microsoft.com/office/powerpoint/2010/main" val="3326758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0049E9F-2EA7-48BF-B76F-CE2BF0DDB6BF}"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7461D4-E1A1-4F18-9A27-31633D6E8032}" type="slidenum">
              <a:rPr lang="en-US" smtClean="0"/>
              <a:t>‹#›</a:t>
            </a:fld>
            <a:endParaRPr lang="en-US"/>
          </a:p>
        </p:txBody>
      </p:sp>
    </p:spTree>
    <p:extLst>
      <p:ext uri="{BB962C8B-B14F-4D97-AF65-F5344CB8AC3E}">
        <p14:creationId xmlns:p14="http://schemas.microsoft.com/office/powerpoint/2010/main" val="805837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0049E9F-2EA7-48BF-B76F-CE2BF0DDB6BF}"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7461D4-E1A1-4F18-9A27-31633D6E8032}" type="slidenum">
              <a:rPr lang="en-US" smtClean="0"/>
              <a:t>‹#›</a:t>
            </a:fld>
            <a:endParaRPr lang="en-US"/>
          </a:p>
        </p:txBody>
      </p:sp>
    </p:spTree>
    <p:extLst>
      <p:ext uri="{BB962C8B-B14F-4D97-AF65-F5344CB8AC3E}">
        <p14:creationId xmlns:p14="http://schemas.microsoft.com/office/powerpoint/2010/main" val="3836031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0049E9F-2EA7-48BF-B76F-CE2BF0DDB6BF}"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7461D4-E1A1-4F18-9A27-31633D6E8032}"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01674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0049E9F-2EA7-48BF-B76F-CE2BF0DDB6BF}"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7461D4-E1A1-4F18-9A27-31633D6E8032}" type="slidenum">
              <a:rPr lang="en-US" smtClean="0"/>
              <a:t>‹#›</a:t>
            </a:fld>
            <a:endParaRPr lang="en-US"/>
          </a:p>
        </p:txBody>
      </p:sp>
    </p:spTree>
    <p:extLst>
      <p:ext uri="{BB962C8B-B14F-4D97-AF65-F5344CB8AC3E}">
        <p14:creationId xmlns:p14="http://schemas.microsoft.com/office/powerpoint/2010/main" val="3609494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0049E9F-2EA7-48BF-B76F-CE2BF0DDB6BF}" type="datetimeFigureOut">
              <a:rPr lang="en-US" smtClean="0"/>
              <a:t>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7461D4-E1A1-4F18-9A27-31633D6E8032}" type="slidenum">
              <a:rPr lang="en-US" smtClean="0"/>
              <a:t>‹#›</a:t>
            </a:fld>
            <a:endParaRPr lang="en-US"/>
          </a:p>
        </p:txBody>
      </p:sp>
    </p:spTree>
    <p:extLst>
      <p:ext uri="{BB962C8B-B14F-4D97-AF65-F5344CB8AC3E}">
        <p14:creationId xmlns:p14="http://schemas.microsoft.com/office/powerpoint/2010/main" val="32396942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0049E9F-2EA7-48BF-B76F-CE2BF0DDB6BF}" type="datetimeFigureOut">
              <a:rPr lang="en-US" smtClean="0"/>
              <a:t>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7461D4-E1A1-4F18-9A27-31633D6E8032}" type="slidenum">
              <a:rPr lang="en-US" smtClean="0"/>
              <a:t>‹#›</a:t>
            </a:fld>
            <a:endParaRPr lang="en-US"/>
          </a:p>
        </p:txBody>
      </p:sp>
    </p:spTree>
    <p:extLst>
      <p:ext uri="{BB962C8B-B14F-4D97-AF65-F5344CB8AC3E}">
        <p14:creationId xmlns:p14="http://schemas.microsoft.com/office/powerpoint/2010/main" val="4718852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049E9F-2EA7-48BF-B76F-CE2BF0DDB6BF}"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7461D4-E1A1-4F18-9A27-31633D6E8032}" type="slidenum">
              <a:rPr lang="en-US" smtClean="0"/>
              <a:t>‹#›</a:t>
            </a:fld>
            <a:endParaRPr lang="en-US"/>
          </a:p>
        </p:txBody>
      </p:sp>
    </p:spTree>
    <p:extLst>
      <p:ext uri="{BB962C8B-B14F-4D97-AF65-F5344CB8AC3E}">
        <p14:creationId xmlns:p14="http://schemas.microsoft.com/office/powerpoint/2010/main" val="17959974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049E9F-2EA7-48BF-B76F-CE2BF0DDB6BF}"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7461D4-E1A1-4F18-9A27-31633D6E8032}" type="slidenum">
              <a:rPr lang="en-US" smtClean="0"/>
              <a:t>‹#›</a:t>
            </a:fld>
            <a:endParaRPr lang="en-US"/>
          </a:p>
        </p:txBody>
      </p:sp>
    </p:spTree>
    <p:extLst>
      <p:ext uri="{BB962C8B-B14F-4D97-AF65-F5344CB8AC3E}">
        <p14:creationId xmlns:p14="http://schemas.microsoft.com/office/powerpoint/2010/main" val="3498573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70049E9F-2EA7-48BF-B76F-CE2BF0DDB6BF}" type="datetimeFigureOut">
              <a:rPr lang="en-US" smtClean="0"/>
              <a:t>11/8/2025</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57461D4-E1A1-4F18-9A27-31633D6E8032}" type="slidenum">
              <a:rPr lang="en-US" smtClean="0"/>
              <a:t>‹#›</a:t>
            </a:fld>
            <a:endParaRPr lang="en-US"/>
          </a:p>
        </p:txBody>
      </p:sp>
    </p:spTree>
    <p:extLst>
      <p:ext uri="{BB962C8B-B14F-4D97-AF65-F5344CB8AC3E}">
        <p14:creationId xmlns:p14="http://schemas.microsoft.com/office/powerpoint/2010/main" val="397023750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CA79A-0CDF-BD43-F93D-06DC2765D4E5}"/>
              </a:ext>
            </a:extLst>
          </p:cNvPr>
          <p:cNvSpPr>
            <a:spLocks noGrp="1"/>
          </p:cNvSpPr>
          <p:nvPr>
            <p:ph type="ctrTitle"/>
          </p:nvPr>
        </p:nvSpPr>
        <p:spPr/>
        <p:txBody>
          <a:bodyPr/>
          <a:lstStyle/>
          <a:p>
            <a:r>
              <a:rPr lang="en-US" dirty="0"/>
              <a:t>SignalR</a:t>
            </a:r>
          </a:p>
        </p:txBody>
      </p:sp>
      <p:sp>
        <p:nvSpPr>
          <p:cNvPr id="3" name="Subtitle 2">
            <a:extLst>
              <a:ext uri="{FF2B5EF4-FFF2-40B4-BE49-F238E27FC236}">
                <a16:creationId xmlns:a16="http://schemas.microsoft.com/office/drawing/2014/main" id="{36EFDFC6-F374-C5B7-C9FF-F34CD21911C8}"/>
              </a:ext>
            </a:extLst>
          </p:cNvPr>
          <p:cNvSpPr>
            <a:spLocks noGrp="1"/>
          </p:cNvSpPr>
          <p:nvPr>
            <p:ph type="subTitle" idx="1"/>
          </p:nvPr>
        </p:nvSpPr>
        <p:spPr/>
        <p:txBody>
          <a:bodyPr/>
          <a:lstStyle/>
          <a:p>
            <a:r>
              <a:rPr lang="en-US" dirty="0"/>
              <a:t>By. Ahmed Mohamed Samir</a:t>
            </a:r>
          </a:p>
          <a:p>
            <a:r>
              <a:rPr lang="en-US" dirty="0"/>
              <a:t>ahmedmohamedsamir33@gmail.com</a:t>
            </a:r>
          </a:p>
        </p:txBody>
      </p:sp>
    </p:spTree>
    <p:extLst>
      <p:ext uri="{BB962C8B-B14F-4D97-AF65-F5344CB8AC3E}">
        <p14:creationId xmlns:p14="http://schemas.microsoft.com/office/powerpoint/2010/main" val="4203824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65974-E7FC-FD07-9A8A-030B3D11C453}"/>
              </a:ext>
            </a:extLst>
          </p:cNvPr>
          <p:cNvSpPr>
            <a:spLocks noGrp="1"/>
          </p:cNvSpPr>
          <p:nvPr>
            <p:ph type="title"/>
          </p:nvPr>
        </p:nvSpPr>
        <p:spPr>
          <a:xfrm>
            <a:off x="913795" y="0"/>
            <a:ext cx="10353762" cy="599768"/>
          </a:xfrm>
        </p:spPr>
        <p:txBody>
          <a:bodyPr>
            <a:normAutofit fontScale="90000"/>
          </a:bodyPr>
          <a:lstStyle/>
          <a:p>
            <a:r>
              <a:rPr lang="en-US" dirty="0"/>
              <a:t>introduction</a:t>
            </a:r>
          </a:p>
        </p:txBody>
      </p:sp>
      <p:sp>
        <p:nvSpPr>
          <p:cNvPr id="3" name="Content Placeholder 2">
            <a:extLst>
              <a:ext uri="{FF2B5EF4-FFF2-40B4-BE49-F238E27FC236}">
                <a16:creationId xmlns:a16="http://schemas.microsoft.com/office/drawing/2014/main" id="{384756DD-3525-A913-1548-102A2A373C29}"/>
              </a:ext>
            </a:extLst>
          </p:cNvPr>
          <p:cNvSpPr>
            <a:spLocks noGrp="1"/>
          </p:cNvSpPr>
          <p:nvPr>
            <p:ph idx="1"/>
          </p:nvPr>
        </p:nvSpPr>
        <p:spPr>
          <a:xfrm>
            <a:off x="412955" y="599769"/>
            <a:ext cx="10854602" cy="6066502"/>
          </a:xfrm>
        </p:spPr>
        <p:txBody>
          <a:bodyPr>
            <a:normAutofit/>
          </a:bodyPr>
          <a:lstStyle/>
          <a:p>
            <a:r>
              <a:rPr lang="en-US" dirty="0"/>
              <a:t>At stateless app when new data is posted to the server and the client needs to reconcile or receive this new data, it typically involves the client making a new request to the server to get the updated information.</a:t>
            </a:r>
          </a:p>
          <a:p>
            <a:r>
              <a:rPr lang="en-US" dirty="0"/>
              <a:t>Real time applications: any new data posted to the server will be pushed (broadcasting) to all  connected clients</a:t>
            </a:r>
          </a:p>
          <a:p>
            <a:endParaRPr lang="en-US" dirty="0"/>
          </a:p>
          <a:p>
            <a:endParaRPr lang="en-US" dirty="0"/>
          </a:p>
          <a:p>
            <a:endParaRPr lang="en-US" dirty="0"/>
          </a:p>
        </p:txBody>
      </p:sp>
    </p:spTree>
    <p:extLst>
      <p:ext uri="{BB962C8B-B14F-4D97-AF65-F5344CB8AC3E}">
        <p14:creationId xmlns:p14="http://schemas.microsoft.com/office/powerpoint/2010/main" val="3509447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1089CF-8070-C6C4-6A64-3438D21495D2}"/>
              </a:ext>
            </a:extLst>
          </p:cNvPr>
          <p:cNvSpPr>
            <a:spLocks noGrp="1"/>
          </p:cNvSpPr>
          <p:nvPr>
            <p:ph idx="1"/>
          </p:nvPr>
        </p:nvSpPr>
        <p:spPr>
          <a:xfrm>
            <a:off x="0" y="1"/>
            <a:ext cx="12113342" cy="6715432"/>
          </a:xfrm>
        </p:spPr>
        <p:txBody>
          <a:bodyPr>
            <a:normAutofit/>
          </a:bodyPr>
          <a:lstStyle/>
          <a:p>
            <a:r>
              <a:rPr lang="en-US" dirty="0"/>
              <a:t>History of how real time implemented </a:t>
            </a:r>
          </a:p>
          <a:p>
            <a:pPr lvl="1"/>
            <a:r>
              <a:rPr lang="en-US" sz="2000" b="1" dirty="0">
                <a:solidFill>
                  <a:srgbClr val="FF0000"/>
                </a:solidFill>
              </a:rPr>
              <a:t>Ajax polling</a:t>
            </a:r>
            <a:r>
              <a:rPr lang="en-US" dirty="0"/>
              <a:t>: request is sent to server specific time ajax call is sent to server to get data, but it leads to unnecessary load on the server as there is often no new data is posted</a:t>
            </a:r>
          </a:p>
          <a:p>
            <a:pPr lvl="1"/>
            <a:r>
              <a:rPr lang="en-US" sz="2000" b="1" dirty="0">
                <a:solidFill>
                  <a:srgbClr val="FF0000"/>
                </a:solidFill>
              </a:rPr>
              <a:t>Long polling</a:t>
            </a:r>
            <a:r>
              <a:rPr lang="en-US" dirty="0"/>
              <a:t>: client send a request and sever is configured to store this request if new data is available the server response, then client sends another request to be stored on the server and so on, the problem of this technique is request(connection) time out due to http specification is 30s</a:t>
            </a:r>
          </a:p>
          <a:p>
            <a:pPr lvl="1"/>
            <a:r>
              <a:rPr lang="en-US" sz="2000" b="1" dirty="0">
                <a:solidFill>
                  <a:srgbClr val="FF0000"/>
                </a:solidFill>
              </a:rPr>
              <a:t>Forever frame</a:t>
            </a:r>
            <a:r>
              <a:rPr lang="en-US" dirty="0"/>
              <a:t>: </a:t>
            </a:r>
          </a:p>
          <a:p>
            <a:pPr lvl="2"/>
            <a:r>
              <a:rPr lang="en-US" dirty="0"/>
              <a:t>It based Chunked encoding vulnerability: the server response is sent in the form of divided chunks and server does not know the length of chuncks that will be sent in response </a:t>
            </a:r>
          </a:p>
          <a:p>
            <a:pPr lvl="2"/>
            <a:r>
              <a:rPr lang="en-US" dirty="0"/>
              <a:t>So, the Server is deluded that it is continue in responding all the time and if new data is available, it will be sent as chunks and client is configured to display the received chuncks int iframe element</a:t>
            </a:r>
          </a:p>
          <a:p>
            <a:pPr lvl="2"/>
            <a:r>
              <a:rPr lang="en-US" dirty="0"/>
              <a:t>Problems</a:t>
            </a:r>
          </a:p>
          <a:p>
            <a:pPr lvl="3"/>
            <a:r>
              <a:rPr lang="en-US" sz="1600" dirty="0"/>
              <a:t>This technique works on IE only, </a:t>
            </a:r>
          </a:p>
          <a:p>
            <a:pPr lvl="3"/>
            <a:r>
              <a:rPr lang="en-US" sz="1600" dirty="0"/>
              <a:t>One way: clints need to close the forever frame to post data and then open the forever frame</a:t>
            </a:r>
          </a:p>
          <a:p>
            <a:pPr lvl="3"/>
            <a:r>
              <a:rPr lang="en-US" sz="1600" dirty="0"/>
              <a:t>Chuncks is sent as script and load into iframe so it makes load  on the page due to a lot of chunks</a:t>
            </a:r>
          </a:p>
          <a:p>
            <a:pPr lvl="1"/>
            <a:r>
              <a:rPr lang="en-US" b="1" dirty="0">
                <a:solidFill>
                  <a:srgbClr val="FF0000"/>
                </a:solidFill>
              </a:rPr>
              <a:t>Server sent event</a:t>
            </a:r>
          </a:p>
          <a:p>
            <a:pPr lvl="1"/>
            <a:r>
              <a:rPr lang="en-US" b="1" dirty="0">
                <a:solidFill>
                  <a:srgbClr val="FF0000"/>
                </a:solidFill>
              </a:rPr>
              <a:t>Web socket protocol: </a:t>
            </a:r>
            <a:r>
              <a:rPr lang="en-US" dirty="0"/>
              <a:t>full duplex connection(channel) is stablished between client and server and they can send and receive data whenever they want, this protocol use http protocol to make handshaking between server and client</a:t>
            </a:r>
          </a:p>
          <a:p>
            <a:pPr lvl="2"/>
            <a:r>
              <a:rPr lang="en-US" dirty="0"/>
              <a:t>Problem: work on technologies of 2012 and after</a:t>
            </a:r>
          </a:p>
        </p:txBody>
      </p:sp>
    </p:spTree>
    <p:extLst>
      <p:ext uri="{BB962C8B-B14F-4D97-AF65-F5344CB8AC3E}">
        <p14:creationId xmlns:p14="http://schemas.microsoft.com/office/powerpoint/2010/main" val="1451233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B669D-7668-95C2-7661-04695E85CBEE}"/>
              </a:ext>
            </a:extLst>
          </p:cNvPr>
          <p:cNvSpPr>
            <a:spLocks noGrp="1"/>
          </p:cNvSpPr>
          <p:nvPr>
            <p:ph type="title"/>
          </p:nvPr>
        </p:nvSpPr>
        <p:spPr>
          <a:xfrm>
            <a:off x="913795" y="0"/>
            <a:ext cx="10353762" cy="717755"/>
          </a:xfrm>
        </p:spPr>
        <p:txBody>
          <a:bodyPr/>
          <a:lstStyle/>
          <a:p>
            <a:r>
              <a:rPr lang="en-US" dirty="0"/>
              <a:t>SignalR</a:t>
            </a:r>
          </a:p>
        </p:txBody>
      </p:sp>
      <p:sp>
        <p:nvSpPr>
          <p:cNvPr id="3" name="Content Placeholder 2">
            <a:extLst>
              <a:ext uri="{FF2B5EF4-FFF2-40B4-BE49-F238E27FC236}">
                <a16:creationId xmlns:a16="http://schemas.microsoft.com/office/drawing/2014/main" id="{DF175D30-4216-4923-8AB0-EF9211E39D10}"/>
              </a:ext>
            </a:extLst>
          </p:cNvPr>
          <p:cNvSpPr>
            <a:spLocks noGrp="1"/>
          </p:cNvSpPr>
          <p:nvPr>
            <p:ph idx="1"/>
          </p:nvPr>
        </p:nvSpPr>
        <p:spPr>
          <a:xfrm>
            <a:off x="275303" y="717755"/>
            <a:ext cx="11739716" cy="5860026"/>
          </a:xfrm>
        </p:spPr>
        <p:txBody>
          <a:bodyPr/>
          <a:lstStyle/>
          <a:p>
            <a:r>
              <a:rPr lang="en-US" dirty="0"/>
              <a:t>Open-source library that adding real-time functionality to your applications</a:t>
            </a:r>
          </a:p>
          <a:p>
            <a:r>
              <a:rPr lang="en-US" dirty="0"/>
              <a:t>Used the previous techniques</a:t>
            </a:r>
          </a:p>
          <a:p>
            <a:r>
              <a:rPr lang="en-US" dirty="0"/>
              <a:t>Layer service: Real time function using C# as a services [hub Layer]</a:t>
            </a:r>
          </a:p>
          <a:p>
            <a:r>
              <a:rPr lang="en-US" dirty="0"/>
              <a:t>Connection layer that determines the suitable real-time technique that can used whether it [web socket, server sent event, forever frame, long polling]</a:t>
            </a:r>
          </a:p>
          <a:p>
            <a:r>
              <a:rPr lang="en-US" dirty="0"/>
              <a:t>Client consume server</a:t>
            </a:r>
            <a:endParaRPr lang="ar-EG" dirty="0"/>
          </a:p>
          <a:p>
            <a:r>
              <a:rPr lang="en-US" dirty="0"/>
              <a:t>RPC: it’s a </a:t>
            </a:r>
            <a:r>
              <a:rPr lang="en-US" b="1" dirty="0">
                <a:solidFill>
                  <a:srgbClr val="FF0000"/>
                </a:solidFill>
              </a:rPr>
              <a:t>technique allows server to call component existed on client</a:t>
            </a:r>
          </a:p>
          <a:p>
            <a:r>
              <a:rPr lang="en-US" dirty="0"/>
              <a:t>Scenario as following: </a:t>
            </a:r>
          </a:p>
        </p:txBody>
      </p:sp>
    </p:spTree>
    <p:extLst>
      <p:ext uri="{BB962C8B-B14F-4D97-AF65-F5344CB8AC3E}">
        <p14:creationId xmlns:p14="http://schemas.microsoft.com/office/powerpoint/2010/main" val="3022206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E0B0D-2A41-C63F-DE81-BDCB549DB60B}"/>
              </a:ext>
            </a:extLst>
          </p:cNvPr>
          <p:cNvSpPr>
            <a:spLocks noGrp="1"/>
          </p:cNvSpPr>
          <p:nvPr>
            <p:ph type="title"/>
          </p:nvPr>
        </p:nvSpPr>
        <p:spPr>
          <a:xfrm>
            <a:off x="6459793" y="0"/>
            <a:ext cx="4807763" cy="560439"/>
          </a:xfrm>
        </p:spPr>
        <p:txBody>
          <a:bodyPr>
            <a:noAutofit/>
          </a:bodyPr>
          <a:lstStyle/>
          <a:p>
            <a:r>
              <a:rPr lang="en-US" sz="2800" dirty="0"/>
              <a:t>Implement service example</a:t>
            </a:r>
          </a:p>
        </p:txBody>
      </p:sp>
      <p:sp>
        <p:nvSpPr>
          <p:cNvPr id="3" name="Content Placeholder 2">
            <a:extLst>
              <a:ext uri="{FF2B5EF4-FFF2-40B4-BE49-F238E27FC236}">
                <a16:creationId xmlns:a16="http://schemas.microsoft.com/office/drawing/2014/main" id="{265B1EA6-2D6F-87B5-089E-B2168ACAF865}"/>
              </a:ext>
            </a:extLst>
          </p:cNvPr>
          <p:cNvSpPr>
            <a:spLocks noGrp="1"/>
          </p:cNvSpPr>
          <p:nvPr>
            <p:ph idx="1"/>
          </p:nvPr>
        </p:nvSpPr>
        <p:spPr>
          <a:xfrm>
            <a:off x="6931743" y="626964"/>
            <a:ext cx="4562168" cy="6157294"/>
          </a:xfrm>
        </p:spPr>
        <p:txBody>
          <a:bodyPr>
            <a:normAutofit fontScale="92500" lnSpcReduction="10000"/>
          </a:bodyPr>
          <a:lstStyle/>
          <a:p>
            <a:endParaRPr lang="en-US" dirty="0"/>
          </a:p>
          <a:p>
            <a:r>
              <a:rPr lang="en-US" dirty="0"/>
              <a:t>Make folder with name Hubs for classes of SignalR services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sz="1900" dirty="0"/>
              <a:t>Specifiy the URL endpoint at which the SignalR hub will be available In this case, the hub is mapped to the "/employee" URL path. Clients will be able to connect to this endpoint to interact with the EmployeeHub.</a:t>
            </a:r>
          </a:p>
          <a:p>
            <a:endParaRPr lang="en-US" dirty="0"/>
          </a:p>
        </p:txBody>
      </p:sp>
      <p:sp>
        <p:nvSpPr>
          <p:cNvPr id="4" name="Rectangle 1">
            <a:extLst>
              <a:ext uri="{FF2B5EF4-FFF2-40B4-BE49-F238E27FC236}">
                <a16:creationId xmlns:a16="http://schemas.microsoft.com/office/drawing/2014/main" id="{AF035911-9B98-B68F-F055-79C98A8CFD38}"/>
              </a:ext>
            </a:extLst>
          </p:cNvPr>
          <p:cNvSpPr txBox="1">
            <a:spLocks noChangeArrowheads="1"/>
          </p:cNvSpPr>
          <p:nvPr/>
        </p:nvSpPr>
        <p:spPr bwMode="auto">
          <a:xfrm>
            <a:off x="68827" y="5418024"/>
            <a:ext cx="6862916" cy="10772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0" indent="0" defTabSz="914400" eaLnBrk="0" fontAlgn="base" hangingPunct="0">
              <a:spcBef>
                <a:spcPct val="0"/>
              </a:spcBef>
              <a:spcAft>
                <a:spcPct val="0"/>
              </a:spcAft>
              <a:buClrTx/>
              <a:buSzTx/>
              <a:buNone/>
            </a:pPr>
            <a:r>
              <a:rPr lang="en-US" sz="1600" dirty="0" err="1">
                <a:solidFill>
                  <a:srgbClr val="000000"/>
                </a:solidFill>
                <a:latin typeface="Cascadia Mono" panose="020B0609020000020004" pitchFamily="49" charset="0"/>
              </a:rPr>
              <a:t>builder.Services.AddSignalR</a:t>
            </a:r>
            <a:r>
              <a:rPr lang="en-US" sz="1600" dirty="0">
                <a:solidFill>
                  <a:srgbClr val="000000"/>
                </a:solidFill>
                <a:latin typeface="Cascadia Mono" panose="020B0609020000020004" pitchFamily="49" charset="0"/>
              </a:rPr>
              <a:t>(); // </a:t>
            </a:r>
            <a:r>
              <a:rPr lang="en-US" sz="1400" dirty="0">
                <a:solidFill>
                  <a:srgbClr val="000000"/>
                </a:solidFill>
                <a:latin typeface="Cascadia Mono" panose="020B0609020000020004" pitchFamily="49" charset="0"/>
              </a:rPr>
              <a:t>Register </a:t>
            </a:r>
            <a:r>
              <a:rPr lang="en-US" sz="1400" dirty="0" err="1">
                <a:solidFill>
                  <a:srgbClr val="000000"/>
                </a:solidFill>
                <a:latin typeface="Cascadia Mono" panose="020B0609020000020004" pitchFamily="49" charset="0"/>
              </a:rPr>
              <a:t>signalR</a:t>
            </a:r>
            <a:r>
              <a:rPr lang="en-US" sz="1400" dirty="0">
                <a:solidFill>
                  <a:srgbClr val="000000"/>
                </a:solidFill>
                <a:latin typeface="Cascadia Mono" panose="020B0609020000020004" pitchFamily="49" charset="0"/>
              </a:rPr>
              <a:t> services</a:t>
            </a:r>
            <a:endParaRPr lang="en-US" sz="1600" dirty="0">
              <a:solidFill>
                <a:srgbClr val="000000"/>
              </a:solidFill>
              <a:latin typeface="Cascadia Mono" panose="020B0609020000020004" pitchFamily="49" charset="0"/>
            </a:endParaRPr>
          </a:p>
          <a:p>
            <a:pPr marL="0" indent="0" defTabSz="914400" eaLnBrk="0" fontAlgn="base" hangingPunct="0">
              <a:spcBef>
                <a:spcPct val="0"/>
              </a:spcBef>
              <a:spcAft>
                <a:spcPct val="0"/>
              </a:spcAft>
              <a:buClrTx/>
              <a:buSzTx/>
              <a:buFontTx/>
              <a:buNone/>
            </a:pPr>
            <a:endParaRPr lang="en-US" sz="1600" dirty="0">
              <a:solidFill>
                <a:srgbClr val="000000"/>
              </a:solidFill>
              <a:latin typeface="Cascadia Mono" panose="020B0609020000020004" pitchFamily="49" charset="0"/>
            </a:endParaRPr>
          </a:p>
          <a:p>
            <a:pPr marL="0" indent="0" defTabSz="914400" eaLnBrk="0" fontAlgn="base" hangingPunct="0">
              <a:spcBef>
                <a:spcPct val="0"/>
              </a:spcBef>
              <a:spcAft>
                <a:spcPct val="0"/>
              </a:spcAft>
              <a:buClrTx/>
              <a:buSzTx/>
              <a:buFontTx/>
              <a:buNone/>
            </a:pPr>
            <a:r>
              <a:rPr lang="en-US" altLang="en-US" sz="1600" dirty="0">
                <a:ln>
                  <a:noFill/>
                </a:ln>
                <a:solidFill>
                  <a:srgbClr val="000000"/>
                </a:solidFill>
                <a:effectLst/>
                <a:latin typeface="Cascadia Mono" panose="020B0609020000020004" pitchFamily="49" charset="0"/>
              </a:rPr>
              <a:t>//. . . . . </a:t>
            </a:r>
          </a:p>
          <a:p>
            <a:pPr marL="0" indent="0" defTabSz="914400" eaLnBrk="0" fontAlgn="base" hangingPunct="0">
              <a:spcBef>
                <a:spcPct val="0"/>
              </a:spcBef>
              <a:spcAft>
                <a:spcPct val="0"/>
              </a:spcAft>
              <a:buClrTx/>
              <a:buSzTx/>
              <a:buFontTx/>
              <a:buNone/>
            </a:pPr>
            <a:r>
              <a:rPr lang="en-US" sz="1600" dirty="0" err="1">
                <a:solidFill>
                  <a:srgbClr val="000000"/>
                </a:solidFill>
                <a:latin typeface="Cascadia Mono" panose="020B0609020000020004" pitchFamily="49" charset="0"/>
              </a:rPr>
              <a:t>app.MapHub</a:t>
            </a:r>
            <a:r>
              <a:rPr lang="en-US" sz="1600" dirty="0">
                <a:solidFill>
                  <a:srgbClr val="000000"/>
                </a:solidFill>
                <a:latin typeface="Cascadia Mono" panose="020B0609020000020004" pitchFamily="49" charset="0"/>
              </a:rPr>
              <a:t>&lt;EmployeeHub&gt;(</a:t>
            </a:r>
            <a:r>
              <a:rPr lang="en-US" sz="1600" dirty="0">
                <a:solidFill>
                  <a:srgbClr val="A31515"/>
                </a:solidFill>
                <a:latin typeface="Cascadia Mono" panose="020B0609020000020004" pitchFamily="49" charset="0"/>
              </a:rPr>
              <a:t>"/employee"</a:t>
            </a:r>
            <a:r>
              <a:rPr lang="en-US" sz="1600" dirty="0">
                <a:solidFill>
                  <a:srgbClr val="000000"/>
                </a:solidFill>
                <a:latin typeface="Cascadia Mono" panose="020B0609020000020004" pitchFamily="49" charset="0"/>
              </a:rPr>
              <a:t>);</a:t>
            </a:r>
            <a:endParaRPr lang="en-US" altLang="en-US" dirty="0">
              <a:ln>
                <a:noFill/>
              </a:ln>
              <a:solidFill>
                <a:srgbClr val="000000"/>
              </a:solidFill>
              <a:effectLst/>
              <a:latin typeface="Consolas" panose="020B0609020204030204" pitchFamily="49" charset="0"/>
            </a:endParaRPr>
          </a:p>
        </p:txBody>
      </p:sp>
      <p:sp>
        <p:nvSpPr>
          <p:cNvPr id="5" name="Rectangle 1">
            <a:extLst>
              <a:ext uri="{FF2B5EF4-FFF2-40B4-BE49-F238E27FC236}">
                <a16:creationId xmlns:a16="http://schemas.microsoft.com/office/drawing/2014/main" id="{270C2FED-D159-06D0-9DF1-3BA66D361B22}"/>
              </a:ext>
            </a:extLst>
          </p:cNvPr>
          <p:cNvSpPr txBox="1">
            <a:spLocks noChangeArrowheads="1"/>
          </p:cNvSpPr>
          <p:nvPr/>
        </p:nvSpPr>
        <p:spPr bwMode="auto">
          <a:xfrm>
            <a:off x="117988" y="85162"/>
            <a:ext cx="6764594" cy="51429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0" indent="0" defTabSz="914400" eaLnBrk="0" fontAlgn="base" hangingPunct="0">
              <a:spcBef>
                <a:spcPct val="0"/>
              </a:spcBef>
              <a:spcAft>
                <a:spcPct val="0"/>
              </a:spcAft>
              <a:buClrTx/>
              <a:buSzTx/>
              <a:buNone/>
            </a:pPr>
            <a:r>
              <a:rPr lang="en-US" sz="1400" dirty="0">
                <a:solidFill>
                  <a:srgbClr val="0000FF"/>
                </a:solidFill>
                <a:latin typeface="Cascadia Mono" panose="020B0609020000020004" pitchFamily="49" charset="0"/>
              </a:rPr>
              <a:t>using</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Microsoft.AspNetCore.SignalR</a:t>
            </a:r>
            <a:r>
              <a:rPr lang="en-US" sz="1400" dirty="0">
                <a:solidFill>
                  <a:srgbClr val="000000"/>
                </a:solidFill>
                <a:latin typeface="Cascadia Mono" panose="020B0609020000020004" pitchFamily="49" charset="0"/>
              </a:rPr>
              <a:t>;</a:t>
            </a:r>
          </a:p>
          <a:p>
            <a:pPr marL="36900" indent="0">
              <a:buNone/>
            </a:pP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class</a:t>
            </a:r>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EmployeeHub</a:t>
            </a:r>
            <a:r>
              <a:rPr lang="en-US" sz="1400" dirty="0">
                <a:solidFill>
                  <a:srgbClr val="000000"/>
                </a:solidFill>
                <a:latin typeface="Cascadia Mono" panose="020B0609020000020004" pitchFamily="49" charset="0"/>
              </a:rPr>
              <a:t> : Hub</a:t>
            </a:r>
          </a:p>
          <a:p>
            <a:pPr marL="36900" indent="0">
              <a:buNone/>
            </a:pP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appContext</a:t>
            </a:r>
            <a:r>
              <a:rPr lang="en-US" sz="1400" dirty="0">
                <a:solidFill>
                  <a:srgbClr val="000000"/>
                </a:solidFill>
                <a:latin typeface="Cascadia Mono" panose="020B0609020000020004" pitchFamily="49" charset="0"/>
              </a:rPr>
              <a:t> _</a:t>
            </a:r>
            <a:r>
              <a:rPr lang="en-US" sz="1400" dirty="0" err="1">
                <a:solidFill>
                  <a:srgbClr val="000000"/>
                </a:solidFill>
                <a:latin typeface="Cascadia Mono" panose="020B0609020000020004" pitchFamily="49" charset="0"/>
              </a:rPr>
              <a:t>appContext</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EmployeeHub</a:t>
            </a:r>
            <a:r>
              <a:rPr lang="en-US" sz="1400" dirty="0">
                <a:solidFill>
                  <a:srgbClr val="000000"/>
                </a:solidFill>
                <a:latin typeface="Cascadia Mono" panose="020B0609020000020004" pitchFamily="49" charset="0"/>
              </a:rPr>
              <a:t>(</a:t>
            </a:r>
            <a:r>
              <a:rPr lang="en-US" sz="1400" dirty="0" err="1">
                <a:solidFill>
                  <a:srgbClr val="000000"/>
                </a:solidFill>
                <a:latin typeface="Cascadia Mono" panose="020B0609020000020004" pitchFamily="49" charset="0"/>
              </a:rPr>
              <a:t>appContext</a:t>
            </a:r>
            <a:r>
              <a:rPr lang="en-US" sz="1400" dirty="0">
                <a:solidFill>
                  <a:srgbClr val="000000"/>
                </a:solidFill>
                <a:latin typeface="Cascadia Mono" panose="020B0609020000020004" pitchFamily="49" charset="0"/>
              </a:rPr>
              <a:t> _</a:t>
            </a:r>
            <a:r>
              <a:rPr lang="en-US" sz="1400" dirty="0" err="1">
                <a:solidFill>
                  <a:srgbClr val="000000"/>
                </a:solidFill>
                <a:latin typeface="Cascadia Mono" panose="020B0609020000020004" pitchFamily="49" charset="0"/>
              </a:rPr>
              <a:t>appContext</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   </a:t>
            </a:r>
            <a:r>
              <a:rPr lang="en-US" sz="1400" dirty="0">
                <a:solidFill>
                  <a:srgbClr val="0000FF"/>
                </a:solidFill>
                <a:latin typeface="Cascadia Mono" panose="020B0609020000020004" pitchFamily="49" charset="0"/>
              </a:rPr>
              <a:t>this</a:t>
            </a:r>
            <a:r>
              <a:rPr lang="en-US" sz="1400" dirty="0">
                <a:solidFill>
                  <a:srgbClr val="000000"/>
                </a:solidFill>
                <a:latin typeface="Cascadia Mono" panose="020B0609020000020004" pitchFamily="49" charset="0"/>
              </a:rPr>
              <a:t>._</a:t>
            </a:r>
            <a:r>
              <a:rPr lang="en-US" sz="1400" dirty="0" err="1">
                <a:solidFill>
                  <a:srgbClr val="000000"/>
                </a:solidFill>
                <a:latin typeface="Cascadia Mono" panose="020B0609020000020004" pitchFamily="49" charset="0"/>
              </a:rPr>
              <a:t>appContext</a:t>
            </a:r>
            <a:r>
              <a:rPr lang="en-US" sz="1400" dirty="0">
                <a:solidFill>
                  <a:srgbClr val="000000"/>
                </a:solidFill>
                <a:latin typeface="Cascadia Mono" panose="020B0609020000020004" pitchFamily="49" charset="0"/>
              </a:rPr>
              <a:t> = _</a:t>
            </a:r>
            <a:r>
              <a:rPr lang="en-US" sz="1400" dirty="0" err="1">
                <a:solidFill>
                  <a:srgbClr val="000000"/>
                </a:solidFill>
                <a:latin typeface="Cascadia Mono" panose="020B0609020000020004" pitchFamily="49" charset="0"/>
              </a:rPr>
              <a:t>appContext</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void</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addEmployee</a:t>
            </a:r>
            <a:r>
              <a:rPr lang="en-US" sz="1400" dirty="0">
                <a:solidFill>
                  <a:srgbClr val="000000"/>
                </a:solidFill>
                <a:latin typeface="Cascadia Mono" panose="020B0609020000020004" pitchFamily="49" charset="0"/>
              </a:rPr>
              <a:t>(Employee employee)</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_</a:t>
            </a:r>
            <a:r>
              <a:rPr lang="en-US" sz="1400" dirty="0" err="1">
                <a:solidFill>
                  <a:srgbClr val="000000"/>
                </a:solidFill>
                <a:latin typeface="Cascadia Mono" panose="020B0609020000020004" pitchFamily="49" charset="0"/>
              </a:rPr>
              <a:t>appContext.Employees.Add</a:t>
            </a:r>
            <a:r>
              <a:rPr lang="en-US" sz="1400" dirty="0">
                <a:solidFill>
                  <a:srgbClr val="000000"/>
                </a:solidFill>
                <a:latin typeface="Cascadia Mono" panose="020B0609020000020004" pitchFamily="49" charset="0"/>
              </a:rPr>
              <a:t>(employee);</a:t>
            </a:r>
          </a:p>
          <a:p>
            <a:pPr marL="36900" indent="0">
              <a:buNone/>
            </a:pPr>
            <a:r>
              <a:rPr lang="en-US" sz="1400" dirty="0">
                <a:solidFill>
                  <a:srgbClr val="000000"/>
                </a:solidFill>
                <a:latin typeface="Cascadia Mono" panose="020B0609020000020004" pitchFamily="49" charset="0"/>
              </a:rPr>
              <a:t>        _</a:t>
            </a:r>
            <a:r>
              <a:rPr lang="en-US" sz="1400" dirty="0" err="1">
                <a:solidFill>
                  <a:srgbClr val="000000"/>
                </a:solidFill>
                <a:latin typeface="Cascadia Mono" panose="020B0609020000020004" pitchFamily="49" charset="0"/>
              </a:rPr>
              <a:t>appContext.SaveChanges</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r>
              <a:rPr lang="en-US" sz="1400" dirty="0">
                <a:solidFill>
                  <a:srgbClr val="008000"/>
                </a:solidFill>
                <a:latin typeface="Cascadia Mono" panose="020B0609020000020004" pitchFamily="49" charset="0"/>
              </a:rPr>
              <a:t>//broadcasting to all online clients</a:t>
            </a:r>
          </a:p>
          <a:p>
            <a:pPr marL="36900" indent="0">
              <a:buNone/>
            </a:pP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Clients.All.SendAsync</a:t>
            </a:r>
            <a:r>
              <a:rPr lang="en-US" sz="1400" dirty="0">
                <a:solidFill>
                  <a:srgbClr val="000000"/>
                </a:solidFill>
                <a:latin typeface="Cascadia Mono" panose="020B0609020000020004" pitchFamily="49" charset="0"/>
              </a:rPr>
              <a:t>(</a:t>
            </a:r>
            <a:r>
              <a:rPr lang="en-US" sz="1400" dirty="0">
                <a:solidFill>
                  <a:srgbClr val="A31515"/>
                </a:solidFill>
                <a:latin typeface="Cascadia Mono" panose="020B0609020000020004" pitchFamily="49" charset="0"/>
              </a:rPr>
              <a:t>"</a:t>
            </a:r>
            <a:r>
              <a:rPr lang="en-US" sz="1400" dirty="0" err="1">
                <a:solidFill>
                  <a:srgbClr val="A31515"/>
                </a:solidFill>
                <a:latin typeface="Cascadia Mono" panose="020B0609020000020004" pitchFamily="49" charset="0"/>
              </a:rPr>
              <a:t>addemployee</a:t>
            </a:r>
            <a:r>
              <a:rPr lang="en-US" sz="1400" dirty="0">
                <a:solidFill>
                  <a:srgbClr val="A31515"/>
                </a:solidFill>
                <a:latin typeface="Cascadia Mono" panose="020B0609020000020004" pitchFamily="49" charset="0"/>
              </a:rPr>
              <a:t>"</a:t>
            </a:r>
            <a:r>
              <a:rPr lang="en-US" sz="1400" dirty="0">
                <a:solidFill>
                  <a:srgbClr val="000000"/>
                </a:solidFill>
                <a:latin typeface="Cascadia Mono" panose="020B0609020000020004" pitchFamily="49" charset="0"/>
              </a:rPr>
              <a:t>, employee);</a:t>
            </a:r>
          </a:p>
          <a:p>
            <a:pPr marL="36900" indent="0">
              <a:buNone/>
            </a:pPr>
            <a:r>
              <a:rPr lang="en-US" sz="1400" dirty="0">
                <a:solidFill>
                  <a:srgbClr val="000000"/>
                </a:solidFill>
                <a:latin typeface="Cascadia Mono" panose="020B0609020000020004" pitchFamily="49" charset="0"/>
              </a:rPr>
              <a:t>	// </a:t>
            </a:r>
            <a:r>
              <a:rPr lang="en-US" sz="1400" dirty="0">
                <a:solidFill>
                  <a:srgbClr val="008000"/>
                </a:solidFill>
                <a:latin typeface="Cascadia Mono" panose="020B0609020000020004" pitchFamily="49" charset="0"/>
              </a:rPr>
              <a:t>you're essentially invoking the </a:t>
            </a:r>
            <a:r>
              <a:rPr lang="en-US" sz="1400" dirty="0" err="1">
                <a:solidFill>
                  <a:srgbClr val="008000"/>
                </a:solidFill>
                <a:latin typeface="Cascadia Mono" panose="020B0609020000020004" pitchFamily="49" charset="0"/>
              </a:rPr>
              <a:t>addemployee</a:t>
            </a:r>
            <a:r>
              <a:rPr lang="en-US" sz="1400" dirty="0">
                <a:solidFill>
                  <a:srgbClr val="008000"/>
                </a:solidFill>
                <a:latin typeface="Cascadia Mono" panose="020B0609020000020004" pitchFamily="49" charset="0"/>
              </a:rPr>
              <a:t> method or 	// event handler on all connected clients.</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a:t>
            </a:r>
            <a:endParaRPr lang="en-US" altLang="en-US" sz="1800" dirty="0">
              <a:ln>
                <a:noFill/>
              </a:ln>
              <a:solidFill>
                <a:srgbClr val="000000"/>
              </a:solidFill>
              <a:effectLst/>
              <a:latin typeface="Consolas" panose="020B0609020204030204" pitchFamily="49" charset="0"/>
            </a:endParaRPr>
          </a:p>
        </p:txBody>
      </p:sp>
      <p:pic>
        <p:nvPicPr>
          <p:cNvPr id="10" name="Picture 9">
            <a:extLst>
              <a:ext uri="{FF2B5EF4-FFF2-40B4-BE49-F238E27FC236}">
                <a16:creationId xmlns:a16="http://schemas.microsoft.com/office/drawing/2014/main" id="{DB9F8533-DE76-5EBB-826C-E032236A1F90}"/>
              </a:ext>
            </a:extLst>
          </p:cNvPr>
          <p:cNvPicPr>
            <a:picLocks noChangeAspect="1"/>
          </p:cNvPicPr>
          <p:nvPr/>
        </p:nvPicPr>
        <p:blipFill>
          <a:blip r:embed="rId2"/>
          <a:stretch>
            <a:fillRect/>
          </a:stretch>
        </p:blipFill>
        <p:spPr>
          <a:xfrm>
            <a:off x="7341011" y="1870823"/>
            <a:ext cx="4152900" cy="1571625"/>
          </a:xfrm>
          <a:prstGeom prst="rect">
            <a:avLst/>
          </a:prstGeom>
        </p:spPr>
      </p:pic>
    </p:spTree>
    <p:extLst>
      <p:ext uri="{BB962C8B-B14F-4D97-AF65-F5344CB8AC3E}">
        <p14:creationId xmlns:p14="http://schemas.microsoft.com/office/powerpoint/2010/main" val="3303997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18BA8C-C28D-6081-428F-286896FEDF82}"/>
              </a:ext>
            </a:extLst>
          </p:cNvPr>
          <p:cNvSpPr>
            <a:spLocks noGrp="1"/>
          </p:cNvSpPr>
          <p:nvPr>
            <p:ph idx="1"/>
          </p:nvPr>
        </p:nvSpPr>
        <p:spPr>
          <a:xfrm>
            <a:off x="913795" y="176981"/>
            <a:ext cx="10353762" cy="6351638"/>
          </a:xfrm>
        </p:spPr>
        <p:txBody>
          <a:bodyPr/>
          <a:lstStyle/>
          <a:p>
            <a:r>
              <a:rPr lang="en-US" dirty="0"/>
              <a:t>Add </a:t>
            </a:r>
            <a:r>
              <a:rPr lang="en-US" dirty="0" err="1"/>
              <a:t>signalRclient</a:t>
            </a:r>
            <a:r>
              <a:rPr lang="en-US" dirty="0"/>
              <a:t> library </a:t>
            </a:r>
            <a:r>
              <a:rPr lang="en-US" dirty="0">
                <a:sym typeface="Wingdings" panose="05000000000000000000" pitchFamily="2" charset="2"/>
              </a:rPr>
              <a:t> </a:t>
            </a:r>
            <a:r>
              <a:rPr lang="en-US" dirty="0" err="1">
                <a:sym typeface="Wingdings" panose="05000000000000000000" pitchFamily="2" charset="2"/>
              </a:rPr>
              <a:t>wwroot</a:t>
            </a:r>
            <a:r>
              <a:rPr lang="en-US" dirty="0">
                <a:sym typeface="Wingdings" panose="05000000000000000000" pitchFamily="2" charset="2"/>
              </a:rPr>
              <a:t> + right click + add + </a:t>
            </a:r>
            <a:r>
              <a:rPr lang="en-US" dirty="0" err="1">
                <a:sym typeface="Wingdings" panose="05000000000000000000" pitchFamily="2" charset="2"/>
              </a:rPr>
              <a:t>clirnt</a:t>
            </a:r>
            <a:r>
              <a:rPr lang="en-US" dirty="0">
                <a:sym typeface="Wingdings" panose="05000000000000000000" pitchFamily="2" charset="2"/>
              </a:rPr>
              <a:t> side library</a:t>
            </a: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p>
          <a:p>
            <a:endParaRPr lang="en-US" dirty="0"/>
          </a:p>
        </p:txBody>
      </p:sp>
      <p:pic>
        <p:nvPicPr>
          <p:cNvPr id="5" name="Picture 4">
            <a:extLst>
              <a:ext uri="{FF2B5EF4-FFF2-40B4-BE49-F238E27FC236}">
                <a16:creationId xmlns:a16="http://schemas.microsoft.com/office/drawing/2014/main" id="{83D88953-B818-5D5A-0780-294A045E5690}"/>
              </a:ext>
            </a:extLst>
          </p:cNvPr>
          <p:cNvPicPr>
            <a:picLocks noChangeAspect="1"/>
          </p:cNvPicPr>
          <p:nvPr/>
        </p:nvPicPr>
        <p:blipFill>
          <a:blip r:embed="rId2"/>
          <a:stretch>
            <a:fillRect/>
          </a:stretch>
        </p:blipFill>
        <p:spPr>
          <a:xfrm>
            <a:off x="1188628" y="589167"/>
            <a:ext cx="5114925" cy="3457575"/>
          </a:xfrm>
          <a:prstGeom prst="rect">
            <a:avLst/>
          </a:prstGeom>
        </p:spPr>
      </p:pic>
      <p:sp>
        <p:nvSpPr>
          <p:cNvPr id="6" name="Arrow: Right 5">
            <a:extLst>
              <a:ext uri="{FF2B5EF4-FFF2-40B4-BE49-F238E27FC236}">
                <a16:creationId xmlns:a16="http://schemas.microsoft.com/office/drawing/2014/main" id="{175E92C6-7090-F954-93F0-23D3A25F3A98}"/>
              </a:ext>
            </a:extLst>
          </p:cNvPr>
          <p:cNvSpPr/>
          <p:nvPr/>
        </p:nvSpPr>
        <p:spPr>
          <a:xfrm>
            <a:off x="1691148" y="5122606"/>
            <a:ext cx="4612405" cy="72758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5384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8567-2054-9CB0-1DB8-FA3B74F53D4B}"/>
              </a:ext>
            </a:extLst>
          </p:cNvPr>
          <p:cNvSpPr>
            <a:spLocks noGrp="1"/>
          </p:cNvSpPr>
          <p:nvPr>
            <p:ph type="title"/>
          </p:nvPr>
        </p:nvSpPr>
        <p:spPr>
          <a:xfrm>
            <a:off x="913795" y="0"/>
            <a:ext cx="10353762" cy="452284"/>
          </a:xfrm>
        </p:spPr>
        <p:txBody>
          <a:bodyPr>
            <a:normAutofit fontScale="90000"/>
          </a:bodyPr>
          <a:lstStyle/>
          <a:p>
            <a:r>
              <a:rPr lang="en-US" dirty="0"/>
              <a:t>at client</a:t>
            </a:r>
          </a:p>
        </p:txBody>
      </p:sp>
      <p:sp>
        <p:nvSpPr>
          <p:cNvPr id="4" name="Rectangle 1">
            <a:extLst>
              <a:ext uri="{FF2B5EF4-FFF2-40B4-BE49-F238E27FC236}">
                <a16:creationId xmlns:a16="http://schemas.microsoft.com/office/drawing/2014/main" id="{41DD09FA-1C1E-C63D-FE7B-11292B63A8CD}"/>
              </a:ext>
            </a:extLst>
          </p:cNvPr>
          <p:cNvSpPr txBox="1">
            <a:spLocks noGrp="1" noChangeArrowheads="1"/>
          </p:cNvSpPr>
          <p:nvPr>
            <p:ph idx="1"/>
          </p:nvPr>
        </p:nvSpPr>
        <p:spPr bwMode="auto">
          <a:xfrm>
            <a:off x="-1" y="560891"/>
            <a:ext cx="11838039" cy="63463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400" dirty="0">
                <a:solidFill>
                  <a:srgbClr val="000000"/>
                </a:solidFill>
                <a:latin typeface="Cascadia Mono" panose="020B0609020000020004" pitchFamily="49" charset="0"/>
              </a:rPr>
              <a:t>@section Scripts {</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b="1" dirty="0">
                <a:solidFill>
                  <a:srgbClr val="800080"/>
                </a:solidFill>
                <a:latin typeface="Cascadia Mono" panose="020B0609020000020004" pitchFamily="49" charset="0"/>
              </a:rPr>
              <a:t>script</a:t>
            </a:r>
            <a:r>
              <a:rPr lang="en-US" sz="1400" b="0" dirty="0">
                <a:solidFill>
                  <a:srgbClr val="000000"/>
                </a:solidFill>
                <a:latin typeface="Cascadia Mono" panose="020B0609020000020004" pitchFamily="49" charset="0"/>
              </a:rPr>
              <a:t> </a:t>
            </a:r>
            <a:r>
              <a:rPr lang="en-US" sz="1400" b="0" dirty="0" err="1">
                <a:solidFill>
                  <a:srgbClr val="FF0000"/>
                </a:solidFill>
                <a:latin typeface="Cascadia Mono" panose="020B0609020000020004" pitchFamily="49" charset="0"/>
              </a:rPr>
              <a:t>src</a:t>
            </a:r>
            <a:r>
              <a:rPr lang="en-US" sz="1400" b="0" dirty="0">
                <a:solidFill>
                  <a:srgbClr val="0000FF"/>
                </a:solidFill>
                <a:latin typeface="Cascadia Mono" panose="020B0609020000020004" pitchFamily="49" charset="0"/>
              </a:rPr>
              <a:t>="~/</a:t>
            </a:r>
            <a:r>
              <a:rPr lang="en-US" sz="1400" b="0" dirty="0" err="1">
                <a:solidFill>
                  <a:srgbClr val="0000FF"/>
                </a:solidFill>
                <a:latin typeface="Cascadia Mono" panose="020B0609020000020004" pitchFamily="49" charset="0"/>
              </a:rPr>
              <a:t>microsoft</a:t>
            </a:r>
            <a:r>
              <a:rPr lang="en-US" sz="1400" b="0" dirty="0">
                <a:solidFill>
                  <a:srgbClr val="0000FF"/>
                </a:solidFill>
                <a:latin typeface="Cascadia Mono" panose="020B0609020000020004" pitchFamily="49" charset="0"/>
              </a:rPr>
              <a:t>/</a:t>
            </a:r>
            <a:r>
              <a:rPr lang="en-US" sz="1400" b="0" dirty="0" err="1">
                <a:solidFill>
                  <a:srgbClr val="0000FF"/>
                </a:solidFill>
                <a:latin typeface="Cascadia Mono" panose="020B0609020000020004" pitchFamily="49" charset="0"/>
              </a:rPr>
              <a:t>signalr</a:t>
            </a:r>
            <a:r>
              <a:rPr lang="en-US" sz="1400" b="0" dirty="0">
                <a:solidFill>
                  <a:srgbClr val="0000FF"/>
                </a:solidFill>
                <a:latin typeface="Cascadia Mono" panose="020B0609020000020004" pitchFamily="49" charset="0"/>
              </a:rPr>
              <a:t>/</a:t>
            </a:r>
            <a:r>
              <a:rPr lang="en-US" sz="1400" b="0" dirty="0" err="1">
                <a:solidFill>
                  <a:srgbClr val="0000FF"/>
                </a:solidFill>
                <a:latin typeface="Cascadia Mono" panose="020B0609020000020004" pitchFamily="49" charset="0"/>
              </a:rPr>
              <a:t>dist</a:t>
            </a:r>
            <a:r>
              <a:rPr lang="en-US" sz="1400" b="0" dirty="0">
                <a:solidFill>
                  <a:srgbClr val="0000FF"/>
                </a:solidFill>
                <a:latin typeface="Cascadia Mono" panose="020B0609020000020004" pitchFamily="49" charset="0"/>
              </a:rPr>
              <a:t>/browser/signalr.js"&gt;&lt;/</a:t>
            </a:r>
            <a:r>
              <a:rPr lang="en-US" sz="1400" b="1" dirty="0">
                <a:solidFill>
                  <a:srgbClr val="800080"/>
                </a:solidFill>
                <a:latin typeface="Cascadia Mono" panose="020B0609020000020004" pitchFamily="49" charset="0"/>
              </a:rPr>
              <a:t>script</a:t>
            </a:r>
            <a:r>
              <a:rPr lang="en-US" sz="1400" b="0" dirty="0">
                <a:solidFill>
                  <a:srgbClr val="0000FF"/>
                </a:solidFill>
                <a:latin typeface="Cascadia Mono" panose="020B0609020000020004" pitchFamily="49" charset="0"/>
              </a:rPr>
              <a:t>&gt;</a:t>
            </a:r>
            <a:endParaRPr lang="en-US" sz="1400" b="0" dirty="0">
              <a:solidFill>
                <a:srgbClr val="000000"/>
              </a:solidFill>
              <a:latin typeface="Cascadia Mono" panose="020B0609020000020004" pitchFamily="49" charset="0"/>
            </a:endParaRPr>
          </a:p>
          <a:p>
            <a:pPr marL="36900" indent="0">
              <a:buNone/>
            </a:pPr>
            <a:r>
              <a:rPr lang="en-US" sz="1400" b="0" dirty="0">
                <a:solidFill>
                  <a:srgbClr val="000000"/>
                </a:solidFill>
                <a:latin typeface="Cascadia Mono" panose="020B0609020000020004" pitchFamily="49" charset="0"/>
              </a:rPr>
              <a:t>    </a:t>
            </a:r>
            <a:r>
              <a:rPr lang="en-US" sz="1400" b="0" dirty="0">
                <a:solidFill>
                  <a:srgbClr val="0000FF"/>
                </a:solidFill>
                <a:latin typeface="Cascadia Mono" panose="020B0609020000020004" pitchFamily="49" charset="0"/>
              </a:rPr>
              <a:t>&lt;</a:t>
            </a:r>
            <a:r>
              <a:rPr lang="en-US" sz="1400" b="0" dirty="0">
                <a:solidFill>
                  <a:srgbClr val="800000"/>
                </a:solidFill>
                <a:latin typeface="Cascadia Mono" panose="020B0609020000020004" pitchFamily="49" charset="0"/>
              </a:rPr>
              <a:t>script</a:t>
            </a:r>
            <a:r>
              <a:rPr lang="en-US" sz="1400" b="0" dirty="0">
                <a:solidFill>
                  <a:srgbClr val="0000FF"/>
                </a:solidFill>
                <a:latin typeface="Cascadia Mono" panose="020B0609020000020004" pitchFamily="49" charset="0"/>
              </a:rPr>
              <a:t>&gt;</a:t>
            </a:r>
            <a:endParaRPr lang="en-US" sz="1400" b="0" dirty="0">
              <a:solidFill>
                <a:srgbClr val="000000"/>
              </a:solidFill>
              <a:latin typeface="Cascadia Mono" panose="020B0609020000020004" pitchFamily="49" charset="0"/>
            </a:endParaRPr>
          </a:p>
          <a:p>
            <a:pPr marL="36900" indent="0">
              <a:buNone/>
            </a:pPr>
            <a:r>
              <a:rPr lang="en-US" sz="1400" b="0" dirty="0">
                <a:solidFill>
                  <a:srgbClr val="000000"/>
                </a:solidFill>
                <a:latin typeface="Cascadia Mono" panose="020B0609020000020004" pitchFamily="49" charset="0"/>
              </a:rPr>
              <a:t>        </a:t>
            </a:r>
            <a:r>
              <a:rPr lang="en-US" sz="1400" b="0" dirty="0">
                <a:solidFill>
                  <a:srgbClr val="008000"/>
                </a:solidFill>
                <a:latin typeface="Cascadia Mono" panose="020B0609020000020004" pitchFamily="49" charset="0"/>
              </a:rPr>
              <a:t>//define connection</a:t>
            </a:r>
          </a:p>
          <a:p>
            <a:pPr marL="36900" indent="0">
              <a:buNone/>
            </a:pPr>
            <a:r>
              <a:rPr lang="en-US" sz="1400" b="0" dirty="0">
                <a:solidFill>
                  <a:srgbClr val="000000"/>
                </a:solidFill>
                <a:latin typeface="Cascadia Mono" panose="020B0609020000020004" pitchFamily="49" charset="0"/>
              </a:rPr>
              <a:t>        con = </a:t>
            </a:r>
            <a:r>
              <a:rPr lang="en-US" sz="1400" b="0" dirty="0">
                <a:solidFill>
                  <a:srgbClr val="0000FF"/>
                </a:solidFill>
                <a:latin typeface="Cascadia Mono" panose="020B0609020000020004" pitchFamily="49" charset="0"/>
              </a:rPr>
              <a:t>new</a:t>
            </a:r>
            <a:r>
              <a:rPr lang="en-US" sz="1400" b="0" dirty="0">
                <a:solidFill>
                  <a:srgbClr val="000000"/>
                </a:solidFill>
                <a:latin typeface="Cascadia Mono" panose="020B0609020000020004" pitchFamily="49" charset="0"/>
              </a:rPr>
              <a:t> </a:t>
            </a:r>
            <a:r>
              <a:rPr lang="en-US" sz="1400" b="0" dirty="0" err="1">
                <a:solidFill>
                  <a:srgbClr val="000000"/>
                </a:solidFill>
                <a:latin typeface="Cascadia Mono" panose="020B0609020000020004" pitchFamily="49" charset="0"/>
              </a:rPr>
              <a:t>signalR.HubConnectionBuilder</a:t>
            </a:r>
            <a:r>
              <a:rPr lang="en-US" sz="1400" b="0" dirty="0">
                <a:solidFill>
                  <a:srgbClr val="000000"/>
                </a:solidFill>
                <a:latin typeface="Cascadia Mono" panose="020B0609020000020004" pitchFamily="49" charset="0"/>
              </a:rPr>
              <a:t>().</a:t>
            </a:r>
            <a:r>
              <a:rPr lang="en-US" sz="1400" b="0" dirty="0" err="1">
                <a:solidFill>
                  <a:srgbClr val="000000"/>
                </a:solidFill>
                <a:latin typeface="Cascadia Mono" panose="020B0609020000020004" pitchFamily="49" charset="0"/>
              </a:rPr>
              <a:t>withUrl</a:t>
            </a:r>
            <a:r>
              <a:rPr lang="en-US" sz="1400" b="0" dirty="0">
                <a:solidFill>
                  <a:srgbClr val="000000"/>
                </a:solidFill>
                <a:latin typeface="Cascadia Mono" panose="020B0609020000020004" pitchFamily="49" charset="0"/>
              </a:rPr>
              <a:t>(</a:t>
            </a:r>
            <a:r>
              <a:rPr lang="en-US" sz="1400" b="0" dirty="0">
                <a:solidFill>
                  <a:srgbClr val="A31515"/>
                </a:solidFill>
                <a:latin typeface="Cascadia Mono" panose="020B0609020000020004" pitchFamily="49" charset="0"/>
              </a:rPr>
              <a:t>"/employee"</a:t>
            </a:r>
            <a:r>
              <a:rPr lang="en-US" sz="1400" b="0" dirty="0">
                <a:solidFill>
                  <a:srgbClr val="000000"/>
                </a:solidFill>
                <a:latin typeface="Cascadia Mono" panose="020B0609020000020004" pitchFamily="49" charset="0"/>
              </a:rPr>
              <a:t>).build();</a:t>
            </a:r>
          </a:p>
          <a:p>
            <a:pPr marL="36900" indent="0">
              <a:buNone/>
            </a:pPr>
            <a:r>
              <a:rPr lang="en-US" sz="1400" b="0" dirty="0">
                <a:solidFill>
                  <a:srgbClr val="000000"/>
                </a:solidFill>
                <a:latin typeface="Cascadia Mono" panose="020B0609020000020004" pitchFamily="49" charset="0"/>
              </a:rPr>
              <a:t>        </a:t>
            </a:r>
            <a:r>
              <a:rPr lang="en-US" sz="1400" b="0" dirty="0">
                <a:solidFill>
                  <a:srgbClr val="008000"/>
                </a:solidFill>
                <a:latin typeface="Cascadia Mono" panose="020B0609020000020004" pitchFamily="49" charset="0"/>
              </a:rPr>
              <a:t>//start connection</a:t>
            </a:r>
          </a:p>
          <a:p>
            <a:pPr marL="36900" indent="0">
              <a:buNone/>
            </a:pPr>
            <a:r>
              <a:rPr lang="en-US" sz="1400" b="0" dirty="0">
                <a:solidFill>
                  <a:srgbClr val="000000"/>
                </a:solidFill>
                <a:latin typeface="Cascadia Mono" panose="020B0609020000020004" pitchFamily="49" charset="0"/>
              </a:rPr>
              <a:t>        </a:t>
            </a:r>
            <a:r>
              <a:rPr lang="en-US" sz="1400" b="0" dirty="0" err="1">
                <a:solidFill>
                  <a:srgbClr val="000000"/>
                </a:solidFill>
                <a:latin typeface="Cascadia Mono" panose="020B0609020000020004" pitchFamily="49" charset="0"/>
              </a:rPr>
              <a:t>con.start</a:t>
            </a:r>
            <a:r>
              <a:rPr lang="en-US" sz="1400" b="0" dirty="0">
                <a:solidFill>
                  <a:srgbClr val="000000"/>
                </a:solidFill>
                <a:latin typeface="Cascadia Mono" panose="020B0609020000020004" pitchFamily="49" charset="0"/>
              </a:rPr>
              <a:t>();  </a:t>
            </a:r>
            <a:r>
              <a:rPr lang="en-US" sz="1400" b="0" dirty="0">
                <a:solidFill>
                  <a:srgbClr val="008000"/>
                </a:solidFill>
                <a:latin typeface="Cascadia Mono" panose="020B0609020000020004" pitchFamily="49" charset="0"/>
              </a:rPr>
              <a:t>// negotiate between client and server to determine which suitable real-time technique </a:t>
            </a:r>
          </a:p>
          <a:p>
            <a:pPr marL="36900" indent="0">
              <a:buNone/>
            </a:pPr>
            <a:endParaRPr lang="en-US" sz="1400" b="0" dirty="0">
              <a:solidFill>
                <a:srgbClr val="000000"/>
              </a:solidFill>
              <a:latin typeface="Cascadia Mono" panose="020B0609020000020004" pitchFamily="49" charset="0"/>
            </a:endParaRPr>
          </a:p>
          <a:p>
            <a:pPr marL="36900" indent="0">
              <a:buNone/>
            </a:pPr>
            <a:r>
              <a:rPr lang="en-US" sz="1400" b="0" dirty="0">
                <a:solidFill>
                  <a:srgbClr val="000000"/>
                </a:solidFill>
                <a:latin typeface="Cascadia Mono" panose="020B0609020000020004" pitchFamily="49" charset="0"/>
              </a:rPr>
              <a:t>        </a:t>
            </a:r>
            <a:r>
              <a:rPr lang="en-US" sz="1400" b="0" dirty="0">
                <a:solidFill>
                  <a:srgbClr val="008000"/>
                </a:solidFill>
                <a:latin typeface="Cascadia Mono" panose="020B0609020000020004" pitchFamily="49" charset="0"/>
              </a:rPr>
              <a:t>//define fun to consume service</a:t>
            </a:r>
          </a:p>
          <a:p>
            <a:pPr marL="36900" indent="0">
              <a:buNone/>
            </a:pPr>
            <a:r>
              <a:rPr lang="en-US" sz="1400" b="0" dirty="0">
                <a:solidFill>
                  <a:srgbClr val="000000"/>
                </a:solidFill>
                <a:latin typeface="Cascadia Mono" panose="020B0609020000020004" pitchFamily="49" charset="0"/>
              </a:rPr>
              <a:t>        </a:t>
            </a:r>
            <a:r>
              <a:rPr lang="en-US" sz="1400" b="0" dirty="0">
                <a:solidFill>
                  <a:srgbClr val="0000FF"/>
                </a:solidFill>
                <a:latin typeface="Cascadia Mono" panose="020B0609020000020004" pitchFamily="49" charset="0"/>
              </a:rPr>
              <a:t>function</a:t>
            </a:r>
            <a:r>
              <a:rPr lang="en-US" sz="1400" b="0" dirty="0">
                <a:solidFill>
                  <a:srgbClr val="000000"/>
                </a:solidFill>
                <a:latin typeface="Cascadia Mono" panose="020B0609020000020004" pitchFamily="49" charset="0"/>
              </a:rPr>
              <a:t> </a:t>
            </a:r>
            <a:r>
              <a:rPr lang="en-US" sz="1400" b="0" dirty="0" err="1">
                <a:solidFill>
                  <a:srgbClr val="000000"/>
                </a:solidFill>
                <a:latin typeface="Cascadia Mono" panose="020B0609020000020004" pitchFamily="49" charset="0"/>
              </a:rPr>
              <a:t>addEmp</a:t>
            </a:r>
            <a:r>
              <a:rPr lang="en-US" sz="1400" b="0" dirty="0">
                <a:solidFill>
                  <a:srgbClr val="000000"/>
                </a:solidFill>
                <a:latin typeface="Cascadia Mono" panose="020B0609020000020004" pitchFamily="49" charset="0"/>
              </a:rPr>
              <a:t>() {</a:t>
            </a:r>
          </a:p>
          <a:p>
            <a:pPr marL="36900" indent="0">
              <a:buNone/>
            </a:pPr>
            <a:r>
              <a:rPr lang="en-US" sz="1400" b="0" dirty="0">
                <a:solidFill>
                  <a:srgbClr val="000000"/>
                </a:solidFill>
                <a:latin typeface="Cascadia Mono" panose="020B0609020000020004" pitchFamily="49" charset="0"/>
              </a:rPr>
              <a:t>            </a:t>
            </a:r>
            <a:r>
              <a:rPr lang="en-US" sz="1400" b="0" dirty="0">
                <a:solidFill>
                  <a:srgbClr val="0000FF"/>
                </a:solidFill>
                <a:latin typeface="Cascadia Mono" panose="020B0609020000020004" pitchFamily="49" charset="0"/>
              </a:rPr>
              <a:t>var</a:t>
            </a:r>
            <a:r>
              <a:rPr lang="en-US" sz="1400" b="0" dirty="0">
                <a:solidFill>
                  <a:srgbClr val="000000"/>
                </a:solidFill>
                <a:latin typeface="Cascadia Mono" panose="020B0609020000020004" pitchFamily="49" charset="0"/>
              </a:rPr>
              <a:t> obj = {</a:t>
            </a:r>
          </a:p>
          <a:p>
            <a:pPr marL="36900" indent="0">
              <a:buNone/>
            </a:pPr>
            <a:r>
              <a:rPr lang="en-US" sz="1400" b="0" dirty="0">
                <a:solidFill>
                  <a:srgbClr val="000000"/>
                </a:solidFill>
                <a:latin typeface="Cascadia Mono" panose="020B0609020000020004" pitchFamily="49" charset="0"/>
              </a:rPr>
              <a:t>                </a:t>
            </a:r>
            <a:r>
              <a:rPr lang="en-US" sz="1400" b="0" dirty="0">
                <a:solidFill>
                  <a:srgbClr val="A31515"/>
                </a:solidFill>
                <a:latin typeface="Cascadia Mono" panose="020B0609020000020004" pitchFamily="49" charset="0"/>
              </a:rPr>
              <a:t>"name"</a:t>
            </a:r>
            <a:r>
              <a:rPr lang="en-US" sz="1400" b="0" dirty="0">
                <a:solidFill>
                  <a:srgbClr val="000000"/>
                </a:solidFill>
                <a:latin typeface="Cascadia Mono" panose="020B0609020000020004" pitchFamily="49" charset="0"/>
              </a:rPr>
              <a:t>: </a:t>
            </a:r>
            <a:r>
              <a:rPr lang="en-US" sz="1400" b="0" dirty="0" err="1">
                <a:solidFill>
                  <a:srgbClr val="000000"/>
                </a:solidFill>
                <a:latin typeface="Cascadia Mono" panose="020B0609020000020004" pitchFamily="49" charset="0"/>
              </a:rPr>
              <a:t>document.getElementById</a:t>
            </a:r>
            <a:r>
              <a:rPr lang="en-US" sz="1400" b="0" dirty="0">
                <a:solidFill>
                  <a:srgbClr val="000000"/>
                </a:solidFill>
                <a:latin typeface="Cascadia Mono" panose="020B0609020000020004" pitchFamily="49" charset="0"/>
              </a:rPr>
              <a:t>(</a:t>
            </a:r>
            <a:r>
              <a:rPr lang="en-US" sz="1400" b="0" dirty="0">
                <a:solidFill>
                  <a:srgbClr val="A31515"/>
                </a:solidFill>
                <a:latin typeface="Cascadia Mono" panose="020B0609020000020004" pitchFamily="49" charset="0"/>
              </a:rPr>
              <a:t>"name"</a:t>
            </a:r>
            <a:r>
              <a:rPr lang="en-US" sz="1400" b="0" dirty="0">
                <a:solidFill>
                  <a:srgbClr val="000000"/>
                </a:solidFill>
                <a:latin typeface="Cascadia Mono" panose="020B0609020000020004" pitchFamily="49" charset="0"/>
              </a:rPr>
              <a:t>).value,</a:t>
            </a:r>
          </a:p>
          <a:p>
            <a:pPr marL="36900" indent="0">
              <a:buNone/>
            </a:pPr>
            <a:r>
              <a:rPr lang="en-US" sz="1400" b="0" dirty="0">
                <a:solidFill>
                  <a:srgbClr val="000000"/>
                </a:solidFill>
                <a:latin typeface="Cascadia Mono" panose="020B0609020000020004" pitchFamily="49" charset="0"/>
              </a:rPr>
              <a:t>                </a:t>
            </a:r>
            <a:r>
              <a:rPr lang="en-US" sz="1400" b="0" dirty="0">
                <a:solidFill>
                  <a:srgbClr val="A31515"/>
                </a:solidFill>
                <a:latin typeface="Cascadia Mono" panose="020B0609020000020004" pitchFamily="49" charset="0"/>
              </a:rPr>
              <a:t>"age"</a:t>
            </a:r>
            <a:r>
              <a:rPr lang="en-US" sz="1400" b="0" dirty="0">
                <a:solidFill>
                  <a:srgbClr val="000000"/>
                </a:solidFill>
                <a:latin typeface="Cascadia Mono" panose="020B0609020000020004" pitchFamily="49" charset="0"/>
              </a:rPr>
              <a:t>: Number(</a:t>
            </a:r>
            <a:r>
              <a:rPr lang="en-US" sz="1400" b="0" dirty="0" err="1">
                <a:solidFill>
                  <a:srgbClr val="000000"/>
                </a:solidFill>
                <a:latin typeface="Cascadia Mono" panose="020B0609020000020004" pitchFamily="49" charset="0"/>
              </a:rPr>
              <a:t>document.getElementById</a:t>
            </a:r>
            <a:r>
              <a:rPr lang="en-US" sz="1400" b="0" dirty="0">
                <a:solidFill>
                  <a:srgbClr val="000000"/>
                </a:solidFill>
                <a:latin typeface="Cascadia Mono" panose="020B0609020000020004" pitchFamily="49" charset="0"/>
              </a:rPr>
              <a:t>(</a:t>
            </a:r>
            <a:r>
              <a:rPr lang="en-US" sz="1400" b="0" dirty="0">
                <a:solidFill>
                  <a:srgbClr val="A31515"/>
                </a:solidFill>
                <a:latin typeface="Cascadia Mono" panose="020B0609020000020004" pitchFamily="49" charset="0"/>
              </a:rPr>
              <a:t>"age"</a:t>
            </a:r>
            <a:r>
              <a:rPr lang="en-US" sz="1400" b="0" dirty="0">
                <a:solidFill>
                  <a:srgbClr val="000000"/>
                </a:solidFill>
                <a:latin typeface="Cascadia Mono" panose="020B0609020000020004" pitchFamily="49" charset="0"/>
              </a:rPr>
              <a:t>).value),</a:t>
            </a:r>
          </a:p>
          <a:p>
            <a:pPr marL="36900" indent="0">
              <a:buNone/>
            </a:pPr>
            <a:r>
              <a:rPr lang="en-US" sz="1400" b="0" dirty="0">
                <a:solidFill>
                  <a:srgbClr val="000000"/>
                </a:solidFill>
                <a:latin typeface="Cascadia Mono" panose="020B0609020000020004" pitchFamily="49" charset="0"/>
              </a:rPr>
              <a:t>                </a:t>
            </a:r>
            <a:r>
              <a:rPr lang="en-US" sz="1400" b="0" dirty="0">
                <a:solidFill>
                  <a:srgbClr val="A31515"/>
                </a:solidFill>
                <a:latin typeface="Cascadia Mono" panose="020B0609020000020004" pitchFamily="49" charset="0"/>
              </a:rPr>
              <a:t>"address"</a:t>
            </a:r>
            <a:r>
              <a:rPr lang="en-US" sz="1400" b="0" dirty="0">
                <a:solidFill>
                  <a:srgbClr val="000000"/>
                </a:solidFill>
                <a:latin typeface="Cascadia Mono" panose="020B0609020000020004" pitchFamily="49" charset="0"/>
              </a:rPr>
              <a:t>: </a:t>
            </a:r>
            <a:r>
              <a:rPr lang="en-US" sz="1400" b="0" dirty="0" err="1">
                <a:solidFill>
                  <a:srgbClr val="000000"/>
                </a:solidFill>
                <a:latin typeface="Cascadia Mono" panose="020B0609020000020004" pitchFamily="49" charset="0"/>
              </a:rPr>
              <a:t>document.getElementById</a:t>
            </a:r>
            <a:r>
              <a:rPr lang="en-US" sz="1400" b="0" dirty="0">
                <a:solidFill>
                  <a:srgbClr val="000000"/>
                </a:solidFill>
                <a:latin typeface="Cascadia Mono" panose="020B0609020000020004" pitchFamily="49" charset="0"/>
              </a:rPr>
              <a:t>(</a:t>
            </a:r>
            <a:r>
              <a:rPr lang="en-US" sz="1400" b="0" dirty="0">
                <a:solidFill>
                  <a:srgbClr val="A31515"/>
                </a:solidFill>
                <a:latin typeface="Cascadia Mono" panose="020B0609020000020004" pitchFamily="49" charset="0"/>
              </a:rPr>
              <a:t>"address"</a:t>
            </a:r>
            <a:r>
              <a:rPr lang="en-US" sz="1400" b="0" dirty="0">
                <a:solidFill>
                  <a:srgbClr val="000000"/>
                </a:solidFill>
                <a:latin typeface="Cascadia Mono" panose="020B0609020000020004" pitchFamily="49" charset="0"/>
              </a:rPr>
              <a:t>).value</a:t>
            </a:r>
          </a:p>
          <a:p>
            <a:pPr marL="36900" indent="0">
              <a:buNone/>
            </a:pPr>
            <a:r>
              <a:rPr lang="en-US" sz="1400" b="0" dirty="0">
                <a:solidFill>
                  <a:srgbClr val="000000"/>
                </a:solidFill>
                <a:latin typeface="Cascadia Mono" panose="020B0609020000020004" pitchFamily="49" charset="0"/>
              </a:rPr>
              <a:t>            }</a:t>
            </a:r>
          </a:p>
          <a:p>
            <a:pPr marL="36900" indent="0">
              <a:buNone/>
            </a:pPr>
            <a:r>
              <a:rPr lang="en-US" sz="1400" b="0" dirty="0">
                <a:solidFill>
                  <a:srgbClr val="000000"/>
                </a:solidFill>
                <a:latin typeface="Cascadia Mono" panose="020B0609020000020004" pitchFamily="49" charset="0"/>
              </a:rPr>
              <a:t>            </a:t>
            </a:r>
            <a:r>
              <a:rPr lang="en-US" sz="1400" b="0" dirty="0" err="1">
                <a:solidFill>
                  <a:srgbClr val="000000"/>
                </a:solidFill>
                <a:latin typeface="Cascadia Mono" panose="020B0609020000020004" pitchFamily="49" charset="0"/>
              </a:rPr>
              <a:t>con.invoke</a:t>
            </a:r>
            <a:r>
              <a:rPr lang="en-US" sz="1400" b="0" dirty="0">
                <a:solidFill>
                  <a:srgbClr val="000000"/>
                </a:solidFill>
                <a:latin typeface="Cascadia Mono" panose="020B0609020000020004" pitchFamily="49" charset="0"/>
              </a:rPr>
              <a:t>(</a:t>
            </a:r>
            <a:r>
              <a:rPr lang="en-US" sz="1400" b="0" dirty="0">
                <a:solidFill>
                  <a:srgbClr val="A31515"/>
                </a:solidFill>
                <a:latin typeface="Cascadia Mono" panose="020B0609020000020004" pitchFamily="49" charset="0"/>
              </a:rPr>
              <a:t>"</a:t>
            </a:r>
            <a:r>
              <a:rPr lang="en-US" sz="1400" b="0" dirty="0" err="1">
                <a:solidFill>
                  <a:srgbClr val="A31515"/>
                </a:solidFill>
                <a:latin typeface="Cascadia Mono" panose="020B0609020000020004" pitchFamily="49" charset="0"/>
              </a:rPr>
              <a:t>addEmployee</a:t>
            </a:r>
            <a:r>
              <a:rPr lang="en-US" sz="1400" b="0" dirty="0">
                <a:solidFill>
                  <a:srgbClr val="A31515"/>
                </a:solidFill>
                <a:latin typeface="Cascadia Mono" panose="020B0609020000020004" pitchFamily="49" charset="0"/>
              </a:rPr>
              <a:t>"</a:t>
            </a:r>
            <a:r>
              <a:rPr lang="en-US" sz="1400" b="0" dirty="0">
                <a:solidFill>
                  <a:srgbClr val="000000"/>
                </a:solidFill>
                <a:latin typeface="Cascadia Mono" panose="020B0609020000020004" pitchFamily="49" charset="0"/>
              </a:rPr>
              <a:t>, obj) //</a:t>
            </a:r>
            <a:r>
              <a:rPr lang="en-US" sz="1400" dirty="0" err="1">
                <a:solidFill>
                  <a:srgbClr val="008000"/>
                </a:solidFill>
                <a:latin typeface="Cascadia Mono" panose="020B0609020000020004" pitchFamily="49" charset="0"/>
              </a:rPr>
              <a:t>addEmployee</a:t>
            </a:r>
            <a:r>
              <a:rPr lang="en-US" sz="1400" dirty="0">
                <a:solidFill>
                  <a:srgbClr val="008000"/>
                </a:solidFill>
                <a:latin typeface="Cascadia Mono" panose="020B0609020000020004" pitchFamily="49" charset="0"/>
              </a:rPr>
              <a:t> the function at hub class</a:t>
            </a:r>
          </a:p>
          <a:p>
            <a:pPr marL="36900" indent="0">
              <a:buNone/>
            </a:pPr>
            <a:r>
              <a:rPr lang="en-US" sz="1400" b="0" dirty="0">
                <a:solidFill>
                  <a:srgbClr val="000000"/>
                </a:solidFill>
                <a:latin typeface="Cascadia Mono" panose="020B0609020000020004" pitchFamily="49" charset="0"/>
              </a:rPr>
              <a:t>        }</a:t>
            </a:r>
          </a:p>
          <a:p>
            <a:pPr marL="36900" indent="0">
              <a:buNone/>
            </a:pPr>
            <a:r>
              <a:rPr lang="en-US" sz="1400" b="0" dirty="0">
                <a:solidFill>
                  <a:srgbClr val="000000"/>
                </a:solidFill>
                <a:latin typeface="Cascadia Mono" panose="020B0609020000020004" pitchFamily="49" charset="0"/>
              </a:rPr>
              <a:t>    </a:t>
            </a:r>
            <a:r>
              <a:rPr lang="en-US" sz="1400" b="0" dirty="0">
                <a:solidFill>
                  <a:srgbClr val="0000FF"/>
                </a:solidFill>
                <a:latin typeface="Cascadia Mono" panose="020B0609020000020004" pitchFamily="49" charset="0"/>
              </a:rPr>
              <a:t>&lt;/</a:t>
            </a:r>
            <a:r>
              <a:rPr lang="en-US" sz="1400" b="0" dirty="0">
                <a:solidFill>
                  <a:srgbClr val="800000"/>
                </a:solidFill>
                <a:latin typeface="Cascadia Mono" panose="020B0609020000020004" pitchFamily="49" charset="0"/>
              </a:rPr>
              <a:t>script</a:t>
            </a:r>
            <a:r>
              <a:rPr lang="en-US" sz="1400" b="0" dirty="0">
                <a:solidFill>
                  <a:srgbClr val="0000FF"/>
                </a:solidFill>
                <a:latin typeface="Cascadia Mono" panose="020B0609020000020004" pitchFamily="49" charset="0"/>
              </a:rPr>
              <a:t>&gt;</a:t>
            </a:r>
            <a:endParaRPr lang="en-US" sz="1400" b="0" dirty="0">
              <a:solidFill>
                <a:srgbClr val="000000"/>
              </a:solidFill>
              <a:latin typeface="Cascadia Mono" panose="020B0609020000020004" pitchFamily="49" charset="0"/>
            </a:endParaRPr>
          </a:p>
          <a:p>
            <a:pPr marL="36900" indent="0">
              <a:buNone/>
            </a:pPr>
            <a:r>
              <a:rPr lang="en-US" sz="1400" b="0" dirty="0">
                <a:solidFill>
                  <a:srgbClr val="000000"/>
                </a:solidFill>
                <a:latin typeface="Cascadia Mono" panose="020B0609020000020004" pitchFamily="49" charset="0"/>
              </a:rPr>
              <a:t>}</a:t>
            </a:r>
            <a:endParaRPr lang="en-US" altLang="en-US" sz="1400" dirty="0">
              <a:ln>
                <a:noFill/>
              </a:ln>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138896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8567-2054-9CB0-1DB8-FA3B74F53D4B}"/>
              </a:ext>
            </a:extLst>
          </p:cNvPr>
          <p:cNvSpPr>
            <a:spLocks noGrp="1"/>
          </p:cNvSpPr>
          <p:nvPr>
            <p:ph type="title"/>
          </p:nvPr>
        </p:nvSpPr>
        <p:spPr>
          <a:xfrm>
            <a:off x="913795" y="0"/>
            <a:ext cx="10353762" cy="452284"/>
          </a:xfrm>
        </p:spPr>
        <p:txBody>
          <a:bodyPr>
            <a:normAutofit fontScale="90000"/>
          </a:bodyPr>
          <a:lstStyle/>
          <a:p>
            <a:r>
              <a:rPr lang="en-US" dirty="0"/>
              <a:t>at client</a:t>
            </a:r>
          </a:p>
        </p:txBody>
      </p:sp>
      <p:sp>
        <p:nvSpPr>
          <p:cNvPr id="4" name="Rectangle 1">
            <a:extLst>
              <a:ext uri="{FF2B5EF4-FFF2-40B4-BE49-F238E27FC236}">
                <a16:creationId xmlns:a16="http://schemas.microsoft.com/office/drawing/2014/main" id="{41DD09FA-1C1E-C63D-FE7B-11292B63A8CD}"/>
              </a:ext>
            </a:extLst>
          </p:cNvPr>
          <p:cNvSpPr txBox="1">
            <a:spLocks noGrp="1" noChangeArrowheads="1"/>
          </p:cNvSpPr>
          <p:nvPr>
            <p:ph idx="1"/>
          </p:nvPr>
        </p:nvSpPr>
        <p:spPr bwMode="auto">
          <a:xfrm>
            <a:off x="-1" y="896367"/>
            <a:ext cx="11838039" cy="56754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400" dirty="0">
                <a:solidFill>
                  <a:srgbClr val="000000"/>
                </a:solidFill>
                <a:latin typeface="Cascadia Mono" panose="020B0609020000020004" pitchFamily="49" charset="0"/>
              </a:rPr>
              <a:t>@section Scripts {</a:t>
            </a:r>
          </a:p>
          <a:p>
            <a:pPr marL="36900" indent="0">
              <a:buNone/>
            </a:pPr>
            <a:endParaRPr lang="en-US" sz="1400" dirty="0">
              <a:solidFill>
                <a:srgbClr val="000000"/>
              </a:solidFill>
              <a:latin typeface="Cascadia Mono" panose="020B0609020000020004" pitchFamily="49" charset="0"/>
            </a:endParaRP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b="1" dirty="0">
                <a:solidFill>
                  <a:srgbClr val="800080"/>
                </a:solidFill>
                <a:latin typeface="Cascadia Mono" panose="020B0609020000020004" pitchFamily="49" charset="0"/>
              </a:rPr>
              <a:t>script</a:t>
            </a:r>
            <a:r>
              <a:rPr lang="en-US" sz="1400" b="0" dirty="0">
                <a:solidFill>
                  <a:srgbClr val="000000"/>
                </a:solidFill>
                <a:latin typeface="Cascadia Mono" panose="020B0609020000020004" pitchFamily="49" charset="0"/>
              </a:rPr>
              <a:t> </a:t>
            </a:r>
            <a:r>
              <a:rPr lang="en-US" sz="1400" b="0" dirty="0" err="1">
                <a:solidFill>
                  <a:srgbClr val="FF0000"/>
                </a:solidFill>
                <a:latin typeface="Cascadia Mono" panose="020B0609020000020004" pitchFamily="49" charset="0"/>
              </a:rPr>
              <a:t>src</a:t>
            </a:r>
            <a:r>
              <a:rPr lang="en-US" sz="1400" b="0" dirty="0">
                <a:solidFill>
                  <a:srgbClr val="0000FF"/>
                </a:solidFill>
                <a:latin typeface="Cascadia Mono" panose="020B0609020000020004" pitchFamily="49" charset="0"/>
              </a:rPr>
              <a:t>="~/</a:t>
            </a:r>
            <a:r>
              <a:rPr lang="en-US" sz="1400" b="0" dirty="0" err="1">
                <a:solidFill>
                  <a:srgbClr val="0000FF"/>
                </a:solidFill>
                <a:latin typeface="Cascadia Mono" panose="020B0609020000020004" pitchFamily="49" charset="0"/>
              </a:rPr>
              <a:t>microsoft</a:t>
            </a:r>
            <a:r>
              <a:rPr lang="en-US" sz="1400" b="0" dirty="0">
                <a:solidFill>
                  <a:srgbClr val="0000FF"/>
                </a:solidFill>
                <a:latin typeface="Cascadia Mono" panose="020B0609020000020004" pitchFamily="49" charset="0"/>
              </a:rPr>
              <a:t>/</a:t>
            </a:r>
            <a:r>
              <a:rPr lang="en-US" sz="1400" b="0" dirty="0" err="1">
                <a:solidFill>
                  <a:srgbClr val="0000FF"/>
                </a:solidFill>
                <a:latin typeface="Cascadia Mono" panose="020B0609020000020004" pitchFamily="49" charset="0"/>
              </a:rPr>
              <a:t>signalr</a:t>
            </a:r>
            <a:r>
              <a:rPr lang="en-US" sz="1400" b="0" dirty="0">
                <a:solidFill>
                  <a:srgbClr val="0000FF"/>
                </a:solidFill>
                <a:latin typeface="Cascadia Mono" panose="020B0609020000020004" pitchFamily="49" charset="0"/>
              </a:rPr>
              <a:t>/</a:t>
            </a:r>
            <a:r>
              <a:rPr lang="en-US" sz="1400" b="0" dirty="0" err="1">
                <a:solidFill>
                  <a:srgbClr val="0000FF"/>
                </a:solidFill>
                <a:latin typeface="Cascadia Mono" panose="020B0609020000020004" pitchFamily="49" charset="0"/>
              </a:rPr>
              <a:t>dist</a:t>
            </a:r>
            <a:r>
              <a:rPr lang="en-US" sz="1400" b="0" dirty="0">
                <a:solidFill>
                  <a:srgbClr val="0000FF"/>
                </a:solidFill>
                <a:latin typeface="Cascadia Mono" panose="020B0609020000020004" pitchFamily="49" charset="0"/>
              </a:rPr>
              <a:t>/browser/signalr.js"&gt;&lt;/</a:t>
            </a:r>
            <a:r>
              <a:rPr lang="en-US" sz="1400" b="1" dirty="0">
                <a:solidFill>
                  <a:srgbClr val="800080"/>
                </a:solidFill>
                <a:latin typeface="Cascadia Mono" panose="020B0609020000020004" pitchFamily="49" charset="0"/>
              </a:rPr>
              <a:t>script</a:t>
            </a:r>
            <a:r>
              <a:rPr lang="en-US" sz="1400" b="0" dirty="0">
                <a:solidFill>
                  <a:srgbClr val="0000FF"/>
                </a:solidFill>
                <a:latin typeface="Cascadia Mono" panose="020B0609020000020004" pitchFamily="49" charset="0"/>
              </a:rPr>
              <a:t>&gt;</a:t>
            </a:r>
            <a:endParaRPr lang="en-US" sz="1400" b="0" dirty="0">
              <a:solidFill>
                <a:srgbClr val="000000"/>
              </a:solidFill>
              <a:latin typeface="Cascadia Mono" panose="020B0609020000020004" pitchFamily="49" charset="0"/>
            </a:endParaRPr>
          </a:p>
          <a:p>
            <a:pPr marL="36900" indent="0">
              <a:buNone/>
            </a:pPr>
            <a:r>
              <a:rPr lang="en-US" sz="1400" b="0" dirty="0">
                <a:solidFill>
                  <a:srgbClr val="000000"/>
                </a:solidFill>
                <a:latin typeface="Cascadia Mono" panose="020B0609020000020004" pitchFamily="49" charset="0"/>
              </a:rPr>
              <a:t>    </a:t>
            </a:r>
            <a:r>
              <a:rPr lang="en-US" sz="1400" b="0" dirty="0">
                <a:solidFill>
                  <a:srgbClr val="0000FF"/>
                </a:solidFill>
                <a:latin typeface="Cascadia Mono" panose="020B0609020000020004" pitchFamily="49" charset="0"/>
              </a:rPr>
              <a:t>&lt;</a:t>
            </a:r>
            <a:r>
              <a:rPr lang="en-US" sz="1400" b="0" dirty="0">
                <a:solidFill>
                  <a:srgbClr val="800000"/>
                </a:solidFill>
                <a:latin typeface="Cascadia Mono" panose="020B0609020000020004" pitchFamily="49" charset="0"/>
              </a:rPr>
              <a:t>script</a:t>
            </a:r>
            <a:r>
              <a:rPr lang="en-US" sz="1400" b="0" dirty="0">
                <a:solidFill>
                  <a:srgbClr val="0000FF"/>
                </a:solidFill>
                <a:latin typeface="Cascadia Mono" panose="020B0609020000020004" pitchFamily="49" charset="0"/>
              </a:rPr>
              <a:t>&gt;</a:t>
            </a:r>
            <a:endParaRPr lang="en-US" sz="1400" b="0" dirty="0">
              <a:solidFill>
                <a:srgbClr val="000000"/>
              </a:solidFill>
              <a:latin typeface="Cascadia Mono" panose="020B0609020000020004" pitchFamily="49" charset="0"/>
            </a:endParaRPr>
          </a:p>
          <a:p>
            <a:pPr marL="36900" indent="0">
              <a:buNone/>
            </a:pPr>
            <a:r>
              <a:rPr lang="en-US" sz="1400" b="0" dirty="0">
                <a:solidFill>
                  <a:srgbClr val="000000"/>
                </a:solidFill>
                <a:latin typeface="Cascadia Mono" panose="020B0609020000020004" pitchFamily="49" charset="0"/>
              </a:rPr>
              <a:t>        </a:t>
            </a:r>
            <a:r>
              <a:rPr lang="en-US" sz="1400" b="0" dirty="0">
                <a:solidFill>
                  <a:srgbClr val="008000"/>
                </a:solidFill>
                <a:latin typeface="Cascadia Mono" panose="020B0609020000020004" pitchFamily="49" charset="0"/>
              </a:rPr>
              <a:t>//define connection</a:t>
            </a:r>
          </a:p>
          <a:p>
            <a:pPr marL="36900" indent="0">
              <a:buNone/>
            </a:pPr>
            <a:r>
              <a:rPr lang="en-US" sz="1400" b="0" dirty="0">
                <a:solidFill>
                  <a:srgbClr val="000000"/>
                </a:solidFill>
                <a:latin typeface="Cascadia Mono" panose="020B0609020000020004" pitchFamily="49" charset="0"/>
              </a:rPr>
              <a:t>        con = </a:t>
            </a:r>
            <a:r>
              <a:rPr lang="en-US" sz="1400" b="0" dirty="0">
                <a:solidFill>
                  <a:srgbClr val="0000FF"/>
                </a:solidFill>
                <a:latin typeface="Cascadia Mono" panose="020B0609020000020004" pitchFamily="49" charset="0"/>
              </a:rPr>
              <a:t>new</a:t>
            </a:r>
            <a:r>
              <a:rPr lang="en-US" sz="1400" b="0" dirty="0">
                <a:solidFill>
                  <a:srgbClr val="000000"/>
                </a:solidFill>
                <a:latin typeface="Cascadia Mono" panose="020B0609020000020004" pitchFamily="49" charset="0"/>
              </a:rPr>
              <a:t> </a:t>
            </a:r>
            <a:r>
              <a:rPr lang="en-US" sz="1400" b="0" dirty="0" err="1">
                <a:solidFill>
                  <a:srgbClr val="000000"/>
                </a:solidFill>
                <a:latin typeface="Cascadia Mono" panose="020B0609020000020004" pitchFamily="49" charset="0"/>
              </a:rPr>
              <a:t>signalR.HubConnectionBuilder</a:t>
            </a:r>
            <a:r>
              <a:rPr lang="en-US" sz="1400" b="0" dirty="0">
                <a:solidFill>
                  <a:srgbClr val="000000"/>
                </a:solidFill>
                <a:latin typeface="Cascadia Mono" panose="020B0609020000020004" pitchFamily="49" charset="0"/>
              </a:rPr>
              <a:t>().</a:t>
            </a:r>
            <a:r>
              <a:rPr lang="en-US" sz="1400" b="0" dirty="0" err="1">
                <a:solidFill>
                  <a:srgbClr val="000000"/>
                </a:solidFill>
                <a:latin typeface="Cascadia Mono" panose="020B0609020000020004" pitchFamily="49" charset="0"/>
              </a:rPr>
              <a:t>withUrl</a:t>
            </a:r>
            <a:r>
              <a:rPr lang="en-US" sz="1400" b="0" dirty="0">
                <a:solidFill>
                  <a:srgbClr val="000000"/>
                </a:solidFill>
                <a:latin typeface="Cascadia Mono" panose="020B0609020000020004" pitchFamily="49" charset="0"/>
              </a:rPr>
              <a:t>(</a:t>
            </a:r>
            <a:r>
              <a:rPr lang="en-US" sz="1400" b="0" dirty="0">
                <a:solidFill>
                  <a:srgbClr val="A31515"/>
                </a:solidFill>
                <a:latin typeface="Cascadia Mono" panose="020B0609020000020004" pitchFamily="49" charset="0"/>
              </a:rPr>
              <a:t>"/employee"</a:t>
            </a:r>
            <a:r>
              <a:rPr lang="en-US" sz="1400" b="0" dirty="0">
                <a:solidFill>
                  <a:srgbClr val="000000"/>
                </a:solidFill>
                <a:latin typeface="Cascadia Mono" panose="020B0609020000020004" pitchFamily="49" charset="0"/>
              </a:rPr>
              <a:t>).build();</a:t>
            </a:r>
          </a:p>
          <a:p>
            <a:pPr marL="36900" indent="0">
              <a:buNone/>
            </a:pPr>
            <a:r>
              <a:rPr lang="en-US" sz="1400" b="0" dirty="0">
                <a:solidFill>
                  <a:srgbClr val="000000"/>
                </a:solidFill>
                <a:latin typeface="Cascadia Mono" panose="020B0609020000020004" pitchFamily="49" charset="0"/>
              </a:rPr>
              <a:t>        </a:t>
            </a:r>
            <a:r>
              <a:rPr lang="en-US" sz="1400" b="0" dirty="0">
                <a:solidFill>
                  <a:srgbClr val="008000"/>
                </a:solidFill>
                <a:latin typeface="Cascadia Mono" panose="020B0609020000020004" pitchFamily="49" charset="0"/>
              </a:rPr>
              <a:t>//start connection</a:t>
            </a:r>
          </a:p>
          <a:p>
            <a:pPr marL="36900" indent="0">
              <a:buNone/>
            </a:pPr>
            <a:r>
              <a:rPr lang="en-US" sz="1400" b="0" dirty="0">
                <a:solidFill>
                  <a:srgbClr val="000000"/>
                </a:solidFill>
                <a:latin typeface="Cascadia Mono" panose="020B0609020000020004" pitchFamily="49" charset="0"/>
              </a:rPr>
              <a:t>        </a:t>
            </a:r>
            <a:r>
              <a:rPr lang="en-US" sz="1400" b="0" dirty="0" err="1">
                <a:solidFill>
                  <a:srgbClr val="000000"/>
                </a:solidFill>
                <a:latin typeface="Cascadia Mono" panose="020B0609020000020004" pitchFamily="49" charset="0"/>
              </a:rPr>
              <a:t>con.start</a:t>
            </a:r>
            <a:r>
              <a:rPr lang="en-US" sz="1400" b="0" dirty="0">
                <a:solidFill>
                  <a:srgbClr val="000000"/>
                </a:solidFill>
                <a:latin typeface="Cascadia Mono" panose="020B0609020000020004" pitchFamily="49" charset="0"/>
              </a:rPr>
              <a:t>();</a:t>
            </a:r>
          </a:p>
          <a:p>
            <a:pPr marL="36900" indent="0">
              <a:buNone/>
            </a:pPr>
            <a:endParaRPr lang="en-US" sz="1400" b="0" dirty="0">
              <a:solidFill>
                <a:srgbClr val="000000"/>
              </a:solidFill>
              <a:latin typeface="Cascadia Mono" panose="020B0609020000020004" pitchFamily="49" charset="0"/>
            </a:endParaRPr>
          </a:p>
          <a:p>
            <a:pPr marL="36900" indent="0">
              <a:buNone/>
            </a:pPr>
            <a:r>
              <a:rPr lang="en-US" sz="1400" dirty="0">
                <a:solidFill>
                  <a:srgbClr val="000000"/>
                </a:solidFill>
                <a:latin typeface="Cascadia Mono" panose="020B0609020000020004" pitchFamily="49" charset="0"/>
              </a:rPr>
              <a:t>		</a:t>
            </a:r>
            <a:r>
              <a:rPr lang="en-US" sz="1400" dirty="0">
                <a:solidFill>
                  <a:srgbClr val="008000"/>
                </a:solidFill>
                <a:latin typeface="Cascadia Mono" panose="020B0609020000020004" pitchFamily="49" charset="0"/>
              </a:rPr>
              <a:t>// call back function that executed after broadcasting</a:t>
            </a:r>
          </a:p>
          <a:p>
            <a:pPr marL="36900" indent="0">
              <a:buNone/>
            </a:pPr>
            <a:r>
              <a:rPr lang="en-US" sz="1400" b="0" dirty="0">
                <a:solidFill>
                  <a:srgbClr val="000000"/>
                </a:solidFill>
                <a:latin typeface="Cascadia Mono" panose="020B0609020000020004" pitchFamily="49" charset="0"/>
              </a:rPr>
              <a:t>        </a:t>
            </a:r>
            <a:r>
              <a:rPr lang="en-US" sz="1400" b="0" dirty="0" err="1">
                <a:solidFill>
                  <a:srgbClr val="000000"/>
                </a:solidFill>
                <a:latin typeface="Cascadia Mono" panose="020B0609020000020004" pitchFamily="49" charset="0"/>
              </a:rPr>
              <a:t>con.on</a:t>
            </a:r>
            <a:r>
              <a:rPr lang="en-US" sz="1400" b="0" dirty="0">
                <a:solidFill>
                  <a:srgbClr val="000000"/>
                </a:solidFill>
                <a:latin typeface="Cascadia Mono" panose="020B0609020000020004" pitchFamily="49" charset="0"/>
              </a:rPr>
              <a:t>(</a:t>
            </a:r>
            <a:r>
              <a:rPr lang="en-US" sz="1400" b="0" dirty="0">
                <a:solidFill>
                  <a:srgbClr val="A31515"/>
                </a:solidFill>
                <a:latin typeface="Cascadia Mono" panose="020B0609020000020004" pitchFamily="49" charset="0"/>
              </a:rPr>
              <a:t>"</a:t>
            </a:r>
            <a:r>
              <a:rPr lang="en-US" sz="1400" b="0" dirty="0" err="1">
                <a:solidFill>
                  <a:srgbClr val="A31515"/>
                </a:solidFill>
                <a:latin typeface="Cascadia Mono" panose="020B0609020000020004" pitchFamily="49" charset="0"/>
              </a:rPr>
              <a:t>addemployee</a:t>
            </a:r>
            <a:r>
              <a:rPr lang="en-US" sz="1400" b="0" dirty="0">
                <a:solidFill>
                  <a:srgbClr val="A31515"/>
                </a:solidFill>
                <a:latin typeface="Cascadia Mono" panose="020B0609020000020004" pitchFamily="49" charset="0"/>
              </a:rPr>
              <a:t>"</a:t>
            </a:r>
            <a:r>
              <a:rPr lang="en-US" sz="1400" b="0" dirty="0">
                <a:solidFill>
                  <a:srgbClr val="000000"/>
                </a:solidFill>
                <a:latin typeface="Cascadia Mono" panose="020B0609020000020004" pitchFamily="49" charset="0"/>
              </a:rPr>
              <a:t>, </a:t>
            </a:r>
            <a:r>
              <a:rPr lang="en-US" sz="1400" b="0" dirty="0">
                <a:solidFill>
                  <a:srgbClr val="0000FF"/>
                </a:solidFill>
                <a:latin typeface="Cascadia Mono" panose="020B0609020000020004" pitchFamily="49" charset="0"/>
              </a:rPr>
              <a:t>function</a:t>
            </a:r>
            <a:r>
              <a:rPr lang="en-US" sz="1400" b="0" dirty="0">
                <a:solidFill>
                  <a:srgbClr val="000000"/>
                </a:solidFill>
                <a:latin typeface="Cascadia Mono" panose="020B0609020000020004" pitchFamily="49" charset="0"/>
              </a:rPr>
              <a:t> (employee) {</a:t>
            </a:r>
          </a:p>
          <a:p>
            <a:pPr marL="36900" indent="0">
              <a:buNone/>
            </a:pPr>
            <a:r>
              <a:rPr lang="en-US" sz="1400" b="0" dirty="0">
                <a:solidFill>
                  <a:srgbClr val="000000"/>
                </a:solidFill>
                <a:latin typeface="Cascadia Mono" panose="020B0609020000020004" pitchFamily="49" charset="0"/>
              </a:rPr>
              <a:t>            $(</a:t>
            </a:r>
            <a:r>
              <a:rPr lang="en-US" sz="1400" b="0" dirty="0">
                <a:solidFill>
                  <a:srgbClr val="A31515"/>
                </a:solidFill>
                <a:latin typeface="Cascadia Mono" panose="020B0609020000020004" pitchFamily="49" charset="0"/>
              </a:rPr>
              <a:t>"#</a:t>
            </a:r>
            <a:r>
              <a:rPr lang="en-US" sz="1400" b="0" dirty="0" err="1">
                <a:solidFill>
                  <a:srgbClr val="A31515"/>
                </a:solidFill>
                <a:latin typeface="Cascadia Mono" panose="020B0609020000020004" pitchFamily="49" charset="0"/>
              </a:rPr>
              <a:t>tbl</a:t>
            </a:r>
            <a:r>
              <a:rPr lang="en-US" sz="1400" b="0" dirty="0">
                <a:solidFill>
                  <a:srgbClr val="A31515"/>
                </a:solidFill>
                <a:latin typeface="Cascadia Mono" panose="020B0609020000020004" pitchFamily="49" charset="0"/>
              </a:rPr>
              <a:t>-body"</a:t>
            </a:r>
            <a:r>
              <a:rPr lang="en-US" sz="1400" b="0" dirty="0">
                <a:solidFill>
                  <a:srgbClr val="000000"/>
                </a:solidFill>
                <a:latin typeface="Cascadia Mono" panose="020B0609020000020004" pitchFamily="49" charset="0"/>
              </a:rPr>
              <a:t>).append(</a:t>
            </a:r>
          </a:p>
          <a:p>
            <a:pPr marL="36900" indent="0">
              <a:buNone/>
            </a:pPr>
            <a:r>
              <a:rPr lang="en-US" sz="1400" b="0" dirty="0">
                <a:solidFill>
                  <a:srgbClr val="000000"/>
                </a:solidFill>
                <a:latin typeface="Cascadia Mono" panose="020B0609020000020004" pitchFamily="49" charset="0"/>
              </a:rPr>
              <a:t>                </a:t>
            </a:r>
            <a:r>
              <a:rPr lang="en-US" sz="1400" b="0" dirty="0">
                <a:solidFill>
                  <a:srgbClr val="A31515"/>
                </a:solidFill>
                <a:latin typeface="Cascadia Mono" panose="020B0609020000020004" pitchFamily="49" charset="0"/>
              </a:rPr>
              <a:t>`&lt;tr&gt;&lt;td&gt;${</a:t>
            </a:r>
            <a:r>
              <a:rPr lang="en-US" sz="1400" b="0" dirty="0">
                <a:solidFill>
                  <a:srgbClr val="000000"/>
                </a:solidFill>
                <a:latin typeface="Cascadia Mono" panose="020B0609020000020004" pitchFamily="49" charset="0"/>
              </a:rPr>
              <a:t>employee</a:t>
            </a:r>
            <a:r>
              <a:rPr lang="en-US" sz="1400" b="0" dirty="0">
                <a:solidFill>
                  <a:srgbClr val="A31515"/>
                </a:solidFill>
                <a:latin typeface="Cascadia Mono" panose="020B0609020000020004" pitchFamily="49" charset="0"/>
              </a:rPr>
              <a:t>.</a:t>
            </a:r>
            <a:r>
              <a:rPr lang="en-US" sz="1400" b="0" dirty="0">
                <a:solidFill>
                  <a:srgbClr val="000000"/>
                </a:solidFill>
                <a:latin typeface="Cascadia Mono" panose="020B0609020000020004" pitchFamily="49" charset="0"/>
              </a:rPr>
              <a:t>name</a:t>
            </a:r>
            <a:r>
              <a:rPr lang="en-US" sz="1400" b="0" dirty="0">
                <a:solidFill>
                  <a:srgbClr val="A31515"/>
                </a:solidFill>
                <a:latin typeface="Cascadia Mono" panose="020B0609020000020004" pitchFamily="49" charset="0"/>
              </a:rPr>
              <a:t>}&lt;/td&gt;&lt;td&gt;${</a:t>
            </a:r>
            <a:r>
              <a:rPr lang="en-US" sz="1400" b="0" dirty="0" err="1">
                <a:solidFill>
                  <a:srgbClr val="000000"/>
                </a:solidFill>
                <a:latin typeface="Cascadia Mono" panose="020B0609020000020004" pitchFamily="49" charset="0"/>
              </a:rPr>
              <a:t>employee</a:t>
            </a:r>
            <a:r>
              <a:rPr lang="en-US" sz="1400" b="0" dirty="0" err="1">
                <a:solidFill>
                  <a:srgbClr val="A31515"/>
                </a:solidFill>
                <a:latin typeface="Cascadia Mono" panose="020B0609020000020004" pitchFamily="49" charset="0"/>
              </a:rPr>
              <a:t>.</a:t>
            </a:r>
            <a:r>
              <a:rPr lang="en-US" sz="1400" b="0" dirty="0" err="1">
                <a:solidFill>
                  <a:srgbClr val="000000"/>
                </a:solidFill>
                <a:latin typeface="Cascadia Mono" panose="020B0609020000020004" pitchFamily="49" charset="0"/>
              </a:rPr>
              <a:t>age</a:t>
            </a:r>
            <a:r>
              <a:rPr lang="en-US" sz="1400" b="0" dirty="0">
                <a:solidFill>
                  <a:srgbClr val="A31515"/>
                </a:solidFill>
                <a:latin typeface="Cascadia Mono" panose="020B0609020000020004" pitchFamily="49" charset="0"/>
              </a:rPr>
              <a:t>}&lt;/td&gt;&lt;td&gt;${</a:t>
            </a:r>
            <a:r>
              <a:rPr lang="en-US" sz="1400" b="0" dirty="0" err="1">
                <a:solidFill>
                  <a:srgbClr val="000000"/>
                </a:solidFill>
                <a:latin typeface="Cascadia Mono" panose="020B0609020000020004" pitchFamily="49" charset="0"/>
              </a:rPr>
              <a:t>employee</a:t>
            </a:r>
            <a:r>
              <a:rPr lang="en-US" sz="1400" b="0" dirty="0" err="1">
                <a:solidFill>
                  <a:srgbClr val="A31515"/>
                </a:solidFill>
                <a:latin typeface="Cascadia Mono" panose="020B0609020000020004" pitchFamily="49" charset="0"/>
              </a:rPr>
              <a:t>.</a:t>
            </a:r>
            <a:r>
              <a:rPr lang="en-US" sz="1400" b="0" dirty="0" err="1">
                <a:solidFill>
                  <a:srgbClr val="000000"/>
                </a:solidFill>
                <a:latin typeface="Cascadia Mono" panose="020B0609020000020004" pitchFamily="49" charset="0"/>
              </a:rPr>
              <a:t>address</a:t>
            </a:r>
            <a:r>
              <a:rPr lang="en-US" sz="1400" b="0" dirty="0">
                <a:solidFill>
                  <a:srgbClr val="A31515"/>
                </a:solidFill>
                <a:latin typeface="Cascadia Mono" panose="020B0609020000020004" pitchFamily="49" charset="0"/>
              </a:rPr>
              <a:t>}&lt;/td&gt;&lt;/tr&gt;`</a:t>
            </a:r>
            <a:endParaRPr lang="en-US" sz="1400" b="0" dirty="0">
              <a:solidFill>
                <a:srgbClr val="000000"/>
              </a:solidFill>
              <a:latin typeface="Cascadia Mono" panose="020B0609020000020004" pitchFamily="49" charset="0"/>
            </a:endParaRPr>
          </a:p>
          <a:p>
            <a:pPr marL="36900" indent="0">
              <a:buNone/>
            </a:pPr>
            <a:r>
              <a:rPr lang="en-US" sz="1400" b="0" dirty="0">
                <a:solidFill>
                  <a:srgbClr val="000000"/>
                </a:solidFill>
                <a:latin typeface="Cascadia Mono" panose="020B0609020000020004" pitchFamily="49" charset="0"/>
              </a:rPr>
              <a:t>            );</a:t>
            </a:r>
          </a:p>
          <a:p>
            <a:pPr marL="36900" indent="0">
              <a:buNone/>
            </a:pPr>
            <a:r>
              <a:rPr lang="en-US" sz="1400" b="0" dirty="0">
                <a:solidFill>
                  <a:srgbClr val="000000"/>
                </a:solidFill>
                <a:latin typeface="Cascadia Mono" panose="020B0609020000020004" pitchFamily="49" charset="0"/>
              </a:rPr>
              <a:t>        })</a:t>
            </a:r>
          </a:p>
          <a:p>
            <a:pPr marL="36900" indent="0">
              <a:buNone/>
            </a:pPr>
            <a:r>
              <a:rPr lang="en-US" sz="1400" b="0" dirty="0">
                <a:solidFill>
                  <a:srgbClr val="000000"/>
                </a:solidFill>
                <a:latin typeface="Cascadia Mono" panose="020B0609020000020004" pitchFamily="49" charset="0"/>
              </a:rPr>
              <a:t>    </a:t>
            </a:r>
            <a:r>
              <a:rPr lang="en-US" sz="1400" b="0" dirty="0">
                <a:solidFill>
                  <a:srgbClr val="0000FF"/>
                </a:solidFill>
                <a:latin typeface="Cascadia Mono" panose="020B0609020000020004" pitchFamily="49" charset="0"/>
              </a:rPr>
              <a:t>&lt;/</a:t>
            </a:r>
            <a:r>
              <a:rPr lang="en-US" sz="1400" b="0" dirty="0">
                <a:solidFill>
                  <a:srgbClr val="800000"/>
                </a:solidFill>
                <a:latin typeface="Cascadia Mono" panose="020B0609020000020004" pitchFamily="49" charset="0"/>
              </a:rPr>
              <a:t>script</a:t>
            </a:r>
            <a:r>
              <a:rPr lang="en-US" sz="1400" b="0" dirty="0">
                <a:solidFill>
                  <a:srgbClr val="0000FF"/>
                </a:solidFill>
                <a:latin typeface="Cascadia Mono" panose="020B0609020000020004" pitchFamily="49" charset="0"/>
              </a:rPr>
              <a:t>&gt;</a:t>
            </a:r>
            <a:endParaRPr lang="en-US" sz="1400" b="0" dirty="0">
              <a:solidFill>
                <a:srgbClr val="000000"/>
              </a:solidFill>
              <a:latin typeface="Cascadia Mono" panose="020B0609020000020004" pitchFamily="49" charset="0"/>
            </a:endParaRPr>
          </a:p>
          <a:p>
            <a:pPr marL="36900" indent="0">
              <a:buNone/>
            </a:pPr>
            <a:r>
              <a:rPr lang="en-US" sz="1400" b="0" dirty="0">
                <a:solidFill>
                  <a:srgbClr val="000000"/>
                </a:solidFill>
                <a:latin typeface="Cascadia Mono" panose="020B0609020000020004" pitchFamily="49" charset="0"/>
              </a:rPr>
              <a:t>}</a:t>
            </a:r>
            <a:endParaRPr lang="en-US" altLang="en-US" sz="1100" dirty="0">
              <a:ln>
                <a:noFill/>
              </a:ln>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2351626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Slate</Template>
  <TotalTime>854</TotalTime>
  <Words>894</Words>
  <Application>Microsoft Office PowerPoint</Application>
  <PresentationFormat>Widescreen</PresentationFormat>
  <Paragraphs>110</Paragraphs>
  <Slides>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Calisto MT</vt:lpstr>
      <vt:lpstr>Cascadia Mono</vt:lpstr>
      <vt:lpstr>Consolas</vt:lpstr>
      <vt:lpstr>Wingdings</vt:lpstr>
      <vt:lpstr>Wingdings 2</vt:lpstr>
      <vt:lpstr>Slate</vt:lpstr>
      <vt:lpstr>SignalR</vt:lpstr>
      <vt:lpstr>introduction</vt:lpstr>
      <vt:lpstr>PowerPoint Presentation</vt:lpstr>
      <vt:lpstr>SignalR</vt:lpstr>
      <vt:lpstr>Implement service example</vt:lpstr>
      <vt:lpstr>PowerPoint Presentation</vt:lpstr>
      <vt:lpstr>at client</vt:lpstr>
      <vt:lpstr>at client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SignalR</dc:title>
  <dc:creator>احمد محمد سمير</dc:creator>
  <cp:lastModifiedBy>احمد محمد سمير</cp:lastModifiedBy>
  <cp:revision>62</cp:revision>
  <dcterms:created xsi:type="dcterms:W3CDTF">2024-05-07T21:59:10Z</dcterms:created>
  <dcterms:modified xsi:type="dcterms:W3CDTF">2025-11-07T23:26:46Z</dcterms:modified>
</cp:coreProperties>
</file>