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69" r:id="rId8"/>
    <p:sldId id="274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3" r:id="rId20"/>
    <p:sldId id="272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1B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1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5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8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97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6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6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1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92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918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23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8345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9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13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20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81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5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9806886-C3E2-4AA6-AE5C-EC60C7639E4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E6739F-50F2-4439-85B8-0425B6645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547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FE98-0B6C-9B77-FF16-50B6ED5BFA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664EA-01F5-A089-4CC9-B4F07ECC2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04772-F001-7EAD-2298-F58BE80B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361337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00"/>
                </a:solidFill>
              </a:rPr>
              <a:t>Inlcude in Linq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3CEEF-EE9D-DCEE-CA82-B75A0588A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7" y="361338"/>
            <a:ext cx="11921066" cy="6496662"/>
          </a:xfrm>
        </p:spPr>
        <p:txBody>
          <a:bodyPr/>
          <a:lstStyle/>
          <a:p>
            <a:r>
              <a:rPr lang="en-US" sz="1800"/>
              <a:t>The problem we are going to discuss is when you include two collections navigation property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36900" indent="0">
              <a:buNone/>
            </a:pPr>
            <a:endParaRPr lang="en-US" sz="1800"/>
          </a:p>
          <a:p>
            <a:r>
              <a:rPr lang="en-US" sz="1800"/>
              <a:t>The solution is to use the distinct </a:t>
            </a:r>
          </a:p>
          <a:p>
            <a:pPr lvl="7"/>
            <a:r>
              <a:rPr lang="en-US" b="1"/>
              <a:t>The question here is “If .Distinct() removes duplicates, how do I still access multiple customers?” Distinct() does NOT remove related data (customers/products) It only removes duplicate root entities in the outer list</a:t>
            </a:r>
          </a:p>
          <a:p>
            <a:pPr lvl="8"/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45236-966F-4A17-07BD-8172CCD4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67" y="663579"/>
            <a:ext cx="3970868" cy="20638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F73CDD-E71E-A748-6A9D-3D2EED263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251" y="682131"/>
            <a:ext cx="3720416" cy="2133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A0E8CC-6B9F-8526-6568-DC92229CE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333" y="682131"/>
            <a:ext cx="2389931" cy="2276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AFD63B-7E0B-44D8-EFDA-27125EBD4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99" y="3609669"/>
            <a:ext cx="2573868" cy="25483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4CEA69-A4B7-0FAE-A03C-8C3DC19E2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463" y="3674533"/>
            <a:ext cx="2345271" cy="31834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407864-5691-6EE8-5837-23C0570C37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4730" y="3674532"/>
            <a:ext cx="2345270" cy="31834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535EBD-136A-B98E-5773-FD5986E2FA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0930" y="3778151"/>
            <a:ext cx="2624671" cy="295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34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EA4E-D2B1-DBF2-368C-D1028E2AA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16467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00"/>
                </a:solidFill>
              </a:rPr>
              <a:t>Inlcude in Linq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9177E-C20A-6646-E988-D27152DE1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8" y="516467"/>
            <a:ext cx="12048402" cy="6231466"/>
          </a:xfrm>
        </p:spPr>
        <p:txBody>
          <a:bodyPr>
            <a:normAutofit/>
          </a:bodyPr>
          <a:lstStyle/>
          <a:p>
            <a:r>
              <a:rPr lang="en-US" sz="1800"/>
              <a:t>If you use </a:t>
            </a:r>
            <a:r>
              <a:rPr lang="en-US" sz="1800" b="1">
                <a:solidFill>
                  <a:srgbClr val="FFFF00"/>
                </a:solidFill>
              </a:rPr>
              <a:t>.AsNoTracking() with distinct</a:t>
            </a:r>
            <a:r>
              <a:rPr lang="en-US" sz="1800"/>
              <a:t> the EF </a:t>
            </a:r>
            <a:r>
              <a:rPr lang="en-US" sz="1800" b="1"/>
              <a:t>does NOT do identity resolution</a:t>
            </a:r>
            <a:endParaRPr lang="en-US" sz="1800"/>
          </a:p>
          <a:p>
            <a:pPr lvl="1"/>
            <a:r>
              <a:rPr lang="en-US" sz="1600"/>
              <a:t>You may get duplicates</a:t>
            </a:r>
          </a:p>
          <a:p>
            <a:pPr lvl="1"/>
            <a:r>
              <a:rPr lang="en-US" sz="1600"/>
              <a:t>Navigation collections might not merge correctly </a:t>
            </a:r>
          </a:p>
          <a:p>
            <a:r>
              <a:rPr lang="en-US" sz="1800"/>
              <a:t>The solution is to use AsSplitQuery</a:t>
            </a:r>
          </a:p>
          <a:p>
            <a:endParaRPr lang="en-US"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BF41B0-EE33-4328-FF35-B0FB936FE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8" y="2199516"/>
            <a:ext cx="3125800" cy="3193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5DE344-6E1E-A306-2456-6DA7264B7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929" y="2199364"/>
            <a:ext cx="2451203" cy="3185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40A010-C4C5-C3D2-697D-7D04A9242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134" y="1261813"/>
            <a:ext cx="3028537" cy="5486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186575-EB8A-5D84-CC7D-20A2A7806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865" y="2095677"/>
            <a:ext cx="3028536" cy="322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5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7CB6-DD09-E63B-5A3E-3EDC2F4A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5" y="0"/>
            <a:ext cx="10353762" cy="516467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00"/>
                </a:solidFill>
              </a:rPr>
              <a:t>Inlcude in Linq [cont.]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A21BE-2497-3F97-5D44-9F55ECFD8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516467"/>
            <a:ext cx="11954933" cy="6341533"/>
          </a:xfrm>
        </p:spPr>
        <p:txBody>
          <a:bodyPr>
            <a:normAutofit/>
          </a:bodyPr>
          <a:lstStyle/>
          <a:p>
            <a:r>
              <a:rPr lang="en-US" sz="1800" b="1"/>
              <a:t>✅ When you DO NOT need .Distinct()</a:t>
            </a:r>
          </a:p>
          <a:p>
            <a:pPr lvl="1"/>
            <a:r>
              <a:rPr lang="en-US" sz="1600" b="1"/>
              <a:t>✔ Case 1: Only one collection</a:t>
            </a:r>
          </a:p>
          <a:p>
            <a:pPr lvl="1"/>
            <a:r>
              <a:rPr lang="en-US" sz="1600" b="1"/>
              <a:t>✔ Case 2: Only reference navigations</a:t>
            </a:r>
          </a:p>
          <a:p>
            <a:pPr lvl="1"/>
            <a:r>
              <a:rPr lang="en-US" sz="1600" b="1"/>
              <a:t>✔ Case 3: using </a:t>
            </a:r>
            <a:r>
              <a:rPr lang="en-US" sz="1600" b="1">
                <a:solidFill>
                  <a:srgbClr val="FFFF00"/>
                </a:solidFill>
              </a:rPr>
              <a:t>AsNoTracking</a:t>
            </a:r>
            <a:endParaRPr lang="en-US" sz="1800" b="1"/>
          </a:p>
          <a:p>
            <a:r>
              <a:rPr lang="en-US" sz="1800"/>
              <a:t>If you use </a:t>
            </a:r>
            <a:r>
              <a:rPr lang="en-US" sz="1800" b="1">
                <a:solidFill>
                  <a:srgbClr val="FFFF00"/>
                </a:solidFill>
              </a:rPr>
              <a:t>.AsNoTracking() with distinct</a:t>
            </a:r>
            <a:r>
              <a:rPr lang="en-US" sz="1800"/>
              <a:t> the EF </a:t>
            </a:r>
            <a:r>
              <a:rPr lang="en-US" sz="1800" b="1"/>
              <a:t>does NOT do identity resolution</a:t>
            </a:r>
            <a:endParaRPr lang="en-US" sz="1800"/>
          </a:p>
          <a:p>
            <a:pPr lvl="1"/>
            <a:r>
              <a:rPr lang="en-US" sz="1600"/>
              <a:t>You may get duplicates</a:t>
            </a:r>
          </a:p>
          <a:p>
            <a:pPr lvl="1"/>
            <a:r>
              <a:rPr lang="en-US" sz="1600"/>
              <a:t>Navigation collections might not merge correctly </a:t>
            </a:r>
          </a:p>
          <a:p>
            <a:r>
              <a:rPr lang="en-US" sz="1800"/>
              <a:t>The solution is to use AsSplitQuery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6B2B5-8CF4-7377-0851-630FFE2DA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82" y="3805766"/>
            <a:ext cx="3150985" cy="195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64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692B0-05A2-EE2F-93B9-49F41F29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65667"/>
          </a:xfrm>
        </p:spPr>
        <p:txBody>
          <a:bodyPr>
            <a:normAutofit fontScale="90000"/>
          </a:bodyPr>
          <a:lstStyle/>
          <a:p>
            <a:r>
              <a:rPr lang="en-US" b="1"/>
              <a:t>DateTime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479F-B437-F448-A8ED-1B5919474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465668"/>
            <a:ext cx="11785599" cy="6392332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B0F0"/>
                </a:solidFill>
              </a:rPr>
              <a:t>declare</a:t>
            </a:r>
            <a:r>
              <a:rPr lang="en-US"/>
              <a:t> </a:t>
            </a:r>
            <a:r>
              <a:rPr lang="en-US" b="1">
                <a:solidFill>
                  <a:schemeClr val="tx1"/>
                </a:solidFill>
              </a:rPr>
              <a:t>@testDate</a:t>
            </a:r>
            <a:r>
              <a:rPr lang="en-US"/>
              <a:t> </a:t>
            </a:r>
            <a:r>
              <a:rPr lang="en-US" b="1">
                <a:solidFill>
                  <a:srgbClr val="00B0F0"/>
                </a:solidFill>
              </a:rPr>
              <a:t>datetime</a:t>
            </a:r>
            <a:r>
              <a:rPr lang="en-US"/>
              <a:t> = '2026-10-25 1:30:45 PM’</a:t>
            </a:r>
          </a:p>
          <a:p>
            <a:endParaRPr lang="en-US"/>
          </a:p>
          <a:p>
            <a:r>
              <a:rPr lang="en-US"/>
              <a:t>select @testDate [test date]</a:t>
            </a:r>
          </a:p>
          <a:p>
            <a:endParaRPr lang="en-US" sz="1800"/>
          </a:p>
          <a:p>
            <a:r>
              <a:rPr lang="en-US" sz="1700" b="1"/>
              <a:t>select </a:t>
            </a:r>
            <a:r>
              <a:rPr lang="en-US" sz="1700" b="1">
                <a:solidFill>
                  <a:srgbClr val="D51BBF"/>
                </a:solidFill>
              </a:rPr>
              <a:t>FORMAT</a:t>
            </a:r>
            <a:r>
              <a:rPr lang="en-US" sz="1700" b="1"/>
              <a:t>(@testDate, 'yyyy-MM-dd hh:mm:ss tt') AS FormattedDate;</a:t>
            </a:r>
          </a:p>
          <a:p>
            <a:r>
              <a:rPr lang="en-US" sz="1800"/>
              <a:t>select </a:t>
            </a:r>
            <a:r>
              <a:rPr lang="en-US" sz="1800" b="1">
                <a:solidFill>
                  <a:srgbClr val="D51BBF"/>
                </a:solidFill>
              </a:rPr>
              <a:t>YEAR</a:t>
            </a:r>
            <a:r>
              <a:rPr lang="en-US" sz="1800"/>
              <a:t>(@testDate) as Year			</a:t>
            </a:r>
            <a:r>
              <a:rPr lang="en-US" sz="1800" b="1"/>
              <a:t>-- 2026</a:t>
            </a:r>
          </a:p>
          <a:p>
            <a:r>
              <a:rPr lang="en-US" sz="1800"/>
              <a:t>select </a:t>
            </a:r>
            <a:r>
              <a:rPr lang="en-US" sz="1800" b="1">
                <a:solidFill>
                  <a:srgbClr val="D51BBF"/>
                </a:solidFill>
              </a:rPr>
              <a:t>MONTH</a:t>
            </a:r>
            <a:r>
              <a:rPr lang="en-US" sz="1800"/>
              <a:t>(@testDate) as Month   	 </a:t>
            </a:r>
            <a:r>
              <a:rPr lang="en-US" sz="1800" b="1"/>
              <a:t>-- 10</a:t>
            </a:r>
          </a:p>
          <a:p>
            <a:r>
              <a:rPr lang="en-US" sz="1800"/>
              <a:t>select </a:t>
            </a:r>
            <a:r>
              <a:rPr lang="en-US" sz="1800" b="1">
                <a:solidFill>
                  <a:srgbClr val="D51BBF"/>
                </a:solidFill>
              </a:rPr>
              <a:t>day</a:t>
            </a:r>
            <a:r>
              <a:rPr lang="en-US" sz="1800"/>
              <a:t>(@testDate) as Day				</a:t>
            </a:r>
            <a:r>
              <a:rPr lang="en-US" sz="1800" b="1"/>
              <a:t>-- 25</a:t>
            </a:r>
          </a:p>
          <a:p>
            <a:r>
              <a:rPr lang="en-US" sz="1800" b="1"/>
              <a:t>select </a:t>
            </a:r>
            <a:r>
              <a:rPr lang="en-US" sz="1800" b="1">
                <a:solidFill>
                  <a:srgbClr val="D51BBF"/>
                </a:solidFill>
              </a:rPr>
              <a:t>DATEPART</a:t>
            </a:r>
            <a:r>
              <a:rPr lang="en-US" sz="1800" b="1"/>
              <a:t>(YEAR, @testDate) as YEAR	  -- 2026</a:t>
            </a:r>
          </a:p>
          <a:p>
            <a:r>
              <a:rPr lang="en-US" sz="1800" b="1"/>
              <a:t>select </a:t>
            </a:r>
            <a:r>
              <a:rPr lang="en-US" sz="1800" b="1">
                <a:solidFill>
                  <a:srgbClr val="D51BBF"/>
                </a:solidFill>
              </a:rPr>
              <a:t>DATEPART</a:t>
            </a:r>
            <a:r>
              <a:rPr lang="en-US" sz="1800" b="1"/>
              <a:t>(MONTH, @testDate) as Month	  -- 10</a:t>
            </a:r>
          </a:p>
          <a:p>
            <a:r>
              <a:rPr lang="en-US" sz="1800" b="1"/>
              <a:t>select </a:t>
            </a:r>
            <a:r>
              <a:rPr lang="en-US" sz="1800" b="1">
                <a:solidFill>
                  <a:srgbClr val="D51BBF"/>
                </a:solidFill>
              </a:rPr>
              <a:t>DATEPART</a:t>
            </a:r>
            <a:r>
              <a:rPr lang="en-US" sz="1800" b="1"/>
              <a:t>(DAY, @testDate) as Day		  -- 25</a:t>
            </a:r>
            <a:endParaRPr lang="en-US" sz="1800"/>
          </a:p>
          <a:p>
            <a:r>
              <a:rPr lang="en-US" sz="1600" b="1"/>
              <a:t>select </a:t>
            </a:r>
            <a:r>
              <a:rPr lang="en-US" sz="1600" b="1">
                <a:solidFill>
                  <a:srgbClr val="D51BBF"/>
                </a:solidFill>
              </a:rPr>
              <a:t>DATEFROMPARTS</a:t>
            </a:r>
            <a:r>
              <a:rPr lang="en-US" sz="1600" b="1"/>
              <a:t>(2026, 10, 25) </a:t>
            </a:r>
            <a:r>
              <a:rPr lang="en-US" sz="1600"/>
              <a:t>	</a:t>
            </a:r>
            <a:r>
              <a:rPr lang="en-US" sz="1600" b="1"/>
              <a:t>-- 2026-10-25</a:t>
            </a:r>
          </a:p>
          <a:p>
            <a:r>
              <a:rPr lang="en-US" sz="1500" b="1"/>
              <a:t>select </a:t>
            </a:r>
            <a:r>
              <a:rPr lang="en-US" sz="1500" b="1">
                <a:solidFill>
                  <a:srgbClr val="D51BBF"/>
                </a:solidFill>
              </a:rPr>
              <a:t>DATETIMEFROMPARTS</a:t>
            </a:r>
            <a:r>
              <a:rPr lang="en-US" sz="1500" b="1"/>
              <a:t>(2026, 10, 25, 13, 30, 45, 0)</a:t>
            </a:r>
            <a:r>
              <a:rPr lang="en-US" sz="1500"/>
              <a:t>	</a:t>
            </a:r>
            <a:r>
              <a:rPr lang="en-US" sz="1500" b="1"/>
              <a:t>-- 2026-10-25 13:30:45.000</a:t>
            </a:r>
          </a:p>
          <a:p>
            <a:r>
              <a:rPr lang="en-US" sz="1600" b="1"/>
              <a:t>select ( </a:t>
            </a:r>
            <a:r>
              <a:rPr lang="en-US" sz="1600" b="1">
                <a:solidFill>
                  <a:srgbClr val="D51BBF"/>
                </a:solidFill>
              </a:rPr>
              <a:t>DATENAME</a:t>
            </a:r>
            <a:r>
              <a:rPr lang="en-US" sz="1600" b="1"/>
              <a:t>(MONTH, '2026-10-25’) );  -- October</a:t>
            </a:r>
          </a:p>
          <a:p>
            <a:r>
              <a:rPr lang="en-US" sz="1600" b="1"/>
              <a:t>select </a:t>
            </a:r>
            <a:r>
              <a:rPr lang="en-US" sz="1600" b="1">
                <a:solidFill>
                  <a:srgbClr val="00B0F0"/>
                </a:solidFill>
              </a:rPr>
              <a:t>LEFT</a:t>
            </a:r>
            <a:r>
              <a:rPr lang="en-US" sz="1600" b="1"/>
              <a:t>( ( </a:t>
            </a:r>
            <a:r>
              <a:rPr lang="en-US" sz="1600" b="1">
                <a:solidFill>
                  <a:srgbClr val="D51BBF"/>
                </a:solidFill>
              </a:rPr>
              <a:t>DATENAME</a:t>
            </a:r>
            <a:r>
              <a:rPr lang="en-US" sz="1600" b="1"/>
              <a:t> (MONTH, '2026-10-25’) ) ,3 );  --  Oct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40C6A-793A-A47C-1AB4-101A4A89A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505" y="1309978"/>
            <a:ext cx="1854161" cy="464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420EB9-AC2D-6EFC-404B-B5B1F62C3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767" y="2010823"/>
            <a:ext cx="2226367" cy="69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77D7-DA0B-C3C6-B448-6E08C4A8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908D5-2EF0-DC38-53F9-0D26E7B60E8B}"/>
              </a:ext>
            </a:extLst>
          </p:cNvPr>
          <p:cNvSpPr txBox="1"/>
          <p:nvPr/>
        </p:nvSpPr>
        <p:spPr>
          <a:xfrm>
            <a:off x="913795" y="1906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WEEKDAY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latin typeface="Consolas" panose="020B0609020204030204" pitchFamily="49" charset="0"/>
              </a:rPr>
              <a:t>[Today]</a:t>
            </a:r>
            <a:r>
              <a:rPr lang="en-US">
                <a:latin typeface="Consolas" panose="020B0609020204030204" pitchFamily="49" charset="0"/>
              </a:rPr>
              <a:t>  -- Monday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DA155-3C5D-FEBA-AF9D-4B6F217346BD}"/>
              </a:ext>
            </a:extLst>
          </p:cNvPr>
          <p:cNvSpPr txBox="1"/>
          <p:nvPr/>
        </p:nvSpPr>
        <p:spPr>
          <a:xfrm>
            <a:off x="913795" y="2417818"/>
            <a:ext cx="8034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NVARCHAR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latin typeface="Consolas" panose="020B0609020204030204" pitchFamily="49" charset="0"/>
              </a:rPr>
              <a:t>10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(),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latin typeface="Consolas" panose="020B0609020204030204" pitchFamily="49" charset="0"/>
              </a:rPr>
              <a:t>103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latin typeface="Consolas" panose="020B0609020204030204" pitchFamily="49" charset="0"/>
              </a:rPr>
              <a:t>ReportDate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7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302D-777A-F719-8C92-9D165BB03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91067"/>
          </a:xfrm>
        </p:spPr>
        <p:txBody>
          <a:bodyPr>
            <a:normAutofit fontScale="90000"/>
          </a:bodyPr>
          <a:lstStyle/>
          <a:p>
            <a:r>
              <a:rPr lang="en-US"/>
              <a:t>Built in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44BCE-5CA1-155C-BAED-09E66730B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728133"/>
            <a:ext cx="11734800" cy="5985934"/>
          </a:xfrm>
        </p:spPr>
        <p:txBody>
          <a:bodyPr/>
          <a:lstStyle/>
          <a:p>
            <a:r>
              <a:rPr lang="en-US"/>
              <a:t>SPACE(1) // generate 1 space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7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3765-8FC0-A90B-A887-EF5E6AAE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5918-DD85-6F17-5B4D-856121CF6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91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DDB9-AA73-A473-E653-7B1D163C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75733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00"/>
                </a:solidFill>
                <a:effectLst/>
              </a:rPr>
              <a:t>LINQ Query Syntax left Join</a:t>
            </a:r>
            <a:endParaRPr lang="en-US" b="1">
              <a:solidFill>
                <a:srgbClr val="FFFF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D248F4-0131-E61B-4DC6-F1B7BD778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6" y="719666"/>
            <a:ext cx="2606430" cy="15469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5E6F59-06F8-72D9-70F4-8C549D07F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468" y="560627"/>
            <a:ext cx="3716336" cy="17919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476E61-EFFB-1CC9-6979-6E6234D3E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8401"/>
            <a:ext cx="3834023" cy="44474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6AA3581-A6E2-1BC7-E6DB-736DD2E01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2559" y="2403018"/>
            <a:ext cx="3716336" cy="20519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B0F35E5-A5B4-4718-F3D9-89FA97093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2559" y="4490364"/>
            <a:ext cx="2682472" cy="23676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CD31B3-BF3B-0D8A-A0DA-28A4469265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0912" y="575733"/>
            <a:ext cx="2420087" cy="33113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143240C-C79B-8D12-DEB4-A172F26C10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9872" y="4069389"/>
            <a:ext cx="3635055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028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9567-C097-E677-74FD-BB7789F5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01133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00"/>
                </a:solidFill>
                <a:effectLst/>
              </a:rPr>
              <a:t>LINQ Query Syntax left Join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EBEE3B-A167-F253-28A7-81C76EED4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6866" y="601132"/>
            <a:ext cx="4030133" cy="282033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6874DD-4DB0-E2B0-FE6A-506E6C22A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08" y="608667"/>
            <a:ext cx="3247932" cy="2820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59A1D6-D574-D479-7528-6A48466DDE1C}"/>
              </a:ext>
            </a:extLst>
          </p:cNvPr>
          <p:cNvSpPr txBox="1"/>
          <p:nvPr/>
        </p:nvSpPr>
        <p:spPr>
          <a:xfrm>
            <a:off x="728132" y="4064000"/>
            <a:ext cx="100414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tricky here is : when we need to get from all rows from first table even if there no match in second table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2898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7F55-A87E-8987-8C53-D352FE5F6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Left join in .net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3BCEA-3A25-B8DF-FB6E-C613885C8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" y="970450"/>
            <a:ext cx="11954934" cy="5785949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8C370-4A46-552D-83CE-7E9DB643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4" y="885510"/>
            <a:ext cx="5824426" cy="292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05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4AEA-1971-E800-703E-69F376F26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53533"/>
          </a:xfrm>
        </p:spPr>
        <p:txBody>
          <a:bodyPr/>
          <a:lstStyle/>
          <a:p>
            <a:r>
              <a:rPr lang="en-US" b="1">
                <a:effectLst/>
              </a:rPr>
              <a:t>Association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6D789-EEAB-71E6-ECF8-CFF49F4FD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897467"/>
            <a:ext cx="11844867" cy="5698066"/>
          </a:xfrm>
        </p:spPr>
        <p:txBody>
          <a:bodyPr/>
          <a:lstStyle/>
          <a:p>
            <a:r>
              <a:rPr lang="en-US" b="1">
                <a:effectLst/>
              </a:rPr>
              <a:t>Uses-A"</a:t>
            </a:r>
            <a:r>
              <a:rPr lang="en-US" b="1">
                <a:solidFill>
                  <a:srgbClr val="FFFF00"/>
                </a:solidFill>
                <a:effectLst/>
              </a:rPr>
              <a:t>Relationship</a:t>
            </a:r>
            <a:r>
              <a:rPr lang="en-US" b="1">
                <a:effectLst/>
              </a:rPr>
              <a:t>"</a:t>
            </a:r>
            <a:endParaRPr lang="en-US">
              <a:effectLst/>
            </a:endParaRPr>
          </a:p>
          <a:p>
            <a:r>
              <a:rPr lang="en-US">
                <a:effectLst/>
              </a:rPr>
              <a:t>It defines a link between two </a:t>
            </a:r>
            <a:r>
              <a:rPr lang="en-US" b="1">
                <a:solidFill>
                  <a:srgbClr val="FFFF00"/>
                </a:solidFill>
                <a:effectLst/>
              </a:rPr>
              <a:t>independent</a:t>
            </a:r>
            <a:r>
              <a:rPr lang="en-US">
                <a:effectLst/>
              </a:rPr>
              <a:t> objects where they use each other to perform actions, but neither "owns" the other.</a:t>
            </a:r>
          </a:p>
          <a:p>
            <a:r>
              <a:rPr lang="en-US" b="1">
                <a:effectLst/>
              </a:rPr>
              <a:t>Implementation: </a:t>
            </a:r>
            <a:r>
              <a:rPr lang="en-US">
                <a:effectLst/>
              </a:rPr>
              <a:t>by passing an object as a parameter to a method.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4ABA0-88FD-1776-477D-E86408037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76" y="2788392"/>
            <a:ext cx="6063623" cy="288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03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267C5-BAE5-0154-04C1-96AF1FC3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51933"/>
          </a:xfrm>
        </p:spPr>
        <p:txBody>
          <a:bodyPr>
            <a:normAutofit fontScale="90000"/>
          </a:bodyPr>
          <a:lstStyle/>
          <a:p>
            <a:r>
              <a:rPr lang="en-US" b="1">
                <a:effectLst/>
              </a:rPr>
              <a:t>Aggregation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5FE83-4CE4-A8FB-78C3-FC7CC7279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33" y="651933"/>
            <a:ext cx="11980334" cy="6070600"/>
          </a:xfrm>
        </p:spPr>
        <p:txBody>
          <a:bodyPr/>
          <a:lstStyle/>
          <a:p>
            <a:r>
              <a:rPr lang="en-US" sz="1800" b="1">
                <a:effectLst/>
              </a:rPr>
              <a:t>The "Has-A" Relationship</a:t>
            </a:r>
          </a:p>
          <a:p>
            <a:r>
              <a:rPr lang="en-US" sz="1800" b="1">
                <a:effectLst/>
              </a:rPr>
              <a:t>C# Implementation:</a:t>
            </a:r>
            <a:r>
              <a:rPr lang="en-US" sz="1800">
                <a:effectLst/>
              </a:rPr>
              <a:t> </a:t>
            </a:r>
            <a:r>
              <a:rPr lang="en-US" sz="1800" b="1">
                <a:effectLst/>
              </a:rPr>
              <a:t>Usually implemented by passing the child object into the parent’s constructor or property (</a:t>
            </a:r>
            <a:r>
              <a:rPr lang="en-US" sz="1800" b="1">
                <a:solidFill>
                  <a:srgbClr val="FFFF00"/>
                </a:solidFill>
                <a:effectLst/>
              </a:rPr>
              <a:t>Dependency Injection</a:t>
            </a:r>
            <a:r>
              <a:rPr lang="en-US" sz="1800" b="1">
                <a:effectLst/>
              </a:rPr>
              <a:t>)</a:t>
            </a:r>
          </a:p>
          <a:p>
            <a:r>
              <a:rPr lang="en-US" b="1">
                <a:effectLst/>
              </a:rPr>
              <a:t>Here </a:t>
            </a:r>
            <a:r>
              <a:rPr lang="en-US"/>
              <a:t>children (teachers) can live without parent [ department ]</a:t>
            </a:r>
            <a:endParaRPr lang="en-US" b="1">
              <a:effectLst/>
            </a:endParaRPr>
          </a:p>
          <a:p>
            <a:endParaRPr lang="en-US" b="1">
              <a:effectLst/>
            </a:endParaRPr>
          </a:p>
          <a:p>
            <a:endParaRPr lang="en-US" b="1">
              <a:effectLst/>
            </a:endParaRPr>
          </a:p>
          <a:p>
            <a:endParaRPr lang="en-US" b="1">
              <a:effectLst/>
            </a:endParaRP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92E4A-01A8-4933-2AB5-554C036CF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2684926"/>
            <a:ext cx="4885267" cy="314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59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5755-B757-6CAE-6FCA-355EA02E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09600"/>
          </a:xfrm>
        </p:spPr>
        <p:txBody>
          <a:bodyPr>
            <a:normAutofit fontScale="90000"/>
          </a:bodyPr>
          <a:lstStyle/>
          <a:p>
            <a:r>
              <a:rPr lang="en-US" b="1">
                <a:effectLst/>
              </a:rPr>
              <a:t>Composition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DCBF4-E275-B0F1-7606-6B1E25C88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609601"/>
            <a:ext cx="12022667" cy="6155266"/>
          </a:xfrm>
        </p:spPr>
        <p:txBody>
          <a:bodyPr/>
          <a:lstStyle/>
          <a:p>
            <a:r>
              <a:rPr lang="en-US" b="1">
                <a:effectLst/>
              </a:rPr>
              <a:t>The "Part-Of" Relationship</a:t>
            </a:r>
          </a:p>
          <a:p>
            <a:r>
              <a:rPr lang="en-US" b="1"/>
              <a:t>child cannot exist without parent</a:t>
            </a:r>
            <a:r>
              <a:rPr lang="en-US"/>
              <a:t>.</a:t>
            </a:r>
            <a:endParaRPr lang="en-US" b="1">
              <a:effectLst/>
            </a:endParaRPr>
          </a:p>
          <a:p>
            <a:endParaRPr lang="en-US" b="1">
              <a:effectLst/>
            </a:endParaRP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BE13F-38DC-0375-5425-89FF89DE6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727965"/>
            <a:ext cx="4719468" cy="252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428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19B6-E7B4-D6B7-EA34-EAE44153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096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CQRS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7379-F3B5-45C0-E910-A23E10E29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609601"/>
            <a:ext cx="11997266" cy="6138332"/>
          </a:xfrm>
        </p:spPr>
        <p:txBody>
          <a:bodyPr>
            <a:normAutofit/>
          </a:bodyPr>
          <a:lstStyle/>
          <a:p>
            <a:r>
              <a:rPr lang="en-US" b="1"/>
              <a:t>CQRS stands for Command and </a:t>
            </a:r>
            <a:r>
              <a:rPr lang="en-US" b="1">
                <a:solidFill>
                  <a:srgbClr val="FF0000"/>
                </a:solidFill>
              </a:rPr>
              <a:t>Query Responsibility Segregation</a:t>
            </a:r>
          </a:p>
          <a:p>
            <a:r>
              <a:rPr lang="en-US"/>
              <a:t>It is a design pattern that separates read operations (queries) from write operations (commands).</a:t>
            </a:r>
          </a:p>
          <a:p>
            <a:r>
              <a:rPr lang="en-US"/>
              <a:t>Instead of having one model/service doing everything, CQRS splits responsibilities into two sides:</a:t>
            </a:r>
          </a:p>
          <a:p>
            <a:r>
              <a:rPr lang="en-US"/>
              <a:t>- Core Idea</a:t>
            </a:r>
          </a:p>
          <a:p>
            <a:r>
              <a:rPr lang="en-US"/>
              <a:t>   - </a:t>
            </a:r>
            <a:r>
              <a:rPr lang="en-US" b="1">
                <a:solidFill>
                  <a:srgbClr val="00B0F0"/>
                </a:solidFill>
              </a:rPr>
              <a:t>Commands</a:t>
            </a:r>
            <a:r>
              <a:rPr lang="en-US"/>
              <a:t> → change state (Create, Update, Delete)</a:t>
            </a:r>
          </a:p>
          <a:p>
            <a:r>
              <a:rPr lang="en-US"/>
              <a:t>   - </a:t>
            </a:r>
            <a:r>
              <a:rPr lang="en-US" b="1">
                <a:solidFill>
                  <a:srgbClr val="00B0F0"/>
                </a:solidFill>
              </a:rPr>
              <a:t>Queries</a:t>
            </a:r>
            <a:r>
              <a:rPr lang="en-US"/>
              <a:t> → read data (Get, List, Search)</a:t>
            </a:r>
          </a:p>
          <a:p>
            <a:r>
              <a:rPr lang="en-US"/>
              <a:t>-- Application</a:t>
            </a:r>
          </a:p>
          <a:p>
            <a:pPr lvl="1"/>
            <a:r>
              <a:rPr lang="en-US"/>
              <a:t> </a:t>
            </a:r>
            <a:r>
              <a:rPr lang="en-US" sz="1600" b="1">
                <a:solidFill>
                  <a:srgbClr val="FFFF00"/>
                </a:solidFill>
              </a:rPr>
              <a:t>Commands</a:t>
            </a:r>
          </a:p>
          <a:p>
            <a:pPr lvl="2"/>
            <a:r>
              <a:rPr lang="en-US" b="1"/>
              <a:t>CreateOrderCommand.cs</a:t>
            </a:r>
          </a:p>
          <a:p>
            <a:pPr lvl="1"/>
            <a:r>
              <a:rPr lang="en-US" sz="1600" b="1">
                <a:solidFill>
                  <a:srgbClr val="FFFF00"/>
                </a:solidFill>
              </a:rPr>
              <a:t>Queries</a:t>
            </a:r>
          </a:p>
          <a:p>
            <a:pPr lvl="2"/>
            <a:r>
              <a:rPr lang="en-US" b="1"/>
              <a:t>GetOrderByIdQuery.cs</a:t>
            </a:r>
          </a:p>
          <a:p>
            <a:pPr lvl="1"/>
            <a:r>
              <a:rPr lang="en-US" sz="1600" b="1">
                <a:solidFill>
                  <a:srgbClr val="FFFF00"/>
                </a:solidFill>
              </a:rPr>
              <a:t>Handlers</a:t>
            </a:r>
            <a:endParaRPr lang="en-US" sz="1600" b="1"/>
          </a:p>
          <a:p>
            <a:pPr lvl="2"/>
            <a:r>
              <a:rPr lang="en-US" b="1"/>
              <a:t>CreateOrderHandler.cs</a:t>
            </a:r>
          </a:p>
          <a:p>
            <a:pPr lvl="2"/>
            <a:r>
              <a:rPr lang="en-US" b="1"/>
              <a:t>GetOrderByIdHandler.cs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7AA69-5920-72EC-6556-3CFCF420F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020" y="3601657"/>
            <a:ext cx="3469826" cy="191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8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D8936-648D-D9BA-8BA1-324899E5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482600"/>
          </a:xfrm>
        </p:spPr>
        <p:txBody>
          <a:bodyPr>
            <a:no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CQRS [cont.]</a:t>
            </a:r>
            <a:endParaRPr lang="en-US" sz="3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A6B526-486E-96C5-BF0B-7527114EA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28" y="538161"/>
            <a:ext cx="5526048" cy="3229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C71119-4ADF-618D-29F0-B255D7F71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28" y="3827987"/>
            <a:ext cx="5526048" cy="30300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BE61BF-A50B-9557-B63A-22A3C6D43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443" y="819722"/>
            <a:ext cx="4942957" cy="452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616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8B0CF-9FBD-570C-8889-185A96C9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12D25-9BC0-E54F-F8F5-E9C371D62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04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E581-CD83-A0AD-774B-49DF71333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862" y="2159000"/>
            <a:ext cx="10353762" cy="1430867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7200" b="1">
                <a:solidFill>
                  <a:srgbClr val="FF0000"/>
                </a:solidFill>
              </a:rPr>
              <a:t>Start GIT</a:t>
            </a:r>
          </a:p>
        </p:txBody>
      </p:sp>
    </p:spTree>
    <p:extLst>
      <p:ext uri="{BB962C8B-B14F-4D97-AF65-F5344CB8AC3E}">
        <p14:creationId xmlns:p14="http://schemas.microsoft.com/office/powerpoint/2010/main" val="1394362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334C-1B96-D150-CC11-B6DD59DF4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9883E-73B2-9EDC-CD3F-5CEAD2883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During merge conflict</a:t>
            </a:r>
          </a:p>
          <a:p>
            <a:pPr lvl="1"/>
            <a:r>
              <a:rPr lang="en-US"/>
              <a:t>If you want to keep the current version and ignore the incoming changes</a:t>
            </a:r>
          </a:p>
          <a:p>
            <a:pPr lvl="2"/>
            <a:r>
              <a:rPr lang="en-US"/>
              <a:t>git checkout --ours "Dot Net/Business.pptx“</a:t>
            </a:r>
          </a:p>
          <a:p>
            <a:pPr lvl="1"/>
            <a:r>
              <a:rPr lang="en-US"/>
              <a:t>If you want to keep the incoming version and ignore ( discard ) the local changes</a:t>
            </a:r>
          </a:p>
          <a:p>
            <a:pPr lvl="2"/>
            <a:r>
              <a:rPr lang="en-US"/>
              <a:t>git checkout --theirs "Dot Net/Business.pptx“</a:t>
            </a:r>
          </a:p>
          <a:p>
            <a:pPr lvl="2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13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3D092-8CF7-AC2C-E735-CD881E5A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3A33B-30B1-C540-CF64-34BF78007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862" y="2159000"/>
            <a:ext cx="10353762" cy="1430867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7200" b="1">
                <a:solidFill>
                  <a:srgbClr val="FF0000"/>
                </a:solidFill>
              </a:rPr>
              <a:t>End GIT</a:t>
            </a:r>
          </a:p>
        </p:txBody>
      </p:sp>
    </p:spTree>
    <p:extLst>
      <p:ext uri="{BB962C8B-B14F-4D97-AF65-F5344CB8AC3E}">
        <p14:creationId xmlns:p14="http://schemas.microsoft.com/office/powerpoint/2010/main" val="2484187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7973-116E-F85C-0922-EDA62F71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508000"/>
          </a:xfrm>
        </p:spPr>
        <p:txBody>
          <a:bodyPr>
            <a:normAutofit fontScale="90000"/>
          </a:bodyPr>
          <a:lstStyle/>
          <a:p>
            <a:r>
              <a:rPr lang="en-US"/>
              <a:t>Hangfire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F8648-23E7-7BDC-9673-218DCB3A8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626533"/>
            <a:ext cx="11878734" cy="6045200"/>
          </a:xfrm>
        </p:spPr>
        <p:txBody>
          <a:bodyPr/>
          <a:lstStyle/>
          <a:p>
            <a:r>
              <a:rPr lang="en-US" sz="1800"/>
              <a:t>install-package </a:t>
            </a:r>
            <a:r>
              <a:rPr lang="en-US" sz="1800" b="1">
                <a:solidFill>
                  <a:srgbClr val="FFFF00"/>
                </a:solidFill>
              </a:rPr>
              <a:t>Hangfire</a:t>
            </a:r>
            <a:r>
              <a:rPr lang="en-US" sz="1800" b="1">
                <a:solidFill>
                  <a:srgbClr val="FF0000"/>
                </a:solidFill>
              </a:rPr>
              <a:t>.</a:t>
            </a:r>
            <a:r>
              <a:rPr lang="en-US" sz="1800">
                <a:solidFill>
                  <a:srgbClr val="00B0F0"/>
                </a:solidFill>
              </a:rPr>
              <a:t>AspNetCore -Version 1.8.23</a:t>
            </a:r>
          </a:p>
          <a:p>
            <a:pPr lvl="1"/>
            <a:r>
              <a:rPr lang="en-US"/>
              <a:t>install-package </a:t>
            </a:r>
            <a:r>
              <a:rPr lang="en-US">
                <a:effectLst/>
              </a:rPr>
              <a:t>Newtonsoft.Json 13.0.3 // </a:t>
            </a:r>
            <a:endParaRPr lang="en-US" sz="1600">
              <a:solidFill>
                <a:srgbClr val="00B0F0"/>
              </a:solidFill>
            </a:endParaRPr>
          </a:p>
          <a:p>
            <a:r>
              <a:rPr lang="en-US" sz="1800"/>
              <a:t>install-package Hangfire.SqlServer</a:t>
            </a:r>
          </a:p>
          <a:p>
            <a:endParaRPr lang="en-US"/>
          </a:p>
          <a:p>
            <a:r>
              <a:rPr lang="en-US" sz="1800"/>
              <a:t>Registeration</a:t>
            </a:r>
          </a:p>
          <a:p>
            <a:pPr lvl="1"/>
            <a:r>
              <a:rPr lang="en-US" sz="1600"/>
              <a:t>builder.Services.AddHangfire(config =&gt;{config.UseSqlServerStorage( builder.Configuration.GetConnectionString("DefaultConnection"));</a:t>
            </a:r>
            <a:br>
              <a:rPr lang="en-US" sz="1600"/>
            </a:br>
            <a:r>
              <a:rPr lang="en-US" sz="1600"/>
              <a:t>});</a:t>
            </a:r>
          </a:p>
          <a:p>
            <a:pPr lvl="1"/>
            <a:r>
              <a:rPr lang="en-US" b="1">
                <a:effectLst/>
              </a:rPr>
              <a:t>builder.Services.</a:t>
            </a:r>
            <a:r>
              <a:rPr lang="en-US" b="1">
                <a:solidFill>
                  <a:srgbClr val="00B0F0"/>
                </a:solidFill>
                <a:effectLst/>
              </a:rPr>
              <a:t>AddHangfireServer</a:t>
            </a:r>
            <a:r>
              <a:rPr lang="en-US" b="1">
                <a:effectLst/>
              </a:rPr>
              <a:t>();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57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06C1-2BFE-A0C2-3012-CBD270B1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702733"/>
          </a:xfrm>
        </p:spPr>
        <p:txBody>
          <a:bodyPr/>
          <a:lstStyle/>
          <a:p>
            <a:r>
              <a:rPr lang="en-US"/>
              <a:t>Json Serializer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2425C-3A64-82E6-B9C7-67FF11B9F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02733"/>
            <a:ext cx="12115800" cy="5994400"/>
          </a:xfrm>
        </p:spPr>
        <p:txBody>
          <a:bodyPr>
            <a:norm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45201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32080</TotalTime>
  <Words>715</Words>
  <Application>Microsoft Office PowerPoint</Application>
  <PresentationFormat>Widescreen</PresentationFormat>
  <Paragraphs>96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Calisto MT</vt:lpstr>
      <vt:lpstr>Consolas</vt:lpstr>
      <vt:lpstr>Wingdings 2</vt:lpstr>
      <vt:lpstr>Slate</vt:lpstr>
      <vt:lpstr>PowerPoint Presentation</vt:lpstr>
      <vt:lpstr>Inlcude in Linq</vt:lpstr>
      <vt:lpstr>Inlcude in Linq</vt:lpstr>
      <vt:lpstr>Inlcude in Linq [cont.]</vt:lpstr>
      <vt:lpstr>DateTime</vt:lpstr>
      <vt:lpstr>PowerPoint Presentation</vt:lpstr>
      <vt:lpstr>Built in methods</vt:lpstr>
      <vt:lpstr>PowerPoint Presentation</vt:lpstr>
      <vt:lpstr>LINQ Query Syntax left Join</vt:lpstr>
      <vt:lpstr>LINQ Query Syntax left Join</vt:lpstr>
      <vt:lpstr>Left join in .net 10</vt:lpstr>
      <vt:lpstr>Association </vt:lpstr>
      <vt:lpstr>Aggregation </vt:lpstr>
      <vt:lpstr>Composition </vt:lpstr>
      <vt:lpstr>CQRS</vt:lpstr>
      <vt:lpstr>CQRS [cont.]</vt:lpstr>
      <vt:lpstr>PowerPoint Presentation</vt:lpstr>
      <vt:lpstr>PowerPoint Presentation</vt:lpstr>
      <vt:lpstr>PowerPoint Presentation</vt:lpstr>
      <vt:lpstr>PowerPoint Presentation</vt:lpstr>
      <vt:lpstr>Hangfire</vt:lpstr>
      <vt:lpstr>Json Serializer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 Mohamed Samir</dc:creator>
  <cp:lastModifiedBy>Ahmed  Mohamed Samir</cp:lastModifiedBy>
  <cp:revision>93</cp:revision>
  <dcterms:created xsi:type="dcterms:W3CDTF">2026-04-15T09:24:06Z</dcterms:created>
  <dcterms:modified xsi:type="dcterms:W3CDTF">2026-06-22T21:17:56Z</dcterms:modified>
</cp:coreProperties>
</file>