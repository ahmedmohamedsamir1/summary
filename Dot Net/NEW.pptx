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1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87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7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6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1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0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9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918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23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8345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20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5818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95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9806886-C3E2-4AA6-AE5C-EC60C7639E42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4547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E98-0B6C-9B77-FF16-50B6ED5BFA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664EA-01F5-A089-4CC9-B4F07ECC2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4772-F001-7EAD-2298-F58BE80B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36133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3CEEF-EE9D-DCEE-CA82-B75A0588A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7" y="361338"/>
            <a:ext cx="11921066" cy="6496662"/>
          </a:xfrm>
        </p:spPr>
        <p:txBody>
          <a:bodyPr/>
          <a:lstStyle/>
          <a:p>
            <a:r>
              <a:rPr lang="en-US" sz="1800"/>
              <a:t>The problem we are going to discuss is when you include two collections navigation property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pPr marL="36900" indent="0">
              <a:buNone/>
            </a:pPr>
            <a:endParaRPr lang="en-US" sz="1800"/>
          </a:p>
          <a:p>
            <a:r>
              <a:rPr lang="en-US" sz="1800"/>
              <a:t>The solution is to use the distinct </a:t>
            </a:r>
          </a:p>
          <a:p>
            <a:pPr lvl="7"/>
            <a:r>
              <a:rPr lang="en-US" b="1"/>
              <a:t>The question here is “If .Distinct() removes duplicates, how do I still access multiple customers?” Distinct() does NOT remove related data (customers/products) It only removes duplicate root entities in the outer list</a:t>
            </a:r>
          </a:p>
          <a:p>
            <a:pPr lvl="8"/>
            <a:endParaRPr lang="en-US" sz="1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45236-966F-4A17-07BD-8172CCD4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67" y="663579"/>
            <a:ext cx="3970868" cy="20638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73CDD-E71E-A748-6A9D-3D2EED263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51" y="682131"/>
            <a:ext cx="3720416" cy="213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A0E8CC-6B9F-8526-6568-DC92229CE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333" y="682131"/>
            <a:ext cx="2389931" cy="22763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FD63B-7E0B-44D8-EFDA-27125EBD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99" y="3609669"/>
            <a:ext cx="2573868" cy="254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4CEA69-A4B7-0FAE-A03C-8C3DC19E2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2463" y="3674533"/>
            <a:ext cx="2345271" cy="318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407864-5691-6EE8-5837-23C0570C37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4730" y="3674532"/>
            <a:ext cx="2345270" cy="31834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535EBD-136A-B98E-5773-FD5986E2FA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30" y="3778151"/>
            <a:ext cx="2624671" cy="29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83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EA4E-D2B1-DBF2-368C-D1028E2A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177E-C20A-6646-E988-D27152DE1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8" y="516467"/>
            <a:ext cx="12048402" cy="6231466"/>
          </a:xfrm>
        </p:spPr>
        <p:txBody>
          <a:bodyPr>
            <a:normAutofit/>
          </a:bodyPr>
          <a:lstStyle/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F41B0-EE33-4328-FF35-B0FB936F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" y="2191049"/>
            <a:ext cx="3125800" cy="319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E344-6E1E-A306-2456-6DA7264B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29" y="2199364"/>
            <a:ext cx="2451203" cy="3185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40A010-C4C5-C3D2-697D-7D04A9242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34" y="1261813"/>
            <a:ext cx="3028537" cy="54861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186575-EB8A-5D84-CC7D-20A2A7806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865" y="2095677"/>
            <a:ext cx="3028536" cy="322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7CB6-DD09-E63B-5A3E-3EDC2F4A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 [cont.]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A21BE-2497-3F97-5D44-9F55ECFD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516467"/>
            <a:ext cx="11954933" cy="6341533"/>
          </a:xfrm>
        </p:spPr>
        <p:txBody>
          <a:bodyPr>
            <a:normAutofit/>
          </a:bodyPr>
          <a:lstStyle/>
          <a:p>
            <a:r>
              <a:rPr lang="en-US" sz="1800" b="1"/>
              <a:t>✅ When you DO NOT need .Distinct()</a:t>
            </a:r>
          </a:p>
          <a:p>
            <a:pPr lvl="1"/>
            <a:r>
              <a:rPr lang="en-US" sz="1600" b="1"/>
              <a:t>✔ Case 1: Only one collection</a:t>
            </a:r>
          </a:p>
          <a:p>
            <a:pPr lvl="1"/>
            <a:r>
              <a:rPr lang="en-US" sz="1600" b="1"/>
              <a:t>✔ Case 2: Only reference navigations</a:t>
            </a:r>
          </a:p>
          <a:p>
            <a:pPr lvl="1"/>
            <a:r>
              <a:rPr lang="en-US" sz="1600" b="1"/>
              <a:t>✔ Case 3: using </a:t>
            </a:r>
            <a:r>
              <a:rPr lang="en-US" sz="1600" b="1">
                <a:solidFill>
                  <a:srgbClr val="FFFF00"/>
                </a:solidFill>
              </a:rPr>
              <a:t>AsNoTracking</a:t>
            </a:r>
            <a:endParaRPr lang="en-US" sz="1800" b="1"/>
          </a:p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6B2B5-8CF4-7377-0851-630FFE2DA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2" y="3805766"/>
            <a:ext cx="3150985" cy="195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64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92B0-05A2-EE2F-93B9-49F41F29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5667"/>
          </a:xfrm>
        </p:spPr>
        <p:txBody>
          <a:bodyPr>
            <a:normAutofit fontScale="90000"/>
          </a:bodyPr>
          <a:lstStyle/>
          <a:p>
            <a:r>
              <a:rPr lang="en-US" b="1"/>
              <a:t>DateTime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479F-B437-F448-A8ED-1B5919474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465668"/>
            <a:ext cx="11785599" cy="639233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F0"/>
                </a:solidFill>
              </a:rPr>
              <a:t>declare</a:t>
            </a:r>
            <a:r>
              <a:rPr lang="en-US"/>
              <a:t> </a:t>
            </a:r>
            <a:r>
              <a:rPr lang="en-US" b="1">
                <a:solidFill>
                  <a:schemeClr val="tx1"/>
                </a:solidFill>
              </a:rPr>
              <a:t>@testDate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datetime</a:t>
            </a:r>
            <a:r>
              <a:rPr lang="en-US"/>
              <a:t> = '2026-10-25 1:30:45 PM’</a:t>
            </a:r>
          </a:p>
          <a:p>
            <a:endParaRPr lang="en-US"/>
          </a:p>
          <a:p>
            <a:r>
              <a:rPr lang="en-US"/>
              <a:t>select @testDate [test date]</a:t>
            </a:r>
          </a:p>
          <a:p>
            <a:endParaRPr lang="en-US" sz="1800"/>
          </a:p>
          <a:p>
            <a:r>
              <a:rPr lang="en-US" sz="1700" b="1"/>
              <a:t>select </a:t>
            </a:r>
            <a:r>
              <a:rPr lang="en-US" sz="1700" b="1">
                <a:solidFill>
                  <a:srgbClr val="D51BBF"/>
                </a:solidFill>
              </a:rPr>
              <a:t>FORMAT</a:t>
            </a:r>
            <a:r>
              <a:rPr lang="en-US" sz="1700" b="1"/>
              <a:t>(@testDate, 'yyyy-MM-dd hh:mm:ss tt') AS FormattedDate;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YEAR</a:t>
            </a:r>
            <a:r>
              <a:rPr lang="en-US" sz="1800"/>
              <a:t>(@testDate) as Year			</a:t>
            </a:r>
            <a:r>
              <a:rPr lang="en-US" sz="1800" b="1"/>
              <a:t>-- 2026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MONTH</a:t>
            </a:r>
            <a:r>
              <a:rPr lang="en-US" sz="1800"/>
              <a:t>(@testDate) as Month   	 </a:t>
            </a:r>
            <a:r>
              <a:rPr lang="en-US" sz="1800" b="1"/>
              <a:t>-- 10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day</a:t>
            </a:r>
            <a:r>
              <a:rPr lang="en-US" sz="1800"/>
              <a:t>(@testDate) as Day				</a:t>
            </a:r>
            <a:r>
              <a:rPr lang="en-US" sz="1800" b="1"/>
              <a:t>-- 25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(YEAR, @testDate) as YEAR	  -- 2026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(MONTH, @testDate) as Month	  -- 10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(DAY, @testDate) as Day		  -- 25</a:t>
            </a:r>
            <a:endParaRPr lang="en-US" sz="1800"/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D51BBF"/>
                </a:solidFill>
              </a:rPr>
              <a:t>DATEFROMPARTS</a:t>
            </a:r>
            <a:r>
              <a:rPr lang="en-US" sz="1600" b="1"/>
              <a:t>(2026, 10, 25) </a:t>
            </a:r>
            <a:r>
              <a:rPr lang="en-US" sz="1600"/>
              <a:t>	</a:t>
            </a:r>
            <a:r>
              <a:rPr lang="en-US" sz="1600" b="1"/>
              <a:t>-- 2026-10-25</a:t>
            </a:r>
          </a:p>
          <a:p>
            <a:r>
              <a:rPr lang="en-US" sz="1500" b="1"/>
              <a:t>select </a:t>
            </a:r>
            <a:r>
              <a:rPr lang="en-US" sz="1500" b="1">
                <a:solidFill>
                  <a:srgbClr val="D51BBF"/>
                </a:solidFill>
              </a:rPr>
              <a:t>DATETIMEFROMPARTS</a:t>
            </a:r>
            <a:r>
              <a:rPr lang="en-US" sz="1500" b="1"/>
              <a:t>(2026, 10, 25, 13, 30, 45, 0)</a:t>
            </a:r>
            <a:r>
              <a:rPr lang="en-US" sz="1500"/>
              <a:t>	</a:t>
            </a:r>
            <a:r>
              <a:rPr lang="en-US" sz="1500" b="1"/>
              <a:t>-- 2026-10-25 13:30:45.000</a:t>
            </a:r>
          </a:p>
          <a:p>
            <a:r>
              <a:rPr lang="en-US" sz="1600" b="1"/>
              <a:t>select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(MONTH, '2026-10-25’) );  -- October</a:t>
            </a:r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00B0F0"/>
                </a:solidFill>
              </a:rPr>
              <a:t>LEFT</a:t>
            </a:r>
            <a:r>
              <a:rPr lang="en-US" sz="1600" b="1"/>
              <a:t>(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 (MONTH, '2026-10-25’) ) ,3 );  --  Oct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40C6A-793A-A47C-1AB4-101A4A89A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505" y="1309978"/>
            <a:ext cx="1854161" cy="464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420EB9-AC2D-6EFC-404B-B5B1F62C3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767" y="2010823"/>
            <a:ext cx="2226367" cy="69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6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DDB9-AA73-A473-E653-7B1D163CA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0A2F4-5E6D-E4B7-E3C0-663C580D2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2849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308</TotalTime>
  <Words>339</Words>
  <Application>Microsoft Office PowerPoint</Application>
  <PresentationFormat>Widescreen</PresentationFormat>
  <Paragraphs>39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Calisto MT</vt:lpstr>
      <vt:lpstr>Wingdings 2</vt:lpstr>
      <vt:lpstr>Slate</vt:lpstr>
      <vt:lpstr>PowerPoint Presentation</vt:lpstr>
      <vt:lpstr>Inlcude in Linq</vt:lpstr>
      <vt:lpstr>Inlcude in Linq</vt:lpstr>
      <vt:lpstr>Inlcude in Linq [cont.]</vt:lpstr>
      <vt:lpstr>DateTime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 Mohamed Samir</dc:creator>
  <cp:lastModifiedBy>Ahmed  Mohamed Samir</cp:lastModifiedBy>
  <cp:revision>35</cp:revision>
  <dcterms:created xsi:type="dcterms:W3CDTF">2026-04-15T09:24:06Z</dcterms:created>
  <dcterms:modified xsi:type="dcterms:W3CDTF">2026-04-15T14:32:37Z</dcterms:modified>
</cp:coreProperties>
</file>