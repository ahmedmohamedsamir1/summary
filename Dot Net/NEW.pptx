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9" r:id="rId7"/>
    <p:sldId id="274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70" r:id="rId17"/>
    <p:sldId id="271" r:id="rId18"/>
    <p:sldId id="273" r:id="rId19"/>
    <p:sldId id="272" r:id="rId20"/>
    <p:sldId id="275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51BB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 varScale="1">
        <p:scale>
          <a:sx n="90" d="100"/>
          <a:sy n="90" d="100"/>
        </p:scale>
        <p:origin x="355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0693" y="1769540"/>
            <a:ext cx="9440034" cy="1828801"/>
          </a:xfr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0693" y="3598339"/>
            <a:ext cx="9440034" cy="1049867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06886-C3E2-4AA6-AE5C-EC60C7639E42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6739F-50F2-4439-85B8-0425B6645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25199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06886-C3E2-4AA6-AE5C-EC60C7639E42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6739F-50F2-4439-85B8-0425B6645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09513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1761067"/>
            <a:ext cx="9590550" cy="1828813"/>
          </a:xfrm>
        </p:spPr>
        <p:txBody>
          <a:bodyPr anchor="b"/>
          <a:lstStyle>
            <a:lvl1pPr algn="ctr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3589879"/>
            <a:ext cx="9590550" cy="1507054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06886-C3E2-4AA6-AE5C-EC60C7639E42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6739F-50F2-4439-85B8-0425B6645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21874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1732449"/>
            <a:ext cx="5060497" cy="4058750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2892" y="1732449"/>
            <a:ext cx="5064665" cy="4058751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06886-C3E2-4AA6-AE5C-EC60C7639E42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6739F-50F2-4439-85B8-0425B6645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90977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795" y="1734506"/>
            <a:ext cx="5089072" cy="4148769"/>
          </a:xfrm>
          <a:prstGeom prst="rect">
            <a:avLst/>
          </a:prstGeom>
        </p:spPr>
      </p:pic>
      <p:pic>
        <p:nvPicPr>
          <p:cNvPr id="21" name="Picture 20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8485" y="1734506"/>
            <a:ext cx="5089072" cy="414876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5872" y="1835254"/>
            <a:ext cx="4876344" cy="544884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05872" y="2380137"/>
            <a:ext cx="4876344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94967" y="1835254"/>
            <a:ext cx="4895330" cy="544883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94967" y="2380137"/>
            <a:ext cx="4895330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06886-C3E2-4AA6-AE5C-EC60C7639E42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6739F-50F2-4439-85B8-0425B6645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11675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06886-C3E2-4AA6-AE5C-EC60C7639E42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6739F-50F2-4439-85B8-0425B6645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09685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06886-C3E2-4AA6-AE5C-EC60C7639E42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6739F-50F2-4439-85B8-0425B6645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13112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3706889" cy="182191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609600"/>
            <a:ext cx="6411924" cy="51816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1518"/>
            <a:ext cx="3706889" cy="3359681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06886-C3E2-4AA6-AE5C-EC60C7639E42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6739F-50F2-4439-85B8-0425B6645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5005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Slate-V2-HD-vert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3665" y="609600"/>
            <a:ext cx="3584166" cy="520483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923"/>
            <a:ext cx="5934949" cy="1829338"/>
          </a:xfrm>
        </p:spPr>
        <p:txBody>
          <a:bodyPr anchor="b">
            <a:noAutofit/>
          </a:bodyPr>
          <a:lstStyle>
            <a:lvl1pPr algn="ctr">
              <a:defRPr sz="3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42551" y="763702"/>
            <a:ext cx="3275751" cy="4912822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9261"/>
            <a:ext cx="5934949" cy="337613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06886-C3E2-4AA6-AE5C-EC60C7639E42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6739F-50F2-4439-85B8-0425B6645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39925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Slate-V2-HD-pano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883" y="547807"/>
            <a:ext cx="10141799" cy="381680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565255"/>
            <a:ext cx="10355326" cy="543472"/>
          </a:xfrm>
        </p:spPr>
        <p:txBody>
          <a:bodyPr anchor="b">
            <a:normAutofit/>
          </a:bodyPr>
          <a:lstStyle>
            <a:lvl1pPr algn="ctr"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69349" y="695009"/>
            <a:ext cx="9845346" cy="3525671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108728"/>
            <a:ext cx="10353762" cy="682472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06886-C3E2-4AA6-AE5C-EC60C7639E42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6739F-50F2-4439-85B8-0425B6645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9184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8437"/>
            <a:ext cx="10353762" cy="353434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95180"/>
            <a:ext cx="10353763" cy="150182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06886-C3E2-4AA6-AE5C-EC60C7639E42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6739F-50F2-4439-85B8-0425B6645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152305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32749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304353"/>
            <a:ext cx="10353763" cy="148949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06886-C3E2-4AA6-AE5C-EC60C7639E42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6739F-50F2-4439-85B8-0425B6645851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990600" y="88479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4716" y="292825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03834514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2126942"/>
            <a:ext cx="10353763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84" y="4650556"/>
            <a:ext cx="10352199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06886-C3E2-4AA6-AE5C-EC60C7639E42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6739F-50F2-4439-85B8-0425B6645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56933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5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6711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43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572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66572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06886-C3E2-4AA6-AE5C-EC60C7639E42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6739F-50F2-4439-85B8-0425B6645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651349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962" y="1818214"/>
            <a:ext cx="3339972" cy="1847851"/>
          </a:xfrm>
          <a:prstGeom prst="rect">
            <a:avLst/>
          </a:prstGeom>
        </p:spPr>
      </p:pic>
      <p:pic>
        <p:nvPicPr>
          <p:cNvPr id="36" name="Picture 35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800" y="1818214"/>
            <a:ext cx="3339972" cy="1847851"/>
          </a:xfrm>
          <a:prstGeom prst="rect">
            <a:avLst/>
          </a:prstGeom>
        </p:spPr>
      </p:pic>
      <p:pic>
        <p:nvPicPr>
          <p:cNvPr id="37" name="Picture 36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6051" y="1818214"/>
            <a:ext cx="3339972" cy="1847851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3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18102" y="1938918"/>
            <a:ext cx="3092368" cy="160295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480368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88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45743" y="1939094"/>
            <a:ext cx="3092368" cy="160816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435" y="4480367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697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75698" y="1934432"/>
            <a:ext cx="3092368" cy="160729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66572" y="4480365"/>
            <a:ext cx="3300984" cy="131083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06886-C3E2-4AA6-AE5C-EC60C7639E42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6739F-50F2-4439-85B8-0425B6645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132016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06886-C3E2-4AA6-AE5C-EC60C7639E42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6739F-50F2-4439-85B8-0425B6645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058189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83068" y="609599"/>
            <a:ext cx="228448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6" y="609599"/>
            <a:ext cx="7916872" cy="5181601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06886-C3E2-4AA6-AE5C-EC60C7639E42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6739F-50F2-4439-85B8-0425B6645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69560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1732449"/>
            <a:ext cx="10353762" cy="405875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79806886-C3E2-4AA6-AE5C-EC60C7639E42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5" y="5883275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67E6739F-50F2-4439-85B8-0425B6645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845473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2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72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8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102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138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1674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20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240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278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310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BDFE98-0B6C-9B77-FF16-50B6ED5BFA0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EB664EA-01F5-A089-4CC9-B4F07ECC2AF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8709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804772-F001-7EAD-2298-F58BE80B69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361337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FF00"/>
                </a:solidFill>
              </a:rPr>
              <a:t>Inlcude in Linq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73CEEF-EE9D-DCEE-CA82-B75A0588A2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67" y="361338"/>
            <a:ext cx="11921066" cy="6496662"/>
          </a:xfrm>
        </p:spPr>
        <p:txBody>
          <a:bodyPr/>
          <a:lstStyle/>
          <a:p>
            <a:r>
              <a:rPr lang="en-US" sz="1800"/>
              <a:t>The problem we are going to discuss is when you include two collections navigation property</a:t>
            </a:r>
          </a:p>
          <a:p>
            <a:endParaRPr lang="en-US" sz="1800"/>
          </a:p>
          <a:p>
            <a:endParaRPr lang="en-US" sz="1800"/>
          </a:p>
          <a:p>
            <a:endParaRPr lang="en-US" sz="1800"/>
          </a:p>
          <a:p>
            <a:endParaRPr lang="en-US" sz="1800"/>
          </a:p>
          <a:p>
            <a:pPr marL="36900" indent="0">
              <a:buNone/>
            </a:pPr>
            <a:endParaRPr lang="en-US" sz="1800"/>
          </a:p>
          <a:p>
            <a:r>
              <a:rPr lang="en-US" sz="1800"/>
              <a:t>The solution is to use the distinct </a:t>
            </a:r>
          </a:p>
          <a:p>
            <a:pPr lvl="7"/>
            <a:r>
              <a:rPr lang="en-US" b="1"/>
              <a:t>The question here is “If .Distinct() removes duplicates, how do I still access multiple customers?” Distinct() does NOT remove related data (customers/products) It only removes duplicate root entities in the outer list</a:t>
            </a:r>
          </a:p>
          <a:p>
            <a:pPr lvl="8"/>
            <a:endParaRPr lang="en-US" sz="160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9845236-966F-4A17-07BD-8172CCD49B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467" y="663579"/>
            <a:ext cx="3970868" cy="206380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6F73CDD-E71E-A748-6A9D-3D2EED2637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2251" y="682131"/>
            <a:ext cx="3720416" cy="213359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1A0E8CC-6B9F-8526-6568-DC92229CEE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70333" y="682131"/>
            <a:ext cx="2389931" cy="227635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AAFD63B-7E0B-44D8-EFDA-27125EBD4BD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599" y="3609669"/>
            <a:ext cx="2573868" cy="2548384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44CEA69-A4B7-0FAE-A03C-8C3DC19E26E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02463" y="3674533"/>
            <a:ext cx="2345271" cy="318346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26407864-5691-6EE8-5837-23C0570C379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74730" y="3674532"/>
            <a:ext cx="2345270" cy="318346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87535EBD-136A-B98E-5773-FD5986E2FA7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90930" y="3778151"/>
            <a:ext cx="2624671" cy="2955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28342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D8EA4E-D2B1-DBF2-368C-D1028E2AA0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16467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FF00"/>
                </a:solidFill>
              </a:rPr>
              <a:t>Inlcude in Linq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69177E-C20A-6646-E988-D27152DE1F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598" y="516467"/>
            <a:ext cx="12048402" cy="6231466"/>
          </a:xfrm>
        </p:spPr>
        <p:txBody>
          <a:bodyPr>
            <a:normAutofit/>
          </a:bodyPr>
          <a:lstStyle/>
          <a:p>
            <a:r>
              <a:rPr lang="en-US" sz="1800"/>
              <a:t>If you use </a:t>
            </a:r>
            <a:r>
              <a:rPr lang="en-US" sz="1800" b="1">
                <a:solidFill>
                  <a:srgbClr val="FFFF00"/>
                </a:solidFill>
              </a:rPr>
              <a:t>.AsNoTracking() with distinct</a:t>
            </a:r>
            <a:r>
              <a:rPr lang="en-US" sz="1800"/>
              <a:t> the EF </a:t>
            </a:r>
            <a:r>
              <a:rPr lang="en-US" sz="1800" b="1"/>
              <a:t>does NOT do identity resolution</a:t>
            </a:r>
            <a:endParaRPr lang="en-US" sz="1800"/>
          </a:p>
          <a:p>
            <a:pPr lvl="1"/>
            <a:r>
              <a:rPr lang="en-US" sz="1600"/>
              <a:t>You may get duplicates</a:t>
            </a:r>
          </a:p>
          <a:p>
            <a:pPr lvl="1"/>
            <a:r>
              <a:rPr lang="en-US" sz="1600"/>
              <a:t>Navigation collections might not merge correctly </a:t>
            </a:r>
          </a:p>
          <a:p>
            <a:r>
              <a:rPr lang="en-US" sz="1800"/>
              <a:t>The solution is to use AsSplitQuery</a:t>
            </a:r>
          </a:p>
          <a:p>
            <a:endParaRPr lang="en-US" sz="180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8BF41B0-EE33-4328-FF35-B0FB936FEF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8" y="2199516"/>
            <a:ext cx="3125800" cy="319375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A5DE344-6E1E-A306-2456-6DA7264B79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29929" y="2199364"/>
            <a:ext cx="2451203" cy="318543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040A010-C4C5-C3D2-697D-7D04A92429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6134" y="1261813"/>
            <a:ext cx="3028537" cy="548612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B186575-EB8A-5D84-CC7D-20A2A7806E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61865" y="2095677"/>
            <a:ext cx="3028536" cy="32260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1652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BA7CB6-DD09-E63B-5A3E-3EDC2F4ACB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7595" y="0"/>
            <a:ext cx="10353762" cy="516467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FF00"/>
                </a:solidFill>
              </a:rPr>
              <a:t>Inlcude in Linq [cont.]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CA21BE-2497-3F97-5D44-9F55ECFD83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1600" y="516467"/>
            <a:ext cx="11954933" cy="6341533"/>
          </a:xfrm>
        </p:spPr>
        <p:txBody>
          <a:bodyPr>
            <a:normAutofit/>
          </a:bodyPr>
          <a:lstStyle/>
          <a:p>
            <a:r>
              <a:rPr lang="en-US" sz="1800" b="1"/>
              <a:t>✅ When you DO NOT need .Distinct()</a:t>
            </a:r>
          </a:p>
          <a:p>
            <a:pPr lvl="1"/>
            <a:r>
              <a:rPr lang="en-US" sz="1600" b="1"/>
              <a:t>✔ Case 1: Only one collection</a:t>
            </a:r>
          </a:p>
          <a:p>
            <a:pPr lvl="1"/>
            <a:r>
              <a:rPr lang="en-US" sz="1600" b="1"/>
              <a:t>✔ Case 2: Only reference navigations</a:t>
            </a:r>
          </a:p>
          <a:p>
            <a:pPr lvl="1"/>
            <a:r>
              <a:rPr lang="en-US" sz="1600" b="1"/>
              <a:t>✔ Case 3: using </a:t>
            </a:r>
            <a:r>
              <a:rPr lang="en-US" sz="1600" b="1">
                <a:solidFill>
                  <a:srgbClr val="FFFF00"/>
                </a:solidFill>
              </a:rPr>
              <a:t>AsNoTracking</a:t>
            </a:r>
            <a:endParaRPr lang="en-US" sz="1800" b="1"/>
          </a:p>
          <a:p>
            <a:r>
              <a:rPr lang="en-US" sz="1800"/>
              <a:t>If you use </a:t>
            </a:r>
            <a:r>
              <a:rPr lang="en-US" sz="1800" b="1">
                <a:solidFill>
                  <a:srgbClr val="FFFF00"/>
                </a:solidFill>
              </a:rPr>
              <a:t>.AsNoTracking() with distinct</a:t>
            </a:r>
            <a:r>
              <a:rPr lang="en-US" sz="1800"/>
              <a:t> the EF </a:t>
            </a:r>
            <a:r>
              <a:rPr lang="en-US" sz="1800" b="1"/>
              <a:t>does NOT do identity resolution</a:t>
            </a:r>
            <a:endParaRPr lang="en-US" sz="1800"/>
          </a:p>
          <a:p>
            <a:pPr lvl="1"/>
            <a:r>
              <a:rPr lang="en-US" sz="1600"/>
              <a:t>You may get duplicates</a:t>
            </a:r>
          </a:p>
          <a:p>
            <a:pPr lvl="1"/>
            <a:r>
              <a:rPr lang="en-US" sz="1600"/>
              <a:t>Navigation collections might not merge correctly </a:t>
            </a:r>
          </a:p>
          <a:p>
            <a:r>
              <a:rPr lang="en-US" sz="1800"/>
              <a:t>The solution is to use AsSplitQuery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0D6B2B5-8CF4-7377-0851-630FFE2DAD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082" y="3805766"/>
            <a:ext cx="3150985" cy="19523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38646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9692B0-05A2-EE2F-93B9-49F41F29E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465667"/>
          </a:xfrm>
        </p:spPr>
        <p:txBody>
          <a:bodyPr>
            <a:normAutofit fontScale="90000"/>
          </a:bodyPr>
          <a:lstStyle/>
          <a:p>
            <a:r>
              <a:rPr lang="en-US" b="1"/>
              <a:t>DateTime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02479F-B437-F448-A8ED-1B59194740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5467" y="465668"/>
            <a:ext cx="11785599" cy="6392332"/>
          </a:xfrm>
        </p:spPr>
        <p:txBody>
          <a:bodyPr>
            <a:normAutofit/>
          </a:bodyPr>
          <a:lstStyle/>
          <a:p>
            <a:r>
              <a:rPr lang="en-US" b="1">
                <a:solidFill>
                  <a:srgbClr val="00B0F0"/>
                </a:solidFill>
              </a:rPr>
              <a:t>declare</a:t>
            </a:r>
            <a:r>
              <a:rPr lang="en-US"/>
              <a:t> </a:t>
            </a:r>
            <a:r>
              <a:rPr lang="en-US" b="1">
                <a:solidFill>
                  <a:schemeClr val="tx1"/>
                </a:solidFill>
              </a:rPr>
              <a:t>@testDate</a:t>
            </a:r>
            <a:r>
              <a:rPr lang="en-US"/>
              <a:t> </a:t>
            </a:r>
            <a:r>
              <a:rPr lang="en-US" b="1">
                <a:solidFill>
                  <a:srgbClr val="00B0F0"/>
                </a:solidFill>
              </a:rPr>
              <a:t>datetime</a:t>
            </a:r>
            <a:r>
              <a:rPr lang="en-US"/>
              <a:t> = '2026-10-25 1:30:45 PM’</a:t>
            </a:r>
          </a:p>
          <a:p>
            <a:endParaRPr lang="en-US"/>
          </a:p>
          <a:p>
            <a:r>
              <a:rPr lang="en-US"/>
              <a:t>select @testDate [test date]</a:t>
            </a:r>
          </a:p>
          <a:p>
            <a:endParaRPr lang="en-US" sz="1800"/>
          </a:p>
          <a:p>
            <a:r>
              <a:rPr lang="en-US" sz="1700" b="1"/>
              <a:t>select </a:t>
            </a:r>
            <a:r>
              <a:rPr lang="en-US" sz="1700" b="1">
                <a:solidFill>
                  <a:srgbClr val="D51BBF"/>
                </a:solidFill>
              </a:rPr>
              <a:t>FORMAT</a:t>
            </a:r>
            <a:r>
              <a:rPr lang="en-US" sz="1700" b="1"/>
              <a:t>(@testDate, 'yyyy-MM-dd hh:mm:ss tt') AS FormattedDate;</a:t>
            </a:r>
          </a:p>
          <a:p>
            <a:r>
              <a:rPr lang="en-US" sz="1800"/>
              <a:t>select </a:t>
            </a:r>
            <a:r>
              <a:rPr lang="en-US" sz="1800" b="1">
                <a:solidFill>
                  <a:srgbClr val="D51BBF"/>
                </a:solidFill>
              </a:rPr>
              <a:t>YEAR</a:t>
            </a:r>
            <a:r>
              <a:rPr lang="en-US" sz="1800"/>
              <a:t>(@testDate) as Year			</a:t>
            </a:r>
            <a:r>
              <a:rPr lang="en-US" sz="1800" b="1"/>
              <a:t>-- 2026</a:t>
            </a:r>
          </a:p>
          <a:p>
            <a:r>
              <a:rPr lang="en-US" sz="1800"/>
              <a:t>select </a:t>
            </a:r>
            <a:r>
              <a:rPr lang="en-US" sz="1800" b="1">
                <a:solidFill>
                  <a:srgbClr val="D51BBF"/>
                </a:solidFill>
              </a:rPr>
              <a:t>MONTH</a:t>
            </a:r>
            <a:r>
              <a:rPr lang="en-US" sz="1800"/>
              <a:t>(@testDate) as Month   	 </a:t>
            </a:r>
            <a:r>
              <a:rPr lang="en-US" sz="1800" b="1"/>
              <a:t>-- 10</a:t>
            </a:r>
          </a:p>
          <a:p>
            <a:r>
              <a:rPr lang="en-US" sz="1800"/>
              <a:t>select </a:t>
            </a:r>
            <a:r>
              <a:rPr lang="en-US" sz="1800" b="1">
                <a:solidFill>
                  <a:srgbClr val="D51BBF"/>
                </a:solidFill>
              </a:rPr>
              <a:t>day</a:t>
            </a:r>
            <a:r>
              <a:rPr lang="en-US" sz="1800"/>
              <a:t>(@testDate) as Day				</a:t>
            </a:r>
            <a:r>
              <a:rPr lang="en-US" sz="1800" b="1"/>
              <a:t>-- 25</a:t>
            </a:r>
          </a:p>
          <a:p>
            <a:r>
              <a:rPr lang="en-US" sz="1800" b="1"/>
              <a:t>select </a:t>
            </a:r>
            <a:r>
              <a:rPr lang="en-US" sz="1800" b="1">
                <a:solidFill>
                  <a:srgbClr val="D51BBF"/>
                </a:solidFill>
              </a:rPr>
              <a:t>DATEPART</a:t>
            </a:r>
            <a:r>
              <a:rPr lang="en-US" sz="1800" b="1"/>
              <a:t>(YEAR, @testDate) as YEAR	  -- 2026</a:t>
            </a:r>
          </a:p>
          <a:p>
            <a:r>
              <a:rPr lang="en-US" sz="1800" b="1"/>
              <a:t>select </a:t>
            </a:r>
            <a:r>
              <a:rPr lang="en-US" sz="1800" b="1">
                <a:solidFill>
                  <a:srgbClr val="D51BBF"/>
                </a:solidFill>
              </a:rPr>
              <a:t>DATEPART</a:t>
            </a:r>
            <a:r>
              <a:rPr lang="en-US" sz="1800" b="1"/>
              <a:t>(MONTH, @testDate) as Month	  -- 10</a:t>
            </a:r>
          </a:p>
          <a:p>
            <a:r>
              <a:rPr lang="en-US" sz="1800" b="1"/>
              <a:t>select </a:t>
            </a:r>
            <a:r>
              <a:rPr lang="en-US" sz="1800" b="1">
                <a:solidFill>
                  <a:srgbClr val="D51BBF"/>
                </a:solidFill>
              </a:rPr>
              <a:t>DATEPART</a:t>
            </a:r>
            <a:r>
              <a:rPr lang="en-US" sz="1800" b="1"/>
              <a:t>(DAY, @testDate) as Day		  -- 25</a:t>
            </a:r>
            <a:endParaRPr lang="en-US" sz="1800"/>
          </a:p>
          <a:p>
            <a:r>
              <a:rPr lang="en-US" sz="1600" b="1"/>
              <a:t>select </a:t>
            </a:r>
            <a:r>
              <a:rPr lang="en-US" sz="1600" b="1">
                <a:solidFill>
                  <a:srgbClr val="D51BBF"/>
                </a:solidFill>
              </a:rPr>
              <a:t>DATEFROMPARTS</a:t>
            </a:r>
            <a:r>
              <a:rPr lang="en-US" sz="1600" b="1"/>
              <a:t>(2026, 10, 25) </a:t>
            </a:r>
            <a:r>
              <a:rPr lang="en-US" sz="1600"/>
              <a:t>	</a:t>
            </a:r>
            <a:r>
              <a:rPr lang="en-US" sz="1600" b="1"/>
              <a:t>-- 2026-10-25</a:t>
            </a:r>
          </a:p>
          <a:p>
            <a:r>
              <a:rPr lang="en-US" sz="1500" b="1"/>
              <a:t>select </a:t>
            </a:r>
            <a:r>
              <a:rPr lang="en-US" sz="1500" b="1">
                <a:solidFill>
                  <a:srgbClr val="D51BBF"/>
                </a:solidFill>
              </a:rPr>
              <a:t>DATETIMEFROMPARTS</a:t>
            </a:r>
            <a:r>
              <a:rPr lang="en-US" sz="1500" b="1"/>
              <a:t>(2026, 10, 25, 13, 30, 45, 0)</a:t>
            </a:r>
            <a:r>
              <a:rPr lang="en-US" sz="1500"/>
              <a:t>	</a:t>
            </a:r>
            <a:r>
              <a:rPr lang="en-US" sz="1500" b="1"/>
              <a:t>-- 2026-10-25 13:30:45.000</a:t>
            </a:r>
          </a:p>
          <a:p>
            <a:r>
              <a:rPr lang="en-US" sz="1600" b="1"/>
              <a:t>select ( </a:t>
            </a:r>
            <a:r>
              <a:rPr lang="en-US" sz="1600" b="1">
                <a:solidFill>
                  <a:srgbClr val="D51BBF"/>
                </a:solidFill>
              </a:rPr>
              <a:t>DATENAME</a:t>
            </a:r>
            <a:r>
              <a:rPr lang="en-US" sz="1600" b="1"/>
              <a:t>(MONTH, '2026-10-25’) );  -- October</a:t>
            </a:r>
          </a:p>
          <a:p>
            <a:r>
              <a:rPr lang="en-US" sz="1600" b="1"/>
              <a:t>select </a:t>
            </a:r>
            <a:r>
              <a:rPr lang="en-US" sz="1600" b="1">
                <a:solidFill>
                  <a:srgbClr val="00B0F0"/>
                </a:solidFill>
              </a:rPr>
              <a:t>LEFT</a:t>
            </a:r>
            <a:r>
              <a:rPr lang="en-US" sz="1600" b="1"/>
              <a:t>( ( </a:t>
            </a:r>
            <a:r>
              <a:rPr lang="en-US" sz="1600" b="1">
                <a:solidFill>
                  <a:srgbClr val="D51BBF"/>
                </a:solidFill>
              </a:rPr>
              <a:t>DATENAME</a:t>
            </a:r>
            <a:r>
              <a:rPr lang="en-US" sz="1600" b="1"/>
              <a:t> (MONTH, '2026-10-25’) ) ,3 );  --  Oct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E240C6A-793A-A47C-1AB4-101A4A89A8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1505" y="1309978"/>
            <a:ext cx="1854161" cy="46441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1420EB9-AC2D-6EFC-404B-B5B1F62C36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6767" y="2010823"/>
            <a:ext cx="2226367" cy="6900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9636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7A302D-777A-F719-8C92-9D165BB03A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491067"/>
          </a:xfrm>
        </p:spPr>
        <p:txBody>
          <a:bodyPr>
            <a:normAutofit fontScale="90000"/>
          </a:bodyPr>
          <a:lstStyle/>
          <a:p>
            <a:r>
              <a:rPr lang="en-US"/>
              <a:t>Built in methods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C44BCE-5CA1-155C-BAED-09E66730BB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8601" y="728133"/>
            <a:ext cx="11734800" cy="5985934"/>
          </a:xfrm>
        </p:spPr>
        <p:txBody>
          <a:bodyPr/>
          <a:lstStyle/>
          <a:p>
            <a:r>
              <a:rPr lang="en-US"/>
              <a:t>SPACE(1) // generate 1 space</a:t>
            </a:r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53706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DC3765-8FC0-A90B-A887-EF5E6AAEB9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2C5918-DD85-6F17-5B4D-856121CF66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24913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D7DDB9-AA73-A473-E653-7B1D163CA4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75733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FF00"/>
                </a:solidFill>
                <a:effectLst/>
              </a:rPr>
              <a:t>LINQ Query Syntax left Join</a:t>
            </a:r>
            <a:endParaRPr lang="en-US" b="1">
              <a:solidFill>
                <a:srgbClr val="FFFF00"/>
              </a:solidFill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8D248F4-0131-E61B-4DC6-F1B7BD778D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796" y="719666"/>
            <a:ext cx="2606430" cy="154699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3A5E6F59-06F8-72D9-70F4-8C549D07F8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9468" y="560627"/>
            <a:ext cx="3716336" cy="1791904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33476E61-EFFB-1CC9-6979-6E6234D3E7B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438401"/>
            <a:ext cx="3834023" cy="4447408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46AA3581-A6E2-1BC7-E6DB-736DD2E0191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92559" y="2403018"/>
            <a:ext cx="3716336" cy="2051963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8B0F35E5-A5B4-4718-F3D9-89FA9709369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92559" y="4490364"/>
            <a:ext cx="2682472" cy="2367636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3FCD31B3-BF3B-0D8A-A0DA-28A44692652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0912" y="575733"/>
            <a:ext cx="2420087" cy="331133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A143240C-C79B-8D12-DEB4-A172F26C101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59872" y="4069389"/>
            <a:ext cx="3635055" cy="26138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80284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629567-C097-E677-74FD-BB7789F58B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01133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FF00"/>
                </a:solidFill>
                <a:effectLst/>
              </a:rPr>
              <a:t>LINQ Query Syntax left Join</a:t>
            </a:r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3EBEE3B-A167-F253-28A7-81C76EED4FD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716866" y="601132"/>
            <a:ext cx="4030133" cy="2820333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26874DD-4DB0-E2B0-FE6A-506E6C22AD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308" y="608667"/>
            <a:ext cx="3247932" cy="282033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C59A1D6-D574-D479-7528-6A48466DDE1C}"/>
              </a:ext>
            </a:extLst>
          </p:cNvPr>
          <p:cNvSpPr txBox="1"/>
          <p:nvPr/>
        </p:nvSpPr>
        <p:spPr>
          <a:xfrm>
            <a:off x="728132" y="4064000"/>
            <a:ext cx="1004146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The tricky here is : when we need to get from all rows from first table even if there no match in second table</a:t>
            </a:r>
          </a:p>
          <a:p>
            <a:endParaRPr lang="en-US"/>
          </a:p>
          <a:p>
            <a:endParaRPr lang="en-US"/>
          </a:p>
          <a:p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0828987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017F55-A87E-8987-8C53-D352FE5F6A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70450"/>
          </a:xfrm>
        </p:spPr>
        <p:txBody>
          <a:bodyPr/>
          <a:lstStyle/>
          <a:p>
            <a:r>
              <a:rPr lang="en-US" b="1">
                <a:solidFill>
                  <a:srgbClr val="FF0000"/>
                </a:solidFill>
              </a:rPr>
              <a:t>Left join in .net 10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73BCEA-3A25-B8DF-FB6E-C613885C8F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3933" y="970450"/>
            <a:ext cx="11954934" cy="5785949"/>
          </a:xfrm>
        </p:spPr>
        <p:txBody>
          <a:bodyPr/>
          <a:lstStyle/>
          <a:p>
            <a:endParaRPr lang="en-US"/>
          </a:p>
          <a:p>
            <a:endParaRPr lang="en-US"/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A68C370-4A46-552D-83CE-7E9DB643D2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574" y="885510"/>
            <a:ext cx="5824426" cy="29215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56055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4F4AEA-1971-E800-703E-69F376F262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53533"/>
          </a:xfrm>
        </p:spPr>
        <p:txBody>
          <a:bodyPr/>
          <a:lstStyle/>
          <a:p>
            <a:r>
              <a:rPr lang="en-US" b="1">
                <a:effectLst/>
              </a:rPr>
              <a:t>Association 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56D789-EEAB-71E6-ECF8-CFF49F4FD0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7800" y="897467"/>
            <a:ext cx="11844867" cy="5698066"/>
          </a:xfrm>
        </p:spPr>
        <p:txBody>
          <a:bodyPr/>
          <a:lstStyle/>
          <a:p>
            <a:r>
              <a:rPr lang="en-US" b="1">
                <a:effectLst/>
              </a:rPr>
              <a:t>Uses-A"</a:t>
            </a:r>
            <a:r>
              <a:rPr lang="en-US" b="1">
                <a:solidFill>
                  <a:srgbClr val="FFFF00"/>
                </a:solidFill>
                <a:effectLst/>
              </a:rPr>
              <a:t>Relationship</a:t>
            </a:r>
            <a:r>
              <a:rPr lang="en-US" b="1">
                <a:effectLst/>
              </a:rPr>
              <a:t>"</a:t>
            </a:r>
            <a:endParaRPr lang="en-US">
              <a:effectLst/>
            </a:endParaRPr>
          </a:p>
          <a:p>
            <a:r>
              <a:rPr lang="en-US">
                <a:effectLst/>
              </a:rPr>
              <a:t>It defines a link between two </a:t>
            </a:r>
            <a:r>
              <a:rPr lang="en-US" b="1">
                <a:solidFill>
                  <a:srgbClr val="FFFF00"/>
                </a:solidFill>
                <a:effectLst/>
              </a:rPr>
              <a:t>independent</a:t>
            </a:r>
            <a:r>
              <a:rPr lang="en-US">
                <a:effectLst/>
              </a:rPr>
              <a:t> objects where they use each other to perform actions, but neither "owns" the other.</a:t>
            </a:r>
          </a:p>
          <a:p>
            <a:r>
              <a:rPr lang="en-US" b="1">
                <a:effectLst/>
              </a:rPr>
              <a:t>Implementation: </a:t>
            </a:r>
            <a:r>
              <a:rPr lang="en-US">
                <a:effectLst/>
              </a:rPr>
              <a:t>by passing an object as a parameter to a method.</a:t>
            </a:r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134ABA0-88FD-1776-477D-E864080379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776" y="2788392"/>
            <a:ext cx="6063623" cy="28818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60031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4267C5-BAE5-0154-04C1-96AF1FC31A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51933"/>
          </a:xfrm>
        </p:spPr>
        <p:txBody>
          <a:bodyPr>
            <a:normAutofit fontScale="90000"/>
          </a:bodyPr>
          <a:lstStyle/>
          <a:p>
            <a:r>
              <a:rPr lang="en-US" b="1">
                <a:effectLst/>
              </a:rPr>
              <a:t>Aggregation 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65FE83-4CE4-A8FB-78C3-FC7CC72794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133" y="651933"/>
            <a:ext cx="11980334" cy="6070600"/>
          </a:xfrm>
        </p:spPr>
        <p:txBody>
          <a:bodyPr/>
          <a:lstStyle/>
          <a:p>
            <a:r>
              <a:rPr lang="en-US" sz="1800" b="1">
                <a:effectLst/>
              </a:rPr>
              <a:t>The "Has-A" Relationship</a:t>
            </a:r>
          </a:p>
          <a:p>
            <a:r>
              <a:rPr lang="en-US" sz="1800" b="1">
                <a:effectLst/>
              </a:rPr>
              <a:t>C# Implementation:</a:t>
            </a:r>
            <a:r>
              <a:rPr lang="en-US" sz="1800">
                <a:effectLst/>
              </a:rPr>
              <a:t> </a:t>
            </a:r>
            <a:r>
              <a:rPr lang="en-US" sz="1800" b="1">
                <a:effectLst/>
              </a:rPr>
              <a:t>Usually implemented by passing the child object into the parent’s constructor or property (</a:t>
            </a:r>
            <a:r>
              <a:rPr lang="en-US" sz="1800" b="1">
                <a:solidFill>
                  <a:srgbClr val="FFFF00"/>
                </a:solidFill>
                <a:effectLst/>
              </a:rPr>
              <a:t>Dependency Injection</a:t>
            </a:r>
            <a:r>
              <a:rPr lang="en-US" sz="1800" b="1">
                <a:effectLst/>
              </a:rPr>
              <a:t>)</a:t>
            </a:r>
          </a:p>
          <a:p>
            <a:r>
              <a:rPr lang="en-US" b="1">
                <a:effectLst/>
              </a:rPr>
              <a:t>Here </a:t>
            </a:r>
            <a:r>
              <a:rPr lang="en-US"/>
              <a:t>children (teachers) can live without parent [ department ]</a:t>
            </a:r>
            <a:endParaRPr lang="en-US" b="1">
              <a:effectLst/>
            </a:endParaRPr>
          </a:p>
          <a:p>
            <a:endParaRPr lang="en-US" b="1">
              <a:effectLst/>
            </a:endParaRPr>
          </a:p>
          <a:p>
            <a:endParaRPr lang="en-US" b="1">
              <a:effectLst/>
            </a:endParaRPr>
          </a:p>
          <a:p>
            <a:endParaRPr lang="en-US" b="1">
              <a:effectLst/>
            </a:endParaRPr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9992E4A-01A8-4933-2AB5-554C036CF0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533" y="2684926"/>
            <a:ext cx="4885267" cy="31476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80594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2B5755-B757-6CAE-6FCA-355EA02E6B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09600"/>
          </a:xfrm>
        </p:spPr>
        <p:txBody>
          <a:bodyPr>
            <a:normAutofit fontScale="90000"/>
          </a:bodyPr>
          <a:lstStyle/>
          <a:p>
            <a:r>
              <a:rPr lang="en-US" b="1">
                <a:effectLst/>
              </a:rPr>
              <a:t>Composition 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BDCBF4-E275-B0F1-7606-6B1E25C882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1600" y="609601"/>
            <a:ext cx="12022667" cy="6155266"/>
          </a:xfrm>
        </p:spPr>
        <p:txBody>
          <a:bodyPr/>
          <a:lstStyle/>
          <a:p>
            <a:r>
              <a:rPr lang="en-US" b="1">
                <a:effectLst/>
              </a:rPr>
              <a:t>The "Part-Of" Relationship</a:t>
            </a:r>
          </a:p>
          <a:p>
            <a:r>
              <a:rPr lang="en-US" b="1"/>
              <a:t>child cannot exist without parent</a:t>
            </a:r>
            <a:r>
              <a:rPr lang="en-US"/>
              <a:t>.</a:t>
            </a:r>
            <a:endParaRPr lang="en-US" b="1">
              <a:effectLst/>
            </a:endParaRPr>
          </a:p>
          <a:p>
            <a:endParaRPr lang="en-US" b="1">
              <a:effectLst/>
            </a:endParaRPr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ABBE13F-38DC-0375-5425-89FF89DE68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600" y="1727965"/>
            <a:ext cx="4719468" cy="25267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84286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BD19B6-E7B4-D6B7-EA34-EAE44153C8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09600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CQRS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AB7379-F3B5-45C0-E910-A23E10E295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5467" y="609601"/>
            <a:ext cx="11997266" cy="6138332"/>
          </a:xfrm>
        </p:spPr>
        <p:txBody>
          <a:bodyPr>
            <a:normAutofit/>
          </a:bodyPr>
          <a:lstStyle/>
          <a:p>
            <a:r>
              <a:rPr lang="en-US" b="1"/>
              <a:t>CQRS stands for Command and </a:t>
            </a:r>
            <a:r>
              <a:rPr lang="en-US" b="1">
                <a:solidFill>
                  <a:srgbClr val="FF0000"/>
                </a:solidFill>
              </a:rPr>
              <a:t>Query Responsibility Segregation</a:t>
            </a:r>
          </a:p>
          <a:p>
            <a:r>
              <a:rPr lang="en-US"/>
              <a:t>It is a design pattern that separates read operations (queries) from write operations (commands).</a:t>
            </a:r>
          </a:p>
          <a:p>
            <a:r>
              <a:rPr lang="en-US"/>
              <a:t>Instead of having one model/service doing everything, CQRS splits responsibilities into two sides:</a:t>
            </a:r>
          </a:p>
          <a:p>
            <a:r>
              <a:rPr lang="en-US"/>
              <a:t>- Core Idea</a:t>
            </a:r>
          </a:p>
          <a:p>
            <a:r>
              <a:rPr lang="en-US"/>
              <a:t>   - </a:t>
            </a:r>
            <a:r>
              <a:rPr lang="en-US" b="1">
                <a:solidFill>
                  <a:srgbClr val="00B0F0"/>
                </a:solidFill>
              </a:rPr>
              <a:t>Commands</a:t>
            </a:r>
            <a:r>
              <a:rPr lang="en-US"/>
              <a:t> → change state (Create, Update, Delete)</a:t>
            </a:r>
          </a:p>
          <a:p>
            <a:r>
              <a:rPr lang="en-US"/>
              <a:t>   - </a:t>
            </a:r>
            <a:r>
              <a:rPr lang="en-US" b="1">
                <a:solidFill>
                  <a:srgbClr val="00B0F0"/>
                </a:solidFill>
              </a:rPr>
              <a:t>Queries</a:t>
            </a:r>
            <a:r>
              <a:rPr lang="en-US"/>
              <a:t> → read data (Get, List, Search)</a:t>
            </a:r>
          </a:p>
          <a:p>
            <a:r>
              <a:rPr lang="en-US"/>
              <a:t>-- Application</a:t>
            </a:r>
          </a:p>
          <a:p>
            <a:pPr lvl="1"/>
            <a:r>
              <a:rPr lang="en-US"/>
              <a:t> </a:t>
            </a:r>
            <a:r>
              <a:rPr lang="en-US" sz="1600" b="1">
                <a:solidFill>
                  <a:srgbClr val="FFFF00"/>
                </a:solidFill>
              </a:rPr>
              <a:t>Commands</a:t>
            </a:r>
          </a:p>
          <a:p>
            <a:pPr lvl="2"/>
            <a:r>
              <a:rPr lang="en-US" b="1"/>
              <a:t>CreateOrderCommand.cs</a:t>
            </a:r>
          </a:p>
          <a:p>
            <a:pPr lvl="1"/>
            <a:r>
              <a:rPr lang="en-US" sz="1600" b="1">
                <a:solidFill>
                  <a:srgbClr val="FFFF00"/>
                </a:solidFill>
              </a:rPr>
              <a:t>Queries</a:t>
            </a:r>
          </a:p>
          <a:p>
            <a:pPr lvl="2"/>
            <a:r>
              <a:rPr lang="en-US" b="1"/>
              <a:t>GetOrderByIdQuery.cs</a:t>
            </a:r>
          </a:p>
          <a:p>
            <a:pPr lvl="1"/>
            <a:r>
              <a:rPr lang="en-US" sz="1600" b="1">
                <a:solidFill>
                  <a:srgbClr val="FFFF00"/>
                </a:solidFill>
              </a:rPr>
              <a:t>Handlers</a:t>
            </a:r>
            <a:endParaRPr lang="en-US" sz="1600" b="1"/>
          </a:p>
          <a:p>
            <a:pPr lvl="2"/>
            <a:r>
              <a:rPr lang="en-US" b="1"/>
              <a:t>CreateOrderHandler.cs</a:t>
            </a:r>
          </a:p>
          <a:p>
            <a:pPr lvl="2"/>
            <a:r>
              <a:rPr lang="en-US" b="1"/>
              <a:t>GetOrderByIdHandler.cs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DE7AA69-5920-72EC-6556-3CFCF420F3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6020" y="3601657"/>
            <a:ext cx="3469826" cy="19186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0786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FD8936-648D-D9BA-8BA1-324899E54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1"/>
            <a:ext cx="10353762" cy="482600"/>
          </a:xfrm>
        </p:spPr>
        <p:txBody>
          <a:bodyPr>
            <a:noAutofit/>
          </a:bodyPr>
          <a:lstStyle/>
          <a:p>
            <a:r>
              <a:rPr lang="en-US" sz="3200" b="1">
                <a:solidFill>
                  <a:srgbClr val="FF0000"/>
                </a:solidFill>
              </a:rPr>
              <a:t>CQRS [cont.]</a:t>
            </a:r>
            <a:endParaRPr lang="en-US" sz="320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2A6B526-486E-96C5-BF0B-7527114EAA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628" y="538161"/>
            <a:ext cx="5526048" cy="322950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8C71119-4ADF-618D-29F0-B255D7F714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4628" y="3827987"/>
            <a:ext cx="5526048" cy="303001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7BE61BF-A50B-9557-B63A-22A3C6D437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6443" y="819722"/>
            <a:ext cx="4942957" cy="45232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76164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A8B0CF-9FBD-570C-8889-185A96C90E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A12D25-9BC0-E54F-F8F5-E9C371D629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200405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12E581-CD83-A0AD-774B-49DF713337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3862" y="2159000"/>
            <a:ext cx="10353762" cy="1430867"/>
          </a:xfrm>
        </p:spPr>
        <p:txBody>
          <a:bodyPr>
            <a:normAutofit/>
          </a:bodyPr>
          <a:lstStyle/>
          <a:p>
            <a:pPr marL="36900" indent="0" algn="ctr">
              <a:buNone/>
            </a:pPr>
            <a:r>
              <a:rPr lang="en-US" sz="7200" b="1">
                <a:solidFill>
                  <a:srgbClr val="FF0000"/>
                </a:solidFill>
              </a:rPr>
              <a:t>Start GIT</a:t>
            </a:r>
          </a:p>
        </p:txBody>
      </p:sp>
    </p:spTree>
    <p:extLst>
      <p:ext uri="{BB962C8B-B14F-4D97-AF65-F5344CB8AC3E}">
        <p14:creationId xmlns:p14="http://schemas.microsoft.com/office/powerpoint/2010/main" val="139436245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25334C-1B96-D150-CC11-B6DD59DF4B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C9883E-73B2-9EDC-CD3F-5CEAD2883E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During merge conflict</a:t>
            </a:r>
          </a:p>
          <a:p>
            <a:pPr lvl="1"/>
            <a:r>
              <a:rPr lang="en-US"/>
              <a:t>If you want to keep the current version and ignore the incoming changes</a:t>
            </a:r>
          </a:p>
          <a:p>
            <a:pPr lvl="2"/>
            <a:r>
              <a:rPr lang="en-US"/>
              <a:t>git checkout --ours "Dot Net/Business.pptx“</a:t>
            </a:r>
          </a:p>
          <a:p>
            <a:pPr lvl="1"/>
            <a:r>
              <a:rPr lang="en-US"/>
              <a:t>If you want to keep the incoming version and ignore ( discard ) the local changes</a:t>
            </a:r>
          </a:p>
          <a:p>
            <a:pPr lvl="2"/>
            <a:r>
              <a:rPr lang="en-US"/>
              <a:t>git checkout --theirs "Dot Net/Business.pptx“</a:t>
            </a:r>
          </a:p>
          <a:p>
            <a:pPr lvl="2"/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091369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33D092-8CF7-AC2C-E735-CD881E5A7E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73A33B-30B1-C540-CF64-34BF78007B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3862" y="2159000"/>
            <a:ext cx="10353762" cy="1430867"/>
          </a:xfrm>
        </p:spPr>
        <p:txBody>
          <a:bodyPr>
            <a:normAutofit/>
          </a:bodyPr>
          <a:lstStyle/>
          <a:p>
            <a:pPr marL="36900" indent="0" algn="ctr">
              <a:buNone/>
            </a:pPr>
            <a:r>
              <a:rPr lang="en-US" sz="7200" b="1">
                <a:solidFill>
                  <a:srgbClr val="FF0000"/>
                </a:solidFill>
              </a:rPr>
              <a:t>End GIT</a:t>
            </a:r>
          </a:p>
        </p:txBody>
      </p:sp>
    </p:spTree>
    <p:extLst>
      <p:ext uri="{BB962C8B-B14F-4D97-AF65-F5344CB8AC3E}">
        <p14:creationId xmlns:p14="http://schemas.microsoft.com/office/powerpoint/2010/main" val="248418757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F57973-116E-F85C-0922-EDA62F71A3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1"/>
            <a:ext cx="10353762" cy="508000"/>
          </a:xfrm>
        </p:spPr>
        <p:txBody>
          <a:bodyPr>
            <a:normAutofit fontScale="90000"/>
          </a:bodyPr>
          <a:lstStyle/>
          <a:p>
            <a:r>
              <a:rPr lang="en-US"/>
              <a:t>Hangfire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2F8648-23E7-7BDC-9673-218DCB3A8C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626533"/>
            <a:ext cx="10353762" cy="6045200"/>
          </a:xfrm>
        </p:spPr>
        <p:txBody>
          <a:bodyPr/>
          <a:lstStyle/>
          <a:p>
            <a:r>
              <a:rPr lang="en-US" sz="1800"/>
              <a:t>install-package </a:t>
            </a:r>
            <a:r>
              <a:rPr lang="en-US" sz="1800" b="1">
                <a:solidFill>
                  <a:srgbClr val="FFFF00"/>
                </a:solidFill>
              </a:rPr>
              <a:t>Hangfire</a:t>
            </a:r>
            <a:r>
              <a:rPr lang="en-US" sz="1800" b="1">
                <a:solidFill>
                  <a:srgbClr val="FF0000"/>
                </a:solidFill>
              </a:rPr>
              <a:t>.</a:t>
            </a:r>
            <a:r>
              <a:rPr lang="en-US" sz="1800">
                <a:solidFill>
                  <a:srgbClr val="00B0F0"/>
                </a:solidFill>
              </a:rPr>
              <a:t>AspNetCore</a:t>
            </a:r>
          </a:p>
          <a:p>
            <a:r>
              <a:rPr lang="en-US" sz="1800"/>
              <a:t>install-package Hangfire.SqlServer</a:t>
            </a:r>
          </a:p>
          <a:p>
            <a:endParaRPr lang="en-US"/>
          </a:p>
          <a:p>
            <a:r>
              <a:rPr lang="en-US" sz="1800"/>
              <a:t>Registeration</a:t>
            </a:r>
          </a:p>
          <a:p>
            <a:pPr lvl="1"/>
            <a:r>
              <a:rPr lang="en-US" b="1">
                <a:effectLst/>
              </a:rPr>
              <a:t>builder.Services.</a:t>
            </a:r>
            <a:r>
              <a:rPr lang="en-US" b="1">
                <a:solidFill>
                  <a:srgbClr val="00B0F0"/>
                </a:solidFill>
                <a:effectLst/>
              </a:rPr>
              <a:t>AddHangfireServer</a:t>
            </a:r>
            <a:r>
              <a:rPr lang="en-US" b="1">
                <a:effectLst/>
              </a:rPr>
              <a:t>();</a:t>
            </a:r>
            <a:endParaRPr lang="en-US"/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325789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late">
  <a:themeElements>
    <a:clrScheme name="Slate">
      <a:dk1>
        <a:sysClr val="windowText" lastClr="000000"/>
      </a:dk1>
      <a:lt1>
        <a:sysClr val="window" lastClr="FFFFFF"/>
      </a:lt1>
      <a:dk2>
        <a:srgbClr val="212123"/>
      </a:dk2>
      <a:lt2>
        <a:srgbClr val="DADADA"/>
      </a:lt2>
      <a:accent1>
        <a:srgbClr val="BC451B"/>
      </a:accent1>
      <a:accent2>
        <a:srgbClr val="D3BA68"/>
      </a:accent2>
      <a:accent3>
        <a:srgbClr val="BB8640"/>
      </a:accent3>
      <a:accent4>
        <a:srgbClr val="AD9277"/>
      </a:accent4>
      <a:accent5>
        <a:srgbClr val="A55A43"/>
      </a:accent5>
      <a:accent6>
        <a:srgbClr val="AD9D7B"/>
      </a:accent6>
      <a:hlink>
        <a:srgbClr val="E98052"/>
      </a:hlink>
      <a:folHlink>
        <a:srgbClr val="F4B69B"/>
      </a:folHlink>
    </a:clrScheme>
    <a:fontScheme name="Slate">
      <a:maj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late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ate" id="{C3F70B94-7CE9-428E-ADC1-3269CC2C3385}" vid="{3F2DE9A5-64E6-437C-A389-CC4477E817E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TM04033929[[fn=Slate]]</Template>
  <TotalTime>29217</TotalTime>
  <Words>656</Words>
  <Application>Microsoft Office PowerPoint</Application>
  <PresentationFormat>Widescreen</PresentationFormat>
  <Paragraphs>91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Calisto MT</vt:lpstr>
      <vt:lpstr>Wingdings 2</vt:lpstr>
      <vt:lpstr>Slate</vt:lpstr>
      <vt:lpstr>PowerPoint Presentation</vt:lpstr>
      <vt:lpstr>Inlcude in Linq</vt:lpstr>
      <vt:lpstr>Inlcude in Linq</vt:lpstr>
      <vt:lpstr>Inlcude in Linq [cont.]</vt:lpstr>
      <vt:lpstr>DateTime</vt:lpstr>
      <vt:lpstr>Built in methods</vt:lpstr>
      <vt:lpstr>PowerPoint Presentation</vt:lpstr>
      <vt:lpstr>LINQ Query Syntax left Join</vt:lpstr>
      <vt:lpstr>LINQ Query Syntax left Join</vt:lpstr>
      <vt:lpstr>Left join in .net 10</vt:lpstr>
      <vt:lpstr>Association </vt:lpstr>
      <vt:lpstr>Aggregation </vt:lpstr>
      <vt:lpstr>Composition </vt:lpstr>
      <vt:lpstr>CQRS</vt:lpstr>
      <vt:lpstr>CQRS [cont.]</vt:lpstr>
      <vt:lpstr>PowerPoint Presentation</vt:lpstr>
      <vt:lpstr>PowerPoint Presentation</vt:lpstr>
      <vt:lpstr>PowerPoint Presentation</vt:lpstr>
      <vt:lpstr>PowerPoint Presentation</vt:lpstr>
      <vt:lpstr>Hangfire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Ahmed  Mohamed Samir</dc:creator>
  <cp:lastModifiedBy>Ahmed  Mohamed Samir</cp:lastModifiedBy>
  <cp:revision>85</cp:revision>
  <dcterms:created xsi:type="dcterms:W3CDTF">2026-04-15T09:24:06Z</dcterms:created>
  <dcterms:modified xsi:type="dcterms:W3CDTF">2026-05-26T11:02:37Z</dcterms:modified>
</cp:coreProperties>
</file>