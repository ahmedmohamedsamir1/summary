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2" r:id="rId9"/>
    <p:sldId id="264" r:id="rId10"/>
    <p:sldId id="277" r:id="rId11"/>
    <p:sldId id="265" r:id="rId12"/>
    <p:sldId id="266" r:id="rId13"/>
    <p:sldId id="267" r:id="rId14"/>
    <p:sldId id="269" r:id="rId15"/>
    <p:sldId id="268" r:id="rId16"/>
    <p:sldId id="270" r:id="rId17"/>
    <p:sldId id="272" r:id="rId18"/>
    <p:sldId id="273" r:id="rId19"/>
    <p:sldId id="274" r:id="rId20"/>
    <p:sldId id="278" r:id="rId21"/>
    <p:sldId id="271" r:id="rId22"/>
    <p:sldId id="304" r:id="rId23"/>
    <p:sldId id="306" r:id="rId24"/>
    <p:sldId id="292" r:id="rId25"/>
    <p:sldId id="279" r:id="rId26"/>
    <p:sldId id="305" r:id="rId27"/>
    <p:sldId id="280" r:id="rId28"/>
    <p:sldId id="318" r:id="rId29"/>
    <p:sldId id="285" r:id="rId30"/>
    <p:sldId id="286" r:id="rId31"/>
    <p:sldId id="287" r:id="rId32"/>
    <p:sldId id="323" r:id="rId33"/>
    <p:sldId id="281" r:id="rId34"/>
    <p:sldId id="313" r:id="rId35"/>
    <p:sldId id="315" r:id="rId36"/>
    <p:sldId id="322" r:id="rId37"/>
    <p:sldId id="326" r:id="rId38"/>
    <p:sldId id="327" r:id="rId39"/>
    <p:sldId id="316" r:id="rId40"/>
    <p:sldId id="325" r:id="rId41"/>
    <p:sldId id="328" r:id="rId42"/>
    <p:sldId id="329" r:id="rId43"/>
    <p:sldId id="331" r:id="rId44"/>
    <p:sldId id="330" r:id="rId45"/>
    <p:sldId id="324" r:id="rId46"/>
    <p:sldId id="314" r:id="rId47"/>
    <p:sldId id="283" r:id="rId48"/>
    <p:sldId id="307" r:id="rId49"/>
    <p:sldId id="308" r:id="rId50"/>
    <p:sldId id="309" r:id="rId51"/>
    <p:sldId id="310" r:id="rId52"/>
    <p:sldId id="311" r:id="rId53"/>
    <p:sldId id="312" r:id="rId54"/>
    <p:sldId id="288" r:id="rId55"/>
    <p:sldId id="282" r:id="rId56"/>
    <p:sldId id="293" r:id="rId57"/>
    <p:sldId id="294" r:id="rId58"/>
    <p:sldId id="296" r:id="rId59"/>
    <p:sldId id="297" r:id="rId60"/>
    <p:sldId id="299" r:id="rId61"/>
    <p:sldId id="298" r:id="rId62"/>
    <p:sldId id="300" r:id="rId63"/>
    <p:sldId id="301" r:id="rId64"/>
    <p:sldId id="319" r:id="rId65"/>
    <p:sldId id="303" r:id="rId66"/>
    <p:sldId id="276" r:id="rId67"/>
    <p:sldId id="289" r:id="rId68"/>
    <p:sldId id="290" r:id="rId69"/>
    <p:sldId id="295" r:id="rId70"/>
    <p:sldId id="302" r:id="rId71"/>
    <p:sldId id="320" r:id="rId72"/>
    <p:sldId id="321" r:id="rId73"/>
    <p:sldId id="332" r:id="rId7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2/26/2026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2/26/2026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2/26/2026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2/26/2026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2/26/2026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2/26/2026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2/26/2026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2/26/2026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4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4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Apps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27C9B9-6FEF-99E1-ADEE-4F163D131BF0}"/>
              </a:ext>
            </a:extLst>
          </p:cNvPr>
          <p:cNvSpPr>
            <a:spLocks noGrp="1"/>
          </p:cNvSpPr>
          <p:nvPr>
            <p:ph type="title"/>
          </p:nvPr>
        </p:nvSpPr>
        <p:spPr>
          <a:xfrm>
            <a:off x="562708" y="0"/>
            <a:ext cx="11354637" cy="572756"/>
          </a:xfrm>
        </p:spPr>
        <p:txBody>
          <a:bodyPr>
            <a:normAutofit fontScale="90000"/>
          </a:bodyPr>
          <a:lstStyle/>
          <a:p>
            <a:r>
              <a:rPr lang="ar-EG"/>
              <a:t>شركات التأمين الخاصة بالتمويل</a:t>
            </a:r>
            <a:endParaRPr lang="en-US"/>
          </a:p>
        </p:txBody>
      </p:sp>
      <p:sp>
        <p:nvSpPr>
          <p:cNvPr id="3" name="Content Placeholder 2">
            <a:extLst>
              <a:ext uri="{FF2B5EF4-FFF2-40B4-BE49-F238E27FC236}">
                <a16:creationId xmlns:a16="http://schemas.microsoft.com/office/drawing/2014/main" id="{7682971A-3D16-5220-46BF-928E73646358}"/>
              </a:ext>
            </a:extLst>
          </p:cNvPr>
          <p:cNvSpPr>
            <a:spLocks noGrp="1"/>
          </p:cNvSpPr>
          <p:nvPr>
            <p:ph idx="1"/>
          </p:nvPr>
        </p:nvSpPr>
        <p:spPr>
          <a:xfrm>
            <a:off x="562708" y="572756"/>
            <a:ext cx="11354637" cy="5868237"/>
          </a:xfrm>
        </p:spPr>
        <p:txBody>
          <a:bodyPr>
            <a:normAutofit/>
          </a:bodyPr>
          <a:lstStyle/>
          <a:p>
            <a:pPr algn="r" rtl="1"/>
            <a:r>
              <a:rPr lang="ar-EG" sz="2400"/>
              <a:t>هي شركة تؤمن الجهة الممولة. على سبيل المثال عميل أخذ تمويل 200 ألف وتوفى قبل إكمال السداد شركة التأمين تسدد باقي المديونية للبنك او الجهة الممولة</a:t>
            </a:r>
          </a:p>
          <a:p>
            <a:pPr algn="r" rtl="1"/>
            <a:r>
              <a:rPr lang="ar-EG" sz="2400"/>
              <a:t>سم شركة التأمين </a:t>
            </a:r>
          </a:p>
          <a:p>
            <a:pPr algn="r" rtl="1"/>
            <a:r>
              <a:rPr lang="ar-EG" sz="2400"/>
              <a:t>كود اسم شركة التأمين </a:t>
            </a:r>
            <a:r>
              <a:rPr lang="en-US" sz="2400"/>
              <a:t>( id )</a:t>
            </a:r>
          </a:p>
          <a:p>
            <a:pPr algn="r" rtl="1"/>
            <a:endParaRPr lang="en-US" sz="2400"/>
          </a:p>
        </p:txBody>
      </p:sp>
    </p:spTree>
    <p:extLst>
      <p:ext uri="{BB962C8B-B14F-4D97-AF65-F5344CB8AC3E}">
        <p14:creationId xmlns:p14="http://schemas.microsoft.com/office/powerpoint/2010/main" val="20289523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E3C45-32EC-25C4-D465-E0956D5A3C19}"/>
              </a:ext>
            </a:extLst>
          </p:cNvPr>
          <p:cNvSpPr>
            <a:spLocks noGrp="1"/>
          </p:cNvSpPr>
          <p:nvPr>
            <p:ph type="title"/>
          </p:nvPr>
        </p:nvSpPr>
        <p:spPr>
          <a:xfrm>
            <a:off x="913795" y="0"/>
            <a:ext cx="10353762" cy="572756"/>
          </a:xfrm>
        </p:spPr>
        <p:txBody>
          <a:bodyPr>
            <a:normAutofit fontScale="90000"/>
          </a:bodyPr>
          <a:lstStyle/>
          <a:p>
            <a:r>
              <a:rPr lang="ar-EG"/>
              <a:t>أنواع التأمين الخاص بالتمويل ؟</a:t>
            </a:r>
            <a:endParaRPr lang="en-US"/>
          </a:p>
        </p:txBody>
      </p:sp>
      <p:sp>
        <p:nvSpPr>
          <p:cNvPr id="3" name="Content Placeholder 2">
            <a:extLst>
              <a:ext uri="{FF2B5EF4-FFF2-40B4-BE49-F238E27FC236}">
                <a16:creationId xmlns:a16="http://schemas.microsoft.com/office/drawing/2014/main" id="{8FE415B1-BF77-D949-69B3-D484616548EB}"/>
              </a:ext>
            </a:extLst>
          </p:cNvPr>
          <p:cNvSpPr>
            <a:spLocks noGrp="1"/>
          </p:cNvSpPr>
          <p:nvPr>
            <p:ph idx="1"/>
          </p:nvPr>
        </p:nvSpPr>
        <p:spPr>
          <a:xfrm>
            <a:off x="432078" y="572756"/>
            <a:ext cx="11495315" cy="5998865"/>
          </a:xfrm>
        </p:spPr>
        <p:txBody>
          <a:bodyPr>
            <a:normAutofit/>
          </a:bodyPr>
          <a:lstStyle/>
          <a:p>
            <a:pPr algn="r" rtl="1"/>
            <a:r>
              <a:rPr lang="ar-EG" sz="2400"/>
              <a:t>أنا مأمَّن على إيه؟</a:t>
            </a:r>
          </a:p>
          <a:p>
            <a:pPr algn="r" rtl="1"/>
            <a:r>
              <a:rPr lang="ar-EG" sz="2400"/>
              <a:t>تأمين حياة المقترض (الوفاة)</a:t>
            </a:r>
          </a:p>
          <a:p>
            <a:pPr algn="r" rtl="1"/>
            <a:r>
              <a:rPr lang="ar-EG" sz="2400"/>
              <a:t>تأمين فقدان الوظيفة </a:t>
            </a:r>
          </a:p>
          <a:p>
            <a:pPr algn="r" rtl="1"/>
            <a:r>
              <a:rPr lang="ar-EG" sz="2400"/>
              <a:t>تأمين على الإفلاس</a:t>
            </a:r>
          </a:p>
          <a:p>
            <a:pPr algn="r" rtl="1"/>
            <a:r>
              <a:rPr lang="ar-EG" sz="2400"/>
              <a:t>تأمين على العجز الكلى العجز الكلي</a:t>
            </a:r>
          </a:p>
          <a:p>
            <a:pPr algn="r" rtl="1"/>
            <a:r>
              <a:rPr lang="ar-EG" sz="2400"/>
              <a:t>تأمين على الأصل الممول: ده تأمين على </a:t>
            </a:r>
            <a:r>
              <a:rPr lang="ar-EG" sz="2400" b="1"/>
              <a:t>الشيء نفسه</a:t>
            </a:r>
            <a:r>
              <a:rPr lang="ar-EG" sz="2400"/>
              <a:t> اللي </a:t>
            </a:r>
            <a:r>
              <a:rPr lang="ar-EG" sz="2400" err="1"/>
              <a:t>اتاخد</a:t>
            </a:r>
            <a:r>
              <a:rPr lang="ar-EG" sz="2400"/>
              <a:t> بالقرض </a:t>
            </a:r>
            <a:r>
              <a:rPr lang="ar-EG" sz="2400" err="1"/>
              <a:t>زى</a:t>
            </a:r>
            <a:r>
              <a:rPr lang="ar-EG" sz="2400"/>
              <a:t> عربية او عقار</a:t>
            </a:r>
          </a:p>
          <a:p>
            <a:pPr algn="r" rtl="1"/>
            <a:endParaRPr lang="ar-EG" sz="2200"/>
          </a:p>
          <a:p>
            <a:pPr algn="r" rtl="1"/>
            <a:endParaRPr lang="ar-EG" sz="2400"/>
          </a:p>
          <a:p>
            <a:pPr algn="r" rtl="1"/>
            <a:endParaRPr lang="en-US" sz="2400"/>
          </a:p>
        </p:txBody>
      </p:sp>
    </p:spTree>
    <p:extLst>
      <p:ext uri="{BB962C8B-B14F-4D97-AF65-F5344CB8AC3E}">
        <p14:creationId xmlns:p14="http://schemas.microsoft.com/office/powerpoint/2010/main" val="9700226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A4DF9-1B2D-E67C-75CB-4083CB67056A}"/>
              </a:ext>
            </a:extLst>
          </p:cNvPr>
          <p:cNvSpPr>
            <a:spLocks noGrp="1"/>
          </p:cNvSpPr>
          <p:nvPr>
            <p:ph type="title"/>
          </p:nvPr>
        </p:nvSpPr>
        <p:spPr>
          <a:xfrm>
            <a:off x="913795" y="0"/>
            <a:ext cx="10353762" cy="683288"/>
          </a:xfrm>
        </p:spPr>
        <p:txBody>
          <a:bodyPr>
            <a:normAutofit fontScale="90000"/>
          </a:bodyPr>
          <a:lstStyle/>
          <a:p>
            <a:r>
              <a:rPr lang="ar-EG"/>
              <a:t>الحالات التأمينية</a:t>
            </a:r>
            <a:endParaRPr lang="en-US"/>
          </a:p>
        </p:txBody>
      </p:sp>
      <p:sp>
        <p:nvSpPr>
          <p:cNvPr id="3" name="Content Placeholder 2">
            <a:extLst>
              <a:ext uri="{FF2B5EF4-FFF2-40B4-BE49-F238E27FC236}">
                <a16:creationId xmlns:a16="http://schemas.microsoft.com/office/drawing/2014/main" id="{7F5E244B-8CD2-92B2-34F6-C797313F6FED}"/>
              </a:ext>
            </a:extLst>
          </p:cNvPr>
          <p:cNvSpPr>
            <a:spLocks noGrp="1"/>
          </p:cNvSpPr>
          <p:nvPr>
            <p:ph idx="1"/>
          </p:nvPr>
        </p:nvSpPr>
        <p:spPr>
          <a:xfrm>
            <a:off x="502418" y="683289"/>
            <a:ext cx="11234057" cy="5908430"/>
          </a:xfrm>
        </p:spPr>
        <p:txBody>
          <a:bodyPr>
            <a:normAutofit/>
          </a:bodyPr>
          <a:lstStyle/>
          <a:p>
            <a:pPr algn="r" rtl="1"/>
            <a:r>
              <a:rPr lang="ar-EG" sz="2200" b="1"/>
              <a:t>الظروف أو الأحداث التي إذا وقعت تلتزم شركة التأمين بدفع التعويض</a:t>
            </a:r>
          </a:p>
          <a:p>
            <a:pPr lvl="1" algn="r" rtl="1"/>
            <a:r>
              <a:rPr lang="ar-EG" sz="2000" b="1"/>
              <a:t>العجز الكلي الدائم</a:t>
            </a:r>
          </a:p>
          <a:p>
            <a:pPr lvl="1" algn="r" rtl="1"/>
            <a:r>
              <a:rPr lang="ar-EG" sz="2000" b="1"/>
              <a:t>الوفاة</a:t>
            </a:r>
          </a:p>
          <a:p>
            <a:pPr algn="r" rtl="1"/>
            <a:endParaRPr lang="ar-EG" sz="2200" b="1"/>
          </a:p>
          <a:p>
            <a:pPr algn="r" rtl="1"/>
            <a:endParaRPr lang="en-US" sz="2200"/>
          </a:p>
        </p:txBody>
      </p:sp>
    </p:spTree>
    <p:extLst>
      <p:ext uri="{BB962C8B-B14F-4D97-AF65-F5344CB8AC3E}">
        <p14:creationId xmlns:p14="http://schemas.microsoft.com/office/powerpoint/2010/main" val="29447230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4B52F-F493-6B97-BC7B-F952CDD29BAD}"/>
              </a:ext>
            </a:extLst>
          </p:cNvPr>
          <p:cNvSpPr>
            <a:spLocks noGrp="1"/>
          </p:cNvSpPr>
          <p:nvPr>
            <p:ph type="title"/>
          </p:nvPr>
        </p:nvSpPr>
        <p:spPr>
          <a:xfrm>
            <a:off x="994181" y="0"/>
            <a:ext cx="10353762" cy="970450"/>
          </a:xfrm>
        </p:spPr>
        <p:txBody>
          <a:bodyPr/>
          <a:lstStyle/>
          <a:p>
            <a:r>
              <a:rPr lang="ar-EG" b="1"/>
              <a:t>أسباب رفض التعويض</a:t>
            </a:r>
            <a:endParaRPr lang="en-US" b="1"/>
          </a:p>
        </p:txBody>
      </p:sp>
      <p:sp>
        <p:nvSpPr>
          <p:cNvPr id="3" name="Content Placeholder 2">
            <a:extLst>
              <a:ext uri="{FF2B5EF4-FFF2-40B4-BE49-F238E27FC236}">
                <a16:creationId xmlns:a16="http://schemas.microsoft.com/office/drawing/2014/main" id="{82504D8E-18F3-0C74-3A33-DB2B972296A3}"/>
              </a:ext>
            </a:extLst>
          </p:cNvPr>
          <p:cNvSpPr>
            <a:spLocks noGrp="1"/>
          </p:cNvSpPr>
          <p:nvPr>
            <p:ph idx="1"/>
          </p:nvPr>
        </p:nvSpPr>
        <p:spPr>
          <a:xfrm>
            <a:off x="411982" y="970450"/>
            <a:ext cx="11445073" cy="5480591"/>
          </a:xfrm>
        </p:spPr>
        <p:txBody>
          <a:bodyPr>
            <a:normAutofit/>
          </a:bodyPr>
          <a:lstStyle/>
          <a:p>
            <a:pPr algn="r" rtl="1"/>
            <a:r>
              <a:rPr lang="ar-EG" sz="2400" b="1"/>
              <a:t>التعويض: المبلغ الذي تدفعه شركة التأمين للجهة الممولة عند وقوع الخطر المؤمن عليه، لتعويض الضرر أو فقدان القيمة المالية.</a:t>
            </a:r>
          </a:p>
          <a:p>
            <a:pPr algn="r" rtl="1"/>
            <a:r>
              <a:rPr lang="ar-EG" sz="2400"/>
              <a:t>أسباب رفض التعويض في سياق التمويلات</a:t>
            </a:r>
          </a:p>
          <a:p>
            <a:pPr lvl="1" algn="r" rtl="1"/>
            <a:r>
              <a:rPr lang="ar-EG" sz="2400"/>
              <a:t>العميل متعثر لفترة طويلة بدون مبرر</a:t>
            </a:r>
          </a:p>
          <a:p>
            <a:pPr lvl="1" algn="r" rtl="1"/>
            <a:r>
              <a:rPr lang="ar-EG" sz="2400"/>
              <a:t>التمويل استُخدم في غير الغرض المحدد</a:t>
            </a:r>
            <a:endParaRPr lang="ar-EG" sz="2400" b="1"/>
          </a:p>
          <a:p>
            <a:pPr lvl="1" algn="r" rtl="1"/>
            <a:r>
              <a:rPr lang="ar-EG" sz="2400"/>
              <a:t>الخطر غير مغطى.</a:t>
            </a:r>
          </a:p>
          <a:p>
            <a:pPr lvl="1" algn="r" rtl="1"/>
            <a:endParaRPr lang="ar-EG" sz="2200" b="1"/>
          </a:p>
          <a:p>
            <a:pPr algn="r" rtl="1"/>
            <a:endParaRPr lang="en-US" sz="2400" b="1"/>
          </a:p>
        </p:txBody>
      </p:sp>
      <p:sp>
        <p:nvSpPr>
          <p:cNvPr id="5" name="Rectangle 2">
            <a:extLst>
              <a:ext uri="{FF2B5EF4-FFF2-40B4-BE49-F238E27FC236}">
                <a16:creationId xmlns:a16="http://schemas.microsoft.com/office/drawing/2014/main" id="{717B3722-EFB7-D3A5-8392-3979C38BB9EA}"/>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ar-SA" altLang="en-US" sz="1800" b="0" i="0" u="none" strike="noStrike" cap="none" normalizeH="0" baseline="0">
                <a:ln>
                  <a:noFill/>
                </a:ln>
                <a:solidFill>
                  <a:schemeClr val="tx1"/>
                </a:solidFill>
                <a:effectLst/>
                <a:latin typeface="Arial" panose="020B0604020202020204" pitchFamily="34" charset="0"/>
                <a:cs typeface="Arial" panose="020B0604020202020204" pitchFamily="34" charset="0"/>
              </a:rPr>
              <a:t>العميل متعثر لفترة طويلة بدون مبرر</a:t>
            </a:r>
            <a:endParaRPr kumimoji="0" lang="en-US" altLang="en-US" sz="1800" b="0" i="0" u="none" strike="noStrike" cap="none" normalizeH="0" baseline="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922294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99586-123B-35C4-B8FF-2970C1724B5D}"/>
              </a:ext>
            </a:extLst>
          </p:cNvPr>
          <p:cNvSpPr>
            <a:spLocks noGrp="1"/>
          </p:cNvSpPr>
          <p:nvPr>
            <p:ph type="title"/>
          </p:nvPr>
        </p:nvSpPr>
        <p:spPr>
          <a:xfrm>
            <a:off x="919119" y="0"/>
            <a:ext cx="10353762" cy="576105"/>
          </a:xfrm>
        </p:spPr>
        <p:txBody>
          <a:bodyPr>
            <a:normAutofit fontScale="90000"/>
          </a:bodyPr>
          <a:lstStyle/>
          <a:p>
            <a:r>
              <a:rPr lang="ar-EG" b="1"/>
              <a:t>تعاقد شركة التأمين</a:t>
            </a:r>
            <a:endParaRPr lang="en-US" b="1"/>
          </a:p>
        </p:txBody>
      </p:sp>
      <p:sp>
        <p:nvSpPr>
          <p:cNvPr id="3" name="Content Placeholder 2">
            <a:extLst>
              <a:ext uri="{FF2B5EF4-FFF2-40B4-BE49-F238E27FC236}">
                <a16:creationId xmlns:a16="http://schemas.microsoft.com/office/drawing/2014/main" id="{A8392B0D-AEBC-424B-06BC-C31E1A8449C7}"/>
              </a:ext>
            </a:extLst>
          </p:cNvPr>
          <p:cNvSpPr>
            <a:spLocks noGrp="1"/>
          </p:cNvSpPr>
          <p:nvPr>
            <p:ph idx="1"/>
          </p:nvPr>
        </p:nvSpPr>
        <p:spPr>
          <a:xfrm>
            <a:off x="90121" y="576104"/>
            <a:ext cx="11847321" cy="6281895"/>
          </a:xfrm>
        </p:spPr>
        <p:txBody>
          <a:bodyPr/>
          <a:lstStyle/>
          <a:p>
            <a:pPr algn="r" rtl="1"/>
            <a:r>
              <a:rPr lang="ar-EG" b="1"/>
              <a:t>نوع التأمين</a:t>
            </a:r>
          </a:p>
          <a:p>
            <a:pPr algn="r" rtl="1"/>
            <a:r>
              <a:rPr lang="ar-EG" b="1"/>
              <a:t>اسم شركة التأمين</a:t>
            </a:r>
          </a:p>
          <a:p>
            <a:pPr algn="r" rtl="1"/>
            <a:r>
              <a:rPr lang="ar-EG" b="1"/>
              <a:t>تاريخ بداية التعاقد</a:t>
            </a:r>
          </a:p>
          <a:p>
            <a:pPr algn="r" rtl="1"/>
            <a:r>
              <a:rPr lang="ar-EG" b="1"/>
              <a:t>تاريخ نهاية التعاقد</a:t>
            </a:r>
          </a:p>
          <a:p>
            <a:pPr algn="r" rtl="1"/>
            <a:r>
              <a:rPr lang="ar-EG" b="1"/>
              <a:t>أقصى مبلغ للتأمين : الحد الأقصى الذي تلتزم به شركة التأمين بدفعه للمستفيد عند وقوع الخطر المؤمن عليه.</a:t>
            </a:r>
          </a:p>
          <a:p>
            <a:pPr algn="r" rtl="1"/>
            <a:r>
              <a:rPr lang="ar-EG" b="1"/>
              <a:t>الحد الأدنى للقسط التأميني ؟ أقل مبلغ يجب دفعه للحصول على التغطية التأمينية، حتى لو كانت قيمة القرض أو الأصل صغيرة.</a:t>
            </a:r>
          </a:p>
          <a:p>
            <a:pPr algn="r" rtl="1"/>
            <a:r>
              <a:rPr lang="ar-EG" b="1"/>
              <a:t>الجزء المحمل من الشركة فقط (</a:t>
            </a:r>
            <a:r>
              <a:rPr lang="ar-EG"/>
              <a:t>شركة التمويل</a:t>
            </a:r>
            <a:r>
              <a:rPr lang="ar-EG" b="1"/>
              <a:t>) : القسط التأميني في نسبة التحمل </a:t>
            </a:r>
            <a:r>
              <a:rPr lang="ar-EG"/>
              <a:t>للشركة الممولة</a:t>
            </a:r>
            <a:endParaRPr lang="ar-EG" b="1"/>
          </a:p>
          <a:p>
            <a:pPr algn="r" rtl="1"/>
            <a:r>
              <a:rPr lang="ar-EG" b="1"/>
              <a:t>نسبة تحمل شركة التأمين </a:t>
            </a:r>
            <a:r>
              <a:rPr lang="en-US" b="1"/>
              <a:t>:</a:t>
            </a:r>
          </a:p>
          <a:p>
            <a:pPr algn="r" rtl="1"/>
            <a:r>
              <a:rPr lang="ar-EG" b="1"/>
              <a:t>مثال بحالة خسارة 50000</a:t>
            </a:r>
          </a:p>
          <a:p>
            <a:pPr algn="r" rtl="1"/>
            <a:endParaRPr lang="ar-EG" b="1"/>
          </a:p>
          <a:p>
            <a:pPr algn="r" rtl="1"/>
            <a:endParaRPr lang="ar-EG"/>
          </a:p>
          <a:p>
            <a:pPr algn="r" rtl="1"/>
            <a:endParaRPr lang="ar-EG"/>
          </a:p>
          <a:p>
            <a:pPr algn="r" rtl="1"/>
            <a:endParaRPr lang="en-US" b="1"/>
          </a:p>
        </p:txBody>
      </p:sp>
      <p:pic>
        <p:nvPicPr>
          <p:cNvPr id="6" name="Picture 5">
            <a:extLst>
              <a:ext uri="{FF2B5EF4-FFF2-40B4-BE49-F238E27FC236}">
                <a16:creationId xmlns:a16="http://schemas.microsoft.com/office/drawing/2014/main" id="{4AFFD04F-2578-AD8E-8AB3-C3C036D8A43C}"/>
              </a:ext>
            </a:extLst>
          </p:cNvPr>
          <p:cNvPicPr>
            <a:picLocks noChangeAspect="1"/>
          </p:cNvPicPr>
          <p:nvPr/>
        </p:nvPicPr>
        <p:blipFill>
          <a:blip r:embed="rId2"/>
          <a:stretch>
            <a:fillRect/>
          </a:stretch>
        </p:blipFill>
        <p:spPr>
          <a:xfrm>
            <a:off x="90121" y="3883029"/>
            <a:ext cx="7215031" cy="2866815"/>
          </a:xfrm>
          <a:prstGeom prst="rect">
            <a:avLst/>
          </a:prstGeom>
        </p:spPr>
      </p:pic>
    </p:spTree>
    <p:extLst>
      <p:ext uri="{BB962C8B-B14F-4D97-AF65-F5344CB8AC3E}">
        <p14:creationId xmlns:p14="http://schemas.microsoft.com/office/powerpoint/2010/main" val="18884397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619432"/>
          </a:xfrm>
        </p:spPr>
        <p:txBody>
          <a:bodyPr>
            <a:normAutofit fontScale="90000"/>
          </a:bodyPr>
          <a:lstStyle/>
          <a:p>
            <a:r>
              <a:rPr lang="en-US"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334296" y="737419"/>
            <a:ext cx="11552903" cy="5978014"/>
          </a:xfrm>
        </p:spPr>
        <p:txBody>
          <a:bodyPr>
            <a:normAutofit/>
          </a:bodyPr>
          <a:lstStyle/>
          <a:p>
            <a:pPr marL="494100" indent="-457200" algn="r" rtl="1">
              <a:buFont typeface="+mj-lt"/>
              <a:buAutoNum type="arabicPeriod"/>
            </a:pPr>
            <a:r>
              <a:rPr lang="ar-EG" sz="2200" b="1">
                <a:solidFill>
                  <a:srgbClr val="FF0000"/>
                </a:solidFill>
              </a:rPr>
              <a:t>إدخال طلب</a:t>
            </a:r>
          </a:p>
          <a:p>
            <a:pPr marL="871200" lvl="1" indent="-457200" algn="r" rtl="1"/>
            <a:r>
              <a:rPr lang="en-US" b="1"/>
              <a:t>Operator: loan officer ()</a:t>
            </a:r>
            <a:endParaRPr lang="ar-EG" b="1"/>
          </a:p>
          <a:p>
            <a:pPr marL="494100" indent="-457200" algn="r" rtl="1">
              <a:buFont typeface="+mj-lt"/>
              <a:buAutoNum type="arabicPeriod"/>
            </a:pPr>
            <a:r>
              <a:rPr lang="ar-EG" sz="2200" b="1">
                <a:solidFill>
                  <a:srgbClr val="FF0000"/>
                </a:solidFill>
              </a:rPr>
              <a:t>مراجعة أولية</a:t>
            </a:r>
            <a:endParaRPr lang="en-US" sz="2200" b="1">
              <a:solidFill>
                <a:srgbClr val="FF0000"/>
              </a:solidFill>
            </a:endParaRPr>
          </a:p>
          <a:p>
            <a:pPr marL="871200" lvl="1" indent="-457200" algn="r" rtl="1"/>
            <a:r>
              <a:rPr lang="en-US" b="1"/>
              <a:t>Operator: CO</a:t>
            </a:r>
            <a:endParaRPr lang="ar-EG" b="1"/>
          </a:p>
          <a:p>
            <a:pPr marL="494100" indent="-457200" algn="r" rtl="1">
              <a:buFont typeface="+mj-lt"/>
              <a:buAutoNum type="arabicPeriod"/>
            </a:pPr>
            <a:r>
              <a:rPr lang="ar-EG" sz="2200" b="1">
                <a:solidFill>
                  <a:srgbClr val="FF0000"/>
                </a:solidFill>
              </a:rPr>
              <a:t>زيارة ميدانية</a:t>
            </a:r>
            <a:endParaRPr lang="en-US" sz="2200" b="1">
              <a:solidFill>
                <a:srgbClr val="FF0000"/>
              </a:solidFill>
            </a:endParaRPr>
          </a:p>
          <a:p>
            <a:pPr marL="871200" lvl="1" indent="-457200" algn="r" rtl="1"/>
            <a:r>
              <a:rPr lang="en-US" b="1"/>
              <a:t>Operator: CO</a:t>
            </a:r>
            <a:endParaRPr lang="ar-EG" b="1"/>
          </a:p>
          <a:p>
            <a:pPr marL="494100" indent="-457200" algn="r" rtl="1">
              <a:buFont typeface="+mj-lt"/>
              <a:buAutoNum type="arabicPeriod"/>
            </a:pPr>
            <a:r>
              <a:rPr lang="ar-EG" sz="2200" b="1">
                <a:solidFill>
                  <a:srgbClr val="FF0000"/>
                </a:solidFill>
              </a:rPr>
              <a:t>تحليل الائتمانى</a:t>
            </a:r>
            <a:endParaRPr lang="en-US" sz="2200" b="1">
              <a:solidFill>
                <a:srgbClr val="FF0000"/>
              </a:solidFill>
            </a:endParaRPr>
          </a:p>
          <a:p>
            <a:pPr marL="871200" lvl="1" indent="-457200" algn="r" rtl="1"/>
            <a:r>
              <a:rPr lang="en-US" b="1"/>
              <a:t>Operator: CO</a:t>
            </a:r>
          </a:p>
          <a:p>
            <a:pPr marL="494100" indent="-457200" algn="r" rtl="1">
              <a:buFont typeface="+mj-lt"/>
              <a:buAutoNum type="arabicPeriod"/>
            </a:pPr>
            <a:r>
              <a:rPr lang="ar-EG" sz="2200" b="1">
                <a:solidFill>
                  <a:srgbClr val="FF0000"/>
                </a:solidFill>
              </a:rPr>
              <a:t>تحميل المستندات</a:t>
            </a:r>
            <a:endParaRPr lang="en-US" sz="2200" b="1">
              <a:solidFill>
                <a:srgbClr val="FF0000"/>
              </a:solidFill>
            </a:endParaRPr>
          </a:p>
          <a:p>
            <a:pPr marL="871200" lvl="1" indent="-457200" algn="r" rtl="1"/>
            <a:r>
              <a:rPr lang="en-US" b="1"/>
              <a:t>Operator: Branch Manager</a:t>
            </a:r>
            <a:endParaRPr lang="ar-EG" b="1"/>
          </a:p>
          <a:p>
            <a:pPr marL="494100" indent="-457200" algn="r" rtl="1">
              <a:buFont typeface="+mj-lt"/>
              <a:buAutoNum type="arabicPeriod"/>
            </a:pPr>
            <a:r>
              <a:rPr lang="ar-EG" sz="2200" b="1">
                <a:solidFill>
                  <a:srgbClr val="FF0000"/>
                </a:solidFill>
              </a:rPr>
              <a:t>المراجعة المركزية</a:t>
            </a:r>
            <a:endParaRPr lang="en-US" sz="2200" b="1">
              <a:solidFill>
                <a:srgbClr val="FF0000"/>
              </a:solidFill>
            </a:endParaRPr>
          </a:p>
          <a:p>
            <a:pPr marL="871200" lvl="1" indent="-457200" algn="r" rtl="1"/>
            <a:r>
              <a:rPr lang="en-US" b="1"/>
              <a:t>Operator: Credit</a:t>
            </a:r>
            <a:endParaRPr lang="ar-EG" b="1"/>
          </a:p>
          <a:p>
            <a:pPr marL="494100" indent="-457200" algn="r" rtl="1">
              <a:buFont typeface="+mj-lt"/>
              <a:buAutoNum type="arabicPeriod"/>
            </a:pPr>
            <a:r>
              <a:rPr lang="ar-EG" sz="2200" b="1">
                <a:solidFill>
                  <a:srgbClr val="FF0000"/>
                </a:solidFill>
              </a:rPr>
              <a:t>الصرف</a:t>
            </a:r>
          </a:p>
        </p:txBody>
      </p:sp>
    </p:spTree>
    <p:extLst>
      <p:ext uri="{BB962C8B-B14F-4D97-AF65-F5344CB8AC3E}">
        <p14:creationId xmlns:p14="http://schemas.microsoft.com/office/powerpoint/2010/main" val="25915819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6689A-AF67-DBC5-65AC-34D515217C60}"/>
              </a:ext>
            </a:extLst>
          </p:cNvPr>
          <p:cNvSpPr>
            <a:spLocks noGrp="1"/>
          </p:cNvSpPr>
          <p:nvPr>
            <p:ph type="title"/>
          </p:nvPr>
        </p:nvSpPr>
        <p:spPr>
          <a:xfrm>
            <a:off x="1012118" y="0"/>
            <a:ext cx="10353762" cy="383458"/>
          </a:xfrm>
        </p:spPr>
        <p:txBody>
          <a:bodyPr>
            <a:noAutofit/>
          </a:bodyPr>
          <a:lstStyle/>
          <a:p>
            <a:r>
              <a:rPr lang="ar-EG" sz="3200" b="1">
                <a:solidFill>
                  <a:srgbClr val="FF0000"/>
                </a:solidFill>
              </a:rPr>
              <a:t>إدخال طلب</a:t>
            </a:r>
            <a:r>
              <a:rPr lang="en-US" sz="3200" b="1">
                <a:solidFill>
                  <a:srgbClr val="FF0000"/>
                </a:solidFill>
              </a:rPr>
              <a:t> (Funding Request)</a:t>
            </a:r>
          </a:p>
        </p:txBody>
      </p:sp>
      <p:sp>
        <p:nvSpPr>
          <p:cNvPr id="3" name="Content Placeholder 2">
            <a:extLst>
              <a:ext uri="{FF2B5EF4-FFF2-40B4-BE49-F238E27FC236}">
                <a16:creationId xmlns:a16="http://schemas.microsoft.com/office/drawing/2014/main" id="{4391F90C-EE0A-D684-B8D5-359DE45E4FA0}"/>
              </a:ext>
            </a:extLst>
          </p:cNvPr>
          <p:cNvSpPr>
            <a:spLocks noGrp="1"/>
          </p:cNvSpPr>
          <p:nvPr>
            <p:ph idx="1"/>
          </p:nvPr>
        </p:nvSpPr>
        <p:spPr>
          <a:xfrm>
            <a:off x="334297" y="511276"/>
            <a:ext cx="11592232" cy="6346723"/>
          </a:xfrm>
        </p:spPr>
        <p:txBody>
          <a:bodyPr/>
          <a:lstStyle/>
          <a:p>
            <a:pPr algn="r" rtl="1"/>
            <a:r>
              <a:rPr lang="ar-EG"/>
              <a:t>نوع التمويل: </a:t>
            </a:r>
            <a:r>
              <a:rPr lang="ar-EG">
                <a:effectLst/>
              </a:rPr>
              <a:t>(مثل تمويل شخصي، تمويل عقاري، أو تمويل مشروعات صغيرة)</a:t>
            </a:r>
          </a:p>
          <a:p>
            <a:pPr algn="r" rtl="1"/>
            <a:r>
              <a:rPr lang="ar-EG">
                <a:effectLst/>
              </a:rPr>
              <a:t>الحالة: </a:t>
            </a:r>
            <a:r>
              <a:rPr lang="ar-EG" b="1">
                <a:effectLst/>
              </a:rPr>
              <a:t>(جديد/تجديد) </a:t>
            </a:r>
            <a:r>
              <a:rPr lang="ar-EG">
                <a:effectLst/>
              </a:rPr>
              <a:t>تُحدد ما إذا كان العميل يتقدم بطلب </a:t>
            </a:r>
            <a:r>
              <a:rPr lang="ar-EG" b="1">
                <a:effectLst/>
              </a:rPr>
              <a:t>لأول مرة</a:t>
            </a:r>
            <a:r>
              <a:rPr lang="ar-EG">
                <a:effectLst/>
              </a:rPr>
              <a:t> (جديد) أو يطلب </a:t>
            </a:r>
            <a:r>
              <a:rPr lang="ar-EG" b="1">
                <a:effectLst/>
              </a:rPr>
              <a:t>إعادة تمويل</a:t>
            </a:r>
            <a:r>
              <a:rPr lang="ar-EG">
                <a:effectLst/>
              </a:rPr>
              <a:t> أو تجديد لقرض قائم بالفعل</a:t>
            </a:r>
          </a:p>
          <a:p>
            <a:pPr algn="r" rtl="1"/>
            <a:r>
              <a:rPr lang="ar-EG" b="1">
                <a:effectLst/>
              </a:rPr>
              <a:t>إسم العميل:</a:t>
            </a:r>
            <a:r>
              <a:rPr lang="ar-EG">
                <a:effectLst/>
              </a:rPr>
              <a:t> الاسم الكامل لمقدم الطلب كما هو مسجل في الأوراق الرسمية</a:t>
            </a:r>
          </a:p>
          <a:p>
            <a:pPr algn="r" rtl="1"/>
            <a:r>
              <a:rPr lang="ar-EG" b="1">
                <a:effectLst/>
              </a:rPr>
              <a:t>المنشأة:</a:t>
            </a:r>
            <a:r>
              <a:rPr lang="ar-EG">
                <a:effectLst/>
              </a:rPr>
              <a:t> تشير إلى </a:t>
            </a:r>
            <a:r>
              <a:rPr lang="ar-EG" b="1">
                <a:effectLst/>
              </a:rPr>
              <a:t>جهة العمل</a:t>
            </a:r>
            <a:r>
              <a:rPr lang="ar-EG">
                <a:effectLst/>
              </a:rPr>
              <a:t> التي يعمل بها العميل أو اسم </a:t>
            </a:r>
            <a:r>
              <a:rPr lang="ar-EG" b="1">
                <a:effectLst/>
              </a:rPr>
              <a:t>المشروع/الشركة</a:t>
            </a:r>
            <a:r>
              <a:rPr lang="ar-EG">
                <a:effectLst/>
              </a:rPr>
              <a:t> التي يمتلكها ويرغب في تمويلها.</a:t>
            </a:r>
          </a:p>
          <a:p>
            <a:pPr algn="r" rtl="1"/>
            <a:r>
              <a:rPr lang="ar-EG" b="1">
                <a:effectLst/>
              </a:rPr>
              <a:t>إسم الضامن:</a:t>
            </a:r>
            <a:r>
              <a:rPr lang="ar-EG">
                <a:effectLst/>
              </a:rPr>
              <a:t> الشخص الذي يتعهد بسداد القرض في حال تعثر العميل الأساسي.</a:t>
            </a:r>
          </a:p>
          <a:p>
            <a:pPr algn="r" rtl="1"/>
            <a:r>
              <a:rPr lang="ar-EG" b="1">
                <a:effectLst/>
              </a:rPr>
              <a:t>الرقم القومي للضامن:</a:t>
            </a:r>
            <a:r>
              <a:rPr lang="ar-EG">
                <a:effectLst/>
              </a:rPr>
              <a:t> بيانات الهوية الخاصة بالضامن للتحقق من أهليته القانونية والائتمانية.</a:t>
            </a:r>
          </a:p>
          <a:p>
            <a:pPr algn="r" rtl="1"/>
            <a:r>
              <a:rPr lang="ar-EG" b="1">
                <a:effectLst/>
              </a:rPr>
              <a:t>صلة العميل بالضامن:</a:t>
            </a:r>
            <a:r>
              <a:rPr lang="ar-EG">
                <a:effectLst/>
              </a:rPr>
              <a:t> طبيعة العلاقة بينهما (مثل: درجة أولى، صديق، زميل عمل) لتقييم مدى قوة الضمانة</a:t>
            </a:r>
          </a:p>
          <a:p>
            <a:pPr algn="r" rtl="1"/>
            <a:r>
              <a:rPr lang="ar-EG" b="1">
                <a:solidFill>
                  <a:srgbClr val="FFFF00"/>
                </a:solidFill>
                <a:effectLst/>
              </a:rPr>
              <a:t>المبلغ المطلوب</a:t>
            </a:r>
            <a:r>
              <a:rPr lang="ar-EG" b="1">
                <a:effectLst/>
              </a:rPr>
              <a:t>:</a:t>
            </a:r>
            <a:r>
              <a:rPr lang="ar-EG">
                <a:effectLst/>
              </a:rPr>
              <a:t> إجمالي المبلغ الذي </a:t>
            </a:r>
            <a:r>
              <a:rPr lang="ar-EG" b="1">
                <a:effectLst/>
              </a:rPr>
              <a:t>يأمل</a:t>
            </a:r>
            <a:r>
              <a:rPr lang="ar-EG">
                <a:effectLst/>
              </a:rPr>
              <a:t> العميل في الحصول عليه من جهة التمويل</a:t>
            </a:r>
          </a:p>
          <a:p>
            <a:pPr algn="r" rtl="1"/>
            <a:r>
              <a:rPr lang="ar-EG" b="1">
                <a:solidFill>
                  <a:srgbClr val="FFFF00"/>
                </a:solidFill>
                <a:effectLst/>
              </a:rPr>
              <a:t>قيمة التمويل</a:t>
            </a:r>
            <a:r>
              <a:rPr lang="ar-EG" b="1">
                <a:effectLst/>
              </a:rPr>
              <a:t>:</a:t>
            </a:r>
            <a:r>
              <a:rPr lang="ar-EG">
                <a:effectLst/>
              </a:rPr>
              <a:t> </a:t>
            </a:r>
            <a:r>
              <a:rPr lang="ar-EG" b="1">
                <a:solidFill>
                  <a:schemeClr val="tx1"/>
                </a:solidFill>
                <a:effectLst/>
              </a:rPr>
              <a:t>مبلغ التمويل الذي توافق </a:t>
            </a:r>
            <a:r>
              <a:rPr lang="ar-EG">
                <a:effectLst/>
              </a:rPr>
              <a:t>جهة التمويل مبدئياً على منحه بناءً على دراسة حالة العميل</a:t>
            </a:r>
          </a:p>
          <a:p>
            <a:pPr algn="r" rtl="1"/>
            <a:r>
              <a:rPr lang="ar-EG" b="1">
                <a:solidFill>
                  <a:srgbClr val="FFFF00"/>
                </a:solidFill>
                <a:effectLst/>
              </a:rPr>
              <a:t>القيمة الفعلية للتمويل</a:t>
            </a:r>
            <a:r>
              <a:rPr lang="ar-EG" b="1">
                <a:effectLst/>
              </a:rPr>
              <a:t>:</a:t>
            </a:r>
            <a:r>
              <a:rPr lang="ar-EG">
                <a:effectLst/>
              </a:rPr>
              <a:t> المبلغ الصافي الذي سيستلمه العميل فعلياً بعد خصم أي رسوم إدارية أو مصاريف بنكية</a:t>
            </a:r>
          </a:p>
          <a:p>
            <a:pPr algn="r" rtl="1"/>
            <a:r>
              <a:rPr lang="ar-EG" b="1">
                <a:effectLst/>
              </a:rPr>
              <a:t>الهدف من التمويل : </a:t>
            </a:r>
            <a:r>
              <a:rPr lang="ar-EG">
                <a:effectLst/>
              </a:rPr>
              <a:t>الغرض من الحصول على المال (مثل: شراء أصول، توسعة مشروع، سداد ديون أخرى).</a:t>
            </a:r>
          </a:p>
          <a:p>
            <a:pPr algn="r" rtl="1"/>
            <a:r>
              <a:rPr lang="ar-EG" b="1">
                <a:effectLst/>
              </a:rPr>
              <a:t>جهة الصرف : ا</a:t>
            </a:r>
            <a:r>
              <a:rPr lang="ar-EG">
                <a:effectLst/>
              </a:rPr>
              <a:t>لمكان أو الطريقة التي سيتم بها تحويل الأموال (مثل: صرف نقدي، شيك لجهة موردة، أو إيداع في حساب بنكي محدد).</a:t>
            </a:r>
          </a:p>
          <a:p>
            <a:pPr algn="r" rtl="1"/>
            <a:endParaRPr lang="en-US"/>
          </a:p>
        </p:txBody>
      </p:sp>
    </p:spTree>
    <p:extLst>
      <p:ext uri="{BB962C8B-B14F-4D97-AF65-F5344CB8AC3E}">
        <p14:creationId xmlns:p14="http://schemas.microsoft.com/office/powerpoint/2010/main" val="18080738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A86539-538E-CE9F-800C-FD9E8FA4CC1D}"/>
              </a:ext>
            </a:extLst>
          </p:cNvPr>
          <p:cNvSpPr>
            <a:spLocks noGrp="1"/>
          </p:cNvSpPr>
          <p:nvPr>
            <p:ph type="title"/>
          </p:nvPr>
        </p:nvSpPr>
        <p:spPr>
          <a:xfrm>
            <a:off x="913795" y="0"/>
            <a:ext cx="10353762" cy="570271"/>
          </a:xfrm>
        </p:spPr>
        <p:txBody>
          <a:bodyPr>
            <a:normAutofit fontScale="90000"/>
          </a:bodyPr>
          <a:lstStyle/>
          <a:p>
            <a:r>
              <a:rPr lang="ar-EG" b="1">
                <a:effectLst/>
              </a:rPr>
              <a:t>طلب تمويل</a:t>
            </a:r>
            <a:r>
              <a:rPr lang="en-US" b="1">
                <a:effectLst/>
              </a:rPr>
              <a:t> </a:t>
            </a:r>
            <a:r>
              <a:rPr lang="ar-EG" b="1">
                <a:effectLst/>
              </a:rPr>
              <a:t>تجديد</a:t>
            </a:r>
            <a:endParaRPr lang="en-US"/>
          </a:p>
        </p:txBody>
      </p:sp>
      <p:sp>
        <p:nvSpPr>
          <p:cNvPr id="3" name="Content Placeholder 2">
            <a:extLst>
              <a:ext uri="{FF2B5EF4-FFF2-40B4-BE49-F238E27FC236}">
                <a16:creationId xmlns:a16="http://schemas.microsoft.com/office/drawing/2014/main" id="{E18F61E0-6387-C307-C046-3505F3EF2D2F}"/>
              </a:ext>
            </a:extLst>
          </p:cNvPr>
          <p:cNvSpPr>
            <a:spLocks noGrp="1"/>
          </p:cNvSpPr>
          <p:nvPr>
            <p:ph idx="1"/>
          </p:nvPr>
        </p:nvSpPr>
        <p:spPr>
          <a:xfrm>
            <a:off x="196644" y="570271"/>
            <a:ext cx="11857703" cy="6194323"/>
          </a:xfrm>
        </p:spPr>
        <p:txBody>
          <a:bodyPr/>
          <a:lstStyle/>
          <a:p>
            <a:pPr algn="r" rtl="1"/>
            <a:r>
              <a:rPr lang="ar-EG" b="1">
                <a:effectLst/>
              </a:rPr>
              <a:t>تمديد فترة السداد (</a:t>
            </a:r>
            <a:r>
              <a:rPr lang="en-US" b="1">
                <a:effectLst/>
              </a:rPr>
              <a:t>extension</a:t>
            </a:r>
            <a:r>
              <a:rPr lang="ar-EG" b="1">
                <a:effectLst/>
              </a:rPr>
              <a:t>)</a:t>
            </a:r>
            <a:endParaRPr lang="en-US" b="1">
              <a:effectLst/>
            </a:endParaRPr>
          </a:p>
          <a:p>
            <a:pPr lvl="1" algn="r" rtl="1"/>
            <a:r>
              <a:rPr lang="ar-EG">
                <a:effectLst/>
              </a:rPr>
              <a:t>هذا النوع يركز على </a:t>
            </a:r>
            <a:r>
              <a:rPr lang="ar-EG" b="1">
                <a:effectLst/>
              </a:rPr>
              <a:t>الزمن</a:t>
            </a:r>
            <a:r>
              <a:rPr lang="ar-EG">
                <a:effectLst/>
              </a:rPr>
              <a:t>؛ أي إعطاؤك وقتاً أطول لدفع نفس المبلغ المتبقي عليك، مما يؤدي غالباً لتقليل قيمة القسط الشهري.</a:t>
            </a:r>
            <a:endParaRPr lang="en-US">
              <a:effectLst/>
            </a:endParaRPr>
          </a:p>
          <a:p>
            <a:pPr lvl="1" algn="r" rtl="1"/>
            <a:r>
              <a:rPr lang="ar-EG" b="1">
                <a:effectLst/>
              </a:rPr>
              <a:t>مثال:</a:t>
            </a:r>
            <a:r>
              <a:rPr lang="ar-EG">
                <a:effectLst/>
              </a:rPr>
              <a:t> حصلت على تمويل بمبلغ 50,000 جنيه لمدة سنتين، وبعد مرور سنة تعثرت ظروفك وأصبح القسط كبيراً عليك. تطلب "تجديد" لتمديد السنة المتبقية لتصبح سنتين إضافيتين، فيقل القسط الشهري لكنك ستدفع فوائد لفترة أطول.</a:t>
            </a:r>
            <a:endParaRPr lang="en-US" b="1">
              <a:effectLst/>
            </a:endParaRPr>
          </a:p>
          <a:p>
            <a:pPr algn="r" rtl="1"/>
            <a:r>
              <a:rPr lang="ar-EG" b="1">
                <a:effectLst/>
              </a:rPr>
              <a:t>زيادة مبلغ التمويل </a:t>
            </a:r>
            <a:r>
              <a:rPr lang="en-US" b="1">
                <a:effectLst/>
              </a:rPr>
              <a:t>(Top-up)</a:t>
            </a:r>
          </a:p>
          <a:p>
            <a:pPr lvl="1" algn="r" rtl="1"/>
            <a:r>
              <a:rPr lang="ar-EG"/>
              <a:t>هذا النوع يركز على السيولة؛ وهو مخصص للعملاء الملتزمين الذين سددوا جزءاً من القرض ويريدون العودة للمبلغ الأصلي أو زيادته.</a:t>
            </a:r>
          </a:p>
          <a:p>
            <a:pPr lvl="1" algn="r" rtl="1"/>
            <a:r>
              <a:rPr lang="ar-EG"/>
              <a:t>مثال: كان لديك قرض بـ 100,000 جنيه، وسددت منه 60,000 جنيه (المتبقي عليك 40,000 فقط). تطلب "تجديد" ليرفع البنك القرض مرة أخرى إلى 100,000 جنيه. في هذه الحالة، يتم سداد الـ 40,000 القديمة وتستلم أنت 60,000 جنيه كاش في يدك لتبدأ دورة سداد جديدة.</a:t>
            </a:r>
            <a:endParaRPr lang="en-US"/>
          </a:p>
          <a:p>
            <a:pPr algn="r" rtl="1"/>
            <a:r>
              <a:rPr lang="ar-EG" b="1"/>
              <a:t>إعادة الجدولة (</a:t>
            </a:r>
            <a:r>
              <a:rPr lang="en-US" b="1"/>
              <a:t>Rescheduling</a:t>
            </a:r>
            <a:r>
              <a:rPr lang="ar-EG" b="1"/>
              <a:t>)</a:t>
            </a:r>
          </a:p>
          <a:p>
            <a:pPr lvl="1" algn="r" rtl="1"/>
            <a:r>
              <a:rPr lang="ar-EG"/>
              <a:t>هذا النوع يركز على تغيير الشروط؛ ويحدث عادةً عند حدوث تغيير جذري في حالتك المالية أو لتغيير نوع الفائدة.</a:t>
            </a:r>
          </a:p>
          <a:p>
            <a:pPr lvl="1" algn="r" rtl="1"/>
            <a:r>
              <a:rPr lang="ar-EG"/>
              <a:t>مثال: لديك قرض بضمان مرتبك، وقررت ترك عملك وبدء مشروعك الخاص. تطلب من جهة التمويل "تجديد" القرض ليصبح بضمان "سجل تجاري" أو بضمان "أصل عقاري" بدلاً من الراتب، مع تغيير قيمة الأقساط لتناسب دخلك الجديد من المشروع.</a:t>
            </a:r>
          </a:p>
          <a:p>
            <a:pPr algn="r" rtl="1"/>
            <a:endParaRPr lang="en-US"/>
          </a:p>
        </p:txBody>
      </p:sp>
    </p:spTree>
    <p:extLst>
      <p:ext uri="{BB962C8B-B14F-4D97-AF65-F5344CB8AC3E}">
        <p14:creationId xmlns:p14="http://schemas.microsoft.com/office/powerpoint/2010/main" val="26124471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8E5A12-5031-578B-73A6-5281966AFC97}"/>
              </a:ext>
            </a:extLst>
          </p:cNvPr>
          <p:cNvSpPr>
            <a:spLocks noGrp="1"/>
          </p:cNvSpPr>
          <p:nvPr>
            <p:ph type="title"/>
          </p:nvPr>
        </p:nvSpPr>
        <p:spPr>
          <a:xfrm>
            <a:off x="913795" y="0"/>
            <a:ext cx="10353762" cy="707923"/>
          </a:xfrm>
        </p:spPr>
        <p:txBody>
          <a:bodyPr/>
          <a:lstStyle/>
          <a:p>
            <a:r>
              <a:rPr lang="ar-EG" b="1">
                <a:solidFill>
                  <a:srgbClr val="FF0000"/>
                </a:solidFill>
              </a:rPr>
              <a:t>مراجعة أولية</a:t>
            </a:r>
            <a:endParaRPr lang="en-US" b="1">
              <a:solidFill>
                <a:srgbClr val="FF0000"/>
              </a:solidFill>
            </a:endParaRPr>
          </a:p>
        </p:txBody>
      </p:sp>
      <p:sp>
        <p:nvSpPr>
          <p:cNvPr id="3" name="Content Placeholder 2">
            <a:extLst>
              <a:ext uri="{FF2B5EF4-FFF2-40B4-BE49-F238E27FC236}">
                <a16:creationId xmlns:a16="http://schemas.microsoft.com/office/drawing/2014/main" id="{C6D0CF99-5768-3261-B86E-3BECA925F90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9181778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BD6999-6FBE-7FD0-77E3-BEFCDD7438B5}"/>
              </a:ext>
            </a:extLst>
          </p:cNvPr>
          <p:cNvSpPr>
            <a:spLocks noGrp="1"/>
          </p:cNvSpPr>
          <p:nvPr>
            <p:ph type="title"/>
          </p:nvPr>
        </p:nvSpPr>
        <p:spPr/>
        <p:txBody>
          <a:bodyPr/>
          <a:lstStyle/>
          <a:p>
            <a:r>
              <a:rPr lang="ar-EG"/>
              <a:t>زيارة ميدانية</a:t>
            </a:r>
            <a:endParaRPr lang="en-US"/>
          </a:p>
        </p:txBody>
      </p:sp>
      <p:sp>
        <p:nvSpPr>
          <p:cNvPr id="3" name="Content Placeholder 2">
            <a:extLst>
              <a:ext uri="{FF2B5EF4-FFF2-40B4-BE49-F238E27FC236}">
                <a16:creationId xmlns:a16="http://schemas.microsoft.com/office/drawing/2014/main" id="{26B4D821-A659-22F6-D27B-58D7BE5B7C4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32382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4BEF7-16AD-EB38-03A0-9E38308744E8}"/>
              </a:ext>
            </a:extLst>
          </p:cNvPr>
          <p:cNvSpPr>
            <a:spLocks noGrp="1"/>
          </p:cNvSpPr>
          <p:nvPr>
            <p:ph type="title"/>
          </p:nvPr>
        </p:nvSpPr>
        <p:spPr/>
        <p:txBody>
          <a:bodyPr/>
          <a:lstStyle/>
          <a:p>
            <a:r>
              <a:rPr lang="ar-EG" b="1">
                <a:solidFill>
                  <a:srgbClr val="FF0000"/>
                </a:solidFill>
              </a:rPr>
              <a:t>التحليل الائتماني</a:t>
            </a:r>
            <a:endParaRPr lang="en-US" b="1">
              <a:solidFill>
                <a:srgbClr val="FF0000"/>
              </a:solidFill>
            </a:endParaRPr>
          </a:p>
        </p:txBody>
      </p:sp>
      <p:sp>
        <p:nvSpPr>
          <p:cNvPr id="3" name="Content Placeholder 2">
            <a:extLst>
              <a:ext uri="{FF2B5EF4-FFF2-40B4-BE49-F238E27FC236}">
                <a16:creationId xmlns:a16="http://schemas.microsoft.com/office/drawing/2014/main" id="{4B9905FB-09D5-E179-2DB7-D3AC27E8633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53344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BE4A9-0D80-63E2-93A1-0CD590C2F5FE}"/>
              </a:ext>
            </a:extLst>
          </p:cNvPr>
          <p:cNvSpPr>
            <a:spLocks noGrp="1"/>
          </p:cNvSpPr>
          <p:nvPr>
            <p:ph type="title"/>
          </p:nvPr>
        </p:nvSpPr>
        <p:spPr>
          <a:xfrm>
            <a:off x="913795" y="0"/>
            <a:ext cx="10353762" cy="668594"/>
          </a:xfrm>
        </p:spPr>
        <p:txBody>
          <a:bodyPr>
            <a:normAutofit fontScale="90000"/>
          </a:bodyPr>
          <a:lstStyle/>
          <a:p>
            <a:r>
              <a:rPr lang="ar-EG" b="1">
                <a:solidFill>
                  <a:srgbClr val="FF0000"/>
                </a:solidFill>
              </a:rPr>
              <a:t>تحميل المستندات</a:t>
            </a:r>
            <a:endParaRPr lang="en-US" b="1">
              <a:solidFill>
                <a:srgbClr val="FF0000"/>
              </a:solidFill>
            </a:endParaRPr>
          </a:p>
        </p:txBody>
      </p:sp>
      <p:sp>
        <p:nvSpPr>
          <p:cNvPr id="3" name="Content Placeholder 2">
            <a:extLst>
              <a:ext uri="{FF2B5EF4-FFF2-40B4-BE49-F238E27FC236}">
                <a16:creationId xmlns:a16="http://schemas.microsoft.com/office/drawing/2014/main" id="{D8EFC7BF-7EA3-03B6-F9DF-0E2BE48F01F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948109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A2CEE-E4B4-FDA8-29CD-E7103B522F79}"/>
              </a:ext>
            </a:extLst>
          </p:cNvPr>
          <p:cNvSpPr>
            <a:spLocks noGrp="1"/>
          </p:cNvSpPr>
          <p:nvPr>
            <p:ph type="title"/>
          </p:nvPr>
        </p:nvSpPr>
        <p:spPr>
          <a:xfrm>
            <a:off x="844969" y="0"/>
            <a:ext cx="10353762" cy="698090"/>
          </a:xfrm>
        </p:spPr>
        <p:txBody>
          <a:bodyPr>
            <a:normAutofit fontScale="90000"/>
          </a:bodyPr>
          <a:lstStyle/>
          <a:p>
            <a:r>
              <a:rPr lang="ar-EG" b="1">
                <a:solidFill>
                  <a:srgbClr val="FF0000"/>
                </a:solidFill>
              </a:rPr>
              <a:t>المراجعة المركزية</a:t>
            </a:r>
            <a:endParaRPr lang="en-US" b="1">
              <a:solidFill>
                <a:srgbClr val="FF0000"/>
              </a:solidFill>
            </a:endParaRPr>
          </a:p>
        </p:txBody>
      </p:sp>
      <p:sp>
        <p:nvSpPr>
          <p:cNvPr id="3" name="Content Placeholder 2">
            <a:extLst>
              <a:ext uri="{FF2B5EF4-FFF2-40B4-BE49-F238E27FC236}">
                <a16:creationId xmlns:a16="http://schemas.microsoft.com/office/drawing/2014/main" id="{EA6FB638-B82F-DC6A-F0B1-71E66F335DC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42449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A297D-FA92-F0E4-599A-68EAB03047C0}"/>
              </a:ext>
            </a:extLst>
          </p:cNvPr>
          <p:cNvSpPr>
            <a:spLocks noGrp="1"/>
          </p:cNvSpPr>
          <p:nvPr>
            <p:ph type="title"/>
          </p:nvPr>
        </p:nvSpPr>
        <p:spPr>
          <a:xfrm>
            <a:off x="913795" y="0"/>
            <a:ext cx="10353762" cy="766916"/>
          </a:xfrm>
        </p:spPr>
        <p:txBody>
          <a:bodyPr/>
          <a:lstStyle/>
          <a:p>
            <a:r>
              <a:rPr lang="ar-EG" b="1">
                <a:solidFill>
                  <a:srgbClr val="FF0000"/>
                </a:solidFill>
              </a:rPr>
              <a:t>الصرف</a:t>
            </a:r>
            <a:endParaRPr lang="en-US" b="1">
              <a:solidFill>
                <a:srgbClr val="FF0000"/>
              </a:solidFill>
            </a:endParaRPr>
          </a:p>
        </p:txBody>
      </p:sp>
      <p:sp>
        <p:nvSpPr>
          <p:cNvPr id="3" name="Content Placeholder 2">
            <a:extLst>
              <a:ext uri="{FF2B5EF4-FFF2-40B4-BE49-F238E27FC236}">
                <a16:creationId xmlns:a16="http://schemas.microsoft.com/office/drawing/2014/main" id="{24E0624C-F15D-C0E6-7DF1-8E90C1166A7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0754325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52536-DCCC-8C3D-9370-41602B2F1CB9}"/>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Region at </a:t>
            </a:r>
          </a:p>
        </p:txBody>
      </p:sp>
      <p:sp>
        <p:nvSpPr>
          <p:cNvPr id="3" name="Content Placeholder 2">
            <a:extLst>
              <a:ext uri="{FF2B5EF4-FFF2-40B4-BE49-F238E27FC236}">
                <a16:creationId xmlns:a16="http://schemas.microsoft.com/office/drawing/2014/main" id="{5BEA9423-2224-07FD-FD9F-8B5FEDB393E2}"/>
              </a:ext>
            </a:extLst>
          </p:cNvPr>
          <p:cNvSpPr>
            <a:spLocks noGrp="1"/>
          </p:cNvSpPr>
          <p:nvPr>
            <p:ph idx="1"/>
          </p:nvPr>
        </p:nvSpPr>
        <p:spPr>
          <a:xfrm>
            <a:off x="314632" y="609601"/>
            <a:ext cx="11611897" cy="6076334"/>
          </a:xfrm>
        </p:spPr>
        <p:txBody>
          <a:bodyPr>
            <a:normAutofit/>
          </a:bodyPr>
          <a:lstStyle/>
          <a:p>
            <a:r>
              <a:rPr lang="en-US" sz="1800"/>
              <a:t>RegionId, </a:t>
            </a:r>
            <a:r>
              <a:rPr lang="en-US"/>
              <a:t>int </a:t>
            </a:r>
            <a:r>
              <a:rPr lang="en-US" b="1">
                <a:solidFill>
                  <a:srgbClr val="FFFF00"/>
                </a:solidFill>
              </a:rPr>
              <a:t>[FK]</a:t>
            </a:r>
            <a:endParaRPr lang="en-US" sz="1800" b="1">
              <a:solidFill>
                <a:srgbClr val="FFFF00"/>
              </a:solidFill>
            </a:endParaRPr>
          </a:p>
          <a:p>
            <a:r>
              <a:rPr lang="en-US" sz="1800"/>
              <a:t>RegionNameAR : string</a:t>
            </a:r>
          </a:p>
          <a:p>
            <a:r>
              <a:rPr lang="en-US" sz="1800"/>
              <a:t>RegionNameEn: string</a:t>
            </a:r>
          </a:p>
          <a:p>
            <a:r>
              <a:rPr lang="en-US"/>
              <a:t>ICollection&lt;Branch&gt; Branches</a:t>
            </a:r>
          </a:p>
          <a:p>
            <a:r>
              <a:rPr lang="en-US"/>
              <a:t>ICollection&lt;Governorate&gt; Governorates</a:t>
            </a:r>
          </a:p>
          <a:p>
            <a:r>
              <a:rPr lang="en-US"/>
              <a:t>ICollection&lt;Flow_ISCORE&gt; Flow_ISCORE</a:t>
            </a:r>
          </a:p>
          <a:p>
            <a:r>
              <a:rPr lang="en-US"/>
              <a:t>ICollection&lt;Trans_Open_Close_Branch_M&gt; Trans_Open_Close_Branch_M</a:t>
            </a:r>
          </a:p>
          <a:p>
            <a:r>
              <a:rPr lang="en-US"/>
              <a:t>ICollection&lt;Trans_Open_Close_LO_M&gt; Trans_Open_Close_LO_M</a:t>
            </a:r>
            <a:endParaRPr lang="en-US" sz="1800"/>
          </a:p>
          <a:p>
            <a:endParaRPr lang="en-US" sz="1800"/>
          </a:p>
        </p:txBody>
      </p:sp>
    </p:spTree>
    <p:extLst>
      <p:ext uri="{BB962C8B-B14F-4D97-AF65-F5344CB8AC3E}">
        <p14:creationId xmlns:p14="http://schemas.microsoft.com/office/powerpoint/2010/main" val="18154694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3EAB15-CC51-C498-9EEC-A137D0323F46}"/>
              </a:ext>
            </a:extLst>
          </p:cNvPr>
          <p:cNvSpPr>
            <a:spLocks noGrp="1"/>
          </p:cNvSpPr>
          <p:nvPr>
            <p:ph type="title"/>
          </p:nvPr>
        </p:nvSpPr>
        <p:spPr>
          <a:xfrm>
            <a:off x="919119" y="0"/>
            <a:ext cx="10353762" cy="589935"/>
          </a:xfrm>
        </p:spPr>
        <p:txBody>
          <a:bodyPr>
            <a:normAutofit fontScale="90000"/>
          </a:bodyPr>
          <a:lstStyle/>
          <a:p>
            <a:r>
              <a:rPr lang="en-US" b="1">
                <a:solidFill>
                  <a:srgbClr val="FF0000"/>
                </a:solidFill>
              </a:rPr>
              <a:t>Governorate at common</a:t>
            </a:r>
          </a:p>
        </p:txBody>
      </p:sp>
      <p:sp>
        <p:nvSpPr>
          <p:cNvPr id="3" name="Content Placeholder 2">
            <a:extLst>
              <a:ext uri="{FF2B5EF4-FFF2-40B4-BE49-F238E27FC236}">
                <a16:creationId xmlns:a16="http://schemas.microsoft.com/office/drawing/2014/main" id="{8EEA33DE-45C9-F8E4-0DAE-47A71E2D1B22}"/>
              </a:ext>
            </a:extLst>
          </p:cNvPr>
          <p:cNvSpPr>
            <a:spLocks noGrp="1"/>
          </p:cNvSpPr>
          <p:nvPr>
            <p:ph idx="1"/>
          </p:nvPr>
        </p:nvSpPr>
        <p:spPr>
          <a:xfrm>
            <a:off x="196644" y="589935"/>
            <a:ext cx="11769213" cy="6154994"/>
          </a:xfrm>
        </p:spPr>
        <p:txBody>
          <a:bodyPr>
            <a:normAutofit/>
          </a:bodyPr>
          <a:lstStyle/>
          <a:p>
            <a:r>
              <a:rPr lang="en-US" sz="1800"/>
              <a:t>GovId</a:t>
            </a:r>
          </a:p>
          <a:p>
            <a:r>
              <a:rPr lang="en-US" sz="1800" err="1"/>
              <a:t>GovCode</a:t>
            </a:r>
            <a:endParaRPr lang="en-US" sz="1800"/>
          </a:p>
          <a:p>
            <a:r>
              <a:rPr lang="en-US" sz="1800" err="1"/>
              <a:t>GovNameAR</a:t>
            </a:r>
            <a:endParaRPr lang="en-US" sz="1800"/>
          </a:p>
          <a:p>
            <a:r>
              <a:rPr lang="en-US" sz="1800" err="1"/>
              <a:t>GovNameEn</a:t>
            </a:r>
            <a:endParaRPr lang="en-US" sz="1800"/>
          </a:p>
          <a:p>
            <a:r>
              <a:rPr lang="en-US" sz="1800"/>
              <a:t>RegionId </a:t>
            </a:r>
            <a:r>
              <a:rPr lang="en-US" sz="1800">
                <a:sym typeface="Wingdings" panose="05000000000000000000" pitchFamily="2" charset="2"/>
              </a:rPr>
              <a:t> </a:t>
            </a:r>
            <a:r>
              <a:rPr lang="ar-EG" sz="1800">
                <a:sym typeface="Wingdings" panose="05000000000000000000" pitchFamily="2" charset="2"/>
              </a:rPr>
              <a:t>بحري او قبلى</a:t>
            </a:r>
            <a:endParaRPr lang="en-US" sz="1800"/>
          </a:p>
          <a:p>
            <a:r>
              <a:rPr lang="en-US" sz="1800"/>
              <a:t>OriginalRegionId</a:t>
            </a:r>
          </a:p>
          <a:p>
            <a:endParaRPr lang="en-US" sz="1600"/>
          </a:p>
        </p:txBody>
      </p:sp>
    </p:spTree>
    <p:extLst>
      <p:ext uri="{BB962C8B-B14F-4D97-AF65-F5344CB8AC3E}">
        <p14:creationId xmlns:p14="http://schemas.microsoft.com/office/powerpoint/2010/main" val="37691749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AD0F1-7946-1FB5-D0C6-936DDB98C545}"/>
              </a:ext>
            </a:extLst>
          </p:cNvPr>
          <p:cNvSpPr>
            <a:spLocks noGrp="1"/>
          </p:cNvSpPr>
          <p:nvPr>
            <p:ph type="title"/>
          </p:nvPr>
        </p:nvSpPr>
        <p:spPr>
          <a:xfrm>
            <a:off x="913795" y="0"/>
            <a:ext cx="10353762" cy="589935"/>
          </a:xfrm>
        </p:spPr>
        <p:txBody>
          <a:bodyPr>
            <a:normAutofit fontScale="90000"/>
          </a:bodyPr>
          <a:lstStyle/>
          <a:p>
            <a:r>
              <a:rPr lang="en-US" b="1" err="1">
                <a:solidFill>
                  <a:srgbClr val="FF0000"/>
                </a:solidFill>
              </a:rPr>
              <a:t>Original_Region</a:t>
            </a:r>
            <a:r>
              <a:rPr lang="en-US" b="1">
                <a:solidFill>
                  <a:srgbClr val="FF0000"/>
                </a:solidFill>
              </a:rPr>
              <a:t> entity at common</a:t>
            </a:r>
          </a:p>
        </p:txBody>
      </p:sp>
      <p:sp>
        <p:nvSpPr>
          <p:cNvPr id="3" name="Content Placeholder 2">
            <a:extLst>
              <a:ext uri="{FF2B5EF4-FFF2-40B4-BE49-F238E27FC236}">
                <a16:creationId xmlns:a16="http://schemas.microsoft.com/office/drawing/2014/main" id="{7ECECAF3-0EA8-1856-F13A-4BCD070DD6A4}"/>
              </a:ext>
            </a:extLst>
          </p:cNvPr>
          <p:cNvSpPr>
            <a:spLocks noGrp="1"/>
          </p:cNvSpPr>
          <p:nvPr>
            <p:ph idx="1"/>
          </p:nvPr>
        </p:nvSpPr>
        <p:spPr>
          <a:xfrm>
            <a:off x="344129" y="589935"/>
            <a:ext cx="11592232" cy="6164826"/>
          </a:xfrm>
        </p:spPr>
        <p:txBody>
          <a:bodyPr/>
          <a:lstStyle/>
          <a:p>
            <a:r>
              <a:rPr lang="en-US"/>
              <a:t>int </a:t>
            </a:r>
            <a:r>
              <a:rPr lang="en-US" err="1"/>
              <a:t>OR_Id</a:t>
            </a:r>
            <a:endParaRPr lang="en-US"/>
          </a:p>
          <a:p>
            <a:r>
              <a:rPr lang="en-US"/>
              <a:t>RegionNameAR</a:t>
            </a:r>
          </a:p>
          <a:p>
            <a:r>
              <a:rPr lang="en-US"/>
              <a:t>RegionNameEn</a:t>
            </a:r>
          </a:p>
          <a:p>
            <a:r>
              <a:rPr lang="en-US"/>
              <a:t>GovId</a:t>
            </a:r>
          </a:p>
          <a:p>
            <a:r>
              <a:rPr lang="en-US"/>
              <a:t>RegionId</a:t>
            </a:r>
          </a:p>
        </p:txBody>
      </p:sp>
    </p:spTree>
    <p:extLst>
      <p:ext uri="{BB962C8B-B14F-4D97-AF65-F5344CB8AC3E}">
        <p14:creationId xmlns:p14="http://schemas.microsoft.com/office/powerpoint/2010/main" val="4685986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err="1">
                <a:solidFill>
                  <a:srgbClr val="FF0000"/>
                </a:solidFill>
              </a:rPr>
              <a:t>Trans_GPS_Tracking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p>
          <a:p>
            <a:r>
              <a:rPr lang="en-US"/>
              <a:t>int </a:t>
            </a:r>
            <a:r>
              <a:rPr lang="en-US" err="1"/>
              <a:t>UserID</a:t>
            </a:r>
            <a:r>
              <a:rPr lang="en-US"/>
              <a:t> </a:t>
            </a:r>
          </a:p>
          <a:p>
            <a:r>
              <a:rPr lang="en-US"/>
              <a:t>DateTime </a:t>
            </a:r>
            <a:r>
              <a:rPr lang="en-US" err="1"/>
              <a:t>ActionDate</a:t>
            </a:r>
            <a:r>
              <a:rPr lang="en-US"/>
              <a:t>  </a:t>
            </a:r>
          </a:p>
          <a:p>
            <a:r>
              <a:rPr lang="en-US"/>
              <a:t>string Step  </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spTree>
    <p:extLst>
      <p:ext uri="{BB962C8B-B14F-4D97-AF65-F5344CB8AC3E}">
        <p14:creationId xmlns:p14="http://schemas.microsoft.com/office/powerpoint/2010/main" val="12662576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t>Branch_code</a:t>
            </a:r>
            <a:endParaRPr lang="en-US" sz="1800" b="1"/>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6363918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1390343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latin typeface="Tahoma" panose="020B0604030504040204" pitchFamily="34" charset="0"/>
                <a:ea typeface="Tahoma" panose="020B0604030504040204" pitchFamily="34" charset="0"/>
                <a:cs typeface="Tahoma" panose="020B0604030504040204" pitchFamily="34" charset="0"/>
              </a:rPr>
              <a:t>allow insert fund</a:t>
            </a:r>
          </a:p>
          <a:p>
            <a:pPr lvl="1"/>
            <a:r>
              <a:rPr lang="en-US"/>
              <a:t>AllowInsertFund ==0 // 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86707" y="3243337"/>
            <a:ext cx="11661058"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87930" y="3809550"/>
            <a:ext cx="11659835"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86707" y="4425254"/>
            <a:ext cx="11659835"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86707" y="5004405"/>
            <a:ext cx="1132095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86707" y="5584508"/>
            <a:ext cx="11659834"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86707" y="6143840"/>
            <a:ext cx="11659834" cy="66345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797686" y="3866140"/>
            <a:ext cx="7948824" cy="556773"/>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تم صرفه فعلياً للعميل</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err="1"/>
              <a:t>Open_date</a:t>
            </a:r>
            <a:r>
              <a:rPr lang="en-US" sz="1800"/>
              <a:t> : </a:t>
            </a:r>
            <a:r>
              <a:rPr lang="en-US" sz="1800">
                <a:effectLst/>
              </a:rPr>
              <a:t>date of request based on the </a:t>
            </a:r>
            <a:r>
              <a:rPr lang="en-US" sz="1800" err="1">
                <a:effectLst/>
              </a:rPr>
              <a:t>busdate</a:t>
            </a:r>
            <a:endParaRPr lang="en-US" sz="1800"/>
          </a:p>
          <a:p>
            <a:r>
              <a:rPr lang="en-US" sz="1800" err="1"/>
              <a:t>Yield_periodicity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0834938"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err="1"/>
              <a:t>Loan_code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C386-977F-3EF3-D653-27D861F6482F}"/>
              </a:ext>
            </a:extLst>
          </p:cNvPr>
          <p:cNvSpPr>
            <a:spLocks noGrp="1"/>
          </p:cNvSpPr>
          <p:nvPr>
            <p:ph type="title"/>
          </p:nvPr>
        </p:nvSpPr>
        <p:spPr>
          <a:xfrm>
            <a:off x="913795" y="0"/>
            <a:ext cx="10353762" cy="692426"/>
          </a:xfrm>
        </p:spPr>
        <p:txBody>
          <a:bodyPr>
            <a:normAutofit fontScale="90000"/>
          </a:bodyPr>
          <a:lstStyle/>
          <a:p>
            <a:r>
              <a:rPr lang="en-US" b="1">
                <a:solidFill>
                  <a:srgbClr val="FFFF00"/>
                </a:solidFill>
                <a:effectLst/>
              </a:rPr>
              <a:t>TWF</a:t>
            </a:r>
            <a:r>
              <a:rPr lang="en-US" b="1">
                <a:solidFill>
                  <a:srgbClr val="FF0000"/>
                </a:solidFill>
              </a:rPr>
              <a:t>.Flow_Funding_request [cont.]</a:t>
            </a:r>
            <a:endParaRPr lang="en-US"/>
          </a:p>
        </p:txBody>
      </p:sp>
      <p:sp>
        <p:nvSpPr>
          <p:cNvPr id="3" name="Content Placeholder 2">
            <a:extLst>
              <a:ext uri="{FF2B5EF4-FFF2-40B4-BE49-F238E27FC236}">
                <a16:creationId xmlns:a16="http://schemas.microsoft.com/office/drawing/2014/main" id="{AD82EFCA-7DD8-76CF-C422-B2C5728D9837}"/>
              </a:ext>
            </a:extLst>
          </p:cNvPr>
          <p:cNvSpPr>
            <a:spLocks noGrp="1"/>
          </p:cNvSpPr>
          <p:nvPr>
            <p:ph idx="1"/>
          </p:nvPr>
        </p:nvSpPr>
        <p:spPr>
          <a:xfrm>
            <a:off x="198783" y="692426"/>
            <a:ext cx="11837504" cy="6076121"/>
          </a:xfrm>
        </p:spPr>
        <p:txBody>
          <a:bodyPr/>
          <a:lstStyle/>
          <a:p>
            <a:r>
              <a:rPr lang="en-US"/>
              <a:t>After funding request is done via LO first time</a:t>
            </a:r>
          </a:p>
          <a:p>
            <a:pPr lvl="1"/>
            <a:r>
              <a:rPr lang="en-US"/>
              <a:t>Request_status: 1 // new</a:t>
            </a:r>
          </a:p>
          <a:p>
            <a:pPr lvl="1"/>
            <a:r>
              <a:rPr lang="en-US" b="1">
                <a:solidFill>
                  <a:srgbClr val="FFFF00"/>
                </a:solidFill>
              </a:rPr>
              <a:t>status_code: 0 </a:t>
            </a:r>
            <a:r>
              <a:rPr lang="en-US"/>
              <a:t>// </a:t>
            </a:r>
            <a:r>
              <a:rPr lang="ar-EG"/>
              <a:t>عند مسئول التمويل</a:t>
            </a:r>
            <a:r>
              <a:rPr lang="en-US"/>
              <a:t> </a:t>
            </a:r>
          </a:p>
          <a:p>
            <a:pPr lvl="2"/>
            <a:r>
              <a:rPr lang="en-US" sz="1800"/>
              <a:t>Locally: [ status_code: 11 ]  </a:t>
            </a:r>
            <a:r>
              <a:rPr lang="ar-EG" sz="1800"/>
              <a:t>فشل فى تحميل أي سكور</a:t>
            </a:r>
            <a:endParaRPr lang="en-US" sz="1800"/>
          </a:p>
          <a:p>
            <a:r>
              <a:rPr lang="en-US"/>
              <a:t>After LO press save and send </a:t>
            </a:r>
            <a:r>
              <a:rPr lang="ar-EG"/>
              <a:t>حفظ وإرسال</a:t>
            </a:r>
            <a:endParaRPr lang="en-US"/>
          </a:p>
          <a:p>
            <a:pPr lvl="1"/>
            <a:r>
              <a:rPr lang="en-US" b="1">
                <a:solidFill>
                  <a:srgbClr val="FFFF00"/>
                </a:solidFill>
              </a:rPr>
              <a:t>status_code: 56 </a:t>
            </a:r>
            <a:r>
              <a:rPr lang="ar-EG"/>
              <a:t>الطلب تم ترحيله إلى المسؤول الأول </a:t>
            </a:r>
          </a:p>
          <a:p>
            <a:pPr marL="450000" lvl="1" indent="0">
              <a:buNone/>
            </a:pPr>
            <a:endParaRPr lang="ar-EG"/>
          </a:p>
          <a:p>
            <a:endParaRPr lang="ar-EG"/>
          </a:p>
          <a:p>
            <a:endParaRPr lang="en-US"/>
          </a:p>
        </p:txBody>
      </p:sp>
    </p:spTree>
    <p:extLst>
      <p:ext uri="{BB962C8B-B14F-4D97-AF65-F5344CB8AC3E}">
        <p14:creationId xmlns:p14="http://schemas.microsoft.com/office/powerpoint/2010/main" val="26058029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452284" y="550607"/>
            <a:ext cx="11307097" cy="5653548"/>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6596165" y="1238154"/>
            <a:ext cx="4671392" cy="4381692"/>
          </a:xfrm>
          <a:prstGeom prst="rect">
            <a:avLst/>
          </a:prstGeom>
        </p:spPr>
      </p:pic>
    </p:spTree>
    <p:extLst>
      <p:ext uri="{BB962C8B-B14F-4D97-AF65-F5344CB8AC3E}">
        <p14:creationId xmlns:p14="http://schemas.microsoft.com/office/powerpoint/2010/main" val="31333468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BFD65-081A-4A23-EB55-FEFD7F41BA9E}"/>
              </a:ext>
            </a:extLst>
          </p:cNvPr>
          <p:cNvSpPr>
            <a:spLocks noGrp="1"/>
          </p:cNvSpPr>
          <p:nvPr>
            <p:ph type="title"/>
          </p:nvPr>
        </p:nvSpPr>
        <p:spPr>
          <a:xfrm>
            <a:off x="913795" y="0"/>
            <a:ext cx="10353762" cy="481781"/>
          </a:xfrm>
        </p:spPr>
        <p:txBody>
          <a:bodyPr>
            <a:noAutofit/>
          </a:bodyPr>
          <a:lstStyle/>
          <a:p>
            <a:r>
              <a:rPr lang="en-US" sz="3200" b="1">
                <a:solidFill>
                  <a:srgbClr val="FFFF00"/>
                </a:solidFill>
              </a:rPr>
              <a:t>TDWF.</a:t>
            </a:r>
            <a:r>
              <a:rPr lang="en-US" sz="3200" b="1">
                <a:solidFill>
                  <a:srgbClr val="FF0000"/>
                </a:solidFill>
              </a:rPr>
              <a:t>Flow_Request_Deportation</a:t>
            </a:r>
          </a:p>
        </p:txBody>
      </p:sp>
      <p:sp>
        <p:nvSpPr>
          <p:cNvPr id="3" name="Content Placeholder 2">
            <a:extLst>
              <a:ext uri="{FF2B5EF4-FFF2-40B4-BE49-F238E27FC236}">
                <a16:creationId xmlns:a16="http://schemas.microsoft.com/office/drawing/2014/main" id="{074243CB-A69A-8B57-BFE2-256010A29D54}"/>
              </a:ext>
            </a:extLst>
          </p:cNvPr>
          <p:cNvSpPr>
            <a:spLocks noGrp="1"/>
          </p:cNvSpPr>
          <p:nvPr>
            <p:ph idx="1"/>
          </p:nvPr>
        </p:nvSpPr>
        <p:spPr>
          <a:xfrm>
            <a:off x="0" y="609600"/>
            <a:ext cx="11985523" cy="6037005"/>
          </a:xfrm>
        </p:spPr>
        <p:txBody>
          <a:bodyPr/>
          <a:lstStyle/>
          <a:p>
            <a:r>
              <a:rPr lang="en-US" sz="1800"/>
              <a:t>Enterprise_ID: decimal, </a:t>
            </a:r>
            <a:r>
              <a:rPr lang="en-US" sz="1800" b="1">
                <a:solidFill>
                  <a:srgbClr val="FF0000"/>
                </a:solidFill>
              </a:rPr>
              <a:t>[PK]</a:t>
            </a:r>
          </a:p>
          <a:p>
            <a:r>
              <a:rPr lang="en-US" sz="1800"/>
              <a:t>UserId_from: int [FK] // the LO who make the request for the customer</a:t>
            </a:r>
          </a:p>
          <a:p>
            <a:r>
              <a:rPr lang="en-US" sz="1800"/>
              <a:t>jobId: int [FK] // the job id of any loan officer 10</a:t>
            </a:r>
          </a:p>
          <a:p>
            <a:r>
              <a:rPr lang="en-US" sz="1800"/>
              <a:t>Request_id: int  [FK] // from RequestId</a:t>
            </a:r>
          </a:p>
          <a:p>
            <a:r>
              <a:rPr lang="en-US" sz="1800"/>
              <a:t>UserId_from : ?? </a:t>
            </a:r>
          </a:p>
          <a:p>
            <a:r>
              <a:rPr lang="en-US" sz="1800"/>
              <a:t>UserId_to :  ??</a:t>
            </a:r>
          </a:p>
          <a:p>
            <a:r>
              <a:rPr lang="en-US" sz="1800"/>
              <a:t>Code_action: is null ?</a:t>
            </a:r>
          </a:p>
          <a:p>
            <a:r>
              <a:rPr lang="en-US" sz="1800"/>
              <a:t>Date_Assigned ?</a:t>
            </a:r>
          </a:p>
          <a:p>
            <a:r>
              <a:rPr lang="en-US" sz="1800"/>
              <a:t>Type_code: </a:t>
            </a:r>
          </a:p>
          <a:p>
            <a:pPr lvl="1"/>
            <a:r>
              <a:rPr lang="en-US" sz="1600"/>
              <a:t>1 : </a:t>
            </a:r>
            <a:r>
              <a:rPr lang="ar-EG" sz="1600"/>
              <a:t>مسار عمل  صغير</a:t>
            </a:r>
          </a:p>
          <a:p>
            <a:pPr lvl="1"/>
            <a:r>
              <a:rPr lang="en-US" sz="1600"/>
              <a:t>2 : </a:t>
            </a:r>
            <a:r>
              <a:rPr lang="ar-EG" sz="1600"/>
              <a:t>مسار عمل كبير</a:t>
            </a:r>
            <a:endParaRPr lang="en-US" sz="1600"/>
          </a:p>
          <a:p>
            <a:endParaRPr lang="en-US" sz="1800"/>
          </a:p>
        </p:txBody>
      </p:sp>
      <p:pic>
        <p:nvPicPr>
          <p:cNvPr id="5" name="Picture 4">
            <a:extLst>
              <a:ext uri="{FF2B5EF4-FFF2-40B4-BE49-F238E27FC236}">
                <a16:creationId xmlns:a16="http://schemas.microsoft.com/office/drawing/2014/main" id="{FB811957-E4AD-DA9F-5CD3-C7D6839F787B}"/>
              </a:ext>
            </a:extLst>
          </p:cNvPr>
          <p:cNvPicPr>
            <a:picLocks noChangeAspect="1"/>
          </p:cNvPicPr>
          <p:nvPr/>
        </p:nvPicPr>
        <p:blipFill>
          <a:blip r:embed="rId2"/>
          <a:stretch>
            <a:fillRect/>
          </a:stretch>
        </p:blipFill>
        <p:spPr>
          <a:xfrm>
            <a:off x="2743200" y="4341693"/>
            <a:ext cx="8239432" cy="635730"/>
          </a:xfrm>
          <a:prstGeom prst="rect">
            <a:avLst/>
          </a:prstGeom>
        </p:spPr>
      </p:pic>
      <p:pic>
        <p:nvPicPr>
          <p:cNvPr id="7" name="Picture 6">
            <a:extLst>
              <a:ext uri="{FF2B5EF4-FFF2-40B4-BE49-F238E27FC236}">
                <a16:creationId xmlns:a16="http://schemas.microsoft.com/office/drawing/2014/main" id="{BFBFFCC1-9DFD-B1B1-79E5-B3CC542ECF74}"/>
              </a:ext>
            </a:extLst>
          </p:cNvPr>
          <p:cNvPicPr>
            <a:picLocks noChangeAspect="1"/>
          </p:cNvPicPr>
          <p:nvPr/>
        </p:nvPicPr>
        <p:blipFill>
          <a:blip r:embed="rId3"/>
          <a:stretch>
            <a:fillRect/>
          </a:stretch>
        </p:blipFill>
        <p:spPr>
          <a:xfrm>
            <a:off x="1533832" y="5183843"/>
            <a:ext cx="10658168" cy="551038"/>
          </a:xfrm>
          <a:prstGeom prst="rect">
            <a:avLst/>
          </a:prstGeom>
        </p:spPr>
      </p:pic>
    </p:spTree>
    <p:extLst>
      <p:ext uri="{BB962C8B-B14F-4D97-AF65-F5344CB8AC3E}">
        <p14:creationId xmlns:p14="http://schemas.microsoft.com/office/powerpoint/2010/main" val="29429710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74AEB-3139-DEE2-E60B-64589C38D1D0}"/>
              </a:ext>
            </a:extLst>
          </p:cNvPr>
          <p:cNvSpPr>
            <a:spLocks noGrp="1"/>
          </p:cNvSpPr>
          <p:nvPr>
            <p:ph type="title"/>
          </p:nvPr>
        </p:nvSpPr>
        <p:spPr>
          <a:xfrm>
            <a:off x="913795" y="0"/>
            <a:ext cx="10353762" cy="540774"/>
          </a:xfrm>
        </p:spPr>
        <p:txBody>
          <a:bodyPr>
            <a:normAutofit fontScale="90000"/>
          </a:bodyPr>
          <a:lstStyle/>
          <a:p>
            <a:r>
              <a:rPr lang="en-US" sz="3200" b="1">
                <a:solidFill>
                  <a:srgbClr val="FFFF00"/>
                </a:solidFill>
              </a:rPr>
              <a:t>TDWF.</a:t>
            </a:r>
            <a:r>
              <a:rPr lang="en-US" sz="3200" b="1">
                <a:solidFill>
                  <a:srgbClr val="FF0000"/>
                </a:solidFill>
              </a:rPr>
              <a:t>Flow_Request_Deportation [cont. 1]</a:t>
            </a:r>
            <a:endParaRPr lang="en-US" sz="3200"/>
          </a:p>
        </p:txBody>
      </p:sp>
      <p:sp>
        <p:nvSpPr>
          <p:cNvPr id="3" name="Content Placeholder 2">
            <a:extLst>
              <a:ext uri="{FF2B5EF4-FFF2-40B4-BE49-F238E27FC236}">
                <a16:creationId xmlns:a16="http://schemas.microsoft.com/office/drawing/2014/main" id="{E8440506-2E85-BEF2-5538-4DD2AC723626}"/>
              </a:ext>
            </a:extLst>
          </p:cNvPr>
          <p:cNvSpPr>
            <a:spLocks noGrp="1"/>
          </p:cNvSpPr>
          <p:nvPr>
            <p:ph idx="1"/>
          </p:nvPr>
        </p:nvSpPr>
        <p:spPr>
          <a:xfrm>
            <a:off x="147484" y="648928"/>
            <a:ext cx="11916697" cy="6209071"/>
          </a:xfrm>
        </p:spPr>
        <p:txBody>
          <a:bodyPr numCol="2">
            <a:normAutofit/>
          </a:bodyPr>
          <a:lstStyle/>
          <a:p>
            <a:r>
              <a:rPr lang="en-US" sz="1800"/>
              <a:t>Status_one</a:t>
            </a:r>
          </a:p>
          <a:p>
            <a:pPr lvl="1"/>
            <a:r>
              <a:rPr lang="en-US" sz="1600"/>
              <a:t>Inprocess // LO just create the Request</a:t>
            </a:r>
          </a:p>
          <a:p>
            <a:pPr lvl="1"/>
            <a:r>
              <a:rPr lang="en-US" sz="1600"/>
              <a:t>Approved // </a:t>
            </a:r>
          </a:p>
          <a:p>
            <a:pPr lvl="1"/>
            <a:r>
              <a:rPr lang="en-US" sz="1600"/>
              <a:t>Failed Iscore Customer</a:t>
            </a:r>
          </a:p>
          <a:p>
            <a:pPr lvl="1"/>
            <a:r>
              <a:rPr lang="en-US" sz="1600"/>
              <a:t>Failed Iscore Guarantor</a:t>
            </a:r>
          </a:p>
          <a:p>
            <a:pPr lvl="1"/>
            <a:r>
              <a:rPr lang="en-US" sz="1600"/>
              <a:t>Final Reject</a:t>
            </a:r>
          </a:p>
          <a:p>
            <a:pPr lvl="1"/>
            <a:r>
              <a:rPr lang="en-US" sz="1600"/>
              <a:t>Final Reject Guarantor</a:t>
            </a:r>
          </a:p>
          <a:p>
            <a:pPr lvl="1"/>
            <a:r>
              <a:rPr lang="en-US" sz="1600"/>
              <a:t>Reject // rejected by LO</a:t>
            </a:r>
          </a:p>
          <a:p>
            <a:pPr lvl="1"/>
            <a:r>
              <a:rPr lang="en-US" sz="1600"/>
              <a:t>Reject Guarantor</a:t>
            </a:r>
          </a:p>
          <a:p>
            <a:pPr lvl="1"/>
            <a:endParaRPr lang="en-US" sz="1600"/>
          </a:p>
          <a:p>
            <a:pPr lvl="1"/>
            <a:endParaRPr lang="en-US" sz="1600"/>
          </a:p>
          <a:p>
            <a:pPr lvl="1"/>
            <a:endParaRPr lang="en-US" sz="1600"/>
          </a:p>
          <a:p>
            <a:pPr lvl="1"/>
            <a:endParaRPr lang="en-US" sz="1600"/>
          </a:p>
          <a:p>
            <a:pPr lvl="1"/>
            <a:endParaRPr lang="en-US" sz="1600"/>
          </a:p>
          <a:p>
            <a:pPr lvl="1"/>
            <a:endParaRPr lang="en-US" sz="1600"/>
          </a:p>
          <a:p>
            <a:pPr marL="450000" lvl="1" indent="0">
              <a:buNone/>
            </a:pPr>
            <a:endParaRPr lang="en-US" sz="1600"/>
          </a:p>
          <a:p>
            <a:r>
              <a:rPr lang="en-US" sz="1800"/>
              <a:t>Status_two</a:t>
            </a:r>
          </a:p>
          <a:p>
            <a:pPr lvl="1"/>
            <a:r>
              <a:rPr lang="en-US" sz="1600" b="1">
                <a:solidFill>
                  <a:srgbClr val="FFFF00"/>
                </a:solidFill>
              </a:rPr>
              <a:t>R111: </a:t>
            </a:r>
            <a:r>
              <a:rPr lang="ar-EG" sz="1600" b="1">
                <a:solidFill>
                  <a:srgbClr val="FFFF00"/>
                </a:solidFill>
              </a:rPr>
              <a:t>طلب التمويل</a:t>
            </a:r>
          </a:p>
          <a:p>
            <a:pPr lvl="1"/>
            <a:r>
              <a:rPr lang="en-US" sz="1600" b="1">
                <a:solidFill>
                  <a:srgbClr val="FFFF00"/>
                </a:solidFill>
              </a:rPr>
              <a:t>CO1010: </a:t>
            </a:r>
            <a:r>
              <a:rPr lang="ar-EG" sz="1600" b="1">
                <a:solidFill>
                  <a:srgbClr val="FFFF00"/>
                </a:solidFill>
              </a:rPr>
              <a:t>مراجعة اولية</a:t>
            </a:r>
            <a:endParaRPr lang="en-US" sz="1600" b="1">
              <a:solidFill>
                <a:srgbClr val="FFFF00"/>
              </a:solidFill>
            </a:endParaRPr>
          </a:p>
          <a:p>
            <a:pPr lvl="1"/>
            <a:r>
              <a:rPr lang="en-US" sz="1600" b="1">
                <a:solidFill>
                  <a:srgbClr val="FFFF00"/>
                </a:solidFill>
              </a:rPr>
              <a:t>CO1311: </a:t>
            </a:r>
            <a:r>
              <a:rPr lang="ar-EG" sz="1600" b="1">
                <a:solidFill>
                  <a:srgbClr val="FFFF00"/>
                </a:solidFill>
              </a:rPr>
              <a:t>زيارة ميدانية</a:t>
            </a:r>
            <a:endParaRPr lang="en-US" sz="1600" b="1">
              <a:solidFill>
                <a:srgbClr val="FFFF00"/>
              </a:solidFill>
            </a:endParaRPr>
          </a:p>
          <a:p>
            <a:pPr lvl="1"/>
            <a:r>
              <a:rPr lang="en-US" sz="1600" b="1">
                <a:solidFill>
                  <a:srgbClr val="FFFF00"/>
                </a:solidFill>
              </a:rPr>
              <a:t>CA1211: </a:t>
            </a:r>
            <a:r>
              <a:rPr lang="ar-EG" sz="1600" b="1">
                <a:solidFill>
                  <a:srgbClr val="FFFF00"/>
                </a:solidFill>
              </a:rPr>
              <a:t>تحليل ائتماني</a:t>
            </a:r>
            <a:endParaRPr lang="en-US" sz="1600" b="1">
              <a:solidFill>
                <a:srgbClr val="FFFF00"/>
              </a:solidFill>
            </a:endParaRPr>
          </a:p>
          <a:p>
            <a:pPr lvl="1"/>
            <a:r>
              <a:rPr lang="en-US" sz="1600" b="1">
                <a:solidFill>
                  <a:srgbClr val="FFFF00"/>
                </a:solidFill>
              </a:rPr>
              <a:t>DU77: </a:t>
            </a:r>
            <a:r>
              <a:rPr lang="ar-EG" sz="1600" b="1">
                <a:solidFill>
                  <a:srgbClr val="FFFF00"/>
                </a:solidFill>
              </a:rPr>
              <a:t>تحميل مستندات</a:t>
            </a:r>
            <a:endParaRPr lang="en-US" sz="1600" b="1">
              <a:solidFill>
                <a:srgbClr val="FFFF00"/>
              </a:solidFill>
            </a:endParaRPr>
          </a:p>
          <a:p>
            <a:pPr lvl="1"/>
            <a:r>
              <a:rPr lang="en-US" sz="1600" b="1">
                <a:solidFill>
                  <a:srgbClr val="FFFF00"/>
                </a:solidFill>
              </a:rPr>
              <a:t>LR55: </a:t>
            </a:r>
            <a:r>
              <a:rPr lang="ar-EG" sz="1600" b="1">
                <a:solidFill>
                  <a:srgbClr val="FFFF00"/>
                </a:solidFill>
              </a:rPr>
              <a:t>مراجعة مركزية</a:t>
            </a:r>
            <a:endParaRPr lang="en-US" sz="1600" b="1">
              <a:solidFill>
                <a:srgbClr val="FFFF00"/>
              </a:solidFill>
            </a:endParaRPr>
          </a:p>
          <a:p>
            <a:pPr lvl="1"/>
            <a:r>
              <a:rPr lang="en-US" sz="1600" b="1">
                <a:solidFill>
                  <a:srgbClr val="FFFF00"/>
                </a:solidFill>
              </a:rPr>
              <a:t>BMSC66: </a:t>
            </a:r>
            <a:r>
              <a:rPr lang="ar-EG" sz="1600" b="1">
                <a:solidFill>
                  <a:srgbClr val="FFFF00"/>
                </a:solidFill>
              </a:rPr>
              <a:t>إتمام توقيع</a:t>
            </a:r>
            <a:endParaRPr lang="en-US" sz="1600" b="1">
              <a:solidFill>
                <a:srgbClr val="FFFF00"/>
              </a:solidFill>
            </a:endParaRPr>
          </a:p>
        </p:txBody>
      </p:sp>
    </p:spTree>
    <p:extLst>
      <p:ext uri="{BB962C8B-B14F-4D97-AF65-F5344CB8AC3E}">
        <p14:creationId xmlns:p14="http://schemas.microsoft.com/office/powerpoint/2010/main" val="12236050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E090C5-E7A3-ADD3-9AFE-2AC8BB08055A}"/>
              </a:ext>
            </a:extLst>
          </p:cNvPr>
          <p:cNvSpPr>
            <a:spLocks noGrp="1"/>
          </p:cNvSpPr>
          <p:nvPr>
            <p:ph type="title"/>
          </p:nvPr>
        </p:nvSpPr>
        <p:spPr>
          <a:xfrm>
            <a:off x="913795" y="0"/>
            <a:ext cx="10353762" cy="682487"/>
          </a:xfrm>
        </p:spPr>
        <p:txBody>
          <a:bodyPr>
            <a:normAutofit fontScale="90000"/>
          </a:bodyPr>
          <a:lstStyle/>
          <a:p>
            <a:r>
              <a:rPr lang="en-US" b="1">
                <a:solidFill>
                  <a:srgbClr val="FFFF00"/>
                </a:solidFill>
              </a:rPr>
              <a:t>TDWF.</a:t>
            </a:r>
            <a:r>
              <a:rPr lang="en-US" b="1">
                <a:solidFill>
                  <a:srgbClr val="FF0000"/>
                </a:solidFill>
              </a:rPr>
              <a:t>Flow_Request_Deportation [cont. 2]</a:t>
            </a:r>
            <a:endParaRPr lang="en-US"/>
          </a:p>
        </p:txBody>
      </p:sp>
      <p:sp>
        <p:nvSpPr>
          <p:cNvPr id="3" name="Content Placeholder 2">
            <a:extLst>
              <a:ext uri="{FF2B5EF4-FFF2-40B4-BE49-F238E27FC236}">
                <a16:creationId xmlns:a16="http://schemas.microsoft.com/office/drawing/2014/main" id="{8FE51947-09CC-8830-531D-1A275859978C}"/>
              </a:ext>
            </a:extLst>
          </p:cNvPr>
          <p:cNvSpPr>
            <a:spLocks noGrp="1"/>
          </p:cNvSpPr>
          <p:nvPr>
            <p:ph idx="1"/>
          </p:nvPr>
        </p:nvSpPr>
        <p:spPr>
          <a:xfrm>
            <a:off x="99392" y="682487"/>
            <a:ext cx="11986592" cy="6026426"/>
          </a:xfrm>
        </p:spPr>
        <p:txBody>
          <a:bodyPr/>
          <a:lstStyle/>
          <a:p>
            <a:r>
              <a:rPr lang="en-US" sz="2400"/>
              <a:t>After funding request is done via LO first time</a:t>
            </a:r>
          </a:p>
          <a:p>
            <a:pPr lvl="1"/>
            <a:r>
              <a:rPr lang="en-US"/>
              <a:t>UserId_from= 10837  // the LO Id</a:t>
            </a:r>
          </a:p>
          <a:p>
            <a:pPr lvl="1"/>
            <a:r>
              <a:rPr lang="en-US"/>
              <a:t>UserId_to = 10837    // the LO id</a:t>
            </a:r>
          </a:p>
          <a:p>
            <a:pPr lvl="1"/>
            <a:r>
              <a:rPr lang="en-US"/>
              <a:t>Name_step_from  : </a:t>
            </a:r>
            <a:r>
              <a:rPr lang="ar-EG"/>
              <a:t>طلب تمويل</a:t>
            </a:r>
          </a:p>
          <a:p>
            <a:pPr lvl="1"/>
            <a:r>
              <a:rPr lang="en-US"/>
              <a:t>Name_step_to:	 </a:t>
            </a:r>
            <a:r>
              <a:rPr lang="ar-EG"/>
              <a:t>طلب تمويل</a:t>
            </a:r>
            <a:endParaRPr lang="en-US"/>
          </a:p>
          <a:p>
            <a:pPr lvl="1"/>
            <a:r>
              <a:rPr lang="en-US"/>
              <a:t>Code_action (from: Flow_Actions): Null</a:t>
            </a:r>
          </a:p>
          <a:p>
            <a:pPr lvl="1"/>
            <a:r>
              <a:rPr lang="en-US"/>
              <a:t>Type_code: [ </a:t>
            </a:r>
            <a:r>
              <a:rPr lang="en-US" b="1"/>
              <a:t>1: </a:t>
            </a:r>
            <a:r>
              <a:rPr lang="ar-EG" b="1"/>
              <a:t>مسار عمل  صغير</a:t>
            </a:r>
            <a:r>
              <a:rPr lang="en-US" b="1"/>
              <a:t> ] , [ 2 : </a:t>
            </a:r>
            <a:r>
              <a:rPr lang="ar-EG" b="1"/>
              <a:t>مسار عمل كبير</a:t>
            </a:r>
            <a:r>
              <a:rPr lang="en-US" b="1"/>
              <a:t> ]</a:t>
            </a:r>
            <a:endParaRPr lang="en-US"/>
          </a:p>
          <a:p>
            <a:pPr lvl="1"/>
            <a:r>
              <a:rPr lang="en-US"/>
              <a:t>Status_one: Inprocess</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a:t>
            </a:r>
            <a:endParaRPr lang="en-US" b="1">
              <a:solidFill>
                <a:srgbClr val="FFFF00"/>
              </a:solidFill>
            </a:endParaRPr>
          </a:p>
        </p:txBody>
      </p:sp>
    </p:spTree>
    <p:extLst>
      <p:ext uri="{BB962C8B-B14F-4D97-AF65-F5344CB8AC3E}">
        <p14:creationId xmlns:p14="http://schemas.microsoft.com/office/powerpoint/2010/main" val="17699474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FA27DE2-55AF-7B22-3B9B-3548E0D603CE}"/>
              </a:ext>
            </a:extLst>
          </p:cNvPr>
          <p:cNvSpPr>
            <a:spLocks noGrp="1"/>
          </p:cNvSpPr>
          <p:nvPr>
            <p:ph idx="1"/>
          </p:nvPr>
        </p:nvSpPr>
        <p:spPr>
          <a:xfrm>
            <a:off x="278296" y="586409"/>
            <a:ext cx="11787808" cy="6122504"/>
          </a:xfrm>
        </p:spPr>
        <p:txBody>
          <a:bodyPr/>
          <a:lstStyle/>
          <a:p>
            <a:r>
              <a:rPr lang="en-US"/>
              <a:t>After funding request is save and send VIA LO </a:t>
            </a:r>
            <a:r>
              <a:rPr lang="ar-EG"/>
              <a:t>حفظ وإرسال</a:t>
            </a:r>
          </a:p>
          <a:p>
            <a:pPr lvl="1"/>
            <a:r>
              <a:rPr lang="en-US"/>
              <a:t>UserId_from= 1132  // the LO Id</a:t>
            </a:r>
          </a:p>
          <a:p>
            <a:pPr lvl="1"/>
            <a:r>
              <a:rPr lang="en-US"/>
              <a:t>UserId_to = 1152    // the CO id that request is sent for </a:t>
            </a:r>
          </a:p>
          <a:p>
            <a:pPr lvl="1"/>
            <a:r>
              <a:rPr lang="en-US"/>
              <a:t>Name_step_from  : </a:t>
            </a:r>
            <a:r>
              <a:rPr lang="ar-EG"/>
              <a:t>طلب تمويل</a:t>
            </a:r>
          </a:p>
          <a:p>
            <a:pPr lvl="1"/>
            <a:r>
              <a:rPr lang="en-US"/>
              <a:t>Name_step_to:	 </a:t>
            </a:r>
            <a:r>
              <a:rPr lang="ar-EG"/>
              <a:t>مراجعة أولية</a:t>
            </a:r>
            <a:endParaRPr lang="en-US"/>
          </a:p>
          <a:p>
            <a:pPr lvl="1"/>
            <a:r>
              <a:rPr lang="en-US"/>
              <a:t>Code_action (from: Flow_Actions): </a:t>
            </a:r>
            <a:r>
              <a:rPr lang="ar-EG"/>
              <a:t>1</a:t>
            </a:r>
            <a:r>
              <a:rPr lang="en-US"/>
              <a:t>  </a:t>
            </a:r>
            <a:r>
              <a:rPr lang="ar-EG"/>
              <a:t>الأكشن حصل خلال طلب التمويل</a:t>
            </a:r>
            <a:endParaRPr lang="en-US"/>
          </a:p>
          <a:p>
            <a:pPr lvl="1"/>
            <a:r>
              <a:rPr lang="en-US"/>
              <a:t>Status_one: Approved // means the Name_step_from  : </a:t>
            </a:r>
            <a:r>
              <a:rPr lang="ar-EG"/>
              <a:t>طلب تمويل</a:t>
            </a:r>
            <a:r>
              <a:rPr lang="en-US"/>
              <a:t> is approved</a:t>
            </a:r>
          </a:p>
          <a:p>
            <a:pPr lvl="1"/>
            <a:r>
              <a:rPr lang="en-US"/>
              <a:t>Status_two: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ar-EG"/>
          </a:p>
          <a:p>
            <a:endParaRPr lang="en-US"/>
          </a:p>
          <a:p>
            <a:endParaRPr lang="en-US"/>
          </a:p>
        </p:txBody>
      </p:sp>
      <p:sp>
        <p:nvSpPr>
          <p:cNvPr id="5" name="Title 1">
            <a:extLst>
              <a:ext uri="{FF2B5EF4-FFF2-40B4-BE49-F238E27FC236}">
                <a16:creationId xmlns:a16="http://schemas.microsoft.com/office/drawing/2014/main" id="{7336299F-1866-0CB9-303D-8088B6F39CD1}"/>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TDWF.</a:t>
            </a:r>
            <a:r>
              <a:rPr lang="en-US" b="1">
                <a:solidFill>
                  <a:srgbClr val="FF0000"/>
                </a:solidFill>
              </a:rPr>
              <a:t>Flow_Request_Deportation [cont. 3]</a:t>
            </a:r>
            <a:endParaRPr lang="en-US"/>
          </a:p>
        </p:txBody>
      </p:sp>
    </p:spTree>
    <p:extLst>
      <p:ext uri="{BB962C8B-B14F-4D97-AF65-F5344CB8AC3E}">
        <p14:creationId xmlns:p14="http://schemas.microsoft.com/office/powerpoint/2010/main" val="282056137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74DD2-B8C5-524E-2EB8-D7F58338F8FC}"/>
              </a:ext>
            </a:extLst>
          </p:cNvPr>
          <p:cNvSpPr>
            <a:spLocks noGrp="1"/>
          </p:cNvSpPr>
          <p:nvPr>
            <p:ph type="title"/>
          </p:nvPr>
        </p:nvSpPr>
        <p:spPr>
          <a:xfrm>
            <a:off x="913795" y="0"/>
            <a:ext cx="10353762" cy="727587"/>
          </a:xfrm>
        </p:spPr>
        <p:txBody>
          <a:bodyPr/>
          <a:lstStyle/>
          <a:p>
            <a:r>
              <a:rPr lang="en-US" b="1">
                <a:solidFill>
                  <a:srgbClr val="FFFF00"/>
                </a:solidFill>
              </a:rPr>
              <a:t>TDWF.</a:t>
            </a:r>
            <a:r>
              <a:rPr lang="en-US" b="1">
                <a:solidFill>
                  <a:srgbClr val="FF0000"/>
                </a:solidFill>
              </a:rPr>
              <a:t>Flow_Request_Deportation [cont. 4]</a:t>
            </a:r>
            <a:endParaRPr lang="en-US"/>
          </a:p>
        </p:txBody>
      </p:sp>
      <p:sp>
        <p:nvSpPr>
          <p:cNvPr id="3" name="Content Placeholder 2">
            <a:extLst>
              <a:ext uri="{FF2B5EF4-FFF2-40B4-BE49-F238E27FC236}">
                <a16:creationId xmlns:a16="http://schemas.microsoft.com/office/drawing/2014/main" id="{5602215C-C6E0-6DF3-213A-363721EB5E9A}"/>
              </a:ext>
            </a:extLst>
          </p:cNvPr>
          <p:cNvSpPr>
            <a:spLocks noGrp="1"/>
          </p:cNvSpPr>
          <p:nvPr>
            <p:ph idx="1"/>
          </p:nvPr>
        </p:nvSpPr>
        <p:spPr>
          <a:xfrm>
            <a:off x="285134" y="727587"/>
            <a:ext cx="11297265" cy="5938684"/>
          </a:xfrm>
        </p:spPr>
        <p:txBody>
          <a:bodyPr/>
          <a:lstStyle/>
          <a:p>
            <a:r>
              <a:rPr lang="en-US"/>
              <a:t>After funding request is </a:t>
            </a:r>
            <a:r>
              <a:rPr lang="en-US" b="1">
                <a:solidFill>
                  <a:srgbClr val="FF0000"/>
                </a:solidFill>
              </a:rPr>
              <a:t>Rejected</a:t>
            </a:r>
            <a:r>
              <a:rPr lang="en-US"/>
              <a:t> VIA CO </a:t>
            </a:r>
            <a:r>
              <a:rPr lang="ar-EG" b="1">
                <a:solidFill>
                  <a:srgbClr val="FF0000"/>
                </a:solidFill>
              </a:rPr>
              <a:t>رفض</a:t>
            </a:r>
          </a:p>
          <a:p>
            <a:pPr lvl="1"/>
            <a:r>
              <a:rPr lang="en-US"/>
              <a:t>UserId_from= 1132  // the LO Id</a:t>
            </a:r>
          </a:p>
          <a:p>
            <a:pPr lvl="1"/>
            <a:r>
              <a:rPr lang="en-US"/>
              <a:t>UserId_to = 1132    //</a:t>
            </a:r>
          </a:p>
          <a:p>
            <a:pPr lvl="1"/>
            <a:r>
              <a:rPr lang="en-US"/>
              <a:t>Name_step_from  : </a:t>
            </a:r>
            <a:r>
              <a:rPr lang="ar-EG"/>
              <a:t>مراجعة أولية</a:t>
            </a:r>
          </a:p>
          <a:p>
            <a:pPr lvl="1"/>
            <a:r>
              <a:rPr lang="en-US"/>
              <a:t>Name_step_to:	 </a:t>
            </a:r>
            <a:r>
              <a:rPr lang="ar-EG"/>
              <a:t>طلب التمويل</a:t>
            </a:r>
            <a:endParaRPr lang="en-US"/>
          </a:p>
          <a:p>
            <a:pPr lvl="1"/>
            <a:r>
              <a:rPr lang="en-US"/>
              <a:t>Code_action (from: Flow_Actions): </a:t>
            </a:r>
            <a:r>
              <a:rPr lang="ar-EG" sz="2000" b="1">
                <a:solidFill>
                  <a:srgbClr val="FFFF00"/>
                </a:solidFill>
              </a:rPr>
              <a:t>2</a:t>
            </a:r>
            <a:r>
              <a:rPr lang="en-US"/>
              <a:t>  </a:t>
            </a:r>
            <a:r>
              <a:rPr lang="ar-EG"/>
              <a:t>الأكشن حصل خلال المراجعة الأولية</a:t>
            </a:r>
            <a:endParaRPr lang="en-US"/>
          </a:p>
          <a:p>
            <a:pPr lvl="1"/>
            <a:r>
              <a:rPr lang="en-US"/>
              <a:t>Status_one: </a:t>
            </a:r>
            <a:r>
              <a:rPr lang="en-US" b="1">
                <a:solidFill>
                  <a:srgbClr val="00B0F0"/>
                </a:solidFill>
              </a:rPr>
              <a:t>Reject</a:t>
            </a:r>
            <a:r>
              <a:rPr lang="en-US"/>
              <a:t> // means the Name_step_from  : </a:t>
            </a:r>
            <a:r>
              <a:rPr lang="ar-EG"/>
              <a:t>مراجعة أولية</a:t>
            </a:r>
            <a:r>
              <a:rPr lang="en-US"/>
              <a:t> is rejected</a:t>
            </a:r>
          </a:p>
          <a:p>
            <a:pPr lvl="1"/>
            <a:r>
              <a:rPr lang="en-US"/>
              <a:t>Status_two: </a:t>
            </a:r>
            <a:r>
              <a:rPr lang="en-US" b="1">
                <a:solidFill>
                  <a:srgbClr val="FFFF00"/>
                </a:solidFill>
              </a:rPr>
              <a:t>R111 (</a:t>
            </a:r>
            <a:r>
              <a:rPr lang="ar-EG" b="1">
                <a:solidFill>
                  <a:srgbClr val="FFFF00"/>
                </a:solidFill>
              </a:rPr>
              <a:t>طلب التمويل</a:t>
            </a:r>
            <a:r>
              <a:rPr lang="en-US" b="1">
                <a:solidFill>
                  <a:srgbClr val="FFFF00"/>
                </a:solidFill>
              </a:rPr>
              <a:t>) // </a:t>
            </a:r>
            <a:r>
              <a:rPr lang="ar-EG" b="1">
                <a:solidFill>
                  <a:srgbClr val="FFFF00"/>
                </a:solidFill>
              </a:rPr>
              <a:t>المرحلة الحالية</a:t>
            </a:r>
            <a:endParaRPr lang="ar-EG"/>
          </a:p>
          <a:p>
            <a:endParaRPr lang="en-US"/>
          </a:p>
        </p:txBody>
      </p:sp>
    </p:spTree>
    <p:extLst>
      <p:ext uri="{BB962C8B-B14F-4D97-AF65-F5344CB8AC3E}">
        <p14:creationId xmlns:p14="http://schemas.microsoft.com/office/powerpoint/2010/main" val="38431876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624FBF-F0BB-774C-FD4E-6A182D98FC28}"/>
              </a:ext>
            </a:extLst>
          </p:cNvPr>
          <p:cNvSpPr>
            <a:spLocks noGrp="1"/>
          </p:cNvSpPr>
          <p:nvPr>
            <p:ph type="title"/>
          </p:nvPr>
        </p:nvSpPr>
        <p:spPr>
          <a:xfrm>
            <a:off x="913795" y="0"/>
            <a:ext cx="10353762" cy="619432"/>
          </a:xfrm>
        </p:spPr>
        <p:txBody>
          <a:bodyPr>
            <a:normAutofit fontScale="90000"/>
          </a:bodyPr>
          <a:lstStyle/>
          <a:p>
            <a:r>
              <a:rPr lang="en-US" b="1">
                <a:solidFill>
                  <a:srgbClr val="FFFF00"/>
                </a:solidFill>
              </a:rPr>
              <a:t>TDWF</a:t>
            </a:r>
            <a:r>
              <a:rPr lang="en-US"/>
              <a:t>.</a:t>
            </a:r>
            <a:r>
              <a:rPr lang="en-US" b="1">
                <a:solidFill>
                  <a:srgbClr val="FF0000"/>
                </a:solidFill>
              </a:rPr>
              <a:t>Flow_Rejections_main</a:t>
            </a:r>
          </a:p>
        </p:txBody>
      </p:sp>
      <p:sp>
        <p:nvSpPr>
          <p:cNvPr id="3" name="Content Placeholder 2">
            <a:extLst>
              <a:ext uri="{FF2B5EF4-FFF2-40B4-BE49-F238E27FC236}">
                <a16:creationId xmlns:a16="http://schemas.microsoft.com/office/drawing/2014/main" id="{36DA3D8E-EFB8-1022-10D0-BA8027151160}"/>
              </a:ext>
            </a:extLst>
          </p:cNvPr>
          <p:cNvSpPr>
            <a:spLocks noGrp="1"/>
          </p:cNvSpPr>
          <p:nvPr>
            <p:ph idx="1"/>
          </p:nvPr>
        </p:nvSpPr>
        <p:spPr>
          <a:xfrm>
            <a:off x="913794" y="619432"/>
            <a:ext cx="10904579" cy="5928851"/>
          </a:xfrm>
        </p:spPr>
        <p:txBody>
          <a:bodyPr/>
          <a:lstStyle/>
          <a:p>
            <a:r>
              <a:rPr lang="en-US" sz="2400" b="1">
                <a:solidFill>
                  <a:srgbClr val="FF0000"/>
                </a:solidFill>
              </a:rPr>
              <a:t>After request is rejected via CO </a:t>
            </a:r>
            <a:r>
              <a:rPr lang="ar-EG" sz="2400" b="1">
                <a:solidFill>
                  <a:srgbClr val="FF0000"/>
                </a:solidFill>
              </a:rPr>
              <a:t>رفض</a:t>
            </a:r>
            <a:endParaRPr lang="en-US" sz="2400" b="1">
              <a:solidFill>
                <a:srgbClr val="FF0000"/>
              </a:solidFill>
            </a:endParaRPr>
          </a:p>
          <a:p>
            <a:endParaRPr lang="en-US"/>
          </a:p>
          <a:p>
            <a:endParaRPr lang="en-US"/>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2489808205"/>
              </p:ext>
            </p:extLst>
          </p:nvPr>
        </p:nvGraphicFramePr>
        <p:xfrm>
          <a:off x="7590500" y="965472"/>
          <a:ext cx="4601500" cy="1752600"/>
        </p:xfrm>
        <a:graphic>
          <a:graphicData uri="http://schemas.openxmlformats.org/drawingml/2006/table">
            <a:tbl>
              <a:tblPr firstRow="1" bandRow="1">
                <a:tableStyleId>{5C22544A-7EE6-4342-B048-85BDC9FD1C3A}</a:tableStyleId>
              </a:tblPr>
              <a:tblGrid>
                <a:gridCol w="2300750">
                  <a:extLst>
                    <a:ext uri="{9D8B030D-6E8A-4147-A177-3AD203B41FA5}">
                      <a16:colId xmlns:a16="http://schemas.microsoft.com/office/drawing/2014/main" val="953148366"/>
                    </a:ext>
                  </a:extLst>
                </a:gridCol>
                <a:gridCol w="2300750">
                  <a:extLst>
                    <a:ext uri="{9D8B030D-6E8A-4147-A177-3AD203B41FA5}">
                      <a16:colId xmlns:a16="http://schemas.microsoft.com/office/drawing/2014/main" val="1910439298"/>
                    </a:ext>
                  </a:extLst>
                </a:gridCol>
              </a:tblGrid>
              <a:tr h="37084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70840">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70840">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70840">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graphicFrame>
        <p:nvGraphicFramePr>
          <p:cNvPr id="5" name="Table 4">
            <a:extLst>
              <a:ext uri="{FF2B5EF4-FFF2-40B4-BE49-F238E27FC236}">
                <a16:creationId xmlns:a16="http://schemas.microsoft.com/office/drawing/2014/main" id="{406FBB2F-FC2B-611E-BCA7-6481DF9C3673}"/>
              </a:ext>
            </a:extLst>
          </p:cNvPr>
          <p:cNvGraphicFramePr>
            <a:graphicFrameLocks noGrp="1"/>
          </p:cNvGraphicFramePr>
          <p:nvPr>
            <p:extLst>
              <p:ext uri="{D42A27DB-BD31-4B8C-83A1-F6EECF244321}">
                <p14:modId xmlns:p14="http://schemas.microsoft.com/office/powerpoint/2010/main" val="2891636773"/>
              </p:ext>
            </p:extLst>
          </p:nvPr>
        </p:nvGraphicFramePr>
        <p:xfrm>
          <a:off x="102829" y="2966664"/>
          <a:ext cx="11794203" cy="741680"/>
        </p:xfrm>
        <a:graphic>
          <a:graphicData uri="http://schemas.openxmlformats.org/drawingml/2006/table">
            <a:tbl>
              <a:tblPr firstRow="1" bandRow="1">
                <a:tableStyleId>{5C22544A-7EE6-4342-B048-85BDC9FD1C3A}</a:tableStyleId>
              </a:tblPr>
              <a:tblGrid>
                <a:gridCol w="1651099">
                  <a:extLst>
                    <a:ext uri="{9D8B030D-6E8A-4147-A177-3AD203B41FA5}">
                      <a16:colId xmlns:a16="http://schemas.microsoft.com/office/drawing/2014/main" val="2510266671"/>
                    </a:ext>
                  </a:extLst>
                </a:gridCol>
                <a:gridCol w="1964600">
                  <a:extLst>
                    <a:ext uri="{9D8B030D-6E8A-4147-A177-3AD203B41FA5}">
                      <a16:colId xmlns:a16="http://schemas.microsoft.com/office/drawing/2014/main" val="3238377372"/>
                    </a:ext>
                  </a:extLst>
                </a:gridCol>
                <a:gridCol w="1421199">
                  <a:extLst>
                    <a:ext uri="{9D8B030D-6E8A-4147-A177-3AD203B41FA5}">
                      <a16:colId xmlns:a16="http://schemas.microsoft.com/office/drawing/2014/main" val="1594916714"/>
                    </a:ext>
                  </a:extLst>
                </a:gridCol>
                <a:gridCol w="2946897">
                  <a:extLst>
                    <a:ext uri="{9D8B030D-6E8A-4147-A177-3AD203B41FA5}">
                      <a16:colId xmlns:a16="http://schemas.microsoft.com/office/drawing/2014/main" val="396291970"/>
                    </a:ext>
                  </a:extLst>
                </a:gridCol>
                <a:gridCol w="1995949">
                  <a:extLst>
                    <a:ext uri="{9D8B030D-6E8A-4147-A177-3AD203B41FA5}">
                      <a16:colId xmlns:a16="http://schemas.microsoft.com/office/drawing/2014/main" val="2006853344"/>
                    </a:ext>
                  </a:extLst>
                </a:gridCol>
                <a:gridCol w="1814459">
                  <a:extLst>
                    <a:ext uri="{9D8B030D-6E8A-4147-A177-3AD203B41FA5}">
                      <a16:colId xmlns:a16="http://schemas.microsoft.com/office/drawing/2014/main" val="2181801146"/>
                    </a:ext>
                  </a:extLst>
                </a:gridCol>
              </a:tblGrid>
              <a:tr h="370840">
                <a:tc>
                  <a:txBody>
                    <a:bodyPr/>
                    <a:lstStyle/>
                    <a:p>
                      <a:r>
                        <a:rPr lang="en-US"/>
                        <a:t>UserId</a:t>
                      </a:r>
                    </a:p>
                  </a:txBody>
                  <a:tcPr/>
                </a:tc>
                <a:tc>
                  <a:txBody>
                    <a:bodyPr/>
                    <a:lstStyle/>
                    <a:p>
                      <a:r>
                        <a:rPr lang="en-US"/>
                        <a:t>Reject_by_phase</a:t>
                      </a:r>
                    </a:p>
                  </a:txBody>
                  <a:tcPr/>
                </a:tc>
                <a:tc>
                  <a:txBody>
                    <a:bodyPr/>
                    <a:lstStyle/>
                    <a:p>
                      <a:r>
                        <a:rPr lang="en-US"/>
                        <a:t>Request_id</a:t>
                      </a:r>
                    </a:p>
                  </a:txBody>
                  <a:tcPr/>
                </a:tc>
                <a:tc>
                  <a:txBody>
                    <a:bodyPr/>
                    <a:lstStyle/>
                    <a:p>
                      <a:r>
                        <a:rPr lang="en-US"/>
                        <a:t>Remarks</a:t>
                      </a:r>
                    </a:p>
                  </a:txBody>
                  <a:tcPr/>
                </a:tc>
                <a:tc>
                  <a:txBody>
                    <a:bodyPr/>
                    <a:lstStyle/>
                    <a:p>
                      <a:r>
                        <a:rPr lang="en-US"/>
                        <a:t>InsertDate</a:t>
                      </a:r>
                    </a:p>
                  </a:txBody>
                  <a:tcPr/>
                </a:tc>
                <a:tc>
                  <a:txBody>
                    <a:bodyPr/>
                    <a:lstStyle/>
                    <a:p>
                      <a:r>
                        <a:rPr lang="en-US"/>
                        <a:t>Rejection_flag</a:t>
                      </a:r>
                    </a:p>
                  </a:txBody>
                  <a:tcPr/>
                </a:tc>
                <a:extLst>
                  <a:ext uri="{0D108BD9-81ED-4DB2-BD59-A6C34878D82A}">
                    <a16:rowId xmlns:a16="http://schemas.microsoft.com/office/drawing/2014/main" val="2813072921"/>
                  </a:ext>
                </a:extLst>
              </a:tr>
              <a:tr h="370840">
                <a:tc>
                  <a:txBody>
                    <a:bodyPr/>
                    <a:lstStyle/>
                    <a:p>
                      <a:r>
                        <a:rPr lang="en-US"/>
                        <a:t>1152  [ CO ]</a:t>
                      </a:r>
                    </a:p>
                  </a:txBody>
                  <a:tcPr/>
                </a:tc>
                <a:tc>
                  <a:txBody>
                    <a:bodyPr/>
                    <a:lstStyle/>
                    <a:p>
                      <a:r>
                        <a:rPr lang="en-US"/>
                        <a:t>CO1010</a:t>
                      </a:r>
                    </a:p>
                  </a:txBody>
                  <a:tcPr/>
                </a:tc>
                <a:tc>
                  <a:txBody>
                    <a:bodyPr/>
                    <a:lstStyle/>
                    <a:p>
                      <a:r>
                        <a:rPr lang="en-US"/>
                        <a:t>1565295</a:t>
                      </a:r>
                    </a:p>
                  </a:txBody>
                  <a:tcPr/>
                </a:tc>
                <a:tc>
                  <a:txBody>
                    <a:bodyPr/>
                    <a:lstStyle/>
                    <a:p>
                      <a:r>
                        <a:rPr lang="ar-EG" sz="1600"/>
                        <a:t>تم الرفض من مرحلة المراجعة الأولية</a:t>
                      </a:r>
                      <a:endParaRPr lang="en-US" sz="1600"/>
                    </a:p>
                  </a:txBody>
                  <a:tcPr/>
                </a:tc>
                <a:tc>
                  <a:txBody>
                    <a:bodyPr/>
                    <a:lstStyle/>
                    <a:p>
                      <a:r>
                        <a:rPr lang="en-US" sz="1600"/>
                        <a:t>2026-02-25 11:15:07</a:t>
                      </a:r>
                    </a:p>
                  </a:txBody>
                  <a:tcPr/>
                </a:tc>
                <a:tc>
                  <a:txBody>
                    <a:bodyPr/>
                    <a:lstStyle/>
                    <a:p>
                      <a:r>
                        <a:rPr lang="ar-EG"/>
                        <a:t>2</a:t>
                      </a:r>
                      <a:endParaRPr lang="en-US"/>
                    </a:p>
                  </a:txBody>
                  <a:tcPr/>
                </a:tc>
                <a:extLst>
                  <a:ext uri="{0D108BD9-81ED-4DB2-BD59-A6C34878D82A}">
                    <a16:rowId xmlns:a16="http://schemas.microsoft.com/office/drawing/2014/main" val="2372472528"/>
                  </a:ext>
                </a:extLst>
              </a:tr>
            </a:tbl>
          </a:graphicData>
        </a:graphic>
      </p:graphicFrame>
    </p:spTree>
    <p:extLst>
      <p:ext uri="{BB962C8B-B14F-4D97-AF65-F5344CB8AC3E}">
        <p14:creationId xmlns:p14="http://schemas.microsoft.com/office/powerpoint/2010/main" val="4147338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3AF15-2900-BCCD-BE8F-E2D58873E262}"/>
              </a:ext>
            </a:extLst>
          </p:cNvPr>
          <p:cNvSpPr>
            <a:spLocks noGrp="1"/>
          </p:cNvSpPr>
          <p:nvPr>
            <p:ph type="title"/>
          </p:nvPr>
        </p:nvSpPr>
        <p:spPr>
          <a:xfrm>
            <a:off x="913795" y="0"/>
            <a:ext cx="10353762" cy="648929"/>
          </a:xfrm>
        </p:spPr>
        <p:txBody>
          <a:bodyPr>
            <a:normAutofit/>
          </a:bodyPr>
          <a:lstStyle/>
          <a:p>
            <a:r>
              <a:rPr lang="en-US" sz="3200" b="1">
                <a:solidFill>
                  <a:srgbClr val="FFFF00"/>
                </a:solidFill>
              </a:rPr>
              <a:t>TDWF</a:t>
            </a:r>
            <a:r>
              <a:rPr lang="en-US" sz="3200"/>
              <a:t>.</a:t>
            </a:r>
            <a:r>
              <a:rPr lang="en-US" sz="3200" b="1">
                <a:solidFill>
                  <a:srgbClr val="FF0000"/>
                </a:solidFill>
              </a:rPr>
              <a:t>Flow_Rejections_SubOne</a:t>
            </a:r>
          </a:p>
        </p:txBody>
      </p:sp>
      <p:sp>
        <p:nvSpPr>
          <p:cNvPr id="3" name="Content Placeholder 2">
            <a:extLst>
              <a:ext uri="{FF2B5EF4-FFF2-40B4-BE49-F238E27FC236}">
                <a16:creationId xmlns:a16="http://schemas.microsoft.com/office/drawing/2014/main" id="{C8CE30A4-CBA1-C28D-BA06-F2D2F5A3F8D1}"/>
              </a:ext>
            </a:extLst>
          </p:cNvPr>
          <p:cNvSpPr>
            <a:spLocks noGrp="1"/>
          </p:cNvSpPr>
          <p:nvPr>
            <p:ph idx="1"/>
          </p:nvPr>
        </p:nvSpPr>
        <p:spPr>
          <a:xfrm>
            <a:off x="275302" y="648929"/>
            <a:ext cx="11690555" cy="6105832"/>
          </a:xfrm>
        </p:spPr>
        <p:txBody>
          <a:bodyPr/>
          <a:lstStyle/>
          <a:p>
            <a:r>
              <a:rPr lang="en-US"/>
              <a:t>FRSO_ID [PK]</a:t>
            </a:r>
          </a:p>
          <a:p>
            <a:r>
              <a:rPr lang="en-US"/>
              <a:t>tabs_code [FK] </a:t>
            </a:r>
            <a:r>
              <a:rPr lang="en-US" b="1">
                <a:solidFill>
                  <a:srgbClr val="FFFF00"/>
                </a:solidFill>
              </a:rPr>
              <a:t>from Flow_Tabs</a:t>
            </a:r>
          </a:p>
          <a:p>
            <a:r>
              <a:rPr lang="en-US"/>
              <a:t>Field_name</a:t>
            </a:r>
          </a:p>
          <a:p>
            <a:r>
              <a:rPr lang="en-US"/>
              <a:t>Field_code</a:t>
            </a:r>
          </a:p>
          <a:p>
            <a:r>
              <a:rPr lang="en-US"/>
              <a:t>UserId: the User who will receive the rejection</a:t>
            </a:r>
          </a:p>
          <a:p>
            <a:r>
              <a:rPr lang="en-US"/>
              <a:t>Phase_back_to: string </a:t>
            </a:r>
          </a:p>
          <a:p>
            <a:r>
              <a:rPr lang="en-US"/>
              <a:t>Comment: string</a:t>
            </a:r>
          </a:p>
          <a:p>
            <a:r>
              <a:rPr lang="en-US"/>
              <a:t>FRM_ID </a:t>
            </a:r>
            <a:r>
              <a:rPr lang="en-US">
                <a:solidFill>
                  <a:srgbClr val="FFFF00"/>
                </a:solidFill>
              </a:rPr>
              <a:t>[FK] from Flow_Rejection_Main</a:t>
            </a:r>
          </a:p>
          <a:p>
            <a:r>
              <a:rPr lang="en-US">
                <a:solidFill>
                  <a:srgbClr val="FFFF00"/>
                </a:solidFill>
              </a:rPr>
              <a:t> </a:t>
            </a:r>
          </a:p>
        </p:txBody>
      </p:sp>
    </p:spTree>
    <p:extLst>
      <p:ext uri="{BB962C8B-B14F-4D97-AF65-F5344CB8AC3E}">
        <p14:creationId xmlns:p14="http://schemas.microsoft.com/office/powerpoint/2010/main" val="25945814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94968" y="737419"/>
            <a:ext cx="11641393" cy="5909187"/>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a:t>
            </a:r>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377126" y="560439"/>
            <a:ext cx="4028294" cy="4198904"/>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a:t>
            </a:r>
          </a:p>
          <a:p>
            <a:endParaRPr lang="en-US"/>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6220836" y="648929"/>
            <a:ext cx="455531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25032" y="3429000"/>
            <a:ext cx="3805084" cy="369332"/>
          </a:xfrm>
          <a:prstGeom prst="rect">
            <a:avLst/>
          </a:prstGeom>
          <a:noFill/>
        </p:spPr>
        <p:txBody>
          <a:bodyPr wrap="square" rtlCol="0">
            <a:spAutoFit/>
          </a:bodyPr>
          <a:lstStyle/>
          <a:p>
            <a:r>
              <a:rPr lang="en-US"/>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919119" y="0"/>
            <a:ext cx="10353762" cy="752061"/>
          </a:xfrm>
        </p:spPr>
        <p:txBody>
          <a:bodyPr>
            <a:normAutofit/>
          </a:bodyPr>
          <a:lstStyle/>
          <a:p>
            <a:r>
              <a:rPr lang="en-US" b="1">
                <a:solidFill>
                  <a:srgbClr val="FFFF00"/>
                </a:solidFill>
              </a:rPr>
              <a:t>SWF</a:t>
            </a:r>
            <a:r>
              <a:rPr lang="en-US"/>
              <a:t>.</a:t>
            </a:r>
            <a:r>
              <a:rPr lang="en-US" b="1">
                <a:solidFill>
                  <a:srgbClr val="FF0000"/>
                </a:solidFill>
              </a:rPr>
              <a:t>Flow_Actions</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238538" y="752061"/>
            <a:ext cx="11767931" cy="6036365"/>
          </a:xfrm>
        </p:spPr>
        <p:txBody>
          <a:bodyPr/>
          <a:lstStyle/>
          <a:p>
            <a:r>
              <a:rPr lang="en-US"/>
              <a:t>Code_FA: int [PK, identity]</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397565" y="1598588"/>
            <a:ext cx="10614992" cy="3642006"/>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r>
              <a:rPr lang="en-US" sz="1800"/>
              <a:t>ICollection&lt;Flow_Actions&gt; Flow_Actions</a:t>
            </a:r>
          </a:p>
          <a:p>
            <a:r>
              <a:rPr lang="en-US" sz="1800"/>
              <a:t>ICollection&lt;Flow_Products&gt; Flow_Products</a:t>
            </a:r>
          </a:p>
          <a:p>
            <a:r>
              <a:rPr lang="en-US" sz="1800"/>
              <a:t>ICollection&lt;Flow_Tabs_available&gt; Flow_Tabs_available</a:t>
            </a:r>
          </a:p>
          <a:p>
            <a:r>
              <a:rPr lang="en-US" sz="1800"/>
              <a:t>ICollection&lt;Flow_Action_workflow&gt;  Flow_Action_workflow</a:t>
            </a:r>
          </a:p>
          <a:p>
            <a:r>
              <a:rPr lang="en-US" sz="1800"/>
              <a:t>ICollection&lt;Flow_Request_Deportation&gt; Flow_Request_Deportation</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lnSpcReduction="10000"/>
          </a:bodyPr>
          <a:lstStyle/>
          <a:p>
            <a:r>
              <a:rPr lang="en-US" sz="1700"/>
              <a:t>product</a:t>
            </a:r>
            <a:r>
              <a:rPr lang="en-US" sz="1700" err="1"/>
              <a:t>_Id</a:t>
            </a:r>
            <a:r>
              <a:rPr lang="en-US" sz="1700"/>
              <a:t>: int , </a:t>
            </a:r>
            <a:r>
              <a:rPr lang="en-US" sz="1700" b="1">
                <a:solidFill>
                  <a:srgbClr val="FFFF00"/>
                </a:solidFill>
              </a:rPr>
              <a:t>PK</a:t>
            </a:r>
          </a:p>
          <a:p>
            <a:r>
              <a:rPr lang="en-US" sz="1700" err="1"/>
              <a:t>Loan_code</a:t>
            </a:r>
            <a:r>
              <a:rPr lang="en-US" sz="1700"/>
              <a:t>: int</a:t>
            </a:r>
          </a:p>
          <a:p>
            <a:pPr lvl="1"/>
            <a:r>
              <a:rPr lang="en-US" sz="1500"/>
              <a:t>Not unique</a:t>
            </a:r>
          </a:p>
          <a:p>
            <a:r>
              <a:rPr lang="en-US" sz="1700"/>
              <a:t>Layer</a:t>
            </a:r>
            <a:r>
              <a:rPr lang="en-US" sz="1700" err="1"/>
              <a:t>_code</a:t>
            </a:r>
            <a:r>
              <a:rPr lang="en-US" sz="1700"/>
              <a:t>: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4562061" y="825937"/>
            <a:ext cx="7588564"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4562061" y="1602659"/>
            <a:ext cx="7629938"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4562060" y="2150209"/>
            <a:ext cx="7629939"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a:t>CustomerId </a:t>
            </a:r>
            <a:r>
              <a:rPr lang="en-US" b="1">
                <a:solidFill>
                  <a:srgbClr val="FFFF00"/>
                </a:solidFill>
              </a:rPr>
              <a:t>[PK]</a:t>
            </a:r>
          </a:p>
          <a:p>
            <a:r>
              <a:rPr lang="en-US" sz="1800"/>
              <a:t>creationUser [FK] from user</a:t>
            </a:r>
          </a:p>
          <a:p>
            <a:endParaRPr lang="en-US" b="1">
              <a:solidFill>
                <a:srgbClr val="FFFF00"/>
              </a:solidFill>
            </a:endParaRPr>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3480619" y="1548025"/>
            <a:ext cx="871138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3480619" y="2142876"/>
            <a:ext cx="871138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5262936" y="2732811"/>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7937055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a:bodyPr>
          <a:lstStyle/>
          <a:p>
            <a:r>
              <a:rPr lang="en-US" sz="1800"/>
              <a:t>Enterprise_ID [PK], [identity]</a:t>
            </a:r>
          </a:p>
          <a:p>
            <a:r>
              <a:rPr lang="en-US" sz="1800"/>
              <a:t>Code_Sector: </a:t>
            </a:r>
            <a:r>
              <a:rPr lang="ar-EG" b="1">
                <a:effectLst/>
              </a:rPr>
              <a:t>القطاع</a:t>
            </a:r>
            <a:r>
              <a:rPr lang="en-US" b="1">
                <a:effectLst/>
              </a:rPr>
              <a:t>: </a:t>
            </a:r>
            <a:r>
              <a:rPr lang="ar-EG" b="1">
                <a:effectLst/>
              </a:rPr>
              <a:t>تجاري</a:t>
            </a: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Nature_enterprise: </a:t>
            </a:r>
            <a:r>
              <a:rPr lang="ar-EG"/>
              <a:t>النشاط التجاري</a:t>
            </a:r>
          </a:p>
          <a:p>
            <a:r>
              <a:rPr lang="en-US"/>
              <a:t>Type_enterprise: </a:t>
            </a:r>
            <a:r>
              <a:rPr lang="ar-EG"/>
              <a:t>طبيعة المنشأة</a:t>
            </a:r>
            <a:endParaRPr lang="en-US"/>
          </a:p>
          <a:p>
            <a:r>
              <a:rPr lang="en-US"/>
              <a:t>Org_Id</a:t>
            </a:r>
          </a:p>
          <a:p>
            <a:endParaRPr lang="en-US"/>
          </a:p>
          <a:p>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5" name="Picture 4">
            <a:extLst>
              <a:ext uri="{FF2B5EF4-FFF2-40B4-BE49-F238E27FC236}">
                <a16:creationId xmlns:a16="http://schemas.microsoft.com/office/drawing/2014/main" id="{402484BB-426D-0F9D-C948-4107D86BA9A9}"/>
              </a:ext>
            </a:extLst>
          </p:cNvPr>
          <p:cNvPicPr>
            <a:picLocks noChangeAspect="1"/>
          </p:cNvPicPr>
          <p:nvPr/>
        </p:nvPicPr>
        <p:blipFill>
          <a:blip r:embed="rId2"/>
          <a:stretch>
            <a:fillRect/>
          </a:stretch>
        </p:blipFill>
        <p:spPr>
          <a:xfrm>
            <a:off x="3824748" y="2807862"/>
            <a:ext cx="8359700" cy="550606"/>
          </a:xfrm>
          <a:prstGeom prst="rect">
            <a:avLst/>
          </a:prstGeom>
        </p:spPr>
      </p:pic>
      <p:pic>
        <p:nvPicPr>
          <p:cNvPr id="7" name="Picture 6">
            <a:extLst>
              <a:ext uri="{FF2B5EF4-FFF2-40B4-BE49-F238E27FC236}">
                <a16:creationId xmlns:a16="http://schemas.microsoft.com/office/drawing/2014/main" id="{F2B73201-E84B-4641-692B-6663995EC0DE}"/>
              </a:ext>
            </a:extLst>
          </p:cNvPr>
          <p:cNvPicPr>
            <a:picLocks noChangeAspect="1"/>
          </p:cNvPicPr>
          <p:nvPr/>
        </p:nvPicPr>
        <p:blipFill>
          <a:blip r:embed="rId3"/>
          <a:stretch>
            <a:fillRect/>
          </a:stretch>
        </p:blipFill>
        <p:spPr>
          <a:xfrm>
            <a:off x="2654710" y="3499531"/>
            <a:ext cx="9537290" cy="460432"/>
          </a:xfrm>
          <a:prstGeom prst="rect">
            <a:avLst/>
          </a:prstGeom>
        </p:spPr>
      </p:pic>
    </p:spTree>
    <p:extLst>
      <p:ext uri="{BB962C8B-B14F-4D97-AF65-F5344CB8AC3E}">
        <p14:creationId xmlns:p14="http://schemas.microsoft.com/office/powerpoint/2010/main" val="33582424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137304196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a:t>
            </a:r>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43635075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[FK]</a:t>
            </a:r>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21206716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913795" y="471949"/>
            <a:ext cx="10353762" cy="5319252"/>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220926691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129308197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52313492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SWF</a:t>
            </a:r>
            <a:r>
              <a:rPr lang="en-US"/>
              <a:t>.</a:t>
            </a:r>
            <a:r>
              <a:rPr lang="en-US" b="1">
                <a:solidFill>
                  <a:srgbClr val="FF0000"/>
                </a:solidFill>
              </a:rPr>
              <a:t>Flow_districts</a:t>
            </a: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18156714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828287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4308980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278774" y="89082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p:txBody>
          <a:bodyPr/>
          <a:lstStyle/>
          <a:p>
            <a:r>
              <a:rPr lang="en-US" b="1">
                <a:solidFill>
                  <a:srgbClr val="FFFF00"/>
                </a:solidFill>
              </a:rPr>
              <a:t>Security</a:t>
            </a:r>
            <a:r>
              <a:rPr lang="en-US"/>
              <a:t>.</a:t>
            </a:r>
            <a:r>
              <a:rPr lang="en-US" b="1">
                <a:solidFill>
                  <a:srgbClr val="FF0000"/>
                </a:solidFill>
              </a:rPr>
              <a:t>SEC_Menu</a:t>
            </a:r>
            <a:endParaRPr lang="en-US"/>
          </a:p>
        </p:txBody>
      </p:sp>
      <p:pic>
        <p:nvPicPr>
          <p:cNvPr id="5" name="Content Placeholder 4">
            <a:extLst>
              <a:ext uri="{FF2B5EF4-FFF2-40B4-BE49-F238E27FC236}">
                <a16:creationId xmlns:a16="http://schemas.microsoft.com/office/drawing/2014/main" id="{A6EED765-6B26-3831-32AB-6C4D7F9CBE7E}"/>
              </a:ext>
            </a:extLst>
          </p:cNvPr>
          <p:cNvPicPr>
            <a:picLocks noGrp="1" noChangeAspect="1"/>
          </p:cNvPicPr>
          <p:nvPr>
            <p:ph idx="1"/>
          </p:nvPr>
        </p:nvPicPr>
        <p:blipFill>
          <a:blip r:embed="rId2"/>
          <a:stretch>
            <a:fillRect/>
          </a:stretch>
        </p:blipFill>
        <p:spPr>
          <a:xfrm>
            <a:off x="663301" y="1580050"/>
            <a:ext cx="7985453" cy="21955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353762" cy="626165"/>
          </a:xfrm>
        </p:spPr>
        <p:txBody>
          <a:bodyPr>
            <a:normAutofit fontScale="90000"/>
          </a:bodyPr>
          <a:lstStyle/>
          <a:p>
            <a:r>
              <a:rPr lang="en-US">
                <a:solidFill>
                  <a:srgbClr val="FFFF00"/>
                </a:solidFill>
              </a:rPr>
              <a:t>Trans</a:t>
            </a:r>
            <a:r>
              <a:rPr lang="en-US"/>
              <a:t>.</a:t>
            </a:r>
            <a:r>
              <a:rPr lang="en-US" b="1">
                <a:solidFill>
                  <a:srgbClr val="FF0000"/>
                </a:solidFill>
              </a:rPr>
              <a:t>Trans_BusDate [</a:t>
            </a:r>
            <a:r>
              <a:rPr lang="ar-EG"/>
              <a:t>تاريخ اليومية</a:t>
            </a:r>
            <a:r>
              <a:rPr lang="en-US" b="1">
                <a:solidFill>
                  <a:srgbClr val="FF0000"/>
                </a:solidFill>
              </a:rPr>
              <a:t>]</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3" y="983975"/>
            <a:ext cx="10959444" cy="4807226"/>
          </a:xfrm>
        </p:spPr>
        <p:txBody>
          <a:bodyPr/>
          <a:lstStyle/>
          <a:p>
            <a:r>
              <a:rPr lang="en-US"/>
              <a:t>Trans</a:t>
            </a:r>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8380822" y="2364465"/>
            <a:ext cx="2886735" cy="1932442"/>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lnSpcReduction="10000"/>
          </a:bodyPr>
          <a:lstStyle/>
          <a:p>
            <a:r>
              <a:rPr lang="en-US"/>
              <a:t>int Code_FID  [PK]</a:t>
            </a:r>
          </a:p>
          <a:p>
            <a:r>
              <a:rPr lang="en-US" b="1">
                <a:effectLst/>
              </a:rPr>
              <a:t>Cust_IDNO: string // customer nationalId</a:t>
            </a:r>
          </a:p>
          <a:p>
            <a:r>
              <a:rPr lang="en-US" b="1"/>
              <a:t>Inquiry_Date: DateTime</a:t>
            </a:r>
            <a:r>
              <a:rPr lang="en-US"/>
              <a:t> // </a:t>
            </a:r>
          </a:p>
          <a:p>
            <a:r>
              <a:rPr lang="en-US" b="1">
                <a:effectLst/>
              </a:rPr>
              <a:t>Score: int   	// </a:t>
            </a:r>
            <a:r>
              <a:rPr lang="ar-EG">
                <a:effectLst/>
              </a:rPr>
              <a:t>هو رقم يعبر عن مدى التزام العميل</a:t>
            </a:r>
          </a:p>
          <a:p>
            <a:r>
              <a:rPr lang="en-US">
                <a:effectLst/>
              </a:rPr>
              <a:t>Open_credits // </a:t>
            </a:r>
            <a:r>
              <a:rPr lang="ar-EG">
                <a:effectLst/>
              </a:rPr>
              <a:t>أي عدد القروض أو البطاقات الائتمانية التي يستخدمها العميل حالياً ولم يغلقها.</a:t>
            </a:r>
            <a:endParaRPr lang="en-US">
              <a:effectLst/>
            </a:endParaRPr>
          </a:p>
          <a:p>
            <a:r>
              <a:rPr lang="en-US"/>
              <a:t>Days_Due: int </a:t>
            </a:r>
            <a:r>
              <a:rPr lang="ar-EG" sz="1800"/>
              <a:t>أيام التأخير؛ ويقصد بها عدد الأيام التي تأخر فيها العميل عن سداد الأقساط المستحقة عليه (مؤشر خطر إذا كان الرقم </a:t>
            </a:r>
            <a:r>
              <a:rPr lang="ar-EG"/>
              <a:t>كبيراً).</a:t>
            </a:r>
            <a:endParaRPr lang="en-US"/>
          </a:p>
          <a:p>
            <a:r>
              <a:rPr lang="en-US"/>
              <a:t>NO_OF_INQUIRES: </a:t>
            </a:r>
            <a:r>
              <a:rPr lang="ar-EG"/>
              <a:t>عدد الكرات التى تم فيها الاستعلام عن هذا الرقم</a:t>
            </a:r>
            <a:endParaRPr lang="en-US"/>
          </a:p>
          <a:p>
            <a:r>
              <a:rPr lang="en-US"/>
              <a:t>Request_id</a:t>
            </a:r>
          </a:p>
          <a:p>
            <a:r>
              <a:rPr lang="en-US"/>
              <a:t>REF_NO</a:t>
            </a:r>
          </a:p>
          <a:p>
            <a:r>
              <a:rPr lang="en-US"/>
              <a:t>NotFound , int : </a:t>
            </a:r>
            <a:r>
              <a:rPr lang="ar-EG"/>
              <a:t>حالة العميل</a:t>
            </a:r>
          </a:p>
          <a:p>
            <a:pPr lvl="1"/>
            <a:r>
              <a:rPr lang="en-US"/>
              <a:t>0 : </a:t>
            </a:r>
            <a:r>
              <a:rPr lang="ar-EG"/>
              <a:t>يوجد للعميل هذا بيانات فى الأيزكور</a:t>
            </a:r>
          </a:p>
          <a:p>
            <a:pPr lvl="1"/>
            <a:r>
              <a:rPr lang="en-US"/>
              <a:t>1 : </a:t>
            </a:r>
            <a:r>
              <a:rPr lang="ar-EG"/>
              <a:t>العميل هذا لا توجد له بيانات فى الايزكور لأنه لم يأخذ قروض من اى بنك او اى جهة من قبل </a:t>
            </a:r>
          </a:p>
          <a:p>
            <a:pPr lvl="1"/>
            <a:r>
              <a:rPr lang="en-US"/>
              <a:t>2 :</a:t>
            </a:r>
            <a:r>
              <a:rPr lang="ar-EG"/>
              <a:t> </a:t>
            </a:r>
            <a:r>
              <a:rPr lang="en-US"/>
              <a:t> </a:t>
            </a:r>
            <a:r>
              <a:rPr lang="ar-EG"/>
              <a:t>  يوجد مشكلة في الاتصال او اى مشكله أخرى لم تمكننى من الاستعلام عنه وبالتالي لايتم ترحيل الطلب الا اذا تم التحميل</a:t>
            </a:r>
            <a:r>
              <a:rPr lang="en-US"/>
              <a:t> </a:t>
            </a:r>
          </a:p>
          <a:p>
            <a:r>
              <a:rPr lang="en-US"/>
              <a:t>New_ISCORE</a:t>
            </a:r>
          </a:p>
          <a:p>
            <a:r>
              <a:rPr lang="en-US"/>
              <a:t>File_Code</a:t>
            </a:r>
          </a:p>
        </p:txBody>
      </p:sp>
    </p:spTree>
    <p:extLst>
      <p:ext uri="{BB962C8B-B14F-4D97-AF65-F5344CB8AC3E}">
        <p14:creationId xmlns:p14="http://schemas.microsoft.com/office/powerpoint/2010/main" val="344985806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422787" y="511277"/>
            <a:ext cx="11444748" cy="6154994"/>
          </a:xfrm>
        </p:spPr>
        <p:txBody>
          <a:bodyPr/>
          <a:lstStyle/>
          <a:p>
            <a:endParaRPr lang="en-US"/>
          </a:p>
          <a:p>
            <a:endParaRPr lang="en-US"/>
          </a:p>
          <a:p>
            <a:endParaRPr lang="en-US"/>
          </a:p>
          <a:p>
            <a:endParaRPr lang="en-US"/>
          </a:p>
          <a:p>
            <a:endParaRPr lang="en-US"/>
          </a:p>
          <a:p>
            <a:endParaRPr lang="en-US"/>
          </a:p>
          <a:p>
            <a:r>
              <a:rPr lang="en-US"/>
              <a:t>Loan officer login: 10100 , P@ssw0rd </a:t>
            </a:r>
          </a:p>
          <a:p>
            <a:endParaRPr lang="en-US"/>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978963200"/>
              </p:ext>
            </p:extLst>
          </p:nvPr>
        </p:nvGraphicFramePr>
        <p:xfrm>
          <a:off x="586658" y="1022554"/>
          <a:ext cx="8127999" cy="185420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r>
                        <a:rPr lang="en-US"/>
                        <a:t>Loan officer (LO) </a:t>
                      </a:r>
                      <a:r>
                        <a:rPr lang="ar-EG"/>
                        <a:t>مسؤول تمويل</a:t>
                      </a:r>
                      <a:endParaRPr lang="en-US"/>
                    </a:p>
                  </a:txBody>
                  <a:tcPr/>
                </a:tc>
                <a:tc>
                  <a:txBody>
                    <a:bodyPr/>
                    <a:lstStyle/>
                    <a:p>
                      <a:r>
                        <a:rPr lang="en-US"/>
                        <a:t>10</a:t>
                      </a:r>
                    </a:p>
                  </a:txBody>
                  <a:tcPr/>
                </a:tc>
                <a:tc>
                  <a:txBody>
                    <a:bodyPr/>
                    <a:lstStyle/>
                    <a:p>
                      <a:r>
                        <a:rPr lang="en-US"/>
                        <a:t>0</a:t>
                      </a:r>
                    </a:p>
                  </a:txBody>
                  <a:tcPr/>
                </a:tc>
                <a:extLst>
                  <a:ext uri="{0D108BD9-81ED-4DB2-BD59-A6C34878D82A}">
                    <a16:rowId xmlns:a16="http://schemas.microsoft.com/office/drawing/2014/main" val="2991341697"/>
                  </a:ext>
                </a:extLst>
              </a:tr>
              <a:tr h="370840">
                <a:tc>
                  <a:txBody>
                    <a:bodyPr/>
                    <a:lstStyle/>
                    <a:p>
                      <a:r>
                        <a:rPr lang="en-US"/>
                        <a:t>Branch Manager </a:t>
                      </a:r>
                      <a:r>
                        <a:rPr lang="ar-EG"/>
                        <a:t>مدير فرع</a:t>
                      </a:r>
                      <a:endParaRPr lang="en-US"/>
                    </a:p>
                  </a:txBody>
                  <a:tcPr/>
                </a:tc>
                <a:tc>
                  <a:txBody>
                    <a:bodyPr/>
                    <a:lstStyle/>
                    <a:p>
                      <a:r>
                        <a:rPr lang="en-US"/>
                        <a:t>13</a:t>
                      </a:r>
                    </a:p>
                  </a:txBody>
                  <a:tcPr/>
                </a:tc>
                <a:tc>
                  <a:txBody>
                    <a:bodyPr/>
                    <a:lstStyle/>
                    <a:p>
                      <a:r>
                        <a:rPr lang="en-US"/>
                        <a:t>3</a:t>
                      </a:r>
                    </a:p>
                  </a:txBody>
                  <a:tcPr/>
                </a:tc>
                <a:extLst>
                  <a:ext uri="{0D108BD9-81ED-4DB2-BD59-A6C34878D82A}">
                    <a16:rowId xmlns:a16="http://schemas.microsoft.com/office/drawing/2014/main" val="3437649632"/>
                  </a:ext>
                </a:extLst>
              </a:tr>
              <a:tr h="370840">
                <a:tc>
                  <a:txBody>
                    <a:bodyPr/>
                    <a:lstStyle/>
                    <a:p>
                      <a:r>
                        <a:rPr lang="en-US"/>
                        <a:t>Teller (money man) </a:t>
                      </a:r>
                      <a:r>
                        <a:rPr lang="ar-EG"/>
                        <a:t>صراف</a:t>
                      </a:r>
                      <a:endParaRPr lang="en-US"/>
                    </a:p>
                  </a:txBody>
                  <a:tcPr/>
                </a:tc>
                <a:tc>
                  <a:txBody>
                    <a:bodyPr/>
                    <a:lstStyle/>
                    <a:p>
                      <a:r>
                        <a:rPr lang="en-US"/>
                        <a:t>12</a:t>
                      </a:r>
                    </a:p>
                  </a:txBody>
                  <a:tcPr/>
                </a:tc>
                <a:tc>
                  <a:txBody>
                    <a:bodyPr/>
                    <a:lstStyle/>
                    <a:p>
                      <a:r>
                        <a:rPr lang="ar-EG"/>
                        <a:t>2</a:t>
                      </a:r>
                      <a:endParaRPr lang="en-US"/>
                    </a:p>
                  </a:txBody>
                  <a:tcPr/>
                </a:tc>
                <a:extLst>
                  <a:ext uri="{0D108BD9-81ED-4DB2-BD59-A6C34878D82A}">
                    <a16:rowId xmlns:a16="http://schemas.microsoft.com/office/drawing/2014/main" val="4123986371"/>
                  </a:ext>
                </a:extLst>
              </a:tr>
              <a:tr h="370840">
                <a:tc>
                  <a:txBody>
                    <a:bodyPr/>
                    <a:lstStyle/>
                    <a:p>
                      <a:r>
                        <a:rPr lang="en-US"/>
                        <a:t>CO</a:t>
                      </a:r>
                    </a:p>
                  </a:txBody>
                  <a:tcPr/>
                </a:tc>
                <a:tc>
                  <a:txBody>
                    <a:bodyPr/>
                    <a:lstStyle/>
                    <a:p>
                      <a:r>
                        <a:rPr lang="en-US"/>
                        <a:t>1</a:t>
                      </a:r>
                    </a:p>
                  </a:txBody>
                  <a:tcPr/>
                </a:tc>
                <a:tc>
                  <a:txBody>
                    <a:bodyPr/>
                    <a:lstStyle/>
                    <a:p>
                      <a:r>
                        <a:rPr lang="en-US"/>
                        <a:t>1</a:t>
                      </a:r>
                    </a:p>
                  </a:txBody>
                  <a:tcPr/>
                </a:tc>
                <a:extLst>
                  <a:ext uri="{0D108BD9-81ED-4DB2-BD59-A6C34878D82A}">
                    <a16:rowId xmlns:a16="http://schemas.microsoft.com/office/drawing/2014/main" val="1665867047"/>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E26FB-A5E8-3CCA-EA68-AC697347FD56}"/>
              </a:ext>
            </a:extLst>
          </p:cNvPr>
          <p:cNvSpPr>
            <a:spLocks noGrp="1"/>
          </p:cNvSpPr>
          <p:nvPr>
            <p:ph type="title"/>
          </p:nvPr>
        </p:nvSpPr>
        <p:spPr>
          <a:xfrm>
            <a:off x="835137" y="0"/>
            <a:ext cx="10353762" cy="970450"/>
          </a:xfrm>
        </p:spPr>
        <p:txBody>
          <a:bodyPr/>
          <a:lstStyle/>
          <a:p>
            <a:r>
              <a:rPr lang="en-US"/>
              <a:t>LoginVM</a:t>
            </a:r>
          </a:p>
        </p:txBody>
      </p:sp>
      <p:sp>
        <p:nvSpPr>
          <p:cNvPr id="3" name="Content Placeholder 2">
            <a:extLst>
              <a:ext uri="{FF2B5EF4-FFF2-40B4-BE49-F238E27FC236}">
                <a16:creationId xmlns:a16="http://schemas.microsoft.com/office/drawing/2014/main" id="{B5F1CE3E-8FBA-4720-E027-74C182BEE6B6}"/>
              </a:ext>
            </a:extLst>
          </p:cNvPr>
          <p:cNvSpPr>
            <a:spLocks noGrp="1"/>
          </p:cNvSpPr>
          <p:nvPr>
            <p:ph idx="1"/>
          </p:nvPr>
        </p:nvSpPr>
        <p:spPr>
          <a:xfrm>
            <a:off x="324464" y="970450"/>
            <a:ext cx="11631561" cy="5794143"/>
          </a:xfrm>
        </p:spPr>
        <p:txBody>
          <a:bodyPr>
            <a:normAutofit/>
          </a:bodyPr>
          <a:lstStyle/>
          <a:p>
            <a:r>
              <a:rPr lang="en-US" sz="1600">
                <a:effectLst/>
              </a:rPr>
              <a:t>UserId</a:t>
            </a:r>
          </a:p>
          <a:p>
            <a:r>
              <a:rPr lang="en-US" sz="1600">
                <a:effectLst/>
              </a:rPr>
              <a:t>UserNameAR</a:t>
            </a:r>
          </a:p>
          <a:p>
            <a:r>
              <a:rPr lang="en-US" sz="1600">
                <a:effectLst/>
              </a:rPr>
              <a:t>UserNameEng</a:t>
            </a:r>
          </a:p>
          <a:p>
            <a:r>
              <a:rPr lang="en-US" sz="1600">
                <a:effectLst/>
              </a:rPr>
              <a:t>BranchNameAR</a:t>
            </a:r>
          </a:p>
          <a:p>
            <a:r>
              <a:rPr lang="en-US" sz="1600">
                <a:effectLst/>
              </a:rPr>
              <a:t>BranchNameEN</a:t>
            </a:r>
          </a:p>
          <a:p>
            <a:r>
              <a:rPr lang="en-US" sz="1600">
                <a:effectLst/>
              </a:rPr>
              <a:t>JobNameAR</a:t>
            </a:r>
          </a:p>
          <a:p>
            <a:r>
              <a:rPr lang="en-US" sz="1600">
                <a:effectLst/>
              </a:rPr>
              <a:t>BranchId</a:t>
            </a:r>
          </a:p>
          <a:p>
            <a:r>
              <a:rPr lang="en-US" sz="1600">
                <a:effectLst/>
              </a:rPr>
              <a:t>RegionId</a:t>
            </a:r>
          </a:p>
          <a:p>
            <a:r>
              <a:rPr lang="en-US" sz="1600">
                <a:effectLst/>
              </a:rPr>
              <a:t>Branch_code</a:t>
            </a:r>
          </a:p>
          <a:p>
            <a:r>
              <a:rPr lang="en-US" sz="1600">
                <a:effectLst/>
              </a:rPr>
              <a:t>ComId</a:t>
            </a:r>
          </a:p>
          <a:p>
            <a:r>
              <a:rPr lang="en-US" sz="1600">
                <a:effectLst/>
              </a:rPr>
              <a:t>JobId</a:t>
            </a:r>
          </a:p>
          <a:p>
            <a:r>
              <a:rPr lang="en-US" sz="1600">
                <a:effectLst/>
              </a:rPr>
              <a:t>JobCode</a:t>
            </a:r>
          </a:p>
          <a:p>
            <a:r>
              <a:rPr lang="en-US" sz="1600">
                <a:effectLst/>
              </a:rPr>
              <a:t>UserCode</a:t>
            </a:r>
          </a:p>
          <a:p>
            <a:r>
              <a:rPr lang="en-US" sz="1600">
                <a:effectLst/>
              </a:rPr>
              <a:t>Numberofmonthsofappointment</a:t>
            </a:r>
          </a:p>
          <a:p>
            <a:endParaRPr lang="en-US" sz="1600">
              <a:effectLst/>
            </a:endParaRPr>
          </a:p>
          <a:p>
            <a:endParaRPr lang="en-US" sz="1600">
              <a:effectLst/>
            </a:endParaRPr>
          </a:p>
        </p:txBody>
      </p:sp>
    </p:spTree>
    <p:extLst>
      <p:ext uri="{BB962C8B-B14F-4D97-AF65-F5344CB8AC3E}">
        <p14:creationId xmlns:p14="http://schemas.microsoft.com/office/powerpoint/2010/main" val="303395720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BB69CF-0430-C72F-E158-7D4576E1893D}"/>
              </a:ext>
            </a:extLst>
          </p:cNvPr>
          <p:cNvSpPr>
            <a:spLocks noGrp="1"/>
          </p:cNvSpPr>
          <p:nvPr>
            <p:ph type="title"/>
          </p:nvPr>
        </p:nvSpPr>
        <p:spPr>
          <a:xfrm>
            <a:off x="913795" y="46654"/>
            <a:ext cx="10353762" cy="659024"/>
          </a:xfrm>
        </p:spPr>
        <p:txBody>
          <a:bodyPr>
            <a:normAutofit fontScale="90000"/>
          </a:bodyPr>
          <a:lstStyle/>
          <a:p>
            <a:r>
              <a:rPr lang="en-US" b="1"/>
              <a:t>Micro Login Sequence</a:t>
            </a:r>
          </a:p>
        </p:txBody>
      </p:sp>
      <p:sp>
        <p:nvSpPr>
          <p:cNvPr id="3" name="Content Placeholder 2">
            <a:extLst>
              <a:ext uri="{FF2B5EF4-FFF2-40B4-BE49-F238E27FC236}">
                <a16:creationId xmlns:a16="http://schemas.microsoft.com/office/drawing/2014/main" id="{A7E639F0-DFFB-8A01-6FC5-695433537E24}"/>
              </a:ext>
            </a:extLst>
          </p:cNvPr>
          <p:cNvSpPr>
            <a:spLocks noGrp="1"/>
          </p:cNvSpPr>
          <p:nvPr>
            <p:ph idx="1"/>
          </p:nvPr>
        </p:nvSpPr>
        <p:spPr>
          <a:xfrm>
            <a:off x="258417" y="705678"/>
            <a:ext cx="11009140" cy="6033051"/>
          </a:xfrm>
        </p:spPr>
        <p:txBody>
          <a:bodyPr/>
          <a:lstStyle/>
          <a:p>
            <a:endParaRPr lang="en-US"/>
          </a:p>
          <a:p>
            <a:endParaRPr lang="en-US"/>
          </a:p>
          <a:p>
            <a:endParaRPr lang="en-US"/>
          </a:p>
          <a:p>
            <a:r>
              <a:rPr lang="en-US"/>
              <a:t>Then go to loginService</a:t>
            </a:r>
          </a:p>
          <a:p>
            <a:endParaRPr lang="en-US"/>
          </a:p>
        </p:txBody>
      </p:sp>
      <p:pic>
        <p:nvPicPr>
          <p:cNvPr id="7" name="Picture 6">
            <a:extLst>
              <a:ext uri="{FF2B5EF4-FFF2-40B4-BE49-F238E27FC236}">
                <a16:creationId xmlns:a16="http://schemas.microsoft.com/office/drawing/2014/main" id="{9949445F-5D8F-6554-A6F3-73F4D9DADB18}"/>
              </a:ext>
            </a:extLst>
          </p:cNvPr>
          <p:cNvPicPr>
            <a:picLocks noChangeAspect="1"/>
          </p:cNvPicPr>
          <p:nvPr/>
        </p:nvPicPr>
        <p:blipFill>
          <a:blip r:embed="rId2"/>
          <a:stretch>
            <a:fillRect/>
          </a:stretch>
        </p:blipFill>
        <p:spPr>
          <a:xfrm>
            <a:off x="195592" y="799824"/>
            <a:ext cx="5895084" cy="1129756"/>
          </a:xfrm>
          <a:prstGeom prst="rect">
            <a:avLst/>
          </a:prstGeom>
        </p:spPr>
      </p:pic>
      <p:pic>
        <p:nvPicPr>
          <p:cNvPr id="9" name="Picture 8">
            <a:extLst>
              <a:ext uri="{FF2B5EF4-FFF2-40B4-BE49-F238E27FC236}">
                <a16:creationId xmlns:a16="http://schemas.microsoft.com/office/drawing/2014/main" id="{7D96E95C-6FD8-AD7C-7E21-F0E9E7B05C9D}"/>
              </a:ext>
            </a:extLst>
          </p:cNvPr>
          <p:cNvPicPr>
            <a:picLocks noChangeAspect="1"/>
          </p:cNvPicPr>
          <p:nvPr/>
        </p:nvPicPr>
        <p:blipFill>
          <a:blip r:embed="rId3"/>
          <a:stretch>
            <a:fillRect/>
          </a:stretch>
        </p:blipFill>
        <p:spPr>
          <a:xfrm>
            <a:off x="3450237" y="2023726"/>
            <a:ext cx="4669377" cy="352850"/>
          </a:xfrm>
          <a:prstGeom prst="rect">
            <a:avLst/>
          </a:prstGeom>
        </p:spPr>
      </p:pic>
    </p:spTree>
    <p:extLst>
      <p:ext uri="{BB962C8B-B14F-4D97-AF65-F5344CB8AC3E}">
        <p14:creationId xmlns:p14="http://schemas.microsoft.com/office/powerpoint/2010/main" val="18429463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When CO reject the FundingRequest</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198783" y="642730"/>
            <a:ext cx="11068774" cy="5877339"/>
          </a:xfrm>
        </p:spPr>
        <p:txBody>
          <a:bodyPr/>
          <a:lstStyle/>
          <a:p>
            <a:r>
              <a:rPr lang="en-US"/>
              <a:t>TDWF.Flow_Request_Deportation</a:t>
            </a:r>
          </a:p>
          <a:p>
            <a:pPr lvl="1"/>
            <a:endParaRPr lang="en-US"/>
          </a:p>
          <a:p>
            <a:endParaRPr lang="en-US"/>
          </a:p>
        </p:txBody>
      </p:sp>
    </p:spTree>
    <p:extLst>
      <p:ext uri="{BB962C8B-B14F-4D97-AF65-F5344CB8AC3E}">
        <p14:creationId xmlns:p14="http://schemas.microsoft.com/office/powerpoint/2010/main" val="408570386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099F25-69DD-0B59-E12E-FF349DBC35D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E834885-BB5E-ED54-5976-BF14D866F797}"/>
              </a:ext>
            </a:extLst>
          </p:cNvPr>
          <p:cNvSpPr>
            <a:spLocks noGrp="1"/>
          </p:cNvSpPr>
          <p:nvPr>
            <p:ph idx="1"/>
          </p:nvPr>
        </p:nvSpPr>
        <p:spPr/>
        <p:txBody>
          <a:bodyPr/>
          <a:lstStyle/>
          <a:p>
            <a:r>
              <a:rPr lang="en-US"/>
              <a:t>_Flow_Rejections_mainService.GetAllRejectionFieldsByRequest_id(Request_id)</a:t>
            </a:r>
          </a:p>
          <a:p>
            <a:endParaRPr lang="en-US"/>
          </a:p>
        </p:txBody>
      </p:sp>
    </p:spTree>
    <p:extLst>
      <p:ext uri="{BB962C8B-B14F-4D97-AF65-F5344CB8AC3E}">
        <p14:creationId xmlns:p14="http://schemas.microsoft.com/office/powerpoint/2010/main" val="320439395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15514</TotalTime>
  <Words>4125</Words>
  <Application>Microsoft Office PowerPoint</Application>
  <PresentationFormat>Widescreen</PresentationFormat>
  <Paragraphs>603</Paragraphs>
  <Slides>73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73</vt:i4>
      </vt:variant>
    </vt:vector>
  </HeadingPairs>
  <TitlesOfParts>
    <vt:vector size="79" baseType="lpstr">
      <vt:lpstr>Arial</vt:lpstr>
      <vt:lpstr>Calisto MT</vt:lpstr>
      <vt:lpstr>Tahoma</vt:lpstr>
      <vt:lpstr>Wingdings</vt:lpstr>
      <vt:lpstr>Wingdings 2</vt:lpstr>
      <vt:lpstr>Slate</vt:lpstr>
      <vt:lpstr>Apps Business </vt:lpstr>
      <vt:lpstr>شركات التأمين الخاصة بالتمويل</vt:lpstr>
      <vt:lpstr>أنواع التأمين الخاص بالتمويل ؟</vt:lpstr>
      <vt:lpstr>الحالات التأمينية</vt:lpstr>
      <vt:lpstr>أسباب رفض التعويض</vt:lpstr>
      <vt:lpstr>تعاقد شركة التأمين</vt:lpstr>
      <vt:lpstr>MICRO, Core, Master</vt:lpstr>
      <vt:lpstr>Micro, Master, Core Flow Steps</vt:lpstr>
      <vt:lpstr>إدخال طلب (Funding Request)</vt:lpstr>
      <vt:lpstr>طلب تمويل تجديد</vt:lpstr>
      <vt:lpstr>مراجعة أولية</vt:lpstr>
      <vt:lpstr>زيارة ميدانية</vt:lpstr>
      <vt:lpstr>التحليل الائتماني</vt:lpstr>
      <vt:lpstr>تحميل المستندات</vt:lpstr>
      <vt:lpstr>المراجعة المركزية</vt:lpstr>
      <vt:lpstr>الصرف</vt:lpstr>
      <vt:lpstr>Region at </vt:lpstr>
      <vt:lpstr>Governorate at common</vt:lpstr>
      <vt:lpstr>Original_Region entity at common</vt:lpstr>
      <vt:lpstr>Trans_GPS_Tracking</vt:lpstr>
      <vt:lpstr>Lookup.Branch</vt:lpstr>
      <vt:lpstr>SWF. Flow_Branch_Type</vt:lpstr>
      <vt:lpstr>SWF.Flow_repayment_cycle [دورية السداد]</vt:lpstr>
      <vt:lpstr>TWF.Flow_GeneralSettings</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TWF.Flow_Funding_request [cont.]</vt:lpstr>
      <vt:lpstr>SWF.Flow_status</vt:lpstr>
      <vt:lpstr>TDWF.Flow_Request_Deportation</vt:lpstr>
      <vt:lpstr>TDWF.Flow_Request_Deportation [cont. 1]</vt:lpstr>
      <vt:lpstr>TDWF.Flow_Request_Deportation [cont. 2]</vt:lpstr>
      <vt:lpstr>TDWF.Flow_Request_Deportation [cont. 3]</vt:lpstr>
      <vt:lpstr>TDWF.Flow_Request_Deportation [cont. 4]</vt:lpstr>
      <vt:lpstr>TDWF.Flow_Requests_Log</vt:lpstr>
      <vt:lpstr>TDWF.Flow_Requests_Log (cont.1)</vt:lpstr>
      <vt:lpstr>TDWF.Flow_Rejections_main</vt:lpstr>
      <vt:lpstr>TDWF.Flow_Rejections_SubOne</vt:lpstr>
      <vt:lpstr>SWF.Flow_Tabs [الشاشات]</vt:lpstr>
      <vt:lpstr>SWF.Flow_Screen_components</vt:lpstr>
      <vt:lpstr>SWF.Flow_Actions</vt:lpstr>
      <vt:lpstr>SWF.Flow_Types</vt:lpstr>
      <vt:lpstr>TWT.Flow_Products</vt:lpstr>
      <vt:lpstr>TWF.Flow_Customers</vt:lpstr>
      <vt:lpstr>TWF.Flow_Contact_Us</vt:lpstr>
      <vt:lpstr>TWF.Flow_Enterprises</vt:lpstr>
      <vt:lpstr>SWF.Flow_Sectors</vt:lpstr>
      <vt:lpstr>SWF.Flow_Main_activity</vt:lpstr>
      <vt:lpstr>SWF.Flow_Sub_activities</vt:lpstr>
      <vt:lpstr>Company entity</vt:lpstr>
      <vt:lpstr>Acc_Chart_Account entity</vt:lpstr>
      <vt:lpstr>SWF.Flow_Relationships</vt:lpstr>
      <vt:lpstr>SWF.Flow_Purpose_loan</vt:lpstr>
      <vt:lpstr>SWF.Flow_Customers_jobs</vt:lpstr>
      <vt:lpstr>SWF.Flow_districts</vt:lpstr>
      <vt:lpstr>SWF.Flow_Sections</vt:lpstr>
      <vt:lpstr>SWF.Flow_Identity_Expiry</vt:lpstr>
      <vt:lpstr>Security.SEC_Group</vt:lpstr>
      <vt:lpstr>Security.SEC_Menu</vt:lpstr>
      <vt:lpstr>Trans.Trans_BusDate [تاريخ اليومية]</vt:lpstr>
      <vt:lpstr>TWF.Flow_ISCORE_Data</vt:lpstr>
      <vt:lpstr>BranchGovernRegion VM</vt:lpstr>
      <vt:lpstr>Amounts of Funding request</vt:lpstr>
      <vt:lpstr>Jobs</vt:lpstr>
      <vt:lpstr>TransactionVM</vt:lpstr>
      <vt:lpstr>LoginVM</vt:lpstr>
      <vt:lpstr>Micro Login Sequence</vt:lpstr>
      <vt:lpstr>When CO reject the FundingRequest</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IT Department</cp:lastModifiedBy>
  <cp:revision>434</cp:revision>
  <dcterms:created xsi:type="dcterms:W3CDTF">2026-02-01T18:13:26Z</dcterms:created>
  <dcterms:modified xsi:type="dcterms:W3CDTF">2026-02-27T14:23:11Z</dcterms:modified>
</cp:coreProperties>
</file>