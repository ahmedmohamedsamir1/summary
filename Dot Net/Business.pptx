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3" r:id="rId8"/>
    <p:sldId id="264" r:id="rId9"/>
    <p:sldId id="277" r:id="rId10"/>
    <p:sldId id="262" r:id="rId11"/>
    <p:sldId id="392" r:id="rId12"/>
    <p:sldId id="394" r:id="rId13"/>
    <p:sldId id="402" r:id="rId14"/>
    <p:sldId id="404" r:id="rId15"/>
    <p:sldId id="406" r:id="rId16"/>
    <p:sldId id="407" r:id="rId17"/>
    <p:sldId id="408" r:id="rId18"/>
    <p:sldId id="412" r:id="rId19"/>
    <p:sldId id="411" r:id="rId20"/>
    <p:sldId id="413" r:id="rId21"/>
    <p:sldId id="409" r:id="rId22"/>
    <p:sldId id="414" r:id="rId23"/>
    <p:sldId id="393" r:id="rId24"/>
    <p:sldId id="396" r:id="rId25"/>
    <p:sldId id="395" r:id="rId26"/>
    <p:sldId id="308" r:id="rId27"/>
    <p:sldId id="278" r:id="rId28"/>
    <p:sldId id="271" r:id="rId29"/>
    <p:sldId id="292" r:id="rId30"/>
    <p:sldId id="279" r:id="rId31"/>
    <p:sldId id="305" r:id="rId32"/>
    <p:sldId id="280" r:id="rId33"/>
    <p:sldId id="318" r:id="rId34"/>
    <p:sldId id="285" r:id="rId35"/>
    <p:sldId id="286" r:id="rId36"/>
    <p:sldId id="287" r:id="rId37"/>
    <p:sldId id="323" r:id="rId38"/>
    <p:sldId id="368" r:id="rId39"/>
    <p:sldId id="313" r:id="rId40"/>
    <p:sldId id="315" r:id="rId41"/>
    <p:sldId id="322" r:id="rId42"/>
    <p:sldId id="326" r:id="rId43"/>
    <p:sldId id="327" r:id="rId44"/>
    <p:sldId id="346" r:id="rId45"/>
    <p:sldId id="367" r:id="rId46"/>
    <p:sldId id="369" r:id="rId47"/>
    <p:sldId id="372" r:id="rId48"/>
    <p:sldId id="316" r:id="rId49"/>
    <p:sldId id="325" r:id="rId50"/>
    <p:sldId id="347" r:id="rId51"/>
    <p:sldId id="373" r:id="rId52"/>
    <p:sldId id="328" r:id="rId53"/>
    <p:sldId id="329" r:id="rId54"/>
    <p:sldId id="334" r:id="rId55"/>
    <p:sldId id="348" r:id="rId56"/>
    <p:sldId id="349" r:id="rId57"/>
    <p:sldId id="351" r:id="rId58"/>
    <p:sldId id="350" r:id="rId59"/>
    <p:sldId id="355" r:id="rId60"/>
    <p:sldId id="352" r:id="rId61"/>
    <p:sldId id="353" r:id="rId62"/>
    <p:sldId id="354" r:id="rId63"/>
    <p:sldId id="370" r:id="rId64"/>
    <p:sldId id="371" r:id="rId65"/>
    <p:sldId id="379" r:id="rId66"/>
    <p:sldId id="390" r:id="rId67"/>
    <p:sldId id="388" r:id="rId68"/>
    <p:sldId id="306" r:id="rId69"/>
    <p:sldId id="358" r:id="rId70"/>
    <p:sldId id="281" r:id="rId71"/>
    <p:sldId id="314" r:id="rId72"/>
    <p:sldId id="294" r:id="rId73"/>
    <p:sldId id="331" r:id="rId74"/>
    <p:sldId id="330" r:id="rId75"/>
    <p:sldId id="324" r:id="rId76"/>
    <p:sldId id="304" r:id="rId77"/>
    <p:sldId id="310" r:id="rId78"/>
    <p:sldId id="311" r:id="rId79"/>
    <p:sldId id="312" r:id="rId80"/>
    <p:sldId id="293" r:id="rId81"/>
    <p:sldId id="296" r:id="rId82"/>
    <p:sldId id="297" r:id="rId83"/>
    <p:sldId id="299" r:id="rId84"/>
    <p:sldId id="298" r:id="rId85"/>
    <p:sldId id="389" r:id="rId86"/>
    <p:sldId id="415" r:id="rId87"/>
    <p:sldId id="283" r:id="rId88"/>
    <p:sldId id="374" r:id="rId89"/>
    <p:sldId id="359" r:id="rId90"/>
    <p:sldId id="307" r:id="rId91"/>
    <p:sldId id="309" r:id="rId92"/>
    <p:sldId id="288" r:id="rId93"/>
    <p:sldId id="282" r:id="rId94"/>
    <p:sldId id="397" r:id="rId95"/>
    <p:sldId id="399" r:id="rId96"/>
    <p:sldId id="400" r:id="rId97"/>
    <p:sldId id="300" r:id="rId98"/>
    <p:sldId id="301" r:id="rId99"/>
    <p:sldId id="398" r:id="rId100"/>
    <p:sldId id="319" r:id="rId101"/>
    <p:sldId id="303" r:id="rId102"/>
    <p:sldId id="403" r:id="rId103"/>
    <p:sldId id="338" r:id="rId104"/>
    <p:sldId id="339" r:id="rId105"/>
    <p:sldId id="356" r:id="rId106"/>
    <p:sldId id="357" r:id="rId107"/>
    <p:sldId id="384" r:id="rId108"/>
    <p:sldId id="343" r:id="rId109"/>
    <p:sldId id="382" r:id="rId110"/>
    <p:sldId id="377" r:id="rId111"/>
    <p:sldId id="378" r:id="rId112"/>
    <p:sldId id="386" r:id="rId113"/>
    <p:sldId id="385" r:id="rId114"/>
    <p:sldId id="276" r:id="rId115"/>
    <p:sldId id="289" r:id="rId116"/>
    <p:sldId id="290" r:id="rId117"/>
    <p:sldId id="376" r:id="rId118"/>
    <p:sldId id="361" r:id="rId119"/>
    <p:sldId id="362" r:id="rId120"/>
    <p:sldId id="321" r:id="rId121"/>
    <p:sldId id="360" r:id="rId122"/>
    <p:sldId id="366" r:id="rId123"/>
    <p:sldId id="405" r:id="rId124"/>
    <p:sldId id="332" r:id="rId125"/>
    <p:sldId id="365" r:id="rId126"/>
    <p:sldId id="364" r:id="rId127"/>
    <p:sldId id="383" r:id="rId128"/>
    <p:sldId id="418" r:id="rId129"/>
    <p:sldId id="419" r:id="rId130"/>
    <p:sldId id="420" r:id="rId131"/>
    <p:sldId id="417" r:id="rId132"/>
    <p:sldId id="320" r:id="rId133"/>
    <p:sldId id="335" r:id="rId134"/>
    <p:sldId id="375" r:id="rId135"/>
    <p:sldId id="340" r:id="rId136"/>
    <p:sldId id="345" r:id="rId137"/>
    <p:sldId id="336" r:id="rId138"/>
    <p:sldId id="341" r:id="rId139"/>
    <p:sldId id="337" r:id="rId140"/>
    <p:sldId id="295" r:id="rId141"/>
    <p:sldId id="302" r:id="rId142"/>
    <p:sldId id="344" r:id="rId143"/>
    <p:sldId id="363"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25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4/2/2026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4/2/2026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4/2/2026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4/2/2026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4/2/2026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4/2/2026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91.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dirty="0"/>
              <a:t>Apps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dirty="0"/>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7C9B9-6FEF-99E1-ADEE-4F163D131BF0}"/>
              </a:ext>
            </a:extLst>
          </p:cNvPr>
          <p:cNvSpPr>
            <a:spLocks noGrp="1"/>
          </p:cNvSpPr>
          <p:nvPr>
            <p:ph type="title"/>
          </p:nvPr>
        </p:nvSpPr>
        <p:spPr>
          <a:xfrm>
            <a:off x="562708" y="0"/>
            <a:ext cx="11354637" cy="572756"/>
          </a:xfrm>
        </p:spPr>
        <p:txBody>
          <a:bodyPr>
            <a:normAutofit fontScale="90000"/>
          </a:bodyPr>
          <a:lstStyle/>
          <a:p>
            <a:r>
              <a:rPr lang="ar-EG"/>
              <a:t>شركات التأمين الخاصة بالتمويل</a:t>
            </a:r>
            <a:endParaRPr lang="en-US" dirty="0"/>
          </a:p>
        </p:txBody>
      </p:sp>
      <p:sp>
        <p:nvSpPr>
          <p:cNvPr id="3" name="Content Placeholder 2">
            <a:extLst>
              <a:ext uri="{FF2B5EF4-FFF2-40B4-BE49-F238E27FC236}">
                <a16:creationId xmlns:a16="http://schemas.microsoft.com/office/drawing/2014/main" id="{7682971A-3D16-5220-46BF-928E73646358}"/>
              </a:ext>
            </a:extLst>
          </p:cNvPr>
          <p:cNvSpPr>
            <a:spLocks noGrp="1"/>
          </p:cNvSpPr>
          <p:nvPr>
            <p:ph idx="1"/>
          </p:nvPr>
        </p:nvSpPr>
        <p:spPr>
          <a:xfrm>
            <a:off x="562708" y="572756"/>
            <a:ext cx="11354637" cy="5868237"/>
          </a:xfrm>
        </p:spPr>
        <p:txBody>
          <a:bodyPr>
            <a:normAutofit/>
          </a:bodyPr>
          <a:lstStyle/>
          <a:p>
            <a:pPr algn="r" rtl="1"/>
            <a:r>
              <a:rPr lang="ar-EG" sz="2400"/>
              <a:t>هي شركة تؤمن الجهة الممولة. على سبيل المثال عميل أخذ تمويل 200 ألف وتوفى قبل إكمال السداد شركة التأمين تسدد باقي المديونية للبنك او الجهة الممولة</a:t>
            </a:r>
          </a:p>
          <a:p>
            <a:pPr algn="r" rtl="1"/>
            <a:r>
              <a:rPr lang="ar-EG" sz="2400"/>
              <a:t>سم شركة التأمين </a:t>
            </a:r>
          </a:p>
          <a:p>
            <a:pPr algn="r" rtl="1"/>
            <a:r>
              <a:rPr lang="ar-EG" sz="2400"/>
              <a:t>كود اسم شركة التأمين </a:t>
            </a:r>
            <a:r>
              <a:rPr lang="en-US" sz="2400" dirty="0"/>
              <a:t>( id )</a:t>
            </a:r>
          </a:p>
          <a:p>
            <a:pPr algn="r" rtl="1"/>
            <a:endParaRPr lang="en-US" sz="2400" dirty="0"/>
          </a:p>
        </p:txBody>
      </p:sp>
    </p:spTree>
    <p:extLst>
      <p:ext uri="{BB962C8B-B14F-4D97-AF65-F5344CB8AC3E}">
        <p14:creationId xmlns:p14="http://schemas.microsoft.com/office/powerpoint/2010/main" val="20289523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E3C45-32EC-25C4-D465-E0956D5A3C19}"/>
              </a:ext>
            </a:extLst>
          </p:cNvPr>
          <p:cNvSpPr>
            <a:spLocks noGrp="1"/>
          </p:cNvSpPr>
          <p:nvPr>
            <p:ph type="title"/>
          </p:nvPr>
        </p:nvSpPr>
        <p:spPr>
          <a:xfrm>
            <a:off x="913795" y="0"/>
            <a:ext cx="10353762" cy="572756"/>
          </a:xfrm>
        </p:spPr>
        <p:txBody>
          <a:bodyPr>
            <a:normAutofit fontScale="90000"/>
          </a:bodyPr>
          <a:lstStyle/>
          <a:p>
            <a:r>
              <a:rPr lang="ar-EG"/>
              <a:t>أنواع التأمين الخاص بالتمويل ؟</a:t>
            </a:r>
            <a:endParaRPr lang="en-US" dirty="0"/>
          </a:p>
        </p:txBody>
      </p:sp>
      <p:sp>
        <p:nvSpPr>
          <p:cNvPr id="3" name="Content Placeholder 2">
            <a:extLst>
              <a:ext uri="{FF2B5EF4-FFF2-40B4-BE49-F238E27FC236}">
                <a16:creationId xmlns:a16="http://schemas.microsoft.com/office/drawing/2014/main" id="{8FE415B1-BF77-D949-69B3-D484616548EB}"/>
              </a:ext>
            </a:extLst>
          </p:cNvPr>
          <p:cNvSpPr>
            <a:spLocks noGrp="1"/>
          </p:cNvSpPr>
          <p:nvPr>
            <p:ph idx="1"/>
          </p:nvPr>
        </p:nvSpPr>
        <p:spPr>
          <a:xfrm>
            <a:off x="432078" y="572756"/>
            <a:ext cx="11495315" cy="5998865"/>
          </a:xfrm>
        </p:spPr>
        <p:txBody>
          <a:bodyPr>
            <a:normAutofit/>
          </a:bodyPr>
          <a:lstStyle/>
          <a:p>
            <a:pPr algn="r" rtl="1"/>
            <a:r>
              <a:rPr lang="ar-EG" sz="2400"/>
              <a:t>أنا مأمَّن على إيه؟</a:t>
            </a:r>
          </a:p>
          <a:p>
            <a:pPr algn="r" rtl="1"/>
            <a:r>
              <a:rPr lang="ar-EG" sz="2400"/>
              <a:t>تأمين حياة المقترض (الوفاة)</a:t>
            </a:r>
          </a:p>
          <a:p>
            <a:pPr algn="r" rtl="1"/>
            <a:r>
              <a:rPr lang="ar-EG" sz="2400"/>
              <a:t>تأمين فقدان الوظيفة </a:t>
            </a:r>
          </a:p>
          <a:p>
            <a:pPr algn="r" rtl="1"/>
            <a:r>
              <a:rPr lang="ar-EG" sz="2400"/>
              <a:t>تأمين على الإفلاس</a:t>
            </a:r>
          </a:p>
          <a:p>
            <a:pPr algn="r" rtl="1"/>
            <a:r>
              <a:rPr lang="ar-EG" sz="2400"/>
              <a:t>تأمين على العجز الكلى العجز الكلي</a:t>
            </a:r>
          </a:p>
          <a:p>
            <a:pPr algn="r" rtl="1"/>
            <a:r>
              <a:rPr lang="ar-EG" sz="2400"/>
              <a:t>تأمين على الأصل الممول: ده تأمين على </a:t>
            </a:r>
            <a:r>
              <a:rPr lang="ar-EG" sz="2400" b="1"/>
              <a:t>الشيء نفسه</a:t>
            </a:r>
            <a:r>
              <a:rPr lang="ar-EG" sz="2400"/>
              <a:t> اللي </a:t>
            </a:r>
            <a:r>
              <a:rPr lang="ar-EG" sz="2400" err="1"/>
              <a:t>اتاخد</a:t>
            </a:r>
            <a:r>
              <a:rPr lang="ar-EG" sz="2400"/>
              <a:t> بالقرض </a:t>
            </a:r>
            <a:r>
              <a:rPr lang="ar-EG" sz="2400" err="1"/>
              <a:t>زى</a:t>
            </a:r>
            <a:r>
              <a:rPr lang="ar-EG" sz="2400"/>
              <a:t> عربية او عقار</a:t>
            </a:r>
          </a:p>
          <a:p>
            <a:pPr algn="r" rtl="1"/>
            <a:endParaRPr lang="ar-EG" sz="2200"/>
          </a:p>
          <a:p>
            <a:pPr algn="r" rtl="1"/>
            <a:endParaRPr lang="ar-EG" sz="2400"/>
          </a:p>
          <a:p>
            <a:pPr algn="r" rtl="1"/>
            <a:endParaRPr lang="en-US" sz="2400" dirty="0"/>
          </a:p>
        </p:txBody>
      </p:sp>
    </p:spTree>
    <p:extLst>
      <p:ext uri="{BB962C8B-B14F-4D97-AF65-F5344CB8AC3E}">
        <p14:creationId xmlns:p14="http://schemas.microsoft.com/office/powerpoint/2010/main" val="9700226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4DF9-1B2D-E67C-75CB-4083CB67056A}"/>
              </a:ext>
            </a:extLst>
          </p:cNvPr>
          <p:cNvSpPr>
            <a:spLocks noGrp="1"/>
          </p:cNvSpPr>
          <p:nvPr>
            <p:ph type="title"/>
          </p:nvPr>
        </p:nvSpPr>
        <p:spPr>
          <a:xfrm>
            <a:off x="913795" y="0"/>
            <a:ext cx="10353762" cy="683288"/>
          </a:xfrm>
        </p:spPr>
        <p:txBody>
          <a:bodyPr>
            <a:normAutofit fontScale="90000"/>
          </a:bodyPr>
          <a:lstStyle/>
          <a:p>
            <a:r>
              <a:rPr lang="ar-EG"/>
              <a:t>الحالات التأمينية</a:t>
            </a:r>
            <a:endParaRPr lang="en-US" dirty="0"/>
          </a:p>
        </p:txBody>
      </p:sp>
      <p:sp>
        <p:nvSpPr>
          <p:cNvPr id="3" name="Content Placeholder 2">
            <a:extLst>
              <a:ext uri="{FF2B5EF4-FFF2-40B4-BE49-F238E27FC236}">
                <a16:creationId xmlns:a16="http://schemas.microsoft.com/office/drawing/2014/main" id="{7F5E244B-8CD2-92B2-34F6-C797313F6FED}"/>
              </a:ext>
            </a:extLst>
          </p:cNvPr>
          <p:cNvSpPr>
            <a:spLocks noGrp="1"/>
          </p:cNvSpPr>
          <p:nvPr>
            <p:ph idx="1"/>
          </p:nvPr>
        </p:nvSpPr>
        <p:spPr>
          <a:xfrm>
            <a:off x="502418" y="683289"/>
            <a:ext cx="11234057" cy="5908430"/>
          </a:xfrm>
        </p:spPr>
        <p:txBody>
          <a:bodyPr>
            <a:normAutofit/>
          </a:bodyPr>
          <a:lstStyle/>
          <a:p>
            <a:pPr algn="r" rtl="1"/>
            <a:r>
              <a:rPr lang="ar-EG" sz="2200" b="1"/>
              <a:t>الظروف أو الأحداث التي إذا وقعت تلتزم شركة التأمين بدفع التعويض</a:t>
            </a:r>
          </a:p>
          <a:p>
            <a:pPr lvl="1" algn="r" rtl="1"/>
            <a:r>
              <a:rPr lang="ar-EG" sz="2000" b="1"/>
              <a:t>العجز الكلي الدائم</a:t>
            </a:r>
          </a:p>
          <a:p>
            <a:pPr lvl="1" algn="r" rtl="1"/>
            <a:r>
              <a:rPr lang="ar-EG" sz="2000" b="1"/>
              <a:t>الوفاة</a:t>
            </a:r>
          </a:p>
          <a:p>
            <a:pPr algn="r" rtl="1"/>
            <a:endParaRPr lang="ar-EG" sz="2200" b="1"/>
          </a:p>
          <a:p>
            <a:pPr algn="r" rtl="1"/>
            <a:endParaRPr lang="en-US" sz="2200" dirty="0"/>
          </a:p>
        </p:txBody>
      </p:sp>
    </p:spTree>
    <p:extLst>
      <p:ext uri="{BB962C8B-B14F-4D97-AF65-F5344CB8AC3E}">
        <p14:creationId xmlns:p14="http://schemas.microsoft.com/office/powerpoint/2010/main" val="29447230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4B52F-F493-6B97-BC7B-F952CDD29BAD}"/>
              </a:ext>
            </a:extLst>
          </p:cNvPr>
          <p:cNvSpPr>
            <a:spLocks noGrp="1"/>
          </p:cNvSpPr>
          <p:nvPr>
            <p:ph type="title"/>
          </p:nvPr>
        </p:nvSpPr>
        <p:spPr>
          <a:xfrm>
            <a:off x="994181" y="0"/>
            <a:ext cx="10353762" cy="970450"/>
          </a:xfrm>
        </p:spPr>
        <p:txBody>
          <a:bodyPr/>
          <a:lstStyle/>
          <a:p>
            <a:r>
              <a:rPr lang="ar-EG" b="1"/>
              <a:t>أسباب رفض التعويض</a:t>
            </a:r>
            <a:endParaRPr lang="en-US" b="1" dirty="0"/>
          </a:p>
        </p:txBody>
      </p:sp>
      <p:sp>
        <p:nvSpPr>
          <p:cNvPr id="3" name="Content Placeholder 2">
            <a:extLst>
              <a:ext uri="{FF2B5EF4-FFF2-40B4-BE49-F238E27FC236}">
                <a16:creationId xmlns:a16="http://schemas.microsoft.com/office/drawing/2014/main" id="{82504D8E-18F3-0C74-3A33-DB2B972296A3}"/>
              </a:ext>
            </a:extLst>
          </p:cNvPr>
          <p:cNvSpPr>
            <a:spLocks noGrp="1"/>
          </p:cNvSpPr>
          <p:nvPr>
            <p:ph idx="1"/>
          </p:nvPr>
        </p:nvSpPr>
        <p:spPr>
          <a:xfrm>
            <a:off x="411982" y="970450"/>
            <a:ext cx="11445073" cy="5480591"/>
          </a:xfrm>
        </p:spPr>
        <p:txBody>
          <a:bodyPr>
            <a:normAutofit/>
          </a:bodyPr>
          <a:lstStyle/>
          <a:p>
            <a:pPr algn="r" rtl="1"/>
            <a:r>
              <a:rPr lang="ar-EG" sz="2400" b="1"/>
              <a:t>التعويض: المبلغ الذي تدفعه شركة التأمين للجهة الممولة عند وقوع الخطر المؤمن عليه، لتعويض الضرر أو فقدان القيمة المالية.</a:t>
            </a:r>
          </a:p>
          <a:p>
            <a:pPr algn="r" rtl="1"/>
            <a:r>
              <a:rPr lang="ar-EG" sz="2400"/>
              <a:t>أسباب رفض التعويض في سياق التمويلات</a:t>
            </a:r>
          </a:p>
          <a:p>
            <a:pPr lvl="1" algn="r" rtl="1"/>
            <a:r>
              <a:rPr lang="ar-EG" sz="2400"/>
              <a:t>العميل متعثر لفترة طويلة بدون مبرر</a:t>
            </a:r>
          </a:p>
          <a:p>
            <a:pPr lvl="1" algn="r" rtl="1"/>
            <a:r>
              <a:rPr lang="ar-EG" sz="2400"/>
              <a:t>التمويل استُخدم في غير الغرض المحدد</a:t>
            </a:r>
            <a:endParaRPr lang="ar-EG" sz="2400" b="1"/>
          </a:p>
          <a:p>
            <a:pPr lvl="1" algn="r" rtl="1"/>
            <a:r>
              <a:rPr lang="ar-EG" sz="2400"/>
              <a:t>الخطر غير مغطى.</a:t>
            </a:r>
          </a:p>
          <a:p>
            <a:pPr lvl="1" algn="r" rtl="1"/>
            <a:endParaRPr lang="ar-EG" sz="2200" b="1"/>
          </a:p>
          <a:p>
            <a:pPr algn="r" rtl="1"/>
            <a:endParaRPr lang="en-US" sz="2400" b="1" dirty="0"/>
          </a:p>
        </p:txBody>
      </p:sp>
      <p:sp>
        <p:nvSpPr>
          <p:cNvPr id="5" name="Rectangle 2">
            <a:extLst>
              <a:ext uri="{FF2B5EF4-FFF2-40B4-BE49-F238E27FC236}">
                <a16:creationId xmlns:a16="http://schemas.microsoft.com/office/drawing/2014/main" id="{717B3722-EFB7-D3A5-8392-3979C38BB9E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ar-SA" altLang="en-US" sz="1800" b="0" i="0" u="none" strike="noStrike" cap="none" normalizeH="0" baseline="0">
                <a:ln>
                  <a:noFill/>
                </a:ln>
                <a:solidFill>
                  <a:schemeClr val="tx1"/>
                </a:solidFill>
                <a:effectLst/>
                <a:latin typeface="Arial" panose="020B0604020202020204" pitchFamily="34" charset="0"/>
                <a:cs typeface="Arial" panose="020B0604020202020204" pitchFamily="34" charset="0"/>
              </a:rPr>
              <a:t>العميل متعثر لفترة طويلة بدون مبرر</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922294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99586-123B-35C4-B8FF-2970C1724B5D}"/>
              </a:ext>
            </a:extLst>
          </p:cNvPr>
          <p:cNvSpPr>
            <a:spLocks noGrp="1"/>
          </p:cNvSpPr>
          <p:nvPr>
            <p:ph type="title"/>
          </p:nvPr>
        </p:nvSpPr>
        <p:spPr>
          <a:xfrm>
            <a:off x="919119" y="0"/>
            <a:ext cx="10353762" cy="576105"/>
          </a:xfrm>
        </p:spPr>
        <p:txBody>
          <a:bodyPr>
            <a:normAutofit fontScale="90000"/>
          </a:bodyPr>
          <a:lstStyle/>
          <a:p>
            <a:r>
              <a:rPr lang="ar-EG" b="1"/>
              <a:t>تعاقد شركة التأمين</a:t>
            </a:r>
            <a:endParaRPr lang="en-US" b="1" dirty="0"/>
          </a:p>
        </p:txBody>
      </p:sp>
      <p:sp>
        <p:nvSpPr>
          <p:cNvPr id="3" name="Content Placeholder 2">
            <a:extLst>
              <a:ext uri="{FF2B5EF4-FFF2-40B4-BE49-F238E27FC236}">
                <a16:creationId xmlns:a16="http://schemas.microsoft.com/office/drawing/2014/main" id="{A8392B0D-AEBC-424B-06BC-C31E1A8449C7}"/>
              </a:ext>
            </a:extLst>
          </p:cNvPr>
          <p:cNvSpPr>
            <a:spLocks noGrp="1"/>
          </p:cNvSpPr>
          <p:nvPr>
            <p:ph idx="1"/>
          </p:nvPr>
        </p:nvSpPr>
        <p:spPr>
          <a:xfrm>
            <a:off x="90121" y="576104"/>
            <a:ext cx="11847321" cy="6281895"/>
          </a:xfrm>
        </p:spPr>
        <p:txBody>
          <a:bodyPr/>
          <a:lstStyle/>
          <a:p>
            <a:pPr algn="r" rtl="1"/>
            <a:r>
              <a:rPr lang="ar-EG" b="1"/>
              <a:t>نوع التأمين</a:t>
            </a:r>
          </a:p>
          <a:p>
            <a:pPr algn="r" rtl="1"/>
            <a:r>
              <a:rPr lang="ar-EG" b="1"/>
              <a:t>اسم شركة التأمين</a:t>
            </a:r>
          </a:p>
          <a:p>
            <a:pPr algn="r" rtl="1"/>
            <a:r>
              <a:rPr lang="ar-EG" b="1"/>
              <a:t>تاريخ بداية التعاقد</a:t>
            </a:r>
          </a:p>
          <a:p>
            <a:pPr algn="r" rtl="1"/>
            <a:r>
              <a:rPr lang="ar-EG" b="1"/>
              <a:t>تاريخ نهاية التعاقد</a:t>
            </a:r>
          </a:p>
          <a:p>
            <a:pPr algn="r" rtl="1"/>
            <a:r>
              <a:rPr lang="ar-EG" b="1"/>
              <a:t>أقصى مبلغ للتأمين : الحد الأقصى الذي تلتزم به شركة التأمين بدفعه للمستفيد عند وقوع الخطر المؤمن عليه.</a:t>
            </a:r>
          </a:p>
          <a:p>
            <a:pPr algn="r" rtl="1"/>
            <a:r>
              <a:rPr lang="ar-EG" b="1"/>
              <a:t>الحد الأدنى للقسط التأميني ؟ أقل مبلغ يجب دفعه للحصول على التغطية التأمينية، حتى لو كانت قيمة القرض أو الأصل صغيرة.</a:t>
            </a:r>
          </a:p>
          <a:p>
            <a:pPr algn="r" rtl="1"/>
            <a:r>
              <a:rPr lang="ar-EG" b="1"/>
              <a:t>الجزء المحمل من الشركة فقط (</a:t>
            </a:r>
            <a:r>
              <a:rPr lang="ar-EG"/>
              <a:t>شركة التمويل</a:t>
            </a:r>
            <a:r>
              <a:rPr lang="ar-EG" b="1"/>
              <a:t>) : القسط التأميني في نسبة التحمل </a:t>
            </a:r>
            <a:r>
              <a:rPr lang="ar-EG"/>
              <a:t>للشركة الممولة</a:t>
            </a:r>
            <a:endParaRPr lang="ar-EG" b="1"/>
          </a:p>
          <a:p>
            <a:pPr algn="r" rtl="1"/>
            <a:r>
              <a:rPr lang="ar-EG" b="1"/>
              <a:t>نسبة تحمل شركة التأمين </a:t>
            </a:r>
            <a:r>
              <a:rPr lang="en-US" b="1" dirty="0"/>
              <a:t>:</a:t>
            </a:r>
          </a:p>
          <a:p>
            <a:pPr algn="r" rtl="1"/>
            <a:r>
              <a:rPr lang="ar-EG" b="1"/>
              <a:t>مثال بحالة خسارة 50000</a:t>
            </a:r>
          </a:p>
          <a:p>
            <a:pPr algn="r" rtl="1"/>
            <a:endParaRPr lang="ar-EG" b="1"/>
          </a:p>
          <a:p>
            <a:pPr algn="r" rtl="1"/>
            <a:endParaRPr lang="ar-EG"/>
          </a:p>
          <a:p>
            <a:pPr algn="r" rtl="1"/>
            <a:endParaRPr lang="ar-EG"/>
          </a:p>
          <a:p>
            <a:pPr algn="r" rtl="1"/>
            <a:endParaRPr lang="en-US" b="1" dirty="0"/>
          </a:p>
        </p:txBody>
      </p:sp>
      <p:pic>
        <p:nvPicPr>
          <p:cNvPr id="6" name="Picture 5">
            <a:extLst>
              <a:ext uri="{FF2B5EF4-FFF2-40B4-BE49-F238E27FC236}">
                <a16:creationId xmlns:a16="http://schemas.microsoft.com/office/drawing/2014/main" id="{4AFFD04F-2578-AD8E-8AB3-C3C036D8A43C}"/>
              </a:ext>
            </a:extLst>
          </p:cNvPr>
          <p:cNvPicPr>
            <a:picLocks noChangeAspect="1"/>
          </p:cNvPicPr>
          <p:nvPr/>
        </p:nvPicPr>
        <p:blipFill>
          <a:blip r:embed="rId2"/>
          <a:stretch>
            <a:fillRect/>
          </a:stretch>
        </p:blipFill>
        <p:spPr>
          <a:xfrm>
            <a:off x="90121" y="3883029"/>
            <a:ext cx="7215031" cy="2866815"/>
          </a:xfrm>
          <a:prstGeom prst="rect">
            <a:avLst/>
          </a:prstGeom>
        </p:spPr>
      </p:pic>
    </p:spTree>
    <p:extLst>
      <p:ext uri="{BB962C8B-B14F-4D97-AF65-F5344CB8AC3E}">
        <p14:creationId xmlns:p14="http://schemas.microsoft.com/office/powerpoint/2010/main" val="1888439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dirty="0">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6689A-AF67-DBC5-65AC-34D515217C60}"/>
              </a:ext>
            </a:extLst>
          </p:cNvPr>
          <p:cNvSpPr>
            <a:spLocks noGrp="1"/>
          </p:cNvSpPr>
          <p:nvPr>
            <p:ph type="title"/>
          </p:nvPr>
        </p:nvSpPr>
        <p:spPr>
          <a:xfrm>
            <a:off x="1012118" y="0"/>
            <a:ext cx="10353762" cy="383458"/>
          </a:xfrm>
        </p:spPr>
        <p:txBody>
          <a:bodyPr>
            <a:noAutofit/>
          </a:bodyPr>
          <a:lstStyle/>
          <a:p>
            <a:r>
              <a:rPr lang="ar-EG" sz="3200" b="1">
                <a:solidFill>
                  <a:srgbClr val="FF0000"/>
                </a:solidFill>
              </a:rPr>
              <a:t>إدخال طلب</a:t>
            </a:r>
            <a:r>
              <a:rPr lang="en-US" sz="3200" b="1" dirty="0">
                <a:solidFill>
                  <a:srgbClr val="FF0000"/>
                </a:solidFill>
              </a:rPr>
              <a:t> (Funding Request)</a:t>
            </a:r>
          </a:p>
        </p:txBody>
      </p:sp>
      <p:sp>
        <p:nvSpPr>
          <p:cNvPr id="3" name="Content Placeholder 2">
            <a:extLst>
              <a:ext uri="{FF2B5EF4-FFF2-40B4-BE49-F238E27FC236}">
                <a16:creationId xmlns:a16="http://schemas.microsoft.com/office/drawing/2014/main" id="{4391F90C-EE0A-D684-B8D5-359DE45E4FA0}"/>
              </a:ext>
            </a:extLst>
          </p:cNvPr>
          <p:cNvSpPr>
            <a:spLocks noGrp="1"/>
          </p:cNvSpPr>
          <p:nvPr>
            <p:ph idx="1"/>
          </p:nvPr>
        </p:nvSpPr>
        <p:spPr>
          <a:xfrm>
            <a:off x="334297" y="511276"/>
            <a:ext cx="11592232" cy="6346723"/>
          </a:xfrm>
        </p:spPr>
        <p:txBody>
          <a:bodyPr/>
          <a:lstStyle/>
          <a:p>
            <a:pPr algn="r" rtl="1"/>
            <a:r>
              <a:rPr lang="ar-EG"/>
              <a:t>نوع التمويل: </a:t>
            </a:r>
            <a:r>
              <a:rPr lang="ar-EG">
                <a:effectLst/>
              </a:rPr>
              <a:t>(مثل تمويل شخصي، تمويل عقاري، أو تمويل مشروعات صغيرة)</a:t>
            </a:r>
          </a:p>
          <a:p>
            <a:pPr algn="r" rtl="1"/>
            <a:r>
              <a:rPr lang="ar-EG">
                <a:effectLst/>
              </a:rPr>
              <a:t>الحالة: </a:t>
            </a:r>
            <a:r>
              <a:rPr lang="ar-EG" b="1">
                <a:effectLst/>
              </a:rPr>
              <a:t>(جديد/تجديد) </a:t>
            </a:r>
            <a:r>
              <a:rPr lang="ar-EG">
                <a:effectLst/>
              </a:rPr>
              <a:t>تُحدد ما إذا كان العميل يتقدم بطلب </a:t>
            </a:r>
            <a:r>
              <a:rPr lang="ar-EG" b="1">
                <a:effectLst/>
              </a:rPr>
              <a:t>لأول مرة</a:t>
            </a:r>
            <a:r>
              <a:rPr lang="ar-EG">
                <a:effectLst/>
              </a:rPr>
              <a:t> (جديد) أو يطلب </a:t>
            </a:r>
            <a:r>
              <a:rPr lang="ar-EG" b="1">
                <a:effectLst/>
              </a:rPr>
              <a:t>إعادة تمويل</a:t>
            </a:r>
            <a:r>
              <a:rPr lang="ar-EG">
                <a:effectLst/>
              </a:rPr>
              <a:t> أو تجديد لقرض قائم بالفعل</a:t>
            </a:r>
          </a:p>
          <a:p>
            <a:pPr algn="r" rtl="1"/>
            <a:r>
              <a:rPr lang="ar-EG" b="1">
                <a:effectLst/>
              </a:rPr>
              <a:t>إسم العميل:</a:t>
            </a:r>
            <a:r>
              <a:rPr lang="ar-EG">
                <a:effectLst/>
              </a:rPr>
              <a:t> الاسم الكامل لمقدم الطلب كما هو مسجل في الأوراق الرسمية</a:t>
            </a:r>
          </a:p>
          <a:p>
            <a:pPr algn="r" rtl="1"/>
            <a:r>
              <a:rPr lang="ar-EG" b="1">
                <a:effectLst/>
              </a:rPr>
              <a:t>المنشأة:</a:t>
            </a:r>
            <a:r>
              <a:rPr lang="ar-EG">
                <a:effectLst/>
              </a:rPr>
              <a:t> تشير إلى </a:t>
            </a:r>
            <a:r>
              <a:rPr lang="ar-EG" b="1">
                <a:effectLst/>
              </a:rPr>
              <a:t>جهة العمل</a:t>
            </a:r>
            <a:r>
              <a:rPr lang="ar-EG">
                <a:effectLst/>
              </a:rPr>
              <a:t> التي يعمل بها العميل أو اسم </a:t>
            </a:r>
            <a:r>
              <a:rPr lang="ar-EG" b="1">
                <a:effectLst/>
              </a:rPr>
              <a:t>المشروع/الشركة</a:t>
            </a:r>
            <a:r>
              <a:rPr lang="ar-EG">
                <a:effectLst/>
              </a:rPr>
              <a:t> التي يمتلكها ويرغب في تمويلها.</a:t>
            </a:r>
          </a:p>
          <a:p>
            <a:pPr algn="r" rtl="1"/>
            <a:r>
              <a:rPr lang="ar-EG" b="1">
                <a:effectLst/>
              </a:rPr>
              <a:t>إسم الضامن:</a:t>
            </a:r>
            <a:r>
              <a:rPr lang="ar-EG">
                <a:effectLst/>
              </a:rPr>
              <a:t> الشخص الذي يتعهد بسداد القرض في حال تعثر العميل الأساسي.</a:t>
            </a:r>
          </a:p>
          <a:p>
            <a:pPr algn="r" rtl="1"/>
            <a:r>
              <a:rPr lang="ar-EG" b="1">
                <a:effectLst/>
              </a:rPr>
              <a:t>الرقم القومي للضامن:</a:t>
            </a:r>
            <a:r>
              <a:rPr lang="ar-EG">
                <a:effectLst/>
              </a:rPr>
              <a:t> بيانات الهوية الخاصة بالضامن للتحقق من أهليته القانونية والائتمانية.</a:t>
            </a:r>
          </a:p>
          <a:p>
            <a:pPr algn="r" rtl="1"/>
            <a:r>
              <a:rPr lang="ar-EG" b="1">
                <a:effectLst/>
              </a:rPr>
              <a:t>صلة العميل بالضامن:</a:t>
            </a:r>
            <a:r>
              <a:rPr lang="ar-EG">
                <a:effectLst/>
              </a:rPr>
              <a:t> طبيعة العلاقة بينهما (مثل: درجة أولى، صديق، زميل عمل) لتقييم مدى قوة الضمانة</a:t>
            </a:r>
          </a:p>
          <a:p>
            <a:pPr algn="r" rtl="1"/>
            <a:r>
              <a:rPr lang="ar-EG" b="1">
                <a:solidFill>
                  <a:srgbClr val="FFFF00"/>
                </a:solidFill>
                <a:effectLst/>
              </a:rPr>
              <a:t>المبلغ المطلوب</a:t>
            </a:r>
            <a:r>
              <a:rPr lang="ar-EG" b="1">
                <a:effectLst/>
              </a:rPr>
              <a:t>:</a:t>
            </a:r>
            <a:r>
              <a:rPr lang="ar-EG">
                <a:effectLst/>
              </a:rPr>
              <a:t> إجمالي المبلغ الذي </a:t>
            </a:r>
            <a:r>
              <a:rPr lang="ar-EG" b="1">
                <a:effectLst/>
              </a:rPr>
              <a:t>يأمل</a:t>
            </a:r>
            <a:r>
              <a:rPr lang="ar-EG">
                <a:effectLst/>
              </a:rPr>
              <a:t> العميل في الحصول عليه من جهة التمويل</a:t>
            </a:r>
          </a:p>
          <a:p>
            <a:pPr algn="r" rtl="1"/>
            <a:r>
              <a:rPr lang="ar-EG" b="1">
                <a:solidFill>
                  <a:srgbClr val="FFFF00"/>
                </a:solidFill>
                <a:effectLst/>
              </a:rPr>
              <a:t>قيمة التمويل</a:t>
            </a:r>
            <a:r>
              <a:rPr lang="ar-EG" b="1">
                <a:effectLst/>
              </a:rPr>
              <a:t>:</a:t>
            </a:r>
            <a:r>
              <a:rPr lang="ar-EG">
                <a:effectLst/>
              </a:rPr>
              <a:t> </a:t>
            </a:r>
            <a:r>
              <a:rPr lang="ar-EG" b="1">
                <a:solidFill>
                  <a:schemeClr val="tx1"/>
                </a:solidFill>
                <a:effectLst/>
              </a:rPr>
              <a:t>مبلغ التمويل الذي توافق </a:t>
            </a:r>
            <a:r>
              <a:rPr lang="ar-EG">
                <a:effectLst/>
              </a:rPr>
              <a:t>جهة التمويل مبدئياً على منحه بناءً على دراسة حالة العميل</a:t>
            </a:r>
          </a:p>
          <a:p>
            <a:pPr algn="r" rtl="1"/>
            <a:r>
              <a:rPr lang="ar-EG" b="1">
                <a:solidFill>
                  <a:srgbClr val="FFFF00"/>
                </a:solidFill>
                <a:effectLst/>
              </a:rPr>
              <a:t>القيمة الفعلية للتمويل</a:t>
            </a:r>
            <a:r>
              <a:rPr lang="ar-EG" b="1">
                <a:effectLst/>
              </a:rPr>
              <a:t>:</a:t>
            </a:r>
            <a:r>
              <a:rPr lang="ar-EG">
                <a:effectLst/>
              </a:rPr>
              <a:t> المبلغ الصافي الذي سيستلمه العميل فعلياً بعد خصم أي رسوم إدارية أو مصاريف بنكية</a:t>
            </a:r>
          </a:p>
          <a:p>
            <a:pPr algn="r" rtl="1"/>
            <a:r>
              <a:rPr lang="ar-EG" b="1">
                <a:effectLst/>
              </a:rPr>
              <a:t>الهدف من التمويل : </a:t>
            </a:r>
            <a:r>
              <a:rPr lang="ar-EG">
                <a:effectLst/>
              </a:rPr>
              <a:t>الغرض من الحصول على المال (مثل: شراء أصول، توسعة مشروع، سداد ديون أخرى).</a:t>
            </a:r>
          </a:p>
          <a:p>
            <a:pPr algn="r" rtl="1"/>
            <a:r>
              <a:rPr lang="ar-EG" b="1">
                <a:effectLst/>
              </a:rPr>
              <a:t>جهة الصرف : ا</a:t>
            </a:r>
            <a:r>
              <a:rPr lang="ar-EG">
                <a:effectLst/>
              </a:rPr>
              <a:t>لمكان أو الطريقة التي سيتم بها تحويل الأموال (مثل: صرف نقدي، شيك لجهة موردة، أو إيداع في حساب بنكي محدد).</a:t>
            </a:r>
          </a:p>
          <a:p>
            <a:pPr algn="r" rtl="1"/>
            <a:endParaRPr lang="en-US" dirty="0"/>
          </a:p>
        </p:txBody>
      </p:sp>
    </p:spTree>
    <p:extLst>
      <p:ext uri="{BB962C8B-B14F-4D97-AF65-F5344CB8AC3E}">
        <p14:creationId xmlns:p14="http://schemas.microsoft.com/office/powerpoint/2010/main" val="18080738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86539-538E-CE9F-800C-FD9E8FA4CC1D}"/>
              </a:ext>
            </a:extLst>
          </p:cNvPr>
          <p:cNvSpPr>
            <a:spLocks noGrp="1"/>
          </p:cNvSpPr>
          <p:nvPr>
            <p:ph type="title"/>
          </p:nvPr>
        </p:nvSpPr>
        <p:spPr>
          <a:xfrm>
            <a:off x="913795" y="0"/>
            <a:ext cx="10353762" cy="570271"/>
          </a:xfrm>
        </p:spPr>
        <p:txBody>
          <a:bodyPr>
            <a:normAutofit fontScale="90000"/>
          </a:bodyPr>
          <a:lstStyle/>
          <a:p>
            <a:r>
              <a:rPr lang="ar-EG" b="1">
                <a:effectLst/>
              </a:rPr>
              <a:t>طلب تمويل</a:t>
            </a:r>
            <a:r>
              <a:rPr lang="en-US" b="1" dirty="0">
                <a:effectLst/>
              </a:rPr>
              <a:t> </a:t>
            </a:r>
            <a:r>
              <a:rPr lang="ar-EG" b="1">
                <a:effectLst/>
              </a:rPr>
              <a:t>تجديد</a:t>
            </a:r>
            <a:endParaRPr lang="en-US" dirty="0"/>
          </a:p>
        </p:txBody>
      </p:sp>
      <p:sp>
        <p:nvSpPr>
          <p:cNvPr id="3" name="Content Placeholder 2">
            <a:extLst>
              <a:ext uri="{FF2B5EF4-FFF2-40B4-BE49-F238E27FC236}">
                <a16:creationId xmlns:a16="http://schemas.microsoft.com/office/drawing/2014/main" id="{E18F61E0-6387-C307-C046-3505F3EF2D2F}"/>
              </a:ext>
            </a:extLst>
          </p:cNvPr>
          <p:cNvSpPr>
            <a:spLocks noGrp="1"/>
          </p:cNvSpPr>
          <p:nvPr>
            <p:ph idx="1"/>
          </p:nvPr>
        </p:nvSpPr>
        <p:spPr>
          <a:xfrm>
            <a:off x="196644" y="570271"/>
            <a:ext cx="11857703" cy="6194323"/>
          </a:xfrm>
        </p:spPr>
        <p:txBody>
          <a:bodyPr/>
          <a:lstStyle/>
          <a:p>
            <a:pPr algn="r" rtl="1"/>
            <a:r>
              <a:rPr lang="ar-EG" b="1">
                <a:effectLst/>
              </a:rPr>
              <a:t>تمديد فترة السداد (</a:t>
            </a:r>
            <a:r>
              <a:rPr lang="en-US" b="1" dirty="0">
                <a:effectLst/>
              </a:rPr>
              <a:t>extension</a:t>
            </a:r>
            <a:r>
              <a:rPr lang="ar-EG" b="1">
                <a:effectLst/>
              </a:rPr>
              <a:t>)</a:t>
            </a:r>
            <a:endParaRPr lang="en-US" b="1" dirty="0">
              <a:effectLst/>
            </a:endParaRPr>
          </a:p>
          <a:p>
            <a:pPr lvl="1" algn="r" rtl="1"/>
            <a:r>
              <a:rPr lang="ar-EG">
                <a:effectLst/>
              </a:rPr>
              <a:t>هذا النوع يركز على </a:t>
            </a:r>
            <a:r>
              <a:rPr lang="ar-EG" b="1">
                <a:effectLst/>
              </a:rPr>
              <a:t>الزمن</a:t>
            </a:r>
            <a:r>
              <a:rPr lang="ar-EG">
                <a:effectLst/>
              </a:rPr>
              <a:t>؛ أي إعطاؤك وقتاً أطول لدفع نفس المبلغ المتبقي عليك، مما يؤدي غالباً لتقليل قيمة القسط الشهري.</a:t>
            </a:r>
            <a:endParaRPr lang="en-US" dirty="0">
              <a:effectLst/>
            </a:endParaRPr>
          </a:p>
          <a:p>
            <a:pPr lvl="1" algn="r" rtl="1"/>
            <a:r>
              <a:rPr lang="ar-EG" b="1">
                <a:effectLst/>
              </a:rPr>
              <a:t>مثال:</a:t>
            </a:r>
            <a:r>
              <a:rPr lang="ar-EG">
                <a:effectLst/>
              </a:rPr>
              <a:t> حصلت على تمويل بمبلغ 50,000 جنيه لمدة سنتين، وبعد مرور سنة تعثرت ظروفك وأصبح القسط كبيراً عليك. تطلب "تجديد" لتمديد السنة المتبقية لتصبح سنتين إضافيتين، فيقل القسط الشهري لكنك ستدفع فوائد لفترة أطول.</a:t>
            </a:r>
            <a:endParaRPr lang="en-US" b="1" dirty="0">
              <a:effectLst/>
            </a:endParaRPr>
          </a:p>
          <a:p>
            <a:pPr algn="r" rtl="1"/>
            <a:r>
              <a:rPr lang="ar-EG" b="1">
                <a:effectLst/>
              </a:rPr>
              <a:t>زيادة مبلغ التمويل </a:t>
            </a:r>
            <a:r>
              <a:rPr lang="en-US" b="1" dirty="0">
                <a:effectLst/>
              </a:rPr>
              <a:t>(Top-up)</a:t>
            </a:r>
          </a:p>
          <a:p>
            <a:pPr lvl="1" algn="r" rtl="1"/>
            <a:r>
              <a:rPr lang="ar-EG"/>
              <a:t>هذا النوع يركز على السيولة؛ وهو مخصص للعملاء الملتزمين الذين سددوا جزءاً من القرض ويريدون العودة للمبلغ الأصلي أو زيادته.</a:t>
            </a:r>
          </a:p>
          <a:p>
            <a:pPr lvl="1" algn="r" rtl="1"/>
            <a:r>
              <a:rPr lang="ar-EG"/>
              <a:t>مثال: كان لديك قرض بـ 100,000 جنيه، وسددت منه 60,000 جنيه (المتبقي عليك 40,000 فقط). تطلب "تجديد" ليرفع البنك القرض مرة أخرى إلى 100,000 جنيه. في هذه الحالة، يتم سداد الـ 40,000 القديمة وتستلم أنت 60,000 جنيه كاش في يدك لتبدأ دورة سداد جديدة.</a:t>
            </a:r>
            <a:endParaRPr lang="en-US" dirty="0"/>
          </a:p>
          <a:p>
            <a:pPr algn="r" rtl="1"/>
            <a:r>
              <a:rPr lang="ar-EG" b="1"/>
              <a:t>إعادة الجدولة (</a:t>
            </a:r>
            <a:r>
              <a:rPr lang="en-US" b="1" dirty="0"/>
              <a:t>Rescheduling</a:t>
            </a:r>
            <a:r>
              <a:rPr lang="ar-EG" b="1"/>
              <a:t>)</a:t>
            </a:r>
          </a:p>
          <a:p>
            <a:pPr lvl="1" algn="r" rtl="1"/>
            <a:r>
              <a:rPr lang="ar-EG"/>
              <a:t>هذا النوع يركز على تغيير الشروط؛ ويحدث عادةً عند حدوث تغيير جذري في حالتك المالية أو لتغيير نوع الفائدة.</a:t>
            </a:r>
          </a:p>
          <a:p>
            <a:pPr lvl="1" algn="r" rtl="1"/>
            <a:r>
              <a:rPr lang="ar-EG"/>
              <a:t>مثال: لديك قرض بضمان مرتبك، وقررت ترك عملك وبدء مشروعك الخاص. تطلب من جهة التمويل "تجديد" القرض ليصبح بضمان "سجل تجاري" أو بضمان "أصل عقاري" بدلاً من الراتب، مع تغيير قيمة الأقساط لتناسب دخلك الجديد من المشروع.</a:t>
            </a:r>
          </a:p>
          <a:p>
            <a:pPr algn="r" rtl="1"/>
            <a:endParaRPr lang="en-US" dirty="0"/>
          </a:p>
        </p:txBody>
      </p:sp>
    </p:spTree>
    <p:extLst>
      <p:ext uri="{BB962C8B-B14F-4D97-AF65-F5344CB8AC3E}">
        <p14:creationId xmlns:p14="http://schemas.microsoft.com/office/powerpoint/2010/main" val="26124471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521110"/>
          </a:xfrm>
        </p:spPr>
        <p:txBody>
          <a:bodyPr>
            <a:noAutofit/>
          </a:bodyPr>
          <a:lstStyle/>
          <a:p>
            <a:r>
              <a:rPr lang="en-US" sz="2800" b="1" dirty="0">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0" y="521110"/>
            <a:ext cx="12192000" cy="6336890"/>
          </a:xfrm>
        </p:spPr>
        <p:txBody>
          <a:bodyPr>
            <a:normAutofit/>
          </a:bodyPr>
          <a:lstStyle/>
          <a:p>
            <a:endParaRPr lang="ar-EG" sz="1700" b="1">
              <a:solidFill>
                <a:srgbClr val="FF0000"/>
              </a:solidFill>
            </a:endParaRPr>
          </a:p>
          <a:p>
            <a:r>
              <a:rPr lang="ar-EG" sz="1700" b="1">
                <a:solidFill>
                  <a:srgbClr val="FF0000"/>
                </a:solidFill>
              </a:rPr>
              <a:t>مسار عمل صغير</a:t>
            </a:r>
            <a:r>
              <a:rPr lang="en-US" sz="1700" b="1">
                <a:solidFill>
                  <a:srgbClr val="FF0000"/>
                </a:solidFill>
              </a:rPr>
              <a:t> : TypeCode == 1</a:t>
            </a:r>
            <a:endParaRPr lang="ar-EG" sz="1700" b="1">
              <a:solidFill>
                <a:srgbClr val="FF0000"/>
              </a:solidFill>
            </a:endParaRPr>
          </a:p>
          <a:p>
            <a:pPr marL="871200" lvl="1" indent="-457200">
              <a:buFont typeface="+mj-lt"/>
              <a:buAutoNum type="arabicPeriod"/>
            </a:pPr>
            <a:r>
              <a:rPr lang="en-US" sz="1700" b="1">
                <a:solidFill>
                  <a:srgbClr val="FF0000"/>
                </a:solidFill>
              </a:rPr>
              <a:t>Funding Request: </a:t>
            </a:r>
            <a:r>
              <a:rPr lang="ar-EG" sz="1700" b="1">
                <a:solidFill>
                  <a:srgbClr val="00B0F0"/>
                </a:solidFill>
              </a:rPr>
              <a:t>طلب تمويل</a:t>
            </a:r>
            <a:r>
              <a:rPr lang="en-US" sz="1700" b="1">
                <a:solidFill>
                  <a:srgbClr val="00B0F0"/>
                </a:solidFill>
              </a:rPr>
              <a:t>, </a:t>
            </a:r>
            <a:r>
              <a:rPr lang="en-US" sz="1700" b="1"/>
              <a:t>LO, R111</a:t>
            </a:r>
          </a:p>
          <a:p>
            <a:pPr marL="871200" lvl="1" indent="-457200">
              <a:buFont typeface="+mj-lt"/>
              <a:buAutoNum type="arabicPeriod"/>
            </a:pPr>
            <a:r>
              <a:rPr lang="en-US" sz="1700" b="1">
                <a:solidFill>
                  <a:srgbClr val="FF0000"/>
                </a:solidFill>
              </a:rPr>
              <a:t>Initial Review:</a:t>
            </a:r>
            <a:r>
              <a:rPr lang="en-US" sz="1700" b="1">
                <a:solidFill>
                  <a:srgbClr val="00B0F0"/>
                </a:solidFill>
              </a:rPr>
              <a:t> </a:t>
            </a:r>
            <a:r>
              <a:rPr lang="ar-EG" sz="1700" b="1">
                <a:solidFill>
                  <a:srgbClr val="00B0F0"/>
                </a:solidFill>
              </a:rPr>
              <a:t>مراجعة أولية</a:t>
            </a:r>
            <a:r>
              <a:rPr lang="en-US" sz="1700" b="1">
                <a:solidFill>
                  <a:srgbClr val="00B0F0"/>
                </a:solidFill>
              </a:rPr>
              <a:t>, </a:t>
            </a:r>
            <a:r>
              <a:rPr lang="en-US" sz="1700" b="1">
                <a:solidFill>
                  <a:schemeClr val="tx1"/>
                </a:solidFill>
              </a:rPr>
              <a:t>CO, CO1010</a:t>
            </a:r>
            <a:r>
              <a:rPr lang="en-US" sz="1700" b="1">
                <a:solidFill>
                  <a:srgbClr val="FF0000"/>
                </a:solidFill>
              </a:rPr>
              <a:t>	</a:t>
            </a:r>
            <a:endParaRPr lang="ar-EG" sz="1700" b="1">
              <a:solidFill>
                <a:srgbClr val="FF0000"/>
              </a:solidFill>
            </a:endParaRPr>
          </a:p>
          <a:p>
            <a:pPr marL="871200" lvl="1" indent="-457200">
              <a:buFont typeface="+mj-lt"/>
              <a:buAutoNum type="arabicPeriod"/>
            </a:pPr>
            <a:r>
              <a:rPr lang="en-US" sz="1700" b="1">
                <a:solidFill>
                  <a:srgbClr val="FF0000"/>
                </a:solidFill>
              </a:rPr>
              <a:t>Field visit: </a:t>
            </a:r>
            <a:r>
              <a:rPr lang="ar-EG" sz="1700" b="1">
                <a:solidFill>
                  <a:srgbClr val="00B0F0"/>
                </a:solidFill>
              </a:rPr>
              <a:t>زيارة ميدانية</a:t>
            </a:r>
            <a:r>
              <a:rPr lang="en-US" sz="1700" b="1">
                <a:solidFill>
                  <a:srgbClr val="00B0F0"/>
                </a:solidFill>
              </a:rPr>
              <a:t>,</a:t>
            </a:r>
            <a:r>
              <a:rPr lang="en-US" sz="1700" b="1">
                <a:solidFill>
                  <a:srgbClr val="FF0000"/>
                </a:solidFill>
              </a:rPr>
              <a:t> </a:t>
            </a:r>
            <a:r>
              <a:rPr lang="en-US" sz="1700" b="1">
                <a:solidFill>
                  <a:schemeClr val="tx1"/>
                </a:solidFill>
              </a:rPr>
              <a:t>CO, CO1311</a:t>
            </a:r>
          </a:p>
          <a:p>
            <a:pPr marL="871200" lvl="1" indent="-457200">
              <a:buFont typeface="+mj-lt"/>
              <a:buAutoNum type="arabicPeriod"/>
            </a:pPr>
            <a:r>
              <a:rPr lang="en-US" sz="1700" b="1">
                <a:solidFill>
                  <a:srgbClr val="FF0000"/>
                </a:solidFill>
              </a:rPr>
              <a:t>Critical analysis: </a:t>
            </a:r>
            <a:r>
              <a:rPr lang="ar-EG" sz="1700" b="1">
                <a:solidFill>
                  <a:srgbClr val="FF0000"/>
                </a:solidFill>
              </a:rPr>
              <a:t> </a:t>
            </a:r>
            <a:r>
              <a:rPr lang="ar-EG" sz="1700" b="1">
                <a:solidFill>
                  <a:srgbClr val="00B0F0"/>
                </a:solidFill>
              </a:rPr>
              <a:t>,تحليل الائتماني</a:t>
            </a:r>
            <a:r>
              <a:rPr lang="en-US" sz="1700" b="1"/>
              <a:t>CO, CA1211</a:t>
            </a:r>
          </a:p>
          <a:p>
            <a:pPr marL="871200" lvl="1" indent="-457200">
              <a:buFont typeface="+mj-lt"/>
              <a:buAutoNum type="arabicPeriod"/>
            </a:pPr>
            <a:r>
              <a:rPr lang="en-US" sz="1700" b="1">
                <a:solidFill>
                  <a:srgbClr val="FF0000"/>
                </a:solidFill>
              </a:rPr>
              <a:t>Uploading Documents: </a:t>
            </a:r>
            <a:r>
              <a:rPr lang="ar-EG" sz="1700" b="1">
                <a:solidFill>
                  <a:srgbClr val="00B0F0"/>
                </a:solidFill>
              </a:rPr>
              <a:t>تحميل المستندات</a:t>
            </a:r>
            <a:r>
              <a:rPr lang="en-US" sz="1700" b="1">
                <a:solidFill>
                  <a:srgbClr val="00B0F0"/>
                </a:solidFill>
              </a:rPr>
              <a:t>,</a:t>
            </a:r>
            <a:r>
              <a:rPr lang="en-US" sz="1700" b="1">
                <a:solidFill>
                  <a:srgbClr val="FF0000"/>
                </a:solidFill>
              </a:rPr>
              <a:t> </a:t>
            </a:r>
            <a:r>
              <a:rPr lang="en-US" sz="1700" b="1"/>
              <a:t>BM, DU77</a:t>
            </a:r>
          </a:p>
          <a:p>
            <a:pPr marL="871200" lvl="1" indent="-457200">
              <a:buFont typeface="+mj-lt"/>
              <a:buAutoNum type="arabicPeriod"/>
            </a:pPr>
            <a:r>
              <a:rPr lang="en-US" sz="1700" b="1">
                <a:solidFill>
                  <a:srgbClr val="FF0000"/>
                </a:solidFill>
              </a:rPr>
              <a:t>Central Review: </a:t>
            </a:r>
            <a:r>
              <a:rPr lang="ar-EG" sz="1700" b="1">
                <a:solidFill>
                  <a:srgbClr val="00B0F0"/>
                </a:solidFill>
              </a:rPr>
              <a:t>المراجعة المركزية</a:t>
            </a:r>
            <a:r>
              <a:rPr lang="en-US" sz="1700" b="1">
                <a:solidFill>
                  <a:srgbClr val="00B0F0"/>
                </a:solidFill>
              </a:rPr>
              <a:t>,</a:t>
            </a:r>
            <a:r>
              <a:rPr lang="en-US" sz="1700" b="1">
                <a:solidFill>
                  <a:srgbClr val="FF0000"/>
                </a:solidFill>
              </a:rPr>
              <a:t> </a:t>
            </a:r>
            <a:r>
              <a:rPr lang="en-US" sz="1700" b="1"/>
              <a:t>Operator: Credit</a:t>
            </a:r>
          </a:p>
          <a:p>
            <a:pPr marL="871200" lvl="1" indent="-457200">
              <a:buFont typeface="+mj-lt"/>
              <a:buAutoNum type="arabicPeriod"/>
            </a:pPr>
            <a:r>
              <a:rPr lang="ar-EG" sz="1700" b="1">
                <a:solidFill>
                  <a:srgbClr val="FF0000"/>
                </a:solidFill>
              </a:rPr>
              <a:t>الصرف</a:t>
            </a:r>
          </a:p>
          <a:p>
            <a:endParaRPr lang="en-US" sz="2000" b="1">
              <a:solidFill>
                <a:srgbClr val="FF0000"/>
              </a:solidFill>
            </a:endParaRPr>
          </a:p>
          <a:p>
            <a:endParaRPr lang="en-US" b="1">
              <a:solidFill>
                <a:srgbClr val="FF0000"/>
              </a:solidFill>
            </a:endParaRPr>
          </a:p>
          <a:p>
            <a:endParaRPr lang="ar-EG" sz="2000" b="1">
              <a:solidFill>
                <a:srgbClr val="FF0000"/>
              </a:solidFill>
            </a:endParaRPr>
          </a:p>
        </p:txBody>
      </p:sp>
      <p:sp>
        <p:nvSpPr>
          <p:cNvPr id="4" name="Rectangle 3">
            <a:extLst>
              <a:ext uri="{FF2B5EF4-FFF2-40B4-BE49-F238E27FC236}">
                <a16:creationId xmlns:a16="http://schemas.microsoft.com/office/drawing/2014/main" id="{1720E16C-0590-F8DD-125B-06D9B001EE98}"/>
              </a:ext>
            </a:extLst>
          </p:cNvPr>
          <p:cNvSpPr/>
          <p:nvPr/>
        </p:nvSpPr>
        <p:spPr>
          <a:xfrm>
            <a:off x="5791201" y="796415"/>
            <a:ext cx="6304721" cy="4070554"/>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nSpc>
                <a:spcPct val="150000"/>
              </a:lnSpc>
            </a:pPr>
            <a:r>
              <a:rPr lang="ar-EG" b="1">
                <a:solidFill>
                  <a:srgbClr val="FF0000"/>
                </a:solidFill>
              </a:rPr>
              <a:t>مسار عمل كبير</a:t>
            </a:r>
            <a:r>
              <a:rPr lang="en-US" b="1">
                <a:solidFill>
                  <a:srgbClr val="FF0000"/>
                </a:solidFill>
              </a:rPr>
              <a:t> : TypeCode == </a:t>
            </a:r>
            <a:r>
              <a:rPr lang="ar-EG" b="1">
                <a:solidFill>
                  <a:srgbClr val="FF0000"/>
                </a:solidFill>
              </a:rPr>
              <a:t>2</a:t>
            </a:r>
          </a:p>
          <a:p>
            <a:pPr marL="871200" lvl="1" indent="-457200">
              <a:lnSpc>
                <a:spcPct val="150000"/>
              </a:lnSpc>
              <a:buFont typeface="+mj-lt"/>
              <a:buAutoNum type="arabicPeriod"/>
            </a:pPr>
            <a:r>
              <a:rPr lang="en-US" sz="1600" b="1">
                <a:solidFill>
                  <a:srgbClr val="FF0000"/>
                </a:solidFill>
              </a:rPr>
              <a:t>Funding Request: </a:t>
            </a:r>
            <a:r>
              <a:rPr lang="ar-EG" sz="1600" b="1">
                <a:solidFill>
                  <a:srgbClr val="00B0F0"/>
                </a:solidFill>
              </a:rPr>
              <a:t>طلب تمويل</a:t>
            </a:r>
            <a:r>
              <a:rPr lang="en-US" sz="1600" b="1">
                <a:solidFill>
                  <a:srgbClr val="00B0F0"/>
                </a:solidFill>
              </a:rPr>
              <a:t>, </a:t>
            </a:r>
            <a:r>
              <a:rPr lang="en-US" sz="1600" b="1"/>
              <a:t>LO, R111</a:t>
            </a:r>
          </a:p>
          <a:p>
            <a:pPr marL="871200" lvl="1" indent="-457200">
              <a:lnSpc>
                <a:spcPct val="150000"/>
              </a:lnSpc>
              <a:buFont typeface="+mj-lt"/>
              <a:buAutoNum type="arabicPeriod"/>
            </a:pPr>
            <a:r>
              <a:rPr lang="en-US" sz="1600" b="1">
                <a:solidFill>
                  <a:srgbClr val="FF0000"/>
                </a:solidFill>
              </a:rPr>
              <a:t>Initial Review:</a:t>
            </a:r>
            <a:r>
              <a:rPr lang="en-US" sz="1600" b="1">
                <a:solidFill>
                  <a:srgbClr val="00B0F0"/>
                </a:solidFill>
              </a:rPr>
              <a:t> </a:t>
            </a:r>
            <a:r>
              <a:rPr lang="ar-EG" sz="1600" b="1">
                <a:solidFill>
                  <a:srgbClr val="00B0F0"/>
                </a:solidFill>
              </a:rPr>
              <a:t>مراجعة أولية</a:t>
            </a:r>
            <a:r>
              <a:rPr lang="en-US" sz="1600" b="1">
                <a:solidFill>
                  <a:srgbClr val="00B0F0"/>
                </a:solidFill>
              </a:rPr>
              <a:t>, </a:t>
            </a:r>
            <a:r>
              <a:rPr lang="en-US" sz="1600" b="1">
                <a:solidFill>
                  <a:schemeClr val="tx1"/>
                </a:solidFill>
              </a:rPr>
              <a:t>CO, CO1010</a:t>
            </a:r>
            <a:r>
              <a:rPr lang="en-US" sz="1600" b="1">
                <a:solidFill>
                  <a:srgbClr val="FF0000"/>
                </a:solidFill>
              </a:rPr>
              <a:t>	</a:t>
            </a:r>
            <a:endParaRPr lang="ar-EG" sz="1600" b="1">
              <a:solidFill>
                <a:srgbClr val="FF0000"/>
              </a:solidFill>
            </a:endParaRPr>
          </a:p>
          <a:p>
            <a:pPr marL="871200" lvl="1" indent="-457200">
              <a:lnSpc>
                <a:spcPct val="150000"/>
              </a:lnSpc>
              <a:buFont typeface="+mj-lt"/>
              <a:buAutoNum type="arabicPeriod"/>
            </a:pPr>
            <a:r>
              <a:rPr lang="en-US" sz="1600" b="1">
                <a:solidFill>
                  <a:srgbClr val="FF0000"/>
                </a:solidFill>
              </a:rPr>
              <a:t>Field visit: </a:t>
            </a:r>
            <a:r>
              <a:rPr lang="ar-EG" sz="1600" b="1">
                <a:solidFill>
                  <a:srgbClr val="00B0F0"/>
                </a:solidFill>
              </a:rPr>
              <a:t>زيارة ميدانية</a:t>
            </a:r>
            <a:r>
              <a:rPr lang="en-US" sz="1600" b="1">
                <a:solidFill>
                  <a:srgbClr val="00B0F0"/>
                </a:solidFill>
              </a:rPr>
              <a:t>,</a:t>
            </a:r>
            <a:r>
              <a:rPr lang="en-US" sz="1600" b="1">
                <a:solidFill>
                  <a:srgbClr val="FF0000"/>
                </a:solidFill>
              </a:rPr>
              <a:t> </a:t>
            </a:r>
            <a:r>
              <a:rPr lang="en-US" sz="1600" b="1">
                <a:solidFill>
                  <a:schemeClr val="tx1"/>
                </a:solidFill>
              </a:rPr>
              <a:t>CO, CO1311</a:t>
            </a:r>
          </a:p>
          <a:p>
            <a:pPr marL="871200" lvl="1" indent="-457200">
              <a:lnSpc>
                <a:spcPct val="150000"/>
              </a:lnSpc>
              <a:buFont typeface="+mj-lt"/>
              <a:buAutoNum type="arabicPeriod"/>
            </a:pPr>
            <a:r>
              <a:rPr lang="en-US" sz="1600" b="1">
                <a:solidFill>
                  <a:srgbClr val="FF0000"/>
                </a:solidFill>
              </a:rPr>
              <a:t>Critical analysis: </a:t>
            </a:r>
            <a:r>
              <a:rPr lang="ar-EG" sz="1600" b="1">
                <a:solidFill>
                  <a:srgbClr val="FF0000"/>
                </a:solidFill>
              </a:rPr>
              <a:t> </a:t>
            </a:r>
            <a:r>
              <a:rPr lang="ar-EG" sz="1600" b="1">
                <a:solidFill>
                  <a:srgbClr val="00B0F0"/>
                </a:solidFill>
              </a:rPr>
              <a:t>,تحليل الائتماني</a:t>
            </a:r>
            <a:r>
              <a:rPr lang="en-US" sz="1600" b="1"/>
              <a:t>CO, CA1211</a:t>
            </a:r>
            <a:endParaRPr lang="ar-EG" sz="1600" b="1"/>
          </a:p>
          <a:p>
            <a:pPr marL="871200" lvl="1" indent="-457200">
              <a:lnSpc>
                <a:spcPct val="150000"/>
              </a:lnSpc>
              <a:buFont typeface="+mj-lt"/>
              <a:buAutoNum type="arabicPeriod"/>
            </a:pPr>
            <a:r>
              <a:rPr lang="en-US" sz="1600" b="1">
                <a:solidFill>
                  <a:srgbClr val="FF0000"/>
                </a:solidFill>
                <a:highlight>
                  <a:srgbClr val="800080"/>
                </a:highlight>
              </a:rPr>
              <a:t>Branch Manager Review</a:t>
            </a:r>
            <a:r>
              <a:rPr lang="en-US" sz="1600" b="1">
                <a:highlight>
                  <a:srgbClr val="800080"/>
                </a:highlight>
              </a:rPr>
              <a:t>: </a:t>
            </a:r>
            <a:r>
              <a:rPr lang="ar-EG" sz="1600" b="1">
                <a:solidFill>
                  <a:srgbClr val="00B0F0"/>
                </a:solidFill>
                <a:highlight>
                  <a:srgbClr val="800080"/>
                </a:highlight>
              </a:rPr>
              <a:t>مراجعة مدير الفرع</a:t>
            </a:r>
            <a:r>
              <a:rPr lang="en-US" sz="1600" b="1">
                <a:highlight>
                  <a:srgbClr val="800080"/>
                </a:highlight>
              </a:rPr>
              <a:t>,  BM, BMFR1</a:t>
            </a:r>
          </a:p>
          <a:p>
            <a:pPr marL="871200" lvl="1" indent="-457200">
              <a:lnSpc>
                <a:spcPct val="150000"/>
              </a:lnSpc>
              <a:buFont typeface="+mj-lt"/>
              <a:buAutoNum type="arabicPeriod"/>
            </a:pPr>
            <a:r>
              <a:rPr lang="en-US" sz="1600" b="1">
                <a:solidFill>
                  <a:srgbClr val="FF0000"/>
                </a:solidFill>
                <a:highlight>
                  <a:srgbClr val="800080"/>
                </a:highlight>
              </a:rPr>
              <a:t>Central Committee: </a:t>
            </a:r>
            <a:r>
              <a:rPr lang="ar-EG" sz="1600" b="1">
                <a:solidFill>
                  <a:srgbClr val="00B0F0"/>
                </a:solidFill>
                <a:highlight>
                  <a:srgbClr val="800080"/>
                </a:highlight>
              </a:rPr>
              <a:t>لجنة مركزية</a:t>
            </a:r>
            <a:r>
              <a:rPr lang="en-US" sz="1600" b="1">
                <a:solidFill>
                  <a:srgbClr val="00B0F0"/>
                </a:solidFill>
                <a:highlight>
                  <a:srgbClr val="800080"/>
                </a:highlight>
              </a:rPr>
              <a:t>,</a:t>
            </a:r>
            <a:r>
              <a:rPr lang="en-US" sz="1600" b="1">
                <a:solidFill>
                  <a:srgbClr val="FF0000"/>
                </a:solidFill>
                <a:highlight>
                  <a:srgbClr val="800080"/>
                </a:highlight>
              </a:rPr>
              <a:t> </a:t>
            </a:r>
            <a:r>
              <a:rPr lang="en-US" sz="1600" b="1">
                <a:highlight>
                  <a:srgbClr val="800080"/>
                </a:highlight>
              </a:rPr>
              <a:t> BM, CMR</a:t>
            </a:r>
          </a:p>
          <a:p>
            <a:pPr marL="871200" lvl="1" indent="-457200">
              <a:lnSpc>
                <a:spcPct val="150000"/>
              </a:lnSpc>
              <a:buFont typeface="+mj-lt"/>
              <a:buAutoNum type="arabicPeriod"/>
            </a:pPr>
            <a:r>
              <a:rPr lang="en-US" sz="1600" b="1">
                <a:solidFill>
                  <a:srgbClr val="FF0000"/>
                </a:solidFill>
              </a:rPr>
              <a:t>Uploading Documents: </a:t>
            </a:r>
            <a:r>
              <a:rPr lang="ar-EG" sz="1600" b="1">
                <a:solidFill>
                  <a:srgbClr val="00B0F0"/>
                </a:solidFill>
              </a:rPr>
              <a:t>تحميل المستندات</a:t>
            </a:r>
            <a:r>
              <a:rPr lang="en-US" sz="1600" b="1">
                <a:solidFill>
                  <a:srgbClr val="00B0F0"/>
                </a:solidFill>
              </a:rPr>
              <a:t>,</a:t>
            </a:r>
            <a:r>
              <a:rPr lang="en-US" sz="1600" b="1">
                <a:solidFill>
                  <a:srgbClr val="FF0000"/>
                </a:solidFill>
              </a:rPr>
              <a:t> </a:t>
            </a:r>
            <a:r>
              <a:rPr lang="en-US" sz="1600" b="1"/>
              <a:t>BM, DU77</a:t>
            </a:r>
          </a:p>
          <a:p>
            <a:pPr marL="871200" lvl="1" indent="-457200">
              <a:lnSpc>
                <a:spcPct val="150000"/>
              </a:lnSpc>
              <a:buFont typeface="+mj-lt"/>
              <a:buAutoNum type="arabicPeriod"/>
            </a:pPr>
            <a:r>
              <a:rPr lang="en-US" sz="1600" b="1">
                <a:solidFill>
                  <a:srgbClr val="FF0000"/>
                </a:solidFill>
              </a:rPr>
              <a:t>Central Review: </a:t>
            </a:r>
            <a:r>
              <a:rPr lang="ar-EG" sz="1600" b="1">
                <a:solidFill>
                  <a:srgbClr val="00B0F0"/>
                </a:solidFill>
              </a:rPr>
              <a:t>المراجعة المركزية</a:t>
            </a:r>
            <a:r>
              <a:rPr lang="en-US" sz="1600" b="1">
                <a:solidFill>
                  <a:srgbClr val="00B0F0"/>
                </a:solidFill>
              </a:rPr>
              <a:t>,</a:t>
            </a:r>
            <a:r>
              <a:rPr lang="en-US" sz="1600" b="1">
                <a:solidFill>
                  <a:srgbClr val="FF0000"/>
                </a:solidFill>
              </a:rPr>
              <a:t> </a:t>
            </a:r>
            <a:r>
              <a:rPr lang="en-US" sz="1600" b="1"/>
              <a:t>Credit, LR55</a:t>
            </a:r>
          </a:p>
          <a:p>
            <a:pPr marL="871200" lvl="1" indent="-457200">
              <a:lnSpc>
                <a:spcPct val="150000"/>
              </a:lnSpc>
              <a:buFont typeface="+mj-lt"/>
              <a:buAutoNum type="arabicPeriod"/>
            </a:pPr>
            <a:r>
              <a:rPr lang="ar-EG" sz="1600" b="1">
                <a:solidFill>
                  <a:srgbClr val="FF0000"/>
                </a:solidFill>
              </a:rPr>
              <a:t>الصرف</a:t>
            </a:r>
          </a:p>
          <a:p>
            <a:pPr algn="ctr">
              <a:lnSpc>
                <a:spcPct val="150000"/>
              </a:lnSpc>
            </a:pPr>
            <a:endParaRPr lang="en-US"/>
          </a:p>
        </p:txBody>
      </p:sp>
    </p:spTree>
    <p:extLst>
      <p:ext uri="{BB962C8B-B14F-4D97-AF65-F5344CB8AC3E}">
        <p14:creationId xmlns:p14="http://schemas.microsoft.com/office/powerpoint/2010/main" val="25915819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70FC1-AD9B-23A6-4690-E0F607A0D7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AA768-FBB9-9408-CCB8-E656544B163C}"/>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Funding Request: R111</a:t>
            </a:r>
            <a:endParaRPr lang="en-US" sz="4400" b="1" dirty="0">
              <a:solidFill>
                <a:srgbClr val="FF0000"/>
              </a:solidFill>
            </a:endParaRPr>
          </a:p>
        </p:txBody>
      </p:sp>
    </p:spTree>
    <p:extLst>
      <p:ext uri="{BB962C8B-B14F-4D97-AF65-F5344CB8AC3E}">
        <p14:creationId xmlns:p14="http://schemas.microsoft.com/office/powerpoint/2010/main" val="14722935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5F02-B149-6B8C-A2BB-05927BB91BAD}"/>
              </a:ext>
            </a:extLst>
          </p:cNvPr>
          <p:cNvSpPr>
            <a:spLocks noGrp="1"/>
          </p:cNvSpPr>
          <p:nvPr>
            <p:ph type="title"/>
          </p:nvPr>
        </p:nvSpPr>
        <p:spPr>
          <a:xfrm>
            <a:off x="913795" y="0"/>
            <a:ext cx="10353762" cy="675861"/>
          </a:xfrm>
        </p:spPr>
        <p:txBody>
          <a:bodyPr>
            <a:normAutofit fontScale="90000"/>
          </a:bodyPr>
          <a:lstStyle/>
          <a:p>
            <a:r>
              <a:rPr lang="en-US" b="1">
                <a:solidFill>
                  <a:srgbClr val="FF0000"/>
                </a:solidFill>
              </a:rPr>
              <a:t>LO click on </a:t>
            </a:r>
            <a:r>
              <a:rPr lang="ar-EG" b="1">
                <a:solidFill>
                  <a:srgbClr val="FF0000"/>
                </a:solidFill>
              </a:rPr>
              <a:t>طلب جديد</a:t>
            </a:r>
            <a:endParaRPr lang="en-US" b="1">
              <a:solidFill>
                <a:srgbClr val="FF0000"/>
              </a:solidFill>
            </a:endParaRPr>
          </a:p>
        </p:txBody>
      </p:sp>
      <p:sp>
        <p:nvSpPr>
          <p:cNvPr id="3" name="Content Placeholder 2">
            <a:extLst>
              <a:ext uri="{FF2B5EF4-FFF2-40B4-BE49-F238E27FC236}">
                <a16:creationId xmlns:a16="http://schemas.microsoft.com/office/drawing/2014/main" id="{326039B0-7092-AF3F-0630-AA862CE806BE}"/>
              </a:ext>
            </a:extLst>
          </p:cNvPr>
          <p:cNvSpPr>
            <a:spLocks noGrp="1"/>
          </p:cNvSpPr>
          <p:nvPr>
            <p:ph idx="1"/>
          </p:nvPr>
        </p:nvSpPr>
        <p:spPr>
          <a:xfrm>
            <a:off x="218660" y="675861"/>
            <a:ext cx="11847443" cy="6013174"/>
          </a:xfrm>
        </p:spPr>
        <p:txBody>
          <a:bodyPr/>
          <a:lstStyle/>
          <a:p>
            <a:r>
              <a:rPr lang="ar-EG"/>
              <a:t>علشان اجيب بعض البيانات الخاصة بتحميل شاشة طلب التمويل</a:t>
            </a:r>
            <a:endParaRPr lang="en-US"/>
          </a:p>
          <a:p>
            <a:r>
              <a:rPr lang="en-US"/>
              <a:t>Flow_Funding_requestController/</a:t>
            </a:r>
            <a:r>
              <a:rPr lang="en-US" b="1">
                <a:solidFill>
                  <a:srgbClr val="00B0F0"/>
                </a:solidFill>
              </a:rPr>
              <a:t>GetAllFundingLoadList</a:t>
            </a:r>
            <a:r>
              <a:rPr lang="en-US"/>
              <a:t>/{BranchId}/{UserId}</a:t>
            </a:r>
          </a:p>
          <a:p>
            <a:pPr lvl="1"/>
            <a:r>
              <a:rPr lang="en-US" b="1">
                <a:solidFill>
                  <a:srgbClr val="FFC000"/>
                </a:solidFill>
              </a:rPr>
              <a:t>FundindPageLoadVM</a:t>
            </a:r>
            <a:r>
              <a:rPr lang="en-US"/>
              <a:t> </a:t>
            </a:r>
            <a:r>
              <a:rPr lang="en-US" b="1"/>
              <a:t>Flow_Funding_requestService</a:t>
            </a:r>
            <a:r>
              <a:rPr lang="en-US"/>
              <a:t> </a:t>
            </a:r>
            <a:r>
              <a:rPr lang="en-US" b="1">
                <a:solidFill>
                  <a:srgbClr val="00B0F0"/>
                </a:solidFill>
              </a:rPr>
              <a:t>GetAllFundingLoadList</a:t>
            </a:r>
            <a:r>
              <a:rPr lang="en-US"/>
              <a:t>(branchId, userId)</a:t>
            </a:r>
          </a:p>
          <a:p>
            <a:endParaRPr lang="en-US"/>
          </a:p>
          <a:p>
            <a:endParaRPr lang="en-US"/>
          </a:p>
        </p:txBody>
      </p:sp>
      <p:pic>
        <p:nvPicPr>
          <p:cNvPr id="5" name="Picture 4">
            <a:extLst>
              <a:ext uri="{FF2B5EF4-FFF2-40B4-BE49-F238E27FC236}">
                <a16:creationId xmlns:a16="http://schemas.microsoft.com/office/drawing/2014/main" id="{AE3AE4B7-632E-5BE5-1879-702F4C2520DA}"/>
              </a:ext>
            </a:extLst>
          </p:cNvPr>
          <p:cNvPicPr>
            <a:picLocks noChangeAspect="1"/>
          </p:cNvPicPr>
          <p:nvPr/>
        </p:nvPicPr>
        <p:blipFill>
          <a:blip r:embed="rId2"/>
          <a:stretch>
            <a:fillRect/>
          </a:stretch>
        </p:blipFill>
        <p:spPr>
          <a:xfrm>
            <a:off x="125897" y="4842163"/>
            <a:ext cx="5970103" cy="1932709"/>
          </a:xfrm>
          <a:prstGeom prst="rect">
            <a:avLst/>
          </a:prstGeom>
        </p:spPr>
      </p:pic>
      <p:pic>
        <p:nvPicPr>
          <p:cNvPr id="7" name="Picture 6">
            <a:extLst>
              <a:ext uri="{FF2B5EF4-FFF2-40B4-BE49-F238E27FC236}">
                <a16:creationId xmlns:a16="http://schemas.microsoft.com/office/drawing/2014/main" id="{0A94F07D-B157-DB50-0F40-D267A5FA5954}"/>
              </a:ext>
            </a:extLst>
          </p:cNvPr>
          <p:cNvPicPr>
            <a:picLocks noChangeAspect="1"/>
          </p:cNvPicPr>
          <p:nvPr/>
        </p:nvPicPr>
        <p:blipFill>
          <a:blip r:embed="rId3"/>
          <a:stretch>
            <a:fillRect/>
          </a:stretch>
        </p:blipFill>
        <p:spPr>
          <a:xfrm>
            <a:off x="125897" y="1926193"/>
            <a:ext cx="5970103" cy="2830133"/>
          </a:xfrm>
          <a:prstGeom prst="rect">
            <a:avLst/>
          </a:prstGeom>
        </p:spPr>
      </p:pic>
    </p:spTree>
    <p:extLst>
      <p:ext uri="{BB962C8B-B14F-4D97-AF65-F5344CB8AC3E}">
        <p14:creationId xmlns:p14="http://schemas.microsoft.com/office/powerpoint/2010/main" val="27976679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2DB6E-98E4-04D6-32A1-81DE6C3C3280}"/>
              </a:ext>
            </a:extLst>
          </p:cNvPr>
          <p:cNvSpPr>
            <a:spLocks noGrp="1"/>
          </p:cNvSpPr>
          <p:nvPr>
            <p:ph type="title"/>
          </p:nvPr>
        </p:nvSpPr>
        <p:spPr>
          <a:xfrm>
            <a:off x="913795" y="0"/>
            <a:ext cx="10353762" cy="654627"/>
          </a:xfrm>
        </p:spPr>
        <p:txBody>
          <a:bodyPr>
            <a:normAutofit fontScale="90000"/>
          </a:bodyPr>
          <a:lstStyle/>
          <a:p>
            <a:r>
              <a:rPr lang="en-US" b="1">
                <a:solidFill>
                  <a:srgbClr val="FF0000"/>
                </a:solidFill>
              </a:rPr>
              <a:t>LO Select Funding Type [ </a:t>
            </a:r>
            <a:r>
              <a:rPr lang="ar-EG" b="1">
                <a:solidFill>
                  <a:srgbClr val="FF0000"/>
                </a:solidFill>
              </a:rPr>
              <a:t>نوع التمويل</a:t>
            </a:r>
            <a:r>
              <a:rPr lang="en-US" b="1">
                <a:solidFill>
                  <a:srgbClr val="FF0000"/>
                </a:solidFill>
              </a:rPr>
              <a:t> ]</a:t>
            </a:r>
          </a:p>
        </p:txBody>
      </p:sp>
      <p:sp>
        <p:nvSpPr>
          <p:cNvPr id="3" name="Content Placeholder 2">
            <a:extLst>
              <a:ext uri="{FF2B5EF4-FFF2-40B4-BE49-F238E27FC236}">
                <a16:creationId xmlns:a16="http://schemas.microsoft.com/office/drawing/2014/main" id="{0E9EE910-A036-D8E1-199B-70594B8C7B8F}"/>
              </a:ext>
            </a:extLst>
          </p:cNvPr>
          <p:cNvSpPr>
            <a:spLocks noGrp="1"/>
          </p:cNvSpPr>
          <p:nvPr>
            <p:ph idx="1"/>
          </p:nvPr>
        </p:nvSpPr>
        <p:spPr>
          <a:xfrm>
            <a:off x="166254" y="654627"/>
            <a:ext cx="11814463" cy="6047509"/>
          </a:xfrm>
        </p:spPr>
        <p:txBody>
          <a:bodyPr/>
          <a:lstStyle/>
          <a:p>
            <a:r>
              <a:rPr lang="ar-EG"/>
              <a:t>بجيب كل البيانات الخاصة بالمنتج</a:t>
            </a:r>
            <a:endParaRPr lang="en-US"/>
          </a:p>
          <a:p>
            <a:r>
              <a:rPr lang="en-US"/>
              <a:t>Flow_Funding_requestController/</a:t>
            </a:r>
            <a:r>
              <a:rPr lang="en-US" sz="1800" b="1">
                <a:solidFill>
                  <a:srgbClr val="00B0F0"/>
                </a:solidFill>
              </a:rPr>
              <a:t>Flow_Funding_requestController</a:t>
            </a:r>
            <a:r>
              <a:rPr lang="en-US"/>
              <a:t>/{BranchId}/{UserId}</a:t>
            </a:r>
          </a:p>
          <a:p>
            <a:pPr lvl="1"/>
            <a:r>
              <a:rPr lang="en-US" b="1">
                <a:solidFill>
                  <a:srgbClr val="FFC000"/>
                </a:solidFill>
              </a:rPr>
              <a:t>TypeDocumentVM</a:t>
            </a:r>
            <a:r>
              <a:rPr lang="en-US"/>
              <a:t> </a:t>
            </a:r>
            <a:r>
              <a:rPr lang="en-US" b="1"/>
              <a:t>Flow_Funding_requestService/</a:t>
            </a:r>
            <a:r>
              <a:rPr lang="en-US" b="1">
                <a:solidFill>
                  <a:srgbClr val="00B0F0"/>
                </a:solidFill>
                <a:effectLst/>
              </a:rPr>
              <a:t>GetAllTypeDocuments</a:t>
            </a:r>
            <a:r>
              <a:rPr lang="en-US">
                <a:effectLst/>
              </a:rPr>
              <a:t> </a:t>
            </a:r>
            <a:r>
              <a:rPr lang="en-US"/>
              <a:t>( </a:t>
            </a:r>
            <a:r>
              <a:rPr lang="en-US" b="1"/>
              <a:t>branchId, userId</a:t>
            </a:r>
            <a:r>
              <a:rPr lang="en-US"/>
              <a:t> )</a:t>
            </a:r>
          </a:p>
          <a:p>
            <a:endParaRPr lang="en-US"/>
          </a:p>
          <a:p>
            <a:endParaRPr lang="en-US"/>
          </a:p>
        </p:txBody>
      </p:sp>
      <p:pic>
        <p:nvPicPr>
          <p:cNvPr id="5" name="Picture 4">
            <a:extLst>
              <a:ext uri="{FF2B5EF4-FFF2-40B4-BE49-F238E27FC236}">
                <a16:creationId xmlns:a16="http://schemas.microsoft.com/office/drawing/2014/main" id="{854FA3C6-35E2-E50A-0BBE-06D6612ADC54}"/>
              </a:ext>
            </a:extLst>
          </p:cNvPr>
          <p:cNvPicPr>
            <a:picLocks noChangeAspect="1"/>
          </p:cNvPicPr>
          <p:nvPr/>
        </p:nvPicPr>
        <p:blipFill>
          <a:blip r:embed="rId2"/>
          <a:stretch>
            <a:fillRect/>
          </a:stretch>
        </p:blipFill>
        <p:spPr>
          <a:xfrm>
            <a:off x="0" y="2109480"/>
            <a:ext cx="6264183" cy="3543607"/>
          </a:xfrm>
          <a:prstGeom prst="rect">
            <a:avLst/>
          </a:prstGeom>
        </p:spPr>
      </p:pic>
    </p:spTree>
    <p:extLst>
      <p:ext uri="{BB962C8B-B14F-4D97-AF65-F5344CB8AC3E}">
        <p14:creationId xmlns:p14="http://schemas.microsoft.com/office/powerpoint/2010/main" val="28287488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542CE-17C1-F04D-F144-2D6F30D0443F}"/>
              </a:ext>
            </a:extLst>
          </p:cNvPr>
          <p:cNvSpPr>
            <a:spLocks noGrp="1"/>
          </p:cNvSpPr>
          <p:nvPr>
            <p:ph type="title"/>
          </p:nvPr>
        </p:nvSpPr>
        <p:spPr>
          <a:xfrm>
            <a:off x="1007608" y="0"/>
            <a:ext cx="10353762" cy="501445"/>
          </a:xfrm>
        </p:spPr>
        <p:txBody>
          <a:bodyPr>
            <a:normAutofit fontScale="90000"/>
          </a:bodyPr>
          <a:lstStyle/>
          <a:p>
            <a:r>
              <a:rPr lang="en-US" b="1">
                <a:solidFill>
                  <a:srgbClr val="FF0000"/>
                </a:solidFill>
              </a:rPr>
              <a:t>When click on </a:t>
            </a:r>
            <a:r>
              <a:rPr lang="ar-EG" b="1">
                <a:solidFill>
                  <a:srgbClr val="FF0000"/>
                </a:solidFill>
              </a:rPr>
              <a:t>اسم العميل </a:t>
            </a:r>
            <a:r>
              <a:rPr lang="en-US" b="1">
                <a:solidFill>
                  <a:srgbClr val="FF0000"/>
                </a:solidFill>
              </a:rPr>
              <a:t> After write customer Id</a:t>
            </a:r>
          </a:p>
        </p:txBody>
      </p:sp>
      <p:sp>
        <p:nvSpPr>
          <p:cNvPr id="3" name="Content Placeholder 2">
            <a:extLst>
              <a:ext uri="{FF2B5EF4-FFF2-40B4-BE49-F238E27FC236}">
                <a16:creationId xmlns:a16="http://schemas.microsoft.com/office/drawing/2014/main" id="{84F5B264-3616-3D8F-D554-F0882EF8CDA5}"/>
              </a:ext>
            </a:extLst>
          </p:cNvPr>
          <p:cNvSpPr>
            <a:spLocks noGrp="1"/>
          </p:cNvSpPr>
          <p:nvPr>
            <p:ph idx="1"/>
          </p:nvPr>
        </p:nvSpPr>
        <p:spPr>
          <a:xfrm>
            <a:off x="245806" y="501445"/>
            <a:ext cx="11700387" cy="6096000"/>
          </a:xfrm>
        </p:spPr>
        <p:txBody>
          <a:bodyPr/>
          <a:lstStyle/>
          <a:p>
            <a:r>
              <a:rPr lang="en-US" b="1">
                <a:solidFill>
                  <a:srgbClr val="FFC000"/>
                </a:solidFill>
              </a:rPr>
              <a:t>Flow_Funding_requestController</a:t>
            </a:r>
            <a:r>
              <a:rPr lang="en-US"/>
              <a:t>/</a:t>
            </a:r>
            <a:r>
              <a:rPr lang="en-US" sz="1800" b="1">
                <a:solidFill>
                  <a:srgbClr val="00B0F0"/>
                </a:solidFill>
              </a:rPr>
              <a:t>Flow_Funding_requestController</a:t>
            </a:r>
            <a:r>
              <a:rPr lang="en-US"/>
              <a:t>/</a:t>
            </a:r>
            <a:r>
              <a:rPr lang="en-US" b="1">
                <a:solidFill>
                  <a:srgbClr val="FFFF00"/>
                </a:solidFill>
              </a:rPr>
              <a:t>CustomerData</a:t>
            </a:r>
            <a:r>
              <a:rPr lang="en-US"/>
              <a:t> // </a:t>
            </a:r>
            <a:r>
              <a:rPr lang="en-US" b="1">
                <a:solidFill>
                  <a:srgbClr val="92D050"/>
                </a:solidFill>
              </a:rPr>
              <a:t>POST</a:t>
            </a:r>
          </a:p>
          <a:p>
            <a:r>
              <a:rPr lang="en-US" b="1">
                <a:solidFill>
                  <a:srgbClr val="FFC000"/>
                </a:solidFill>
              </a:rPr>
              <a:t>CustomerData</a:t>
            </a:r>
            <a:r>
              <a:rPr lang="en-US"/>
              <a:t> CustomerData(</a:t>
            </a:r>
            <a:r>
              <a:rPr lang="en-US" b="1">
                <a:solidFill>
                  <a:srgbClr val="00B0F0"/>
                </a:solidFill>
              </a:rPr>
              <a:t>CustVM</a:t>
            </a:r>
            <a:r>
              <a:rPr lang="en-US"/>
              <a:t> entity)</a:t>
            </a:r>
          </a:p>
          <a:p>
            <a:endParaRPr lang="en-US"/>
          </a:p>
        </p:txBody>
      </p:sp>
      <p:pic>
        <p:nvPicPr>
          <p:cNvPr id="5" name="Picture 4">
            <a:extLst>
              <a:ext uri="{FF2B5EF4-FFF2-40B4-BE49-F238E27FC236}">
                <a16:creationId xmlns:a16="http://schemas.microsoft.com/office/drawing/2014/main" id="{DA78AC0E-02C3-ABA5-1F39-04A535A82B57}"/>
              </a:ext>
            </a:extLst>
          </p:cNvPr>
          <p:cNvPicPr>
            <a:picLocks noChangeAspect="1"/>
          </p:cNvPicPr>
          <p:nvPr/>
        </p:nvPicPr>
        <p:blipFill>
          <a:blip r:embed="rId2"/>
          <a:stretch>
            <a:fillRect/>
          </a:stretch>
        </p:blipFill>
        <p:spPr>
          <a:xfrm>
            <a:off x="78659" y="1480087"/>
            <a:ext cx="2684206" cy="2789018"/>
          </a:xfrm>
          <a:prstGeom prst="rect">
            <a:avLst/>
          </a:prstGeom>
        </p:spPr>
      </p:pic>
    </p:spTree>
    <p:extLst>
      <p:ext uri="{BB962C8B-B14F-4D97-AF65-F5344CB8AC3E}">
        <p14:creationId xmlns:p14="http://schemas.microsoft.com/office/powerpoint/2010/main" val="36873903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A38A9-93CC-20BE-DD83-AFEF1C083C0F}"/>
              </a:ext>
            </a:extLst>
          </p:cNvPr>
          <p:cNvSpPr>
            <a:spLocks noGrp="1"/>
          </p:cNvSpPr>
          <p:nvPr>
            <p:ph type="title"/>
          </p:nvPr>
        </p:nvSpPr>
        <p:spPr>
          <a:xfrm>
            <a:off x="913795" y="0"/>
            <a:ext cx="10353762" cy="491613"/>
          </a:xfrm>
        </p:spPr>
        <p:txBody>
          <a:bodyPr>
            <a:normAutofit fontScale="90000"/>
          </a:bodyPr>
          <a:lstStyle/>
          <a:p>
            <a:r>
              <a:rPr lang="en-US" b="1"/>
              <a:t>At customer, </a:t>
            </a:r>
            <a:r>
              <a:rPr lang="ar-EG" b="1"/>
              <a:t>بيانات الاتصال</a:t>
            </a:r>
            <a:endParaRPr lang="en-US" b="1"/>
          </a:p>
        </p:txBody>
      </p:sp>
      <p:sp>
        <p:nvSpPr>
          <p:cNvPr id="3" name="Content Placeholder 2">
            <a:extLst>
              <a:ext uri="{FF2B5EF4-FFF2-40B4-BE49-F238E27FC236}">
                <a16:creationId xmlns:a16="http://schemas.microsoft.com/office/drawing/2014/main" id="{B2975744-ADBD-F2FD-8991-FAE7F3B9F632}"/>
              </a:ext>
            </a:extLst>
          </p:cNvPr>
          <p:cNvSpPr>
            <a:spLocks noGrp="1"/>
          </p:cNvSpPr>
          <p:nvPr>
            <p:ph idx="1"/>
          </p:nvPr>
        </p:nvSpPr>
        <p:spPr>
          <a:xfrm>
            <a:off x="285135" y="884903"/>
            <a:ext cx="11808541" cy="5830529"/>
          </a:xfrm>
        </p:spPr>
        <p:txBody>
          <a:bodyPr/>
          <a:lstStyle/>
          <a:p>
            <a:r>
              <a:rPr lang="en-US"/>
              <a:t>When user enter </a:t>
            </a:r>
            <a:r>
              <a:rPr lang="ar-EG"/>
              <a:t>نوع الاتصال والرقم</a:t>
            </a:r>
          </a:p>
          <a:p>
            <a:r>
              <a:rPr lang="en-US">
                <a:effectLst/>
              </a:rPr>
              <a:t>Transactions/Flow_Contact_UsController/GetOne/</a:t>
            </a:r>
            <a:r>
              <a:rPr lang="en-US"/>
              <a:t>{Mob_num}</a:t>
            </a:r>
          </a:p>
          <a:p>
            <a:r>
              <a:rPr lang="en-US" b="1">
                <a:solidFill>
                  <a:srgbClr val="00B0F0"/>
                </a:solidFill>
              </a:rPr>
              <a:t>Flow_Contact_Us</a:t>
            </a:r>
            <a:r>
              <a:rPr lang="en-US"/>
              <a:t> </a:t>
            </a:r>
            <a:r>
              <a:rPr lang="en-US" b="1"/>
              <a:t>GetOne </a:t>
            </a:r>
            <a:r>
              <a:rPr lang="en-US"/>
              <a:t>(</a:t>
            </a:r>
            <a:r>
              <a:rPr lang="en-US" b="1"/>
              <a:t>string</a:t>
            </a:r>
            <a:r>
              <a:rPr lang="en-US"/>
              <a:t> </a:t>
            </a:r>
            <a:r>
              <a:rPr lang="en-US" b="1">
                <a:solidFill>
                  <a:srgbClr val="FFC000"/>
                </a:solidFill>
              </a:rPr>
              <a:t>Mob_num</a:t>
            </a:r>
            <a:r>
              <a:rPr lang="en-US">
                <a:solidFill>
                  <a:srgbClr val="FFC000"/>
                </a:solidFill>
              </a:rPr>
              <a:t> </a:t>
            </a:r>
            <a:r>
              <a:rPr lang="en-US"/>
              <a:t>)</a:t>
            </a:r>
            <a:endParaRPr lang="en-US">
              <a:effectLst/>
            </a:endParaRPr>
          </a:p>
          <a:p>
            <a:endParaRPr lang="en-US">
              <a:effectLst/>
            </a:endParaRPr>
          </a:p>
          <a:p>
            <a:endParaRPr lang="en-US">
              <a:effectLst/>
            </a:endParaRPr>
          </a:p>
          <a:p>
            <a:endParaRPr lang="en-US"/>
          </a:p>
        </p:txBody>
      </p:sp>
    </p:spTree>
    <p:extLst>
      <p:ext uri="{BB962C8B-B14F-4D97-AF65-F5344CB8AC3E}">
        <p14:creationId xmlns:p14="http://schemas.microsoft.com/office/powerpoint/2010/main" val="23265010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DA3CE-DA2E-9430-1A3E-1F8540972CEC}"/>
              </a:ext>
            </a:extLst>
          </p:cNvPr>
          <p:cNvSpPr>
            <a:spLocks noGrp="1"/>
          </p:cNvSpPr>
          <p:nvPr>
            <p:ph type="title"/>
          </p:nvPr>
        </p:nvSpPr>
        <p:spPr>
          <a:xfrm>
            <a:off x="913795" y="0"/>
            <a:ext cx="10353762" cy="658761"/>
          </a:xfrm>
        </p:spPr>
        <p:txBody>
          <a:bodyPr>
            <a:normAutofit fontScale="90000"/>
          </a:bodyPr>
          <a:lstStyle/>
          <a:p>
            <a:r>
              <a:rPr lang="en-US" b="1"/>
              <a:t>After user fill all customer data and add it</a:t>
            </a:r>
          </a:p>
        </p:txBody>
      </p:sp>
      <p:sp>
        <p:nvSpPr>
          <p:cNvPr id="3" name="Content Placeholder 2">
            <a:extLst>
              <a:ext uri="{FF2B5EF4-FFF2-40B4-BE49-F238E27FC236}">
                <a16:creationId xmlns:a16="http://schemas.microsoft.com/office/drawing/2014/main" id="{108035D6-B5DC-7C81-6E83-2DB4477B0A57}"/>
              </a:ext>
            </a:extLst>
          </p:cNvPr>
          <p:cNvSpPr>
            <a:spLocks noGrp="1"/>
          </p:cNvSpPr>
          <p:nvPr>
            <p:ph idx="1"/>
          </p:nvPr>
        </p:nvSpPr>
        <p:spPr>
          <a:xfrm>
            <a:off x="265470" y="658761"/>
            <a:ext cx="11680723" cy="6037007"/>
          </a:xfrm>
        </p:spPr>
        <p:txBody>
          <a:bodyPr/>
          <a:lstStyle/>
          <a:p>
            <a:r>
              <a:rPr lang="en-US"/>
              <a:t>api/FlowChart/Transactions/</a:t>
            </a:r>
            <a:r>
              <a:rPr lang="en-US" b="1">
                <a:solidFill>
                  <a:srgbClr val="FFFF00"/>
                </a:solidFill>
              </a:rPr>
              <a:t>Flow_CustomersController</a:t>
            </a:r>
            <a:r>
              <a:rPr lang="en-US"/>
              <a:t>/</a:t>
            </a:r>
            <a:r>
              <a:rPr lang="en-US" b="1">
                <a:solidFill>
                  <a:srgbClr val="00B0F0"/>
                </a:solidFill>
              </a:rPr>
              <a:t>Post</a:t>
            </a:r>
          </a:p>
          <a:p>
            <a:r>
              <a:rPr lang="en-US" b="1">
                <a:solidFill>
                  <a:srgbClr val="00B0F0"/>
                </a:solidFill>
              </a:rPr>
              <a:t>Post </a:t>
            </a:r>
            <a:r>
              <a:rPr lang="en-US"/>
              <a:t>( [FromBody] </a:t>
            </a:r>
            <a:r>
              <a:rPr lang="en-US" b="1">
                <a:solidFill>
                  <a:srgbClr val="FFC000"/>
                </a:solidFill>
              </a:rPr>
              <a:t>Flow_Customers</a:t>
            </a:r>
            <a:r>
              <a:rPr lang="en-US"/>
              <a:t> entity)</a:t>
            </a:r>
          </a:p>
        </p:txBody>
      </p:sp>
    </p:spTree>
    <p:extLst>
      <p:ext uri="{BB962C8B-B14F-4D97-AF65-F5344CB8AC3E}">
        <p14:creationId xmlns:p14="http://schemas.microsoft.com/office/powerpoint/2010/main" val="29653169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1A4E5-1439-3252-8CC6-ED45F081ADBB}"/>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a:t>
            </a:r>
          </a:p>
        </p:txBody>
      </p:sp>
      <p:sp>
        <p:nvSpPr>
          <p:cNvPr id="3" name="Content Placeholder 2">
            <a:extLst>
              <a:ext uri="{FF2B5EF4-FFF2-40B4-BE49-F238E27FC236}">
                <a16:creationId xmlns:a16="http://schemas.microsoft.com/office/drawing/2014/main" id="{4A0CC8FF-23CB-0649-2B82-6F3D7DF74DCD}"/>
              </a:ext>
            </a:extLst>
          </p:cNvPr>
          <p:cNvSpPr>
            <a:spLocks noGrp="1"/>
          </p:cNvSpPr>
          <p:nvPr>
            <p:ph idx="1"/>
          </p:nvPr>
        </p:nvSpPr>
        <p:spPr>
          <a:xfrm>
            <a:off x="0" y="589934"/>
            <a:ext cx="12064181" cy="6184491"/>
          </a:xfrm>
        </p:spPr>
        <p:txBody>
          <a:bodyPr>
            <a:normAutofit/>
          </a:bodyPr>
          <a:lstStyle/>
          <a:p>
            <a:r>
              <a:rPr lang="en-US"/>
              <a:t>Transactions/</a:t>
            </a:r>
            <a:r>
              <a:rPr lang="en-US" b="1">
                <a:solidFill>
                  <a:srgbClr val="92D050"/>
                </a:solidFill>
              </a:rPr>
              <a:t>Flow_Funding_requestController</a:t>
            </a:r>
            <a:r>
              <a:rPr lang="en-US"/>
              <a:t>/</a:t>
            </a:r>
            <a:r>
              <a:rPr lang="en-US" b="1">
                <a:solidFill>
                  <a:srgbClr val="FFFF00"/>
                </a:solidFill>
              </a:rPr>
              <a:t>InsertFunding</a:t>
            </a:r>
          </a:p>
          <a:p>
            <a:r>
              <a:rPr lang="en-US" b="1">
                <a:solidFill>
                  <a:srgbClr val="00B050"/>
                </a:solidFill>
              </a:rPr>
              <a:t>FundingVM</a:t>
            </a:r>
            <a:r>
              <a:rPr lang="en-US"/>
              <a:t>  </a:t>
            </a:r>
            <a:r>
              <a:rPr lang="en-US" b="1">
                <a:solidFill>
                  <a:srgbClr val="00B0F0"/>
                </a:solidFill>
              </a:rPr>
              <a:t>Flow_Funding_requestService</a:t>
            </a:r>
            <a:r>
              <a:rPr lang="en-US"/>
              <a:t>. </a:t>
            </a:r>
            <a:r>
              <a:rPr lang="en-US" b="1">
                <a:solidFill>
                  <a:srgbClr val="FFFF00"/>
                </a:solidFill>
              </a:rPr>
              <a:t>InsertFunding</a:t>
            </a:r>
            <a:r>
              <a:rPr lang="en-US"/>
              <a:t>( </a:t>
            </a:r>
            <a:r>
              <a:rPr lang="en-US" b="1"/>
              <a:t>[FromBody]</a:t>
            </a:r>
            <a:r>
              <a:rPr lang="en-US"/>
              <a:t> </a:t>
            </a:r>
            <a:r>
              <a:rPr lang="en-US" b="1">
                <a:solidFill>
                  <a:srgbClr val="FFC000"/>
                </a:solidFill>
              </a:rPr>
              <a:t>FundingDataVM</a:t>
            </a:r>
            <a:r>
              <a:rPr lang="en-US"/>
              <a:t> </a:t>
            </a:r>
            <a:r>
              <a:rPr lang="en-US" b="1"/>
              <a:t>entity</a:t>
            </a:r>
            <a:r>
              <a:rPr lang="en-US"/>
              <a:t> )</a:t>
            </a:r>
          </a:p>
          <a:p>
            <a:endParaRPr lang="en-US"/>
          </a:p>
          <a:p>
            <a:endParaRPr lang="en-US"/>
          </a:p>
          <a:p>
            <a:endParaRPr lang="en-US"/>
          </a:p>
          <a:p>
            <a:endParaRPr lang="en-US"/>
          </a:p>
          <a:p>
            <a:endParaRPr lang="en-US"/>
          </a:p>
          <a:p>
            <a:pPr marL="36900" indent="0">
              <a:buNone/>
            </a:pPr>
            <a:endParaRPr lang="en-US"/>
          </a:p>
          <a:p>
            <a:r>
              <a:rPr lang="en-US"/>
              <a:t>StepFrom : </a:t>
            </a:r>
            <a:r>
              <a:rPr lang="en-US" b="1">
                <a:solidFill>
                  <a:srgbClr val="FFC000"/>
                </a:solidFill>
              </a:rPr>
              <a:t>R111</a:t>
            </a:r>
          </a:p>
          <a:p>
            <a:r>
              <a:rPr lang="en-US"/>
              <a:t>IsNew : true</a:t>
            </a:r>
          </a:p>
          <a:p>
            <a:r>
              <a:rPr lang="en-US"/>
              <a:t>status : 1 == </a:t>
            </a:r>
            <a:r>
              <a:rPr lang="en-US" b="1">
                <a:solidFill>
                  <a:srgbClr val="FFFF00"/>
                </a:solidFill>
              </a:rPr>
              <a:t>FixedStatus.Status_1_Is_Save</a:t>
            </a:r>
          </a:p>
          <a:p>
            <a:r>
              <a:rPr lang="en-US"/>
              <a:t>Flag : 0 </a:t>
            </a:r>
          </a:p>
          <a:p>
            <a:r>
              <a:rPr lang="en-US"/>
              <a:t>Trans_GPS_Tracking = null</a:t>
            </a:r>
          </a:p>
        </p:txBody>
      </p:sp>
      <p:pic>
        <p:nvPicPr>
          <p:cNvPr id="5" name="Picture 4">
            <a:extLst>
              <a:ext uri="{FF2B5EF4-FFF2-40B4-BE49-F238E27FC236}">
                <a16:creationId xmlns:a16="http://schemas.microsoft.com/office/drawing/2014/main" id="{5575F7A6-A8F9-09A0-6B4C-5AE0045CEA57}"/>
              </a:ext>
            </a:extLst>
          </p:cNvPr>
          <p:cNvPicPr>
            <a:picLocks noChangeAspect="1"/>
          </p:cNvPicPr>
          <p:nvPr/>
        </p:nvPicPr>
        <p:blipFill>
          <a:blip r:embed="rId2"/>
          <a:stretch>
            <a:fillRect/>
          </a:stretch>
        </p:blipFill>
        <p:spPr>
          <a:xfrm>
            <a:off x="127819" y="1573160"/>
            <a:ext cx="4972083" cy="2572120"/>
          </a:xfrm>
          <a:prstGeom prst="rect">
            <a:avLst/>
          </a:prstGeom>
        </p:spPr>
      </p:pic>
      <p:pic>
        <p:nvPicPr>
          <p:cNvPr id="7" name="Picture 6">
            <a:extLst>
              <a:ext uri="{FF2B5EF4-FFF2-40B4-BE49-F238E27FC236}">
                <a16:creationId xmlns:a16="http://schemas.microsoft.com/office/drawing/2014/main" id="{9C329998-6CAF-F76A-BF51-662D6CBA3DA2}"/>
              </a:ext>
            </a:extLst>
          </p:cNvPr>
          <p:cNvPicPr>
            <a:picLocks noChangeAspect="1"/>
          </p:cNvPicPr>
          <p:nvPr/>
        </p:nvPicPr>
        <p:blipFill>
          <a:blip r:embed="rId3"/>
          <a:stretch>
            <a:fillRect/>
          </a:stretch>
        </p:blipFill>
        <p:spPr>
          <a:xfrm>
            <a:off x="4282699" y="5687306"/>
            <a:ext cx="7781482" cy="1002891"/>
          </a:xfrm>
          <a:prstGeom prst="rect">
            <a:avLst/>
          </a:prstGeom>
        </p:spPr>
      </p:pic>
      <p:pic>
        <p:nvPicPr>
          <p:cNvPr id="9" name="Picture 8">
            <a:extLst>
              <a:ext uri="{FF2B5EF4-FFF2-40B4-BE49-F238E27FC236}">
                <a16:creationId xmlns:a16="http://schemas.microsoft.com/office/drawing/2014/main" id="{33BDEECE-03BD-4804-0001-AF1F9A1671B1}"/>
              </a:ext>
            </a:extLst>
          </p:cNvPr>
          <p:cNvPicPr>
            <a:picLocks noChangeAspect="1"/>
          </p:cNvPicPr>
          <p:nvPr/>
        </p:nvPicPr>
        <p:blipFill>
          <a:blip r:embed="rId4"/>
          <a:stretch>
            <a:fillRect/>
          </a:stretch>
        </p:blipFill>
        <p:spPr>
          <a:xfrm>
            <a:off x="5383814" y="1420987"/>
            <a:ext cx="5714829" cy="3283094"/>
          </a:xfrm>
          <a:prstGeom prst="rect">
            <a:avLst/>
          </a:prstGeom>
        </p:spPr>
      </p:pic>
    </p:spTree>
    <p:extLst>
      <p:ext uri="{BB962C8B-B14F-4D97-AF65-F5344CB8AC3E}">
        <p14:creationId xmlns:p14="http://schemas.microsoft.com/office/powerpoint/2010/main" val="20318907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822F32-1C60-FCB3-A76B-54DAFC79DD5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921CAA2-1F1C-C50A-81D4-B18B797764AD}"/>
              </a:ext>
            </a:extLst>
          </p:cNvPr>
          <p:cNvSpPr>
            <a:spLocks noGrp="1"/>
          </p:cNvSpPr>
          <p:nvPr>
            <p:ph idx="1"/>
          </p:nvPr>
        </p:nvSpPr>
        <p:spPr/>
        <p:txBody>
          <a:bodyPr/>
          <a:lstStyle/>
          <a:p>
            <a:r>
              <a:rPr lang="en-US" sz="2400" b="1">
                <a:solidFill>
                  <a:srgbClr val="FFFF00"/>
                </a:solidFill>
              </a:rPr>
              <a:t>FundingVM.</a:t>
            </a:r>
            <a:r>
              <a:rPr lang="en-US" sz="2400" b="1">
                <a:solidFill>
                  <a:srgbClr val="FF0000"/>
                </a:solidFill>
              </a:rPr>
              <a:t>Flag = 5 // </a:t>
            </a:r>
            <a:r>
              <a:rPr lang="ar-EG" sz="2400" b="1"/>
              <a:t>لا يوجد مدير لهذا الفرع</a:t>
            </a:r>
            <a:r>
              <a:rPr lang="en-US" sz="2400" b="1">
                <a:solidFill>
                  <a:srgbClr val="FF0000"/>
                </a:solidFill>
              </a:rPr>
              <a:t> </a:t>
            </a:r>
            <a:endParaRPr lang="ar-EG" sz="2400" b="1">
              <a:solidFill>
                <a:srgbClr val="FF0000"/>
              </a:solidFill>
            </a:endParaRPr>
          </a:p>
          <a:p>
            <a:endParaRPr lang="en-US" sz="2400" b="1">
              <a:solidFill>
                <a:srgbClr val="FF0000"/>
              </a:solidFill>
            </a:endParaRPr>
          </a:p>
          <a:p>
            <a:endParaRPr lang="en-US" b="1">
              <a:solidFill>
                <a:srgbClr val="FF0000"/>
              </a:solidFill>
            </a:endParaRPr>
          </a:p>
        </p:txBody>
      </p:sp>
    </p:spTree>
    <p:extLst>
      <p:ext uri="{BB962C8B-B14F-4D97-AF65-F5344CB8AC3E}">
        <p14:creationId xmlns:p14="http://schemas.microsoft.com/office/powerpoint/2010/main" val="26617351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2C3D9-9F06-AA65-15CE-E98FCAD22830}"/>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[cont.1]</a:t>
            </a:r>
            <a:endParaRPr lang="en-US" sz="3200"/>
          </a:p>
        </p:txBody>
      </p:sp>
      <p:sp>
        <p:nvSpPr>
          <p:cNvPr id="3" name="Content Placeholder 2">
            <a:extLst>
              <a:ext uri="{FF2B5EF4-FFF2-40B4-BE49-F238E27FC236}">
                <a16:creationId xmlns:a16="http://schemas.microsoft.com/office/drawing/2014/main" id="{0DC52855-C59B-9C76-5E2C-7AAC835F2585}"/>
              </a:ext>
            </a:extLst>
          </p:cNvPr>
          <p:cNvSpPr>
            <a:spLocks noGrp="1"/>
          </p:cNvSpPr>
          <p:nvPr>
            <p:ph idx="1"/>
          </p:nvPr>
        </p:nvSpPr>
        <p:spPr>
          <a:xfrm>
            <a:off x="0" y="782320"/>
            <a:ext cx="12192000" cy="5913120"/>
          </a:xfrm>
        </p:spPr>
        <p:txBody>
          <a:bodyPr/>
          <a:lstStyle/>
          <a:p>
            <a:r>
              <a:rPr lang="en-US" b="1"/>
              <a:t>Flow_Funding_Request</a:t>
            </a:r>
          </a:p>
          <a:p>
            <a:r>
              <a:rPr lang="en-US" sz="1800"/>
              <a:t>Funding_request.</a:t>
            </a:r>
            <a:r>
              <a:rPr lang="en-US" sz="1800" b="1">
                <a:solidFill>
                  <a:srgbClr val="FFFF00"/>
                </a:solidFill>
              </a:rPr>
              <a:t>Open_date</a:t>
            </a:r>
            <a:r>
              <a:rPr lang="en-US" sz="1800"/>
              <a:t> = _Trans_BusDate.Queryable().FirstOrDefault(ex =&gt; ex.BranchId == Funding_request.BranchId).</a:t>
            </a:r>
            <a:r>
              <a:rPr lang="en-US" b="1">
                <a:solidFill>
                  <a:srgbClr val="FFFF00"/>
                </a:solidFill>
              </a:rPr>
              <a:t>BusDate</a:t>
            </a:r>
            <a:r>
              <a:rPr lang="en-US" sz="1800"/>
              <a:t>;</a:t>
            </a:r>
          </a:p>
          <a:p>
            <a:r>
              <a:rPr lang="en-US"/>
              <a:t>Funding_request.</a:t>
            </a:r>
            <a:r>
              <a:rPr lang="en-US" b="1">
                <a:solidFill>
                  <a:srgbClr val="FFFF00"/>
                </a:solidFill>
              </a:rPr>
              <a:t>FRC_Id</a:t>
            </a:r>
            <a:r>
              <a:rPr lang="en-US"/>
              <a:t> = Product.</a:t>
            </a:r>
            <a:r>
              <a:rPr lang="en-US" b="1">
                <a:solidFill>
                  <a:srgbClr val="FFFF00"/>
                </a:solidFill>
              </a:rPr>
              <a:t>FRC_ID</a:t>
            </a:r>
            <a:r>
              <a:rPr lang="en-US"/>
              <a:t>;</a:t>
            </a:r>
          </a:p>
          <a:p>
            <a:r>
              <a:rPr lang="en-US" sz="1800"/>
              <a:t>Funding_request.</a:t>
            </a:r>
            <a:r>
              <a:rPr lang="en-US" sz="1800" b="1">
                <a:solidFill>
                  <a:srgbClr val="FFFF00"/>
                </a:solidFill>
              </a:rPr>
              <a:t>APP_FEE</a:t>
            </a:r>
            <a:r>
              <a:rPr lang="en-US" sz="1800"/>
              <a:t> = IsNew == true ? Product.</a:t>
            </a:r>
            <a:r>
              <a:rPr lang="en-US" sz="1800" b="1">
                <a:solidFill>
                  <a:srgbClr val="FFFF00"/>
                </a:solidFill>
              </a:rPr>
              <a:t>Com_submit_new_app</a:t>
            </a:r>
            <a:r>
              <a:rPr lang="en-US" sz="1800"/>
              <a:t> : Product.</a:t>
            </a:r>
            <a:r>
              <a:rPr lang="en-US" sz="1800" b="1">
                <a:solidFill>
                  <a:srgbClr val="FFFF00"/>
                </a:solidFill>
              </a:rPr>
              <a:t>Com_submit_renew_app</a:t>
            </a:r>
            <a:r>
              <a:rPr lang="en-US" sz="1800"/>
              <a:t>;</a:t>
            </a:r>
          </a:p>
          <a:p>
            <a:r>
              <a:rPr lang="en-US" sz="1800"/>
              <a:t>Funding_request.</a:t>
            </a:r>
            <a:r>
              <a:rPr lang="en-US" sz="1800" b="1">
                <a:solidFill>
                  <a:srgbClr val="FFFF00"/>
                </a:solidFill>
              </a:rPr>
              <a:t>RATE</a:t>
            </a:r>
            <a:r>
              <a:rPr lang="en-US" sz="1800"/>
              <a:t> = IsNew == true ? Product.</a:t>
            </a:r>
            <a:r>
              <a:rPr lang="en-US" sz="1800" b="1">
                <a:solidFill>
                  <a:srgbClr val="FFFF00"/>
                </a:solidFill>
              </a:rPr>
              <a:t>Fixed_return_new</a:t>
            </a:r>
            <a:r>
              <a:rPr lang="en-US" sz="1800"/>
              <a:t>:Product.</a:t>
            </a:r>
            <a:r>
              <a:rPr lang="en-US" sz="1800" b="1">
                <a:solidFill>
                  <a:srgbClr val="FFFF00"/>
                </a:solidFill>
              </a:rPr>
              <a:t>Fixed_return_renew</a:t>
            </a:r>
            <a:r>
              <a:rPr lang="en-US" sz="1800"/>
              <a:t>;</a:t>
            </a:r>
            <a:endParaRPr lang="en-US"/>
          </a:p>
          <a:p>
            <a:r>
              <a:rPr lang="en-US" sz="1600"/>
              <a:t>Funding_request.</a:t>
            </a:r>
            <a:r>
              <a:rPr lang="en-US" sz="1600" b="1">
                <a:solidFill>
                  <a:srgbClr val="FFFF00"/>
                </a:solidFill>
              </a:rPr>
              <a:t>DEBTNO</a:t>
            </a:r>
            <a:r>
              <a:rPr lang="en-US" sz="1600"/>
              <a:t>=Flow_Funding_request.where(c =&gt; c.Customer_ID == entity.Funding_request.Customer_ID).Count()+1</a:t>
            </a:r>
          </a:p>
          <a:p>
            <a:pPr lvl="1"/>
            <a:r>
              <a:rPr lang="en-US" sz="1600" b="1"/>
              <a:t>entity is FundingDataVM</a:t>
            </a:r>
          </a:p>
          <a:p>
            <a:endParaRPr lang="en-US" sz="1800" b="1"/>
          </a:p>
        </p:txBody>
      </p:sp>
    </p:spTree>
    <p:extLst>
      <p:ext uri="{BB962C8B-B14F-4D97-AF65-F5344CB8AC3E}">
        <p14:creationId xmlns:p14="http://schemas.microsoft.com/office/powerpoint/2010/main" val="28954919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331D8-27AD-5C2C-63C0-7B11B9F38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DE566-8C0C-C337-CD4A-5046BF63C3A1}"/>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[cont.2]</a:t>
            </a:r>
            <a:endParaRPr lang="en-US" sz="3200"/>
          </a:p>
        </p:txBody>
      </p:sp>
      <p:sp>
        <p:nvSpPr>
          <p:cNvPr id="3" name="Content Placeholder 2">
            <a:extLst>
              <a:ext uri="{FF2B5EF4-FFF2-40B4-BE49-F238E27FC236}">
                <a16:creationId xmlns:a16="http://schemas.microsoft.com/office/drawing/2014/main" id="{464C7ACA-90EB-6B16-ECB8-BF31D3956B30}"/>
              </a:ext>
            </a:extLst>
          </p:cNvPr>
          <p:cNvSpPr>
            <a:spLocks noGrp="1"/>
          </p:cNvSpPr>
          <p:nvPr>
            <p:ph idx="1"/>
          </p:nvPr>
        </p:nvSpPr>
        <p:spPr>
          <a:xfrm>
            <a:off x="0" y="782320"/>
            <a:ext cx="12192000" cy="5872479"/>
          </a:xfrm>
        </p:spPr>
        <p:txBody>
          <a:bodyPr/>
          <a:lstStyle/>
          <a:p>
            <a:r>
              <a:rPr lang="en-US" b="1"/>
              <a:t>Deportation</a:t>
            </a:r>
          </a:p>
          <a:p>
            <a:pPr lvl="1"/>
            <a:r>
              <a:rPr lang="en-US" b="1"/>
              <a:t>Deportation.</a:t>
            </a:r>
            <a:r>
              <a:rPr lang="en-US" b="1">
                <a:solidFill>
                  <a:srgbClr val="FFFF00"/>
                </a:solidFill>
              </a:rPr>
              <a:t>UserId_BM</a:t>
            </a:r>
            <a:r>
              <a:rPr lang="en-US" b="1"/>
              <a:t> = BranchManager.UserId</a:t>
            </a:r>
          </a:p>
          <a:p>
            <a:pPr lvl="1"/>
            <a:r>
              <a:rPr lang="en-US" b="1"/>
              <a:t>Deportation.</a:t>
            </a:r>
            <a:r>
              <a:rPr lang="en-US" b="1">
                <a:solidFill>
                  <a:srgbClr val="FFFF00"/>
                </a:solidFill>
              </a:rPr>
              <a:t>UserId_TO</a:t>
            </a:r>
            <a:r>
              <a:rPr lang="en-US" b="1"/>
              <a:t> = Funding_request.UserId</a:t>
            </a:r>
          </a:p>
          <a:p>
            <a:pPr lvl="1"/>
            <a:r>
              <a:rPr lang="en-US" b="1"/>
              <a:t>Deportation.</a:t>
            </a:r>
            <a:r>
              <a:rPr lang="en-US" b="1">
                <a:solidFill>
                  <a:srgbClr val="FFFF00"/>
                </a:solidFill>
              </a:rPr>
              <a:t>Name_step_from</a:t>
            </a:r>
            <a:r>
              <a:rPr lang="en-US" b="1"/>
              <a:t> </a:t>
            </a:r>
            <a:r>
              <a:rPr lang="en-US"/>
              <a:t>= CurrentActionStep;</a:t>
            </a:r>
          </a:p>
          <a:p>
            <a:pPr lvl="1"/>
            <a:r>
              <a:rPr lang="en-US" b="1"/>
              <a:t>Deportation.</a:t>
            </a:r>
            <a:r>
              <a:rPr lang="en-US" b="1">
                <a:solidFill>
                  <a:srgbClr val="FFFF00"/>
                </a:solidFill>
              </a:rPr>
              <a:t>Name_step_to</a:t>
            </a:r>
            <a:r>
              <a:rPr lang="en-US"/>
              <a:t> = CurrentActionStep;</a:t>
            </a:r>
          </a:p>
          <a:p>
            <a:pPr lvl="2"/>
            <a:r>
              <a:rPr lang="en-US" sz="1700"/>
              <a:t>CurrentActionsForAllType = base.Queryable().Where(x =&gt; x.Definition_number == Definition_number);</a:t>
            </a:r>
          </a:p>
          <a:p>
            <a:pPr lvl="2"/>
            <a:r>
              <a:rPr lang="en-US"/>
              <a:t> CurrentActionStep = CurrentActionsForAllType.FirstOrDefault(x =&gt; x.Type_code= Product.Type_code).Name_stepAR;</a:t>
            </a:r>
          </a:p>
          <a:p>
            <a:pPr lvl="1"/>
            <a:r>
              <a:rPr lang="en-US" b="1"/>
              <a:t>Deportation.</a:t>
            </a:r>
            <a:r>
              <a:rPr lang="en-US" b="1">
                <a:solidFill>
                  <a:srgbClr val="FFFF00"/>
                </a:solidFill>
              </a:rPr>
              <a:t>Status_one</a:t>
            </a:r>
            <a:r>
              <a:rPr lang="en-US"/>
              <a:t> = FixedStatus.Status_One_Inprocess // “inporoccess”</a:t>
            </a:r>
          </a:p>
          <a:p>
            <a:pPr lvl="1"/>
            <a:r>
              <a:rPr lang="en-US" b="1"/>
              <a:t>Deportation.</a:t>
            </a:r>
            <a:r>
              <a:rPr lang="en-US" b="1">
                <a:solidFill>
                  <a:srgbClr val="FFFF00"/>
                </a:solidFill>
              </a:rPr>
              <a:t>Status_two</a:t>
            </a:r>
            <a:r>
              <a:rPr lang="en-US"/>
              <a:t> = FixedStatus.Status_R111	// R111</a:t>
            </a:r>
          </a:p>
          <a:p>
            <a:pPr lvl="1"/>
            <a:r>
              <a:rPr lang="fr-FR"/>
              <a:t>Deportation.</a:t>
            </a:r>
            <a:r>
              <a:rPr lang="fr-FR" b="1">
                <a:solidFill>
                  <a:srgbClr val="FFFF00"/>
                </a:solidFill>
              </a:rPr>
              <a:t>Type_code</a:t>
            </a:r>
            <a:r>
              <a:rPr lang="fr-FR"/>
              <a:t> = </a:t>
            </a:r>
            <a:r>
              <a:rPr lang="en-US"/>
              <a:t>FundingDataVM.status</a:t>
            </a:r>
            <a:r>
              <a:rPr lang="fr-FR"/>
              <a:t> == 1 ? Product.Type_code : Deportation.Type_code;</a:t>
            </a:r>
          </a:p>
          <a:p>
            <a:pPr lvl="1"/>
            <a:endParaRPr lang="en-US"/>
          </a:p>
        </p:txBody>
      </p:sp>
    </p:spTree>
    <p:extLst>
      <p:ext uri="{BB962C8B-B14F-4D97-AF65-F5344CB8AC3E}">
        <p14:creationId xmlns:p14="http://schemas.microsoft.com/office/powerpoint/2010/main" val="34237579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2272-256B-EAEC-4613-699507FCF80D}"/>
              </a:ext>
            </a:extLst>
          </p:cNvPr>
          <p:cNvSpPr>
            <a:spLocks noGrp="1"/>
          </p:cNvSpPr>
          <p:nvPr>
            <p:ph type="title"/>
          </p:nvPr>
        </p:nvSpPr>
        <p:spPr>
          <a:xfrm>
            <a:off x="233680" y="0"/>
            <a:ext cx="11704320" cy="97045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[cont.3]</a:t>
            </a:r>
            <a:endParaRPr lang="en-US"/>
          </a:p>
        </p:txBody>
      </p:sp>
      <p:sp>
        <p:nvSpPr>
          <p:cNvPr id="3" name="Content Placeholder 2">
            <a:extLst>
              <a:ext uri="{FF2B5EF4-FFF2-40B4-BE49-F238E27FC236}">
                <a16:creationId xmlns:a16="http://schemas.microsoft.com/office/drawing/2014/main" id="{FC29389E-DC0D-9CA6-FC33-F9DC923F7EF5}"/>
              </a:ext>
            </a:extLst>
          </p:cNvPr>
          <p:cNvSpPr>
            <a:spLocks noGrp="1"/>
          </p:cNvSpPr>
          <p:nvPr>
            <p:ph idx="1"/>
          </p:nvPr>
        </p:nvSpPr>
        <p:spPr>
          <a:xfrm>
            <a:off x="101600" y="1056640"/>
            <a:ext cx="11988800" cy="5527039"/>
          </a:xfrm>
        </p:spPr>
        <p:txBody>
          <a:bodyPr>
            <a:normAutofit/>
          </a:bodyPr>
          <a:lstStyle/>
          <a:p>
            <a:r>
              <a:rPr lang="en-US"/>
              <a:t>Flow_Requests_Log</a:t>
            </a:r>
          </a:p>
          <a:p>
            <a:pPr lvl="1"/>
            <a:r>
              <a:rPr lang="fr-FR"/>
              <a:t>Request_Log.Action_Flag = 4  // </a:t>
            </a:r>
            <a:r>
              <a:rPr lang="ar-EG"/>
              <a:t>حفظ</a:t>
            </a:r>
            <a:endParaRPr lang="fr-FR"/>
          </a:p>
          <a:p>
            <a:pPr lvl="1"/>
            <a:endParaRPr lang="en-US" sz="1800"/>
          </a:p>
        </p:txBody>
      </p:sp>
    </p:spTree>
    <p:extLst>
      <p:ext uri="{BB962C8B-B14F-4D97-AF65-F5344CB8AC3E}">
        <p14:creationId xmlns:p14="http://schemas.microsoft.com/office/powerpoint/2010/main" val="5006571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446D5-874B-06A2-ACD3-33106250D4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B4F935-85B4-D32C-F720-A4787B3CC2D2}"/>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731B7D7C-D0C7-42D3-42FF-0DAB16D4F04B}"/>
              </a:ext>
            </a:extLst>
          </p:cNvPr>
          <p:cNvSpPr>
            <a:spLocks noGrp="1"/>
          </p:cNvSpPr>
          <p:nvPr>
            <p:ph idx="1"/>
          </p:nvPr>
        </p:nvSpPr>
        <p:spPr>
          <a:xfrm>
            <a:off x="97253" y="550607"/>
            <a:ext cx="12267025" cy="6307392"/>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C580B237-5BE8-14EA-3256-4D31E32FB2D3}"/>
              </a:ext>
            </a:extLst>
          </p:cNvPr>
          <p:cNvPicPr>
            <a:picLocks noChangeAspect="1"/>
          </p:cNvPicPr>
          <p:nvPr/>
        </p:nvPicPr>
        <p:blipFill>
          <a:blip r:embed="rId2"/>
          <a:stretch>
            <a:fillRect/>
          </a:stretch>
        </p:blipFill>
        <p:spPr>
          <a:xfrm>
            <a:off x="7609098" y="1670773"/>
            <a:ext cx="4671392" cy="4381692"/>
          </a:xfrm>
          <a:prstGeom prst="rect">
            <a:avLst/>
          </a:prstGeom>
        </p:spPr>
      </p:pic>
      <p:pic>
        <p:nvPicPr>
          <p:cNvPr id="6" name="Picture 5">
            <a:extLst>
              <a:ext uri="{FF2B5EF4-FFF2-40B4-BE49-F238E27FC236}">
                <a16:creationId xmlns:a16="http://schemas.microsoft.com/office/drawing/2014/main" id="{051A3CE6-2CC4-B40B-90AC-7FDDB26BA358}"/>
              </a:ext>
            </a:extLst>
          </p:cNvPr>
          <p:cNvPicPr>
            <a:picLocks noChangeAspect="1"/>
          </p:cNvPicPr>
          <p:nvPr/>
        </p:nvPicPr>
        <p:blipFill>
          <a:blip r:embed="rId3"/>
          <a:stretch>
            <a:fillRect/>
          </a:stretch>
        </p:blipFill>
        <p:spPr>
          <a:xfrm>
            <a:off x="97253" y="3174072"/>
            <a:ext cx="7423355" cy="2878393"/>
          </a:xfrm>
          <a:prstGeom prst="rect">
            <a:avLst/>
          </a:prstGeom>
        </p:spPr>
      </p:pic>
    </p:spTree>
    <p:extLst>
      <p:ext uri="{BB962C8B-B14F-4D97-AF65-F5344CB8AC3E}">
        <p14:creationId xmlns:p14="http://schemas.microsoft.com/office/powerpoint/2010/main" val="25726977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8DED3-07BA-BECA-F8FF-ECBBE0C547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D3EC3-DE1F-12C6-50CC-07453929124E}"/>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Funding Request (R111)</a:t>
            </a:r>
            <a:endParaRPr lang="en-US" sz="4400" b="1" dirty="0">
              <a:solidFill>
                <a:srgbClr val="FF0000"/>
              </a:solidFill>
            </a:endParaRPr>
          </a:p>
        </p:txBody>
      </p:sp>
    </p:spTree>
    <p:extLst>
      <p:ext uri="{BB962C8B-B14F-4D97-AF65-F5344CB8AC3E}">
        <p14:creationId xmlns:p14="http://schemas.microsoft.com/office/powerpoint/2010/main" val="303303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80177-28A8-4212-7D05-C858F5E08087}"/>
              </a:ext>
            </a:extLst>
          </p:cNvPr>
          <p:cNvSpPr>
            <a:spLocks noGrp="1"/>
          </p:cNvSpPr>
          <p:nvPr>
            <p:ph type="title"/>
          </p:nvPr>
        </p:nvSpPr>
        <p:spPr>
          <a:xfrm>
            <a:off x="913795" y="0"/>
            <a:ext cx="10353762" cy="540327"/>
          </a:xfrm>
        </p:spPr>
        <p:txBody>
          <a:bodyPr>
            <a:normAutofit fontScale="90000"/>
          </a:bodyPr>
          <a:lstStyle/>
          <a:p>
            <a:r>
              <a:rPr lang="en-US" b="1">
                <a:solidFill>
                  <a:srgbClr val="FFFF00"/>
                </a:solidFill>
              </a:rPr>
              <a:t>TWF</a:t>
            </a:r>
            <a:r>
              <a:rPr lang="en-US"/>
              <a:t>. </a:t>
            </a:r>
            <a:r>
              <a:rPr lang="en-US" b="1">
                <a:solidFill>
                  <a:srgbClr val="FF0000"/>
                </a:solidFill>
              </a:rPr>
              <a:t>Flow_branch_product</a:t>
            </a:r>
          </a:p>
        </p:txBody>
      </p:sp>
      <p:sp>
        <p:nvSpPr>
          <p:cNvPr id="3" name="Content Placeholder 2">
            <a:extLst>
              <a:ext uri="{FF2B5EF4-FFF2-40B4-BE49-F238E27FC236}">
                <a16:creationId xmlns:a16="http://schemas.microsoft.com/office/drawing/2014/main" id="{69D8FD80-A0A3-D6D3-7F33-AABF0C7A0D7A}"/>
              </a:ext>
            </a:extLst>
          </p:cNvPr>
          <p:cNvSpPr>
            <a:spLocks noGrp="1"/>
          </p:cNvSpPr>
          <p:nvPr>
            <p:ph idx="1"/>
          </p:nvPr>
        </p:nvSpPr>
        <p:spPr>
          <a:xfrm>
            <a:off x="571500" y="748146"/>
            <a:ext cx="11101303" cy="5611091"/>
          </a:xfrm>
        </p:spPr>
        <p:txBody>
          <a:bodyPr/>
          <a:lstStyle/>
          <a:p>
            <a:r>
              <a:rPr lang="en-US"/>
              <a:t>BP_code: </a:t>
            </a:r>
            <a:r>
              <a:rPr lang="en-US" b="1">
                <a:solidFill>
                  <a:srgbClr val="FFFF00"/>
                </a:solidFill>
              </a:rPr>
              <a:t>PK, identity</a:t>
            </a:r>
          </a:p>
          <a:p>
            <a:r>
              <a:rPr lang="en-US"/>
              <a:t>BranchId: </a:t>
            </a:r>
            <a:r>
              <a:rPr lang="en-US" b="1">
                <a:solidFill>
                  <a:srgbClr val="FFFF00"/>
                </a:solidFill>
              </a:rPr>
              <a:t>FK</a:t>
            </a:r>
            <a:r>
              <a:rPr lang="en-US"/>
              <a:t> from Branch</a:t>
            </a:r>
          </a:p>
          <a:p>
            <a:r>
              <a:rPr lang="en-US"/>
              <a:t>product_Id: </a:t>
            </a:r>
            <a:r>
              <a:rPr lang="en-US" b="1">
                <a:solidFill>
                  <a:srgbClr val="FFFF00"/>
                </a:solidFill>
              </a:rPr>
              <a:t>FK</a:t>
            </a:r>
            <a:r>
              <a:rPr lang="en-US"/>
              <a:t> from Flow_Products</a:t>
            </a:r>
          </a:p>
        </p:txBody>
      </p:sp>
      <p:pic>
        <p:nvPicPr>
          <p:cNvPr id="5" name="Picture 4">
            <a:extLst>
              <a:ext uri="{FF2B5EF4-FFF2-40B4-BE49-F238E27FC236}">
                <a16:creationId xmlns:a16="http://schemas.microsoft.com/office/drawing/2014/main" id="{FDCE9464-0661-9DD7-6515-DA41C025EAC7}"/>
              </a:ext>
            </a:extLst>
          </p:cNvPr>
          <p:cNvPicPr>
            <a:picLocks noChangeAspect="1"/>
          </p:cNvPicPr>
          <p:nvPr/>
        </p:nvPicPr>
        <p:blipFill>
          <a:blip r:embed="rId2"/>
          <a:stretch>
            <a:fillRect/>
          </a:stretch>
        </p:blipFill>
        <p:spPr>
          <a:xfrm>
            <a:off x="6312058" y="654627"/>
            <a:ext cx="3507350" cy="3415251"/>
          </a:xfrm>
          <a:prstGeom prst="rect">
            <a:avLst/>
          </a:prstGeom>
        </p:spPr>
      </p:pic>
    </p:spTree>
    <p:extLst>
      <p:ext uri="{BB962C8B-B14F-4D97-AF65-F5344CB8AC3E}">
        <p14:creationId xmlns:p14="http://schemas.microsoft.com/office/powerpoint/2010/main" val="29648513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C5594-3909-8F61-D483-11DCA711D120}"/>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TWF</a:t>
            </a:r>
            <a:r>
              <a:rPr lang="en-US" b="1"/>
              <a:t>.</a:t>
            </a:r>
            <a:r>
              <a:rPr lang="en-US" b="1">
                <a:solidFill>
                  <a:srgbClr val="FF0000"/>
                </a:solidFill>
              </a:rPr>
              <a:t>Flow_Emp_Product</a:t>
            </a:r>
          </a:p>
        </p:txBody>
      </p:sp>
      <p:sp>
        <p:nvSpPr>
          <p:cNvPr id="3" name="Content Placeholder 2">
            <a:extLst>
              <a:ext uri="{FF2B5EF4-FFF2-40B4-BE49-F238E27FC236}">
                <a16:creationId xmlns:a16="http://schemas.microsoft.com/office/drawing/2014/main" id="{D84DCB51-9A0E-95B9-5C2E-B3EF2623CD67}"/>
              </a:ext>
            </a:extLst>
          </p:cNvPr>
          <p:cNvSpPr>
            <a:spLocks noGrp="1"/>
          </p:cNvSpPr>
          <p:nvPr>
            <p:ph idx="1"/>
          </p:nvPr>
        </p:nvSpPr>
        <p:spPr>
          <a:xfrm>
            <a:off x="322118" y="685799"/>
            <a:ext cx="11565082" cy="5839691"/>
          </a:xfrm>
        </p:spPr>
        <p:txBody>
          <a:bodyPr/>
          <a:lstStyle/>
          <a:p>
            <a:r>
              <a:rPr lang="en-US"/>
              <a:t>EP_code_identity: int, </a:t>
            </a:r>
            <a:r>
              <a:rPr lang="en-US" b="1">
                <a:solidFill>
                  <a:srgbClr val="FFFF00"/>
                </a:solidFill>
              </a:rPr>
              <a:t>identity</a:t>
            </a:r>
          </a:p>
          <a:p>
            <a:r>
              <a:rPr lang="en-US"/>
              <a:t>EP_code: </a:t>
            </a:r>
            <a:r>
              <a:rPr lang="en-US" b="1">
                <a:solidFill>
                  <a:srgbClr val="FFFF00"/>
                </a:solidFill>
              </a:rPr>
              <a:t>[ PK ]</a:t>
            </a:r>
          </a:p>
          <a:p>
            <a:r>
              <a:rPr lang="en-US"/>
              <a:t>product_Id,  </a:t>
            </a:r>
            <a:r>
              <a:rPr lang="en-US" b="1">
                <a:solidFill>
                  <a:srgbClr val="FFFF00"/>
                </a:solidFill>
              </a:rPr>
              <a:t>FK</a:t>
            </a:r>
          </a:p>
          <a:p>
            <a:r>
              <a:rPr lang="en-US"/>
              <a:t>BranchId: int, </a:t>
            </a:r>
            <a:r>
              <a:rPr lang="en-US" b="1">
                <a:solidFill>
                  <a:srgbClr val="FFFF00"/>
                </a:solidFill>
              </a:rPr>
              <a:t>FK</a:t>
            </a:r>
            <a:r>
              <a:rPr lang="en-US"/>
              <a:t> </a:t>
            </a:r>
          </a:p>
          <a:p>
            <a:r>
              <a:rPr lang="en-US"/>
              <a:t>UserId: int, </a:t>
            </a:r>
            <a:r>
              <a:rPr lang="en-US" b="1">
                <a:solidFill>
                  <a:srgbClr val="FFFF00"/>
                </a:solidFill>
              </a:rPr>
              <a:t>FK</a:t>
            </a:r>
          </a:p>
          <a:p>
            <a:r>
              <a:rPr lang="en-US"/>
              <a:t>Conditions_renew</a:t>
            </a:r>
          </a:p>
          <a:p>
            <a:pPr lvl="1"/>
            <a:r>
              <a:rPr lang="en-US"/>
              <a:t>1</a:t>
            </a:r>
          </a:p>
          <a:p>
            <a:pPr lvl="1"/>
            <a:r>
              <a:rPr lang="en-US"/>
              <a:t>2</a:t>
            </a:r>
          </a:p>
          <a:p>
            <a:pPr marL="36900" indent="0">
              <a:buNone/>
            </a:pPr>
            <a:endParaRPr lang="en-US"/>
          </a:p>
          <a:p>
            <a:endParaRPr lang="en-US"/>
          </a:p>
        </p:txBody>
      </p:sp>
      <p:pic>
        <p:nvPicPr>
          <p:cNvPr id="5" name="Picture 4">
            <a:extLst>
              <a:ext uri="{FF2B5EF4-FFF2-40B4-BE49-F238E27FC236}">
                <a16:creationId xmlns:a16="http://schemas.microsoft.com/office/drawing/2014/main" id="{44EA9D92-B14C-7E6A-E26E-C21B494D4136}"/>
              </a:ext>
            </a:extLst>
          </p:cNvPr>
          <p:cNvPicPr>
            <a:picLocks noChangeAspect="1"/>
          </p:cNvPicPr>
          <p:nvPr/>
        </p:nvPicPr>
        <p:blipFill>
          <a:blip r:embed="rId2"/>
          <a:stretch>
            <a:fillRect/>
          </a:stretch>
        </p:blipFill>
        <p:spPr>
          <a:xfrm>
            <a:off x="5938237" y="1111827"/>
            <a:ext cx="6121974" cy="2691245"/>
          </a:xfrm>
          <a:prstGeom prst="rect">
            <a:avLst/>
          </a:prstGeom>
        </p:spPr>
      </p:pic>
    </p:spTree>
    <p:extLst>
      <p:ext uri="{BB962C8B-B14F-4D97-AF65-F5344CB8AC3E}">
        <p14:creationId xmlns:p14="http://schemas.microsoft.com/office/powerpoint/2010/main" val="29833690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27317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a:solidFill>
                  <a:srgbClr val="FFFF00"/>
                </a:solidFill>
              </a:rPr>
              <a:t>Trans</a:t>
            </a:r>
            <a:r>
              <a:rPr lang="en-US"/>
              <a:t>.</a:t>
            </a:r>
            <a:r>
              <a:rPr lang="en-US" b="1">
                <a:solidFill>
                  <a:srgbClr val="FF0000"/>
                </a:solidFill>
              </a:rPr>
              <a:t>Trans</a:t>
            </a:r>
            <a:r>
              <a:rPr lang="en-US" b="1" err="1">
                <a:solidFill>
                  <a:srgbClr val="FF0000"/>
                </a:solidFill>
              </a:rPr>
              <a:t>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r>
              <a:rPr lang="en-US" b="1">
                <a:solidFill>
                  <a:srgbClr val="FFFF00"/>
                </a:solidFill>
              </a:rPr>
              <a:t>[PK]</a:t>
            </a:r>
          </a:p>
          <a:p>
            <a:r>
              <a:rPr lang="en-US"/>
              <a:t>int </a:t>
            </a:r>
            <a:r>
              <a:rPr lang="en-US" err="1"/>
              <a:t>UserID</a:t>
            </a:r>
            <a:r>
              <a:rPr lang="en-US"/>
              <a:t> </a:t>
            </a:r>
          </a:p>
          <a:p>
            <a:r>
              <a:rPr lang="en-US"/>
              <a:t>DateTime </a:t>
            </a:r>
            <a:r>
              <a:rPr lang="en-US" err="1"/>
              <a:t>ActionDate</a:t>
            </a:r>
            <a:r>
              <a:rPr lang="en-US"/>
              <a:t>  </a:t>
            </a:r>
          </a:p>
          <a:p>
            <a:r>
              <a:rPr lang="en-US"/>
              <a:t>string? Step</a:t>
            </a:r>
          </a:p>
          <a:p>
            <a:pPr lvl="1"/>
            <a:r>
              <a:rPr lang="en-US"/>
              <a:t>CO</a:t>
            </a:r>
          </a:p>
          <a:p>
            <a:pPr lvl="1"/>
            <a:r>
              <a:rPr lang="en-US"/>
              <a:t>LO</a:t>
            </a:r>
          </a:p>
          <a:p>
            <a:pPr lvl="1"/>
            <a:r>
              <a:rPr lang="en-US"/>
              <a:t>CO_Organization</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pic>
        <p:nvPicPr>
          <p:cNvPr id="5" name="Picture 4">
            <a:extLst>
              <a:ext uri="{FF2B5EF4-FFF2-40B4-BE49-F238E27FC236}">
                <a16:creationId xmlns:a16="http://schemas.microsoft.com/office/drawing/2014/main" id="{A2DBFF06-BC16-4E23-8254-ED2FF76AD890}"/>
              </a:ext>
            </a:extLst>
          </p:cNvPr>
          <p:cNvPicPr>
            <a:picLocks noChangeAspect="1"/>
          </p:cNvPicPr>
          <p:nvPr/>
        </p:nvPicPr>
        <p:blipFill>
          <a:blip r:embed="rId2"/>
          <a:stretch>
            <a:fillRect/>
          </a:stretch>
        </p:blipFill>
        <p:spPr>
          <a:xfrm>
            <a:off x="4794428" y="608451"/>
            <a:ext cx="1557211" cy="3049150"/>
          </a:xfrm>
          <a:prstGeom prst="rect">
            <a:avLst/>
          </a:prstGeom>
        </p:spPr>
      </p:pic>
      <p:pic>
        <p:nvPicPr>
          <p:cNvPr id="7" name="Picture 6">
            <a:extLst>
              <a:ext uri="{FF2B5EF4-FFF2-40B4-BE49-F238E27FC236}">
                <a16:creationId xmlns:a16="http://schemas.microsoft.com/office/drawing/2014/main" id="{8EE1C9B5-2D0D-41FA-7247-9EB98AE90090}"/>
              </a:ext>
            </a:extLst>
          </p:cNvPr>
          <p:cNvPicPr>
            <a:picLocks noChangeAspect="1"/>
          </p:cNvPicPr>
          <p:nvPr/>
        </p:nvPicPr>
        <p:blipFill>
          <a:blip r:embed="rId3"/>
          <a:stretch>
            <a:fillRect/>
          </a:stretch>
        </p:blipFill>
        <p:spPr>
          <a:xfrm>
            <a:off x="3854245" y="3666283"/>
            <a:ext cx="7541341" cy="2854292"/>
          </a:xfrm>
          <a:prstGeom prst="rect">
            <a:avLst/>
          </a:prstGeom>
        </p:spPr>
      </p:pic>
    </p:spTree>
    <p:extLst>
      <p:ext uri="{BB962C8B-B14F-4D97-AF65-F5344CB8AC3E}">
        <p14:creationId xmlns:p14="http://schemas.microsoft.com/office/powerpoint/2010/main" val="12662576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t>Branch_code</a:t>
            </a:r>
            <a:endParaRPr lang="en-US" sz="1800" b="1"/>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t>allow insert fund</a:t>
            </a:r>
          </a:p>
          <a:p>
            <a:pPr lvl="1"/>
            <a:r>
              <a:rPr lang="en-US"/>
              <a:t>AllowInsertFund ==0 // </a:t>
            </a:r>
            <a:r>
              <a:rPr lang="en-US" b="1"/>
              <a:t>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5181600" y="3206250"/>
            <a:ext cx="7010399"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5181600" y="3775092"/>
            <a:ext cx="7040499"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5151500" y="4402983"/>
            <a:ext cx="7040500"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5151499" y="4997646"/>
            <a:ext cx="704050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5151498" y="5572490"/>
            <a:ext cx="7040501"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5143974" y="6199943"/>
            <a:ext cx="7048025" cy="52526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672489" y="3937260"/>
            <a:ext cx="8313035" cy="594100"/>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سوف يقوم العميل بتقسيطه</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err="1"/>
              <a:t>Open_date</a:t>
            </a:r>
            <a:r>
              <a:rPr lang="en-US" sz="1800"/>
              <a:t> : </a:t>
            </a:r>
            <a:r>
              <a:rPr lang="en-US" sz="1800">
                <a:effectLst/>
              </a:rPr>
              <a:t>date of request based on the </a:t>
            </a:r>
            <a:r>
              <a:rPr lang="en-US" sz="1800" err="1">
                <a:effectLst/>
              </a:rPr>
              <a:t>busdate</a:t>
            </a:r>
            <a:endParaRPr lang="en-US" sz="1800"/>
          </a:p>
          <a:p>
            <a:r>
              <a:rPr lang="en-US" sz="1800" err="1"/>
              <a:t>Yield_periodicity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0834938"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err="1"/>
              <a:t>Loan_code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9C386-977F-3EF3-D653-27D861F6482F}"/>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AD82EFCA-7DD8-76CF-C422-B2C5728D9837}"/>
              </a:ext>
            </a:extLst>
          </p:cNvPr>
          <p:cNvSpPr>
            <a:spLocks noGrp="1"/>
          </p:cNvSpPr>
          <p:nvPr>
            <p:ph idx="1"/>
          </p:nvPr>
        </p:nvSpPr>
        <p:spPr>
          <a:xfrm>
            <a:off x="198783" y="692426"/>
            <a:ext cx="11837504" cy="6165574"/>
          </a:xfrm>
        </p:spPr>
        <p:txBody>
          <a:bodyPr>
            <a:normAutofit fontScale="92500" lnSpcReduction="10000"/>
          </a:bodyPr>
          <a:lstStyle/>
          <a:p>
            <a:r>
              <a:rPr lang="en-US"/>
              <a:t>After funding request is done via LO first time</a:t>
            </a:r>
          </a:p>
          <a:p>
            <a:pPr lvl="1"/>
            <a:r>
              <a:rPr lang="en-US"/>
              <a:t>Request_status: 1 // new</a:t>
            </a:r>
          </a:p>
          <a:p>
            <a:pPr lvl="1"/>
            <a:r>
              <a:rPr lang="en-US" b="1">
                <a:solidFill>
                  <a:srgbClr val="FFFF00"/>
                </a:solidFill>
              </a:rPr>
              <a:t>status_code: 0 </a:t>
            </a:r>
            <a:r>
              <a:rPr lang="en-US"/>
              <a:t>// </a:t>
            </a:r>
            <a:r>
              <a:rPr lang="ar-EG"/>
              <a:t>عند مسئول التمويل</a:t>
            </a:r>
            <a:r>
              <a:rPr lang="en-US"/>
              <a:t> </a:t>
            </a:r>
          </a:p>
          <a:p>
            <a:pPr lvl="2"/>
            <a:r>
              <a:rPr lang="en-US" sz="1800"/>
              <a:t>Locally: [ status_code: 11 ]  </a:t>
            </a:r>
            <a:r>
              <a:rPr lang="ar-EG" sz="1800"/>
              <a:t>فشل فى تحميل أي سكور</a:t>
            </a:r>
            <a:endParaRPr lang="en-US" sz="1800"/>
          </a:p>
          <a:p>
            <a:pPr lvl="1"/>
            <a:r>
              <a:rPr lang="en-US" sz="1600" b="1">
                <a:solidFill>
                  <a:srgbClr val="FFFF00"/>
                </a:solidFill>
              </a:rPr>
              <a:t>Funding_request</a:t>
            </a:r>
            <a:r>
              <a:rPr lang="en-US" sz="1600"/>
              <a:t>.</a:t>
            </a:r>
            <a:r>
              <a:rPr lang="en-US" sz="1600" b="1">
                <a:solidFill>
                  <a:srgbClr val="FFC000"/>
                </a:solidFill>
              </a:rPr>
              <a:t>APP_FEE</a:t>
            </a:r>
            <a:r>
              <a:rPr lang="en-US" sz="1600"/>
              <a:t> = IsNew==true ? Product.</a:t>
            </a:r>
            <a:r>
              <a:rPr lang="en-US" sz="1600" b="1">
                <a:solidFill>
                  <a:srgbClr val="00B0F0"/>
                </a:solidFill>
              </a:rPr>
              <a:t>Com_submit_new_app</a:t>
            </a:r>
            <a:r>
              <a:rPr lang="en-US" sz="1600"/>
              <a:t> : Product.</a:t>
            </a:r>
            <a:r>
              <a:rPr lang="en-US" sz="1600" b="1">
                <a:solidFill>
                  <a:srgbClr val="00B0F0"/>
                </a:solidFill>
              </a:rPr>
              <a:t>Com_submit_renew_app</a:t>
            </a:r>
            <a:r>
              <a:rPr lang="en-US" sz="1600"/>
              <a:t>;</a:t>
            </a:r>
          </a:p>
          <a:p>
            <a:pPr lvl="1"/>
            <a:r>
              <a:rPr lang="en-US" sz="1600" b="1">
                <a:solidFill>
                  <a:srgbClr val="FFFF00"/>
                </a:solidFill>
              </a:rPr>
              <a:t>Funding_request</a:t>
            </a:r>
            <a:r>
              <a:rPr lang="en-US" sz="1600"/>
              <a:t>.</a:t>
            </a:r>
            <a:r>
              <a:rPr lang="en-US" sz="1600" b="1">
                <a:solidFill>
                  <a:srgbClr val="FFC000"/>
                </a:solidFill>
              </a:rPr>
              <a:t>RATE</a:t>
            </a:r>
            <a:r>
              <a:rPr lang="en-US" sz="1600"/>
              <a:t> = IsNew == true ? Product.</a:t>
            </a:r>
            <a:r>
              <a:rPr lang="en-US" sz="1600" b="1">
                <a:solidFill>
                  <a:srgbClr val="00B0F0"/>
                </a:solidFill>
              </a:rPr>
              <a:t>Fixed_return_new</a:t>
            </a:r>
            <a:r>
              <a:rPr lang="en-US" sz="1600"/>
              <a:t> : Product.</a:t>
            </a:r>
            <a:r>
              <a:rPr lang="en-US" sz="1600" b="1">
                <a:solidFill>
                  <a:srgbClr val="00B0F0"/>
                </a:solidFill>
              </a:rPr>
              <a:t>Fixed_return_renew;</a:t>
            </a:r>
            <a:endParaRPr lang="en-US"/>
          </a:p>
          <a:p>
            <a:r>
              <a:rPr lang="en-US"/>
              <a:t>After LO press save and send </a:t>
            </a:r>
            <a:r>
              <a:rPr lang="ar-EG"/>
              <a:t>حفظ وإرسال</a:t>
            </a:r>
            <a:endParaRPr lang="en-US"/>
          </a:p>
          <a:p>
            <a:pPr lvl="1"/>
            <a:r>
              <a:rPr lang="en-US" b="1">
                <a:solidFill>
                  <a:srgbClr val="FFFF00"/>
                </a:solidFill>
              </a:rPr>
              <a:t>status_code: 56 </a:t>
            </a:r>
            <a:r>
              <a:rPr lang="ar-EG"/>
              <a:t>الطلب تم ترحيله إلى المسؤول الأول </a:t>
            </a:r>
          </a:p>
          <a:p>
            <a:r>
              <a:rPr lang="en-US"/>
              <a:t>After CO final reject the funding_request</a:t>
            </a:r>
          </a:p>
          <a:p>
            <a:pPr lvl="1"/>
            <a:r>
              <a:rPr lang="en-US" b="1">
                <a:solidFill>
                  <a:srgbClr val="FFFF00"/>
                </a:solidFill>
              </a:rPr>
              <a:t>status_code: 19 </a:t>
            </a:r>
            <a:r>
              <a:rPr lang="ar-EG" b="1">
                <a:solidFill>
                  <a:srgbClr val="FFFF00"/>
                </a:solidFill>
              </a:rPr>
              <a:t>:</a:t>
            </a:r>
            <a:r>
              <a:rPr lang="en-US" b="1">
                <a:solidFill>
                  <a:srgbClr val="FFFF00"/>
                </a:solidFill>
              </a:rPr>
              <a:t> </a:t>
            </a:r>
            <a:r>
              <a:rPr lang="ar-EG" b="1">
                <a:solidFill>
                  <a:srgbClr val="FFFF00"/>
                </a:solidFill>
              </a:rPr>
              <a:t>الطلب تم رفضه نهائي من قبل المسئول الاول</a:t>
            </a:r>
            <a:endParaRPr lang="ar-EG"/>
          </a:p>
          <a:p>
            <a:r>
              <a:rPr lang="en-US"/>
              <a:t>After request is passed from Field visit to Credit analysis via CO first time</a:t>
            </a:r>
          </a:p>
          <a:p>
            <a:pPr lvl="1"/>
            <a:r>
              <a:rPr lang="en-US"/>
              <a:t>Primium_value: 17270.00 // For example</a:t>
            </a:r>
          </a:p>
          <a:p>
            <a:pPr lvl="1"/>
            <a:r>
              <a:rPr lang="en-US"/>
              <a:t>Approv_value: 264000.00</a:t>
            </a:r>
          </a:p>
          <a:p>
            <a:pPr lvl="1"/>
            <a:r>
              <a:rPr lang="en-US"/>
              <a:t>Approved_amount: 250000.00</a:t>
            </a:r>
          </a:p>
          <a:p>
            <a:pPr lvl="1"/>
            <a:r>
              <a:rPr lang="en-US"/>
              <a:t>Total amount: 414480.00</a:t>
            </a:r>
          </a:p>
          <a:p>
            <a:pPr lvl="1"/>
            <a:r>
              <a:rPr lang="en-US"/>
              <a:t>NO_Months: 24</a:t>
            </a:r>
          </a:p>
          <a:p>
            <a:endParaRPr lang="en-US"/>
          </a:p>
        </p:txBody>
      </p:sp>
    </p:spTree>
    <p:extLst>
      <p:ext uri="{BB962C8B-B14F-4D97-AF65-F5344CB8AC3E}">
        <p14:creationId xmlns:p14="http://schemas.microsoft.com/office/powerpoint/2010/main" val="26058029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591C4-701B-E2AA-605C-167B6CBC8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CEA01E-D788-2BB5-2009-41ABDFEAD4BD}"/>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3C6BFC5E-7008-241C-5D9E-CD63D37D9C25}"/>
              </a:ext>
            </a:extLst>
          </p:cNvPr>
          <p:cNvSpPr>
            <a:spLocks noGrp="1"/>
          </p:cNvSpPr>
          <p:nvPr>
            <p:ph idx="1"/>
          </p:nvPr>
        </p:nvSpPr>
        <p:spPr>
          <a:xfrm>
            <a:off x="198783" y="692426"/>
            <a:ext cx="11837504" cy="6076121"/>
          </a:xfrm>
        </p:spPr>
        <p:txBody>
          <a:bodyPr/>
          <a:lstStyle/>
          <a:p>
            <a:r>
              <a:rPr lang="en-US"/>
              <a:t>After funding request is passed from Field visit via CO first time</a:t>
            </a:r>
          </a:p>
          <a:p>
            <a:endParaRPr lang="en-US"/>
          </a:p>
          <a:p>
            <a:endParaRPr lang="en-US"/>
          </a:p>
          <a:p>
            <a:endParaRPr lang="en-US"/>
          </a:p>
        </p:txBody>
      </p:sp>
    </p:spTree>
    <p:extLst>
      <p:ext uri="{BB962C8B-B14F-4D97-AF65-F5344CB8AC3E}">
        <p14:creationId xmlns:p14="http://schemas.microsoft.com/office/powerpoint/2010/main" val="364710928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BFD65-081A-4A23-EB55-FEFD7F41BA9E}"/>
              </a:ext>
            </a:extLst>
          </p:cNvPr>
          <p:cNvSpPr>
            <a:spLocks noGrp="1"/>
          </p:cNvSpPr>
          <p:nvPr>
            <p:ph type="title"/>
          </p:nvPr>
        </p:nvSpPr>
        <p:spPr>
          <a:xfrm>
            <a:off x="913795" y="0"/>
            <a:ext cx="10353762" cy="481781"/>
          </a:xfrm>
        </p:spPr>
        <p:txBody>
          <a:bodyPr>
            <a:noAutofit/>
          </a:bodyPr>
          <a:lstStyle/>
          <a:p>
            <a:r>
              <a:rPr lang="en-US" sz="3200" b="1">
                <a:solidFill>
                  <a:srgbClr val="FFFF00"/>
                </a:solidFill>
              </a:rPr>
              <a:t>TDWF.</a:t>
            </a:r>
            <a:r>
              <a:rPr lang="en-US" sz="3200" b="1">
                <a:solidFill>
                  <a:srgbClr val="FF0000"/>
                </a:solidFill>
              </a:rPr>
              <a:t>Flow_Request_Deportation</a:t>
            </a:r>
          </a:p>
        </p:txBody>
      </p:sp>
      <p:sp>
        <p:nvSpPr>
          <p:cNvPr id="3" name="Content Placeholder 2">
            <a:extLst>
              <a:ext uri="{FF2B5EF4-FFF2-40B4-BE49-F238E27FC236}">
                <a16:creationId xmlns:a16="http://schemas.microsoft.com/office/drawing/2014/main" id="{074243CB-A69A-8B57-BFE2-256010A29D54}"/>
              </a:ext>
            </a:extLst>
          </p:cNvPr>
          <p:cNvSpPr>
            <a:spLocks noGrp="1"/>
          </p:cNvSpPr>
          <p:nvPr>
            <p:ph idx="1"/>
          </p:nvPr>
        </p:nvSpPr>
        <p:spPr>
          <a:xfrm>
            <a:off x="0" y="609600"/>
            <a:ext cx="11985523" cy="6037005"/>
          </a:xfrm>
        </p:spPr>
        <p:txBody>
          <a:bodyPr/>
          <a:lstStyle/>
          <a:p>
            <a:r>
              <a:rPr lang="en-US" sz="1800"/>
              <a:t>Enterprise_ID: decimal, </a:t>
            </a:r>
            <a:r>
              <a:rPr lang="en-US" sz="1800" b="1">
                <a:solidFill>
                  <a:srgbClr val="FF0000"/>
                </a:solidFill>
              </a:rPr>
              <a:t>[PK]</a:t>
            </a:r>
          </a:p>
          <a:p>
            <a:r>
              <a:rPr lang="en-US" sz="1800"/>
              <a:t>UserId_from: int [FK] // the LO who make the request for the customer</a:t>
            </a:r>
          </a:p>
          <a:p>
            <a:r>
              <a:rPr lang="en-US" sz="1800"/>
              <a:t>jobId: int [FK] // the job id of any loan officer 10</a:t>
            </a:r>
          </a:p>
          <a:p>
            <a:r>
              <a:rPr lang="en-US" sz="1800"/>
              <a:t>Request_id: int  [FK] // from RequestId</a:t>
            </a:r>
          </a:p>
          <a:p>
            <a:r>
              <a:rPr lang="en-US" sz="1800"/>
              <a:t>UserId_from : ?? </a:t>
            </a:r>
          </a:p>
          <a:p>
            <a:r>
              <a:rPr lang="en-US" sz="1800"/>
              <a:t>UserId_to :  ??</a:t>
            </a:r>
          </a:p>
          <a:p>
            <a:r>
              <a:rPr lang="en-US" sz="1800"/>
              <a:t>Code_action: is null ?</a:t>
            </a:r>
          </a:p>
          <a:p>
            <a:r>
              <a:rPr lang="en-US" sz="1800"/>
              <a:t>Date_Assigned ?</a:t>
            </a:r>
          </a:p>
          <a:p>
            <a:r>
              <a:rPr lang="en-US" sz="1800"/>
              <a:t>Type_code: </a:t>
            </a:r>
          </a:p>
          <a:p>
            <a:pPr lvl="1"/>
            <a:r>
              <a:rPr lang="en-US" sz="1600"/>
              <a:t>1 : </a:t>
            </a:r>
            <a:r>
              <a:rPr lang="ar-EG" sz="1600"/>
              <a:t>مسار عمل  صغير</a:t>
            </a:r>
          </a:p>
          <a:p>
            <a:pPr lvl="1"/>
            <a:r>
              <a:rPr lang="en-US" sz="1600"/>
              <a:t>2 : </a:t>
            </a:r>
            <a:r>
              <a:rPr lang="ar-EG" sz="1600"/>
              <a:t>مسار عمل كبير</a:t>
            </a:r>
            <a:endParaRPr lang="en-US" sz="1600"/>
          </a:p>
          <a:p>
            <a:endParaRPr lang="en-US" sz="1800"/>
          </a:p>
        </p:txBody>
      </p:sp>
      <p:pic>
        <p:nvPicPr>
          <p:cNvPr id="5" name="Picture 4">
            <a:extLst>
              <a:ext uri="{FF2B5EF4-FFF2-40B4-BE49-F238E27FC236}">
                <a16:creationId xmlns:a16="http://schemas.microsoft.com/office/drawing/2014/main" id="{FB811957-E4AD-DA9F-5CD3-C7D6839F787B}"/>
              </a:ext>
            </a:extLst>
          </p:cNvPr>
          <p:cNvPicPr>
            <a:picLocks noChangeAspect="1"/>
          </p:cNvPicPr>
          <p:nvPr/>
        </p:nvPicPr>
        <p:blipFill>
          <a:blip r:embed="rId2"/>
          <a:stretch>
            <a:fillRect/>
          </a:stretch>
        </p:blipFill>
        <p:spPr>
          <a:xfrm>
            <a:off x="2743200" y="4341693"/>
            <a:ext cx="8239432" cy="635730"/>
          </a:xfrm>
          <a:prstGeom prst="rect">
            <a:avLst/>
          </a:prstGeom>
        </p:spPr>
      </p:pic>
      <p:pic>
        <p:nvPicPr>
          <p:cNvPr id="7" name="Picture 6">
            <a:extLst>
              <a:ext uri="{FF2B5EF4-FFF2-40B4-BE49-F238E27FC236}">
                <a16:creationId xmlns:a16="http://schemas.microsoft.com/office/drawing/2014/main" id="{BFBFFCC1-9DFD-B1B1-79E5-B3CC542ECF74}"/>
              </a:ext>
            </a:extLst>
          </p:cNvPr>
          <p:cNvPicPr>
            <a:picLocks noChangeAspect="1"/>
          </p:cNvPicPr>
          <p:nvPr/>
        </p:nvPicPr>
        <p:blipFill>
          <a:blip r:embed="rId3"/>
          <a:stretch>
            <a:fillRect/>
          </a:stretch>
        </p:blipFill>
        <p:spPr>
          <a:xfrm>
            <a:off x="1533832" y="5183843"/>
            <a:ext cx="10658168" cy="551038"/>
          </a:xfrm>
          <a:prstGeom prst="rect">
            <a:avLst/>
          </a:prstGeom>
        </p:spPr>
      </p:pic>
    </p:spTree>
    <p:extLst>
      <p:ext uri="{BB962C8B-B14F-4D97-AF65-F5344CB8AC3E}">
        <p14:creationId xmlns:p14="http://schemas.microsoft.com/office/powerpoint/2010/main" val="29429710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74AEB-3139-DEE2-E60B-64589C38D1D0}"/>
              </a:ext>
            </a:extLst>
          </p:cNvPr>
          <p:cNvSpPr>
            <a:spLocks noGrp="1"/>
          </p:cNvSpPr>
          <p:nvPr>
            <p:ph type="title"/>
          </p:nvPr>
        </p:nvSpPr>
        <p:spPr>
          <a:xfrm>
            <a:off x="913795" y="0"/>
            <a:ext cx="10353762" cy="540774"/>
          </a:xfrm>
        </p:spPr>
        <p:txBody>
          <a:bodyPr>
            <a:normAutofit fontScale="90000"/>
          </a:bodyPr>
          <a:lstStyle/>
          <a:p>
            <a:r>
              <a:rPr lang="en-US" sz="3200" b="1">
                <a:solidFill>
                  <a:srgbClr val="FFFF00"/>
                </a:solidFill>
              </a:rPr>
              <a:t>TDWF.</a:t>
            </a:r>
            <a:r>
              <a:rPr lang="en-US" sz="3200" b="1">
                <a:solidFill>
                  <a:srgbClr val="FF0000"/>
                </a:solidFill>
              </a:rPr>
              <a:t>Flow_Request_Deportation [cont. 1]</a:t>
            </a:r>
            <a:endParaRPr lang="en-US" sz="3200"/>
          </a:p>
        </p:txBody>
      </p:sp>
      <p:sp>
        <p:nvSpPr>
          <p:cNvPr id="3" name="Content Placeholder 2">
            <a:extLst>
              <a:ext uri="{FF2B5EF4-FFF2-40B4-BE49-F238E27FC236}">
                <a16:creationId xmlns:a16="http://schemas.microsoft.com/office/drawing/2014/main" id="{E8440506-2E85-BEF2-5538-4DD2AC723626}"/>
              </a:ext>
            </a:extLst>
          </p:cNvPr>
          <p:cNvSpPr>
            <a:spLocks noGrp="1"/>
          </p:cNvSpPr>
          <p:nvPr>
            <p:ph idx="1"/>
          </p:nvPr>
        </p:nvSpPr>
        <p:spPr>
          <a:xfrm>
            <a:off x="0" y="648928"/>
            <a:ext cx="12064181" cy="6209071"/>
          </a:xfrm>
        </p:spPr>
        <p:txBody>
          <a:bodyPr numCol="2">
            <a:normAutofit/>
          </a:bodyPr>
          <a:lstStyle/>
          <a:p>
            <a:r>
              <a:rPr lang="en-US" sz="1800"/>
              <a:t>Status_one</a:t>
            </a:r>
          </a:p>
          <a:p>
            <a:pPr lvl="1"/>
            <a:r>
              <a:rPr lang="en-US" sz="1600" b="1">
                <a:solidFill>
                  <a:srgbClr val="00B0F0"/>
                </a:solidFill>
              </a:rPr>
              <a:t>Inprocess</a:t>
            </a:r>
            <a:r>
              <a:rPr lang="en-US" sz="1600"/>
              <a:t> // LO just create the Request  </a:t>
            </a:r>
            <a:r>
              <a:rPr lang="ar-EG" b="1">
                <a:solidFill>
                  <a:srgbClr val="92D050"/>
                </a:solidFill>
              </a:rPr>
              <a:t>طلبات غير مرسلة</a:t>
            </a:r>
            <a:endParaRPr lang="en-US" sz="1600" b="1">
              <a:solidFill>
                <a:srgbClr val="92D050"/>
              </a:solidFill>
            </a:endParaRPr>
          </a:p>
          <a:p>
            <a:pPr lvl="1"/>
            <a:r>
              <a:rPr lang="en-US" sz="1600" b="1">
                <a:solidFill>
                  <a:srgbClr val="00B0F0"/>
                </a:solidFill>
              </a:rPr>
              <a:t>Approved</a:t>
            </a:r>
            <a:r>
              <a:rPr lang="en-US" sz="1600"/>
              <a:t> // REQUEST IS Approved </a:t>
            </a:r>
            <a:r>
              <a:rPr lang="ar-EG" sz="1600"/>
              <a:t>قبول_حقول</a:t>
            </a:r>
            <a:endParaRPr lang="en-US" sz="1600"/>
          </a:p>
          <a:p>
            <a:pPr lvl="1"/>
            <a:r>
              <a:rPr lang="en-US" sz="1600" b="1">
                <a:solidFill>
                  <a:srgbClr val="00B0F0"/>
                </a:solidFill>
              </a:rPr>
              <a:t>Failed Iscore Customer // </a:t>
            </a:r>
          </a:p>
          <a:p>
            <a:pPr lvl="1"/>
            <a:r>
              <a:rPr lang="en-US" sz="1600" b="1">
                <a:solidFill>
                  <a:srgbClr val="00B0F0"/>
                </a:solidFill>
              </a:rPr>
              <a:t>Failed Iscore Guarantor</a:t>
            </a:r>
          </a:p>
          <a:p>
            <a:pPr lvl="1"/>
            <a:r>
              <a:rPr lang="en-US" sz="1600" b="1">
                <a:solidFill>
                  <a:srgbClr val="00B0F0"/>
                </a:solidFill>
              </a:rPr>
              <a:t>Final Reject // </a:t>
            </a:r>
            <a:r>
              <a:rPr lang="ar-EG"/>
              <a:t>طلبات مرفوضة نهائى</a:t>
            </a:r>
            <a:endParaRPr lang="en-US" sz="1600" b="1">
              <a:solidFill>
                <a:srgbClr val="00B0F0"/>
              </a:solidFill>
            </a:endParaRPr>
          </a:p>
          <a:p>
            <a:pPr lvl="1"/>
            <a:r>
              <a:rPr lang="en-US" sz="1600" b="1">
                <a:solidFill>
                  <a:srgbClr val="00B0F0"/>
                </a:solidFill>
              </a:rPr>
              <a:t>Final Reject Guarantor</a:t>
            </a:r>
          </a:p>
          <a:p>
            <a:pPr lvl="1"/>
            <a:r>
              <a:rPr lang="en-US" sz="1600" b="1">
                <a:solidFill>
                  <a:srgbClr val="00B0F0"/>
                </a:solidFill>
              </a:rPr>
              <a:t>Reject</a:t>
            </a:r>
            <a:r>
              <a:rPr lang="en-US" sz="1600"/>
              <a:t> // rejected by CO</a:t>
            </a:r>
          </a:p>
          <a:p>
            <a:pPr lvl="1"/>
            <a:r>
              <a:rPr lang="en-US" sz="1600" b="1">
                <a:solidFill>
                  <a:srgbClr val="00B0F0"/>
                </a:solidFill>
              </a:rPr>
              <a:t>Reject Guarantor</a:t>
            </a:r>
          </a:p>
          <a:p>
            <a:pPr lvl="1"/>
            <a:endParaRPr lang="en-US" sz="1600"/>
          </a:p>
          <a:p>
            <a:pPr lvl="1"/>
            <a:endParaRPr lang="en-US" sz="1600"/>
          </a:p>
          <a:p>
            <a:pPr lvl="1"/>
            <a:endParaRPr lang="en-US" sz="1600"/>
          </a:p>
          <a:p>
            <a:pPr lvl="1"/>
            <a:endParaRPr lang="en-US" sz="1600"/>
          </a:p>
          <a:p>
            <a:pPr lvl="1"/>
            <a:endParaRPr lang="en-US" sz="1600"/>
          </a:p>
          <a:p>
            <a:pPr lvl="1"/>
            <a:endParaRPr lang="en-US" sz="1600"/>
          </a:p>
          <a:p>
            <a:pPr marL="450000" lvl="1" indent="0">
              <a:buNone/>
            </a:pPr>
            <a:endParaRPr lang="en-US" sz="1600"/>
          </a:p>
          <a:p>
            <a:r>
              <a:rPr lang="en-US" sz="1800"/>
              <a:t>Status_two</a:t>
            </a:r>
          </a:p>
          <a:p>
            <a:pPr lvl="1"/>
            <a:r>
              <a:rPr lang="en-US" b="1">
                <a:solidFill>
                  <a:srgbClr val="FFFF00"/>
                </a:solidFill>
              </a:rPr>
              <a:t>R111: </a:t>
            </a:r>
            <a:r>
              <a:rPr lang="ar-EG" b="1">
                <a:solidFill>
                  <a:srgbClr val="FFFF00"/>
                </a:solidFill>
              </a:rPr>
              <a:t>طلب التمويل</a:t>
            </a:r>
            <a:r>
              <a:rPr lang="en-US" b="1">
                <a:solidFill>
                  <a:srgbClr val="FFFF00"/>
                </a:solidFill>
              </a:rPr>
              <a:t> : </a:t>
            </a:r>
            <a:r>
              <a:rPr lang="en-US" b="1">
                <a:solidFill>
                  <a:srgbClr val="00B0F0"/>
                </a:solidFill>
              </a:rPr>
              <a:t>Funding Request</a:t>
            </a:r>
            <a:endParaRPr lang="ar-EG" b="1">
              <a:solidFill>
                <a:srgbClr val="00B0F0"/>
              </a:solidFill>
            </a:endParaRPr>
          </a:p>
          <a:p>
            <a:pPr lvl="1"/>
            <a:r>
              <a:rPr lang="en-US" b="1">
                <a:solidFill>
                  <a:srgbClr val="FFFF00"/>
                </a:solidFill>
              </a:rPr>
              <a:t>CO1010: </a:t>
            </a:r>
            <a:r>
              <a:rPr lang="ar-EG" b="1">
                <a:solidFill>
                  <a:srgbClr val="FFFF00"/>
                </a:solidFill>
              </a:rPr>
              <a:t>مراجعة اولية</a:t>
            </a:r>
            <a:r>
              <a:rPr lang="en-US" b="1">
                <a:solidFill>
                  <a:srgbClr val="FFFF00"/>
                </a:solidFill>
              </a:rPr>
              <a:t> : </a:t>
            </a:r>
            <a:r>
              <a:rPr lang="en-US" b="1">
                <a:solidFill>
                  <a:srgbClr val="00B0F0"/>
                </a:solidFill>
              </a:rPr>
              <a:t>Initial Review</a:t>
            </a:r>
          </a:p>
          <a:p>
            <a:pPr lvl="1"/>
            <a:r>
              <a:rPr lang="en-US" b="1">
                <a:solidFill>
                  <a:srgbClr val="FFFF00"/>
                </a:solidFill>
              </a:rPr>
              <a:t>CO1311: </a:t>
            </a:r>
            <a:r>
              <a:rPr lang="ar-EG" b="1">
                <a:solidFill>
                  <a:srgbClr val="FFFF00"/>
                </a:solidFill>
              </a:rPr>
              <a:t>زيارة ميدانية</a:t>
            </a:r>
            <a:r>
              <a:rPr lang="en-US" b="1">
                <a:solidFill>
                  <a:srgbClr val="FFFF00"/>
                </a:solidFill>
              </a:rPr>
              <a:t> : </a:t>
            </a:r>
            <a:r>
              <a:rPr lang="en-US" b="1">
                <a:solidFill>
                  <a:srgbClr val="00B0F0"/>
                </a:solidFill>
              </a:rPr>
              <a:t>Field visit</a:t>
            </a:r>
          </a:p>
          <a:p>
            <a:pPr lvl="1"/>
            <a:r>
              <a:rPr lang="en-US" b="1">
                <a:solidFill>
                  <a:srgbClr val="FFFF00"/>
                </a:solidFill>
              </a:rPr>
              <a:t>CA1211: </a:t>
            </a:r>
            <a:r>
              <a:rPr lang="ar-EG" b="1">
                <a:solidFill>
                  <a:srgbClr val="FFFF00"/>
                </a:solidFill>
              </a:rPr>
              <a:t>تحليل ائتماني</a:t>
            </a:r>
            <a:r>
              <a:rPr lang="en-US" b="1">
                <a:solidFill>
                  <a:srgbClr val="FFFF00"/>
                </a:solidFill>
              </a:rPr>
              <a:t> : </a:t>
            </a:r>
            <a:r>
              <a:rPr lang="en-US" b="1">
                <a:solidFill>
                  <a:srgbClr val="00B0F0"/>
                </a:solidFill>
              </a:rPr>
              <a:t>Critical analysis</a:t>
            </a:r>
          </a:p>
          <a:p>
            <a:pPr lvl="1"/>
            <a:r>
              <a:rPr lang="en-US" b="1">
                <a:solidFill>
                  <a:srgbClr val="FFFF00"/>
                </a:solidFill>
              </a:rPr>
              <a:t>DU77: </a:t>
            </a:r>
            <a:r>
              <a:rPr lang="ar-EG" b="1">
                <a:solidFill>
                  <a:srgbClr val="FFFF00"/>
                </a:solidFill>
              </a:rPr>
              <a:t>تحميل مستندات</a:t>
            </a:r>
            <a:r>
              <a:rPr lang="en-US" b="1">
                <a:solidFill>
                  <a:srgbClr val="FFFF00"/>
                </a:solidFill>
              </a:rPr>
              <a:t> : </a:t>
            </a:r>
            <a:r>
              <a:rPr lang="en-US" b="1">
                <a:solidFill>
                  <a:srgbClr val="00B0F0"/>
                </a:solidFill>
              </a:rPr>
              <a:t>UploadingDocumenta</a:t>
            </a:r>
          </a:p>
          <a:p>
            <a:pPr lvl="1"/>
            <a:r>
              <a:rPr lang="en-US" b="1">
                <a:solidFill>
                  <a:srgbClr val="FFFF00"/>
                </a:solidFill>
              </a:rPr>
              <a:t>LR55: </a:t>
            </a:r>
            <a:r>
              <a:rPr lang="ar-EG" b="1">
                <a:solidFill>
                  <a:srgbClr val="FFFF00"/>
                </a:solidFill>
              </a:rPr>
              <a:t>مراجعة مركزية</a:t>
            </a:r>
            <a:r>
              <a:rPr lang="en-US" b="1">
                <a:solidFill>
                  <a:srgbClr val="FFFF00"/>
                </a:solidFill>
              </a:rPr>
              <a:t> : </a:t>
            </a:r>
            <a:r>
              <a:rPr lang="en-US" b="1">
                <a:solidFill>
                  <a:srgbClr val="00B0F0"/>
                </a:solidFill>
              </a:rPr>
              <a:t>Central Review</a:t>
            </a:r>
          </a:p>
          <a:p>
            <a:pPr lvl="1"/>
            <a:r>
              <a:rPr lang="en-US" b="1">
                <a:solidFill>
                  <a:srgbClr val="FFFF00"/>
                </a:solidFill>
              </a:rPr>
              <a:t>CMR: </a:t>
            </a:r>
            <a:r>
              <a:rPr lang="ar-EG" b="1">
                <a:solidFill>
                  <a:srgbClr val="FFFF00"/>
                </a:solidFill>
              </a:rPr>
              <a:t>لجنة مركزية</a:t>
            </a:r>
            <a:r>
              <a:rPr lang="en-US" b="1">
                <a:solidFill>
                  <a:srgbClr val="FFFF00"/>
                </a:solidFill>
              </a:rPr>
              <a:t> : </a:t>
            </a:r>
            <a:r>
              <a:rPr lang="en-US" b="1">
                <a:solidFill>
                  <a:srgbClr val="00B0F0"/>
                </a:solidFill>
              </a:rPr>
              <a:t>Central committee</a:t>
            </a:r>
          </a:p>
          <a:p>
            <a:pPr lvl="1"/>
            <a:r>
              <a:rPr lang="en-US" b="1">
                <a:solidFill>
                  <a:srgbClr val="FFFF00"/>
                </a:solidFill>
              </a:rPr>
              <a:t>BMSC66: </a:t>
            </a:r>
            <a:r>
              <a:rPr lang="ar-EG" b="1">
                <a:solidFill>
                  <a:srgbClr val="FFFF00"/>
                </a:solidFill>
              </a:rPr>
              <a:t>إتمام توقيع</a:t>
            </a:r>
            <a:r>
              <a:rPr lang="en-US" b="1">
                <a:solidFill>
                  <a:srgbClr val="FFFF00"/>
                </a:solidFill>
              </a:rPr>
              <a:t> : </a:t>
            </a:r>
            <a:r>
              <a:rPr lang="en-US" b="1">
                <a:solidFill>
                  <a:srgbClr val="00B0F0"/>
                </a:solidFill>
              </a:rPr>
              <a:t>Signature</a:t>
            </a:r>
          </a:p>
          <a:p>
            <a:pPr lvl="1"/>
            <a:endParaRPr lang="en-US" b="1">
              <a:solidFill>
                <a:srgbClr val="FFFF00"/>
              </a:solidFill>
            </a:endParaRPr>
          </a:p>
        </p:txBody>
      </p:sp>
    </p:spTree>
    <p:extLst>
      <p:ext uri="{BB962C8B-B14F-4D97-AF65-F5344CB8AC3E}">
        <p14:creationId xmlns:p14="http://schemas.microsoft.com/office/powerpoint/2010/main" val="12236050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090C5-E7A3-ADD3-9AFE-2AC8BB08055A}"/>
              </a:ext>
            </a:extLst>
          </p:cNvPr>
          <p:cNvSpPr>
            <a:spLocks noGrp="1"/>
          </p:cNvSpPr>
          <p:nvPr>
            <p:ph type="title"/>
          </p:nvPr>
        </p:nvSpPr>
        <p:spPr>
          <a:xfrm>
            <a:off x="913795" y="0"/>
            <a:ext cx="10353762" cy="682487"/>
          </a:xfrm>
        </p:spPr>
        <p:txBody>
          <a:bodyPr>
            <a:normAutofit fontScale="90000"/>
          </a:bodyPr>
          <a:lstStyle/>
          <a:p>
            <a:r>
              <a:rPr lang="en-US" b="1">
                <a:solidFill>
                  <a:srgbClr val="FFFF00"/>
                </a:solidFill>
              </a:rPr>
              <a:t>TDWF.</a:t>
            </a:r>
            <a:r>
              <a:rPr lang="en-US" b="1">
                <a:solidFill>
                  <a:srgbClr val="FF0000"/>
                </a:solidFill>
              </a:rPr>
              <a:t>Flow_Request_Deportation [cont. 2]</a:t>
            </a:r>
            <a:endParaRPr lang="en-US"/>
          </a:p>
        </p:txBody>
      </p:sp>
      <p:sp>
        <p:nvSpPr>
          <p:cNvPr id="3" name="Content Placeholder 2">
            <a:extLst>
              <a:ext uri="{FF2B5EF4-FFF2-40B4-BE49-F238E27FC236}">
                <a16:creationId xmlns:a16="http://schemas.microsoft.com/office/drawing/2014/main" id="{8FE51947-09CC-8830-531D-1A275859978C}"/>
              </a:ext>
            </a:extLst>
          </p:cNvPr>
          <p:cNvSpPr>
            <a:spLocks noGrp="1"/>
          </p:cNvSpPr>
          <p:nvPr>
            <p:ph idx="1"/>
          </p:nvPr>
        </p:nvSpPr>
        <p:spPr>
          <a:xfrm>
            <a:off x="99392" y="682487"/>
            <a:ext cx="11986592" cy="6026426"/>
          </a:xfrm>
        </p:spPr>
        <p:txBody>
          <a:bodyPr/>
          <a:lstStyle/>
          <a:p>
            <a:r>
              <a:rPr lang="en-US" sz="2400"/>
              <a:t>After funding request is done via LO first time</a:t>
            </a:r>
          </a:p>
          <a:p>
            <a:pPr lvl="1"/>
            <a:r>
              <a:rPr lang="en-US"/>
              <a:t>UserId_from= 10837  // the LO Id</a:t>
            </a:r>
          </a:p>
          <a:p>
            <a:pPr lvl="1"/>
            <a:r>
              <a:rPr lang="en-US"/>
              <a:t>UserId_to = 10837    // the LO id</a:t>
            </a:r>
          </a:p>
          <a:p>
            <a:pPr lvl="1"/>
            <a:r>
              <a:rPr lang="en-US"/>
              <a:t>Name_step_from  : </a:t>
            </a:r>
            <a:r>
              <a:rPr lang="ar-EG"/>
              <a:t>طلب تمويل</a:t>
            </a:r>
          </a:p>
          <a:p>
            <a:pPr lvl="1"/>
            <a:r>
              <a:rPr lang="en-US"/>
              <a:t>Name_step_to:	 </a:t>
            </a:r>
            <a:r>
              <a:rPr lang="ar-EG"/>
              <a:t>طلب تمويل</a:t>
            </a:r>
            <a:endParaRPr lang="en-US"/>
          </a:p>
          <a:p>
            <a:pPr lvl="1"/>
            <a:r>
              <a:rPr lang="en-US"/>
              <a:t>Code_action (from: Flow_Actions): Null</a:t>
            </a:r>
          </a:p>
          <a:p>
            <a:pPr lvl="1"/>
            <a:r>
              <a:rPr lang="en-US"/>
              <a:t>Type_code: [ </a:t>
            </a:r>
            <a:r>
              <a:rPr lang="en-US" b="1"/>
              <a:t>1: </a:t>
            </a:r>
            <a:r>
              <a:rPr lang="ar-EG" b="1"/>
              <a:t>مسار عمل  صغير</a:t>
            </a:r>
            <a:r>
              <a:rPr lang="en-US" b="1"/>
              <a:t> ] , [ 2 : </a:t>
            </a:r>
            <a:r>
              <a:rPr lang="ar-EG" b="1"/>
              <a:t>مسار عمل كبير</a:t>
            </a:r>
            <a:r>
              <a:rPr lang="en-US" b="1"/>
              <a:t> ]</a:t>
            </a:r>
            <a:endParaRPr lang="en-US"/>
          </a:p>
          <a:p>
            <a:pPr lvl="1"/>
            <a:r>
              <a:rPr lang="en-US"/>
              <a:t>Status_one: Inprocess</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a:t>
            </a:r>
            <a:endParaRPr lang="en-US" b="1">
              <a:solidFill>
                <a:srgbClr val="FFFF00"/>
              </a:solidFill>
            </a:endParaRPr>
          </a:p>
        </p:txBody>
      </p:sp>
    </p:spTree>
    <p:extLst>
      <p:ext uri="{BB962C8B-B14F-4D97-AF65-F5344CB8AC3E}">
        <p14:creationId xmlns:p14="http://schemas.microsoft.com/office/powerpoint/2010/main" val="17699474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A27DE2-55AF-7B22-3B9B-3548E0D603CE}"/>
              </a:ext>
            </a:extLst>
          </p:cNvPr>
          <p:cNvSpPr>
            <a:spLocks noGrp="1"/>
          </p:cNvSpPr>
          <p:nvPr>
            <p:ph idx="1"/>
          </p:nvPr>
        </p:nvSpPr>
        <p:spPr>
          <a:xfrm>
            <a:off x="278296" y="586409"/>
            <a:ext cx="11787808" cy="6122504"/>
          </a:xfrm>
        </p:spPr>
        <p:txBody>
          <a:bodyPr/>
          <a:lstStyle/>
          <a:p>
            <a:r>
              <a:rPr lang="en-US"/>
              <a:t>After funding request is save and send VIA LO </a:t>
            </a:r>
            <a:r>
              <a:rPr lang="ar-EG"/>
              <a:t>حفظ وإرسال</a:t>
            </a:r>
          </a:p>
          <a:p>
            <a:pPr lvl="1"/>
            <a:r>
              <a:rPr lang="en-US"/>
              <a:t>UserId_from= 1132  // the LO Id</a:t>
            </a:r>
          </a:p>
          <a:p>
            <a:pPr lvl="1"/>
            <a:r>
              <a:rPr lang="en-US"/>
              <a:t>UserId_to = 1152    // the CO id that request is sent for </a:t>
            </a:r>
          </a:p>
          <a:p>
            <a:pPr lvl="1"/>
            <a:r>
              <a:rPr lang="en-US"/>
              <a:t>Name_step_from  : </a:t>
            </a:r>
            <a:r>
              <a:rPr lang="ar-EG"/>
              <a:t>طلب تمويل</a:t>
            </a:r>
          </a:p>
          <a:p>
            <a:pPr lvl="1"/>
            <a:r>
              <a:rPr lang="en-US"/>
              <a:t>Name_step_to:	 </a:t>
            </a:r>
            <a:r>
              <a:rPr lang="ar-EG"/>
              <a:t>مراجعة أولية</a:t>
            </a:r>
            <a:endParaRPr lang="en-US"/>
          </a:p>
          <a:p>
            <a:pPr lvl="1"/>
            <a:r>
              <a:rPr lang="en-US"/>
              <a:t>Code_action (from: Flow_Actions): </a:t>
            </a:r>
            <a:r>
              <a:rPr lang="ar-EG"/>
              <a:t>1</a:t>
            </a:r>
            <a:r>
              <a:rPr lang="en-US"/>
              <a:t>  </a:t>
            </a:r>
            <a:r>
              <a:rPr lang="ar-EG"/>
              <a:t>الأكشن حصل خلال طلب التمويل</a:t>
            </a:r>
            <a:endParaRPr lang="en-US"/>
          </a:p>
          <a:p>
            <a:pPr lvl="1"/>
            <a:r>
              <a:rPr lang="en-US"/>
              <a:t>Status_one: Approved // means the Name_step_from  : </a:t>
            </a:r>
            <a:r>
              <a:rPr lang="ar-EG"/>
              <a:t>طلب تمويل</a:t>
            </a:r>
            <a:r>
              <a:rPr lang="en-US"/>
              <a:t> is approved</a:t>
            </a:r>
          </a:p>
          <a:p>
            <a:pPr lvl="1"/>
            <a:r>
              <a:rPr lang="en-US"/>
              <a:t>Status_two: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ar-EG"/>
          </a:p>
          <a:p>
            <a:endParaRPr lang="en-US"/>
          </a:p>
          <a:p>
            <a:endParaRPr lang="en-US"/>
          </a:p>
        </p:txBody>
      </p:sp>
      <p:sp>
        <p:nvSpPr>
          <p:cNvPr id="5" name="Title 1">
            <a:extLst>
              <a:ext uri="{FF2B5EF4-FFF2-40B4-BE49-F238E27FC236}">
                <a16:creationId xmlns:a16="http://schemas.microsoft.com/office/drawing/2014/main" id="{7336299F-1866-0CB9-303D-8088B6F39CD1}"/>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TDWF.</a:t>
            </a:r>
            <a:r>
              <a:rPr lang="en-US" b="1">
                <a:solidFill>
                  <a:srgbClr val="FF0000"/>
                </a:solidFill>
              </a:rPr>
              <a:t>Flow_Request_Deportation [cont. 3]</a:t>
            </a:r>
            <a:endParaRPr lang="en-US"/>
          </a:p>
        </p:txBody>
      </p:sp>
    </p:spTree>
    <p:extLst>
      <p:ext uri="{BB962C8B-B14F-4D97-AF65-F5344CB8AC3E}">
        <p14:creationId xmlns:p14="http://schemas.microsoft.com/office/powerpoint/2010/main" val="282056137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74DD2-B8C5-524E-2EB8-D7F58338F8FC}"/>
              </a:ext>
            </a:extLst>
          </p:cNvPr>
          <p:cNvSpPr>
            <a:spLocks noGrp="1"/>
          </p:cNvSpPr>
          <p:nvPr>
            <p:ph type="title"/>
          </p:nvPr>
        </p:nvSpPr>
        <p:spPr>
          <a:xfrm>
            <a:off x="913795" y="0"/>
            <a:ext cx="10353762" cy="727587"/>
          </a:xfrm>
        </p:spPr>
        <p:txBody>
          <a:bodyPr>
            <a:normAutofit/>
          </a:bodyPr>
          <a:lstStyle/>
          <a:p>
            <a:r>
              <a:rPr lang="en-US" sz="3600" b="1">
                <a:solidFill>
                  <a:srgbClr val="FFFF00"/>
                </a:solidFill>
              </a:rPr>
              <a:t>TDWF.</a:t>
            </a:r>
            <a:r>
              <a:rPr lang="en-US" sz="3600" b="1">
                <a:solidFill>
                  <a:srgbClr val="FF0000"/>
                </a:solidFill>
              </a:rPr>
              <a:t>Flow_Request_Deportation [cont. 4]</a:t>
            </a:r>
            <a:endParaRPr lang="en-US" sz="3600"/>
          </a:p>
        </p:txBody>
      </p:sp>
      <p:sp>
        <p:nvSpPr>
          <p:cNvPr id="3" name="Content Placeholder 2">
            <a:extLst>
              <a:ext uri="{FF2B5EF4-FFF2-40B4-BE49-F238E27FC236}">
                <a16:creationId xmlns:a16="http://schemas.microsoft.com/office/drawing/2014/main" id="{5602215C-C6E0-6DF3-213A-363721EB5E9A}"/>
              </a:ext>
            </a:extLst>
          </p:cNvPr>
          <p:cNvSpPr>
            <a:spLocks noGrp="1"/>
          </p:cNvSpPr>
          <p:nvPr>
            <p:ph idx="1"/>
          </p:nvPr>
        </p:nvSpPr>
        <p:spPr>
          <a:xfrm>
            <a:off x="285134" y="727587"/>
            <a:ext cx="11297265" cy="5938684"/>
          </a:xfrm>
        </p:spPr>
        <p:txBody>
          <a:bodyPr/>
          <a:lstStyle/>
          <a:p>
            <a:r>
              <a:rPr lang="en-US"/>
              <a:t>After funding request is </a:t>
            </a:r>
            <a:r>
              <a:rPr lang="en-US" b="1">
                <a:solidFill>
                  <a:srgbClr val="FF0000"/>
                </a:solidFill>
              </a:rPr>
              <a:t>Rejected</a:t>
            </a:r>
            <a:r>
              <a:rPr lang="en-US"/>
              <a:t> VIA CO </a:t>
            </a:r>
            <a:r>
              <a:rPr lang="ar-EG" b="1">
                <a:solidFill>
                  <a:srgbClr val="FF0000"/>
                </a:solidFill>
              </a:rPr>
              <a:t>رفض</a:t>
            </a:r>
          </a:p>
          <a:p>
            <a:pPr lvl="1"/>
            <a:r>
              <a:rPr lang="en-US"/>
              <a:t>UserId_from= 1132  // the LO Id</a:t>
            </a:r>
          </a:p>
          <a:p>
            <a:pPr lvl="1"/>
            <a:r>
              <a:rPr lang="en-US"/>
              <a:t>UserId_to = 1132    //</a:t>
            </a:r>
          </a:p>
          <a:p>
            <a:pPr lvl="1"/>
            <a:r>
              <a:rPr lang="en-US"/>
              <a:t>Name_step_from  : </a:t>
            </a:r>
            <a:r>
              <a:rPr lang="ar-EG"/>
              <a:t>مراجعة أولية</a:t>
            </a:r>
          </a:p>
          <a:p>
            <a:pPr lvl="1"/>
            <a:r>
              <a:rPr lang="en-US"/>
              <a:t>Name_step_to:	 </a:t>
            </a:r>
            <a:r>
              <a:rPr lang="ar-EG"/>
              <a:t>طلب التمويل</a:t>
            </a:r>
            <a:endParaRPr lang="en-US"/>
          </a:p>
          <a:p>
            <a:pPr lvl="1"/>
            <a:r>
              <a:rPr lang="en-US"/>
              <a:t>Code_action (from: Flow_Actions): </a:t>
            </a:r>
            <a:r>
              <a:rPr lang="ar-EG" sz="2000" b="1">
                <a:solidFill>
                  <a:srgbClr val="FFFF00"/>
                </a:solidFill>
              </a:rPr>
              <a:t>2</a:t>
            </a:r>
            <a:r>
              <a:rPr lang="en-US"/>
              <a:t>  </a:t>
            </a:r>
            <a:r>
              <a:rPr lang="ar-EG"/>
              <a:t>الأكشن حصل خلال المراجعة الأولية</a:t>
            </a:r>
            <a:endParaRPr lang="en-US"/>
          </a:p>
          <a:p>
            <a:pPr lvl="1"/>
            <a:r>
              <a:rPr lang="en-US"/>
              <a:t>Status_one: </a:t>
            </a:r>
            <a:r>
              <a:rPr lang="en-US" b="1">
                <a:solidFill>
                  <a:srgbClr val="00B0F0"/>
                </a:solidFill>
              </a:rPr>
              <a:t>Reject</a:t>
            </a:r>
            <a:r>
              <a:rPr lang="en-US"/>
              <a:t> // means the Name_step_from  : </a:t>
            </a:r>
            <a:r>
              <a:rPr lang="ar-EG"/>
              <a:t>مراجعة أولية</a:t>
            </a:r>
            <a:r>
              <a:rPr lang="en-US"/>
              <a:t> is rejected</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 الحالية</a:t>
            </a:r>
            <a:endParaRPr lang="ar-EG"/>
          </a:p>
          <a:p>
            <a:endParaRPr lang="en-US"/>
          </a:p>
        </p:txBody>
      </p:sp>
    </p:spTree>
    <p:extLst>
      <p:ext uri="{BB962C8B-B14F-4D97-AF65-F5344CB8AC3E}">
        <p14:creationId xmlns:p14="http://schemas.microsoft.com/office/powerpoint/2010/main" val="38431876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D162FB-B1B4-8807-C47D-A98FA74C0AD2}"/>
              </a:ext>
            </a:extLst>
          </p:cNvPr>
          <p:cNvSpPr>
            <a:spLocks noGrp="1"/>
          </p:cNvSpPr>
          <p:nvPr>
            <p:ph type="title"/>
          </p:nvPr>
        </p:nvSpPr>
        <p:spPr>
          <a:xfrm>
            <a:off x="913795" y="0"/>
            <a:ext cx="10353762" cy="688258"/>
          </a:xfrm>
        </p:spPr>
        <p:txBody>
          <a:bodyPr>
            <a:normAutofit/>
          </a:bodyPr>
          <a:lstStyle/>
          <a:p>
            <a:r>
              <a:rPr lang="en-US" sz="3200" b="1">
                <a:solidFill>
                  <a:srgbClr val="FFFF00"/>
                </a:solidFill>
              </a:rPr>
              <a:t>TDWF.</a:t>
            </a:r>
            <a:r>
              <a:rPr lang="en-US" sz="3200" b="1">
                <a:solidFill>
                  <a:srgbClr val="FF0000"/>
                </a:solidFill>
              </a:rPr>
              <a:t>Flow_Request_Deportation [cont. 5]</a:t>
            </a:r>
            <a:endParaRPr lang="en-US" sz="3200"/>
          </a:p>
        </p:txBody>
      </p:sp>
      <p:sp>
        <p:nvSpPr>
          <p:cNvPr id="3" name="Content Placeholder 2">
            <a:extLst>
              <a:ext uri="{FF2B5EF4-FFF2-40B4-BE49-F238E27FC236}">
                <a16:creationId xmlns:a16="http://schemas.microsoft.com/office/drawing/2014/main" id="{4317B5F5-622C-D6E2-6BDC-41103F4591AF}"/>
              </a:ext>
            </a:extLst>
          </p:cNvPr>
          <p:cNvSpPr>
            <a:spLocks noGrp="1"/>
          </p:cNvSpPr>
          <p:nvPr>
            <p:ph idx="1"/>
          </p:nvPr>
        </p:nvSpPr>
        <p:spPr>
          <a:xfrm>
            <a:off x="216310" y="688258"/>
            <a:ext cx="11828205" cy="6096000"/>
          </a:xfrm>
        </p:spPr>
        <p:txBody>
          <a:bodyPr/>
          <a:lstStyle/>
          <a:p>
            <a:r>
              <a:rPr lang="en-US"/>
              <a:t>After funding request is </a:t>
            </a:r>
            <a:r>
              <a:rPr lang="en-US" b="1">
                <a:solidFill>
                  <a:srgbClr val="FF0000"/>
                </a:solidFill>
              </a:rPr>
              <a:t>Final Rejected</a:t>
            </a:r>
            <a:r>
              <a:rPr lang="en-US"/>
              <a:t> VIA CO </a:t>
            </a:r>
            <a:r>
              <a:rPr lang="ar-EG" b="1">
                <a:solidFill>
                  <a:srgbClr val="FF0000"/>
                </a:solidFill>
              </a:rPr>
              <a:t>رفض نهائي</a:t>
            </a:r>
          </a:p>
          <a:p>
            <a:pPr lvl="1"/>
            <a:r>
              <a:rPr lang="en-US">
                <a:highlight>
                  <a:srgbClr val="FFFF00"/>
                </a:highlight>
              </a:rPr>
              <a:t>UserId_from= 14154  // the CO Id</a:t>
            </a:r>
          </a:p>
          <a:p>
            <a:pPr lvl="1"/>
            <a:r>
              <a:rPr lang="en-US"/>
              <a:t>UserId_to = NULL    //</a:t>
            </a:r>
          </a:p>
          <a:p>
            <a:pPr lvl="1"/>
            <a:r>
              <a:rPr lang="en-US">
                <a:highlight>
                  <a:srgbClr val="FFFF00"/>
                </a:highlight>
              </a:rPr>
              <a:t>Name_step_from  : </a:t>
            </a:r>
            <a:r>
              <a:rPr lang="ar-EG">
                <a:highlight>
                  <a:srgbClr val="FFFF00"/>
                </a:highlight>
              </a:rPr>
              <a:t>مراجعة أولية</a:t>
            </a:r>
          </a:p>
          <a:p>
            <a:pPr lvl="1"/>
            <a:r>
              <a:rPr lang="en-US"/>
              <a:t>Name_step_to:	 </a:t>
            </a:r>
          </a:p>
          <a:p>
            <a:pPr lvl="1"/>
            <a:r>
              <a:rPr lang="en-US"/>
              <a:t>Code_action (from: Flow_Actions): </a:t>
            </a:r>
            <a:r>
              <a:rPr lang="en-US" sz="2000" b="1">
                <a:solidFill>
                  <a:srgbClr val="FFFF00"/>
                </a:solidFill>
              </a:rPr>
              <a:t>Null</a:t>
            </a:r>
            <a:endParaRPr lang="en-US"/>
          </a:p>
          <a:p>
            <a:pPr lvl="1"/>
            <a:r>
              <a:rPr lang="en-US"/>
              <a:t>Status_one: </a:t>
            </a:r>
            <a:r>
              <a:rPr lang="en-US" b="1">
                <a:solidFill>
                  <a:srgbClr val="00B0F0"/>
                </a:solidFill>
              </a:rPr>
              <a:t>Final</a:t>
            </a:r>
            <a:r>
              <a:rPr lang="en-US"/>
              <a:t> </a:t>
            </a:r>
            <a:r>
              <a:rPr lang="en-US" b="1">
                <a:solidFill>
                  <a:srgbClr val="00B0F0"/>
                </a:solidFill>
              </a:rPr>
              <a:t>Reject</a:t>
            </a:r>
            <a:r>
              <a:rPr lang="en-US"/>
              <a:t> // means the Name_step_from  : </a:t>
            </a:r>
            <a:r>
              <a:rPr lang="ar-EG"/>
              <a:t>مراجعة أولية</a:t>
            </a:r>
            <a:r>
              <a:rPr lang="en-US"/>
              <a:t> is final rejected</a:t>
            </a:r>
          </a:p>
          <a:p>
            <a:pPr lvl="1"/>
            <a:r>
              <a:rPr lang="en-US"/>
              <a:t>Status_two: </a:t>
            </a:r>
            <a:endParaRPr lang="ar-EG"/>
          </a:p>
          <a:p>
            <a:endParaRPr lang="en-US"/>
          </a:p>
          <a:p>
            <a:endParaRPr lang="en-US"/>
          </a:p>
        </p:txBody>
      </p:sp>
    </p:spTree>
    <p:extLst>
      <p:ext uri="{BB962C8B-B14F-4D97-AF65-F5344CB8AC3E}">
        <p14:creationId xmlns:p14="http://schemas.microsoft.com/office/powerpoint/2010/main" val="8476258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3D80F-7320-26AF-69A9-DAFD737BE2E6}"/>
              </a:ext>
            </a:extLst>
          </p:cNvPr>
          <p:cNvSpPr>
            <a:spLocks noGrp="1"/>
          </p:cNvSpPr>
          <p:nvPr>
            <p:ph type="title"/>
          </p:nvPr>
        </p:nvSpPr>
        <p:spPr>
          <a:xfrm>
            <a:off x="913795" y="0"/>
            <a:ext cx="10353762" cy="678426"/>
          </a:xfrm>
        </p:spPr>
        <p:txBody>
          <a:bodyPr>
            <a:normAutofit/>
          </a:bodyPr>
          <a:lstStyle/>
          <a:p>
            <a:r>
              <a:rPr lang="en-US" sz="3200" b="1">
                <a:solidFill>
                  <a:srgbClr val="FFFF00"/>
                </a:solidFill>
              </a:rPr>
              <a:t>TDWF.</a:t>
            </a:r>
            <a:r>
              <a:rPr lang="en-US" sz="3200" b="1">
                <a:solidFill>
                  <a:srgbClr val="FF0000"/>
                </a:solidFill>
              </a:rPr>
              <a:t>Flow_Request_Deportation [cont. 6]</a:t>
            </a:r>
            <a:endParaRPr lang="en-US" sz="3200"/>
          </a:p>
        </p:txBody>
      </p:sp>
      <p:sp>
        <p:nvSpPr>
          <p:cNvPr id="3" name="Content Placeholder 2">
            <a:extLst>
              <a:ext uri="{FF2B5EF4-FFF2-40B4-BE49-F238E27FC236}">
                <a16:creationId xmlns:a16="http://schemas.microsoft.com/office/drawing/2014/main" id="{F400C10F-897D-F727-1B86-A376F407B1A6}"/>
              </a:ext>
            </a:extLst>
          </p:cNvPr>
          <p:cNvSpPr>
            <a:spLocks noGrp="1"/>
          </p:cNvSpPr>
          <p:nvPr>
            <p:ph idx="1"/>
          </p:nvPr>
        </p:nvSpPr>
        <p:spPr>
          <a:xfrm>
            <a:off x="167148" y="678426"/>
            <a:ext cx="11887200" cy="6017341"/>
          </a:xfrm>
        </p:spPr>
        <p:txBody>
          <a:bodyPr/>
          <a:lstStyle/>
          <a:p>
            <a:r>
              <a:rPr lang="en-US"/>
              <a:t>After CO at  deport the request from Field visit to Credit analysis</a:t>
            </a:r>
            <a:endParaRPr lang="ar-EG"/>
          </a:p>
          <a:p>
            <a:pPr lvl="1"/>
            <a:r>
              <a:rPr lang="en-US"/>
              <a:t>UserId_from= 14154  // the CO Id</a:t>
            </a:r>
            <a:endParaRPr lang="ar-EG"/>
          </a:p>
          <a:p>
            <a:pPr lvl="1"/>
            <a:r>
              <a:rPr lang="en-US"/>
              <a:t>UserId_to = 14154    // the CO</a:t>
            </a:r>
            <a:endParaRPr lang="ar-EG"/>
          </a:p>
          <a:p>
            <a:pPr lvl="1"/>
            <a:r>
              <a:rPr lang="en-US"/>
              <a:t>Name_step_from  : </a:t>
            </a:r>
            <a:r>
              <a:rPr lang="ar-EG"/>
              <a:t>زيارة ميدانية</a:t>
            </a:r>
          </a:p>
          <a:p>
            <a:pPr lvl="1"/>
            <a:r>
              <a:rPr lang="en-US"/>
              <a:t>Name_step_to:	 </a:t>
            </a:r>
            <a:r>
              <a:rPr lang="ar-EG"/>
              <a:t>تحليل ائتماني</a:t>
            </a:r>
            <a:endParaRPr lang="en-US"/>
          </a:p>
          <a:p>
            <a:pPr lvl="1"/>
            <a:r>
              <a:rPr lang="en-US"/>
              <a:t>Code_action (from: Flow_Actions): </a:t>
            </a:r>
            <a:r>
              <a:rPr lang="ar-EG" sz="2000" b="1">
                <a:solidFill>
                  <a:srgbClr val="FFFF00"/>
                </a:solidFill>
              </a:rPr>
              <a:t>10</a:t>
            </a:r>
            <a:endParaRPr lang="en-US"/>
          </a:p>
          <a:p>
            <a:pPr lvl="1"/>
            <a:r>
              <a:rPr lang="en-US"/>
              <a:t>Status_one: </a:t>
            </a:r>
            <a:r>
              <a:rPr lang="en-US" b="1">
                <a:solidFill>
                  <a:srgbClr val="00B0F0"/>
                </a:solidFill>
              </a:rPr>
              <a:t>Approved </a:t>
            </a:r>
            <a:r>
              <a:rPr lang="en-US"/>
              <a:t>// means the Name_step_from  : </a:t>
            </a:r>
            <a:r>
              <a:rPr lang="ar-EG"/>
              <a:t>زيارة ميدانية</a:t>
            </a:r>
            <a:r>
              <a:rPr lang="en-US"/>
              <a:t> is approved</a:t>
            </a:r>
          </a:p>
          <a:p>
            <a:pPr lvl="1"/>
            <a:r>
              <a:rPr lang="en-US"/>
              <a:t>Status_two: </a:t>
            </a:r>
            <a:r>
              <a:rPr lang="en-US" b="1">
                <a:solidFill>
                  <a:srgbClr val="00B0F0"/>
                </a:solidFill>
              </a:rPr>
              <a:t>BMFR1</a:t>
            </a:r>
            <a:endParaRPr lang="ar-EG" b="1">
              <a:solidFill>
                <a:srgbClr val="00B0F0"/>
              </a:solidFill>
            </a:endParaRPr>
          </a:p>
          <a:p>
            <a:endParaRPr lang="en-US"/>
          </a:p>
          <a:p>
            <a:endParaRPr lang="en-US"/>
          </a:p>
        </p:txBody>
      </p:sp>
    </p:spTree>
    <p:extLst>
      <p:ext uri="{BB962C8B-B14F-4D97-AF65-F5344CB8AC3E}">
        <p14:creationId xmlns:p14="http://schemas.microsoft.com/office/powerpoint/2010/main" val="4259227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A6392-F033-9970-55B2-9C4C89012F58}"/>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TDWF.</a:t>
            </a:r>
            <a:r>
              <a:rPr lang="en-US" b="1">
                <a:solidFill>
                  <a:srgbClr val="FF0000"/>
                </a:solidFill>
              </a:rPr>
              <a:t>Flow_Request_Deportation [cont. 7]</a:t>
            </a:r>
            <a:endParaRPr lang="en-US"/>
          </a:p>
        </p:txBody>
      </p:sp>
      <p:sp>
        <p:nvSpPr>
          <p:cNvPr id="3" name="Content Placeholder 2">
            <a:extLst>
              <a:ext uri="{FF2B5EF4-FFF2-40B4-BE49-F238E27FC236}">
                <a16:creationId xmlns:a16="http://schemas.microsoft.com/office/drawing/2014/main" id="{7B54F582-36BC-1EF5-BD24-0E72C56D3FFC}"/>
              </a:ext>
            </a:extLst>
          </p:cNvPr>
          <p:cNvSpPr>
            <a:spLocks noGrp="1"/>
          </p:cNvSpPr>
          <p:nvPr>
            <p:ph idx="1"/>
          </p:nvPr>
        </p:nvSpPr>
        <p:spPr>
          <a:xfrm>
            <a:off x="167148" y="550606"/>
            <a:ext cx="11867536" cy="6095999"/>
          </a:xfrm>
        </p:spPr>
        <p:txBody>
          <a:bodyPr/>
          <a:lstStyle/>
          <a:p>
            <a:r>
              <a:rPr lang="en-US"/>
              <a:t>After CO  deports the request from </a:t>
            </a:r>
            <a:r>
              <a:rPr lang="en-US" b="1">
                <a:solidFill>
                  <a:srgbClr val="00B0F0"/>
                </a:solidFill>
              </a:rPr>
              <a:t>critical analysis</a:t>
            </a:r>
            <a:r>
              <a:rPr lang="en-US"/>
              <a:t> to </a:t>
            </a:r>
            <a:r>
              <a:rPr lang="en-US" b="1">
                <a:solidFill>
                  <a:srgbClr val="00B0F0"/>
                </a:solidFill>
              </a:rPr>
              <a:t>Branch manager review</a:t>
            </a:r>
          </a:p>
          <a:p>
            <a:pPr lvl="1"/>
            <a:r>
              <a:rPr lang="en-US"/>
              <a:t>UserId_from= 4642  // the CO Id</a:t>
            </a:r>
            <a:endParaRPr lang="ar-EG"/>
          </a:p>
          <a:p>
            <a:pPr lvl="1"/>
            <a:r>
              <a:rPr lang="en-US"/>
              <a:t>UserId_to = 5640    // the BM</a:t>
            </a:r>
            <a:endParaRPr lang="ar-EG"/>
          </a:p>
          <a:p>
            <a:pPr lvl="1"/>
            <a:r>
              <a:rPr lang="en-US"/>
              <a:t>Name_step_from  : </a:t>
            </a:r>
            <a:r>
              <a:rPr lang="ar-EG"/>
              <a:t>تحليل ائتماني</a:t>
            </a:r>
          </a:p>
          <a:p>
            <a:pPr lvl="1"/>
            <a:r>
              <a:rPr lang="en-US"/>
              <a:t>Name_step_to:	 </a:t>
            </a:r>
            <a:r>
              <a:rPr lang="ar-EG"/>
              <a:t>مراجعة مدير الفرع</a:t>
            </a:r>
            <a:endParaRPr lang="en-US"/>
          </a:p>
          <a:p>
            <a:pPr lvl="1"/>
            <a:r>
              <a:rPr lang="en-US"/>
              <a:t>Code_action (from: Flow_Actions): </a:t>
            </a:r>
            <a:r>
              <a:rPr lang="ar-EG" sz="2000" b="1">
                <a:solidFill>
                  <a:srgbClr val="FFFF00"/>
                </a:solidFill>
              </a:rPr>
              <a:t>11</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CA1211</a:t>
            </a:r>
            <a:endParaRPr lang="ar-EG" b="1">
              <a:solidFill>
                <a:srgbClr val="00B0F0"/>
              </a:solidFill>
            </a:endParaRPr>
          </a:p>
          <a:p>
            <a:pPr lvl="1"/>
            <a:endParaRPr lang="en-US"/>
          </a:p>
          <a:p>
            <a:endParaRPr lang="en-US"/>
          </a:p>
          <a:p>
            <a:endParaRPr lang="en-US"/>
          </a:p>
          <a:p>
            <a:endParaRPr lang="en-US"/>
          </a:p>
          <a:p>
            <a:pPr lvl="1"/>
            <a:endParaRPr lang="en-US"/>
          </a:p>
          <a:p>
            <a:endParaRPr lang="en-US"/>
          </a:p>
          <a:p>
            <a:endParaRPr lang="ar-EG"/>
          </a:p>
          <a:p>
            <a:endParaRPr lang="en-US"/>
          </a:p>
        </p:txBody>
      </p:sp>
    </p:spTree>
    <p:extLst>
      <p:ext uri="{BB962C8B-B14F-4D97-AF65-F5344CB8AC3E}">
        <p14:creationId xmlns:p14="http://schemas.microsoft.com/office/powerpoint/2010/main" val="10391199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FCEEF-00B8-A138-A7CE-AC4DD1B13036}"/>
              </a:ext>
            </a:extLst>
          </p:cNvPr>
          <p:cNvSpPr>
            <a:spLocks noGrp="1"/>
          </p:cNvSpPr>
          <p:nvPr>
            <p:ph type="title"/>
          </p:nvPr>
        </p:nvSpPr>
        <p:spPr>
          <a:xfrm>
            <a:off x="913795" y="0"/>
            <a:ext cx="10353762" cy="566530"/>
          </a:xfrm>
        </p:spPr>
        <p:txBody>
          <a:bodyPr>
            <a:normAutofit fontScale="90000"/>
          </a:bodyPr>
          <a:lstStyle/>
          <a:p>
            <a:r>
              <a:rPr lang="en-US" b="1">
                <a:solidFill>
                  <a:srgbClr val="FFFF00"/>
                </a:solidFill>
              </a:rPr>
              <a:t>TDWF.</a:t>
            </a:r>
            <a:r>
              <a:rPr lang="en-US" b="1">
                <a:solidFill>
                  <a:srgbClr val="FF0000"/>
                </a:solidFill>
              </a:rPr>
              <a:t>Flow_Request_Deportation [cont. 8]</a:t>
            </a:r>
            <a:endParaRPr lang="en-US"/>
          </a:p>
        </p:txBody>
      </p:sp>
      <p:sp>
        <p:nvSpPr>
          <p:cNvPr id="3" name="Content Placeholder 2">
            <a:extLst>
              <a:ext uri="{FF2B5EF4-FFF2-40B4-BE49-F238E27FC236}">
                <a16:creationId xmlns:a16="http://schemas.microsoft.com/office/drawing/2014/main" id="{41C45D54-2101-32C3-EBC1-7D99B69946B1}"/>
              </a:ext>
            </a:extLst>
          </p:cNvPr>
          <p:cNvSpPr>
            <a:spLocks noGrp="1"/>
          </p:cNvSpPr>
          <p:nvPr>
            <p:ph idx="1"/>
          </p:nvPr>
        </p:nvSpPr>
        <p:spPr>
          <a:xfrm>
            <a:off x="198782" y="566530"/>
            <a:ext cx="11807687" cy="6132443"/>
          </a:xfrm>
        </p:spPr>
        <p:txBody>
          <a:bodyPr/>
          <a:lstStyle/>
          <a:p>
            <a:r>
              <a:rPr lang="en-US" b="1"/>
              <a:t>If BM Accepts the request from </a:t>
            </a:r>
            <a:r>
              <a:rPr lang="ar-EG" b="1"/>
              <a:t>مراجعة مدير الفرع</a:t>
            </a:r>
            <a:r>
              <a:rPr lang="en-US" b="1"/>
              <a:t> </a:t>
            </a:r>
            <a:endParaRPr lang="ar-EG" b="1"/>
          </a:p>
          <a:p>
            <a:pPr lvl="1"/>
            <a:r>
              <a:rPr lang="en-US"/>
              <a:t>UserId_from= 5640  // the BM Id</a:t>
            </a:r>
            <a:endParaRPr lang="ar-EG"/>
          </a:p>
          <a:p>
            <a:pPr lvl="1"/>
            <a:r>
              <a:rPr lang="en-US"/>
              <a:t>UserId_to = </a:t>
            </a:r>
            <a:r>
              <a:rPr lang="en-US" b="1">
                <a:solidFill>
                  <a:srgbClr val="FFFF00"/>
                </a:solidFill>
              </a:rPr>
              <a:t>NULL</a:t>
            </a:r>
            <a:endParaRPr lang="ar-EG" b="1">
              <a:solidFill>
                <a:srgbClr val="FFFF00"/>
              </a:solidFill>
            </a:endParaRPr>
          </a:p>
          <a:p>
            <a:pPr lvl="1"/>
            <a:r>
              <a:rPr lang="en-US"/>
              <a:t>Name_step_from  : </a:t>
            </a:r>
            <a:r>
              <a:rPr lang="ar-EG"/>
              <a:t>مراجعة مدير الفرع</a:t>
            </a:r>
            <a:endParaRPr lang="en-US"/>
          </a:p>
          <a:p>
            <a:pPr lvl="1"/>
            <a:r>
              <a:rPr lang="en-US"/>
              <a:t>Name_step_to:	 </a:t>
            </a:r>
            <a:r>
              <a:rPr lang="ar-EG"/>
              <a:t>لجنة مركزية</a:t>
            </a:r>
            <a:endParaRPr lang="en-US"/>
          </a:p>
          <a:p>
            <a:pPr lvl="1"/>
            <a:r>
              <a:rPr lang="en-US"/>
              <a:t>Code_action (from: Flow_Actions): </a:t>
            </a:r>
            <a:r>
              <a:rPr lang="en-US" sz="2000" b="1">
                <a:solidFill>
                  <a:srgbClr val="FFFF00"/>
                </a:solidFill>
              </a:rPr>
              <a:t>12</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CMR</a:t>
            </a:r>
            <a:endParaRPr lang="ar-EG" b="1">
              <a:solidFill>
                <a:srgbClr val="00B0F0"/>
              </a:solidFill>
            </a:endParaRPr>
          </a:p>
          <a:p>
            <a:endParaRPr lang="en-US"/>
          </a:p>
        </p:txBody>
      </p:sp>
    </p:spTree>
    <p:extLst>
      <p:ext uri="{BB962C8B-B14F-4D97-AF65-F5344CB8AC3E}">
        <p14:creationId xmlns:p14="http://schemas.microsoft.com/office/powerpoint/2010/main" val="26911906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F7EF-C717-F525-E3B5-A647F9C62BAE}"/>
              </a:ext>
            </a:extLst>
          </p:cNvPr>
          <p:cNvSpPr>
            <a:spLocks noGrp="1"/>
          </p:cNvSpPr>
          <p:nvPr>
            <p:ph type="title"/>
          </p:nvPr>
        </p:nvSpPr>
        <p:spPr>
          <a:xfrm>
            <a:off x="919119" y="0"/>
            <a:ext cx="10353762" cy="668594"/>
          </a:xfrm>
        </p:spPr>
        <p:txBody>
          <a:bodyPr>
            <a:normAutofit/>
          </a:bodyPr>
          <a:lstStyle/>
          <a:p>
            <a:r>
              <a:rPr lang="en-US" sz="3600" b="1" dirty="0" err="1">
                <a:solidFill>
                  <a:srgbClr val="FFFF00"/>
                </a:solidFill>
              </a:rPr>
              <a:t>TDWF</a:t>
            </a:r>
            <a:r>
              <a:rPr lang="en-US" sz="3600" dirty="0" err="1"/>
              <a:t>.</a:t>
            </a:r>
            <a:r>
              <a:rPr lang="en-US" sz="3600" b="1" dirty="0" err="1">
                <a:solidFill>
                  <a:srgbClr val="FF0000"/>
                </a:solidFill>
              </a:rPr>
              <a:t>Flow_Requests_Log</a:t>
            </a:r>
            <a:r>
              <a:rPr lang="en-US" sz="3600" b="1">
                <a:solidFill>
                  <a:srgbClr val="FF0000"/>
                </a:solidFill>
              </a:rPr>
              <a:t> (cont.2)</a:t>
            </a:r>
            <a:endParaRPr lang="en-US" sz="3600"/>
          </a:p>
        </p:txBody>
      </p:sp>
      <p:sp>
        <p:nvSpPr>
          <p:cNvPr id="3" name="Content Placeholder 2">
            <a:extLst>
              <a:ext uri="{FF2B5EF4-FFF2-40B4-BE49-F238E27FC236}">
                <a16:creationId xmlns:a16="http://schemas.microsoft.com/office/drawing/2014/main" id="{8ECCAD4C-762D-4C66-A916-345CE42B2173}"/>
              </a:ext>
            </a:extLst>
          </p:cNvPr>
          <p:cNvSpPr>
            <a:spLocks noGrp="1"/>
          </p:cNvSpPr>
          <p:nvPr>
            <p:ph idx="1"/>
          </p:nvPr>
        </p:nvSpPr>
        <p:spPr>
          <a:xfrm>
            <a:off x="165984" y="668594"/>
            <a:ext cx="11819539" cy="5978012"/>
          </a:xfrm>
        </p:spPr>
        <p:txBody>
          <a:bodyPr/>
          <a:lstStyle/>
          <a:p>
            <a:r>
              <a:rPr lang="en-US"/>
              <a:t>After the CO final reject the funding request</a:t>
            </a:r>
          </a:p>
          <a:p>
            <a:endParaRPr lang="en-US"/>
          </a:p>
        </p:txBody>
      </p:sp>
      <p:pic>
        <p:nvPicPr>
          <p:cNvPr id="7" name="Picture 6">
            <a:extLst>
              <a:ext uri="{FF2B5EF4-FFF2-40B4-BE49-F238E27FC236}">
                <a16:creationId xmlns:a16="http://schemas.microsoft.com/office/drawing/2014/main" id="{F33A026D-B280-75F8-92C3-4B44FCC571DC}"/>
              </a:ext>
            </a:extLst>
          </p:cNvPr>
          <p:cNvPicPr>
            <a:picLocks noChangeAspect="1"/>
          </p:cNvPicPr>
          <p:nvPr/>
        </p:nvPicPr>
        <p:blipFill>
          <a:blip r:embed="rId2"/>
          <a:stretch>
            <a:fillRect/>
          </a:stretch>
        </p:blipFill>
        <p:spPr>
          <a:xfrm>
            <a:off x="2776006" y="1137694"/>
            <a:ext cx="9250010" cy="1202383"/>
          </a:xfrm>
          <a:prstGeom prst="rect">
            <a:avLst/>
          </a:prstGeom>
        </p:spPr>
      </p:pic>
      <p:graphicFrame>
        <p:nvGraphicFramePr>
          <p:cNvPr id="8" name="Table 7">
            <a:extLst>
              <a:ext uri="{FF2B5EF4-FFF2-40B4-BE49-F238E27FC236}">
                <a16:creationId xmlns:a16="http://schemas.microsoft.com/office/drawing/2014/main" id="{C00AE869-6831-005D-E574-2CC0541464E7}"/>
              </a:ext>
            </a:extLst>
          </p:cNvPr>
          <p:cNvGraphicFramePr>
            <a:graphicFrameLocks noGrp="1"/>
          </p:cNvGraphicFramePr>
          <p:nvPr>
            <p:extLst>
              <p:ext uri="{D42A27DB-BD31-4B8C-83A1-F6EECF244321}">
                <p14:modId xmlns:p14="http://schemas.microsoft.com/office/powerpoint/2010/main" val="2194632669"/>
              </p:ext>
            </p:extLst>
          </p:nvPr>
        </p:nvGraphicFramePr>
        <p:xfrm>
          <a:off x="196645" y="2542285"/>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algn="ctr"/>
                      <a:r>
                        <a:rPr lang="en-US" sz="1800" b="1" kern="1200">
                          <a:solidFill>
                            <a:schemeClr val="dk1"/>
                          </a:solidFill>
                          <a:latin typeface="+mn-lt"/>
                          <a:ea typeface="+mn-ea"/>
                          <a:cs typeface="+mn-cs"/>
                        </a:rPr>
                        <a:t>10837</a:t>
                      </a:r>
                      <a:r>
                        <a:rPr lang="en-US" b="1"/>
                        <a:t>  [ LO ]</a:t>
                      </a:r>
                    </a:p>
                  </a:txBody>
                  <a:tcPr/>
                </a:tc>
                <a:tc>
                  <a:txBody>
                    <a:bodyPr/>
                    <a:lstStyle/>
                    <a:p>
                      <a:pPr algn="ctr"/>
                      <a:r>
                        <a:rPr lang="en-US" b="1"/>
                        <a:t>5 [</a:t>
                      </a:r>
                      <a:r>
                        <a:rPr lang="ar-EG" sz="1800" b="1"/>
                        <a:t>حفظ وإرسال</a:t>
                      </a:r>
                      <a:r>
                        <a:rPr lang="en-US" b="1"/>
                        <a:t> ]</a:t>
                      </a:r>
                    </a:p>
                  </a:txBody>
                  <a:tcPr/>
                </a:tc>
                <a:tc>
                  <a:txBody>
                    <a:bodyPr/>
                    <a:lstStyle/>
                    <a:p>
                      <a:pPr algn="ct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1392732663"/>
                  </a:ext>
                </a:extLst>
              </a:tr>
              <a:tr h="370840">
                <a:tc>
                  <a:txBody>
                    <a:bodyPr/>
                    <a:lstStyle/>
                    <a:p>
                      <a:pPr algn="ctr"/>
                      <a:r>
                        <a:rPr lang="en-US" sz="1800" b="1" kern="1200">
                          <a:solidFill>
                            <a:schemeClr val="dk1"/>
                          </a:solidFill>
                          <a:latin typeface="+mn-lt"/>
                          <a:ea typeface="+mn-ea"/>
                          <a:cs typeface="+mn-cs"/>
                        </a:rPr>
                        <a:t>14154</a:t>
                      </a:r>
                      <a:r>
                        <a:rPr lang="en-US" b="1"/>
                        <a:t>  [ CO ]</a:t>
                      </a:r>
                    </a:p>
                  </a:txBody>
                  <a:tcPr/>
                </a:tc>
                <a:tc>
                  <a:txBody>
                    <a:bodyPr/>
                    <a:lstStyle/>
                    <a:p>
                      <a:pPr algn="ctr"/>
                      <a:r>
                        <a:rPr lang="en-US" b="1"/>
                        <a:t>2 [ </a:t>
                      </a:r>
                      <a:r>
                        <a:rPr lang="ar-EG" b="1"/>
                        <a:t>رفض نهائي</a:t>
                      </a:r>
                      <a:r>
                        <a:rPr lang="en-US" b="1"/>
                        <a:t> ]</a:t>
                      </a:r>
                    </a:p>
                  </a:txBody>
                  <a:tcPr/>
                </a:tc>
                <a:tc>
                  <a:txBody>
                    <a:bodyPr/>
                    <a:lstStyle/>
                    <a:p>
                      <a:pPr algn="ctr"/>
                      <a:r>
                        <a:rPr lang="ar-EG" b="1"/>
                        <a:t>مراجعة اولية</a:t>
                      </a:r>
                      <a:endParaRPr lang="en-US" b="1"/>
                    </a:p>
                  </a:txBody>
                  <a:tcPr/>
                </a:tc>
                <a:tc>
                  <a:txBody>
                    <a:bodyPr/>
                    <a:lstStyle/>
                    <a:p>
                      <a:pPr algn="ctr"/>
                      <a:r>
                        <a:rPr lang="en-US" b="1"/>
                        <a:t>CO1010</a:t>
                      </a:r>
                    </a:p>
                  </a:txBody>
                  <a:tcPr/>
                </a:tc>
                <a:extLst>
                  <a:ext uri="{0D108BD9-81ED-4DB2-BD59-A6C34878D82A}">
                    <a16:rowId xmlns:a16="http://schemas.microsoft.com/office/drawing/2014/main" val="3515403949"/>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4603428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651A-B07B-5A69-B24A-4F675813132B}"/>
              </a:ext>
            </a:extLst>
          </p:cNvPr>
          <p:cNvSpPr>
            <a:spLocks noGrp="1"/>
          </p:cNvSpPr>
          <p:nvPr>
            <p:ph type="title"/>
          </p:nvPr>
        </p:nvSpPr>
        <p:spPr>
          <a:xfrm>
            <a:off x="1059267" y="-18528"/>
            <a:ext cx="10353762" cy="808237"/>
          </a:xfrm>
        </p:spPr>
        <p:txBody>
          <a:bodyPr/>
          <a:lstStyle/>
          <a:p>
            <a:r>
              <a:rPr lang="en-US" b="1">
                <a:solidFill>
                  <a:srgbClr val="FFFF00"/>
                </a:solidFill>
              </a:rPr>
              <a:t>TDWF</a:t>
            </a:r>
            <a:r>
              <a:rPr lang="en-US"/>
              <a:t>.</a:t>
            </a:r>
            <a:r>
              <a:rPr lang="en-US" b="1">
                <a:solidFill>
                  <a:srgbClr val="FF0000"/>
                </a:solidFill>
              </a:rPr>
              <a:t>Flow_Requests_Log (cont.2)</a:t>
            </a:r>
            <a:endParaRPr lang="en-US"/>
          </a:p>
        </p:txBody>
      </p:sp>
      <p:sp>
        <p:nvSpPr>
          <p:cNvPr id="3" name="Content Placeholder 2">
            <a:extLst>
              <a:ext uri="{FF2B5EF4-FFF2-40B4-BE49-F238E27FC236}">
                <a16:creationId xmlns:a16="http://schemas.microsoft.com/office/drawing/2014/main" id="{B763B7ED-8259-82B3-58EB-6522841B4DC8}"/>
              </a:ext>
            </a:extLst>
          </p:cNvPr>
          <p:cNvSpPr>
            <a:spLocks noGrp="1"/>
          </p:cNvSpPr>
          <p:nvPr>
            <p:ph idx="1"/>
          </p:nvPr>
        </p:nvSpPr>
        <p:spPr/>
        <p:txBody>
          <a:bodyPr/>
          <a:lstStyle/>
          <a:p>
            <a:r>
              <a:rPr lang="en-US"/>
              <a:t>After BM Deports the request from </a:t>
            </a:r>
            <a:r>
              <a:rPr lang="ar-EG"/>
              <a:t>مراجعة مدير الفرع الي اللجنة المركزية</a:t>
            </a:r>
          </a:p>
          <a:p>
            <a:endParaRPr lang="en-US"/>
          </a:p>
        </p:txBody>
      </p:sp>
      <p:graphicFrame>
        <p:nvGraphicFramePr>
          <p:cNvPr id="6" name="Table 5">
            <a:extLst>
              <a:ext uri="{FF2B5EF4-FFF2-40B4-BE49-F238E27FC236}">
                <a16:creationId xmlns:a16="http://schemas.microsoft.com/office/drawing/2014/main" id="{595032BD-0F21-F41C-61DA-4700FE9FEA85}"/>
              </a:ext>
            </a:extLst>
          </p:cNvPr>
          <p:cNvGraphicFramePr>
            <a:graphicFrameLocks noGrp="1"/>
          </p:cNvGraphicFramePr>
          <p:nvPr>
            <p:extLst>
              <p:ext uri="{D42A27DB-BD31-4B8C-83A1-F6EECF244321}">
                <p14:modId xmlns:p14="http://schemas.microsoft.com/office/powerpoint/2010/main" val="4115892749"/>
              </p:ext>
            </p:extLst>
          </p:nvPr>
        </p:nvGraphicFramePr>
        <p:xfrm>
          <a:off x="1059267" y="2278464"/>
          <a:ext cx="8004064" cy="74168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لجنة مركزية</a:t>
                      </a:r>
                      <a:endParaRPr lang="en-US" b="1"/>
                    </a:p>
                  </a:txBody>
                  <a:tcPr/>
                </a:tc>
                <a:tc>
                  <a:txBody>
                    <a:bodyPr/>
                    <a:lstStyle/>
                    <a:p>
                      <a:pPr algn="ctr"/>
                      <a:r>
                        <a:rPr lang="en-US" b="1"/>
                        <a:t>CMR</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19870057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24FBF-F0BB-774C-FD4E-6A182D98FC28}"/>
              </a:ext>
            </a:extLst>
          </p:cNvPr>
          <p:cNvSpPr>
            <a:spLocks noGrp="1"/>
          </p:cNvSpPr>
          <p:nvPr>
            <p:ph type="title"/>
          </p:nvPr>
        </p:nvSpPr>
        <p:spPr>
          <a:xfrm>
            <a:off x="913795" y="0"/>
            <a:ext cx="10353762" cy="619432"/>
          </a:xfrm>
        </p:spPr>
        <p:txBody>
          <a:bodyPr>
            <a:normAutofit fontScale="90000"/>
          </a:bodyPr>
          <a:lstStyle/>
          <a:p>
            <a:r>
              <a:rPr lang="en-US" b="1">
                <a:solidFill>
                  <a:srgbClr val="FFFF00"/>
                </a:solidFill>
              </a:rPr>
              <a:t>TDWF</a:t>
            </a:r>
            <a:r>
              <a:rPr lang="en-US"/>
              <a:t>.</a:t>
            </a:r>
            <a:r>
              <a:rPr lang="en-US" b="1">
                <a:solidFill>
                  <a:srgbClr val="FF0000"/>
                </a:solidFill>
              </a:rPr>
              <a:t>Flow_Rejections_main</a:t>
            </a:r>
          </a:p>
        </p:txBody>
      </p:sp>
      <p:sp>
        <p:nvSpPr>
          <p:cNvPr id="3" name="Content Placeholder 2">
            <a:extLst>
              <a:ext uri="{FF2B5EF4-FFF2-40B4-BE49-F238E27FC236}">
                <a16:creationId xmlns:a16="http://schemas.microsoft.com/office/drawing/2014/main" id="{36DA3D8E-EFB8-1022-10D0-BA8027151160}"/>
              </a:ext>
            </a:extLst>
          </p:cNvPr>
          <p:cNvSpPr>
            <a:spLocks noGrp="1"/>
          </p:cNvSpPr>
          <p:nvPr>
            <p:ph idx="1"/>
          </p:nvPr>
        </p:nvSpPr>
        <p:spPr>
          <a:xfrm>
            <a:off x="24172" y="619432"/>
            <a:ext cx="12167828" cy="5928851"/>
          </a:xfrm>
        </p:spPr>
        <p:txBody>
          <a:bodyPr/>
          <a:lstStyle/>
          <a:p>
            <a:r>
              <a:rPr lang="en-US" sz="2400" b="1">
                <a:solidFill>
                  <a:srgbClr val="FF0000"/>
                </a:solidFill>
              </a:rPr>
              <a:t>After request is rejected via CO </a:t>
            </a:r>
            <a:r>
              <a:rPr lang="ar-EG" sz="2400" b="1">
                <a:solidFill>
                  <a:srgbClr val="FF0000"/>
                </a:solidFill>
              </a:rPr>
              <a:t>رفض</a:t>
            </a:r>
            <a:endParaRPr lang="en-US" sz="2400"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4288288308"/>
              </p:ext>
            </p:extLst>
          </p:nvPr>
        </p:nvGraphicFramePr>
        <p:xfrm>
          <a:off x="6743700" y="1238864"/>
          <a:ext cx="5252830" cy="1483360"/>
        </p:xfrm>
        <a:graphic>
          <a:graphicData uri="http://schemas.openxmlformats.org/drawingml/2006/table">
            <a:tbl>
              <a:tblPr firstRow="1" bandRow="1">
                <a:tableStyleId>{5C22544A-7EE6-4342-B048-85BDC9FD1C3A}</a:tableStyleId>
              </a:tblPr>
              <a:tblGrid>
                <a:gridCol w="872836">
                  <a:extLst>
                    <a:ext uri="{9D8B030D-6E8A-4147-A177-3AD203B41FA5}">
                      <a16:colId xmlns:a16="http://schemas.microsoft.com/office/drawing/2014/main" val="953148366"/>
                    </a:ext>
                  </a:extLst>
                </a:gridCol>
                <a:gridCol w="4379994">
                  <a:extLst>
                    <a:ext uri="{9D8B030D-6E8A-4147-A177-3AD203B41FA5}">
                      <a16:colId xmlns:a16="http://schemas.microsoft.com/office/drawing/2014/main" val="1910439298"/>
                    </a:ext>
                  </a:extLst>
                </a:gridCol>
              </a:tblGrid>
              <a:tr h="37084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70840">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70840">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70840">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graphicFrame>
        <p:nvGraphicFramePr>
          <p:cNvPr id="5" name="Table 4">
            <a:extLst>
              <a:ext uri="{FF2B5EF4-FFF2-40B4-BE49-F238E27FC236}">
                <a16:creationId xmlns:a16="http://schemas.microsoft.com/office/drawing/2014/main" id="{406FBB2F-FC2B-611E-BCA7-6481DF9C3673}"/>
              </a:ext>
            </a:extLst>
          </p:cNvPr>
          <p:cNvGraphicFramePr>
            <a:graphicFrameLocks noGrp="1"/>
          </p:cNvGraphicFramePr>
          <p:nvPr>
            <p:extLst>
              <p:ext uri="{D42A27DB-BD31-4B8C-83A1-F6EECF244321}">
                <p14:modId xmlns:p14="http://schemas.microsoft.com/office/powerpoint/2010/main" val="637988134"/>
              </p:ext>
            </p:extLst>
          </p:nvPr>
        </p:nvGraphicFramePr>
        <p:xfrm>
          <a:off x="193574" y="2970816"/>
          <a:ext cx="11794203" cy="741680"/>
        </p:xfrm>
        <a:graphic>
          <a:graphicData uri="http://schemas.openxmlformats.org/drawingml/2006/table">
            <a:tbl>
              <a:tblPr firstRow="1" bandRow="1">
                <a:tableStyleId>{5C22544A-7EE6-4342-B048-85BDC9FD1C3A}</a:tableStyleId>
              </a:tblPr>
              <a:tblGrid>
                <a:gridCol w="1651099">
                  <a:extLst>
                    <a:ext uri="{9D8B030D-6E8A-4147-A177-3AD203B41FA5}">
                      <a16:colId xmlns:a16="http://schemas.microsoft.com/office/drawing/2014/main" val="2510266671"/>
                    </a:ext>
                  </a:extLst>
                </a:gridCol>
                <a:gridCol w="1964600">
                  <a:extLst>
                    <a:ext uri="{9D8B030D-6E8A-4147-A177-3AD203B41FA5}">
                      <a16:colId xmlns:a16="http://schemas.microsoft.com/office/drawing/2014/main" val="3238377372"/>
                    </a:ext>
                  </a:extLst>
                </a:gridCol>
                <a:gridCol w="1421199">
                  <a:extLst>
                    <a:ext uri="{9D8B030D-6E8A-4147-A177-3AD203B41FA5}">
                      <a16:colId xmlns:a16="http://schemas.microsoft.com/office/drawing/2014/main" val="1594916714"/>
                    </a:ext>
                  </a:extLst>
                </a:gridCol>
                <a:gridCol w="2851334">
                  <a:extLst>
                    <a:ext uri="{9D8B030D-6E8A-4147-A177-3AD203B41FA5}">
                      <a16:colId xmlns:a16="http://schemas.microsoft.com/office/drawing/2014/main" val="396291970"/>
                    </a:ext>
                  </a:extLst>
                </a:gridCol>
                <a:gridCol w="2091512">
                  <a:extLst>
                    <a:ext uri="{9D8B030D-6E8A-4147-A177-3AD203B41FA5}">
                      <a16:colId xmlns:a16="http://schemas.microsoft.com/office/drawing/2014/main" val="2006853344"/>
                    </a:ext>
                  </a:extLst>
                </a:gridCol>
                <a:gridCol w="1814459">
                  <a:extLst>
                    <a:ext uri="{9D8B030D-6E8A-4147-A177-3AD203B41FA5}">
                      <a16:colId xmlns:a16="http://schemas.microsoft.com/office/drawing/2014/main" val="2181801146"/>
                    </a:ext>
                  </a:extLst>
                </a:gridCol>
              </a:tblGrid>
              <a:tr h="370840">
                <a:tc>
                  <a:txBody>
                    <a:bodyPr/>
                    <a:lstStyle/>
                    <a:p>
                      <a:pPr algn="ctr"/>
                      <a:r>
                        <a:rPr lang="en-US"/>
                        <a:t>UserId</a:t>
                      </a:r>
                    </a:p>
                  </a:txBody>
                  <a:tcPr/>
                </a:tc>
                <a:tc>
                  <a:txBody>
                    <a:bodyPr/>
                    <a:lstStyle/>
                    <a:p>
                      <a:pPr algn="ctr"/>
                      <a:r>
                        <a:rPr lang="en-US"/>
                        <a:t>Reject_by_phase</a:t>
                      </a:r>
                    </a:p>
                  </a:txBody>
                  <a:tcPr/>
                </a:tc>
                <a:tc>
                  <a:txBody>
                    <a:bodyPr/>
                    <a:lstStyle/>
                    <a:p>
                      <a:pPr algn="ctr"/>
                      <a:r>
                        <a:rPr lang="en-US"/>
                        <a:t>Request_id</a:t>
                      </a:r>
                    </a:p>
                  </a:txBody>
                  <a:tcPr/>
                </a:tc>
                <a:tc>
                  <a:txBody>
                    <a:bodyPr/>
                    <a:lstStyle/>
                    <a:p>
                      <a:pPr algn="ctr"/>
                      <a:r>
                        <a:rPr lang="en-US"/>
                        <a:t>Remarks</a:t>
                      </a:r>
                    </a:p>
                  </a:txBody>
                  <a:tcPr/>
                </a:tc>
                <a:tc>
                  <a:txBody>
                    <a:bodyPr/>
                    <a:lstStyle/>
                    <a:p>
                      <a:pPr algn="ctr"/>
                      <a:r>
                        <a:rPr lang="en-US"/>
                        <a:t>InsertDate</a:t>
                      </a:r>
                    </a:p>
                  </a:txBody>
                  <a:tcPr/>
                </a:tc>
                <a:tc>
                  <a:txBody>
                    <a:bodyPr/>
                    <a:lstStyle/>
                    <a:p>
                      <a:pPr algn="ctr"/>
                      <a:r>
                        <a:rPr lang="en-US"/>
                        <a:t>Rejection_flag</a:t>
                      </a:r>
                    </a:p>
                  </a:txBody>
                  <a:tcPr/>
                </a:tc>
                <a:extLst>
                  <a:ext uri="{0D108BD9-81ED-4DB2-BD59-A6C34878D82A}">
                    <a16:rowId xmlns:a16="http://schemas.microsoft.com/office/drawing/2014/main" val="2813072921"/>
                  </a:ext>
                </a:extLst>
              </a:tr>
              <a:tr h="370840">
                <a:tc>
                  <a:txBody>
                    <a:bodyPr/>
                    <a:lstStyle/>
                    <a:p>
                      <a:pPr algn="ctr"/>
                      <a:r>
                        <a:rPr lang="en-US" b="0"/>
                        <a:t>1152  [ CO ]</a:t>
                      </a:r>
                    </a:p>
                  </a:txBody>
                  <a:tcPr/>
                </a:tc>
                <a:tc>
                  <a:txBody>
                    <a:bodyPr/>
                    <a:lstStyle/>
                    <a:p>
                      <a:pPr algn="ctr"/>
                      <a:r>
                        <a:rPr lang="en-US" b="0"/>
                        <a:t>CO1010</a:t>
                      </a:r>
                    </a:p>
                  </a:txBody>
                  <a:tcPr/>
                </a:tc>
                <a:tc>
                  <a:txBody>
                    <a:bodyPr/>
                    <a:lstStyle/>
                    <a:p>
                      <a:pPr algn="ctr"/>
                      <a:r>
                        <a:rPr lang="en-US" b="0"/>
                        <a:t>1565295</a:t>
                      </a:r>
                    </a:p>
                  </a:txBody>
                  <a:tcPr/>
                </a:tc>
                <a:tc>
                  <a:txBody>
                    <a:bodyPr/>
                    <a:lstStyle/>
                    <a:p>
                      <a:pPr algn="ctr"/>
                      <a:r>
                        <a:rPr lang="ar-EG" sz="1600" b="0"/>
                        <a:t>تم الرفض من مرحلة المراجعة الأولية</a:t>
                      </a:r>
                      <a:endParaRPr lang="en-US" sz="1600" b="0"/>
                    </a:p>
                  </a:txBody>
                  <a:tcPr/>
                </a:tc>
                <a:tc>
                  <a:txBody>
                    <a:bodyPr/>
                    <a:lstStyle/>
                    <a:p>
                      <a:pPr algn="ctr"/>
                      <a:r>
                        <a:rPr lang="en-US" sz="1600" b="0"/>
                        <a:t>2026-02-25 11:15:07</a:t>
                      </a:r>
                    </a:p>
                  </a:txBody>
                  <a:tcPr/>
                </a:tc>
                <a:tc>
                  <a:txBody>
                    <a:bodyPr/>
                    <a:lstStyle/>
                    <a:p>
                      <a:pPr algn="ctr"/>
                      <a:r>
                        <a:rPr lang="ar-EG" b="0"/>
                        <a:t>2</a:t>
                      </a:r>
                      <a:endParaRPr lang="en-US" b="0"/>
                    </a:p>
                  </a:txBody>
                  <a:tcPr/>
                </a:tc>
                <a:extLst>
                  <a:ext uri="{0D108BD9-81ED-4DB2-BD59-A6C34878D82A}">
                    <a16:rowId xmlns:a16="http://schemas.microsoft.com/office/drawing/2014/main" val="2372472528"/>
                  </a:ext>
                </a:extLst>
              </a:tr>
            </a:tbl>
          </a:graphicData>
        </a:graphic>
      </p:graphicFrame>
    </p:spTree>
    <p:extLst>
      <p:ext uri="{BB962C8B-B14F-4D97-AF65-F5344CB8AC3E}">
        <p14:creationId xmlns:p14="http://schemas.microsoft.com/office/powerpoint/2010/main" val="4147338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3AF15-2900-BCCD-BE8F-E2D58873E262}"/>
              </a:ext>
            </a:extLst>
          </p:cNvPr>
          <p:cNvSpPr>
            <a:spLocks noGrp="1"/>
          </p:cNvSpPr>
          <p:nvPr>
            <p:ph type="title"/>
          </p:nvPr>
        </p:nvSpPr>
        <p:spPr>
          <a:xfrm>
            <a:off x="913795" y="0"/>
            <a:ext cx="10353762" cy="648929"/>
          </a:xfrm>
        </p:spPr>
        <p:txBody>
          <a:bodyPr>
            <a:normAutofit/>
          </a:bodyPr>
          <a:lstStyle/>
          <a:p>
            <a:r>
              <a:rPr lang="en-US" sz="3200" b="1">
                <a:solidFill>
                  <a:srgbClr val="FFFF00"/>
                </a:solidFill>
              </a:rPr>
              <a:t>TDWF</a:t>
            </a:r>
            <a:r>
              <a:rPr lang="en-US" sz="3200"/>
              <a:t>.</a:t>
            </a:r>
            <a:r>
              <a:rPr lang="en-US" sz="3200" b="1">
                <a:solidFill>
                  <a:srgbClr val="FF0000"/>
                </a:solidFill>
              </a:rPr>
              <a:t>Flow_Rejections_SubOne</a:t>
            </a:r>
          </a:p>
        </p:txBody>
      </p:sp>
      <p:sp>
        <p:nvSpPr>
          <p:cNvPr id="3" name="Content Placeholder 2">
            <a:extLst>
              <a:ext uri="{FF2B5EF4-FFF2-40B4-BE49-F238E27FC236}">
                <a16:creationId xmlns:a16="http://schemas.microsoft.com/office/drawing/2014/main" id="{C8CE30A4-CBA1-C28D-BA06-F2D2F5A3F8D1}"/>
              </a:ext>
            </a:extLst>
          </p:cNvPr>
          <p:cNvSpPr>
            <a:spLocks noGrp="1"/>
          </p:cNvSpPr>
          <p:nvPr>
            <p:ph idx="1"/>
          </p:nvPr>
        </p:nvSpPr>
        <p:spPr>
          <a:xfrm>
            <a:off x="275302" y="648929"/>
            <a:ext cx="11690555" cy="6105832"/>
          </a:xfrm>
        </p:spPr>
        <p:txBody>
          <a:bodyPr/>
          <a:lstStyle/>
          <a:p>
            <a:r>
              <a:rPr lang="en-US"/>
              <a:t>FRSO_ID [PK]</a:t>
            </a:r>
          </a:p>
          <a:p>
            <a:r>
              <a:rPr lang="en-US"/>
              <a:t>tabs_code [FK] </a:t>
            </a:r>
            <a:r>
              <a:rPr lang="en-US" b="1">
                <a:solidFill>
                  <a:srgbClr val="FFFF00"/>
                </a:solidFill>
              </a:rPr>
              <a:t>from Flow_Tabs</a:t>
            </a:r>
          </a:p>
          <a:p>
            <a:r>
              <a:rPr lang="en-US"/>
              <a:t>Field_name</a:t>
            </a:r>
          </a:p>
          <a:p>
            <a:r>
              <a:rPr lang="en-US"/>
              <a:t>Field_code</a:t>
            </a:r>
          </a:p>
          <a:p>
            <a:r>
              <a:rPr lang="en-US"/>
              <a:t>UserId: the User who will receive the rejection</a:t>
            </a:r>
          </a:p>
          <a:p>
            <a:r>
              <a:rPr lang="en-US"/>
              <a:t>Phase_back_to: string </a:t>
            </a:r>
          </a:p>
          <a:p>
            <a:r>
              <a:rPr lang="en-US"/>
              <a:t>Comment: string</a:t>
            </a:r>
          </a:p>
          <a:p>
            <a:r>
              <a:rPr lang="en-US"/>
              <a:t>FRM_ID </a:t>
            </a:r>
            <a:r>
              <a:rPr lang="en-US" b="1">
                <a:solidFill>
                  <a:srgbClr val="FFFF00"/>
                </a:solidFill>
              </a:rPr>
              <a:t>[FK] from Flow_Rejection_Main</a:t>
            </a:r>
          </a:p>
        </p:txBody>
      </p:sp>
    </p:spTree>
    <p:extLst>
      <p:ext uri="{BB962C8B-B14F-4D97-AF65-F5344CB8AC3E}">
        <p14:creationId xmlns:p14="http://schemas.microsoft.com/office/powerpoint/2010/main" val="259458146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C371A-EF07-CBCD-1233-CFDD455359D4}"/>
              </a:ext>
            </a:extLst>
          </p:cNvPr>
          <p:cNvSpPr>
            <a:spLocks noGrp="1"/>
          </p:cNvSpPr>
          <p:nvPr>
            <p:ph type="title"/>
          </p:nvPr>
        </p:nvSpPr>
        <p:spPr>
          <a:xfrm>
            <a:off x="913795" y="0"/>
            <a:ext cx="10353762" cy="970450"/>
          </a:xfrm>
        </p:spPr>
        <p:txBody>
          <a:bodyPr/>
          <a:lstStyle/>
          <a:p>
            <a:r>
              <a:rPr lang="en-US" b="1">
                <a:solidFill>
                  <a:srgbClr val="FFFF00"/>
                </a:solidFill>
              </a:rPr>
              <a:t>TDWF</a:t>
            </a:r>
            <a:r>
              <a:rPr lang="en-US"/>
              <a:t>.</a:t>
            </a:r>
            <a:r>
              <a:rPr lang="en-US" b="1">
                <a:solidFill>
                  <a:srgbClr val="FF0000"/>
                </a:solidFill>
              </a:rPr>
              <a:t>Flow_Rejections_SubOne [cont.1]</a:t>
            </a:r>
            <a:endParaRPr lang="en-US"/>
          </a:p>
        </p:txBody>
      </p:sp>
      <p:sp>
        <p:nvSpPr>
          <p:cNvPr id="3" name="Content Placeholder 2">
            <a:extLst>
              <a:ext uri="{FF2B5EF4-FFF2-40B4-BE49-F238E27FC236}">
                <a16:creationId xmlns:a16="http://schemas.microsoft.com/office/drawing/2014/main" id="{0B200E3E-059A-C3FB-2BFA-B1B945F5D940}"/>
              </a:ext>
            </a:extLst>
          </p:cNvPr>
          <p:cNvSpPr>
            <a:spLocks noGrp="1"/>
          </p:cNvSpPr>
          <p:nvPr>
            <p:ph idx="1"/>
          </p:nvPr>
        </p:nvSpPr>
        <p:spPr>
          <a:xfrm>
            <a:off x="176980" y="970451"/>
            <a:ext cx="12929419" cy="5705652"/>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pPr lvl="1"/>
            <a:r>
              <a:rPr lang="en-US" b="1">
                <a:solidFill>
                  <a:schemeClr val="tx1"/>
                </a:solidFill>
              </a:rPr>
              <a:t>The CO rejected at screen [ </a:t>
            </a:r>
            <a:r>
              <a:rPr lang="ar-EG" b="1">
                <a:solidFill>
                  <a:schemeClr val="tx1"/>
                </a:solidFill>
              </a:rPr>
              <a:t>: طلب قرض</a:t>
            </a:r>
            <a:r>
              <a:rPr lang="en-US" b="1">
                <a:solidFill>
                  <a:schemeClr val="tx1"/>
                </a:solidFill>
              </a:rPr>
              <a:t> </a:t>
            </a:r>
            <a:r>
              <a:rPr lang="ar-EG" b="1">
                <a:solidFill>
                  <a:schemeClr val="tx1"/>
                </a:solidFill>
              </a:rPr>
              <a:t>2</a:t>
            </a:r>
            <a:r>
              <a:rPr lang="en-US" b="1">
                <a:solidFill>
                  <a:schemeClr val="tx1"/>
                </a:solidFill>
              </a:rPr>
              <a:t>] </a:t>
            </a:r>
            <a:r>
              <a:rPr lang="ar-EG" b="1">
                <a:solidFill>
                  <a:schemeClr val="tx1"/>
                </a:solidFill>
              </a:rPr>
              <a:t>صله العميل بالضامن</a:t>
            </a:r>
            <a:endParaRPr lang="en-US" b="1">
              <a:solidFill>
                <a:schemeClr val="tx1"/>
              </a:solidFill>
            </a:endParaRPr>
          </a:p>
          <a:p>
            <a:pPr lvl="1"/>
            <a:r>
              <a:rPr lang="en-US" b="1">
                <a:solidFill>
                  <a:schemeClr val="tx1"/>
                </a:solidFill>
              </a:rPr>
              <a:t>The CO rejected </a:t>
            </a:r>
            <a:r>
              <a:rPr lang="ar-EG" b="1">
                <a:solidFill>
                  <a:schemeClr val="tx1"/>
                </a:solidFill>
              </a:rPr>
              <a:t>الاسم الاول</a:t>
            </a:r>
            <a:endParaRPr lang="en-US" b="1">
              <a:solidFill>
                <a:schemeClr val="tx1"/>
              </a:solidFill>
            </a:endParaRPr>
          </a:p>
          <a:p>
            <a:pPr lvl="1"/>
            <a:r>
              <a:rPr lang="en-US" b="1">
                <a:solidFill>
                  <a:schemeClr val="tx1"/>
                </a:solidFill>
              </a:rPr>
              <a:t>The CO rejected </a:t>
            </a:r>
            <a:r>
              <a:rPr lang="ar-EG" b="1">
                <a:solidFill>
                  <a:schemeClr val="tx1"/>
                </a:solidFill>
              </a:rPr>
              <a:t>اسم الشخص</a:t>
            </a:r>
            <a:endParaRPr lang="en-US" b="1">
              <a:solidFill>
                <a:schemeClr val="tx1"/>
              </a:solidFill>
            </a:endParaRPr>
          </a:p>
          <a:p>
            <a:endParaRPr lang="en-US"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87413163-944C-737B-8975-BCC4417383FE}"/>
              </a:ext>
            </a:extLst>
          </p:cNvPr>
          <p:cNvGraphicFramePr>
            <a:graphicFrameLocks noGrp="1"/>
          </p:cNvGraphicFramePr>
          <p:nvPr>
            <p:extLst>
              <p:ext uri="{D42A27DB-BD31-4B8C-83A1-F6EECF244321}">
                <p14:modId xmlns:p14="http://schemas.microsoft.com/office/powerpoint/2010/main" val="863933099"/>
              </p:ext>
            </p:extLst>
          </p:nvPr>
        </p:nvGraphicFramePr>
        <p:xfrm>
          <a:off x="442452" y="2931924"/>
          <a:ext cx="11425085" cy="148336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1232553221"/>
                    </a:ext>
                  </a:extLst>
                </a:gridCol>
                <a:gridCol w="1897626">
                  <a:extLst>
                    <a:ext uri="{9D8B030D-6E8A-4147-A177-3AD203B41FA5}">
                      <a16:colId xmlns:a16="http://schemas.microsoft.com/office/drawing/2014/main" val="753264519"/>
                    </a:ext>
                  </a:extLst>
                </a:gridCol>
                <a:gridCol w="1425678">
                  <a:extLst>
                    <a:ext uri="{9D8B030D-6E8A-4147-A177-3AD203B41FA5}">
                      <a16:colId xmlns:a16="http://schemas.microsoft.com/office/drawing/2014/main" val="1508910083"/>
                    </a:ext>
                  </a:extLst>
                </a:gridCol>
                <a:gridCol w="1291078">
                  <a:extLst>
                    <a:ext uri="{9D8B030D-6E8A-4147-A177-3AD203B41FA5}">
                      <a16:colId xmlns:a16="http://schemas.microsoft.com/office/drawing/2014/main" val="1295832117"/>
                    </a:ext>
                  </a:extLst>
                </a:gridCol>
                <a:gridCol w="1973232">
                  <a:extLst>
                    <a:ext uri="{9D8B030D-6E8A-4147-A177-3AD203B41FA5}">
                      <a16:colId xmlns:a16="http://schemas.microsoft.com/office/drawing/2014/main" val="3577669660"/>
                    </a:ext>
                  </a:extLst>
                </a:gridCol>
                <a:gridCol w="1632155">
                  <a:extLst>
                    <a:ext uri="{9D8B030D-6E8A-4147-A177-3AD203B41FA5}">
                      <a16:colId xmlns:a16="http://schemas.microsoft.com/office/drawing/2014/main" val="3223476129"/>
                    </a:ext>
                  </a:extLst>
                </a:gridCol>
                <a:gridCol w="1632155">
                  <a:extLst>
                    <a:ext uri="{9D8B030D-6E8A-4147-A177-3AD203B41FA5}">
                      <a16:colId xmlns:a16="http://schemas.microsoft.com/office/drawing/2014/main" val="488725321"/>
                    </a:ext>
                  </a:extLst>
                </a:gridCol>
              </a:tblGrid>
              <a:tr h="370840">
                <a:tc>
                  <a:txBody>
                    <a:bodyPr/>
                    <a:lstStyle/>
                    <a:p>
                      <a:pPr algn="ctr"/>
                      <a:r>
                        <a:rPr lang="en-US" b="1"/>
                        <a:t>Tabs code</a:t>
                      </a:r>
                    </a:p>
                  </a:txBody>
                  <a:tcPr/>
                </a:tc>
                <a:tc>
                  <a:txBody>
                    <a:bodyPr/>
                    <a:lstStyle/>
                    <a:p>
                      <a:pPr algn="ctr"/>
                      <a:r>
                        <a:rPr lang="en-US" b="1"/>
                        <a:t>Field_name</a:t>
                      </a:r>
                    </a:p>
                  </a:txBody>
                  <a:tcPr/>
                </a:tc>
                <a:tc>
                  <a:txBody>
                    <a:bodyPr/>
                    <a:lstStyle/>
                    <a:p>
                      <a:pPr algn="ctr"/>
                      <a:r>
                        <a:rPr lang="en-US" b="1"/>
                        <a:t>Field_code</a:t>
                      </a:r>
                    </a:p>
                  </a:txBody>
                  <a:tcPr/>
                </a:tc>
                <a:tc>
                  <a:txBody>
                    <a:bodyPr/>
                    <a:lstStyle/>
                    <a:p>
                      <a:pPr algn="ctr"/>
                      <a:r>
                        <a:rPr lang="en-US" b="1"/>
                        <a:t>UserId</a:t>
                      </a:r>
                    </a:p>
                  </a:txBody>
                  <a:tcPr/>
                </a:tc>
                <a:tc>
                  <a:txBody>
                    <a:bodyPr/>
                    <a:lstStyle/>
                    <a:p>
                      <a:pPr algn="ctr"/>
                      <a:r>
                        <a:rPr lang="en-US" b="1"/>
                        <a:t>Phase_back_to</a:t>
                      </a:r>
                    </a:p>
                  </a:txBody>
                  <a:tcPr/>
                </a:tc>
                <a:tc>
                  <a:txBody>
                    <a:bodyPr/>
                    <a:lstStyle/>
                    <a:p>
                      <a:pPr algn="ctr"/>
                      <a:r>
                        <a:rPr lang="en-US" b="1"/>
                        <a:t>Comment</a:t>
                      </a:r>
                    </a:p>
                  </a:txBody>
                  <a:tcPr/>
                </a:tc>
                <a:tc>
                  <a:txBody>
                    <a:bodyPr/>
                    <a:lstStyle/>
                    <a:p>
                      <a:pPr algn="ctr"/>
                      <a:r>
                        <a:rPr lang="en-US" b="1"/>
                        <a:t>FRM_ID</a:t>
                      </a:r>
                    </a:p>
                  </a:txBody>
                  <a:tcPr/>
                </a:tc>
                <a:extLst>
                  <a:ext uri="{0D108BD9-81ED-4DB2-BD59-A6C34878D82A}">
                    <a16:rowId xmlns:a16="http://schemas.microsoft.com/office/drawing/2014/main" val="2212852566"/>
                  </a:ext>
                </a:extLst>
              </a:tr>
              <a:tr h="370840">
                <a:tc>
                  <a:txBody>
                    <a:bodyPr/>
                    <a:lstStyle/>
                    <a:p>
                      <a:pPr algn="ctr"/>
                      <a:r>
                        <a:rPr lang="en-US" b="1"/>
                        <a:t>2 [flow_tab]</a:t>
                      </a:r>
                    </a:p>
                  </a:txBody>
                  <a:tcPr/>
                </a:tc>
                <a:tc>
                  <a:txBody>
                    <a:bodyPr/>
                    <a:lstStyle/>
                    <a:p>
                      <a:pPr algn="ctr"/>
                      <a:r>
                        <a:rPr lang="ar-EG" b="1"/>
                        <a:t>صله العميل بالضامن</a:t>
                      </a:r>
                      <a:endParaRPr lang="en-US" b="1"/>
                    </a:p>
                  </a:txBody>
                  <a:tcPr/>
                </a:tc>
                <a:tc>
                  <a:txBody>
                    <a:bodyPr/>
                    <a:lstStyle/>
                    <a:p>
                      <a:pPr algn="ctr"/>
                      <a:r>
                        <a:rPr lang="en-US" b="1"/>
                        <a:t>1</a:t>
                      </a:r>
                    </a:p>
                  </a:txBody>
                  <a:tcPr/>
                </a:tc>
                <a:tc>
                  <a:txBody>
                    <a:bodyPr/>
                    <a:lstStyle/>
                    <a:p>
                      <a:pPr algn="ct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2950472985"/>
                  </a:ext>
                </a:extLst>
              </a:tr>
              <a:tr h="370840">
                <a:tc>
                  <a:txBody>
                    <a:bodyPr/>
                    <a:lstStyle/>
                    <a:p>
                      <a:pPr algn="ctr"/>
                      <a:r>
                        <a:rPr lang="en-US" b="1"/>
                        <a:t>3</a:t>
                      </a:r>
                    </a:p>
                  </a:txBody>
                  <a:tcPr/>
                </a:tc>
                <a:tc>
                  <a:txBody>
                    <a:bodyPr/>
                    <a:lstStyle/>
                    <a:p>
                      <a:pPr algn="ctr"/>
                      <a:r>
                        <a:rPr lang="ar-EG" b="1"/>
                        <a:t>الاسم الاول</a:t>
                      </a:r>
                      <a:endParaRPr lang="en-US" b="1"/>
                    </a:p>
                  </a:txBody>
                  <a:tcPr/>
                </a:tc>
                <a:tc>
                  <a:txBody>
                    <a:bodyPr/>
                    <a:lstStyle/>
                    <a:p>
                      <a:pPr algn="ctr"/>
                      <a:r>
                        <a:rPr lang="en-US" b="1"/>
                        <a:t>2</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81440603"/>
                  </a:ext>
                </a:extLst>
              </a:tr>
              <a:tr h="370840">
                <a:tc>
                  <a:txBody>
                    <a:bodyPr/>
                    <a:lstStyle/>
                    <a:p>
                      <a:pPr algn="ctr"/>
                      <a:r>
                        <a:rPr lang="en-US" b="1"/>
                        <a:t>1</a:t>
                      </a:r>
                    </a:p>
                  </a:txBody>
                  <a:tcPr/>
                </a:tc>
                <a:tc>
                  <a:txBody>
                    <a:bodyPr/>
                    <a:lstStyle/>
                    <a:p>
                      <a:pPr algn="ctr"/>
                      <a:r>
                        <a:rPr lang="ar-EG" b="1"/>
                        <a:t>اسم الشخص</a:t>
                      </a:r>
                      <a:endParaRPr lang="en-US" b="1"/>
                    </a:p>
                  </a:txBody>
                  <a:tcPr/>
                </a:tc>
                <a:tc>
                  <a:txBody>
                    <a:bodyPr/>
                    <a:lstStyle/>
                    <a:p>
                      <a:pPr algn="ctr"/>
                      <a:r>
                        <a:rPr lang="en-US" b="1"/>
                        <a:t>11</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36126872"/>
                  </a:ext>
                </a:extLst>
              </a:tr>
            </a:tbl>
          </a:graphicData>
        </a:graphic>
      </p:graphicFrame>
    </p:spTree>
    <p:extLst>
      <p:ext uri="{BB962C8B-B14F-4D97-AF65-F5344CB8AC3E}">
        <p14:creationId xmlns:p14="http://schemas.microsoft.com/office/powerpoint/2010/main" val="19587586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3D9EC3-54AC-A34D-B2AB-577F638FA025}"/>
              </a:ext>
            </a:extLst>
          </p:cNvPr>
          <p:cNvSpPr>
            <a:spLocks noGrp="1"/>
          </p:cNvSpPr>
          <p:nvPr>
            <p:ph type="title"/>
          </p:nvPr>
        </p:nvSpPr>
        <p:spPr>
          <a:xfrm>
            <a:off x="697485" y="2192592"/>
            <a:ext cx="10560450" cy="1710813"/>
          </a:xfrm>
        </p:spPr>
        <p:txBody>
          <a:bodyPr>
            <a:normAutofit/>
          </a:bodyPr>
          <a:lstStyle/>
          <a:p>
            <a:r>
              <a:rPr lang="en-US" sz="6000" b="1">
                <a:solidFill>
                  <a:srgbClr val="FF0000"/>
                </a:solidFill>
              </a:rPr>
              <a:t>Field Visit</a:t>
            </a:r>
          </a:p>
        </p:txBody>
      </p:sp>
    </p:spTree>
    <p:extLst>
      <p:ext uri="{BB962C8B-B14F-4D97-AF65-F5344CB8AC3E}">
        <p14:creationId xmlns:p14="http://schemas.microsoft.com/office/powerpoint/2010/main" val="396831652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6B48B-EFF6-9D5B-45F9-6BD0A1B93ED7}"/>
              </a:ext>
            </a:extLst>
          </p:cNvPr>
          <p:cNvSpPr>
            <a:spLocks noGrp="1"/>
          </p:cNvSpPr>
          <p:nvPr>
            <p:ph type="title"/>
          </p:nvPr>
        </p:nvSpPr>
        <p:spPr>
          <a:xfrm>
            <a:off x="913795" y="0"/>
            <a:ext cx="10353762" cy="589935"/>
          </a:xfrm>
        </p:spPr>
        <p:txBody>
          <a:bodyPr>
            <a:normAutofit/>
          </a:bodyPr>
          <a:lstStyle/>
          <a:p>
            <a:r>
              <a:rPr lang="en-US" sz="3200" b="1">
                <a:solidFill>
                  <a:srgbClr val="FFFF00"/>
                </a:solidFill>
              </a:rPr>
              <a:t>TDWF</a:t>
            </a:r>
            <a:r>
              <a:rPr lang="en-US" sz="3200"/>
              <a:t>.</a:t>
            </a:r>
            <a:r>
              <a:rPr lang="en-US" sz="3200" b="1">
                <a:solidFill>
                  <a:srgbClr val="FF0000"/>
                </a:solidFill>
              </a:rPr>
              <a:t>Flow_FieldVisits_main</a:t>
            </a:r>
          </a:p>
        </p:txBody>
      </p:sp>
      <p:sp>
        <p:nvSpPr>
          <p:cNvPr id="3" name="Content Placeholder 2">
            <a:extLst>
              <a:ext uri="{FF2B5EF4-FFF2-40B4-BE49-F238E27FC236}">
                <a16:creationId xmlns:a16="http://schemas.microsoft.com/office/drawing/2014/main" id="{76D46CF0-F957-43D0-AD4F-051D1296BFE6}"/>
              </a:ext>
            </a:extLst>
          </p:cNvPr>
          <p:cNvSpPr>
            <a:spLocks noGrp="1"/>
          </p:cNvSpPr>
          <p:nvPr>
            <p:ph idx="1"/>
          </p:nvPr>
        </p:nvSpPr>
        <p:spPr>
          <a:xfrm>
            <a:off x="285134" y="1022555"/>
            <a:ext cx="11906865" cy="5574890"/>
          </a:xfrm>
        </p:spPr>
        <p:txBody>
          <a:bodyPr/>
          <a:lstStyle/>
          <a:p>
            <a:r>
              <a:rPr lang="en-US" sz="2200" b="1">
                <a:solidFill>
                  <a:srgbClr val="92D050"/>
                </a:solidFill>
              </a:rPr>
              <a:t>Once CO make any changes for the first time row is added into this table</a:t>
            </a:r>
          </a:p>
          <a:p>
            <a:endParaRPr lang="en-US"/>
          </a:p>
          <a:p>
            <a:r>
              <a:rPr lang="en-US"/>
              <a:t>FVM_ID: int , identity</a:t>
            </a:r>
          </a:p>
          <a:p>
            <a:r>
              <a:rPr lang="en-US"/>
              <a:t>Request_id : decimal? [FK, Flow_Funding_request]</a:t>
            </a:r>
          </a:p>
          <a:p>
            <a:r>
              <a:rPr lang="en-US"/>
              <a:t>UserId: int? [FK, from User] // the CO</a:t>
            </a:r>
          </a:p>
          <a:p>
            <a:r>
              <a:rPr lang="en-US"/>
              <a:t>ICollection&lt;</a:t>
            </a:r>
            <a:r>
              <a:rPr lang="en-US" b="1">
                <a:solidFill>
                  <a:srgbClr val="00B0F0"/>
                </a:solidFill>
              </a:rPr>
              <a:t>Flow_FieldVisits_Client</a:t>
            </a:r>
            <a:r>
              <a:rPr lang="en-US"/>
              <a:t>&gt; </a:t>
            </a:r>
            <a:r>
              <a:rPr lang="en-US" b="1">
                <a:solidFill>
                  <a:srgbClr val="FFFF00"/>
                </a:solidFill>
              </a:rPr>
              <a:t>Flow_FieldVisits_Client</a:t>
            </a:r>
          </a:p>
          <a:p>
            <a:r>
              <a:rPr lang="en-US"/>
              <a:t>ICollection&lt;</a:t>
            </a:r>
            <a:r>
              <a:rPr lang="en-US" b="1">
                <a:solidFill>
                  <a:srgbClr val="00B0F0"/>
                </a:solidFill>
              </a:rPr>
              <a:t>Flow_FieldVisits_Guarantor</a:t>
            </a:r>
            <a:r>
              <a:rPr lang="en-US"/>
              <a:t>&gt; </a:t>
            </a:r>
            <a:r>
              <a:rPr lang="en-US" b="1">
                <a:solidFill>
                  <a:srgbClr val="FFFF00"/>
                </a:solidFill>
              </a:rPr>
              <a:t>Flow_FieldVisits_Guarantor</a:t>
            </a:r>
          </a:p>
          <a:p>
            <a:r>
              <a:rPr lang="en-US"/>
              <a:t>ICollection&lt;</a:t>
            </a:r>
            <a:r>
              <a:rPr lang="en-US" b="1">
                <a:solidFill>
                  <a:srgbClr val="00B0F0"/>
                </a:solidFill>
              </a:rPr>
              <a:t>Flow_FieldVisits_Organization</a:t>
            </a:r>
            <a:r>
              <a:rPr lang="en-US"/>
              <a:t>&gt; </a:t>
            </a:r>
            <a:r>
              <a:rPr lang="en-US" b="1">
                <a:solidFill>
                  <a:srgbClr val="FFFF00"/>
                </a:solidFill>
              </a:rPr>
              <a:t>Flow_FieldVisits_Organization</a:t>
            </a:r>
          </a:p>
          <a:p>
            <a:r>
              <a:rPr lang="en-US"/>
              <a:t>ICollection&lt;</a:t>
            </a:r>
            <a:r>
              <a:rPr lang="en-US" b="1">
                <a:solidFill>
                  <a:srgbClr val="00B0F0"/>
                </a:solidFill>
              </a:rPr>
              <a:t>Flow_FieldVisits_StatisticsData</a:t>
            </a:r>
            <a:r>
              <a:rPr lang="en-US"/>
              <a:t>&gt; </a:t>
            </a:r>
            <a:r>
              <a:rPr lang="en-US" b="1">
                <a:solidFill>
                  <a:srgbClr val="FFFF00"/>
                </a:solidFill>
              </a:rPr>
              <a:t>Flow_FieldVisits_StatisticsData</a:t>
            </a:r>
          </a:p>
          <a:p>
            <a:r>
              <a:rPr lang="en-US"/>
              <a:t>ICollection&lt;</a:t>
            </a:r>
            <a:r>
              <a:rPr lang="en-US" b="1">
                <a:solidFill>
                  <a:srgbClr val="00B0F0"/>
                </a:solidFill>
              </a:rPr>
              <a:t>Flow_FieldVisits_FinancialAnalysis</a:t>
            </a:r>
            <a:r>
              <a:rPr lang="en-US"/>
              <a:t>&gt; </a:t>
            </a:r>
            <a:r>
              <a:rPr lang="en-US" b="1">
                <a:solidFill>
                  <a:srgbClr val="FFFF00"/>
                </a:solidFill>
              </a:rPr>
              <a:t>Flow_FieldVisits_FinancialAnalysis</a:t>
            </a:r>
          </a:p>
          <a:p>
            <a:r>
              <a:rPr lang="en-US"/>
              <a:t>ICollection&lt;</a:t>
            </a:r>
            <a:r>
              <a:rPr lang="en-US" b="1">
                <a:solidFill>
                  <a:srgbClr val="00B0F0"/>
                </a:solidFill>
              </a:rPr>
              <a:t>Flow_FieldVisits_FieldInquiry</a:t>
            </a:r>
            <a:r>
              <a:rPr lang="en-US"/>
              <a:t>&gt; </a:t>
            </a:r>
            <a:r>
              <a:rPr lang="en-US" b="1">
                <a:solidFill>
                  <a:srgbClr val="FFFF00"/>
                </a:solidFill>
              </a:rPr>
              <a:t>Flow_FieldVisits_FieldInquiry</a:t>
            </a:r>
          </a:p>
          <a:p>
            <a:endParaRPr lang="en-US"/>
          </a:p>
        </p:txBody>
      </p:sp>
      <p:pic>
        <p:nvPicPr>
          <p:cNvPr id="5" name="Picture 4">
            <a:extLst>
              <a:ext uri="{FF2B5EF4-FFF2-40B4-BE49-F238E27FC236}">
                <a16:creationId xmlns:a16="http://schemas.microsoft.com/office/drawing/2014/main" id="{E0011F55-6038-28F8-3FD4-D0BD7E1E7E48}"/>
              </a:ext>
            </a:extLst>
          </p:cNvPr>
          <p:cNvPicPr>
            <a:picLocks noChangeAspect="1"/>
          </p:cNvPicPr>
          <p:nvPr/>
        </p:nvPicPr>
        <p:blipFill>
          <a:blip r:embed="rId2"/>
          <a:stretch>
            <a:fillRect/>
          </a:stretch>
        </p:blipFill>
        <p:spPr>
          <a:xfrm>
            <a:off x="10009239" y="953729"/>
            <a:ext cx="2182760" cy="3028436"/>
          </a:xfrm>
          <a:prstGeom prst="rect">
            <a:avLst/>
          </a:prstGeom>
        </p:spPr>
      </p:pic>
    </p:spTree>
    <p:extLst>
      <p:ext uri="{BB962C8B-B14F-4D97-AF65-F5344CB8AC3E}">
        <p14:creationId xmlns:p14="http://schemas.microsoft.com/office/powerpoint/2010/main" val="28818560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74253-061B-B23B-8A64-31386EC4CA49}"/>
              </a:ext>
            </a:extLst>
          </p:cNvPr>
          <p:cNvSpPr>
            <a:spLocks noGrp="1"/>
          </p:cNvSpPr>
          <p:nvPr>
            <p:ph type="title"/>
          </p:nvPr>
        </p:nvSpPr>
        <p:spPr>
          <a:xfrm>
            <a:off x="913795" y="0"/>
            <a:ext cx="10353762" cy="737419"/>
          </a:xfrm>
        </p:spPr>
        <p:txBody>
          <a:bodyPr/>
          <a:lstStyle/>
          <a:p>
            <a:r>
              <a:rPr lang="en-US" b="1">
                <a:solidFill>
                  <a:srgbClr val="FFFF00"/>
                </a:solidFill>
              </a:rPr>
              <a:t>TDWF</a:t>
            </a:r>
            <a:r>
              <a:rPr lang="en-US"/>
              <a:t>.</a:t>
            </a:r>
            <a:r>
              <a:rPr lang="en-US" b="1">
                <a:solidFill>
                  <a:srgbClr val="FF0000"/>
                </a:solidFill>
              </a:rPr>
              <a:t>Flow_FieldVisits_Client</a:t>
            </a:r>
          </a:p>
        </p:txBody>
      </p:sp>
      <p:sp>
        <p:nvSpPr>
          <p:cNvPr id="3" name="Content Placeholder 2">
            <a:extLst>
              <a:ext uri="{FF2B5EF4-FFF2-40B4-BE49-F238E27FC236}">
                <a16:creationId xmlns:a16="http://schemas.microsoft.com/office/drawing/2014/main" id="{DFE6DFCD-63E0-C297-13AE-96A780EEF552}"/>
              </a:ext>
            </a:extLst>
          </p:cNvPr>
          <p:cNvSpPr>
            <a:spLocks noGrp="1"/>
          </p:cNvSpPr>
          <p:nvPr>
            <p:ph idx="1"/>
          </p:nvPr>
        </p:nvSpPr>
        <p:spPr>
          <a:xfrm>
            <a:off x="157316" y="737419"/>
            <a:ext cx="11857703" cy="5948516"/>
          </a:xfrm>
        </p:spPr>
        <p:txBody>
          <a:bodyPr/>
          <a:lstStyle/>
          <a:p>
            <a:r>
              <a:rPr lang="en-US"/>
              <a:t>int FVC_ID </a:t>
            </a:r>
            <a:r>
              <a:rPr lang="en-US" b="1">
                <a:solidFill>
                  <a:srgbClr val="FFFF00"/>
                </a:solidFill>
              </a:rPr>
              <a:t>[ PK]</a:t>
            </a:r>
          </a:p>
          <a:p>
            <a:r>
              <a:rPr lang="en-US"/>
              <a:t>DateTime? visit_date</a:t>
            </a:r>
          </a:p>
          <a:p>
            <a:r>
              <a:rPr lang="en-US"/>
              <a:t>string Residence_Type</a:t>
            </a:r>
          </a:p>
          <a:p>
            <a:r>
              <a:rPr lang="en-US"/>
              <a:t>decimal RecommendedAmount</a:t>
            </a:r>
          </a:p>
          <a:p>
            <a:r>
              <a:rPr lang="en-US"/>
              <a:t>decimal recommend_num_months</a:t>
            </a:r>
          </a:p>
          <a:p>
            <a:r>
              <a:rPr lang="en-US"/>
              <a:t>decimal recommended_funding  [calculated]</a:t>
            </a:r>
          </a:p>
          <a:p>
            <a:r>
              <a:rPr lang="en-US"/>
              <a:t>decimal recommend_total_funding [calculated]</a:t>
            </a:r>
          </a:p>
          <a:p>
            <a:r>
              <a:rPr lang="en-US"/>
              <a:t>decimal premium_amount  [calculated]</a:t>
            </a:r>
          </a:p>
          <a:p>
            <a:r>
              <a:rPr lang="en-US"/>
              <a:t>string CO_Recommendation</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a:p>
            <a:endParaRPr lang="en-US"/>
          </a:p>
        </p:txBody>
      </p:sp>
      <p:pic>
        <p:nvPicPr>
          <p:cNvPr id="5" name="Picture 4">
            <a:extLst>
              <a:ext uri="{FF2B5EF4-FFF2-40B4-BE49-F238E27FC236}">
                <a16:creationId xmlns:a16="http://schemas.microsoft.com/office/drawing/2014/main" id="{15691E33-AA6C-F8EA-42C2-DEFF693B432B}"/>
              </a:ext>
            </a:extLst>
          </p:cNvPr>
          <p:cNvPicPr>
            <a:picLocks noChangeAspect="1"/>
          </p:cNvPicPr>
          <p:nvPr/>
        </p:nvPicPr>
        <p:blipFill>
          <a:blip r:embed="rId2"/>
          <a:stretch>
            <a:fillRect/>
          </a:stretch>
        </p:blipFill>
        <p:spPr>
          <a:xfrm>
            <a:off x="137651" y="5619136"/>
            <a:ext cx="11877368" cy="501445"/>
          </a:xfrm>
          <a:prstGeom prst="rect">
            <a:avLst/>
          </a:prstGeom>
        </p:spPr>
      </p:pic>
      <p:sp>
        <p:nvSpPr>
          <p:cNvPr id="4" name="Rectangle 3">
            <a:extLst>
              <a:ext uri="{FF2B5EF4-FFF2-40B4-BE49-F238E27FC236}">
                <a16:creationId xmlns:a16="http://schemas.microsoft.com/office/drawing/2014/main" id="{23FF2310-9F71-B82A-648C-3459879C2F09}"/>
              </a:ext>
            </a:extLst>
          </p:cNvPr>
          <p:cNvSpPr/>
          <p:nvPr/>
        </p:nvSpPr>
        <p:spPr>
          <a:xfrm>
            <a:off x="6499122" y="875070"/>
            <a:ext cx="5535562" cy="43163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457200" indent="-457200">
              <a:buFont typeface="Arial" panose="020B0604020202020204" pitchFamily="34" charset="0"/>
              <a:buChar char="•"/>
            </a:pPr>
            <a:r>
              <a:rPr lang="ar-EG" sz="2800" b="1"/>
              <a:t>القرار الإتماني</a:t>
            </a:r>
            <a:endParaRPr lang="en-US" sz="2800" b="1"/>
          </a:p>
          <a:p>
            <a:pPr marL="914400" lvl="1" indent="-457200">
              <a:buFont typeface="Arial" panose="020B0604020202020204" pitchFamily="34" charset="0"/>
              <a:buChar char="•"/>
            </a:pPr>
            <a:r>
              <a:rPr lang="en-US" sz="2000"/>
              <a:t>RecommendedAmount</a:t>
            </a:r>
          </a:p>
          <a:p>
            <a:pPr marL="914400" lvl="1" indent="-457200">
              <a:buFont typeface="Arial" panose="020B0604020202020204" pitchFamily="34" charset="0"/>
              <a:buChar char="•"/>
            </a:pPr>
            <a:r>
              <a:rPr lang="en-US" sz="2000"/>
              <a:t>recommend_num_months</a:t>
            </a:r>
          </a:p>
          <a:p>
            <a:pPr marL="914400" lvl="1" indent="-457200">
              <a:buFont typeface="Arial" panose="020B0604020202020204" pitchFamily="34" charset="0"/>
              <a:buChar char="•"/>
            </a:pPr>
            <a:r>
              <a:rPr lang="en-US" sz="2000"/>
              <a:t>recommended_funding</a:t>
            </a:r>
          </a:p>
          <a:p>
            <a:pPr marL="914400" lvl="1" indent="-457200">
              <a:buFont typeface="Arial" panose="020B0604020202020204" pitchFamily="34" charset="0"/>
              <a:buChar char="•"/>
            </a:pPr>
            <a:r>
              <a:rPr lang="en-US" sz="2000"/>
              <a:t>premium_amount</a:t>
            </a:r>
          </a:p>
          <a:p>
            <a:pPr marL="914400" lvl="1" indent="-457200">
              <a:buFont typeface="Arial" panose="020B0604020202020204" pitchFamily="34" charset="0"/>
              <a:buChar char="•"/>
            </a:pPr>
            <a:r>
              <a:rPr lang="en-US" sz="2000"/>
              <a:t>CO_Recommendation</a:t>
            </a:r>
          </a:p>
          <a:p>
            <a:pPr marL="457200" indent="-457200">
              <a:buFont typeface="Arial" panose="020B0604020202020204" pitchFamily="34" charset="0"/>
              <a:buChar char="•"/>
            </a:pPr>
            <a:r>
              <a:rPr lang="ar-EG" sz="2800" b="1"/>
              <a:t>بيانات التمويل والعميل</a:t>
            </a:r>
          </a:p>
          <a:p>
            <a:pPr marL="914400" lvl="1" indent="-457200">
              <a:buFont typeface="Arial" panose="020B0604020202020204" pitchFamily="34" charset="0"/>
              <a:buChar char="•"/>
            </a:pPr>
            <a:r>
              <a:rPr lang="ar-EG" sz="2000"/>
              <a:t>تاريخ الزيارة</a:t>
            </a:r>
            <a:r>
              <a:rPr lang="en-US" sz="2000"/>
              <a:t>   [ FieldVisit ]</a:t>
            </a:r>
            <a:r>
              <a:rPr lang="ar-EG" sz="2000"/>
              <a:t>		</a:t>
            </a:r>
          </a:p>
          <a:p>
            <a:pPr marL="914400" lvl="1" indent="-457200">
              <a:buFont typeface="Arial" panose="020B0604020202020204" pitchFamily="34" charset="0"/>
              <a:buChar char="•"/>
            </a:pPr>
            <a:r>
              <a:rPr lang="ar-EG" sz="2000"/>
              <a:t>نوع التمليك</a:t>
            </a:r>
            <a:r>
              <a:rPr lang="en-US" sz="2000"/>
              <a:t>     [ Residence_Type ]</a:t>
            </a:r>
            <a:endParaRPr lang="ar-EG" sz="2800" b="1"/>
          </a:p>
          <a:p>
            <a:pPr marL="457200" indent="-457200">
              <a:buFont typeface="Arial" panose="020B0604020202020204" pitchFamily="34" charset="0"/>
              <a:buChar char="•"/>
            </a:pPr>
            <a:r>
              <a:rPr lang="ar-EG" sz="2800" b="1"/>
              <a:t>الاستعلام الميداني للعميل</a:t>
            </a:r>
          </a:p>
          <a:p>
            <a:pPr marL="914400" lvl="1" indent="-457200">
              <a:buFont typeface="Arial" panose="020B0604020202020204" pitchFamily="34" charset="0"/>
              <a:buChar char="•"/>
            </a:pPr>
            <a:r>
              <a:rPr lang="ar-EG" sz="2000" b="1"/>
              <a:t> توصية المسئول الاول</a:t>
            </a:r>
            <a:r>
              <a:rPr lang="en-US" sz="2000" b="1"/>
              <a:t>CO_Recommendation</a:t>
            </a:r>
            <a:endParaRPr lang="ar-EG" sz="2000" b="1"/>
          </a:p>
        </p:txBody>
      </p:sp>
    </p:spTree>
    <p:extLst>
      <p:ext uri="{BB962C8B-B14F-4D97-AF65-F5344CB8AC3E}">
        <p14:creationId xmlns:p14="http://schemas.microsoft.com/office/powerpoint/2010/main" val="7424721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8E618-24B7-7516-347D-AD9E19426B9C}"/>
              </a:ext>
            </a:extLst>
          </p:cNvPr>
          <p:cNvSpPr>
            <a:spLocks noGrp="1"/>
          </p:cNvSpPr>
          <p:nvPr>
            <p:ph type="title"/>
          </p:nvPr>
        </p:nvSpPr>
        <p:spPr>
          <a:xfrm>
            <a:off x="913795" y="0"/>
            <a:ext cx="10353762" cy="619432"/>
          </a:xfrm>
        </p:spPr>
        <p:txBody>
          <a:bodyPr>
            <a:normAutofit fontScale="90000"/>
          </a:bodyPr>
          <a:lstStyle/>
          <a:p>
            <a:r>
              <a:rPr lang="en-US" sz="3600" b="1">
                <a:solidFill>
                  <a:srgbClr val="FFFF00"/>
                </a:solidFill>
              </a:rPr>
              <a:t>TDWF</a:t>
            </a:r>
            <a:r>
              <a:rPr lang="en-US" sz="3600"/>
              <a:t>.</a:t>
            </a:r>
            <a:r>
              <a:rPr lang="en-US" sz="3600" b="1">
                <a:solidFill>
                  <a:srgbClr val="FF0000"/>
                </a:solidFill>
              </a:rPr>
              <a:t>Flow_FieldVisits_Organization</a:t>
            </a:r>
          </a:p>
        </p:txBody>
      </p:sp>
      <p:sp>
        <p:nvSpPr>
          <p:cNvPr id="3" name="Content Placeholder 2">
            <a:extLst>
              <a:ext uri="{FF2B5EF4-FFF2-40B4-BE49-F238E27FC236}">
                <a16:creationId xmlns:a16="http://schemas.microsoft.com/office/drawing/2014/main" id="{DECBC9C4-8640-2904-C224-4A5A8CBE068C}"/>
              </a:ext>
            </a:extLst>
          </p:cNvPr>
          <p:cNvSpPr>
            <a:spLocks noGrp="1"/>
          </p:cNvSpPr>
          <p:nvPr>
            <p:ph idx="1"/>
          </p:nvPr>
        </p:nvSpPr>
        <p:spPr>
          <a:xfrm>
            <a:off x="235974" y="727587"/>
            <a:ext cx="11759381" cy="5820696"/>
          </a:xfrm>
        </p:spPr>
        <p:txBody>
          <a:bodyPr/>
          <a:lstStyle/>
          <a:p>
            <a:r>
              <a:rPr lang="en-US"/>
              <a:t>int FVORG_ID [ PK ]</a:t>
            </a:r>
          </a:p>
          <a:p>
            <a:r>
              <a:rPr lang="en-US"/>
              <a:t>string OrgSignID { get; set; }</a:t>
            </a:r>
            <a:endParaRPr lang="ar-EG"/>
          </a:p>
          <a:p>
            <a:pPr lvl="1"/>
            <a:r>
              <a:rPr lang="en-US"/>
              <a:t>StaticList In Front contains [ </a:t>
            </a:r>
            <a:r>
              <a:rPr lang="ar-EG"/>
              <a:t>يوجد , لايوجد</a:t>
            </a:r>
            <a:r>
              <a:rPr lang="en-US"/>
              <a:t>]</a:t>
            </a:r>
          </a:p>
          <a:p>
            <a:r>
              <a:rPr lang="en-US"/>
              <a:t>int WorkerCountPermanent</a:t>
            </a:r>
          </a:p>
          <a:p>
            <a:r>
              <a:rPr lang="en-US"/>
              <a:t>int WorkerCountTemporary </a:t>
            </a:r>
          </a:p>
          <a:p>
            <a:r>
              <a:rPr lang="en-US"/>
              <a:t>string Residence_Type</a:t>
            </a:r>
          </a:p>
          <a:p>
            <a:pPr lvl="1"/>
            <a:r>
              <a:rPr lang="ar-EG"/>
              <a:t>تمليك</a:t>
            </a:r>
          </a:p>
          <a:p>
            <a:pPr lvl="1"/>
            <a:r>
              <a:rPr lang="ar-EG"/>
              <a:t>ايجار جديد</a:t>
            </a:r>
          </a:p>
          <a:p>
            <a:pPr lvl="1"/>
            <a:r>
              <a:rPr lang="ar-EG"/>
              <a:t>ايجار قديم</a:t>
            </a:r>
            <a:endParaRPr lang="en-US"/>
          </a:p>
          <a:p>
            <a:r>
              <a:rPr lang="en-US"/>
              <a:t>string OrgRate</a:t>
            </a:r>
          </a:p>
          <a:p>
            <a:r>
              <a:rPr lang="en-US"/>
              <a:t>string GPSAddress</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p:txBody>
      </p:sp>
      <p:pic>
        <p:nvPicPr>
          <p:cNvPr id="5" name="Picture 4">
            <a:extLst>
              <a:ext uri="{FF2B5EF4-FFF2-40B4-BE49-F238E27FC236}">
                <a16:creationId xmlns:a16="http://schemas.microsoft.com/office/drawing/2014/main" id="{9886995A-FAA9-850F-11A2-1D4C6E84B282}"/>
              </a:ext>
            </a:extLst>
          </p:cNvPr>
          <p:cNvPicPr>
            <a:picLocks noChangeAspect="1"/>
          </p:cNvPicPr>
          <p:nvPr/>
        </p:nvPicPr>
        <p:blipFill>
          <a:blip r:embed="rId2"/>
          <a:stretch>
            <a:fillRect/>
          </a:stretch>
        </p:blipFill>
        <p:spPr>
          <a:xfrm>
            <a:off x="3628103" y="3583857"/>
            <a:ext cx="8563897" cy="505395"/>
          </a:xfrm>
          <a:prstGeom prst="rect">
            <a:avLst/>
          </a:prstGeom>
        </p:spPr>
      </p:pic>
      <p:sp>
        <p:nvSpPr>
          <p:cNvPr id="6" name="TextBox 5">
            <a:extLst>
              <a:ext uri="{FF2B5EF4-FFF2-40B4-BE49-F238E27FC236}">
                <a16:creationId xmlns:a16="http://schemas.microsoft.com/office/drawing/2014/main" id="{12D08005-EDE7-6D82-2D84-7DDF9889A442}"/>
              </a:ext>
            </a:extLst>
          </p:cNvPr>
          <p:cNvSpPr txBox="1"/>
          <p:nvPr/>
        </p:nvSpPr>
        <p:spPr>
          <a:xfrm>
            <a:off x="8170606" y="3146805"/>
            <a:ext cx="3382297" cy="369332"/>
          </a:xfrm>
          <a:prstGeom prst="rect">
            <a:avLst/>
          </a:prstGeom>
          <a:noFill/>
        </p:spPr>
        <p:txBody>
          <a:bodyPr wrap="square" rtlCol="0">
            <a:spAutoFit/>
          </a:bodyPr>
          <a:lstStyle/>
          <a:p>
            <a:pPr algn="r" rtl="1"/>
            <a:r>
              <a:rPr lang="ar-EG"/>
              <a:t>بيانات المنشأة / تفاصيل الزيارة</a:t>
            </a:r>
          </a:p>
        </p:txBody>
      </p:sp>
    </p:spTree>
    <p:extLst>
      <p:ext uri="{BB962C8B-B14F-4D97-AF65-F5344CB8AC3E}">
        <p14:creationId xmlns:p14="http://schemas.microsoft.com/office/powerpoint/2010/main" val="9624851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0D80D-581C-0EE7-4E8C-E2B1A4214AB1}"/>
              </a:ext>
            </a:extLst>
          </p:cNvPr>
          <p:cNvSpPr>
            <a:spLocks noGrp="1"/>
          </p:cNvSpPr>
          <p:nvPr>
            <p:ph type="title"/>
          </p:nvPr>
        </p:nvSpPr>
        <p:spPr>
          <a:xfrm>
            <a:off x="285135" y="0"/>
            <a:ext cx="11572568" cy="747252"/>
          </a:xfrm>
        </p:spPr>
        <p:txBody>
          <a:bodyPr/>
          <a:lstStyle/>
          <a:p>
            <a:r>
              <a:rPr lang="en-US" b="1">
                <a:solidFill>
                  <a:srgbClr val="FFFF00"/>
                </a:solidFill>
              </a:rPr>
              <a:t>TDWF</a:t>
            </a:r>
            <a:r>
              <a:rPr lang="en-US"/>
              <a:t>.</a:t>
            </a:r>
            <a:r>
              <a:rPr lang="en-US" b="1">
                <a:solidFill>
                  <a:srgbClr val="FF0000"/>
                </a:solidFill>
              </a:rPr>
              <a:t>Flow_FieldVisits_StatisticsData</a:t>
            </a:r>
          </a:p>
        </p:txBody>
      </p:sp>
      <p:sp>
        <p:nvSpPr>
          <p:cNvPr id="3" name="Content Placeholder 2">
            <a:extLst>
              <a:ext uri="{FF2B5EF4-FFF2-40B4-BE49-F238E27FC236}">
                <a16:creationId xmlns:a16="http://schemas.microsoft.com/office/drawing/2014/main" id="{689EAB26-3973-9D5F-D84E-6F9318D4B11C}"/>
              </a:ext>
            </a:extLst>
          </p:cNvPr>
          <p:cNvSpPr>
            <a:spLocks noGrp="1"/>
          </p:cNvSpPr>
          <p:nvPr>
            <p:ph idx="1"/>
          </p:nvPr>
        </p:nvSpPr>
        <p:spPr>
          <a:xfrm>
            <a:off x="78658" y="747252"/>
            <a:ext cx="11828207" cy="5968180"/>
          </a:xfrm>
        </p:spPr>
        <p:txBody>
          <a:bodyPr>
            <a:normAutofit/>
          </a:bodyPr>
          <a:lstStyle/>
          <a:p>
            <a:r>
              <a:rPr lang="en-US" sz="1800"/>
              <a:t>If funding is more than or equal </a:t>
            </a:r>
            <a:r>
              <a:rPr lang="en-US" sz="1800" b="1">
                <a:solidFill>
                  <a:srgbClr val="FF0000"/>
                </a:solidFill>
              </a:rPr>
              <a:t>125K, </a:t>
            </a:r>
          </a:p>
          <a:p>
            <a:r>
              <a:rPr lang="en-US" sz="1800"/>
              <a:t>FVSD_ID </a:t>
            </a:r>
            <a:r>
              <a:rPr lang="en-US" sz="1800">
                <a:solidFill>
                  <a:srgbClr val="FFFF00"/>
                </a:solidFill>
              </a:rPr>
              <a:t>[ PK ]</a:t>
            </a:r>
          </a:p>
          <a:p>
            <a:r>
              <a:rPr lang="en-US" sz="1800"/>
              <a:t>ProductName</a:t>
            </a:r>
          </a:p>
          <a:p>
            <a:r>
              <a:rPr lang="en-US" sz="1800"/>
              <a:t>SalesQuntity: decimal [ </a:t>
            </a:r>
            <a:r>
              <a:rPr lang="ar-EG" sz="1800"/>
              <a:t>الكمية المباعة</a:t>
            </a:r>
            <a:r>
              <a:rPr lang="en-US" sz="1800"/>
              <a:t> ]</a:t>
            </a:r>
            <a:endParaRPr lang="en-US" sz="1800" b="1">
              <a:solidFill>
                <a:srgbClr val="FF0000"/>
              </a:solidFill>
            </a:endParaRPr>
          </a:p>
          <a:p>
            <a:r>
              <a:rPr lang="en-US" sz="1800"/>
              <a:t>SalesPrice: decimal</a:t>
            </a:r>
          </a:p>
          <a:p>
            <a:r>
              <a:rPr lang="en-US" sz="1800"/>
              <a:t>decimal PurchasePrice //</a:t>
            </a:r>
            <a:r>
              <a:rPr lang="ar-EG" sz="1800"/>
              <a:t>سعر الشراء</a:t>
            </a:r>
            <a:endParaRPr lang="en-US" sz="1800"/>
          </a:p>
          <a:p>
            <a:r>
              <a:rPr lang="en-US" sz="1800"/>
              <a:t>decimal TotalPurchasedAmount  //</a:t>
            </a:r>
            <a:r>
              <a:rPr lang="ar-EG" sz="1800"/>
              <a:t>إجمالى قيمة الشراء </a:t>
            </a:r>
            <a:r>
              <a:rPr lang="en-US" sz="1800"/>
              <a:t> = SalesQuntity * PurchasePrice</a:t>
            </a:r>
          </a:p>
          <a:p>
            <a:r>
              <a:rPr lang="en-US" sz="1800"/>
              <a:t>decimal TotalSaledAmount  // </a:t>
            </a:r>
            <a:r>
              <a:rPr lang="ar-EG" sz="1800"/>
              <a:t>إجمالى قيمة البيع</a:t>
            </a:r>
            <a:r>
              <a:rPr lang="en-US" sz="1800"/>
              <a:t> = = SalesQuntity * SalesPrice</a:t>
            </a:r>
          </a:p>
          <a:p>
            <a:r>
              <a:rPr lang="en-US" sz="1800"/>
              <a:t>decimal OrgNet //</a:t>
            </a:r>
            <a:r>
              <a:rPr lang="ar-EG" sz="1800"/>
              <a:t>الصافى</a:t>
            </a:r>
            <a:r>
              <a:rPr lang="en-US" sz="1800"/>
              <a:t> = TotalSaledAmount - TotalPurchasedAmount</a:t>
            </a:r>
          </a:p>
          <a:p>
            <a:r>
              <a:rPr lang="en-US" sz="1800"/>
              <a:t>decimal ProfitMargin   //</a:t>
            </a:r>
            <a:r>
              <a:rPr lang="ar-EG" sz="1800"/>
              <a:t>هامش الربح</a:t>
            </a:r>
            <a:r>
              <a:rPr lang="en-US" sz="1800"/>
              <a:t> = OrgNet / TotalSaledAmount</a:t>
            </a:r>
          </a:p>
          <a:p>
            <a:r>
              <a:rPr lang="en-US" sz="1800"/>
              <a:t>decimal SalesCostRatio // </a:t>
            </a:r>
            <a:r>
              <a:rPr lang="ar-EG" sz="1800"/>
              <a:t>نسبة تكلفة المبيعات</a:t>
            </a:r>
            <a:r>
              <a:rPr lang="en-US" sz="1800"/>
              <a:t> = 1 - ProfitMargin</a:t>
            </a:r>
          </a:p>
          <a:p>
            <a:r>
              <a:rPr lang="en-US" sz="1800"/>
              <a:t>decimal? FVM_ID  // FK_Of_FlowField_VisitsMain_TBL</a:t>
            </a:r>
          </a:p>
          <a:p>
            <a:endParaRPr lang="en-US"/>
          </a:p>
          <a:p>
            <a:endParaRPr lang="en-US"/>
          </a:p>
        </p:txBody>
      </p:sp>
      <p:pic>
        <p:nvPicPr>
          <p:cNvPr id="5" name="Picture 4">
            <a:extLst>
              <a:ext uri="{FF2B5EF4-FFF2-40B4-BE49-F238E27FC236}">
                <a16:creationId xmlns:a16="http://schemas.microsoft.com/office/drawing/2014/main" id="{C84FCA3E-3617-B6D9-3B55-39DBA5B644D4}"/>
              </a:ext>
            </a:extLst>
          </p:cNvPr>
          <p:cNvPicPr>
            <a:picLocks noChangeAspect="1"/>
          </p:cNvPicPr>
          <p:nvPr/>
        </p:nvPicPr>
        <p:blipFill>
          <a:blip r:embed="rId2"/>
          <a:stretch>
            <a:fillRect/>
          </a:stretch>
        </p:blipFill>
        <p:spPr>
          <a:xfrm>
            <a:off x="285134" y="5809501"/>
            <a:ext cx="11474247" cy="778112"/>
          </a:xfrm>
          <a:prstGeom prst="rect">
            <a:avLst/>
          </a:prstGeom>
        </p:spPr>
      </p:pic>
    </p:spTree>
    <p:extLst>
      <p:ext uri="{BB962C8B-B14F-4D97-AF65-F5344CB8AC3E}">
        <p14:creationId xmlns:p14="http://schemas.microsoft.com/office/powerpoint/2010/main" val="25045532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9F377-C395-FDF2-69FD-EB0A6515CAF5}"/>
              </a:ext>
            </a:extLst>
          </p:cNvPr>
          <p:cNvSpPr>
            <a:spLocks noGrp="1"/>
          </p:cNvSpPr>
          <p:nvPr>
            <p:ph type="title"/>
          </p:nvPr>
        </p:nvSpPr>
        <p:spPr>
          <a:xfrm>
            <a:off x="982621" y="96350"/>
            <a:ext cx="10353762" cy="690231"/>
          </a:xfrm>
        </p:spPr>
        <p:txBody>
          <a:bodyPr>
            <a:normAutofit fontScale="90000"/>
          </a:bodyPr>
          <a:lstStyle/>
          <a:p>
            <a:r>
              <a:rPr lang="en-US" b="1">
                <a:solidFill>
                  <a:srgbClr val="FFFF00"/>
                </a:solidFill>
              </a:rPr>
              <a:t>TDWF</a:t>
            </a:r>
            <a:r>
              <a:rPr lang="en-US"/>
              <a:t>.</a:t>
            </a:r>
            <a:r>
              <a:rPr lang="en-US" b="1">
                <a:solidFill>
                  <a:srgbClr val="FF0000"/>
                </a:solidFill>
              </a:rPr>
              <a:t>Flow_FieldVisits_Guarantor</a:t>
            </a:r>
          </a:p>
        </p:txBody>
      </p:sp>
      <p:sp>
        <p:nvSpPr>
          <p:cNvPr id="3" name="Content Placeholder 2">
            <a:extLst>
              <a:ext uri="{FF2B5EF4-FFF2-40B4-BE49-F238E27FC236}">
                <a16:creationId xmlns:a16="http://schemas.microsoft.com/office/drawing/2014/main" id="{70E5C433-07A0-11D2-E82D-5068680F6BFD}"/>
              </a:ext>
            </a:extLst>
          </p:cNvPr>
          <p:cNvSpPr>
            <a:spLocks noGrp="1"/>
          </p:cNvSpPr>
          <p:nvPr>
            <p:ph idx="1"/>
          </p:nvPr>
        </p:nvSpPr>
        <p:spPr>
          <a:xfrm>
            <a:off x="137652" y="786581"/>
            <a:ext cx="11129905" cy="5742038"/>
          </a:xfrm>
        </p:spPr>
        <p:txBody>
          <a:bodyPr>
            <a:normAutofit/>
          </a:bodyPr>
          <a:lstStyle/>
          <a:p>
            <a:r>
              <a:rPr lang="en-US"/>
              <a:t>int FVG_ID</a:t>
            </a:r>
          </a:p>
          <a:p>
            <a:r>
              <a:rPr lang="en-US"/>
              <a:t>DateTime? Guarantor_visit_date </a:t>
            </a:r>
          </a:p>
          <a:p>
            <a:r>
              <a:rPr lang="en-US"/>
              <a:t>public string Residence_Type  //StaticList In Front contains Only (1,2,3)</a:t>
            </a:r>
          </a:p>
          <a:p>
            <a:r>
              <a:rPr lang="en-US"/>
              <a:t>string Address_guarantor </a:t>
            </a:r>
          </a:p>
          <a:p>
            <a:r>
              <a:rPr lang="en-US"/>
              <a:t>string Job </a:t>
            </a:r>
          </a:p>
          <a:p>
            <a:r>
              <a:rPr lang="en-US"/>
              <a:t>string WorkDestination </a:t>
            </a:r>
          </a:p>
          <a:p>
            <a:r>
              <a:rPr lang="en-US"/>
              <a:t>string SalarySource </a:t>
            </a:r>
          </a:p>
          <a:p>
            <a:r>
              <a:rPr lang="en-US"/>
              <a:t>decimal NetSalary </a:t>
            </a:r>
          </a:p>
          <a:p>
            <a:r>
              <a:rPr lang="en-US"/>
              <a:t>string CO_Recommendation </a:t>
            </a:r>
          </a:p>
          <a:p>
            <a:r>
              <a:rPr lang="en-US"/>
              <a:t>decimal? FVM_ID [FK]</a:t>
            </a:r>
          </a:p>
        </p:txBody>
      </p:sp>
      <p:pic>
        <p:nvPicPr>
          <p:cNvPr id="5" name="Picture 4">
            <a:extLst>
              <a:ext uri="{FF2B5EF4-FFF2-40B4-BE49-F238E27FC236}">
                <a16:creationId xmlns:a16="http://schemas.microsoft.com/office/drawing/2014/main" id="{AEFF8E35-7E85-AC32-B3FF-25C857161294}"/>
              </a:ext>
            </a:extLst>
          </p:cNvPr>
          <p:cNvPicPr>
            <a:picLocks noChangeAspect="1"/>
          </p:cNvPicPr>
          <p:nvPr/>
        </p:nvPicPr>
        <p:blipFill>
          <a:blip r:embed="rId2"/>
          <a:stretch>
            <a:fillRect/>
          </a:stretch>
        </p:blipFill>
        <p:spPr>
          <a:xfrm>
            <a:off x="3615900" y="5126276"/>
            <a:ext cx="8438447" cy="498137"/>
          </a:xfrm>
          <a:prstGeom prst="rect">
            <a:avLst/>
          </a:prstGeom>
        </p:spPr>
      </p:pic>
    </p:spTree>
    <p:extLst>
      <p:ext uri="{BB962C8B-B14F-4D97-AF65-F5344CB8AC3E}">
        <p14:creationId xmlns:p14="http://schemas.microsoft.com/office/powerpoint/2010/main" val="37564733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25C1E-46F6-426A-F714-56252D2886C9}"/>
              </a:ext>
            </a:extLst>
          </p:cNvPr>
          <p:cNvSpPr>
            <a:spLocks noGrp="1"/>
          </p:cNvSpPr>
          <p:nvPr>
            <p:ph type="title"/>
          </p:nvPr>
        </p:nvSpPr>
        <p:spPr>
          <a:xfrm>
            <a:off x="913795" y="0"/>
            <a:ext cx="10353762" cy="727587"/>
          </a:xfrm>
        </p:spPr>
        <p:txBody>
          <a:bodyPr/>
          <a:lstStyle/>
          <a:p>
            <a:r>
              <a:rPr lang="en-US" b="1">
                <a:solidFill>
                  <a:srgbClr val="FFFF00"/>
                </a:solidFill>
              </a:rPr>
              <a:t>TDWF</a:t>
            </a:r>
            <a:r>
              <a:rPr lang="en-US"/>
              <a:t>.</a:t>
            </a:r>
            <a:r>
              <a:rPr lang="en-US" b="1">
                <a:solidFill>
                  <a:srgbClr val="FF0000"/>
                </a:solidFill>
              </a:rPr>
              <a:t>Flow_FieldVisits_FieldInquiry</a:t>
            </a:r>
          </a:p>
        </p:txBody>
      </p:sp>
      <p:sp>
        <p:nvSpPr>
          <p:cNvPr id="3" name="Content Placeholder 2">
            <a:extLst>
              <a:ext uri="{FF2B5EF4-FFF2-40B4-BE49-F238E27FC236}">
                <a16:creationId xmlns:a16="http://schemas.microsoft.com/office/drawing/2014/main" id="{2882AB78-D442-5C00-025E-59799755ADA1}"/>
              </a:ext>
            </a:extLst>
          </p:cNvPr>
          <p:cNvSpPr>
            <a:spLocks noGrp="1"/>
          </p:cNvSpPr>
          <p:nvPr>
            <p:ph idx="1"/>
          </p:nvPr>
        </p:nvSpPr>
        <p:spPr>
          <a:xfrm>
            <a:off x="176980" y="727587"/>
            <a:ext cx="11769213" cy="6046839"/>
          </a:xfrm>
        </p:spPr>
        <p:txBody>
          <a:bodyPr/>
          <a:lstStyle/>
          <a:p>
            <a:r>
              <a:rPr lang="en-US"/>
              <a:t>int FVFI_ID </a:t>
            </a:r>
          </a:p>
          <a:p>
            <a:r>
              <a:rPr lang="en-US"/>
              <a:t>string InquiriedPerson_Name  // </a:t>
            </a:r>
            <a:r>
              <a:rPr lang="ar-EG"/>
              <a:t>اسم الشخص المستعلم منه</a:t>
            </a:r>
          </a:p>
          <a:p>
            <a:r>
              <a:rPr lang="en-US"/>
              <a:t>string Relation  // </a:t>
            </a:r>
            <a:r>
              <a:rPr lang="ar-EG"/>
              <a:t>صلته بالعميل او الضامن</a:t>
            </a:r>
          </a:p>
          <a:p>
            <a:r>
              <a:rPr lang="en-US"/>
              <a:t>string Reputation  // </a:t>
            </a:r>
            <a:r>
              <a:rPr lang="ar-EG"/>
              <a:t>او الضامن سمعة العميل</a:t>
            </a:r>
          </a:p>
          <a:p>
            <a:r>
              <a:rPr lang="en-US"/>
              <a:t>string indebtedness  //</a:t>
            </a:r>
            <a:r>
              <a:rPr lang="ar-EG"/>
              <a:t>مديونية العميل او الضامن</a:t>
            </a:r>
          </a:p>
          <a:p>
            <a:r>
              <a:rPr lang="en-US"/>
              <a:t>string Attitude  //</a:t>
            </a:r>
            <a:r>
              <a:rPr lang="ar-EG"/>
              <a:t>سلوك العميل او الضامن</a:t>
            </a:r>
          </a:p>
          <a:p>
            <a:r>
              <a:rPr lang="en-US"/>
              <a:t>int InquiriedPerson_Number  //(</a:t>
            </a:r>
            <a:r>
              <a:rPr lang="ar-EG"/>
              <a:t>رقم المستعلم منه( الأول او الثانى  </a:t>
            </a:r>
          </a:p>
          <a:p>
            <a:r>
              <a:rPr lang="en-US"/>
              <a:t>string InquiriedPerson_About  //( </a:t>
            </a:r>
            <a:r>
              <a:rPr lang="ar-EG"/>
              <a:t>المستعلم منه  عن ( العميل /الضامن </a:t>
            </a:r>
          </a:p>
          <a:p>
            <a:r>
              <a:rPr lang="en-US"/>
              <a:t>decimal? FVM_ID //</a:t>
            </a:r>
            <a:r>
              <a:rPr lang="en-US" b="1">
                <a:solidFill>
                  <a:srgbClr val="FFFF00"/>
                </a:solidFill>
              </a:rPr>
              <a:t>FK_Of_FlowField_VisitsMain_TBL</a:t>
            </a:r>
          </a:p>
        </p:txBody>
      </p:sp>
      <p:pic>
        <p:nvPicPr>
          <p:cNvPr id="5" name="Picture 4">
            <a:extLst>
              <a:ext uri="{FF2B5EF4-FFF2-40B4-BE49-F238E27FC236}">
                <a16:creationId xmlns:a16="http://schemas.microsoft.com/office/drawing/2014/main" id="{D436D572-C0E1-A8B1-490F-E2AEF4864485}"/>
              </a:ext>
            </a:extLst>
          </p:cNvPr>
          <p:cNvPicPr>
            <a:picLocks noChangeAspect="1"/>
          </p:cNvPicPr>
          <p:nvPr/>
        </p:nvPicPr>
        <p:blipFill>
          <a:blip r:embed="rId2"/>
          <a:stretch>
            <a:fillRect/>
          </a:stretch>
        </p:blipFill>
        <p:spPr>
          <a:xfrm>
            <a:off x="1887900" y="5067523"/>
            <a:ext cx="10196209" cy="880994"/>
          </a:xfrm>
          <a:prstGeom prst="rect">
            <a:avLst/>
          </a:prstGeom>
        </p:spPr>
      </p:pic>
    </p:spTree>
    <p:extLst>
      <p:ext uri="{BB962C8B-B14F-4D97-AF65-F5344CB8AC3E}">
        <p14:creationId xmlns:p14="http://schemas.microsoft.com/office/powerpoint/2010/main" val="1480361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6156C-7AF3-4D81-A6FC-E3F12D668C30}"/>
              </a:ext>
            </a:extLst>
          </p:cNvPr>
          <p:cNvSpPr>
            <a:spLocks noGrp="1"/>
          </p:cNvSpPr>
          <p:nvPr>
            <p:ph type="title"/>
          </p:nvPr>
        </p:nvSpPr>
        <p:spPr>
          <a:xfrm>
            <a:off x="550606" y="0"/>
            <a:ext cx="11267768" cy="648929"/>
          </a:xfrm>
        </p:spPr>
        <p:txBody>
          <a:bodyPr>
            <a:noAutofit/>
          </a:bodyPr>
          <a:lstStyle/>
          <a:p>
            <a:r>
              <a:rPr lang="en-US" sz="3200" b="1">
                <a:solidFill>
                  <a:srgbClr val="FFFF00"/>
                </a:solidFill>
              </a:rPr>
              <a:t>TDWF</a:t>
            </a:r>
            <a:r>
              <a:rPr lang="en-US" sz="3200"/>
              <a:t>.</a:t>
            </a:r>
            <a:r>
              <a:rPr lang="en-US" sz="3200" b="1">
                <a:solidFill>
                  <a:srgbClr val="FF0000"/>
                </a:solidFill>
              </a:rPr>
              <a:t>Flow_FieldVisits_FinancialAnalysis [</a:t>
            </a:r>
            <a:r>
              <a:rPr lang="ar-EG" sz="3200" b="1">
                <a:solidFill>
                  <a:srgbClr val="FF0000"/>
                </a:solidFill>
              </a:rPr>
              <a:t>التحليل المالي</a:t>
            </a:r>
            <a:r>
              <a:rPr lang="en-US" sz="3200" b="1">
                <a:solidFill>
                  <a:srgbClr val="FF0000"/>
                </a:solidFill>
              </a:rPr>
              <a:t>]</a:t>
            </a:r>
          </a:p>
        </p:txBody>
      </p:sp>
      <p:sp>
        <p:nvSpPr>
          <p:cNvPr id="3" name="Content Placeholder 2">
            <a:extLst>
              <a:ext uri="{FF2B5EF4-FFF2-40B4-BE49-F238E27FC236}">
                <a16:creationId xmlns:a16="http://schemas.microsoft.com/office/drawing/2014/main" id="{2E577319-CB95-5403-3A15-E8EF7DACFB09}"/>
              </a:ext>
            </a:extLst>
          </p:cNvPr>
          <p:cNvSpPr>
            <a:spLocks noGrp="1"/>
          </p:cNvSpPr>
          <p:nvPr>
            <p:ph idx="1"/>
          </p:nvPr>
        </p:nvSpPr>
        <p:spPr>
          <a:xfrm>
            <a:off x="68826" y="648929"/>
            <a:ext cx="12123173" cy="6096000"/>
          </a:xfrm>
        </p:spPr>
        <p:txBody>
          <a:bodyPr numCol="2"/>
          <a:lstStyle/>
          <a:p>
            <a:r>
              <a:rPr lang="en-US"/>
              <a:t>FVFA_ID: </a:t>
            </a:r>
            <a:r>
              <a:rPr lang="en-US">
                <a:solidFill>
                  <a:srgbClr val="FFFF00"/>
                </a:solidFill>
              </a:rPr>
              <a:t>int, PK</a:t>
            </a:r>
            <a:endParaRPr lang="en-US"/>
          </a:p>
          <a:p>
            <a:r>
              <a:rPr lang="en-US"/>
              <a:t>materials: decimal // </a:t>
            </a:r>
            <a:r>
              <a:rPr lang="ar-EG"/>
              <a:t>الخامات</a:t>
            </a:r>
            <a:endParaRPr lang="en-US"/>
          </a:p>
          <a:p>
            <a:r>
              <a:rPr lang="en-US"/>
              <a:t>Rent: decimal // </a:t>
            </a:r>
            <a:r>
              <a:rPr lang="ar-EG"/>
              <a:t>الإيجار</a:t>
            </a:r>
            <a:endParaRPr lang="en-US"/>
          </a:p>
          <a:p>
            <a:r>
              <a:rPr lang="en-US"/>
              <a:t>Salary: decimal </a:t>
            </a:r>
            <a:r>
              <a:rPr lang="ar-EG"/>
              <a:t>المرتبات</a:t>
            </a:r>
          </a:p>
          <a:p>
            <a:r>
              <a:rPr lang="en-US"/>
              <a:t>Taxs_Insurances : decimal </a:t>
            </a:r>
            <a:r>
              <a:rPr lang="ar-EG"/>
              <a:t>الضرائب والتأمينات</a:t>
            </a:r>
            <a:endParaRPr lang="en-US"/>
          </a:p>
          <a:p>
            <a:r>
              <a:rPr lang="en-US"/>
              <a:t>Transport_Freight : decimal </a:t>
            </a:r>
            <a:r>
              <a:rPr lang="ar-EG"/>
              <a:t>نقل ومشال</a:t>
            </a:r>
            <a:endParaRPr lang="en-US"/>
          </a:p>
          <a:p>
            <a:r>
              <a:rPr lang="en-US"/>
              <a:t>Other_Fin_obligations : decimal </a:t>
            </a:r>
            <a:r>
              <a:rPr lang="ar-EG"/>
              <a:t>إلتزامات أخرى</a:t>
            </a:r>
            <a:endParaRPr lang="en-US"/>
          </a:p>
          <a:p>
            <a:r>
              <a:rPr lang="en-US"/>
              <a:t>Water_Elec : decimal: </a:t>
            </a:r>
            <a:r>
              <a:rPr lang="ar-EG"/>
              <a:t>كهربا ومياه</a:t>
            </a:r>
          </a:p>
          <a:p>
            <a:r>
              <a:rPr lang="en-US" b="1">
                <a:solidFill>
                  <a:srgbClr val="92D050"/>
                </a:solidFill>
              </a:rPr>
              <a:t>Total_AVG_Expenses: </a:t>
            </a:r>
            <a:r>
              <a:rPr lang="ar-EG" b="1">
                <a:effectLst/>
              </a:rPr>
              <a:t>إجمالى المصروفات لكل ما سبق</a:t>
            </a:r>
          </a:p>
          <a:p>
            <a:r>
              <a:rPr lang="en-US"/>
              <a:t>Sales: decimal </a:t>
            </a:r>
            <a:r>
              <a:rPr lang="ar-EG"/>
              <a:t>المبيعات</a:t>
            </a:r>
          </a:p>
          <a:p>
            <a:r>
              <a:rPr lang="en-US"/>
              <a:t>OtherIncomes: decimal </a:t>
            </a:r>
            <a:r>
              <a:rPr lang="ar-EG"/>
              <a:t>ايرادات أخرى</a:t>
            </a:r>
          </a:p>
          <a:p>
            <a:r>
              <a:rPr lang="en-US" b="1">
                <a:solidFill>
                  <a:srgbClr val="92D050"/>
                </a:solidFill>
              </a:rPr>
              <a:t>Total_AVG_Incomes</a:t>
            </a:r>
            <a:r>
              <a:rPr lang="en-US"/>
              <a:t>: decimal </a:t>
            </a:r>
            <a:r>
              <a:rPr lang="ar-EG"/>
              <a:t>إجمالي الايرادات</a:t>
            </a:r>
          </a:p>
          <a:p>
            <a:pPr lvl="1"/>
            <a:r>
              <a:rPr lang="en-US"/>
              <a:t>Equal : Sales + OtherIncomes</a:t>
            </a:r>
            <a:endParaRPr lang="ar-EG"/>
          </a:p>
          <a:p>
            <a:r>
              <a:rPr lang="en-US" sz="2400" b="1">
                <a:solidFill>
                  <a:srgbClr val="92D050"/>
                </a:solidFill>
              </a:rPr>
              <a:t>Fin_NetSalary</a:t>
            </a:r>
            <a:r>
              <a:rPr lang="en-US"/>
              <a:t>: decimal </a:t>
            </a:r>
            <a:r>
              <a:rPr lang="ar-EG"/>
              <a:t>صافي الدخل</a:t>
            </a:r>
            <a:endParaRPr lang="en-US"/>
          </a:p>
          <a:p>
            <a:pPr lvl="1"/>
            <a:r>
              <a:rPr lang="en-US"/>
              <a:t>Equal: Total_AVG_Incomes - Total_AVG_Expenses</a:t>
            </a:r>
            <a:endParaRPr lang="ar-EG"/>
          </a:p>
          <a:p>
            <a:r>
              <a:rPr lang="en-US" sz="2400" b="1">
                <a:solidFill>
                  <a:srgbClr val="92D050"/>
                </a:solidFill>
              </a:rPr>
              <a:t>DebtBurdenRatio</a:t>
            </a:r>
            <a:r>
              <a:rPr lang="en-US"/>
              <a:t>: decimal </a:t>
            </a:r>
            <a:r>
              <a:rPr lang="ar-EG"/>
              <a:t>معدل عبئ الدين</a:t>
            </a:r>
            <a:endParaRPr lang="en-US"/>
          </a:p>
          <a:p>
            <a:pPr lvl="1"/>
            <a:r>
              <a:rPr lang="en-US"/>
              <a:t>Equal: Fin_NetSalary * 0.35</a:t>
            </a:r>
          </a:p>
          <a:p>
            <a:r>
              <a:rPr lang="en-US"/>
              <a:t>Other_Fin_Obligations_For_Iscore: decimal</a:t>
            </a:r>
          </a:p>
          <a:p>
            <a:pPr lvl="1"/>
            <a:r>
              <a:rPr lang="ar-EG" b="1">
                <a:effectLst/>
              </a:rPr>
              <a:t>إلتزامات أٌخرى طبقا للتقيم الائتمانى</a:t>
            </a:r>
            <a:endParaRPr lang="en-US"/>
          </a:p>
          <a:p>
            <a:r>
              <a:rPr lang="en-US"/>
              <a:t>AvailableNetForLoan: decimal </a:t>
            </a:r>
            <a:r>
              <a:rPr lang="ar-EG" b="1">
                <a:effectLst/>
              </a:rPr>
              <a:t>الصافى المتاح للتمويل</a:t>
            </a:r>
            <a:endParaRPr lang="en-US"/>
          </a:p>
          <a:p>
            <a:pPr lvl="1"/>
            <a:r>
              <a:rPr lang="en-US" sz="1600"/>
              <a:t>Equal</a:t>
            </a:r>
            <a:r>
              <a:rPr lang="en-US" b="1">
                <a:effectLst/>
              </a:rPr>
              <a:t>: </a:t>
            </a:r>
            <a:r>
              <a:rPr lang="en-US" sz="1500" b="1">
                <a:solidFill>
                  <a:srgbClr val="92D050"/>
                </a:solidFill>
              </a:rPr>
              <a:t>DebtBurdenRatio - Other_Fin_Obligations_For_Iscore</a:t>
            </a:r>
          </a:p>
          <a:p>
            <a:r>
              <a:rPr lang="en-US"/>
              <a:t>OtherIncomeSource: string</a:t>
            </a:r>
          </a:p>
          <a:p>
            <a:r>
              <a:rPr lang="en-US"/>
              <a:t>TotalOtherIncomeSource: decimal</a:t>
            </a:r>
          </a:p>
        </p:txBody>
      </p:sp>
    </p:spTree>
    <p:extLst>
      <p:ext uri="{BB962C8B-B14F-4D97-AF65-F5344CB8AC3E}">
        <p14:creationId xmlns:p14="http://schemas.microsoft.com/office/powerpoint/2010/main" val="411082830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99A07-EFBD-CBFB-22D4-72FC64FF91A9}"/>
              </a:ext>
            </a:extLst>
          </p:cNvPr>
          <p:cNvSpPr>
            <a:spLocks noGrp="1"/>
          </p:cNvSpPr>
          <p:nvPr>
            <p:ph type="title"/>
          </p:nvPr>
        </p:nvSpPr>
        <p:spPr>
          <a:xfrm>
            <a:off x="285135" y="2369574"/>
            <a:ext cx="11257936" cy="1199536"/>
          </a:xfrm>
        </p:spPr>
        <p:txBody>
          <a:bodyPr>
            <a:normAutofit/>
          </a:bodyPr>
          <a:lstStyle/>
          <a:p>
            <a:r>
              <a:rPr lang="en-US" sz="5400" b="1">
                <a:solidFill>
                  <a:srgbClr val="FF0000"/>
                </a:solidFill>
              </a:rPr>
              <a:t>Credit Analysis</a:t>
            </a:r>
          </a:p>
        </p:txBody>
      </p:sp>
    </p:spTree>
    <p:extLst>
      <p:ext uri="{BB962C8B-B14F-4D97-AF65-F5344CB8AC3E}">
        <p14:creationId xmlns:p14="http://schemas.microsoft.com/office/powerpoint/2010/main" val="38041908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EDD6-4FB3-03F6-FB39-3886B373950D}"/>
              </a:ext>
            </a:extLst>
          </p:cNvPr>
          <p:cNvSpPr>
            <a:spLocks noGrp="1"/>
          </p:cNvSpPr>
          <p:nvPr>
            <p:ph type="title"/>
          </p:nvPr>
        </p:nvSpPr>
        <p:spPr>
          <a:xfrm>
            <a:off x="176981" y="0"/>
            <a:ext cx="11818374" cy="589935"/>
          </a:xfrm>
        </p:spPr>
        <p:txBody>
          <a:bodyPr>
            <a:normAutofit fontScale="90000"/>
          </a:bodyPr>
          <a:lstStyle/>
          <a:p>
            <a:r>
              <a:rPr lang="en-US" sz="3600" b="1">
                <a:solidFill>
                  <a:srgbClr val="FFFF00"/>
                </a:solidFill>
              </a:rPr>
              <a:t>TDWF</a:t>
            </a:r>
            <a:r>
              <a:rPr lang="en-US" sz="3600"/>
              <a:t>.</a:t>
            </a:r>
            <a:r>
              <a:rPr lang="en-US" sz="3600" b="1">
                <a:solidFill>
                  <a:srgbClr val="FF0000"/>
                </a:solidFill>
              </a:rPr>
              <a:t>Flow_Credit_Analysis</a:t>
            </a:r>
          </a:p>
        </p:txBody>
      </p:sp>
      <p:sp>
        <p:nvSpPr>
          <p:cNvPr id="3" name="Content Placeholder 2">
            <a:extLst>
              <a:ext uri="{FF2B5EF4-FFF2-40B4-BE49-F238E27FC236}">
                <a16:creationId xmlns:a16="http://schemas.microsoft.com/office/drawing/2014/main" id="{B37955A6-9068-9D49-E894-EFF992E845F1}"/>
              </a:ext>
            </a:extLst>
          </p:cNvPr>
          <p:cNvSpPr>
            <a:spLocks noGrp="1"/>
          </p:cNvSpPr>
          <p:nvPr>
            <p:ph idx="1"/>
          </p:nvPr>
        </p:nvSpPr>
        <p:spPr>
          <a:xfrm>
            <a:off x="176980" y="759056"/>
            <a:ext cx="11838040" cy="5956375"/>
          </a:xfrm>
        </p:spPr>
        <p:txBody>
          <a:bodyPr/>
          <a:lstStyle/>
          <a:p>
            <a:r>
              <a:rPr lang="en-US" b="1">
                <a:solidFill>
                  <a:schemeClr val="tx1"/>
                </a:solidFill>
              </a:rPr>
              <a:t>FCA_ID</a:t>
            </a:r>
            <a:r>
              <a:rPr lang="en-US" b="1"/>
              <a:t>: </a:t>
            </a:r>
            <a:r>
              <a:rPr lang="en-US" b="1">
                <a:solidFill>
                  <a:srgbClr val="FF0000"/>
                </a:solidFill>
              </a:rPr>
              <a:t>[PK]</a:t>
            </a:r>
          </a:p>
        </p:txBody>
      </p:sp>
      <p:pic>
        <p:nvPicPr>
          <p:cNvPr id="5" name="Picture 4">
            <a:extLst>
              <a:ext uri="{FF2B5EF4-FFF2-40B4-BE49-F238E27FC236}">
                <a16:creationId xmlns:a16="http://schemas.microsoft.com/office/drawing/2014/main" id="{DF603D51-AFA5-E060-F082-6E1FC4B845E4}"/>
              </a:ext>
            </a:extLst>
          </p:cNvPr>
          <p:cNvPicPr>
            <a:picLocks noChangeAspect="1"/>
          </p:cNvPicPr>
          <p:nvPr/>
        </p:nvPicPr>
        <p:blipFill>
          <a:blip r:embed="rId2"/>
          <a:stretch>
            <a:fillRect/>
          </a:stretch>
        </p:blipFill>
        <p:spPr>
          <a:xfrm>
            <a:off x="3619345" y="759056"/>
            <a:ext cx="8572655" cy="898127"/>
          </a:xfrm>
          <a:prstGeom prst="rect">
            <a:avLst/>
          </a:prstGeom>
        </p:spPr>
      </p:pic>
    </p:spTree>
    <p:extLst>
      <p:ext uri="{BB962C8B-B14F-4D97-AF65-F5344CB8AC3E}">
        <p14:creationId xmlns:p14="http://schemas.microsoft.com/office/powerpoint/2010/main" val="130460480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315DC-A378-43C5-7736-87BCDC41F169}"/>
              </a:ext>
            </a:extLst>
          </p:cNvPr>
          <p:cNvSpPr>
            <a:spLocks noGrp="1"/>
          </p:cNvSpPr>
          <p:nvPr>
            <p:ph type="title"/>
          </p:nvPr>
        </p:nvSpPr>
        <p:spPr>
          <a:xfrm>
            <a:off x="913795" y="609600"/>
            <a:ext cx="10353762" cy="5024284"/>
          </a:xfrm>
        </p:spPr>
        <p:txBody>
          <a:bodyPr>
            <a:normAutofit/>
          </a:bodyPr>
          <a:lstStyle/>
          <a:p>
            <a:r>
              <a:rPr lang="en-US" sz="4400" b="1">
                <a:solidFill>
                  <a:srgbClr val="FF0000"/>
                </a:solidFill>
              </a:rPr>
              <a:t>Documents Uploading DU77</a:t>
            </a:r>
          </a:p>
        </p:txBody>
      </p:sp>
    </p:spTree>
    <p:extLst>
      <p:ext uri="{BB962C8B-B14F-4D97-AF65-F5344CB8AC3E}">
        <p14:creationId xmlns:p14="http://schemas.microsoft.com/office/powerpoint/2010/main" val="352037051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0F145-271F-919D-9C5A-F40940631A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2D0375-9AEE-9DB4-567B-5972C75B241D}"/>
              </a:ext>
            </a:extLst>
          </p:cNvPr>
          <p:cNvSpPr>
            <a:spLocks noGrp="1"/>
          </p:cNvSpPr>
          <p:nvPr>
            <p:ph type="title"/>
          </p:nvPr>
        </p:nvSpPr>
        <p:spPr>
          <a:xfrm>
            <a:off x="913795" y="609600"/>
            <a:ext cx="10353762" cy="5024284"/>
          </a:xfrm>
        </p:spPr>
        <p:txBody>
          <a:bodyPr>
            <a:normAutofit/>
          </a:bodyPr>
          <a:lstStyle/>
          <a:p>
            <a:r>
              <a:rPr lang="en-US" sz="4400" b="1">
                <a:solidFill>
                  <a:srgbClr val="FF0000"/>
                </a:solidFill>
              </a:rPr>
              <a:t>End Documents Uploading </a:t>
            </a:r>
            <a:r>
              <a:rPr lang="en-US" sz="4400" b="1">
                <a:solidFill>
                  <a:srgbClr val="00B0F0"/>
                </a:solidFill>
              </a:rPr>
              <a:t>DU77</a:t>
            </a:r>
          </a:p>
        </p:txBody>
      </p:sp>
    </p:spTree>
    <p:extLst>
      <p:ext uri="{BB962C8B-B14F-4D97-AF65-F5344CB8AC3E}">
        <p14:creationId xmlns:p14="http://schemas.microsoft.com/office/powerpoint/2010/main" val="24492405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7ABC8-546B-6EF6-3EB0-000E23F95C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553E8-A0B8-A721-97C5-0C95776050BC}"/>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21262483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endParaRPr lang="en-US"/>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9124443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68A30-2F6B-26CF-AE2F-2798C10D35AB}"/>
              </a:ext>
            </a:extLst>
          </p:cNvPr>
          <p:cNvSpPr>
            <a:spLocks noGrp="1"/>
          </p:cNvSpPr>
          <p:nvPr>
            <p:ph type="title"/>
          </p:nvPr>
        </p:nvSpPr>
        <p:spPr>
          <a:xfrm>
            <a:off x="913795" y="0"/>
            <a:ext cx="10353762" cy="576470"/>
          </a:xfrm>
        </p:spPr>
        <p:txBody>
          <a:bodyPr>
            <a:normAutofit fontScale="90000"/>
          </a:bodyPr>
          <a:lstStyle/>
          <a:p>
            <a:r>
              <a:rPr lang="en-US" b="1">
                <a:solidFill>
                  <a:srgbClr val="FFFF00"/>
                </a:solidFill>
              </a:rPr>
              <a:t>SWF</a:t>
            </a:r>
            <a:r>
              <a:rPr lang="en-US"/>
              <a:t>.</a:t>
            </a:r>
            <a:r>
              <a:rPr lang="en-US" b="1">
                <a:solidFill>
                  <a:srgbClr val="FF0000"/>
                </a:solidFill>
              </a:rPr>
              <a:t>Flow_User_Status</a:t>
            </a:r>
          </a:p>
        </p:txBody>
      </p:sp>
      <p:sp>
        <p:nvSpPr>
          <p:cNvPr id="3" name="Content Placeholder 2">
            <a:extLst>
              <a:ext uri="{FF2B5EF4-FFF2-40B4-BE49-F238E27FC236}">
                <a16:creationId xmlns:a16="http://schemas.microsoft.com/office/drawing/2014/main" id="{D263FAA2-D07C-6DD0-83DA-30476C308E6B}"/>
              </a:ext>
            </a:extLst>
          </p:cNvPr>
          <p:cNvSpPr>
            <a:spLocks noGrp="1"/>
          </p:cNvSpPr>
          <p:nvPr>
            <p:ph idx="1"/>
          </p:nvPr>
        </p:nvSpPr>
        <p:spPr/>
        <p:txBody>
          <a:bodyPr/>
          <a:lstStyle/>
          <a:p>
            <a:endParaRPr lang="en-US"/>
          </a:p>
          <a:p>
            <a:endParaRPr lang="en-US"/>
          </a:p>
        </p:txBody>
      </p:sp>
      <p:pic>
        <p:nvPicPr>
          <p:cNvPr id="5" name="Picture 4">
            <a:extLst>
              <a:ext uri="{FF2B5EF4-FFF2-40B4-BE49-F238E27FC236}">
                <a16:creationId xmlns:a16="http://schemas.microsoft.com/office/drawing/2014/main" id="{F93A5016-E04B-7121-4AB9-E5239CA2BB85}"/>
              </a:ext>
            </a:extLst>
          </p:cNvPr>
          <p:cNvPicPr>
            <a:picLocks noChangeAspect="1"/>
          </p:cNvPicPr>
          <p:nvPr/>
        </p:nvPicPr>
        <p:blipFill>
          <a:blip r:embed="rId2"/>
          <a:stretch>
            <a:fillRect/>
          </a:stretch>
        </p:blipFill>
        <p:spPr>
          <a:xfrm>
            <a:off x="548066" y="844826"/>
            <a:ext cx="4395849" cy="1775246"/>
          </a:xfrm>
          <a:prstGeom prst="rect">
            <a:avLst/>
          </a:prstGeom>
        </p:spPr>
      </p:pic>
    </p:spTree>
    <p:extLst>
      <p:ext uri="{BB962C8B-B14F-4D97-AF65-F5344CB8AC3E}">
        <p14:creationId xmlns:p14="http://schemas.microsoft.com/office/powerpoint/2010/main" val="4513336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97253" y="550607"/>
            <a:ext cx="12267025" cy="6307392"/>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60909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174072"/>
            <a:ext cx="7423355" cy="2878393"/>
          </a:xfrm>
          <a:prstGeom prst="rect">
            <a:avLst/>
          </a:prstGeom>
        </p:spPr>
      </p:pic>
    </p:spTree>
    <p:extLst>
      <p:ext uri="{BB962C8B-B14F-4D97-AF65-F5344CB8AC3E}">
        <p14:creationId xmlns:p14="http://schemas.microsoft.com/office/powerpoint/2010/main" val="36789468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b="1">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endParaRPr lang="en-US" sz="1800"/>
          </a:p>
          <a:p>
            <a:r>
              <a:rPr lang="en-US" sz="1800"/>
              <a:t>ICollection&lt;Flow_Actions&gt; </a:t>
            </a:r>
            <a:r>
              <a:rPr lang="en-US" sz="1800" b="1">
                <a:solidFill>
                  <a:srgbClr val="00B0F0"/>
                </a:solidFill>
              </a:rPr>
              <a:t>Flow_Actions</a:t>
            </a:r>
          </a:p>
          <a:p>
            <a:r>
              <a:rPr lang="en-US" sz="1800"/>
              <a:t>ICollection&lt;Flow_Products&gt; </a:t>
            </a:r>
            <a:r>
              <a:rPr lang="en-US" sz="1800" b="1">
                <a:solidFill>
                  <a:srgbClr val="00B0F0"/>
                </a:solidFill>
              </a:rPr>
              <a:t>Flow_Products</a:t>
            </a:r>
          </a:p>
          <a:p>
            <a:r>
              <a:rPr lang="en-US" sz="1800"/>
              <a:t>ICollection&lt;Flow_Request_Deportation&gt; </a:t>
            </a:r>
            <a:r>
              <a:rPr lang="en-US" sz="1800" b="1">
                <a:solidFill>
                  <a:srgbClr val="00B0F0"/>
                </a:solidFill>
              </a:rPr>
              <a:t>Flow_Request_Deportation</a:t>
            </a:r>
          </a:p>
          <a:p>
            <a:r>
              <a:rPr lang="en-US" sz="1800"/>
              <a:t>ICollection&lt;Flow_Tabs_available&gt; Flow_Tabs_available</a:t>
            </a:r>
          </a:p>
          <a:p>
            <a:r>
              <a:rPr lang="en-US" sz="1800"/>
              <a:t>ICollection&lt;Flow_Action_workflow&gt;  Flow_Action_workflow</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27244061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819576" y="639097"/>
            <a:ext cx="4254435" cy="4385187"/>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a:t>
            </a:r>
            <a:r>
              <a:rPr lang="en-US" b="1">
                <a:solidFill>
                  <a:srgbClr val="FFFF00"/>
                </a:solidFill>
              </a:rPr>
              <a:t>[PK],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 // </a:t>
            </a:r>
            <a:r>
              <a:rPr lang="en-US" b="1">
                <a:solidFill>
                  <a:srgbClr val="FFFF00"/>
                </a:solidFill>
              </a:rPr>
              <a:t>field number with each screen</a:t>
            </a:r>
          </a:p>
          <a:p>
            <a:endParaRPr lang="en-US"/>
          </a:p>
          <a:p>
            <a:r>
              <a:rPr lang="en-US"/>
              <a:t>Note: </a:t>
            </a:r>
            <a:r>
              <a:rPr lang="en-US" b="1">
                <a:solidFill>
                  <a:srgbClr val="FFFF00"/>
                </a:solidFill>
              </a:rPr>
              <a:t>tabs_code</a:t>
            </a:r>
            <a:r>
              <a:rPr lang="en-US"/>
              <a:t> refers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7315202" y="833284"/>
            <a:ext cx="465065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05372" y="3429000"/>
            <a:ext cx="4650658" cy="369332"/>
          </a:xfrm>
          <a:prstGeom prst="rect">
            <a:avLst/>
          </a:prstGeom>
          <a:noFill/>
        </p:spPr>
        <p:txBody>
          <a:bodyPr wrap="square" rtlCol="0">
            <a:spAutoFit/>
          </a:bodyPr>
          <a:lstStyle/>
          <a:p>
            <a:r>
              <a:rPr lang="en-US" b="1"/>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481781"/>
          </a:xfrm>
        </p:spPr>
        <p:txBody>
          <a:bodyPr>
            <a:normAutofit fontScale="90000"/>
          </a:bodyPr>
          <a:lstStyle/>
          <a:p>
            <a:r>
              <a:rPr lang="en-US" sz="3200" b="1">
                <a:solidFill>
                  <a:srgbClr val="FFFF00"/>
                </a:solidFill>
              </a:rPr>
              <a:t>SWF</a:t>
            </a:r>
            <a:r>
              <a:rPr lang="en-US" sz="3200"/>
              <a:t>.</a:t>
            </a:r>
            <a:r>
              <a:rPr lang="en-US" sz="3200" b="1">
                <a:solidFill>
                  <a:srgbClr val="FF0000"/>
                </a:solidFill>
              </a:rPr>
              <a:t>Flow_Actions </a:t>
            </a:r>
            <a:r>
              <a:rPr lang="en-US" sz="3200" b="1">
                <a:solidFill>
                  <a:schemeClr val="tx1"/>
                </a:solidFill>
              </a:rPr>
              <a:t>,</a:t>
            </a:r>
            <a:r>
              <a:rPr lang="en-US" sz="3200" b="1">
                <a:solidFill>
                  <a:srgbClr val="FF0000"/>
                </a:solidFill>
              </a:rPr>
              <a:t> </a:t>
            </a:r>
            <a:r>
              <a:rPr lang="en-US" sz="3200" b="1">
                <a:solidFill>
                  <a:srgbClr val="FFFF00"/>
                </a:solidFill>
              </a:rPr>
              <a:t>SWF</a:t>
            </a:r>
            <a:r>
              <a:rPr lang="en-US" sz="3200"/>
              <a:t>.</a:t>
            </a:r>
            <a:r>
              <a:rPr lang="en-US" sz="32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0" y="481781"/>
            <a:ext cx="12192000" cy="6306645"/>
          </a:xfrm>
        </p:spPr>
        <p:txBody>
          <a:bodyPr/>
          <a:lstStyle/>
          <a:p>
            <a:r>
              <a:rPr lang="en-US"/>
              <a:t>Code_FA: int [PK, identity]</a:t>
            </a:r>
          </a:p>
          <a:p>
            <a:endParaRPr lang="en-US"/>
          </a:p>
          <a:p>
            <a:endParaRPr lang="en-US"/>
          </a:p>
          <a:p>
            <a:endParaRPr lang="en-US"/>
          </a:p>
          <a:p>
            <a:endParaRPr lang="en-US"/>
          </a:p>
          <a:p>
            <a:endParaRPr lang="en-US"/>
          </a:p>
          <a:p>
            <a:endParaRPr lang="en-US"/>
          </a:p>
          <a:p>
            <a:endParaRPr lang="en-US"/>
          </a:p>
          <a:p>
            <a:endParaRPr lang="en-US"/>
          </a:p>
          <a:p>
            <a:endParaRPr lang="en-US"/>
          </a:p>
          <a:p>
            <a:r>
              <a:rPr lang="en-US"/>
              <a:t>Flow_Actions: contains options that could be applied into each stage</a:t>
            </a:r>
          </a:p>
          <a:p>
            <a:r>
              <a:rPr lang="en-US"/>
              <a:t>Flow_Action_workflow: specify the </a:t>
            </a:r>
            <a:r>
              <a:rPr lang="en-US" b="1">
                <a:solidFill>
                  <a:srgbClr val="FFFF00"/>
                </a:solidFill>
              </a:rPr>
              <a:t>NextStep</a:t>
            </a:r>
            <a:r>
              <a:rPr lang="en-US"/>
              <a:t> </a:t>
            </a:r>
            <a:r>
              <a:rPr lang="en-US" b="1">
                <a:solidFill>
                  <a:srgbClr val="FFC000"/>
                </a:solidFill>
              </a:rPr>
              <a:t>(Code_FA_to)</a:t>
            </a:r>
            <a:r>
              <a:rPr lang="en-US"/>
              <a:t> based on current step (</a:t>
            </a:r>
            <a:r>
              <a:rPr lang="en-US" b="1">
                <a:solidFill>
                  <a:srgbClr val="FFC000"/>
                </a:solidFill>
              </a:rPr>
              <a:t>Code_FA_from</a:t>
            </a:r>
            <a:r>
              <a:rPr lang="en-US"/>
              <a:t>) and taken action [ accept / reject ]</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93518" y="963562"/>
            <a:ext cx="8001000" cy="38935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8281555" y="963562"/>
            <a:ext cx="3816927"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32084073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388377880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 </a:t>
            </a:r>
            <a:r>
              <a:rPr lang="en-US" b="1">
                <a:solidFill>
                  <a:srgbClr val="FFFF00"/>
                </a:solidFill>
              </a:rPr>
              <a:t>FK</a:t>
            </a:r>
            <a:r>
              <a:rPr lang="en-US" b="1">
                <a:solidFill>
                  <a:srgbClr val="FFC000"/>
                </a:solidFill>
              </a:rPr>
              <a:t>, from Flow_Sectors</a:t>
            </a:r>
            <a:r>
              <a:rPr lang="en-US"/>
              <a:t> ]</a:t>
            </a:r>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27095623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a:t>
            </a:r>
            <a:r>
              <a:rPr lang="en-US" sz="2400" b="1"/>
              <a:t>[</a:t>
            </a:r>
            <a:r>
              <a:rPr lang="en-US" b="1"/>
              <a:t> </a:t>
            </a:r>
            <a:r>
              <a:rPr lang="en-US" b="1">
                <a:solidFill>
                  <a:srgbClr val="FFFF00"/>
                </a:solidFill>
              </a:rPr>
              <a:t>FK, </a:t>
            </a:r>
            <a:r>
              <a:rPr lang="en-US" b="1">
                <a:solidFill>
                  <a:srgbClr val="FFC000"/>
                </a:solidFill>
              </a:rPr>
              <a:t>from flow_main_activities</a:t>
            </a:r>
            <a:r>
              <a:rPr lang="en-US" b="1">
                <a:solidFill>
                  <a:srgbClr val="FFFF00"/>
                </a:solidFill>
              </a:rPr>
              <a:t> </a:t>
            </a:r>
            <a:r>
              <a:rPr lang="en-US" sz="2400" b="1"/>
              <a:t>]</a:t>
            </a:r>
            <a:endParaRPr lang="en-US" b="1"/>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383126547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32276939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857435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a:t>
            </a: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229248489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113354192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367173522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20DD6-611F-00F5-41D5-4A2E56EA6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13BC6-4B66-06AA-CB66-4A0BD130BC76}"/>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End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100169531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18C14-53A9-8B80-D9C3-8225DBC82697}"/>
              </a:ext>
            </a:extLst>
          </p:cNvPr>
          <p:cNvSpPr>
            <a:spLocks noGrp="1"/>
          </p:cNvSpPr>
          <p:nvPr>
            <p:ph type="title"/>
          </p:nvPr>
        </p:nvSpPr>
        <p:spPr>
          <a:xfrm>
            <a:off x="913795" y="0"/>
            <a:ext cx="10353762" cy="970450"/>
          </a:xfrm>
        </p:spPr>
        <p:txBody>
          <a:bodyPr/>
          <a:lstStyle/>
          <a:p>
            <a:r>
              <a:rPr lang="en-US" b="1">
                <a:solidFill>
                  <a:srgbClr val="FFFF00"/>
                </a:solidFill>
              </a:rPr>
              <a:t>TWF.</a:t>
            </a:r>
            <a:r>
              <a:rPr lang="en-US" b="1">
                <a:solidFill>
                  <a:srgbClr val="FF0000"/>
                </a:solidFill>
              </a:rPr>
              <a:t>Flow_Transfer_Iscore</a:t>
            </a:r>
          </a:p>
        </p:txBody>
      </p:sp>
      <p:sp>
        <p:nvSpPr>
          <p:cNvPr id="3" name="Content Placeholder 2">
            <a:extLst>
              <a:ext uri="{FF2B5EF4-FFF2-40B4-BE49-F238E27FC236}">
                <a16:creationId xmlns:a16="http://schemas.microsoft.com/office/drawing/2014/main" id="{58D67C24-9DBD-9031-91FB-1B207FBFE0E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3632444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fontScale="92500" lnSpcReduction="10000"/>
          </a:bodyPr>
          <a:lstStyle/>
          <a:p>
            <a:r>
              <a:rPr lang="en-US" sz="1700"/>
              <a:t>product</a:t>
            </a:r>
            <a:r>
              <a:rPr lang="en-US" sz="1700" err="1"/>
              <a:t>_Id</a:t>
            </a:r>
            <a:r>
              <a:rPr lang="en-US" sz="1700"/>
              <a:t>: int , </a:t>
            </a:r>
            <a:r>
              <a:rPr lang="en-US" sz="1700" b="1">
                <a:solidFill>
                  <a:srgbClr val="FFFF00"/>
                </a:solidFill>
              </a:rPr>
              <a:t>PK</a:t>
            </a:r>
          </a:p>
          <a:p>
            <a:r>
              <a:rPr lang="en-US" sz="1700" b="1" err="1"/>
              <a:t>Loan_code</a:t>
            </a:r>
            <a:r>
              <a:rPr lang="en-US" sz="1700" b="1"/>
              <a:t>: int </a:t>
            </a:r>
            <a:r>
              <a:rPr lang="ar-EG" sz="1700" b="1"/>
              <a:t>كود التمويل</a:t>
            </a:r>
            <a:endParaRPr lang="en-US" sz="1700" b="1"/>
          </a:p>
          <a:p>
            <a:pPr lvl="1"/>
            <a:r>
              <a:rPr lang="en-US" sz="1500" b="1"/>
              <a:t>Not unique</a:t>
            </a:r>
          </a:p>
          <a:p>
            <a:r>
              <a:rPr lang="en-US" sz="1700" b="1"/>
              <a:t>Layer</a:t>
            </a:r>
            <a:r>
              <a:rPr lang="en-US" sz="1700" b="1" err="1"/>
              <a:t>_code</a:t>
            </a:r>
            <a:r>
              <a:rPr lang="en-US" sz="1700" b="1"/>
              <a:t>: int</a:t>
            </a:r>
            <a:r>
              <a:rPr lang="ar-EG" sz="1700" b="1"/>
              <a:t> </a:t>
            </a:r>
            <a:r>
              <a:rPr lang="en-US" sz="1700" b="1"/>
              <a:t>: </a:t>
            </a:r>
            <a:r>
              <a:rPr lang="ar-EG" sz="1700" b="1"/>
              <a:t>شريحة القرض</a:t>
            </a:r>
            <a:endParaRPr lang="en-US" sz="1700" b="1"/>
          </a:p>
          <a:p>
            <a:r>
              <a:rPr lang="en-US" sz="1700" b="1"/>
              <a:t>Confirm_Score: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6774873" y="825937"/>
            <a:ext cx="5375752"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6774873" y="1602659"/>
            <a:ext cx="5417126"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6774873" y="2150209"/>
            <a:ext cx="5417126"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A9946-1970-40D1-FB6F-F16F685D934D}"/>
              </a:ext>
            </a:extLst>
          </p:cNvPr>
          <p:cNvSpPr>
            <a:spLocks noGrp="1"/>
          </p:cNvSpPr>
          <p:nvPr>
            <p:ph type="title"/>
          </p:nvPr>
        </p:nvSpPr>
        <p:spPr>
          <a:xfrm>
            <a:off x="913795" y="0"/>
            <a:ext cx="10353762" cy="560439"/>
          </a:xfrm>
        </p:spPr>
        <p:txBody>
          <a:bodyPr>
            <a:normAutofit fontScale="90000"/>
          </a:bodyPr>
          <a:lstStyle/>
          <a:p>
            <a:r>
              <a:rPr lang="en-US" b="1">
                <a:solidFill>
                  <a:srgbClr val="FFFF00"/>
                </a:solidFill>
                <a:effectLst/>
              </a:rPr>
              <a:t>TWT</a:t>
            </a:r>
            <a:r>
              <a:rPr lang="en-US" b="1">
                <a:effectLst/>
              </a:rPr>
              <a:t>.</a:t>
            </a:r>
            <a:r>
              <a:rPr lang="en-US" b="1">
                <a:solidFill>
                  <a:srgbClr val="FF0000"/>
                </a:solidFill>
                <a:effectLst/>
              </a:rPr>
              <a:t>Flow_Products [cont.]</a:t>
            </a:r>
            <a:endParaRPr lang="en-US"/>
          </a:p>
        </p:txBody>
      </p:sp>
      <p:sp>
        <p:nvSpPr>
          <p:cNvPr id="3" name="Content Placeholder 2">
            <a:extLst>
              <a:ext uri="{FF2B5EF4-FFF2-40B4-BE49-F238E27FC236}">
                <a16:creationId xmlns:a16="http://schemas.microsoft.com/office/drawing/2014/main" id="{44A88316-AC55-1121-3352-0C6FBCA024CE}"/>
              </a:ext>
            </a:extLst>
          </p:cNvPr>
          <p:cNvSpPr>
            <a:spLocks noGrp="1"/>
          </p:cNvSpPr>
          <p:nvPr>
            <p:ph idx="1"/>
          </p:nvPr>
        </p:nvSpPr>
        <p:spPr>
          <a:xfrm>
            <a:off x="108155" y="560439"/>
            <a:ext cx="11906864" cy="6223819"/>
          </a:xfrm>
        </p:spPr>
        <p:txBody>
          <a:bodyPr/>
          <a:lstStyle/>
          <a:p>
            <a:r>
              <a:rPr lang="en-US"/>
              <a:t>int Type_code</a:t>
            </a:r>
          </a:p>
          <a:p>
            <a:pPr lvl="1"/>
            <a:r>
              <a:rPr lang="en-US"/>
              <a:t>1 : </a:t>
            </a:r>
            <a:r>
              <a:rPr lang="ar-EG"/>
              <a:t>مسار عمل صغير</a:t>
            </a:r>
            <a:endParaRPr lang="en-US"/>
          </a:p>
          <a:p>
            <a:pPr lvl="1"/>
            <a:r>
              <a:rPr lang="en-US"/>
              <a:t>2 : </a:t>
            </a:r>
            <a:r>
              <a:rPr lang="ar-EG"/>
              <a:t>مسار عمل كبير</a:t>
            </a:r>
            <a:endParaRPr lang="en-US"/>
          </a:p>
          <a:p>
            <a:pPr lvl="1"/>
            <a:r>
              <a:rPr lang="en-US"/>
              <a:t>Existed also at </a:t>
            </a:r>
            <a:r>
              <a:rPr lang="en-US" b="1">
                <a:solidFill>
                  <a:srgbClr val="00B0F0"/>
                </a:solidFill>
              </a:rPr>
              <a:t>Deportation</a:t>
            </a:r>
          </a:p>
          <a:p>
            <a:endParaRPr lang="en-US"/>
          </a:p>
        </p:txBody>
      </p:sp>
    </p:spTree>
    <p:extLst>
      <p:ext uri="{BB962C8B-B14F-4D97-AF65-F5344CB8AC3E}">
        <p14:creationId xmlns:p14="http://schemas.microsoft.com/office/powerpoint/2010/main" val="250952122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2DAC-375B-F282-ECC0-CF5E9F9EB1E8}"/>
              </a:ext>
            </a:extLst>
          </p:cNvPr>
          <p:cNvSpPr>
            <a:spLocks noGrp="1"/>
          </p:cNvSpPr>
          <p:nvPr>
            <p:ph type="title"/>
          </p:nvPr>
        </p:nvSpPr>
        <p:spPr>
          <a:xfrm>
            <a:off x="913795" y="0"/>
            <a:ext cx="10353762" cy="622852"/>
          </a:xfrm>
        </p:spPr>
        <p:txBody>
          <a:bodyPr>
            <a:normAutofit fontScale="90000"/>
          </a:bodyPr>
          <a:lstStyle/>
          <a:p>
            <a:r>
              <a:rPr lang="en-US" b="1">
                <a:solidFill>
                  <a:srgbClr val="FFFF00"/>
                </a:solidFill>
              </a:rPr>
              <a:t>TWF</a:t>
            </a:r>
            <a:r>
              <a:rPr lang="en-US"/>
              <a:t>.Flow_Exempted_Products</a:t>
            </a:r>
          </a:p>
        </p:txBody>
      </p:sp>
      <p:sp>
        <p:nvSpPr>
          <p:cNvPr id="3" name="Content Placeholder 2">
            <a:extLst>
              <a:ext uri="{FF2B5EF4-FFF2-40B4-BE49-F238E27FC236}">
                <a16:creationId xmlns:a16="http://schemas.microsoft.com/office/drawing/2014/main" id="{59BCA47E-63D7-C8B7-38FF-506F2D764CC5}"/>
              </a:ext>
            </a:extLst>
          </p:cNvPr>
          <p:cNvSpPr>
            <a:spLocks noGrp="1"/>
          </p:cNvSpPr>
          <p:nvPr>
            <p:ph idx="1"/>
          </p:nvPr>
        </p:nvSpPr>
        <p:spPr>
          <a:xfrm>
            <a:off x="417443" y="622853"/>
            <a:ext cx="10850114" cy="5946912"/>
          </a:xfrm>
        </p:spPr>
        <p:txBody>
          <a:bodyPr/>
          <a:lstStyle/>
          <a:p>
            <a:r>
              <a:rPr lang="en-US"/>
              <a:t>Loan_Code</a:t>
            </a:r>
          </a:p>
          <a:p>
            <a:r>
              <a:rPr lang="en-US"/>
              <a:t>Product_Id [FK, Flow_Products]</a:t>
            </a:r>
          </a:p>
          <a:p>
            <a:endParaRPr lang="en-US"/>
          </a:p>
        </p:txBody>
      </p:sp>
    </p:spTree>
    <p:extLst>
      <p:ext uri="{BB962C8B-B14F-4D97-AF65-F5344CB8AC3E}">
        <p14:creationId xmlns:p14="http://schemas.microsoft.com/office/powerpoint/2010/main" val="15714286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a:t>CustomerId </a:t>
            </a:r>
            <a:r>
              <a:rPr lang="en-US" b="1">
                <a:solidFill>
                  <a:srgbClr val="FFFF00"/>
                </a:solidFill>
              </a:rPr>
              <a:t>[PK]</a:t>
            </a:r>
          </a:p>
          <a:p>
            <a:r>
              <a:rPr lang="en-US" sz="1800"/>
              <a:t>creationUser [FK] from user</a:t>
            </a:r>
          </a:p>
          <a:p>
            <a:endParaRPr lang="en-US" b="1">
              <a:solidFill>
                <a:srgbClr val="FFFF00"/>
              </a:solidFill>
            </a:endParaRPr>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4611329" y="1548025"/>
            <a:ext cx="758067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4611329" y="2142876"/>
            <a:ext cx="758067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6639453" y="2737727"/>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a:bodyPr>
          <a:lstStyle/>
          <a:p>
            <a:r>
              <a:rPr lang="en-US" sz="1800"/>
              <a:t>Enterprise_ID [PK], [identity]</a:t>
            </a:r>
          </a:p>
          <a:p>
            <a:r>
              <a:rPr lang="en-US" sz="1800"/>
              <a:t>Code_Sector: </a:t>
            </a:r>
            <a:r>
              <a:rPr lang="ar-EG" b="1">
                <a:effectLst/>
              </a:rPr>
              <a:t>القطاع</a:t>
            </a:r>
            <a:r>
              <a:rPr lang="en-US" b="1">
                <a:effectLst/>
              </a:rPr>
              <a:t>: </a:t>
            </a:r>
            <a:r>
              <a:rPr lang="ar-EG" b="1">
                <a:effectLst/>
              </a:rPr>
              <a:t>تجاري</a:t>
            </a: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Nature_enterprise: </a:t>
            </a:r>
            <a:r>
              <a:rPr lang="ar-EG"/>
              <a:t>النشاط التجاري</a:t>
            </a:r>
          </a:p>
          <a:p>
            <a:r>
              <a:rPr lang="en-US"/>
              <a:t>Type_enterprise: </a:t>
            </a:r>
            <a:r>
              <a:rPr lang="ar-EG"/>
              <a:t>طبيعة المنشأة</a:t>
            </a:r>
            <a:endParaRPr lang="en-US"/>
          </a:p>
          <a:p>
            <a:r>
              <a:rPr lang="en-US"/>
              <a:t>Org_Id</a:t>
            </a:r>
          </a:p>
          <a:p>
            <a:endParaRPr lang="en-US"/>
          </a:p>
          <a:p>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5" name="Picture 4">
            <a:extLst>
              <a:ext uri="{FF2B5EF4-FFF2-40B4-BE49-F238E27FC236}">
                <a16:creationId xmlns:a16="http://schemas.microsoft.com/office/drawing/2014/main" id="{402484BB-426D-0F9D-C948-4107D86BA9A9}"/>
              </a:ext>
            </a:extLst>
          </p:cNvPr>
          <p:cNvPicPr>
            <a:picLocks noChangeAspect="1"/>
          </p:cNvPicPr>
          <p:nvPr/>
        </p:nvPicPr>
        <p:blipFill>
          <a:blip r:embed="rId2"/>
          <a:stretch>
            <a:fillRect/>
          </a:stretch>
        </p:blipFill>
        <p:spPr>
          <a:xfrm>
            <a:off x="3824748" y="2807862"/>
            <a:ext cx="8359700" cy="550606"/>
          </a:xfrm>
          <a:prstGeom prst="rect">
            <a:avLst/>
          </a:prstGeom>
        </p:spPr>
      </p:pic>
      <p:pic>
        <p:nvPicPr>
          <p:cNvPr id="7" name="Picture 6">
            <a:extLst>
              <a:ext uri="{FF2B5EF4-FFF2-40B4-BE49-F238E27FC236}">
                <a16:creationId xmlns:a16="http://schemas.microsoft.com/office/drawing/2014/main" id="{F2B73201-E84B-4641-692B-6663995EC0DE}"/>
              </a:ext>
            </a:extLst>
          </p:cNvPr>
          <p:cNvPicPr>
            <a:picLocks noChangeAspect="1"/>
          </p:cNvPicPr>
          <p:nvPr/>
        </p:nvPicPr>
        <p:blipFill>
          <a:blip r:embed="rId3"/>
          <a:stretch>
            <a:fillRect/>
          </a:stretch>
        </p:blipFill>
        <p:spPr>
          <a:xfrm>
            <a:off x="2654710" y="3499531"/>
            <a:ext cx="9537290" cy="460432"/>
          </a:xfrm>
          <a:prstGeom prst="rect">
            <a:avLst/>
          </a:prstGeom>
        </p:spPr>
      </p:pic>
    </p:spTree>
    <p:extLst>
      <p:ext uri="{BB962C8B-B14F-4D97-AF65-F5344CB8AC3E}">
        <p14:creationId xmlns:p14="http://schemas.microsoft.com/office/powerpoint/2010/main" val="335824246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159026" y="606286"/>
            <a:ext cx="11847444" cy="5983357"/>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88894-BB3A-3F3F-7F69-8DDD50CF6730}"/>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Start Security</a:t>
            </a:r>
          </a:p>
        </p:txBody>
      </p:sp>
    </p:spTree>
    <p:extLst>
      <p:ext uri="{BB962C8B-B14F-4D97-AF65-F5344CB8AC3E}">
        <p14:creationId xmlns:p14="http://schemas.microsoft.com/office/powerpoint/2010/main" val="136713294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D333E-B50C-50ED-F4D7-7D471BF9B2A0}"/>
              </a:ext>
            </a:extLst>
          </p:cNvPr>
          <p:cNvSpPr>
            <a:spLocks noGrp="1"/>
          </p:cNvSpPr>
          <p:nvPr>
            <p:ph type="title"/>
          </p:nvPr>
        </p:nvSpPr>
        <p:spPr>
          <a:xfrm>
            <a:off x="919119" y="32153"/>
            <a:ext cx="10353762" cy="762000"/>
          </a:xfrm>
        </p:spPr>
        <p:txBody>
          <a:bodyPr/>
          <a:lstStyle/>
          <a:p>
            <a:r>
              <a:rPr lang="en-US" b="1">
                <a:solidFill>
                  <a:srgbClr val="FFFF00"/>
                </a:solidFill>
              </a:rPr>
              <a:t>Security</a:t>
            </a:r>
            <a:r>
              <a:rPr lang="en-US"/>
              <a:t>.</a:t>
            </a:r>
            <a:r>
              <a:rPr lang="en-US" b="1">
                <a:solidFill>
                  <a:srgbClr val="FF0000"/>
                </a:solidFill>
              </a:rPr>
              <a:t>SEC_Action</a:t>
            </a:r>
          </a:p>
        </p:txBody>
      </p:sp>
      <p:sp>
        <p:nvSpPr>
          <p:cNvPr id="3" name="Content Placeholder 2">
            <a:extLst>
              <a:ext uri="{FF2B5EF4-FFF2-40B4-BE49-F238E27FC236}">
                <a16:creationId xmlns:a16="http://schemas.microsoft.com/office/drawing/2014/main" id="{ACDF88FE-F832-E264-D80D-91F64111CEEF}"/>
              </a:ext>
            </a:extLst>
          </p:cNvPr>
          <p:cNvSpPr>
            <a:spLocks noGrp="1"/>
          </p:cNvSpPr>
          <p:nvPr>
            <p:ph idx="1"/>
          </p:nvPr>
        </p:nvSpPr>
        <p:spPr>
          <a:xfrm>
            <a:off x="592282" y="794153"/>
            <a:ext cx="10675275" cy="5658602"/>
          </a:xfrm>
        </p:spPr>
        <p:txBody>
          <a:bodyPr/>
          <a:lstStyle/>
          <a:p>
            <a:r>
              <a:rPr lang="en-US"/>
              <a:t>Action_id: PK </a:t>
            </a:r>
          </a:p>
        </p:txBody>
      </p:sp>
      <p:pic>
        <p:nvPicPr>
          <p:cNvPr id="5" name="Picture 4">
            <a:extLst>
              <a:ext uri="{FF2B5EF4-FFF2-40B4-BE49-F238E27FC236}">
                <a16:creationId xmlns:a16="http://schemas.microsoft.com/office/drawing/2014/main" id="{CC42573F-8B82-44F2-E373-FCE72E2D1D65}"/>
              </a:ext>
            </a:extLst>
          </p:cNvPr>
          <p:cNvPicPr>
            <a:picLocks noChangeAspect="1"/>
          </p:cNvPicPr>
          <p:nvPr/>
        </p:nvPicPr>
        <p:blipFill>
          <a:blip r:embed="rId2"/>
          <a:stretch>
            <a:fillRect/>
          </a:stretch>
        </p:blipFill>
        <p:spPr>
          <a:xfrm>
            <a:off x="6441921" y="1881733"/>
            <a:ext cx="4679227" cy="2846128"/>
          </a:xfrm>
          <a:prstGeom prst="rect">
            <a:avLst/>
          </a:prstGeom>
        </p:spPr>
      </p:pic>
    </p:spTree>
    <p:extLst>
      <p:ext uri="{BB962C8B-B14F-4D97-AF65-F5344CB8AC3E}">
        <p14:creationId xmlns:p14="http://schemas.microsoft.com/office/powerpoint/2010/main" val="429017330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22EA-960E-6291-8AC2-5FC637FC10AC}"/>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Security</a:t>
            </a:r>
            <a:r>
              <a:rPr lang="en-US"/>
              <a:t>.</a:t>
            </a:r>
            <a:r>
              <a:rPr lang="en-US" b="1">
                <a:solidFill>
                  <a:srgbClr val="FF0000"/>
                </a:solidFill>
              </a:rPr>
              <a:t>Sec_APIs</a:t>
            </a:r>
          </a:p>
        </p:txBody>
      </p:sp>
      <p:sp>
        <p:nvSpPr>
          <p:cNvPr id="3" name="Content Placeholder 2">
            <a:extLst>
              <a:ext uri="{FF2B5EF4-FFF2-40B4-BE49-F238E27FC236}">
                <a16:creationId xmlns:a16="http://schemas.microsoft.com/office/drawing/2014/main" id="{A5971EED-0FE0-775F-39CD-3C17D64BE8AC}"/>
              </a:ext>
            </a:extLst>
          </p:cNvPr>
          <p:cNvSpPr>
            <a:spLocks noGrp="1"/>
          </p:cNvSpPr>
          <p:nvPr>
            <p:ph idx="1"/>
          </p:nvPr>
        </p:nvSpPr>
        <p:spPr>
          <a:xfrm>
            <a:off x="249382" y="561109"/>
            <a:ext cx="11710554" cy="6047509"/>
          </a:xfrm>
        </p:spPr>
        <p:txBody>
          <a:bodyPr/>
          <a:lstStyle/>
          <a:p>
            <a:r>
              <a:rPr lang="en-US"/>
              <a:t>API_ID: </a:t>
            </a:r>
            <a:r>
              <a:rPr lang="en-US" b="1">
                <a:solidFill>
                  <a:srgbClr val="FFFF00"/>
                </a:solidFill>
              </a:rPr>
              <a:t>PK</a:t>
            </a:r>
            <a:r>
              <a:rPr lang="en-US"/>
              <a:t>, </a:t>
            </a:r>
          </a:p>
          <a:p>
            <a:r>
              <a:rPr lang="en-US" b="1"/>
              <a:t>ControllerName: string</a:t>
            </a:r>
          </a:p>
          <a:p>
            <a:r>
              <a:rPr lang="en-US" b="1"/>
              <a:t>ActionName: string</a:t>
            </a:r>
          </a:p>
        </p:txBody>
      </p:sp>
      <p:pic>
        <p:nvPicPr>
          <p:cNvPr id="5" name="Picture 4">
            <a:extLst>
              <a:ext uri="{FF2B5EF4-FFF2-40B4-BE49-F238E27FC236}">
                <a16:creationId xmlns:a16="http://schemas.microsoft.com/office/drawing/2014/main" id="{EC0DF08D-7B2A-55F4-7A73-0529F957AEEB}"/>
              </a:ext>
            </a:extLst>
          </p:cNvPr>
          <p:cNvPicPr>
            <a:picLocks noChangeAspect="1"/>
          </p:cNvPicPr>
          <p:nvPr/>
        </p:nvPicPr>
        <p:blipFill>
          <a:blip r:embed="rId2"/>
          <a:stretch>
            <a:fillRect/>
          </a:stretch>
        </p:blipFill>
        <p:spPr>
          <a:xfrm>
            <a:off x="5811726" y="644236"/>
            <a:ext cx="4436917" cy="2457189"/>
          </a:xfrm>
          <a:prstGeom prst="rect">
            <a:avLst/>
          </a:prstGeom>
        </p:spPr>
      </p:pic>
    </p:spTree>
    <p:extLst>
      <p:ext uri="{BB962C8B-B14F-4D97-AF65-F5344CB8AC3E}">
        <p14:creationId xmlns:p14="http://schemas.microsoft.com/office/powerpoint/2010/main" val="211636621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a:xfrm>
            <a:off x="1080050" y="0"/>
            <a:ext cx="10353762" cy="457200"/>
          </a:xfrm>
        </p:spPr>
        <p:txBody>
          <a:bodyPr>
            <a:normAutofit fontScale="90000"/>
          </a:bodyPr>
          <a:lstStyle/>
          <a:p>
            <a:r>
              <a:rPr lang="en-US" b="1">
                <a:solidFill>
                  <a:srgbClr val="FFFF00"/>
                </a:solidFill>
              </a:rPr>
              <a:t>Security</a:t>
            </a:r>
            <a:r>
              <a:rPr lang="en-US"/>
              <a:t>.</a:t>
            </a:r>
            <a:r>
              <a:rPr lang="en-US" b="1">
                <a:solidFill>
                  <a:srgbClr val="FF0000"/>
                </a:solidFill>
              </a:rPr>
              <a:t>SEC_Menu</a:t>
            </a:r>
            <a:endParaRPr lang="en-US"/>
          </a:p>
        </p:txBody>
      </p:sp>
      <p:sp>
        <p:nvSpPr>
          <p:cNvPr id="4" name="Content Placeholder 3">
            <a:extLst>
              <a:ext uri="{FF2B5EF4-FFF2-40B4-BE49-F238E27FC236}">
                <a16:creationId xmlns:a16="http://schemas.microsoft.com/office/drawing/2014/main" id="{1A86BFDB-D4B6-D973-53F3-F9D91DEB3B76}"/>
              </a:ext>
            </a:extLst>
          </p:cNvPr>
          <p:cNvSpPr>
            <a:spLocks noGrp="1"/>
          </p:cNvSpPr>
          <p:nvPr>
            <p:ph idx="1"/>
          </p:nvPr>
        </p:nvSpPr>
        <p:spPr>
          <a:xfrm>
            <a:off x="197428" y="550719"/>
            <a:ext cx="11994572" cy="6120246"/>
          </a:xfrm>
        </p:spPr>
        <p:txBody>
          <a:bodyPr/>
          <a:lstStyle/>
          <a:p>
            <a:r>
              <a:rPr lang="en-US"/>
              <a:t>Menu_id: PK, identity</a:t>
            </a:r>
          </a:p>
          <a:p>
            <a:r>
              <a:rPr lang="en-US"/>
              <a:t>M_nameAr</a:t>
            </a:r>
          </a:p>
          <a:p>
            <a:pPr lvl="1"/>
            <a:r>
              <a:rPr lang="ar-EG" b="1"/>
              <a:t>معاملات الفروع</a:t>
            </a:r>
            <a:endParaRPr lang="en-US" b="1"/>
          </a:p>
          <a:p>
            <a:pPr lvl="1"/>
            <a:r>
              <a:rPr lang="ar-EG" b="1"/>
              <a:t>صرف تمويل</a:t>
            </a:r>
            <a:endParaRPr lang="en-US" b="1"/>
          </a:p>
          <a:p>
            <a:r>
              <a:rPr lang="en-US"/>
              <a:t>M_Parent_id: int , recursive to </a:t>
            </a:r>
            <a:r>
              <a:rPr lang="en-US" b="1">
                <a:solidFill>
                  <a:srgbClr val="FFFF00"/>
                </a:solidFill>
              </a:rPr>
              <a:t>Menu_id</a:t>
            </a:r>
          </a:p>
          <a:p>
            <a:r>
              <a:rPr lang="en-US" b="1"/>
              <a:t>Type</a:t>
            </a:r>
          </a:p>
          <a:p>
            <a:pPr lvl="1"/>
            <a:r>
              <a:rPr lang="en-US" b="1"/>
              <a:t>1: </a:t>
            </a:r>
            <a:r>
              <a:rPr lang="ar-EG" b="1"/>
              <a:t>رئيسية</a:t>
            </a:r>
            <a:endParaRPr lang="en-US" b="1"/>
          </a:p>
          <a:p>
            <a:pPr lvl="1"/>
            <a:r>
              <a:rPr lang="en-US" b="1"/>
              <a:t>2: </a:t>
            </a:r>
            <a:r>
              <a:rPr lang="ar-EG" b="1"/>
              <a:t>فرعية</a:t>
            </a:r>
            <a:endParaRPr lang="en-US" b="1"/>
          </a:p>
          <a:p>
            <a:pPr lvl="1"/>
            <a:r>
              <a:rPr lang="en-US" b="1"/>
              <a:t>3: </a:t>
            </a:r>
            <a:r>
              <a:rPr lang="ar-EG" b="1"/>
              <a:t>صفحة</a:t>
            </a:r>
            <a:endParaRPr lang="en-US" b="1"/>
          </a:p>
          <a:p>
            <a:r>
              <a:rPr lang="en-US" b="1"/>
              <a:t>M_Status</a:t>
            </a:r>
          </a:p>
          <a:p>
            <a:pPr lvl="1"/>
            <a:r>
              <a:rPr lang="en-US" b="1"/>
              <a:t>0: </a:t>
            </a:r>
            <a:r>
              <a:rPr lang="ar-EG" b="1"/>
              <a:t>غير مفعل</a:t>
            </a:r>
            <a:endParaRPr lang="en-US" b="1"/>
          </a:p>
          <a:p>
            <a:pPr lvl="1"/>
            <a:r>
              <a:rPr lang="en-US" b="1"/>
              <a:t>1: </a:t>
            </a:r>
            <a:r>
              <a:rPr lang="ar-EG" b="1"/>
              <a:t>مفعل</a:t>
            </a:r>
            <a:endParaRPr lang="en-US" b="1"/>
          </a:p>
        </p:txBody>
      </p:sp>
      <p:pic>
        <p:nvPicPr>
          <p:cNvPr id="6" name="Content Placeholder 4">
            <a:extLst>
              <a:ext uri="{FF2B5EF4-FFF2-40B4-BE49-F238E27FC236}">
                <a16:creationId xmlns:a16="http://schemas.microsoft.com/office/drawing/2014/main" id="{A6EED765-6B26-3831-32AB-6C4D7F9CBE7E}"/>
              </a:ext>
            </a:extLst>
          </p:cNvPr>
          <p:cNvPicPr>
            <a:picLocks noChangeAspect="1"/>
          </p:cNvPicPr>
          <p:nvPr/>
        </p:nvPicPr>
        <p:blipFill>
          <a:blip r:embed="rId2"/>
          <a:stretch>
            <a:fillRect/>
          </a:stretch>
        </p:blipFill>
        <p:spPr>
          <a:xfrm>
            <a:off x="5687237" y="737755"/>
            <a:ext cx="6386999" cy="245998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38991-CA69-A371-D682-84D2488192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5B20F1-8ED2-EBE7-74F7-84E4AB02D666}"/>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End Security</a:t>
            </a:r>
          </a:p>
        </p:txBody>
      </p:sp>
    </p:spTree>
    <p:extLst>
      <p:ext uri="{BB962C8B-B14F-4D97-AF65-F5344CB8AC3E}">
        <p14:creationId xmlns:p14="http://schemas.microsoft.com/office/powerpoint/2010/main" val="188897410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a:p>
            <a:endParaRPr lang="en-US"/>
          </a:p>
          <a:p>
            <a:r>
              <a:rPr lang="en-US"/>
              <a:t>Flag</a:t>
            </a:r>
          </a:p>
          <a:p>
            <a:pPr lvl="1"/>
            <a:r>
              <a:rPr lang="en-US"/>
              <a:t>0: </a:t>
            </a:r>
            <a:r>
              <a:rPr lang="ar-EG"/>
              <a:t>اليومية مقفولة</a:t>
            </a:r>
          </a:p>
          <a:p>
            <a:pPr lvl="1"/>
            <a:r>
              <a:rPr lang="en-US"/>
              <a:t>1: </a:t>
            </a:r>
            <a:r>
              <a:rPr lang="ar-EG"/>
              <a:t>اليومية مفتوحة</a:t>
            </a:r>
          </a:p>
          <a:p>
            <a:endParaRPr lang="en-US"/>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lnSpcReduction="10000"/>
          </a:bodyPr>
          <a:lstStyle/>
          <a:p>
            <a:r>
              <a:rPr lang="en-US"/>
              <a:t>int Code_FID  [PK]</a:t>
            </a:r>
          </a:p>
          <a:p>
            <a:r>
              <a:rPr lang="en-US" b="1">
                <a:effectLst/>
              </a:rPr>
              <a:t>Cust_IDNO: string // customer nationalId</a:t>
            </a:r>
          </a:p>
          <a:p>
            <a:r>
              <a:rPr lang="en-US" b="1"/>
              <a:t>Inquiry_Date: DateTime</a:t>
            </a:r>
            <a:r>
              <a:rPr lang="en-US"/>
              <a:t> // </a:t>
            </a:r>
          </a:p>
          <a:p>
            <a:r>
              <a:rPr lang="en-US" b="1">
                <a:effectLst/>
              </a:rPr>
              <a:t>Score: int   	// </a:t>
            </a:r>
            <a:r>
              <a:rPr lang="ar-EG">
                <a:effectLst/>
              </a:rPr>
              <a:t>هو رقم يعبر عن مدى التزام العميل</a:t>
            </a:r>
          </a:p>
          <a:p>
            <a:r>
              <a:rPr lang="en-US">
                <a:effectLst/>
              </a:rPr>
              <a:t>Open_credits // </a:t>
            </a:r>
            <a:r>
              <a:rPr lang="ar-EG">
                <a:effectLst/>
              </a:rPr>
              <a:t>أي عدد القروض أو البطاقات الائتمانية التي يستخدمها العميل حالياً ولم يغلقها.</a:t>
            </a:r>
            <a:endParaRPr lang="en-US">
              <a:effectLst/>
            </a:endParaRPr>
          </a:p>
          <a:p>
            <a:r>
              <a:rPr lang="en-US"/>
              <a:t>Days_Due: int </a:t>
            </a:r>
            <a:r>
              <a:rPr lang="ar-EG" sz="1800"/>
              <a:t>أيام التأخير؛ ويقصد بها عدد الأيام التي تأخر فيها العميل عن سداد الأقساط المستحقة عليه (مؤشر خطر إذا كان الرقم </a:t>
            </a:r>
            <a:r>
              <a:rPr lang="ar-EG"/>
              <a:t>كبيراً).</a:t>
            </a:r>
            <a:endParaRPr lang="en-US"/>
          </a:p>
          <a:p>
            <a:r>
              <a:rPr lang="en-US"/>
              <a:t>NO_OF_INQUIRES: </a:t>
            </a:r>
            <a:r>
              <a:rPr lang="ar-EG"/>
              <a:t>عدد الكرات التى تم فيها الاستعلام عن هذا الرقم</a:t>
            </a:r>
            <a:endParaRPr lang="en-US"/>
          </a:p>
          <a:p>
            <a:r>
              <a:rPr lang="en-US"/>
              <a:t>Request_id</a:t>
            </a:r>
          </a:p>
          <a:p>
            <a:r>
              <a:rPr lang="en-US"/>
              <a:t>REF_NO</a:t>
            </a:r>
          </a:p>
          <a:p>
            <a:r>
              <a:rPr lang="en-US"/>
              <a:t>NotFound , int : </a:t>
            </a:r>
            <a:r>
              <a:rPr lang="ar-EG"/>
              <a:t>حالة العميل</a:t>
            </a:r>
          </a:p>
          <a:p>
            <a:pPr lvl="1"/>
            <a:r>
              <a:rPr lang="en-US"/>
              <a:t>0 : </a:t>
            </a:r>
            <a:r>
              <a:rPr lang="ar-EG"/>
              <a:t>يوجد للعميل هذا بيانات فى الأيزكور</a:t>
            </a:r>
          </a:p>
          <a:p>
            <a:pPr lvl="1"/>
            <a:r>
              <a:rPr lang="en-US"/>
              <a:t>1 : </a:t>
            </a:r>
            <a:r>
              <a:rPr lang="ar-EG"/>
              <a:t>العميل هذا لا توجد له بيانات فى الايزكور لأنه لم يأخذ قروض من اى بنك او اى جهة من قبل </a:t>
            </a:r>
          </a:p>
          <a:p>
            <a:pPr lvl="1"/>
            <a:r>
              <a:rPr lang="en-US"/>
              <a:t>2 :</a:t>
            </a:r>
            <a:r>
              <a:rPr lang="ar-EG"/>
              <a:t> </a:t>
            </a:r>
            <a:r>
              <a:rPr lang="en-US"/>
              <a:t> </a:t>
            </a:r>
            <a:r>
              <a:rPr lang="ar-EG"/>
              <a:t>  يوجد مشكلة في الاتصال او اى مشكله أخرى لم تمكننى من الاستعلام عنه وبالتالي لايتم ترحيل الطلب الا اذا تم التحميل</a:t>
            </a:r>
            <a:r>
              <a:rPr lang="en-US"/>
              <a:t> </a:t>
            </a:r>
          </a:p>
          <a:p>
            <a:r>
              <a:rPr lang="en-US"/>
              <a:t>New_ISCORE</a:t>
            </a:r>
          </a:p>
          <a:p>
            <a:r>
              <a:rPr lang="en-US"/>
              <a:t>File_Code</a:t>
            </a:r>
          </a:p>
        </p:txBody>
      </p:sp>
    </p:spTree>
    <p:extLst>
      <p:ext uri="{BB962C8B-B14F-4D97-AF65-F5344CB8AC3E}">
        <p14:creationId xmlns:p14="http://schemas.microsoft.com/office/powerpoint/2010/main" val="344985806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6FAB-EDBE-3C25-0E8B-4EE70DC77483}"/>
              </a:ext>
            </a:extLst>
          </p:cNvPr>
          <p:cNvSpPr>
            <a:spLocks noGrp="1"/>
          </p:cNvSpPr>
          <p:nvPr>
            <p:ph type="title"/>
          </p:nvPr>
        </p:nvSpPr>
        <p:spPr/>
        <p:txBody>
          <a:bodyPr/>
          <a:lstStyle/>
          <a:p>
            <a:r>
              <a:rPr lang="en-US"/>
              <a:t>TWF.Flow_ISCORE</a:t>
            </a:r>
          </a:p>
        </p:txBody>
      </p:sp>
      <p:sp>
        <p:nvSpPr>
          <p:cNvPr id="3" name="Content Placeholder 2">
            <a:extLst>
              <a:ext uri="{FF2B5EF4-FFF2-40B4-BE49-F238E27FC236}">
                <a16:creationId xmlns:a16="http://schemas.microsoft.com/office/drawing/2014/main" id="{198332D1-66F4-3C5F-14B5-8788C0C89BC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8379302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6201608" y="603115"/>
            <a:ext cx="5419545" cy="1786124"/>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5FF28-7763-30E9-B0F7-22124542890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Flow_definition_expenditure</a:t>
            </a:r>
          </a:p>
        </p:txBody>
      </p:sp>
      <p:sp>
        <p:nvSpPr>
          <p:cNvPr id="3" name="Content Placeholder 2">
            <a:extLst>
              <a:ext uri="{FF2B5EF4-FFF2-40B4-BE49-F238E27FC236}">
                <a16:creationId xmlns:a16="http://schemas.microsoft.com/office/drawing/2014/main" id="{4954B745-E4CD-14E8-D3DA-05C95DD4440B}"/>
              </a:ext>
            </a:extLst>
          </p:cNvPr>
          <p:cNvSpPr>
            <a:spLocks noGrp="1"/>
          </p:cNvSpPr>
          <p:nvPr>
            <p:ph idx="1"/>
          </p:nvPr>
        </p:nvSpPr>
        <p:spPr>
          <a:xfrm>
            <a:off x="167148" y="639097"/>
            <a:ext cx="11828207" cy="6115664"/>
          </a:xfrm>
        </p:spPr>
        <p:txBody>
          <a:bodyPr/>
          <a:lstStyle/>
          <a:p>
            <a:r>
              <a:rPr lang="en-US"/>
              <a:t>DE_code: </a:t>
            </a:r>
            <a:r>
              <a:rPr lang="en-US" b="1">
                <a:solidFill>
                  <a:srgbClr val="FFFF00"/>
                </a:solidFill>
              </a:rPr>
              <a:t>[PK]</a:t>
            </a:r>
          </a:p>
          <a:p>
            <a:r>
              <a:rPr lang="en-US"/>
              <a:t>name_AR</a:t>
            </a:r>
          </a:p>
          <a:p>
            <a:r>
              <a:rPr lang="en-US"/>
              <a:t>name_Eng</a:t>
            </a:r>
          </a:p>
          <a:p>
            <a:r>
              <a:rPr lang="en-US"/>
              <a:t>productstatus: int</a:t>
            </a:r>
          </a:p>
          <a:p>
            <a:r>
              <a:rPr lang="en-US"/>
              <a:t>ratio: decimal</a:t>
            </a:r>
          </a:p>
          <a:p>
            <a:r>
              <a:rPr lang="en-US"/>
              <a:t>account_no </a:t>
            </a:r>
            <a:r>
              <a:rPr lang="en-US" b="1">
                <a:solidFill>
                  <a:srgbClr val="FFFF00"/>
                </a:solidFill>
              </a:rPr>
              <a:t>[FK, Acc_Chart_Account]</a:t>
            </a:r>
          </a:p>
        </p:txBody>
      </p:sp>
      <p:pic>
        <p:nvPicPr>
          <p:cNvPr id="5" name="Picture 4">
            <a:extLst>
              <a:ext uri="{FF2B5EF4-FFF2-40B4-BE49-F238E27FC236}">
                <a16:creationId xmlns:a16="http://schemas.microsoft.com/office/drawing/2014/main" id="{FC9E560D-5EA4-DA60-FE95-EE39A9054AB3}"/>
              </a:ext>
            </a:extLst>
          </p:cNvPr>
          <p:cNvPicPr>
            <a:picLocks noChangeAspect="1"/>
          </p:cNvPicPr>
          <p:nvPr/>
        </p:nvPicPr>
        <p:blipFill>
          <a:blip r:embed="rId2"/>
          <a:stretch>
            <a:fillRect/>
          </a:stretch>
        </p:blipFill>
        <p:spPr>
          <a:xfrm>
            <a:off x="5539028" y="803787"/>
            <a:ext cx="5886016" cy="1959077"/>
          </a:xfrm>
          <a:prstGeom prst="rect">
            <a:avLst/>
          </a:prstGeom>
        </p:spPr>
      </p:pic>
    </p:spTree>
    <p:extLst>
      <p:ext uri="{BB962C8B-B14F-4D97-AF65-F5344CB8AC3E}">
        <p14:creationId xmlns:p14="http://schemas.microsoft.com/office/powerpoint/2010/main" val="164915468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EF8F3-1C2C-88C6-D565-146D577EDBF3}"/>
              </a:ext>
            </a:extLst>
          </p:cNvPr>
          <p:cNvSpPr>
            <a:spLocks noGrp="1"/>
          </p:cNvSpPr>
          <p:nvPr>
            <p:ph type="title"/>
          </p:nvPr>
        </p:nvSpPr>
        <p:spPr>
          <a:xfrm>
            <a:off x="913795" y="0"/>
            <a:ext cx="10353762" cy="766916"/>
          </a:xfrm>
        </p:spPr>
        <p:txBody>
          <a:bodyPr/>
          <a:lstStyle/>
          <a:p>
            <a:r>
              <a:rPr lang="en-US" b="1">
                <a:solidFill>
                  <a:srgbClr val="FFFF00"/>
                </a:solidFill>
              </a:rPr>
              <a:t>TWF</a:t>
            </a:r>
            <a:r>
              <a:rPr lang="en-US"/>
              <a:t>.</a:t>
            </a:r>
            <a:r>
              <a:rPr lang="en-US" b="1">
                <a:solidFill>
                  <a:srgbClr val="FF0000"/>
                </a:solidFill>
              </a:rPr>
              <a:t>Flow_select_definitioExp</a:t>
            </a:r>
          </a:p>
        </p:txBody>
      </p:sp>
      <p:sp>
        <p:nvSpPr>
          <p:cNvPr id="3" name="Content Placeholder 2">
            <a:extLst>
              <a:ext uri="{FF2B5EF4-FFF2-40B4-BE49-F238E27FC236}">
                <a16:creationId xmlns:a16="http://schemas.microsoft.com/office/drawing/2014/main" id="{AD17DB5C-DACF-80C2-55A2-541CBD38E703}"/>
              </a:ext>
            </a:extLst>
          </p:cNvPr>
          <p:cNvSpPr>
            <a:spLocks noGrp="1"/>
          </p:cNvSpPr>
          <p:nvPr>
            <p:ph idx="1"/>
          </p:nvPr>
        </p:nvSpPr>
        <p:spPr>
          <a:xfrm>
            <a:off x="275303" y="766916"/>
            <a:ext cx="11661058" cy="5948515"/>
          </a:xfrm>
        </p:spPr>
        <p:txBody>
          <a:bodyPr>
            <a:normAutofit/>
          </a:bodyPr>
          <a:lstStyle/>
          <a:p>
            <a:r>
              <a:rPr lang="en-US" sz="1800"/>
              <a:t>SDE_code: int </a:t>
            </a:r>
            <a:r>
              <a:rPr lang="en-US" sz="1800" b="1">
                <a:solidFill>
                  <a:srgbClr val="FFFF00"/>
                </a:solidFill>
              </a:rPr>
              <a:t>[PK]</a:t>
            </a:r>
          </a:p>
          <a:p>
            <a:r>
              <a:rPr lang="en-US" sz="1800"/>
              <a:t>product_Id: int  </a:t>
            </a:r>
            <a:r>
              <a:rPr lang="en-US" sz="1800" b="1">
                <a:solidFill>
                  <a:srgbClr val="FFFF00"/>
                </a:solidFill>
              </a:rPr>
              <a:t>[FK, Flow_Products]</a:t>
            </a:r>
          </a:p>
          <a:p>
            <a:r>
              <a:rPr lang="en-US" sz="1800"/>
              <a:t>DE_code: int  </a:t>
            </a:r>
            <a:r>
              <a:rPr lang="en-US" sz="1800" b="1">
                <a:solidFill>
                  <a:srgbClr val="FFFF00"/>
                </a:solidFill>
              </a:rPr>
              <a:t>[FK, Flow_definition_expenditure]</a:t>
            </a:r>
          </a:p>
          <a:p>
            <a:r>
              <a:rPr lang="en-US" sz="1800"/>
              <a:t>Confirm_Score: int</a:t>
            </a:r>
          </a:p>
          <a:p>
            <a:r>
              <a:rPr lang="en-US" sz="1800"/>
              <a:t>IsRejected: bool</a:t>
            </a:r>
          </a:p>
          <a:p>
            <a:r>
              <a:rPr lang="en-US" sz="1800"/>
              <a:t>Creation_Date: DateTime</a:t>
            </a:r>
          </a:p>
          <a:p>
            <a:r>
              <a:rPr lang="en-US" sz="1800"/>
              <a:t>Date_Of_Update: DateTime?</a:t>
            </a:r>
          </a:p>
        </p:txBody>
      </p:sp>
      <p:pic>
        <p:nvPicPr>
          <p:cNvPr id="5" name="Picture 4">
            <a:extLst>
              <a:ext uri="{FF2B5EF4-FFF2-40B4-BE49-F238E27FC236}">
                <a16:creationId xmlns:a16="http://schemas.microsoft.com/office/drawing/2014/main" id="{9C8EA290-5D05-6595-1877-DFA8E3C94936}"/>
              </a:ext>
            </a:extLst>
          </p:cNvPr>
          <p:cNvPicPr>
            <a:picLocks noChangeAspect="1"/>
          </p:cNvPicPr>
          <p:nvPr/>
        </p:nvPicPr>
        <p:blipFill>
          <a:blip r:embed="rId2"/>
          <a:stretch>
            <a:fillRect/>
          </a:stretch>
        </p:blipFill>
        <p:spPr>
          <a:xfrm>
            <a:off x="5840361" y="1654220"/>
            <a:ext cx="6351639" cy="1997543"/>
          </a:xfrm>
          <a:prstGeom prst="rect">
            <a:avLst/>
          </a:prstGeom>
        </p:spPr>
      </p:pic>
    </p:spTree>
    <p:extLst>
      <p:ext uri="{BB962C8B-B14F-4D97-AF65-F5344CB8AC3E}">
        <p14:creationId xmlns:p14="http://schemas.microsoft.com/office/powerpoint/2010/main" val="4886754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F28B2-8779-0B90-547C-96A057DBE6F2}"/>
              </a:ext>
            </a:extLst>
          </p:cNvPr>
          <p:cNvSpPr>
            <a:spLocks noGrp="1"/>
          </p:cNvSpPr>
          <p:nvPr>
            <p:ph type="title"/>
          </p:nvPr>
        </p:nvSpPr>
        <p:spPr>
          <a:xfrm>
            <a:off x="913795" y="609600"/>
            <a:ext cx="10353762" cy="5024284"/>
          </a:xfrm>
        </p:spPr>
        <p:txBody>
          <a:bodyPr>
            <a:normAutofit/>
          </a:bodyPr>
          <a:lstStyle/>
          <a:p>
            <a:r>
              <a:rPr lang="en-US" sz="7200" b="1">
                <a:solidFill>
                  <a:srgbClr val="FF0000"/>
                </a:solidFill>
              </a:rPr>
              <a:t>DOCS</a:t>
            </a:r>
          </a:p>
        </p:txBody>
      </p:sp>
    </p:spTree>
    <p:extLst>
      <p:ext uri="{BB962C8B-B14F-4D97-AF65-F5344CB8AC3E}">
        <p14:creationId xmlns:p14="http://schemas.microsoft.com/office/powerpoint/2010/main" val="47032368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F9271-2475-A697-D050-8A8284C8DD04}"/>
              </a:ext>
            </a:extLst>
          </p:cNvPr>
          <p:cNvSpPr>
            <a:spLocks noGrp="1"/>
          </p:cNvSpPr>
          <p:nvPr>
            <p:ph type="title"/>
          </p:nvPr>
        </p:nvSpPr>
        <p:spPr>
          <a:xfrm>
            <a:off x="919119" y="0"/>
            <a:ext cx="10353762" cy="658761"/>
          </a:xfrm>
        </p:spPr>
        <p:txBody>
          <a:bodyPr>
            <a:normAutofit fontScale="90000"/>
          </a:bodyPr>
          <a:lstStyle/>
          <a:p>
            <a:r>
              <a:rPr lang="en-US" b="1">
                <a:solidFill>
                  <a:srgbClr val="FF0000"/>
                </a:solidFill>
              </a:rPr>
              <a:t>SWF</a:t>
            </a:r>
            <a:r>
              <a:rPr lang="en-US"/>
              <a:t>.</a:t>
            </a:r>
            <a:r>
              <a:rPr lang="en-US" b="1">
                <a:solidFill>
                  <a:srgbClr val="FFFF00"/>
                </a:solidFill>
              </a:rPr>
              <a:t>Flow_Types_documents</a:t>
            </a:r>
          </a:p>
        </p:txBody>
      </p:sp>
      <p:sp>
        <p:nvSpPr>
          <p:cNvPr id="3" name="Content Placeholder 2">
            <a:extLst>
              <a:ext uri="{FF2B5EF4-FFF2-40B4-BE49-F238E27FC236}">
                <a16:creationId xmlns:a16="http://schemas.microsoft.com/office/drawing/2014/main" id="{431CCC4B-66F7-C8AA-EAF5-4C061E70A1FF}"/>
              </a:ext>
            </a:extLst>
          </p:cNvPr>
          <p:cNvSpPr>
            <a:spLocks noGrp="1"/>
          </p:cNvSpPr>
          <p:nvPr>
            <p:ph idx="1"/>
          </p:nvPr>
        </p:nvSpPr>
        <p:spPr>
          <a:xfrm>
            <a:off x="167148" y="855407"/>
            <a:ext cx="11838039" cy="5840361"/>
          </a:xfrm>
        </p:spPr>
        <p:txBody>
          <a:bodyPr/>
          <a:lstStyle/>
          <a:p>
            <a:r>
              <a:rPr lang="en-US"/>
              <a:t>int Document_Id</a:t>
            </a:r>
          </a:p>
          <a:p>
            <a:r>
              <a:rPr lang="en-US"/>
              <a:t>string Description_Ar</a:t>
            </a:r>
          </a:p>
          <a:p>
            <a:r>
              <a:rPr lang="en-US"/>
              <a:t>string Description_Eng</a:t>
            </a:r>
          </a:p>
          <a:p>
            <a:r>
              <a:rPr lang="en-US"/>
              <a:t>int Doc_classification [</a:t>
            </a:r>
            <a:r>
              <a:rPr lang="en-US" b="1">
                <a:solidFill>
                  <a:srgbClr val="FFFF00"/>
                </a:solidFill>
              </a:rPr>
              <a:t>FK fom Flow_Tabs</a:t>
            </a:r>
            <a:r>
              <a:rPr lang="en-US"/>
              <a:t>]</a:t>
            </a:r>
          </a:p>
          <a:p>
            <a:r>
              <a:rPr lang="en-US"/>
              <a:t>int Doc_Size</a:t>
            </a:r>
          </a:p>
          <a:p>
            <a:r>
              <a:rPr lang="en-US"/>
              <a:t>int CodeMigrations</a:t>
            </a:r>
          </a:p>
          <a:p>
            <a:r>
              <a:rPr lang="en-US" b="1">
                <a:solidFill>
                  <a:srgbClr val="FFFF00"/>
                </a:solidFill>
              </a:rPr>
              <a:t>Flow_Tabs</a:t>
            </a:r>
            <a:r>
              <a:rPr lang="en-US"/>
              <a:t> </a:t>
            </a:r>
            <a:r>
              <a:rPr lang="en-US" b="1"/>
              <a:t>Flow_Tabs</a:t>
            </a:r>
            <a:r>
              <a:rPr lang="en-US"/>
              <a:t> { get; set; }</a:t>
            </a:r>
          </a:p>
        </p:txBody>
      </p:sp>
      <p:pic>
        <p:nvPicPr>
          <p:cNvPr id="5" name="Picture 4">
            <a:extLst>
              <a:ext uri="{FF2B5EF4-FFF2-40B4-BE49-F238E27FC236}">
                <a16:creationId xmlns:a16="http://schemas.microsoft.com/office/drawing/2014/main" id="{B81ABBF4-4DE2-69F2-4FA8-6F6B13D52F6E}"/>
              </a:ext>
            </a:extLst>
          </p:cNvPr>
          <p:cNvPicPr>
            <a:picLocks noChangeAspect="1"/>
          </p:cNvPicPr>
          <p:nvPr/>
        </p:nvPicPr>
        <p:blipFill>
          <a:blip r:embed="rId2"/>
          <a:stretch>
            <a:fillRect/>
          </a:stretch>
        </p:blipFill>
        <p:spPr>
          <a:xfrm>
            <a:off x="5860026" y="855407"/>
            <a:ext cx="6331973" cy="3067664"/>
          </a:xfrm>
          <a:prstGeom prst="rect">
            <a:avLst/>
          </a:prstGeom>
        </p:spPr>
      </p:pic>
    </p:spTree>
    <p:extLst>
      <p:ext uri="{BB962C8B-B14F-4D97-AF65-F5344CB8AC3E}">
        <p14:creationId xmlns:p14="http://schemas.microsoft.com/office/powerpoint/2010/main" val="377910514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A5087-120E-1526-354F-040FF51B1973}"/>
              </a:ext>
            </a:extLst>
          </p:cNvPr>
          <p:cNvSpPr>
            <a:spLocks noGrp="1"/>
          </p:cNvSpPr>
          <p:nvPr>
            <p:ph type="title"/>
          </p:nvPr>
        </p:nvSpPr>
        <p:spPr>
          <a:xfrm>
            <a:off x="982621" y="0"/>
            <a:ext cx="10353762" cy="629265"/>
          </a:xfrm>
        </p:spPr>
        <p:txBody>
          <a:bodyPr>
            <a:normAutofit fontScale="90000"/>
          </a:bodyPr>
          <a:lstStyle/>
          <a:p>
            <a:r>
              <a:rPr lang="en-US" b="1">
                <a:solidFill>
                  <a:srgbClr val="FFFF00"/>
                </a:solidFill>
              </a:rPr>
              <a:t>TWF.</a:t>
            </a:r>
            <a:r>
              <a:rPr lang="en-US" b="1">
                <a:solidFill>
                  <a:srgbClr val="FF0000"/>
                </a:solidFill>
              </a:rPr>
              <a:t>Flow_MandatoryDoc</a:t>
            </a:r>
          </a:p>
        </p:txBody>
      </p:sp>
      <p:sp>
        <p:nvSpPr>
          <p:cNvPr id="3" name="Content Placeholder 2">
            <a:extLst>
              <a:ext uri="{FF2B5EF4-FFF2-40B4-BE49-F238E27FC236}">
                <a16:creationId xmlns:a16="http://schemas.microsoft.com/office/drawing/2014/main" id="{C429E1AA-2619-A85E-6C32-D37624DDD1F4}"/>
              </a:ext>
            </a:extLst>
          </p:cNvPr>
          <p:cNvSpPr>
            <a:spLocks noGrp="1"/>
          </p:cNvSpPr>
          <p:nvPr>
            <p:ph idx="1"/>
          </p:nvPr>
        </p:nvSpPr>
        <p:spPr>
          <a:xfrm>
            <a:off x="157316" y="629265"/>
            <a:ext cx="11798710" cy="6017341"/>
          </a:xfrm>
        </p:spPr>
        <p:txBody>
          <a:bodyPr/>
          <a:lstStyle/>
          <a:p>
            <a:r>
              <a:rPr lang="en-US"/>
              <a:t>MD_code: int , PK</a:t>
            </a:r>
          </a:p>
          <a:p>
            <a:r>
              <a:rPr lang="en-US"/>
              <a:t>MD_code_identity: int, identity</a:t>
            </a:r>
          </a:p>
          <a:p>
            <a:r>
              <a:rPr lang="en-US"/>
              <a:t>product_Id: int [FK]</a:t>
            </a:r>
          </a:p>
          <a:p>
            <a:r>
              <a:rPr lang="en-US"/>
              <a:t>Document_Id: int, [ </a:t>
            </a:r>
            <a:r>
              <a:rPr lang="en-US" b="1">
                <a:solidFill>
                  <a:srgbClr val="FFFF00"/>
                </a:solidFill>
              </a:rPr>
              <a:t>FK , from Flow_Types_documents</a:t>
            </a:r>
            <a:r>
              <a:rPr lang="en-US"/>
              <a:t>]</a:t>
            </a:r>
          </a:p>
          <a:p>
            <a:r>
              <a:rPr lang="en-US"/>
              <a:t>JobId: [FK, from Job]</a:t>
            </a:r>
          </a:p>
          <a:p>
            <a:r>
              <a:rPr lang="en-US"/>
              <a:t>Mandatory: bool</a:t>
            </a:r>
          </a:p>
          <a:p>
            <a:r>
              <a:rPr lang="en-US"/>
              <a:t>Loan_code: int</a:t>
            </a:r>
          </a:p>
          <a:p>
            <a:r>
              <a:rPr lang="en-US" b="1">
                <a:solidFill>
                  <a:srgbClr val="FFFF00"/>
                </a:solidFill>
              </a:rPr>
              <a:t>Flow_Types_documents </a:t>
            </a:r>
            <a:r>
              <a:rPr lang="en-US"/>
              <a:t>Flow_Types_documents</a:t>
            </a:r>
          </a:p>
        </p:txBody>
      </p:sp>
      <p:pic>
        <p:nvPicPr>
          <p:cNvPr id="5" name="Picture 4">
            <a:extLst>
              <a:ext uri="{FF2B5EF4-FFF2-40B4-BE49-F238E27FC236}">
                <a16:creationId xmlns:a16="http://schemas.microsoft.com/office/drawing/2014/main" id="{8489A430-2784-4BB6-B783-97EA53266509}"/>
              </a:ext>
            </a:extLst>
          </p:cNvPr>
          <p:cNvPicPr>
            <a:picLocks noChangeAspect="1"/>
          </p:cNvPicPr>
          <p:nvPr/>
        </p:nvPicPr>
        <p:blipFill>
          <a:blip r:embed="rId2"/>
          <a:stretch>
            <a:fillRect/>
          </a:stretch>
        </p:blipFill>
        <p:spPr>
          <a:xfrm>
            <a:off x="7092636" y="983226"/>
            <a:ext cx="4863390" cy="2268794"/>
          </a:xfrm>
          <a:prstGeom prst="rect">
            <a:avLst/>
          </a:prstGeom>
        </p:spPr>
      </p:pic>
    </p:spTree>
    <p:extLst>
      <p:ext uri="{BB962C8B-B14F-4D97-AF65-F5344CB8AC3E}">
        <p14:creationId xmlns:p14="http://schemas.microsoft.com/office/powerpoint/2010/main" val="349284284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5F5B-4E20-1201-6089-1A9CF4932F6B}"/>
              </a:ext>
            </a:extLst>
          </p:cNvPr>
          <p:cNvSpPr>
            <a:spLocks noGrp="1"/>
          </p:cNvSpPr>
          <p:nvPr>
            <p:ph type="title"/>
          </p:nvPr>
        </p:nvSpPr>
        <p:spPr>
          <a:xfrm>
            <a:off x="0" y="0"/>
            <a:ext cx="12191999" cy="501445"/>
          </a:xfrm>
        </p:spPr>
        <p:txBody>
          <a:bodyPr>
            <a:noAutofit/>
          </a:bodyPr>
          <a:lstStyle/>
          <a:p>
            <a:r>
              <a:rPr lang="en-US" sz="3200" b="1">
                <a:solidFill>
                  <a:srgbClr val="FFFF00"/>
                </a:solidFill>
              </a:rPr>
              <a:t>TWF</a:t>
            </a:r>
            <a:r>
              <a:rPr lang="en-US" sz="3200"/>
              <a:t>.</a:t>
            </a:r>
            <a:r>
              <a:rPr lang="en-US" sz="3200" b="1">
                <a:solidFill>
                  <a:srgbClr val="FF0000"/>
                </a:solidFill>
              </a:rPr>
              <a:t>TWF_Download </a:t>
            </a:r>
            <a:r>
              <a:rPr lang="en-US" sz="3200"/>
              <a:t>DB table,  </a:t>
            </a:r>
            <a:r>
              <a:rPr lang="en-US" sz="3200" b="1">
                <a:solidFill>
                  <a:srgbClr val="FF0000"/>
                </a:solidFill>
              </a:rPr>
              <a:t>Flow_Download class</a:t>
            </a:r>
          </a:p>
        </p:txBody>
      </p:sp>
      <p:sp>
        <p:nvSpPr>
          <p:cNvPr id="3" name="Content Placeholder 2">
            <a:extLst>
              <a:ext uri="{FF2B5EF4-FFF2-40B4-BE49-F238E27FC236}">
                <a16:creationId xmlns:a16="http://schemas.microsoft.com/office/drawing/2014/main" id="{BB2E0050-4170-B371-2990-5CE3888D2274}"/>
              </a:ext>
            </a:extLst>
          </p:cNvPr>
          <p:cNvSpPr>
            <a:spLocks noGrp="1"/>
          </p:cNvSpPr>
          <p:nvPr>
            <p:ph idx="1"/>
          </p:nvPr>
        </p:nvSpPr>
        <p:spPr>
          <a:xfrm>
            <a:off x="88490" y="580103"/>
            <a:ext cx="11946194" cy="6135329"/>
          </a:xfrm>
        </p:spPr>
        <p:txBody>
          <a:bodyPr/>
          <a:lstStyle/>
          <a:p>
            <a:endParaRPr lang="en-US"/>
          </a:p>
          <a:p>
            <a:r>
              <a:rPr lang="en-US"/>
              <a:t>Id_Down: </a:t>
            </a:r>
            <a:r>
              <a:rPr lang="en-US" b="1">
                <a:solidFill>
                  <a:srgbClr val="FFFF00"/>
                </a:solidFill>
              </a:rPr>
              <a:t>decimal</a:t>
            </a:r>
            <a:r>
              <a:rPr lang="en-US"/>
              <a:t>, [ PK, identity ] </a:t>
            </a:r>
          </a:p>
          <a:p>
            <a:r>
              <a:rPr lang="en-US"/>
              <a:t>Screen_name: string</a:t>
            </a:r>
          </a:p>
          <a:p>
            <a:r>
              <a:rPr lang="en-US"/>
              <a:t>Doc_id: string</a:t>
            </a:r>
          </a:p>
          <a:p>
            <a:r>
              <a:rPr lang="en-US"/>
              <a:t>RequestID: string </a:t>
            </a:r>
          </a:p>
          <a:p>
            <a:r>
              <a:rPr lang="en-US"/>
              <a:t>Field_ID: int?</a:t>
            </a:r>
          </a:p>
          <a:p>
            <a:r>
              <a:rPr lang="en-US"/>
              <a:t>Bus_Date: DateTime</a:t>
            </a:r>
          </a:p>
          <a:p>
            <a:r>
              <a:rPr lang="en-US"/>
              <a:t>Uploaded_Date: DateTime?</a:t>
            </a:r>
          </a:p>
          <a:p>
            <a:pPr marL="36900" indent="0">
              <a:buNone/>
            </a:pPr>
            <a:endParaRPr lang="en-US"/>
          </a:p>
          <a:p>
            <a:r>
              <a:rPr lang="en-US" sz="2400" b="1">
                <a:solidFill>
                  <a:srgbClr val="FFFF00"/>
                </a:solidFill>
              </a:rPr>
              <a:t>After </a:t>
            </a:r>
            <a:r>
              <a:rPr lang="ar-EG" sz="2400" b="1">
                <a:solidFill>
                  <a:srgbClr val="FFFF00"/>
                </a:solidFill>
              </a:rPr>
              <a:t>حفظ مستندات </a:t>
            </a:r>
            <a:r>
              <a:rPr lang="en-US" sz="2400" b="1">
                <a:solidFill>
                  <a:srgbClr val="FFFF00"/>
                </a:solidFill>
              </a:rPr>
              <a:t> via BM</a:t>
            </a:r>
          </a:p>
          <a:p>
            <a:endParaRPr lang="en-US"/>
          </a:p>
          <a:p>
            <a:endParaRPr lang="en-US"/>
          </a:p>
          <a:p>
            <a:endParaRPr lang="en-US"/>
          </a:p>
        </p:txBody>
      </p:sp>
      <p:pic>
        <p:nvPicPr>
          <p:cNvPr id="9" name="Picture 8">
            <a:extLst>
              <a:ext uri="{FF2B5EF4-FFF2-40B4-BE49-F238E27FC236}">
                <a16:creationId xmlns:a16="http://schemas.microsoft.com/office/drawing/2014/main" id="{69259868-5352-EF66-A3B6-D60524AEBCEB}"/>
              </a:ext>
            </a:extLst>
          </p:cNvPr>
          <p:cNvPicPr>
            <a:picLocks noChangeAspect="1"/>
          </p:cNvPicPr>
          <p:nvPr/>
        </p:nvPicPr>
        <p:blipFill>
          <a:blip r:embed="rId2"/>
          <a:stretch>
            <a:fillRect/>
          </a:stretch>
        </p:blipFill>
        <p:spPr>
          <a:xfrm>
            <a:off x="157316" y="5046998"/>
            <a:ext cx="10037656" cy="623755"/>
          </a:xfrm>
          <a:prstGeom prst="rect">
            <a:avLst/>
          </a:prstGeom>
        </p:spPr>
      </p:pic>
    </p:spTree>
    <p:extLst>
      <p:ext uri="{BB962C8B-B14F-4D97-AF65-F5344CB8AC3E}">
        <p14:creationId xmlns:p14="http://schemas.microsoft.com/office/powerpoint/2010/main" val="313531615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95F19-F715-1ADD-4B01-6503DE048E21}"/>
              </a:ext>
            </a:extLst>
          </p:cNvPr>
          <p:cNvSpPr>
            <a:spLocks noGrp="1"/>
          </p:cNvSpPr>
          <p:nvPr>
            <p:ph type="title"/>
          </p:nvPr>
        </p:nvSpPr>
        <p:spPr>
          <a:xfrm>
            <a:off x="913795" y="0"/>
            <a:ext cx="10353762" cy="629265"/>
          </a:xfrm>
        </p:spPr>
        <p:txBody>
          <a:bodyPr>
            <a:normAutofit fontScale="90000"/>
          </a:bodyPr>
          <a:lstStyle/>
          <a:p>
            <a:r>
              <a:rPr lang="en-US" b="1">
                <a:solidFill>
                  <a:srgbClr val="FF0000"/>
                </a:solidFill>
              </a:rPr>
              <a:t>documentsFiles</a:t>
            </a:r>
          </a:p>
        </p:txBody>
      </p:sp>
      <p:sp>
        <p:nvSpPr>
          <p:cNvPr id="3" name="Content Placeholder 2">
            <a:extLst>
              <a:ext uri="{FF2B5EF4-FFF2-40B4-BE49-F238E27FC236}">
                <a16:creationId xmlns:a16="http://schemas.microsoft.com/office/drawing/2014/main" id="{E03E406F-7ED5-97F2-D282-BEDA9AC4DFEE}"/>
              </a:ext>
            </a:extLst>
          </p:cNvPr>
          <p:cNvSpPr>
            <a:spLocks noGrp="1"/>
          </p:cNvSpPr>
          <p:nvPr>
            <p:ph idx="1"/>
          </p:nvPr>
        </p:nvSpPr>
        <p:spPr>
          <a:xfrm>
            <a:off x="98323" y="629265"/>
            <a:ext cx="11169234" cy="5928851"/>
          </a:xfrm>
        </p:spPr>
        <p:txBody>
          <a:bodyPr>
            <a:normAutofit/>
          </a:bodyPr>
          <a:lstStyle/>
          <a:p>
            <a:r>
              <a:rPr lang="en-US"/>
              <a:t>This class is filled via </a:t>
            </a:r>
            <a:r>
              <a:rPr lang="en-US" b="1">
                <a:solidFill>
                  <a:srgbClr val="00B0F0"/>
                </a:solidFill>
              </a:rPr>
              <a:t>Documents uploading </a:t>
            </a:r>
            <a:r>
              <a:rPr lang="en-US" b="1">
                <a:solidFill>
                  <a:srgbClr val="FFC000"/>
                </a:solidFill>
              </a:rPr>
              <a:t>when user click on </a:t>
            </a:r>
            <a:r>
              <a:rPr lang="ar-EG" b="1">
                <a:solidFill>
                  <a:srgbClr val="FFC000"/>
                </a:solidFill>
              </a:rPr>
              <a:t>حفظ المستندات</a:t>
            </a:r>
            <a:endParaRPr lang="en-US" b="1">
              <a:solidFill>
                <a:srgbClr val="FFC000"/>
              </a:solidFill>
            </a:endParaRPr>
          </a:p>
          <a:p>
            <a:pPr marL="36900" indent="0">
              <a:buNone/>
            </a:pPr>
            <a:r>
              <a:rPr lang="en-US" sz="1800"/>
              <a:t>[NotMapped]</a:t>
            </a:r>
          </a:p>
          <a:p>
            <a:pPr marL="36900" indent="0">
              <a:buNone/>
            </a:pPr>
            <a:r>
              <a:rPr lang="en-US" sz="1800"/>
              <a:t>public class </a:t>
            </a:r>
            <a:r>
              <a:rPr lang="en-US" sz="1800" b="1">
                <a:solidFill>
                  <a:srgbClr val="00B0F0"/>
                </a:solidFill>
              </a:rPr>
              <a:t>documentsFiles</a:t>
            </a:r>
          </a:p>
          <a:p>
            <a:pPr marL="36900" indent="0">
              <a:buNone/>
            </a:pPr>
            <a:r>
              <a:rPr lang="en-US" sz="1800"/>
              <a:t>{</a:t>
            </a:r>
          </a:p>
          <a:p>
            <a:pPr marL="36900" indent="0">
              <a:buNone/>
            </a:pPr>
            <a:r>
              <a:rPr lang="en-US" sz="1800"/>
              <a:t>    public int? Document_Id { get; set; }</a:t>
            </a:r>
          </a:p>
          <a:p>
            <a:pPr marL="36900" indent="0">
              <a:buNone/>
            </a:pPr>
            <a:r>
              <a:rPr lang="en-US" sz="1800"/>
              <a:t>    public string DocId { get; set; }</a:t>
            </a:r>
          </a:p>
          <a:p>
            <a:pPr marL="36900" indent="0">
              <a:buNone/>
            </a:pPr>
            <a:r>
              <a:rPr lang="en-US" sz="1800"/>
              <a:t>    public DateTime Bus_Date { get; set; }</a:t>
            </a:r>
          </a:p>
          <a:p>
            <a:pPr marL="36900" indent="0">
              <a:buNone/>
            </a:pPr>
            <a:r>
              <a:rPr lang="en-US" sz="1800"/>
              <a:t>    public string Screen_name { get; set; }</a:t>
            </a:r>
          </a:p>
          <a:p>
            <a:pPr marL="36900" indent="0">
              <a:buNone/>
            </a:pPr>
            <a:r>
              <a:rPr lang="en-US" sz="1800"/>
              <a:t>    public DateTime? Uploaded_Date { get; set; }</a:t>
            </a:r>
          </a:p>
          <a:p>
            <a:pPr marL="36900" indent="0">
              <a:buNone/>
            </a:pPr>
            <a:r>
              <a:rPr lang="en-US" sz="1800"/>
              <a:t>}</a:t>
            </a:r>
          </a:p>
        </p:txBody>
      </p:sp>
    </p:spTree>
    <p:extLst>
      <p:ext uri="{BB962C8B-B14F-4D97-AF65-F5344CB8AC3E}">
        <p14:creationId xmlns:p14="http://schemas.microsoft.com/office/powerpoint/2010/main" val="24020999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39BE8-4168-3CF7-1651-9D2FA130721C}"/>
              </a:ext>
            </a:extLst>
          </p:cNvPr>
          <p:cNvSpPr>
            <a:spLocks noGrp="1"/>
          </p:cNvSpPr>
          <p:nvPr>
            <p:ph type="title"/>
          </p:nvPr>
        </p:nvSpPr>
        <p:spPr>
          <a:xfrm>
            <a:off x="913795" y="0"/>
            <a:ext cx="10353762" cy="855406"/>
          </a:xfrm>
        </p:spPr>
        <p:txBody>
          <a:bodyPr/>
          <a:lstStyle/>
          <a:p>
            <a:r>
              <a:rPr lang="en-US"/>
              <a:t>to know how to GET request docs</a:t>
            </a:r>
          </a:p>
        </p:txBody>
      </p:sp>
      <p:sp>
        <p:nvSpPr>
          <p:cNvPr id="3" name="Content Placeholder 2">
            <a:extLst>
              <a:ext uri="{FF2B5EF4-FFF2-40B4-BE49-F238E27FC236}">
                <a16:creationId xmlns:a16="http://schemas.microsoft.com/office/drawing/2014/main" id="{6C0400AD-0C20-ED6F-15E1-BE9D20F1165E}"/>
              </a:ext>
            </a:extLst>
          </p:cNvPr>
          <p:cNvSpPr>
            <a:spLocks noGrp="1"/>
          </p:cNvSpPr>
          <p:nvPr>
            <p:ph idx="1"/>
          </p:nvPr>
        </p:nvSpPr>
        <p:spPr>
          <a:xfrm>
            <a:off x="0" y="1732449"/>
            <a:ext cx="12192000" cy="4570028"/>
          </a:xfrm>
        </p:spPr>
        <p:txBody>
          <a:bodyPr>
            <a:normAutofit/>
          </a:bodyPr>
          <a:lstStyle/>
          <a:p>
            <a:r>
              <a:rPr lang="en-US" sz="1600">
                <a:solidFill>
                  <a:srgbClr val="00B0F0"/>
                </a:solidFill>
              </a:rPr>
              <a:t>IQueryable</a:t>
            </a:r>
            <a:r>
              <a:rPr lang="en-US" sz="1600"/>
              <a:t>&lt;</a:t>
            </a:r>
            <a:r>
              <a:rPr lang="en-US" sz="1600" b="1">
                <a:solidFill>
                  <a:srgbClr val="92D050"/>
                </a:solidFill>
              </a:rPr>
              <a:t>JoinMandatoryDocAndTypeDocuments</a:t>
            </a:r>
            <a:r>
              <a:rPr lang="en-US" sz="1600"/>
              <a:t>&gt; </a:t>
            </a:r>
            <a:r>
              <a:rPr lang="en-US" sz="1600" b="1">
                <a:solidFill>
                  <a:srgbClr val="FFFF00"/>
                </a:solidFill>
              </a:rPr>
              <a:t>GetAllUploadedDocumentsFunding</a:t>
            </a:r>
            <a:r>
              <a:rPr lang="en-US" sz="1600"/>
              <a:t>( </a:t>
            </a:r>
            <a:r>
              <a:rPr lang="en-US" sz="1600" b="1"/>
              <a:t>product_Id, jobId, Request_id </a:t>
            </a:r>
            <a:r>
              <a:rPr lang="en-US" sz="1600"/>
              <a:t>);</a:t>
            </a:r>
          </a:p>
          <a:p>
            <a:pPr lvl="1"/>
            <a:r>
              <a:rPr lang="en-US" sz="1600"/>
              <a:t>Invoked within </a:t>
            </a:r>
            <a:r>
              <a:rPr lang="en-US" sz="1600" b="1">
                <a:solidFill>
                  <a:srgbClr val="FFFF00"/>
                </a:solidFill>
              </a:rPr>
              <a:t>Flow_Funding_dataService //</a:t>
            </a:r>
            <a:endParaRPr lang="en-US" sz="1500" b="1">
              <a:solidFill>
                <a:srgbClr val="FFFF00"/>
              </a:solidFill>
            </a:endParaRPr>
          </a:p>
          <a:p>
            <a:pPr lvl="1"/>
            <a:r>
              <a:rPr lang="en-US" sz="1400" b="1">
                <a:solidFill>
                  <a:srgbClr val="00B0F0"/>
                </a:solidFill>
              </a:rPr>
              <a:t>Funding_request</a:t>
            </a:r>
            <a:r>
              <a:rPr lang="en-US" sz="1400"/>
              <a:t>.</a:t>
            </a:r>
            <a:r>
              <a:rPr lang="en-US" sz="1400" b="1"/>
              <a:t>Documents</a:t>
            </a:r>
            <a:r>
              <a:rPr lang="en-US" sz="1400"/>
              <a:t> = _</a:t>
            </a:r>
            <a:r>
              <a:rPr lang="en-US" sz="1400" b="1">
                <a:solidFill>
                  <a:srgbClr val="00B0F0"/>
                </a:solidFill>
              </a:rPr>
              <a:t>DownloadService</a:t>
            </a:r>
            <a:r>
              <a:rPr lang="en-US" sz="1400"/>
              <a:t>.</a:t>
            </a:r>
            <a:r>
              <a:rPr lang="en-US" sz="1400" b="1">
                <a:solidFill>
                  <a:srgbClr val="FFFF00"/>
                </a:solidFill>
              </a:rPr>
              <a:t>GetAllDocumentsFunding</a:t>
            </a:r>
            <a:r>
              <a:rPr lang="en-US" sz="1400"/>
              <a:t>(Funding_request.product_Id, Scr_DefCode, Request_id.ToString());</a:t>
            </a:r>
          </a:p>
          <a:p>
            <a:endParaRPr lang="en-US" sz="1600"/>
          </a:p>
        </p:txBody>
      </p:sp>
    </p:spTree>
    <p:extLst>
      <p:ext uri="{BB962C8B-B14F-4D97-AF65-F5344CB8AC3E}">
        <p14:creationId xmlns:p14="http://schemas.microsoft.com/office/powerpoint/2010/main" val="127860950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9D0E7-1EE1-66CD-1282-86B731225AB5}"/>
              </a:ext>
            </a:extLst>
          </p:cNvPr>
          <p:cNvSpPr>
            <a:spLocks noGrp="1"/>
          </p:cNvSpPr>
          <p:nvPr>
            <p:ph type="title"/>
          </p:nvPr>
        </p:nvSpPr>
        <p:spPr>
          <a:xfrm>
            <a:off x="913795" y="609599"/>
            <a:ext cx="10353762" cy="3460955"/>
          </a:xfrm>
        </p:spPr>
        <p:txBody>
          <a:bodyPr/>
          <a:lstStyle/>
          <a:p>
            <a:r>
              <a:rPr lang="en-US" b="1">
                <a:solidFill>
                  <a:srgbClr val="FF0000"/>
                </a:solidFill>
              </a:rPr>
              <a:t>END DOCS</a:t>
            </a:r>
          </a:p>
        </p:txBody>
      </p:sp>
    </p:spTree>
    <p:extLst>
      <p:ext uri="{BB962C8B-B14F-4D97-AF65-F5344CB8AC3E}">
        <p14:creationId xmlns:p14="http://schemas.microsoft.com/office/powerpoint/2010/main" val="49802608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422787" y="511277"/>
            <a:ext cx="11444748" cy="6154994"/>
          </a:xfrm>
        </p:spPr>
        <p:txBody>
          <a:bodyPr/>
          <a:lstStyle/>
          <a:p>
            <a:endParaRPr lang="en-US"/>
          </a:p>
          <a:p>
            <a:endParaRPr lang="en-US"/>
          </a:p>
          <a:p>
            <a:endParaRPr lang="en-US"/>
          </a:p>
          <a:p>
            <a:endParaRPr lang="en-US"/>
          </a:p>
          <a:p>
            <a:endParaRPr lang="en-US"/>
          </a:p>
          <a:p>
            <a:endParaRPr lang="en-US"/>
          </a:p>
          <a:p>
            <a:r>
              <a:rPr lang="en-US"/>
              <a:t>Loan officer login: 10100 , P@ssw0rd </a:t>
            </a:r>
          </a:p>
          <a:p>
            <a:endParaRPr lang="en-US"/>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1864116830"/>
              </p:ext>
            </p:extLst>
          </p:nvPr>
        </p:nvGraphicFramePr>
        <p:xfrm>
          <a:off x="628222" y="679654"/>
          <a:ext cx="8127999" cy="222504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pPr algn="ctr"/>
                      <a:r>
                        <a:rPr lang="en-US" b="1"/>
                        <a:t>Loan officer (LO) </a:t>
                      </a:r>
                      <a:r>
                        <a:rPr lang="ar-EG" b="1"/>
                        <a:t>مسؤول تمويل</a:t>
                      </a:r>
                      <a:endParaRPr lang="en-US" b="1"/>
                    </a:p>
                  </a:txBody>
                  <a:tcPr/>
                </a:tc>
                <a:tc>
                  <a:txBody>
                    <a:bodyPr/>
                    <a:lstStyle/>
                    <a:p>
                      <a:pPr algn="ctr"/>
                      <a:r>
                        <a:rPr lang="en-US" b="1"/>
                        <a:t>10</a:t>
                      </a:r>
                    </a:p>
                  </a:txBody>
                  <a:tcPr/>
                </a:tc>
                <a:tc>
                  <a:txBody>
                    <a:bodyPr/>
                    <a:lstStyle/>
                    <a:p>
                      <a:pPr algn="ctr"/>
                      <a:r>
                        <a:rPr lang="en-US" b="1"/>
                        <a:t>0</a:t>
                      </a:r>
                    </a:p>
                  </a:txBody>
                  <a:tcPr/>
                </a:tc>
                <a:extLst>
                  <a:ext uri="{0D108BD9-81ED-4DB2-BD59-A6C34878D82A}">
                    <a16:rowId xmlns:a16="http://schemas.microsoft.com/office/drawing/2014/main" val="2991341697"/>
                  </a:ext>
                </a:extLst>
              </a:tr>
              <a:tr h="370840">
                <a:tc>
                  <a:txBody>
                    <a:bodyPr/>
                    <a:lstStyle/>
                    <a:p>
                      <a:pPr algn="ctr"/>
                      <a:r>
                        <a:rPr lang="en-US" b="1"/>
                        <a:t>Branch Manager </a:t>
                      </a:r>
                      <a:r>
                        <a:rPr lang="ar-EG" b="1"/>
                        <a:t>مدير فرع</a:t>
                      </a:r>
                      <a:endParaRPr lang="en-US" b="1"/>
                    </a:p>
                  </a:txBody>
                  <a:tcPr/>
                </a:tc>
                <a:tc>
                  <a:txBody>
                    <a:bodyPr/>
                    <a:lstStyle/>
                    <a:p>
                      <a:pPr algn="ctr"/>
                      <a:r>
                        <a:rPr lang="en-US" b="1"/>
                        <a:t>13</a:t>
                      </a:r>
                    </a:p>
                  </a:txBody>
                  <a:tcPr/>
                </a:tc>
                <a:tc>
                  <a:txBody>
                    <a:bodyPr/>
                    <a:lstStyle/>
                    <a:p>
                      <a:pPr algn="ctr"/>
                      <a:r>
                        <a:rPr lang="en-US" b="1"/>
                        <a:t>3</a:t>
                      </a:r>
                    </a:p>
                  </a:txBody>
                  <a:tcPr/>
                </a:tc>
                <a:extLst>
                  <a:ext uri="{0D108BD9-81ED-4DB2-BD59-A6C34878D82A}">
                    <a16:rowId xmlns:a16="http://schemas.microsoft.com/office/drawing/2014/main" val="3437649632"/>
                  </a:ext>
                </a:extLst>
              </a:tr>
              <a:tr h="370840">
                <a:tc>
                  <a:txBody>
                    <a:bodyPr/>
                    <a:lstStyle/>
                    <a:p>
                      <a:pPr algn="ctr"/>
                      <a:r>
                        <a:rPr lang="en-US" b="1"/>
                        <a:t>Teller (money man) </a:t>
                      </a:r>
                      <a:r>
                        <a:rPr lang="ar-EG" b="1"/>
                        <a:t>صراف</a:t>
                      </a:r>
                      <a:endParaRPr lang="en-US" b="1"/>
                    </a:p>
                  </a:txBody>
                  <a:tcPr/>
                </a:tc>
                <a:tc>
                  <a:txBody>
                    <a:bodyPr/>
                    <a:lstStyle/>
                    <a:p>
                      <a:pPr algn="ctr"/>
                      <a:r>
                        <a:rPr lang="en-US" b="1"/>
                        <a:t>12</a:t>
                      </a:r>
                    </a:p>
                  </a:txBody>
                  <a:tcPr/>
                </a:tc>
                <a:tc>
                  <a:txBody>
                    <a:bodyPr/>
                    <a:lstStyle/>
                    <a:p>
                      <a:pPr algn="ctr"/>
                      <a:r>
                        <a:rPr lang="ar-EG" b="1"/>
                        <a:t>2</a:t>
                      </a:r>
                      <a:endParaRPr lang="en-US" b="1"/>
                    </a:p>
                  </a:txBody>
                  <a:tcPr/>
                </a:tc>
                <a:extLst>
                  <a:ext uri="{0D108BD9-81ED-4DB2-BD59-A6C34878D82A}">
                    <a16:rowId xmlns:a16="http://schemas.microsoft.com/office/drawing/2014/main" val="4123986371"/>
                  </a:ext>
                </a:extLst>
              </a:tr>
              <a:tr h="370840">
                <a:tc>
                  <a:txBody>
                    <a:bodyPr/>
                    <a:lstStyle/>
                    <a:p>
                      <a:pPr algn="ctr"/>
                      <a:r>
                        <a:rPr lang="en-US" b="1"/>
                        <a:t>CO</a:t>
                      </a:r>
                    </a:p>
                  </a:txBody>
                  <a:tcPr/>
                </a:tc>
                <a:tc>
                  <a:txBody>
                    <a:bodyPr/>
                    <a:lstStyle/>
                    <a:p>
                      <a:pPr algn="ctr"/>
                      <a:r>
                        <a:rPr lang="en-US" b="1"/>
                        <a:t>1</a:t>
                      </a:r>
                    </a:p>
                  </a:txBody>
                  <a:tcPr/>
                </a:tc>
                <a:tc>
                  <a:txBody>
                    <a:bodyPr/>
                    <a:lstStyle/>
                    <a:p>
                      <a:pPr algn="ctr"/>
                      <a:r>
                        <a:rPr lang="en-US" b="1"/>
                        <a:t>1</a:t>
                      </a:r>
                    </a:p>
                  </a:txBody>
                  <a:tcPr/>
                </a:tc>
                <a:extLst>
                  <a:ext uri="{0D108BD9-81ED-4DB2-BD59-A6C34878D82A}">
                    <a16:rowId xmlns:a16="http://schemas.microsoft.com/office/drawing/2014/main" val="1665867047"/>
                  </a:ext>
                </a:extLst>
              </a:tr>
              <a:tr h="370840">
                <a:tc>
                  <a:txBody>
                    <a:bodyPr/>
                    <a:lstStyle/>
                    <a:p>
                      <a:pPr algn="ctr"/>
                      <a:r>
                        <a:rPr lang="en-US" b="1"/>
                        <a:t>District Manager</a:t>
                      </a:r>
                    </a:p>
                  </a:txBody>
                  <a:tcPr/>
                </a:tc>
                <a:tc>
                  <a:txBody>
                    <a:bodyPr/>
                    <a:lstStyle/>
                    <a:p>
                      <a:pPr algn="ctr"/>
                      <a:r>
                        <a:rPr lang="en-US" b="1"/>
                        <a:t>24</a:t>
                      </a:r>
                    </a:p>
                  </a:txBody>
                  <a:tcPr/>
                </a:tc>
                <a:tc>
                  <a:txBody>
                    <a:bodyPr/>
                    <a:lstStyle/>
                    <a:p>
                      <a:pPr algn="ctr"/>
                      <a:r>
                        <a:rPr lang="en-US" b="1"/>
                        <a:t>15</a:t>
                      </a:r>
                    </a:p>
                  </a:txBody>
                  <a:tcPr/>
                </a:tc>
                <a:extLst>
                  <a:ext uri="{0D108BD9-81ED-4DB2-BD59-A6C34878D82A}">
                    <a16:rowId xmlns:a16="http://schemas.microsoft.com/office/drawing/2014/main" val="2365514450"/>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A36E8-0A11-4BB0-DC67-48119329A896}"/>
              </a:ext>
            </a:extLst>
          </p:cNvPr>
          <p:cNvSpPr>
            <a:spLocks noGrp="1"/>
          </p:cNvSpPr>
          <p:nvPr>
            <p:ph type="title"/>
          </p:nvPr>
        </p:nvSpPr>
        <p:spPr>
          <a:xfrm>
            <a:off x="919119" y="1661651"/>
            <a:ext cx="10353762" cy="2349910"/>
          </a:xfrm>
        </p:spPr>
        <p:txBody>
          <a:bodyPr>
            <a:normAutofit/>
          </a:bodyPr>
          <a:lstStyle/>
          <a:p>
            <a:r>
              <a:rPr lang="en-US" sz="5400" b="1">
                <a:solidFill>
                  <a:srgbClr val="FF0000"/>
                </a:solidFill>
              </a:rPr>
              <a:t>Calculations</a:t>
            </a:r>
          </a:p>
        </p:txBody>
      </p:sp>
    </p:spTree>
    <p:extLst>
      <p:ext uri="{BB962C8B-B14F-4D97-AF65-F5344CB8AC3E}">
        <p14:creationId xmlns:p14="http://schemas.microsoft.com/office/powerpoint/2010/main" val="207840321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6B172-6F79-21DF-BBA0-6391BEE8545C}"/>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Financing_Amount, Approv_value</a:t>
            </a:r>
          </a:p>
        </p:txBody>
      </p:sp>
      <p:sp>
        <p:nvSpPr>
          <p:cNvPr id="3" name="Content Placeholder 2">
            <a:extLst>
              <a:ext uri="{FF2B5EF4-FFF2-40B4-BE49-F238E27FC236}">
                <a16:creationId xmlns:a16="http://schemas.microsoft.com/office/drawing/2014/main" id="{87CDA9DF-72C9-EE84-19B7-4E1E33920604}"/>
              </a:ext>
            </a:extLst>
          </p:cNvPr>
          <p:cNvSpPr>
            <a:spLocks noGrp="1"/>
          </p:cNvSpPr>
          <p:nvPr>
            <p:ph idx="1"/>
          </p:nvPr>
        </p:nvSpPr>
        <p:spPr>
          <a:xfrm>
            <a:off x="89451" y="586409"/>
            <a:ext cx="11996531" cy="6082748"/>
          </a:xfrm>
        </p:spPr>
        <p:txBody>
          <a:bodyPr/>
          <a:lstStyle/>
          <a:p>
            <a:r>
              <a:rPr lang="en-US" sz="1800" b="1">
                <a:solidFill>
                  <a:schemeClr val="tx1"/>
                </a:solidFill>
                <a:effectLst/>
              </a:rPr>
              <a:t>FinanceAmount_Approximation // From General Settting</a:t>
            </a:r>
          </a:p>
          <a:p>
            <a:r>
              <a:rPr lang="en-US" sz="1800" b="1">
                <a:solidFill>
                  <a:srgbClr val="FFFF00"/>
                </a:solidFill>
                <a:effectLst/>
              </a:rPr>
              <a:t>Financing_amount = Required_Amount</a:t>
            </a:r>
          </a:p>
          <a:p>
            <a:r>
              <a:rPr lang="en-US" sz="1800" b="1">
                <a:solidFill>
                  <a:srgbClr val="00B0F0"/>
                </a:solidFill>
                <a:effectLst/>
              </a:rPr>
              <a:t>The Calc: </a:t>
            </a:r>
          </a:p>
          <a:p>
            <a:r>
              <a:rPr lang="en-US" sz="1800" b="1">
                <a:solidFill>
                  <a:srgbClr val="FFFF00"/>
                </a:solidFill>
                <a:effectLst/>
              </a:rPr>
              <a:t>Let FinanceAmountBeforeApproximations</a:t>
            </a:r>
            <a:r>
              <a:rPr lang="en-US" sz="1800">
                <a:effectLst/>
              </a:rPr>
              <a:t>=	Math.</a:t>
            </a:r>
            <a:r>
              <a:rPr lang="en-US" sz="1800" b="1">
                <a:solidFill>
                  <a:srgbClr val="00B0F0"/>
                </a:solidFill>
                <a:effectLst/>
              </a:rPr>
              <a:t>floor</a:t>
            </a:r>
            <a:r>
              <a:rPr lang="en-US" sz="1800">
                <a:effectLst/>
              </a:rPr>
              <a:t>((</a:t>
            </a:r>
            <a:r>
              <a:rPr lang="en-US" sz="1800">
                <a:solidFill>
                  <a:srgbClr val="FFC000"/>
                </a:solidFill>
                <a:effectLst/>
              </a:rPr>
              <a:t>Financing_amount</a:t>
            </a:r>
            <a:r>
              <a:rPr lang="en-US" sz="1800">
                <a:effectLst/>
              </a:rPr>
              <a:t>*(1+this.ProductLayer.</a:t>
            </a:r>
            <a:r>
              <a:rPr lang="en-US" sz="1800">
                <a:solidFill>
                  <a:srgbClr val="FFFF00"/>
                </a:solidFill>
                <a:effectLst/>
              </a:rPr>
              <a:t>Ramping_Ratio</a:t>
            </a:r>
            <a:r>
              <a:rPr lang="en-US" sz="1800">
                <a:effectLst/>
              </a:rPr>
              <a:t>/100))+this.ProductLayer.</a:t>
            </a:r>
            <a:r>
              <a:rPr lang="en-US" sz="1800">
                <a:solidFill>
                  <a:srgbClr val="FFFF00"/>
                </a:solidFill>
                <a:effectLst/>
              </a:rPr>
              <a:t>Ramping_Amount</a:t>
            </a:r>
            <a:r>
              <a:rPr lang="en-US" sz="1800">
                <a:effectLst/>
              </a:rPr>
              <a:t>)</a:t>
            </a:r>
          </a:p>
          <a:p>
            <a:r>
              <a:rPr lang="en-US" sz="1800">
                <a:effectLst/>
              </a:rPr>
              <a:t>Financing_amount = </a:t>
            </a:r>
            <a:r>
              <a:rPr lang="en-US" sz="1600">
                <a:effectLst/>
              </a:rPr>
              <a:t>Math.</a:t>
            </a:r>
            <a:r>
              <a:rPr lang="en-US" sz="1600" b="1">
                <a:solidFill>
                  <a:srgbClr val="00B0F0"/>
                </a:solidFill>
                <a:effectLst/>
              </a:rPr>
              <a:t>ceil</a:t>
            </a:r>
            <a:r>
              <a:rPr lang="en-US" sz="1600">
                <a:effectLst/>
              </a:rPr>
              <a:t>(</a:t>
            </a:r>
            <a:r>
              <a:rPr lang="en-US" sz="1600" b="1">
                <a:solidFill>
                  <a:srgbClr val="FFC000"/>
                </a:solidFill>
                <a:effectLst/>
              </a:rPr>
              <a:t>FinanceAmountBeforeApproximations</a:t>
            </a:r>
            <a:r>
              <a:rPr lang="en-US" sz="1600">
                <a:effectLst/>
              </a:rPr>
              <a:t>/</a:t>
            </a:r>
            <a:r>
              <a:rPr lang="en-US" sz="1600" b="1">
                <a:solidFill>
                  <a:srgbClr val="FFFF00"/>
                </a:solidFill>
                <a:effectLst/>
              </a:rPr>
              <a:t>this</a:t>
            </a:r>
            <a:r>
              <a:rPr lang="en-US" sz="1600">
                <a:effectLst/>
              </a:rPr>
              <a:t>.</a:t>
            </a:r>
            <a:r>
              <a:rPr lang="en-US" sz="1600" b="1">
                <a:solidFill>
                  <a:srgbClr val="00B050"/>
                </a:solidFill>
                <a:effectLst/>
              </a:rPr>
              <a:t>FinanceAmount_Approximation</a:t>
            </a:r>
            <a:r>
              <a:rPr lang="en-US" sz="1600">
                <a:effectLst/>
              </a:rPr>
              <a:t>)*this.</a:t>
            </a:r>
            <a:r>
              <a:rPr lang="en-US" sz="1600" b="1">
                <a:solidFill>
                  <a:srgbClr val="00B050"/>
                </a:solidFill>
                <a:effectLst/>
              </a:rPr>
              <a:t>FinanceAmount_Approximation</a:t>
            </a:r>
            <a:r>
              <a:rPr lang="en-US" sz="1600">
                <a:effectLst/>
              </a:rPr>
              <a:t>;</a:t>
            </a:r>
            <a:r>
              <a:rPr lang="en-US" sz="1800">
                <a:effectLst/>
              </a:rPr>
              <a:t> </a:t>
            </a:r>
          </a:p>
          <a:p>
            <a:endParaRPr lang="en-US"/>
          </a:p>
        </p:txBody>
      </p:sp>
    </p:spTree>
    <p:extLst>
      <p:ext uri="{BB962C8B-B14F-4D97-AF65-F5344CB8AC3E}">
        <p14:creationId xmlns:p14="http://schemas.microsoft.com/office/powerpoint/2010/main" val="249562329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E0C3E-82D7-8B8B-E28A-565D5E279181}"/>
              </a:ext>
            </a:extLst>
          </p:cNvPr>
          <p:cNvSpPr>
            <a:spLocks noGrp="1"/>
          </p:cNvSpPr>
          <p:nvPr>
            <p:ph type="title"/>
          </p:nvPr>
        </p:nvSpPr>
        <p:spPr>
          <a:xfrm>
            <a:off x="993308" y="0"/>
            <a:ext cx="10353762" cy="655983"/>
          </a:xfrm>
        </p:spPr>
        <p:txBody>
          <a:bodyPr>
            <a:normAutofit fontScale="90000"/>
          </a:bodyPr>
          <a:lstStyle/>
          <a:p>
            <a:r>
              <a:rPr lang="en-US" b="1">
                <a:solidFill>
                  <a:srgbClr val="FFFF00"/>
                </a:solidFill>
              </a:rPr>
              <a:t>Actual Financing == Total_Amount</a:t>
            </a:r>
          </a:p>
        </p:txBody>
      </p:sp>
      <p:sp>
        <p:nvSpPr>
          <p:cNvPr id="3" name="Content Placeholder 2">
            <a:extLst>
              <a:ext uri="{FF2B5EF4-FFF2-40B4-BE49-F238E27FC236}">
                <a16:creationId xmlns:a16="http://schemas.microsoft.com/office/drawing/2014/main" id="{35E35886-63E0-7AEE-DDFF-6DC707B4B6B8}"/>
              </a:ext>
            </a:extLst>
          </p:cNvPr>
          <p:cNvSpPr>
            <a:spLocks noGrp="1"/>
          </p:cNvSpPr>
          <p:nvPr>
            <p:ph idx="1"/>
          </p:nvPr>
        </p:nvSpPr>
        <p:spPr>
          <a:xfrm>
            <a:off x="89452" y="655983"/>
            <a:ext cx="12026348" cy="6132443"/>
          </a:xfrm>
        </p:spPr>
        <p:txBody>
          <a:bodyPr>
            <a:normAutofit/>
          </a:bodyPr>
          <a:lstStyle/>
          <a:p>
            <a:r>
              <a:rPr lang="en-US"/>
              <a:t>repaymenyCycle = </a:t>
            </a:r>
            <a:r>
              <a:rPr lang="en-US">
                <a:effectLst/>
              </a:rPr>
              <a:t>Days_in_months * Repayment_period</a:t>
            </a:r>
          </a:p>
          <a:p>
            <a:r>
              <a:rPr lang="en-US" sz="2200" b="1">
                <a:solidFill>
                  <a:srgbClr val="FFFF00"/>
                </a:solidFill>
                <a:effectLst/>
              </a:rPr>
              <a:t>If  Product.Pricing_responsible == 0</a:t>
            </a:r>
          </a:p>
          <a:p>
            <a:pPr lvl="1"/>
            <a:r>
              <a:rPr lang="en-US" sz="1700">
                <a:effectLst/>
              </a:rPr>
              <a:t>FirstResult = </a:t>
            </a:r>
            <a:r>
              <a:rPr lang="en-US" sz="1700" b="1">
                <a:solidFill>
                  <a:srgbClr val="FFC000"/>
                </a:solidFill>
                <a:effectLst/>
              </a:rPr>
              <a:t>Financing_amount</a:t>
            </a:r>
            <a:r>
              <a:rPr lang="en-US" sz="1700">
                <a:effectLst/>
              </a:rPr>
              <a:t> / (1 - (this.</a:t>
            </a:r>
            <a:r>
              <a:rPr lang="en-US" sz="1700" b="1">
                <a:solidFill>
                  <a:srgbClr val="FFC000"/>
                </a:solidFill>
                <a:effectLst/>
              </a:rPr>
              <a:t>Commission</a:t>
            </a:r>
            <a:r>
              <a:rPr lang="en-US" sz="1700">
                <a:effectLst/>
              </a:rPr>
              <a:t> / 100 ) ); // </a:t>
            </a:r>
            <a:r>
              <a:rPr lang="ar-EG" sz="1700">
                <a:effectLst/>
              </a:rPr>
              <a:t>اصل المبلغ مع عمولة المنح</a:t>
            </a:r>
            <a:endParaRPr lang="en-US" sz="1700">
              <a:effectLst/>
            </a:endParaRPr>
          </a:p>
          <a:p>
            <a:pPr lvl="1"/>
            <a:r>
              <a:rPr lang="en-US" sz="1700">
                <a:effectLst/>
              </a:rPr>
              <a:t>SecondResult = ( ( </a:t>
            </a:r>
            <a:r>
              <a:rPr lang="en-US" sz="1700" b="1">
                <a:solidFill>
                  <a:srgbClr val="FFC000"/>
                </a:solidFill>
                <a:effectLst/>
              </a:rPr>
              <a:t>FirstResult</a:t>
            </a:r>
            <a:r>
              <a:rPr lang="en-US" sz="1700">
                <a:effectLst/>
              </a:rPr>
              <a:t> * ( this.</a:t>
            </a:r>
            <a:r>
              <a:rPr lang="en-US" sz="1700" b="1">
                <a:solidFill>
                  <a:srgbClr val="FFC000"/>
                </a:solidFill>
                <a:effectLst/>
              </a:rPr>
              <a:t>LoanInterest</a:t>
            </a:r>
            <a:r>
              <a:rPr lang="en-US" sz="1700">
                <a:effectLst/>
              </a:rPr>
              <a:t> / 100) ) * </a:t>
            </a:r>
            <a:r>
              <a:rPr lang="en-US" sz="1700" b="1">
                <a:solidFill>
                  <a:srgbClr val="FFC000"/>
                </a:solidFill>
                <a:effectLst/>
              </a:rPr>
              <a:t>repayment</a:t>
            </a:r>
            <a:r>
              <a:rPr lang="en-US" sz="1700">
                <a:effectLst/>
              </a:rPr>
              <a:t>_cycle / 360); // </a:t>
            </a:r>
            <a:r>
              <a:rPr lang="ar-EG" sz="1700">
                <a:effectLst/>
              </a:rPr>
              <a:t>حساب الفايدة</a:t>
            </a:r>
            <a:endParaRPr lang="en-US" sz="1700">
              <a:effectLst/>
            </a:endParaRPr>
          </a:p>
          <a:p>
            <a:pPr lvl="1"/>
            <a:r>
              <a:rPr lang="en-US" sz="1700">
                <a:effectLst/>
              </a:rPr>
              <a:t>Total = FirstResult + SecondResult; // </a:t>
            </a:r>
            <a:r>
              <a:rPr lang="ar-EG" sz="1700">
                <a:effectLst/>
              </a:rPr>
              <a:t>إجمالي المبلغ قبل التقريب</a:t>
            </a:r>
            <a:endParaRPr lang="en-US" sz="1700">
              <a:effectLst/>
            </a:endParaRPr>
          </a:p>
          <a:p>
            <a:pPr lvl="1"/>
            <a:r>
              <a:rPr lang="en-US" sz="1700">
                <a:effectLst/>
              </a:rPr>
              <a:t>Result = Total / Repayment_period;</a:t>
            </a:r>
          </a:p>
          <a:p>
            <a:pPr lvl="1"/>
            <a:r>
              <a:rPr lang="en-US" sz="1700">
                <a:effectLst/>
              </a:rPr>
              <a:t>Prim_value = Math.ceil( Result / this.Approximation )  // </a:t>
            </a:r>
            <a:r>
              <a:rPr lang="en-US" sz="1700" b="1">
                <a:solidFill>
                  <a:srgbClr val="FFC000"/>
                </a:solidFill>
                <a:effectLst/>
              </a:rPr>
              <a:t>Approximation</a:t>
            </a:r>
            <a:r>
              <a:rPr lang="en-US" sz="1700">
                <a:effectLst/>
              </a:rPr>
              <a:t> from General Setting</a:t>
            </a:r>
          </a:p>
          <a:p>
            <a:pPr lvl="1"/>
            <a:r>
              <a:rPr lang="en-US" sz="1700">
                <a:effectLst/>
              </a:rPr>
              <a:t>Final_Prim = parseInt(Prim_value) * this.Approximation; //</a:t>
            </a:r>
          </a:p>
          <a:p>
            <a:r>
              <a:rPr lang="en-US" sz="2200" b="1">
                <a:solidFill>
                  <a:srgbClr val="FFFF00"/>
                </a:solidFill>
                <a:effectLst/>
              </a:rPr>
              <a:t>If  Product.Pricing_responsible != 0</a:t>
            </a:r>
          </a:p>
          <a:p>
            <a:pPr lvl="1"/>
            <a:r>
              <a:rPr lang="en-US" sz="1700">
                <a:effectLst/>
              </a:rPr>
              <a:t>SecondResult = ((</a:t>
            </a:r>
            <a:r>
              <a:rPr lang="en-US" sz="1700" b="1">
                <a:solidFill>
                  <a:srgbClr val="FFC000"/>
                </a:solidFill>
                <a:effectLst/>
              </a:rPr>
              <a:t>Financing_amount</a:t>
            </a:r>
            <a:r>
              <a:rPr lang="en-US" sz="1700">
                <a:effectLst/>
              </a:rPr>
              <a:t> * (this.</a:t>
            </a:r>
            <a:r>
              <a:rPr lang="en-US" sz="1700" b="1">
                <a:solidFill>
                  <a:srgbClr val="FFC000"/>
                </a:solidFill>
                <a:effectLst/>
              </a:rPr>
              <a:t>LoanInterest</a:t>
            </a:r>
            <a:r>
              <a:rPr lang="en-US" sz="1700">
                <a:effectLst/>
              </a:rPr>
              <a:t> / 100)) * </a:t>
            </a:r>
            <a:r>
              <a:rPr lang="en-US" sz="1700" b="1">
                <a:solidFill>
                  <a:srgbClr val="FFC000"/>
                </a:solidFill>
                <a:effectLst/>
              </a:rPr>
              <a:t>repayment_cycle</a:t>
            </a:r>
            <a:r>
              <a:rPr lang="en-US" sz="1700">
                <a:effectLst/>
              </a:rPr>
              <a:t> / 360);</a:t>
            </a:r>
          </a:p>
          <a:p>
            <a:pPr lvl="1"/>
            <a:r>
              <a:rPr lang="en-US" sz="1700">
                <a:effectLst/>
              </a:rPr>
              <a:t>Total = parseInt(Financing_amount) + SecondResult; // </a:t>
            </a:r>
            <a:r>
              <a:rPr lang="ar-EG" sz="1700">
                <a:effectLst/>
              </a:rPr>
              <a:t>المبلغ قبل التقريب</a:t>
            </a:r>
          </a:p>
          <a:p>
            <a:pPr lvl="1"/>
            <a:r>
              <a:rPr lang="en-US" sz="1700">
                <a:effectLst/>
              </a:rPr>
              <a:t>Result = Total / Repayment_period;</a:t>
            </a:r>
          </a:p>
          <a:p>
            <a:pPr lvl="1"/>
            <a:r>
              <a:rPr lang="en-US" sz="1700">
                <a:effectLst/>
              </a:rPr>
              <a:t>Prim_value = Math.ceil(Result / this.Approximation) //</a:t>
            </a:r>
          </a:p>
          <a:p>
            <a:pPr lvl="1"/>
            <a:r>
              <a:rPr lang="en-US" sz="1700" b="1">
                <a:solidFill>
                  <a:srgbClr val="FFC000"/>
                </a:solidFill>
                <a:effectLst/>
              </a:rPr>
              <a:t>Final_Prim</a:t>
            </a:r>
            <a:r>
              <a:rPr lang="en-US" sz="1700">
                <a:effectLst/>
              </a:rPr>
              <a:t> = parseInt(Prim_value) * this.Approximation; //</a:t>
            </a:r>
          </a:p>
        </p:txBody>
      </p:sp>
    </p:spTree>
    <p:extLst>
      <p:ext uri="{BB962C8B-B14F-4D97-AF65-F5344CB8AC3E}">
        <p14:creationId xmlns:p14="http://schemas.microsoft.com/office/powerpoint/2010/main" val="130377890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Commision [ </a:t>
            </a:r>
            <a:r>
              <a:rPr lang="ar-EG" b="1"/>
              <a:t>عمولة المنح الخاصة باالمنتج</a:t>
            </a:r>
            <a:r>
              <a:rPr lang="en-US" b="1"/>
              <a:t> ]</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0" y="642730"/>
            <a:ext cx="12192000" cy="5877339"/>
          </a:xfrm>
        </p:spPr>
        <p:txBody>
          <a:bodyPr/>
          <a:lstStyle/>
          <a:p>
            <a:r>
              <a:rPr lang="en-US"/>
              <a:t>At:  </a:t>
            </a:r>
            <a:r>
              <a:rPr lang="en-US" b="1">
                <a:solidFill>
                  <a:srgbClr val="FFFF00"/>
                </a:solidFill>
              </a:rPr>
              <a:t>Flow_FieldVisits_mainService</a:t>
            </a:r>
            <a:r>
              <a:rPr lang="en-US"/>
              <a:t> </a:t>
            </a:r>
            <a:r>
              <a:rPr lang="en-US" b="1">
                <a:solidFill>
                  <a:srgbClr val="FFC000"/>
                </a:solidFill>
              </a:rPr>
              <a:t>GetPercentageBonusCommission</a:t>
            </a:r>
            <a:r>
              <a:rPr lang="en-US"/>
              <a:t>(</a:t>
            </a:r>
            <a:r>
              <a:rPr lang="en-US" b="1">
                <a:solidFill>
                  <a:srgbClr val="92D050"/>
                </a:solidFill>
              </a:rPr>
              <a:t>ProductId</a:t>
            </a:r>
            <a:r>
              <a:rPr lang="en-US"/>
              <a:t>, </a:t>
            </a:r>
            <a:r>
              <a:rPr lang="en-US" b="1">
                <a:solidFill>
                  <a:srgbClr val="92D050"/>
                </a:solidFill>
              </a:rPr>
              <a:t>RequestStatus</a:t>
            </a:r>
            <a:r>
              <a:rPr lang="en-US"/>
              <a:t>)</a:t>
            </a:r>
          </a:p>
        </p:txBody>
      </p:sp>
      <p:pic>
        <p:nvPicPr>
          <p:cNvPr id="5" name="Picture 4">
            <a:extLst>
              <a:ext uri="{FF2B5EF4-FFF2-40B4-BE49-F238E27FC236}">
                <a16:creationId xmlns:a16="http://schemas.microsoft.com/office/drawing/2014/main" id="{4D2640A5-BD8E-EFB9-C69E-1F16FB423212}"/>
              </a:ext>
            </a:extLst>
          </p:cNvPr>
          <p:cNvPicPr>
            <a:picLocks noChangeAspect="1"/>
          </p:cNvPicPr>
          <p:nvPr/>
        </p:nvPicPr>
        <p:blipFill>
          <a:blip r:embed="rId2"/>
          <a:stretch>
            <a:fillRect/>
          </a:stretch>
        </p:blipFill>
        <p:spPr>
          <a:xfrm>
            <a:off x="206137" y="1104400"/>
            <a:ext cx="11779725" cy="2324600"/>
          </a:xfrm>
          <a:prstGeom prst="rect">
            <a:avLst/>
          </a:prstGeom>
        </p:spPr>
      </p:pic>
    </p:spTree>
    <p:extLst>
      <p:ext uri="{BB962C8B-B14F-4D97-AF65-F5344CB8AC3E}">
        <p14:creationId xmlns:p14="http://schemas.microsoft.com/office/powerpoint/2010/main" val="408570386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9ADB-F288-65E7-853F-348A6B0803AF}"/>
              </a:ext>
            </a:extLst>
          </p:cNvPr>
          <p:cNvSpPr>
            <a:spLocks noGrp="1"/>
          </p:cNvSpPr>
          <p:nvPr>
            <p:ph type="title"/>
          </p:nvPr>
        </p:nvSpPr>
        <p:spPr>
          <a:xfrm>
            <a:off x="913795" y="0"/>
            <a:ext cx="10353762" cy="616226"/>
          </a:xfrm>
        </p:spPr>
        <p:txBody>
          <a:bodyPr>
            <a:normAutofit fontScale="90000"/>
          </a:bodyPr>
          <a:lstStyle/>
          <a:p>
            <a:r>
              <a:rPr lang="en-US" b="1">
                <a:solidFill>
                  <a:srgbClr val="FFC000"/>
                </a:solidFill>
                <a:effectLst/>
              </a:rPr>
              <a:t>Loan Interest</a:t>
            </a:r>
            <a:r>
              <a:rPr lang="en-US" b="1">
                <a:effectLst/>
              </a:rPr>
              <a:t>[ </a:t>
            </a:r>
            <a:r>
              <a:rPr lang="ar-EG" b="1">
                <a:effectLst/>
              </a:rPr>
              <a:t>فايدة التمويل</a:t>
            </a:r>
            <a:r>
              <a:rPr lang="en-US" b="1">
                <a:effectLst/>
              </a:rPr>
              <a:t> ]</a:t>
            </a:r>
            <a:endParaRPr lang="en-US" b="1"/>
          </a:p>
        </p:txBody>
      </p:sp>
      <p:sp>
        <p:nvSpPr>
          <p:cNvPr id="3" name="Content Placeholder 2">
            <a:extLst>
              <a:ext uri="{FF2B5EF4-FFF2-40B4-BE49-F238E27FC236}">
                <a16:creationId xmlns:a16="http://schemas.microsoft.com/office/drawing/2014/main" id="{35557398-0823-DABA-7F5C-07D8E2E3780F}"/>
              </a:ext>
            </a:extLst>
          </p:cNvPr>
          <p:cNvSpPr>
            <a:spLocks noGrp="1"/>
          </p:cNvSpPr>
          <p:nvPr>
            <p:ph idx="1"/>
          </p:nvPr>
        </p:nvSpPr>
        <p:spPr>
          <a:xfrm>
            <a:off x="81169" y="616226"/>
            <a:ext cx="12042912" cy="6152322"/>
          </a:xfrm>
        </p:spPr>
        <p:txBody>
          <a:bodyPr/>
          <a:lstStyle/>
          <a:p>
            <a:r>
              <a:rPr lang="en-US"/>
              <a:t>It depends on </a:t>
            </a:r>
          </a:p>
          <a:p>
            <a:pPr lvl="1"/>
            <a:r>
              <a:rPr lang="en-US" b="1">
                <a:solidFill>
                  <a:srgbClr val="FFFF00"/>
                </a:solidFill>
              </a:rPr>
              <a:t>Flow_Product</a:t>
            </a:r>
            <a:r>
              <a:rPr lang="en-US" b="1">
                <a:solidFill>
                  <a:srgbClr val="FFC000"/>
                </a:solidFill>
              </a:rPr>
              <a:t>.Fixed_return_new</a:t>
            </a:r>
            <a:r>
              <a:rPr lang="en-US"/>
              <a:t> </a:t>
            </a:r>
          </a:p>
          <a:p>
            <a:pPr lvl="1"/>
            <a:r>
              <a:rPr lang="en-US" b="1">
                <a:solidFill>
                  <a:srgbClr val="FFFF00"/>
                </a:solidFill>
                <a:effectLst/>
              </a:rPr>
              <a:t>Flow_Product</a:t>
            </a:r>
            <a:r>
              <a:rPr lang="en-US" b="1">
                <a:solidFill>
                  <a:srgbClr val="FFC000"/>
                </a:solidFill>
                <a:effectLst/>
              </a:rPr>
              <a:t>.Fixed_return_renew</a:t>
            </a:r>
          </a:p>
          <a:p>
            <a:pPr lvl="1"/>
            <a:r>
              <a:rPr lang="en-US" b="1">
                <a:solidFill>
                  <a:srgbClr val="FFFF00"/>
                </a:solidFill>
              </a:rPr>
              <a:t>Funding_request</a:t>
            </a:r>
            <a:r>
              <a:rPr lang="en-US" b="1">
                <a:solidFill>
                  <a:srgbClr val="FFC000"/>
                </a:solidFill>
              </a:rPr>
              <a:t>.Request_status</a:t>
            </a:r>
          </a:p>
          <a:p>
            <a:pPr lvl="1"/>
            <a:endParaRPr lang="en-US"/>
          </a:p>
          <a:p>
            <a:pPr lvl="1"/>
            <a:endParaRPr lang="en-US"/>
          </a:p>
        </p:txBody>
      </p:sp>
      <p:pic>
        <p:nvPicPr>
          <p:cNvPr id="5" name="Picture 4">
            <a:extLst>
              <a:ext uri="{FF2B5EF4-FFF2-40B4-BE49-F238E27FC236}">
                <a16:creationId xmlns:a16="http://schemas.microsoft.com/office/drawing/2014/main" id="{306D050D-44B5-6200-E946-4FD6990DAF0C}"/>
              </a:ext>
            </a:extLst>
          </p:cNvPr>
          <p:cNvPicPr>
            <a:picLocks noChangeAspect="1"/>
          </p:cNvPicPr>
          <p:nvPr/>
        </p:nvPicPr>
        <p:blipFill>
          <a:blip r:embed="rId2"/>
          <a:stretch>
            <a:fillRect/>
          </a:stretch>
        </p:blipFill>
        <p:spPr>
          <a:xfrm>
            <a:off x="81169" y="2517552"/>
            <a:ext cx="12042913" cy="783223"/>
          </a:xfrm>
          <a:prstGeom prst="rect">
            <a:avLst/>
          </a:prstGeom>
        </p:spPr>
      </p:pic>
    </p:spTree>
    <p:extLst>
      <p:ext uri="{BB962C8B-B14F-4D97-AF65-F5344CB8AC3E}">
        <p14:creationId xmlns:p14="http://schemas.microsoft.com/office/powerpoint/2010/main" val="166958656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CC1C1-00E9-2F13-C134-9E18C9C169A4}"/>
              </a:ext>
            </a:extLst>
          </p:cNvPr>
          <p:cNvSpPr>
            <a:spLocks noGrp="1"/>
          </p:cNvSpPr>
          <p:nvPr>
            <p:ph type="title"/>
          </p:nvPr>
        </p:nvSpPr>
        <p:spPr>
          <a:xfrm>
            <a:off x="137652" y="0"/>
            <a:ext cx="11926529" cy="629265"/>
          </a:xfrm>
        </p:spPr>
        <p:txBody>
          <a:bodyPr>
            <a:normAutofit fontScale="90000"/>
          </a:bodyPr>
          <a:lstStyle/>
          <a:p>
            <a:r>
              <a:rPr lang="en-US" b="1">
                <a:solidFill>
                  <a:srgbClr val="FFFF00"/>
                </a:solidFill>
              </a:rPr>
              <a:t>Funding_request</a:t>
            </a:r>
            <a:r>
              <a:rPr lang="en-US" b="1"/>
              <a:t>.</a:t>
            </a:r>
            <a:r>
              <a:rPr lang="en-US" b="1">
                <a:solidFill>
                  <a:srgbClr val="FF0000"/>
                </a:solidFill>
              </a:rPr>
              <a:t>APP_FEE</a:t>
            </a:r>
            <a:r>
              <a:rPr lang="en-US" b="1">
                <a:solidFill>
                  <a:srgbClr val="FFFF00"/>
                </a:solidFill>
              </a:rPr>
              <a:t> &amp; Funding_request.</a:t>
            </a:r>
            <a:r>
              <a:rPr lang="en-US" b="1">
                <a:solidFill>
                  <a:srgbClr val="FF0000"/>
                </a:solidFill>
              </a:rPr>
              <a:t>Rate</a:t>
            </a:r>
          </a:p>
        </p:txBody>
      </p:sp>
      <p:sp>
        <p:nvSpPr>
          <p:cNvPr id="3" name="Content Placeholder 2">
            <a:extLst>
              <a:ext uri="{FF2B5EF4-FFF2-40B4-BE49-F238E27FC236}">
                <a16:creationId xmlns:a16="http://schemas.microsoft.com/office/drawing/2014/main" id="{AACDAF11-9541-6A06-B335-19A27BC46118}"/>
              </a:ext>
            </a:extLst>
          </p:cNvPr>
          <p:cNvSpPr>
            <a:spLocks noGrp="1"/>
          </p:cNvSpPr>
          <p:nvPr>
            <p:ph idx="1"/>
          </p:nvPr>
        </p:nvSpPr>
        <p:spPr>
          <a:xfrm>
            <a:off x="137652" y="776747"/>
            <a:ext cx="11926529" cy="5909187"/>
          </a:xfrm>
        </p:spPr>
        <p:txBody>
          <a:bodyPr/>
          <a:lstStyle/>
          <a:p>
            <a:r>
              <a:rPr lang="en-US" sz="1800" b="1">
                <a:solidFill>
                  <a:srgbClr val="FFFF00"/>
                </a:solidFill>
              </a:rPr>
              <a:t>Funding_request</a:t>
            </a:r>
            <a:r>
              <a:rPr lang="en-US" sz="1800"/>
              <a:t>.</a:t>
            </a:r>
            <a:r>
              <a:rPr lang="en-US" sz="1800" b="1">
                <a:solidFill>
                  <a:srgbClr val="FFC000"/>
                </a:solidFill>
              </a:rPr>
              <a:t>APP_FEE</a:t>
            </a:r>
            <a:r>
              <a:rPr lang="en-US" sz="1800"/>
              <a:t> = IsNew==true ? Product.</a:t>
            </a:r>
            <a:r>
              <a:rPr lang="en-US" sz="1800" b="1">
                <a:solidFill>
                  <a:srgbClr val="00B0F0"/>
                </a:solidFill>
              </a:rPr>
              <a:t>Com_submit_new_app</a:t>
            </a:r>
            <a:r>
              <a:rPr lang="en-US" sz="1800"/>
              <a:t> : Product.</a:t>
            </a:r>
            <a:r>
              <a:rPr lang="en-US" sz="1800" b="1">
                <a:solidFill>
                  <a:srgbClr val="00B0F0"/>
                </a:solidFill>
              </a:rPr>
              <a:t>Com_submit_renew_app</a:t>
            </a:r>
            <a:r>
              <a:rPr lang="en-US" sz="1800"/>
              <a:t>;</a:t>
            </a:r>
            <a:endParaRPr lang="en-US" sz="1800" b="1">
              <a:solidFill>
                <a:srgbClr val="FFFF00"/>
              </a:solidFill>
            </a:endParaRPr>
          </a:p>
          <a:p>
            <a:endParaRPr lang="en-US" sz="1800" b="1">
              <a:solidFill>
                <a:srgbClr val="FFFF00"/>
              </a:solidFill>
            </a:endParaRPr>
          </a:p>
          <a:p>
            <a:r>
              <a:rPr lang="en-US" sz="1800" b="1">
                <a:solidFill>
                  <a:srgbClr val="FFFF00"/>
                </a:solidFill>
              </a:rPr>
              <a:t>Funding_request</a:t>
            </a:r>
            <a:r>
              <a:rPr lang="en-US" sz="1800"/>
              <a:t>.</a:t>
            </a:r>
            <a:r>
              <a:rPr lang="en-US" sz="1800" b="1">
                <a:solidFill>
                  <a:srgbClr val="FFC000"/>
                </a:solidFill>
              </a:rPr>
              <a:t>RATE</a:t>
            </a:r>
            <a:r>
              <a:rPr lang="en-US" sz="1800"/>
              <a:t> = IsNew == true ? Product.</a:t>
            </a:r>
            <a:r>
              <a:rPr lang="en-US" sz="1800" b="1">
                <a:solidFill>
                  <a:srgbClr val="00B0F0"/>
                </a:solidFill>
              </a:rPr>
              <a:t>Fixed_return_new</a:t>
            </a:r>
            <a:r>
              <a:rPr lang="en-US" sz="1800"/>
              <a:t> : Product.</a:t>
            </a:r>
            <a:r>
              <a:rPr lang="en-US" sz="1800" b="1">
                <a:solidFill>
                  <a:srgbClr val="00B0F0"/>
                </a:solidFill>
              </a:rPr>
              <a:t>Fixed_return_renew;</a:t>
            </a:r>
          </a:p>
          <a:p>
            <a:pPr lvl="1"/>
            <a:r>
              <a:rPr lang="en-US" b="1">
                <a:solidFill>
                  <a:srgbClr val="FFC000"/>
                </a:solidFill>
              </a:rPr>
              <a:t>Note that Rate is like loan interest at previous page</a:t>
            </a:r>
          </a:p>
          <a:p>
            <a:endParaRPr lang="en-US" sz="1800" b="1">
              <a:solidFill>
                <a:srgbClr val="00B0F0"/>
              </a:solidFill>
            </a:endParaRPr>
          </a:p>
          <a:p>
            <a:endParaRPr lang="en-US" sz="1800" b="1">
              <a:solidFill>
                <a:srgbClr val="00B0F0"/>
              </a:solidFill>
            </a:endParaRPr>
          </a:p>
          <a:p>
            <a:endParaRPr lang="en-US" sz="1800" b="1">
              <a:solidFill>
                <a:srgbClr val="00B0F0"/>
              </a:solidFill>
            </a:endParaRPr>
          </a:p>
        </p:txBody>
      </p:sp>
    </p:spTree>
    <p:extLst>
      <p:ext uri="{BB962C8B-B14F-4D97-AF65-F5344CB8AC3E}">
        <p14:creationId xmlns:p14="http://schemas.microsoft.com/office/powerpoint/2010/main" val="261114371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0A5DC-37F6-18CE-E519-9585EBC31C45}"/>
              </a:ext>
            </a:extLst>
          </p:cNvPr>
          <p:cNvSpPr>
            <a:spLocks noGrp="1"/>
          </p:cNvSpPr>
          <p:nvPr>
            <p:ph type="title"/>
          </p:nvPr>
        </p:nvSpPr>
        <p:spPr>
          <a:xfrm>
            <a:off x="919119" y="0"/>
            <a:ext cx="10353762" cy="599768"/>
          </a:xfrm>
        </p:spPr>
        <p:txBody>
          <a:bodyPr>
            <a:normAutofit fontScale="90000"/>
          </a:bodyPr>
          <a:lstStyle/>
          <a:p>
            <a:r>
              <a:rPr lang="en-US" b="1">
                <a:solidFill>
                  <a:srgbClr val="FF0000"/>
                </a:solidFill>
              </a:rPr>
              <a:t>Male &amp; Female from QID</a:t>
            </a:r>
          </a:p>
        </p:txBody>
      </p:sp>
      <p:sp>
        <p:nvSpPr>
          <p:cNvPr id="7" name="Content Placeholder 6">
            <a:extLst>
              <a:ext uri="{FF2B5EF4-FFF2-40B4-BE49-F238E27FC236}">
                <a16:creationId xmlns:a16="http://schemas.microsoft.com/office/drawing/2014/main" id="{F066DC1C-C3EB-B727-4729-29E550FCCB6D}"/>
              </a:ext>
            </a:extLst>
          </p:cNvPr>
          <p:cNvSpPr>
            <a:spLocks noGrp="1"/>
          </p:cNvSpPr>
          <p:nvPr>
            <p:ph idx="1"/>
          </p:nvPr>
        </p:nvSpPr>
        <p:spPr>
          <a:xfrm>
            <a:off x="501445" y="1199535"/>
            <a:ext cx="10766112" cy="4591665"/>
          </a:xfrm>
        </p:spPr>
        <p:txBody>
          <a:bodyPr/>
          <a:lstStyle/>
          <a:p>
            <a:r>
              <a:rPr lang="en-US"/>
              <a:t>code</a:t>
            </a:r>
          </a:p>
        </p:txBody>
      </p:sp>
      <p:pic>
        <p:nvPicPr>
          <p:cNvPr id="8" name="Content Placeholder 4">
            <a:extLst>
              <a:ext uri="{FF2B5EF4-FFF2-40B4-BE49-F238E27FC236}">
                <a16:creationId xmlns:a16="http://schemas.microsoft.com/office/drawing/2014/main" id="{05B531EB-B3F9-857F-7BBA-2C27EC286905}"/>
              </a:ext>
            </a:extLst>
          </p:cNvPr>
          <p:cNvPicPr>
            <a:picLocks noChangeAspect="1"/>
          </p:cNvPicPr>
          <p:nvPr/>
        </p:nvPicPr>
        <p:blipFill>
          <a:blip r:embed="rId2"/>
          <a:stretch>
            <a:fillRect/>
          </a:stretch>
        </p:blipFill>
        <p:spPr>
          <a:xfrm>
            <a:off x="1025761" y="1820790"/>
            <a:ext cx="7682297" cy="77492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21106852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99F25-69DD-0B59-E12E-FF349DBC35DE}"/>
              </a:ext>
            </a:extLst>
          </p:cNvPr>
          <p:cNvSpPr>
            <a:spLocks noGrp="1"/>
          </p:cNvSpPr>
          <p:nvPr>
            <p:ph type="title"/>
          </p:nvPr>
        </p:nvSpPr>
        <p:spPr>
          <a:xfrm>
            <a:off x="913795" y="0"/>
            <a:ext cx="10353762" cy="668594"/>
          </a:xfrm>
        </p:spPr>
        <p:txBody>
          <a:bodyPr>
            <a:normAutofit fontScale="90000"/>
          </a:bodyPr>
          <a:lstStyle/>
          <a:p>
            <a:r>
              <a:rPr lang="en-US" b="1">
                <a:solidFill>
                  <a:srgbClr val="FF0000"/>
                </a:solidFill>
              </a:rPr>
              <a:t>Places</a:t>
            </a:r>
          </a:p>
        </p:txBody>
      </p:sp>
      <p:sp>
        <p:nvSpPr>
          <p:cNvPr id="3" name="Content Placeholder 2">
            <a:extLst>
              <a:ext uri="{FF2B5EF4-FFF2-40B4-BE49-F238E27FC236}">
                <a16:creationId xmlns:a16="http://schemas.microsoft.com/office/drawing/2014/main" id="{BE834885-BB5E-ED54-5976-BF14D866F797}"/>
              </a:ext>
            </a:extLst>
          </p:cNvPr>
          <p:cNvSpPr>
            <a:spLocks noGrp="1"/>
          </p:cNvSpPr>
          <p:nvPr>
            <p:ph idx="1"/>
          </p:nvPr>
        </p:nvSpPr>
        <p:spPr>
          <a:xfrm>
            <a:off x="88491" y="668594"/>
            <a:ext cx="12024852" cy="6017341"/>
          </a:xfrm>
        </p:spPr>
        <p:txBody>
          <a:bodyPr/>
          <a:lstStyle/>
          <a:p>
            <a:r>
              <a:rPr lang="ar-EG" b="1"/>
              <a:t>عندما يتم الضغط على عرض بيانات الطلب</a:t>
            </a:r>
          </a:p>
          <a:p>
            <a:pPr lvl="1"/>
            <a:r>
              <a:rPr lang="en-US" b="1"/>
              <a:t>FlowChart/Transactions_Deportations/</a:t>
            </a:r>
            <a:r>
              <a:rPr lang="en-US" b="1">
                <a:solidFill>
                  <a:srgbClr val="FFFF00"/>
                </a:solidFill>
              </a:rPr>
              <a:t>Flow_Funding_dataController</a:t>
            </a:r>
            <a:r>
              <a:rPr lang="en-US"/>
              <a:t>/</a:t>
            </a:r>
            <a:r>
              <a:rPr lang="en-US" b="1">
                <a:solidFill>
                  <a:srgbClr val="00B0F0"/>
                </a:solidFill>
              </a:rPr>
              <a:t>GetOne</a:t>
            </a:r>
            <a:r>
              <a:rPr lang="en-US" b="1"/>
              <a:t>/{Request_id}</a:t>
            </a:r>
          </a:p>
          <a:p>
            <a:pPr lvl="1"/>
            <a:r>
              <a:rPr lang="en-US" b="1">
                <a:solidFill>
                  <a:srgbClr val="FFC000"/>
                </a:solidFill>
              </a:rPr>
              <a:t>Flow_Funding_dataVM</a:t>
            </a:r>
            <a:r>
              <a:rPr lang="en-US"/>
              <a:t> </a:t>
            </a:r>
            <a:r>
              <a:rPr lang="en-US" b="1">
                <a:solidFill>
                  <a:srgbClr val="00B0F0"/>
                </a:solidFill>
              </a:rPr>
              <a:t>Flow_Funding_dataService</a:t>
            </a:r>
            <a:r>
              <a:rPr lang="en-US"/>
              <a:t>.</a:t>
            </a:r>
            <a:r>
              <a:rPr lang="en-US" b="1">
                <a:solidFill>
                  <a:srgbClr val="FFFF00"/>
                </a:solidFill>
              </a:rPr>
              <a:t>GetOne</a:t>
            </a:r>
            <a:r>
              <a:rPr lang="en-US"/>
              <a:t>(Request_id)</a:t>
            </a:r>
            <a:endParaRPr lang="ar-EG"/>
          </a:p>
          <a:p>
            <a:r>
              <a:rPr lang="en-US" b="1"/>
              <a:t>LO click : </a:t>
            </a:r>
            <a:r>
              <a:rPr lang="ar-EG" b="1"/>
              <a:t>حفظ وإرسال</a:t>
            </a:r>
          </a:p>
          <a:p>
            <a:pPr lvl="1"/>
            <a:r>
              <a:rPr lang="en-US"/>
              <a:t>FlowChart/Transactions/</a:t>
            </a:r>
            <a:r>
              <a:rPr lang="en-US" b="1">
                <a:solidFill>
                  <a:srgbClr val="FFFF00"/>
                </a:solidFill>
              </a:rPr>
              <a:t>Flow_Funding_requestController</a:t>
            </a:r>
            <a:r>
              <a:rPr lang="en-US"/>
              <a:t>/</a:t>
            </a:r>
            <a:r>
              <a:rPr lang="en-US" b="1">
                <a:solidFill>
                  <a:srgbClr val="00B0F0"/>
                </a:solidFill>
              </a:rPr>
              <a:t>InsertFunding</a:t>
            </a:r>
          </a:p>
          <a:p>
            <a:pPr lvl="1"/>
            <a:r>
              <a:rPr lang="en-US" b="1">
                <a:solidFill>
                  <a:srgbClr val="FFC000"/>
                </a:solidFill>
              </a:rPr>
              <a:t>FundindPageLoadVM</a:t>
            </a:r>
            <a:r>
              <a:rPr lang="en-US"/>
              <a:t> </a:t>
            </a:r>
            <a:r>
              <a:rPr lang="en-US" b="1">
                <a:solidFill>
                  <a:srgbClr val="00B0F0"/>
                </a:solidFill>
              </a:rPr>
              <a:t>Flow_Funding_requestService</a:t>
            </a:r>
            <a:r>
              <a:rPr lang="en-US"/>
              <a:t>.</a:t>
            </a:r>
            <a:r>
              <a:rPr lang="en-US" b="1">
                <a:solidFill>
                  <a:srgbClr val="FFFF00"/>
                </a:solidFill>
              </a:rPr>
              <a:t>InsertFunding( </a:t>
            </a:r>
            <a:r>
              <a:rPr lang="en-US" b="1"/>
              <a:t>FundingDataVM</a:t>
            </a:r>
            <a:r>
              <a:rPr lang="en-US" b="1">
                <a:solidFill>
                  <a:srgbClr val="FFFF00"/>
                </a:solidFill>
              </a:rPr>
              <a:t> )</a:t>
            </a:r>
          </a:p>
          <a:p>
            <a:r>
              <a:rPr lang="en-US" b="1"/>
              <a:t>When CO at click on : </a:t>
            </a:r>
            <a:r>
              <a:rPr lang="ar-EG" b="1"/>
              <a:t>الموافقة على الطلب اثناء المراجعة الأولية</a:t>
            </a:r>
            <a:endParaRPr lang="en-US" b="1"/>
          </a:p>
          <a:p>
            <a:pPr lvl="1"/>
            <a:r>
              <a:rPr lang="en-US" b="1"/>
              <a:t>FlowChart/Transactions</a:t>
            </a:r>
            <a:r>
              <a:rPr lang="en-US"/>
              <a:t>/</a:t>
            </a:r>
            <a:r>
              <a:rPr lang="en-US" b="1">
                <a:solidFill>
                  <a:srgbClr val="FFFF00"/>
                </a:solidFill>
              </a:rPr>
              <a:t> Flow_Funding_requestController</a:t>
            </a:r>
            <a:r>
              <a:rPr lang="en-US"/>
              <a:t>/</a:t>
            </a:r>
            <a:r>
              <a:rPr lang="en-US" b="1">
                <a:solidFill>
                  <a:srgbClr val="00B0F0"/>
                </a:solidFill>
              </a:rPr>
              <a:t>ExecuteApproved</a:t>
            </a:r>
            <a:endParaRPr lang="en-US"/>
          </a:p>
          <a:p>
            <a:pPr lvl="1"/>
            <a:r>
              <a:rPr lang="en-US" b="1">
                <a:solidFill>
                  <a:srgbClr val="FFC000"/>
                </a:solidFill>
              </a:rPr>
              <a:t>DeportationVM</a:t>
            </a:r>
            <a:r>
              <a:rPr lang="en-US"/>
              <a:t> </a:t>
            </a:r>
            <a:r>
              <a:rPr lang="en-US" b="1">
                <a:solidFill>
                  <a:srgbClr val="00B0F0"/>
                </a:solidFill>
              </a:rPr>
              <a:t>Flow_Funding_dataService.</a:t>
            </a:r>
            <a:r>
              <a:rPr lang="en-US" b="1"/>
              <a:t>ExecuteApproved</a:t>
            </a:r>
            <a:r>
              <a:rPr lang="en-US"/>
              <a:t>( </a:t>
            </a:r>
            <a:r>
              <a:rPr lang="en-US" b="1"/>
              <a:t>DeportationVM</a:t>
            </a:r>
            <a:r>
              <a:rPr lang="en-US"/>
              <a:t> )</a:t>
            </a:r>
            <a:endParaRPr lang="en-US" b="1"/>
          </a:p>
          <a:p>
            <a:r>
              <a:rPr lang="en-US" b="1"/>
              <a:t>When click on any tab: </a:t>
            </a:r>
            <a:r>
              <a:rPr lang="ar-EG" b="1"/>
              <a:t> </a:t>
            </a:r>
            <a:r>
              <a:rPr lang="ar-EG" sz="1650" b="1">
                <a:solidFill>
                  <a:schemeClr val="accent3">
                    <a:lumMod val="60000"/>
                    <a:lumOff val="40000"/>
                  </a:schemeClr>
                </a:solidFill>
              </a:rPr>
              <a:t>مراجعة المسئول الاول أثناء المراجعة الأولية </a:t>
            </a:r>
            <a:r>
              <a:rPr lang="ar-EG" sz="1650" b="1"/>
              <a:t>أو </a:t>
            </a:r>
            <a:r>
              <a:rPr lang="ar-EG" sz="1650" b="1">
                <a:solidFill>
                  <a:srgbClr val="FFC000"/>
                </a:solidFill>
              </a:rPr>
              <a:t>الزيارة الميدانية اثناء الزيارة الميدانية</a:t>
            </a:r>
            <a:r>
              <a:rPr lang="ar-EG" sz="1650" b="1"/>
              <a:t> أو </a:t>
            </a:r>
            <a:r>
              <a:rPr lang="ar-EG" sz="1650" b="1">
                <a:solidFill>
                  <a:srgbClr val="92D050"/>
                </a:solidFill>
              </a:rPr>
              <a:t>التحليل الائتماني او تحميل المستندات</a:t>
            </a:r>
            <a:r>
              <a:rPr lang="en-US" sz="1650" b="1"/>
              <a:t> </a:t>
            </a:r>
          </a:p>
          <a:p>
            <a:pPr lvl="1"/>
            <a:r>
              <a:rPr lang="en-US" sz="1700" b="1"/>
              <a:t>FlowChart/Transactions_Deportations</a:t>
            </a:r>
            <a:r>
              <a:rPr lang="en-US" sz="1700"/>
              <a:t>/</a:t>
            </a:r>
            <a:r>
              <a:rPr lang="en-US" sz="1700" b="1">
                <a:solidFill>
                  <a:srgbClr val="FFFF00"/>
                </a:solidFill>
              </a:rPr>
              <a:t>Flow_Funding_dataController</a:t>
            </a:r>
            <a:r>
              <a:rPr lang="en-US" sz="1700"/>
              <a:t>/</a:t>
            </a:r>
            <a:r>
              <a:rPr lang="en-US" sz="1700" b="1">
                <a:solidFill>
                  <a:srgbClr val="00B0F0"/>
                </a:solidFill>
              </a:rPr>
              <a:t>PageLoad</a:t>
            </a:r>
            <a:r>
              <a:rPr lang="en-US" sz="1700"/>
              <a:t>/{Request_id}/{Scr_DefCode}</a:t>
            </a:r>
          </a:p>
          <a:p>
            <a:pPr lvl="1"/>
            <a:r>
              <a:rPr lang="en-US" b="1">
                <a:solidFill>
                  <a:srgbClr val="FFC000"/>
                </a:solidFill>
              </a:rPr>
              <a:t>PageLoadVM</a:t>
            </a:r>
            <a:r>
              <a:rPr lang="en-US"/>
              <a:t> </a:t>
            </a:r>
            <a:r>
              <a:rPr lang="en-US" b="1">
                <a:solidFill>
                  <a:srgbClr val="00B0F0"/>
                </a:solidFill>
              </a:rPr>
              <a:t>Flow_Funding_dataService.</a:t>
            </a:r>
            <a:r>
              <a:rPr lang="en-US" b="1">
                <a:solidFill>
                  <a:srgbClr val="FFFF00"/>
                </a:solidFill>
              </a:rPr>
              <a:t>PageLoad</a:t>
            </a:r>
            <a:r>
              <a:rPr lang="en-US"/>
              <a:t>(reqID, Scr_DefCode)</a:t>
            </a:r>
            <a:endParaRPr lang="en-US" b="1"/>
          </a:p>
          <a:p>
            <a:endParaRPr lang="en-US" b="1">
              <a:solidFill>
                <a:srgbClr val="00B0F0"/>
              </a:solidFill>
            </a:endParaRPr>
          </a:p>
        </p:txBody>
      </p:sp>
    </p:spTree>
    <p:extLst>
      <p:ext uri="{BB962C8B-B14F-4D97-AF65-F5344CB8AC3E}">
        <p14:creationId xmlns:p14="http://schemas.microsoft.com/office/powerpoint/2010/main" val="320439395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BD40C-A565-EFE3-7152-97F33C927423}"/>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Places</a:t>
            </a:r>
          </a:p>
        </p:txBody>
      </p:sp>
      <p:sp>
        <p:nvSpPr>
          <p:cNvPr id="3" name="Content Placeholder 2">
            <a:extLst>
              <a:ext uri="{FF2B5EF4-FFF2-40B4-BE49-F238E27FC236}">
                <a16:creationId xmlns:a16="http://schemas.microsoft.com/office/drawing/2014/main" id="{37D92AED-13CB-8EFE-4597-BACFCD5386FD}"/>
              </a:ext>
            </a:extLst>
          </p:cNvPr>
          <p:cNvSpPr>
            <a:spLocks noGrp="1"/>
          </p:cNvSpPr>
          <p:nvPr>
            <p:ph idx="1"/>
          </p:nvPr>
        </p:nvSpPr>
        <p:spPr>
          <a:xfrm>
            <a:off x="0" y="589935"/>
            <a:ext cx="12192000" cy="6096000"/>
          </a:xfrm>
        </p:spPr>
        <p:txBody>
          <a:bodyPr/>
          <a:lstStyle/>
          <a:p>
            <a:r>
              <a:rPr lang="en-US"/>
              <a:t>CO / field visit click on </a:t>
            </a:r>
            <a:r>
              <a:rPr lang="ar-EG" b="1"/>
              <a:t>حفظ جميع بيانات الزيارة الميدانية للعميل</a:t>
            </a:r>
            <a:endParaRPr lang="en-US" b="1"/>
          </a:p>
          <a:p>
            <a:pPr lvl="1"/>
            <a:r>
              <a:rPr lang="en-US"/>
              <a:t>FlowChart/Transactions_Deportations/</a:t>
            </a:r>
            <a:r>
              <a:rPr lang="en-US" b="1">
                <a:solidFill>
                  <a:srgbClr val="FFFF00"/>
                </a:solidFill>
              </a:rPr>
              <a:t>Flow_FieldVisits_mainController</a:t>
            </a:r>
            <a:r>
              <a:rPr lang="en-US"/>
              <a:t>/</a:t>
            </a:r>
            <a:r>
              <a:rPr lang="en-US" b="1">
                <a:solidFill>
                  <a:srgbClr val="00B0F0"/>
                </a:solidFill>
              </a:rPr>
              <a:t>InsertOrUpdateFlow_FieldVisits_ClientsWithDocuments</a:t>
            </a:r>
            <a:endParaRPr lang="ar-EG" b="1">
              <a:solidFill>
                <a:srgbClr val="00B0F0"/>
              </a:solidFill>
            </a:endParaRPr>
          </a:p>
          <a:p>
            <a:pPr lvl="1"/>
            <a:r>
              <a:rPr lang="en-US" b="1">
                <a:solidFill>
                  <a:srgbClr val="FFC000"/>
                </a:solidFill>
              </a:rPr>
              <a:t>void</a:t>
            </a:r>
            <a:r>
              <a:rPr lang="en-US"/>
              <a:t> </a:t>
            </a:r>
            <a:r>
              <a:rPr lang="en-US" b="1">
                <a:solidFill>
                  <a:srgbClr val="00B0F0"/>
                </a:solidFill>
              </a:rPr>
              <a:t>Flow_FieldVisits_mainService</a:t>
            </a:r>
            <a:r>
              <a:rPr lang="en-US"/>
              <a:t>.</a:t>
            </a:r>
            <a:r>
              <a:rPr lang="en-US" b="1">
                <a:solidFill>
                  <a:srgbClr val="FFFF00"/>
                </a:solidFill>
              </a:rPr>
              <a:t>InsertFlow_FieldVisits_main </a:t>
            </a:r>
            <a:r>
              <a:rPr lang="en-US"/>
              <a:t>( </a:t>
            </a:r>
            <a:r>
              <a:rPr lang="en-US" b="1">
                <a:solidFill>
                  <a:schemeClr val="accent6"/>
                </a:solidFill>
              </a:rPr>
              <a:t>Flow_FieldVisits_main</a:t>
            </a:r>
            <a:r>
              <a:rPr lang="en-US"/>
              <a:t> )</a:t>
            </a:r>
          </a:p>
          <a:p>
            <a:r>
              <a:rPr lang="en-US"/>
              <a:t>CO field visit / </a:t>
            </a:r>
            <a:r>
              <a:rPr lang="ar-EG"/>
              <a:t>حفظ بيانات التحليل المالي</a:t>
            </a:r>
          </a:p>
          <a:p>
            <a:pPr lvl="1"/>
            <a:r>
              <a:rPr lang="en-US"/>
              <a:t>Transactions_Deportations/</a:t>
            </a:r>
            <a:r>
              <a:rPr lang="en-US" b="1">
                <a:solidFill>
                  <a:srgbClr val="FFFF00"/>
                </a:solidFill>
              </a:rPr>
              <a:t>Flow_FieldVisits_mainController</a:t>
            </a:r>
            <a:r>
              <a:rPr lang="en-US"/>
              <a:t>/</a:t>
            </a:r>
            <a:r>
              <a:rPr lang="en-US" b="1">
                <a:solidFill>
                  <a:srgbClr val="00B0F0"/>
                </a:solidFill>
              </a:rPr>
              <a:t>InserUpdateFlow_FieldVisits_FinancialAnalysis</a:t>
            </a:r>
          </a:p>
          <a:p>
            <a:pPr lvl="1"/>
            <a:r>
              <a:rPr lang="en-US" b="1">
                <a:solidFill>
                  <a:srgbClr val="FFC000"/>
                </a:solidFill>
              </a:rPr>
              <a:t>void</a:t>
            </a:r>
            <a:r>
              <a:rPr lang="en-US"/>
              <a:t> </a:t>
            </a:r>
            <a:r>
              <a:rPr lang="en-US" b="1">
                <a:solidFill>
                  <a:srgbClr val="00B0F0"/>
                </a:solidFill>
              </a:rPr>
              <a:t>Flow_FieldVisits_mainService</a:t>
            </a:r>
            <a:r>
              <a:rPr lang="en-US"/>
              <a:t>. </a:t>
            </a:r>
            <a:r>
              <a:rPr lang="en-US" b="1">
                <a:solidFill>
                  <a:srgbClr val="FFFF00"/>
                </a:solidFill>
              </a:rPr>
              <a:t>InserOrUpdateFlow_FieldVisits_FinancialAnalysis </a:t>
            </a:r>
            <a:r>
              <a:rPr lang="en-US" sz="1600"/>
              <a:t>(</a:t>
            </a:r>
            <a:r>
              <a:rPr lang="en-US" sz="1600" b="1">
                <a:solidFill>
                  <a:schemeClr val="accent6"/>
                </a:solidFill>
              </a:rPr>
              <a:t>Flow_FieldVisits_main</a:t>
            </a:r>
            <a:r>
              <a:rPr lang="en-US" sz="1600"/>
              <a:t>)</a:t>
            </a:r>
          </a:p>
          <a:p>
            <a:r>
              <a:rPr lang="en-US"/>
              <a:t>CO field visit , click on </a:t>
            </a:r>
            <a:r>
              <a:rPr lang="ar-EG"/>
              <a:t>حفظ بيانات الزيارة الميدانية للمنشأة</a:t>
            </a:r>
          </a:p>
          <a:p>
            <a:pPr lvl="1"/>
            <a:r>
              <a:rPr lang="en-US"/>
              <a:t>FlowChart/Transactions_Deportations/</a:t>
            </a:r>
            <a:r>
              <a:rPr lang="en-US" b="1">
                <a:solidFill>
                  <a:srgbClr val="FFFF00"/>
                </a:solidFill>
              </a:rPr>
              <a:t> Flow_FieldVisits_mainController</a:t>
            </a:r>
            <a:r>
              <a:rPr lang="en-US"/>
              <a:t>/InserUpdateFlow_FieldVisits_ORG</a:t>
            </a:r>
          </a:p>
          <a:p>
            <a:pPr lvl="1"/>
            <a:r>
              <a:rPr lang="en-US" b="1">
                <a:solidFill>
                  <a:srgbClr val="FFC000"/>
                </a:solidFill>
              </a:rPr>
              <a:t>void</a:t>
            </a:r>
            <a:r>
              <a:rPr lang="en-US"/>
              <a:t> </a:t>
            </a:r>
            <a:r>
              <a:rPr lang="en-US" b="1">
                <a:solidFill>
                  <a:srgbClr val="00B0F0"/>
                </a:solidFill>
              </a:rPr>
              <a:t>Flow_FieldVisits_mainService.</a:t>
            </a:r>
            <a:r>
              <a:rPr lang="en-US" b="1">
                <a:solidFill>
                  <a:srgbClr val="FFFF00"/>
                </a:solidFill>
              </a:rPr>
              <a:t>InserOrUpdateFlow_FieldVisits_Organization</a:t>
            </a:r>
            <a:r>
              <a:rPr lang="en-US"/>
              <a:t> ( </a:t>
            </a:r>
            <a:r>
              <a:rPr lang="en-US" sz="1600" b="1">
                <a:solidFill>
                  <a:schemeClr val="accent6"/>
                </a:solidFill>
              </a:rPr>
              <a:t>Flow_FieldVisits_main </a:t>
            </a:r>
            <a:r>
              <a:rPr lang="en-US"/>
              <a:t>)</a:t>
            </a:r>
          </a:p>
          <a:p>
            <a:r>
              <a:rPr lang="en-US" b="1"/>
              <a:t>When CO at field visit click on : </a:t>
            </a:r>
            <a:r>
              <a:rPr lang="ar-EG" b="1"/>
              <a:t>الموافقة على الطلب اثناء الزيارة الميدانية</a:t>
            </a:r>
            <a:endParaRPr lang="en-US" b="1"/>
          </a:p>
          <a:p>
            <a:pPr lvl="1"/>
            <a:r>
              <a:rPr lang="en-US" b="1"/>
              <a:t>FlowChart/Transactions</a:t>
            </a:r>
            <a:r>
              <a:rPr lang="en-US"/>
              <a:t>/</a:t>
            </a:r>
            <a:r>
              <a:rPr lang="en-US" b="1">
                <a:solidFill>
                  <a:srgbClr val="FFFF00"/>
                </a:solidFill>
              </a:rPr>
              <a:t> Flow_Funding_requestController</a:t>
            </a:r>
            <a:r>
              <a:rPr lang="en-US"/>
              <a:t>/</a:t>
            </a:r>
            <a:r>
              <a:rPr lang="en-US" b="1">
                <a:solidFill>
                  <a:srgbClr val="00B0F0"/>
                </a:solidFill>
              </a:rPr>
              <a:t>ExecuteApproved</a:t>
            </a:r>
            <a:endParaRPr lang="en-US"/>
          </a:p>
          <a:p>
            <a:pPr lvl="1"/>
            <a:r>
              <a:rPr lang="en-US" b="1">
                <a:solidFill>
                  <a:srgbClr val="FFC000"/>
                </a:solidFill>
              </a:rPr>
              <a:t>DeportationVM</a:t>
            </a:r>
            <a:r>
              <a:rPr lang="en-US"/>
              <a:t> </a:t>
            </a:r>
            <a:r>
              <a:rPr lang="en-US" b="1">
                <a:solidFill>
                  <a:srgbClr val="00B0F0"/>
                </a:solidFill>
              </a:rPr>
              <a:t>Flow_Funding_requestService.</a:t>
            </a:r>
            <a:r>
              <a:rPr lang="en-US" b="1"/>
              <a:t>ExecuteApproved</a:t>
            </a:r>
            <a:r>
              <a:rPr lang="en-US"/>
              <a:t>( </a:t>
            </a:r>
            <a:r>
              <a:rPr lang="en-US" b="1"/>
              <a:t>DeportationVM</a:t>
            </a:r>
            <a:r>
              <a:rPr lang="en-US"/>
              <a:t> )</a:t>
            </a:r>
            <a:endParaRPr lang="en-US" b="1"/>
          </a:p>
          <a:p>
            <a:endParaRPr lang="en-US"/>
          </a:p>
        </p:txBody>
      </p:sp>
    </p:spTree>
    <p:extLst>
      <p:ext uri="{BB962C8B-B14F-4D97-AF65-F5344CB8AC3E}">
        <p14:creationId xmlns:p14="http://schemas.microsoft.com/office/powerpoint/2010/main" val="390750233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4C315-D5BB-9208-9A84-EBF647FD2C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D54340-BEA4-D76D-A4B5-597015698F28}"/>
              </a:ext>
            </a:extLst>
          </p:cNvPr>
          <p:cNvSpPr>
            <a:spLocks noGrp="1"/>
          </p:cNvSpPr>
          <p:nvPr>
            <p:ph type="title"/>
          </p:nvPr>
        </p:nvSpPr>
        <p:spPr>
          <a:xfrm>
            <a:off x="919119" y="-1"/>
            <a:ext cx="10353762" cy="717755"/>
          </a:xfrm>
        </p:spPr>
        <p:txBody>
          <a:bodyPr>
            <a:normAutofit/>
          </a:bodyPr>
          <a:lstStyle/>
          <a:p>
            <a:r>
              <a:rPr lang="en-US" b="1">
                <a:solidFill>
                  <a:srgbClr val="FF0000"/>
                </a:solidFill>
              </a:rPr>
              <a:t>Places</a:t>
            </a:r>
            <a:endParaRPr lang="en-US"/>
          </a:p>
        </p:txBody>
      </p:sp>
      <p:sp>
        <p:nvSpPr>
          <p:cNvPr id="3" name="Content Placeholder 2">
            <a:extLst>
              <a:ext uri="{FF2B5EF4-FFF2-40B4-BE49-F238E27FC236}">
                <a16:creationId xmlns:a16="http://schemas.microsoft.com/office/drawing/2014/main" id="{AAC3A87D-D188-7028-2B78-CE813FB9E245}"/>
              </a:ext>
            </a:extLst>
          </p:cNvPr>
          <p:cNvSpPr>
            <a:spLocks noGrp="1"/>
          </p:cNvSpPr>
          <p:nvPr>
            <p:ph idx="1"/>
          </p:nvPr>
        </p:nvSpPr>
        <p:spPr>
          <a:xfrm>
            <a:off x="913795" y="717755"/>
            <a:ext cx="10353762" cy="5073446"/>
          </a:xfrm>
        </p:spPr>
        <p:txBody>
          <a:bodyPr/>
          <a:lstStyle/>
          <a:p>
            <a:r>
              <a:rPr lang="en-US"/>
              <a:t>When click on </a:t>
            </a:r>
            <a:r>
              <a:rPr lang="ar-EG"/>
              <a:t> حفظ المستندات</a:t>
            </a:r>
            <a:r>
              <a:rPr lang="en-US"/>
              <a:t>At Documents Uploading stage</a:t>
            </a:r>
          </a:p>
          <a:p>
            <a:pPr lvl="1"/>
            <a:r>
              <a:rPr lang="en-US"/>
              <a:t>FlowChart/Transactions/</a:t>
            </a:r>
            <a:r>
              <a:rPr lang="en-US" b="1">
                <a:solidFill>
                  <a:srgbClr val="FFFF00"/>
                </a:solidFill>
              </a:rPr>
              <a:t>Flow_Funding_requestController</a:t>
            </a:r>
            <a:r>
              <a:rPr lang="en-US"/>
              <a:t>/</a:t>
            </a:r>
            <a:r>
              <a:rPr lang="en-US" b="1">
                <a:solidFill>
                  <a:srgbClr val="00B0F0"/>
                </a:solidFill>
              </a:rPr>
              <a:t>UploadBranchManagerDocs</a:t>
            </a:r>
          </a:p>
          <a:p>
            <a:pPr lvl="1"/>
            <a:r>
              <a:rPr lang="en-US" b="1">
                <a:solidFill>
                  <a:srgbClr val="FFFF00"/>
                </a:solidFill>
              </a:rPr>
              <a:t>Flow_Funding_requestService</a:t>
            </a:r>
            <a:r>
              <a:rPr lang="en-US"/>
              <a:t>.</a:t>
            </a:r>
            <a:r>
              <a:rPr lang="en-US" b="1">
                <a:solidFill>
                  <a:srgbClr val="00B0F0"/>
                </a:solidFill>
              </a:rPr>
              <a:t>UploadBranchManagerDocs</a:t>
            </a:r>
            <a:r>
              <a:rPr lang="en-US"/>
              <a:t>(</a:t>
            </a:r>
            <a:r>
              <a:rPr lang="en-US" b="1">
                <a:solidFill>
                  <a:srgbClr val="FFC000"/>
                </a:solidFill>
              </a:rPr>
              <a:t>Flow_Funding_request</a:t>
            </a:r>
            <a:r>
              <a:rPr lang="en-US"/>
              <a:t>)</a:t>
            </a:r>
          </a:p>
          <a:p>
            <a:pPr marL="450000" lvl="1" indent="0">
              <a:buNone/>
            </a:pPr>
            <a:endParaRPr lang="en-US"/>
          </a:p>
          <a:p>
            <a:r>
              <a:rPr lang="en-US"/>
              <a:t>_Flow_Rejections_mainService.GetAllRejectionFieldsByRequest_id(Request_id)</a:t>
            </a:r>
          </a:p>
          <a:p>
            <a:endParaRPr lang="en-US"/>
          </a:p>
        </p:txBody>
      </p:sp>
    </p:spTree>
    <p:extLst>
      <p:ext uri="{BB962C8B-B14F-4D97-AF65-F5344CB8AC3E}">
        <p14:creationId xmlns:p14="http://schemas.microsoft.com/office/powerpoint/2010/main" val="25139270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9EE3C-9842-9B40-528D-1519F5802D2A}"/>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Flags </a:t>
            </a:r>
          </a:p>
        </p:txBody>
      </p:sp>
    </p:spTree>
    <p:extLst>
      <p:ext uri="{BB962C8B-B14F-4D97-AF65-F5344CB8AC3E}">
        <p14:creationId xmlns:p14="http://schemas.microsoft.com/office/powerpoint/2010/main" val="84737100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FB2D7-03BA-2D61-9B8C-33B7C013C249}"/>
              </a:ext>
            </a:extLst>
          </p:cNvPr>
          <p:cNvSpPr>
            <a:spLocks noGrp="1"/>
          </p:cNvSpPr>
          <p:nvPr>
            <p:ph type="title"/>
          </p:nvPr>
        </p:nvSpPr>
        <p:spPr>
          <a:xfrm>
            <a:off x="913795" y="0"/>
            <a:ext cx="10353762" cy="670560"/>
          </a:xfrm>
        </p:spPr>
        <p:txBody>
          <a:bodyPr>
            <a:normAutofit fontScale="90000"/>
          </a:bodyPr>
          <a:lstStyle/>
          <a:p>
            <a:r>
              <a:rPr lang="en-US" b="1">
                <a:solidFill>
                  <a:srgbClr val="FFFF00"/>
                </a:solidFill>
              </a:rPr>
              <a:t>SWF. </a:t>
            </a:r>
            <a:r>
              <a:rPr lang="en-US" b="1">
                <a:solidFill>
                  <a:srgbClr val="FF0000"/>
                </a:solidFill>
              </a:rPr>
              <a:t>Flow_status: [ Table ]</a:t>
            </a:r>
          </a:p>
        </p:txBody>
      </p:sp>
      <p:sp>
        <p:nvSpPr>
          <p:cNvPr id="3" name="Content Placeholder 2">
            <a:extLst>
              <a:ext uri="{FF2B5EF4-FFF2-40B4-BE49-F238E27FC236}">
                <a16:creationId xmlns:a16="http://schemas.microsoft.com/office/drawing/2014/main" id="{F9041307-80B3-BFC1-F603-ECEB0566C279}"/>
              </a:ext>
            </a:extLst>
          </p:cNvPr>
          <p:cNvSpPr>
            <a:spLocks noGrp="1"/>
          </p:cNvSpPr>
          <p:nvPr>
            <p:ph idx="1"/>
          </p:nvPr>
        </p:nvSpPr>
        <p:spPr>
          <a:xfrm>
            <a:off x="223520" y="670560"/>
            <a:ext cx="11724640" cy="5994400"/>
          </a:xfrm>
        </p:spPr>
        <p:txBody>
          <a:bodyPr/>
          <a:lstStyle/>
          <a:p>
            <a:r>
              <a:rPr lang="en-US"/>
              <a:t>FK : in </a:t>
            </a:r>
            <a:r>
              <a:rPr lang="en-US" b="1">
                <a:solidFill>
                  <a:srgbClr val="FFFF00"/>
                </a:solidFill>
              </a:rPr>
              <a:t>Flow_Funding_request</a:t>
            </a:r>
            <a:r>
              <a:rPr lang="en-US"/>
              <a:t> as </a:t>
            </a:r>
            <a:r>
              <a:rPr lang="en-US" sz="2400" b="1">
                <a:solidFill>
                  <a:srgbClr val="00B0F0"/>
                </a:solidFill>
              </a:rPr>
              <a:t>status_code</a:t>
            </a:r>
            <a:endParaRPr lang="en-US" b="1">
              <a:solidFill>
                <a:srgbClr val="00B0F0"/>
              </a:solidFill>
            </a:endParaRPr>
          </a:p>
          <a:p>
            <a:pPr lvl="1"/>
            <a:r>
              <a:rPr lang="en-US" b="1"/>
              <a:t>11 :</a:t>
            </a:r>
            <a:r>
              <a:rPr lang="ar-EG" b="1"/>
              <a:t> </a:t>
            </a:r>
            <a:r>
              <a:rPr lang="en-US" b="1">
                <a:solidFill>
                  <a:srgbClr val="00B0F0"/>
                </a:solidFill>
              </a:rPr>
              <a:t>FixedStatus.</a:t>
            </a:r>
            <a:r>
              <a:rPr lang="fr-FR" b="1">
                <a:solidFill>
                  <a:srgbClr val="FFC000"/>
                </a:solidFill>
              </a:rPr>
              <a:t>Status_code_11_Fail_Connct_Iscore</a:t>
            </a:r>
            <a:r>
              <a:rPr lang="en-US" b="1"/>
              <a:t> </a:t>
            </a:r>
            <a:r>
              <a:rPr lang="ar-EG" b="1"/>
              <a:t>فشل في تحميل أي سكور</a:t>
            </a:r>
            <a:endParaRPr lang="en-US" b="1"/>
          </a:p>
          <a:p>
            <a:pPr lvl="1"/>
            <a:r>
              <a:rPr lang="en-US" b="1"/>
              <a:t> 0  : </a:t>
            </a:r>
            <a:r>
              <a:rPr lang="en-US" b="1">
                <a:solidFill>
                  <a:srgbClr val="00B0F0"/>
                </a:solidFill>
              </a:rPr>
              <a:t>FixedStatus.</a:t>
            </a:r>
            <a:r>
              <a:rPr lang="en-US" b="1">
                <a:solidFill>
                  <a:srgbClr val="FFC000"/>
                </a:solidFill>
              </a:rPr>
              <a:t>Status_code_0_Saved_LO</a:t>
            </a:r>
            <a:r>
              <a:rPr lang="en-US" b="1"/>
              <a:t> </a:t>
            </a:r>
            <a:r>
              <a:rPr lang="ar-EG" b="1"/>
              <a:t> الطلب تم حفظه عند مسئول التمويل</a:t>
            </a:r>
            <a:endParaRPr lang="en-US" b="1"/>
          </a:p>
          <a:p>
            <a:pPr lvl="1"/>
            <a:r>
              <a:rPr lang="en-US" b="1"/>
              <a:t>19 </a:t>
            </a:r>
            <a:r>
              <a:rPr lang="ar-EG" b="1"/>
              <a:t>:</a:t>
            </a:r>
            <a:r>
              <a:rPr lang="en-US" b="1"/>
              <a:t> </a:t>
            </a:r>
            <a:r>
              <a:rPr lang="en-US" b="1">
                <a:solidFill>
                  <a:srgbClr val="00B0F0"/>
                </a:solidFill>
              </a:rPr>
              <a:t>FixedStatus.</a:t>
            </a:r>
            <a:r>
              <a:rPr lang="en-US" b="1">
                <a:solidFill>
                  <a:srgbClr val="FFC000"/>
                </a:solidFill>
              </a:rPr>
              <a:t>Status_code_19_finaleReject</a:t>
            </a:r>
            <a:r>
              <a:rPr lang="en-US" b="1"/>
              <a:t> </a:t>
            </a:r>
            <a:r>
              <a:rPr lang="ar-EG" b="1"/>
              <a:t>الطلب تم رفضه نهائي من قبل المسئول الاول</a:t>
            </a:r>
          </a:p>
          <a:p>
            <a:pPr lvl="1"/>
            <a:r>
              <a:rPr lang="en-US" b="1"/>
              <a:t>56 : </a:t>
            </a:r>
            <a:r>
              <a:rPr lang="en-US" b="1">
                <a:solidFill>
                  <a:srgbClr val="00B0F0"/>
                </a:solidFill>
              </a:rPr>
              <a:t>FixedStatus.</a:t>
            </a:r>
            <a:r>
              <a:rPr lang="en-US" b="1">
                <a:solidFill>
                  <a:srgbClr val="FFC000"/>
                </a:solidFill>
              </a:rPr>
              <a:t>Status_code_56_Send_To_CO</a:t>
            </a:r>
            <a:r>
              <a:rPr lang="en-US" b="1"/>
              <a:t> </a:t>
            </a:r>
            <a:r>
              <a:rPr lang="ar-EG" b="1"/>
              <a:t>الطلب تم ترحيله إلى المسؤول الأول </a:t>
            </a:r>
            <a:r>
              <a:rPr lang="en-US" b="1"/>
              <a:t> </a:t>
            </a:r>
          </a:p>
          <a:p>
            <a:pPr lvl="1"/>
            <a:r>
              <a:rPr lang="en-US" b="1"/>
              <a:t>53 : </a:t>
            </a:r>
            <a:r>
              <a:rPr lang="en-US" b="1">
                <a:solidFill>
                  <a:srgbClr val="00B0F0"/>
                </a:solidFill>
              </a:rPr>
              <a:t>FixedStatus</a:t>
            </a:r>
            <a:r>
              <a:rPr lang="en-US" b="1"/>
              <a:t>.</a:t>
            </a:r>
            <a:r>
              <a:rPr lang="en-US" b="1">
                <a:solidFill>
                  <a:srgbClr val="FFC000"/>
                </a:solidFill>
              </a:rPr>
              <a:t>Status_code_53_GurantorReject</a:t>
            </a:r>
            <a:r>
              <a:rPr lang="en-US" b="1"/>
              <a:t> </a:t>
            </a:r>
            <a:r>
              <a:rPr lang="ar-EG" b="1"/>
              <a:t>رفض ضامن </a:t>
            </a:r>
            <a:endParaRPr lang="en-US" b="1"/>
          </a:p>
          <a:p>
            <a:pPr lvl="1"/>
            <a:r>
              <a:rPr lang="en-US" b="1"/>
              <a:t>1</a:t>
            </a:r>
            <a:r>
              <a:rPr lang="ar-EG" b="1"/>
              <a:t>9</a:t>
            </a:r>
            <a:r>
              <a:rPr lang="en-US" b="1"/>
              <a:t> : </a:t>
            </a:r>
            <a:r>
              <a:rPr lang="en-US" b="1">
                <a:solidFill>
                  <a:srgbClr val="00B0F0"/>
                </a:solidFill>
              </a:rPr>
              <a:t>FixedStatus.</a:t>
            </a:r>
            <a:r>
              <a:rPr lang="en-US" b="1">
                <a:solidFill>
                  <a:srgbClr val="FFC000"/>
                </a:solidFill>
              </a:rPr>
              <a:t>Status_code_19_finaleReject</a:t>
            </a:r>
            <a:r>
              <a:rPr lang="en-US" b="1"/>
              <a:t>  </a:t>
            </a:r>
            <a:r>
              <a:rPr lang="ar-EG" b="1"/>
              <a:t>رفض نهائي</a:t>
            </a:r>
          </a:p>
          <a:p>
            <a:pPr lvl="1"/>
            <a:r>
              <a:rPr lang="en-US" b="1"/>
              <a:t>8</a:t>
            </a:r>
            <a:r>
              <a:rPr lang="en-US"/>
              <a:t>   </a:t>
            </a:r>
            <a:r>
              <a:rPr lang="en-US" b="1"/>
              <a:t>:</a:t>
            </a:r>
            <a:r>
              <a:rPr lang="en-US"/>
              <a:t> </a:t>
            </a:r>
            <a:r>
              <a:rPr lang="en-US" b="1">
                <a:solidFill>
                  <a:srgbClr val="00B0F0"/>
                </a:solidFill>
              </a:rPr>
              <a:t>FixedStatus.</a:t>
            </a:r>
            <a:r>
              <a:rPr lang="en-US" b="1">
                <a:solidFill>
                  <a:srgbClr val="FFC000"/>
                </a:solidFill>
              </a:rPr>
              <a:t>Status_code_8_Ready_To_Disbursment</a:t>
            </a:r>
            <a:r>
              <a:rPr lang="en-US" b="1">
                <a:solidFill>
                  <a:srgbClr val="00B0F0"/>
                </a:solidFill>
              </a:rPr>
              <a:t> </a:t>
            </a:r>
            <a:r>
              <a:rPr lang="ar-EG"/>
              <a:t>جاهز للصرف </a:t>
            </a:r>
            <a:endParaRPr lang="en-US"/>
          </a:p>
          <a:p>
            <a:endParaRPr lang="en-US"/>
          </a:p>
          <a:p>
            <a:endParaRPr lang="en-US"/>
          </a:p>
        </p:txBody>
      </p:sp>
    </p:spTree>
    <p:extLst>
      <p:ext uri="{BB962C8B-B14F-4D97-AF65-F5344CB8AC3E}">
        <p14:creationId xmlns:p14="http://schemas.microsoft.com/office/powerpoint/2010/main" val="60889632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A154E-473C-24DA-3498-71069B572508}"/>
              </a:ext>
            </a:extLst>
          </p:cNvPr>
          <p:cNvSpPr>
            <a:spLocks noGrp="1"/>
          </p:cNvSpPr>
          <p:nvPr>
            <p:ph type="title"/>
          </p:nvPr>
        </p:nvSpPr>
        <p:spPr>
          <a:xfrm>
            <a:off x="913795" y="0"/>
            <a:ext cx="10353762" cy="822960"/>
          </a:xfrm>
        </p:spPr>
        <p:txBody>
          <a:bodyPr/>
          <a:lstStyle/>
          <a:p>
            <a:r>
              <a:rPr lang="en-US" b="1">
                <a:solidFill>
                  <a:srgbClr val="FF0000"/>
                </a:solidFill>
              </a:rPr>
              <a:t>Request_status</a:t>
            </a:r>
          </a:p>
        </p:txBody>
      </p:sp>
      <p:sp>
        <p:nvSpPr>
          <p:cNvPr id="3" name="Content Placeholder 2">
            <a:extLst>
              <a:ext uri="{FF2B5EF4-FFF2-40B4-BE49-F238E27FC236}">
                <a16:creationId xmlns:a16="http://schemas.microsoft.com/office/drawing/2014/main" id="{512C350C-EB70-704E-F39B-AD42DE6A819A}"/>
              </a:ext>
            </a:extLst>
          </p:cNvPr>
          <p:cNvSpPr>
            <a:spLocks noGrp="1"/>
          </p:cNvSpPr>
          <p:nvPr>
            <p:ph idx="1"/>
          </p:nvPr>
        </p:nvSpPr>
        <p:spPr>
          <a:xfrm>
            <a:off x="913795" y="822960"/>
            <a:ext cx="10353762" cy="5740399"/>
          </a:xfrm>
        </p:spPr>
        <p:txBody>
          <a:bodyPr/>
          <a:lstStyle/>
          <a:p>
            <a:r>
              <a:rPr lang="en-US"/>
              <a:t>Column at Flow_Funding_Request</a:t>
            </a:r>
          </a:p>
          <a:p>
            <a:pPr lvl="1"/>
            <a:r>
              <a:rPr lang="en-US"/>
              <a:t>bool Request_status (IsNew) [1 new , 0 renew ]</a:t>
            </a:r>
            <a:endParaRPr lang="ar-EG"/>
          </a:p>
          <a:p>
            <a:endParaRPr lang="en-US"/>
          </a:p>
        </p:txBody>
      </p:sp>
    </p:spTree>
    <p:extLst>
      <p:ext uri="{BB962C8B-B14F-4D97-AF65-F5344CB8AC3E}">
        <p14:creationId xmlns:p14="http://schemas.microsoft.com/office/powerpoint/2010/main" val="14656501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D6833-77FA-A2BE-28AA-4D076010094C}"/>
              </a:ext>
            </a:extLst>
          </p:cNvPr>
          <p:cNvSpPr>
            <a:spLocks noGrp="1"/>
          </p:cNvSpPr>
          <p:nvPr>
            <p:ph type="title"/>
          </p:nvPr>
        </p:nvSpPr>
        <p:spPr>
          <a:xfrm>
            <a:off x="213360" y="0"/>
            <a:ext cx="11765280" cy="970450"/>
          </a:xfrm>
        </p:spPr>
        <p:txBody>
          <a:bodyPr/>
          <a:lstStyle/>
          <a:p>
            <a:r>
              <a:rPr lang="en-US"/>
              <a:t>Action_Flag</a:t>
            </a:r>
          </a:p>
        </p:txBody>
      </p:sp>
      <p:sp>
        <p:nvSpPr>
          <p:cNvPr id="3" name="Content Placeholder 2">
            <a:extLst>
              <a:ext uri="{FF2B5EF4-FFF2-40B4-BE49-F238E27FC236}">
                <a16:creationId xmlns:a16="http://schemas.microsoft.com/office/drawing/2014/main" id="{6BC2E0CB-5741-5165-F259-B35E7E2D7721}"/>
              </a:ext>
            </a:extLst>
          </p:cNvPr>
          <p:cNvSpPr>
            <a:spLocks noGrp="1"/>
          </p:cNvSpPr>
          <p:nvPr>
            <p:ph idx="1"/>
          </p:nvPr>
        </p:nvSpPr>
        <p:spPr>
          <a:xfrm>
            <a:off x="213360" y="970451"/>
            <a:ext cx="11765280" cy="5755470"/>
          </a:xfrm>
        </p:spPr>
        <p:txBody>
          <a:bodyPr/>
          <a:lstStyle/>
          <a:p>
            <a:r>
              <a:rPr lang="en-US" sz="1800"/>
              <a:t>Column in </a:t>
            </a:r>
            <a:r>
              <a:rPr lang="en-US"/>
              <a:t>Flow_Requests_Log not FK</a:t>
            </a:r>
            <a:endParaRPr lang="en-US" sz="1800"/>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endParaRPr lang="en-US"/>
          </a:p>
        </p:txBody>
      </p:sp>
    </p:spTree>
    <p:extLst>
      <p:ext uri="{BB962C8B-B14F-4D97-AF65-F5344CB8AC3E}">
        <p14:creationId xmlns:p14="http://schemas.microsoft.com/office/powerpoint/2010/main" val="18645791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C0ADE-DBDF-0792-964A-2C7BEF59C3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B9F850-71BA-B902-B075-654D3DAB110F}"/>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Flags </a:t>
            </a:r>
          </a:p>
        </p:txBody>
      </p:sp>
    </p:spTree>
    <p:extLst>
      <p:ext uri="{BB962C8B-B14F-4D97-AF65-F5344CB8AC3E}">
        <p14:creationId xmlns:p14="http://schemas.microsoft.com/office/powerpoint/2010/main" val="295549712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BB69CF-0430-C72F-E158-7D4576E1893D}"/>
              </a:ext>
            </a:extLst>
          </p:cNvPr>
          <p:cNvSpPr>
            <a:spLocks noGrp="1"/>
          </p:cNvSpPr>
          <p:nvPr>
            <p:ph type="title"/>
          </p:nvPr>
        </p:nvSpPr>
        <p:spPr>
          <a:xfrm>
            <a:off x="913795" y="46654"/>
            <a:ext cx="10353762" cy="659024"/>
          </a:xfrm>
        </p:spPr>
        <p:txBody>
          <a:bodyPr>
            <a:normAutofit fontScale="90000"/>
          </a:bodyPr>
          <a:lstStyle/>
          <a:p>
            <a:r>
              <a:rPr lang="en-US" b="1"/>
              <a:t>Micro Login Sequence</a:t>
            </a:r>
          </a:p>
        </p:txBody>
      </p:sp>
      <p:sp>
        <p:nvSpPr>
          <p:cNvPr id="3" name="Content Placeholder 2">
            <a:extLst>
              <a:ext uri="{FF2B5EF4-FFF2-40B4-BE49-F238E27FC236}">
                <a16:creationId xmlns:a16="http://schemas.microsoft.com/office/drawing/2014/main" id="{A7E639F0-DFFB-8A01-6FC5-695433537E24}"/>
              </a:ext>
            </a:extLst>
          </p:cNvPr>
          <p:cNvSpPr>
            <a:spLocks noGrp="1"/>
          </p:cNvSpPr>
          <p:nvPr>
            <p:ph idx="1"/>
          </p:nvPr>
        </p:nvSpPr>
        <p:spPr>
          <a:xfrm>
            <a:off x="258417" y="705678"/>
            <a:ext cx="11009140" cy="6033051"/>
          </a:xfrm>
        </p:spPr>
        <p:txBody>
          <a:bodyPr/>
          <a:lstStyle/>
          <a:p>
            <a:endParaRPr lang="en-US"/>
          </a:p>
          <a:p>
            <a:endParaRPr lang="en-US"/>
          </a:p>
          <a:p>
            <a:endParaRPr lang="en-US"/>
          </a:p>
          <a:p>
            <a:r>
              <a:rPr lang="en-US"/>
              <a:t>Then go to loginService</a:t>
            </a:r>
          </a:p>
          <a:p>
            <a:endParaRPr lang="en-US"/>
          </a:p>
        </p:txBody>
      </p:sp>
      <p:pic>
        <p:nvPicPr>
          <p:cNvPr id="7" name="Picture 6">
            <a:extLst>
              <a:ext uri="{FF2B5EF4-FFF2-40B4-BE49-F238E27FC236}">
                <a16:creationId xmlns:a16="http://schemas.microsoft.com/office/drawing/2014/main" id="{9949445F-5D8F-6554-A6F3-73F4D9DADB18}"/>
              </a:ext>
            </a:extLst>
          </p:cNvPr>
          <p:cNvPicPr>
            <a:picLocks noChangeAspect="1"/>
          </p:cNvPicPr>
          <p:nvPr/>
        </p:nvPicPr>
        <p:blipFill>
          <a:blip r:embed="rId2"/>
          <a:stretch>
            <a:fillRect/>
          </a:stretch>
        </p:blipFill>
        <p:spPr>
          <a:xfrm>
            <a:off x="195592" y="799824"/>
            <a:ext cx="5895084" cy="1129756"/>
          </a:xfrm>
          <a:prstGeom prst="rect">
            <a:avLst/>
          </a:prstGeom>
        </p:spPr>
      </p:pic>
      <p:pic>
        <p:nvPicPr>
          <p:cNvPr id="9" name="Picture 8">
            <a:extLst>
              <a:ext uri="{FF2B5EF4-FFF2-40B4-BE49-F238E27FC236}">
                <a16:creationId xmlns:a16="http://schemas.microsoft.com/office/drawing/2014/main" id="{7D96E95C-6FD8-AD7C-7E21-F0E9E7B05C9D}"/>
              </a:ext>
            </a:extLst>
          </p:cNvPr>
          <p:cNvPicPr>
            <a:picLocks noChangeAspect="1"/>
          </p:cNvPicPr>
          <p:nvPr/>
        </p:nvPicPr>
        <p:blipFill>
          <a:blip r:embed="rId3"/>
          <a:stretch>
            <a:fillRect/>
          </a:stretch>
        </p:blipFill>
        <p:spPr>
          <a:xfrm>
            <a:off x="3450237" y="2023726"/>
            <a:ext cx="4669377" cy="352850"/>
          </a:xfrm>
          <a:prstGeom prst="rect">
            <a:avLst/>
          </a:prstGeom>
        </p:spPr>
      </p:pic>
    </p:spTree>
    <p:extLst>
      <p:ext uri="{BB962C8B-B14F-4D97-AF65-F5344CB8AC3E}">
        <p14:creationId xmlns:p14="http://schemas.microsoft.com/office/powerpoint/2010/main" val="184294637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F4AA3-7E79-717B-411A-17118B60AF4F}"/>
              </a:ext>
            </a:extLst>
          </p:cNvPr>
          <p:cNvSpPr>
            <a:spLocks noGrp="1"/>
          </p:cNvSpPr>
          <p:nvPr>
            <p:ph type="title"/>
          </p:nvPr>
        </p:nvSpPr>
        <p:spPr>
          <a:xfrm>
            <a:off x="919119" y="0"/>
            <a:ext cx="10353762" cy="609600"/>
          </a:xfrm>
        </p:spPr>
        <p:txBody>
          <a:bodyPr>
            <a:normAutofit fontScale="90000"/>
          </a:bodyPr>
          <a:lstStyle/>
          <a:p>
            <a:r>
              <a:rPr lang="en-US" b="1">
                <a:solidFill>
                  <a:srgbClr val="00B0F0"/>
                </a:solidFill>
              </a:rPr>
              <a:t>FlowActionsNameStepFromTo</a:t>
            </a:r>
          </a:p>
        </p:txBody>
      </p:sp>
      <p:sp>
        <p:nvSpPr>
          <p:cNvPr id="3" name="Content Placeholder 2">
            <a:extLst>
              <a:ext uri="{FF2B5EF4-FFF2-40B4-BE49-F238E27FC236}">
                <a16:creationId xmlns:a16="http://schemas.microsoft.com/office/drawing/2014/main" id="{E961D5DF-7A65-7C3F-03D0-4C2653EC27D1}"/>
              </a:ext>
            </a:extLst>
          </p:cNvPr>
          <p:cNvSpPr>
            <a:spLocks noGrp="1"/>
          </p:cNvSpPr>
          <p:nvPr>
            <p:ph idx="1"/>
          </p:nvPr>
        </p:nvSpPr>
        <p:spPr>
          <a:xfrm>
            <a:off x="176980" y="609601"/>
            <a:ext cx="11857703" cy="6145160"/>
          </a:xfrm>
        </p:spPr>
        <p:txBody>
          <a:bodyPr>
            <a:normAutofit fontScale="92500" lnSpcReduction="10000"/>
          </a:bodyPr>
          <a:lstStyle/>
          <a:p>
            <a:r>
              <a:rPr lang="en-US" sz="1800" b="1">
                <a:solidFill>
                  <a:srgbClr val="00B0F0"/>
                </a:solidFill>
              </a:rPr>
              <a:t>Code_FA_from</a:t>
            </a:r>
            <a:r>
              <a:rPr lang="en-US" sz="1800"/>
              <a:t>: int  </a:t>
            </a:r>
          </a:p>
          <a:p>
            <a:r>
              <a:rPr lang="en-US" sz="1800" b="1">
                <a:solidFill>
                  <a:srgbClr val="00B0F0"/>
                </a:solidFill>
              </a:rPr>
              <a:t>Name_stepARFrom</a:t>
            </a:r>
            <a:r>
              <a:rPr lang="en-US" sz="1800"/>
              <a:t>: string  </a:t>
            </a:r>
          </a:p>
          <a:p>
            <a:r>
              <a:rPr lang="en-US" sz="1800"/>
              <a:t>Name_stepENFrom: string  </a:t>
            </a:r>
          </a:p>
          <a:p>
            <a:r>
              <a:rPr lang="en-US" sz="1800"/>
              <a:t>Definition_numberFrom: string  </a:t>
            </a:r>
          </a:p>
          <a:p>
            <a:r>
              <a:rPr lang="en-US" sz="1800"/>
              <a:t>Code_FA_to: int  </a:t>
            </a:r>
          </a:p>
          <a:p>
            <a:r>
              <a:rPr lang="en-US" sz="1800"/>
              <a:t>Name_stepARTo: string  </a:t>
            </a:r>
          </a:p>
          <a:p>
            <a:r>
              <a:rPr lang="en-US" sz="1800"/>
              <a:t>Name_stepENTo: string  </a:t>
            </a:r>
          </a:p>
          <a:p>
            <a:r>
              <a:rPr lang="en-US" sz="1800"/>
              <a:t>Definition_numberTo: string  </a:t>
            </a:r>
          </a:p>
          <a:p>
            <a:r>
              <a:rPr lang="en-US" sz="1800"/>
              <a:t>Type_code: int  </a:t>
            </a:r>
          </a:p>
          <a:p>
            <a:r>
              <a:rPr lang="en-US" sz="1800"/>
              <a:t>JobCode_FA_From: int  </a:t>
            </a:r>
          </a:p>
          <a:p>
            <a:r>
              <a:rPr lang="en-US" sz="1800"/>
              <a:t>JobCode_FA_to: int  </a:t>
            </a:r>
          </a:p>
          <a:p>
            <a:r>
              <a:rPr lang="en-US" sz="1800"/>
              <a:t>Accept: bool  </a:t>
            </a:r>
          </a:p>
          <a:p>
            <a:r>
              <a:rPr lang="en-US" sz="1800"/>
              <a:t>Reject: bool  </a:t>
            </a:r>
          </a:p>
          <a:p>
            <a:r>
              <a:rPr lang="en-US" sz="1800"/>
              <a:t>Final_Reject: bool  </a:t>
            </a:r>
          </a:p>
          <a:p>
            <a:r>
              <a:rPr lang="en-US" sz="1800"/>
              <a:t>Reject_Guaranter: bool  </a:t>
            </a:r>
          </a:p>
          <a:p>
            <a:r>
              <a:rPr lang="en-US" sz="1800"/>
              <a:t>Num_StepOrder: int</a:t>
            </a:r>
          </a:p>
        </p:txBody>
      </p:sp>
    </p:spTree>
    <p:extLst>
      <p:ext uri="{BB962C8B-B14F-4D97-AF65-F5344CB8AC3E}">
        <p14:creationId xmlns:p14="http://schemas.microsoft.com/office/powerpoint/2010/main" val="95362855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DEFA-EFC8-8107-9B75-16D527DC2BC7}"/>
              </a:ext>
            </a:extLst>
          </p:cNvPr>
          <p:cNvSpPr>
            <a:spLocks noGrp="1"/>
          </p:cNvSpPr>
          <p:nvPr>
            <p:ph type="title"/>
          </p:nvPr>
        </p:nvSpPr>
        <p:spPr>
          <a:xfrm>
            <a:off x="913795" y="0"/>
            <a:ext cx="10353762" cy="875071"/>
          </a:xfrm>
        </p:spPr>
        <p:txBody>
          <a:bodyPr/>
          <a:lstStyle/>
          <a:p>
            <a:r>
              <a:rPr lang="en-US" b="1"/>
              <a:t>FundingDataVM</a:t>
            </a:r>
          </a:p>
        </p:txBody>
      </p:sp>
      <p:sp>
        <p:nvSpPr>
          <p:cNvPr id="3" name="Content Placeholder 2">
            <a:extLst>
              <a:ext uri="{FF2B5EF4-FFF2-40B4-BE49-F238E27FC236}">
                <a16:creationId xmlns:a16="http://schemas.microsoft.com/office/drawing/2014/main" id="{5F645AD0-9629-717B-D7CD-C82F6BF6F8D2}"/>
              </a:ext>
            </a:extLst>
          </p:cNvPr>
          <p:cNvSpPr>
            <a:spLocks noGrp="1"/>
          </p:cNvSpPr>
          <p:nvPr>
            <p:ph idx="1"/>
          </p:nvPr>
        </p:nvSpPr>
        <p:spPr>
          <a:xfrm>
            <a:off x="255638" y="1732449"/>
            <a:ext cx="11464413" cy="4343886"/>
          </a:xfrm>
        </p:spPr>
        <p:txBody>
          <a:bodyPr/>
          <a:lstStyle/>
          <a:p>
            <a:endParaRPr lang="en-US"/>
          </a:p>
          <a:p>
            <a:endParaRPr lang="en-US"/>
          </a:p>
          <a:p>
            <a:endParaRPr lang="en-US"/>
          </a:p>
        </p:txBody>
      </p:sp>
      <p:pic>
        <p:nvPicPr>
          <p:cNvPr id="5" name="Picture 4">
            <a:extLst>
              <a:ext uri="{FF2B5EF4-FFF2-40B4-BE49-F238E27FC236}">
                <a16:creationId xmlns:a16="http://schemas.microsoft.com/office/drawing/2014/main" id="{EE64999E-B922-445E-935D-34953D92BC50}"/>
              </a:ext>
            </a:extLst>
          </p:cNvPr>
          <p:cNvPicPr>
            <a:picLocks noChangeAspect="1"/>
          </p:cNvPicPr>
          <p:nvPr/>
        </p:nvPicPr>
        <p:blipFill>
          <a:blip r:embed="rId2"/>
          <a:stretch>
            <a:fillRect/>
          </a:stretch>
        </p:blipFill>
        <p:spPr>
          <a:xfrm>
            <a:off x="913794" y="2137708"/>
            <a:ext cx="6062245" cy="3388021"/>
          </a:xfrm>
          <a:prstGeom prst="rect">
            <a:avLst/>
          </a:prstGeom>
        </p:spPr>
      </p:pic>
    </p:spTree>
    <p:extLst>
      <p:ext uri="{BB962C8B-B14F-4D97-AF65-F5344CB8AC3E}">
        <p14:creationId xmlns:p14="http://schemas.microsoft.com/office/powerpoint/2010/main" val="402651145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a:t>
            </a:r>
            <a:r>
              <a:rPr lang="en-US" sz="2400" b="1">
                <a:solidFill>
                  <a:srgbClr val="00B050"/>
                </a:solidFill>
              </a:rPr>
              <a:t>ProdVM</a:t>
            </a:r>
            <a:r>
              <a:rPr lang="en-US"/>
              <a:t>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56C79-5C5A-0937-18A0-FEA8ACA9363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801C87-24E8-7128-2FAA-9FC53573DBCC}"/>
              </a:ext>
            </a:extLst>
          </p:cNvPr>
          <p:cNvSpPr>
            <a:spLocks noGrp="1"/>
          </p:cNvSpPr>
          <p:nvPr>
            <p:ph idx="1"/>
          </p:nvPr>
        </p:nvSpPr>
        <p:spPr>
          <a:xfrm>
            <a:off x="913795" y="1732449"/>
            <a:ext cx="10353762" cy="4845332"/>
          </a:xfrm>
        </p:spPr>
        <p:txBody>
          <a:bodyPr/>
          <a:lstStyle/>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a:p>
            <a:endParaRPr lang="en-US"/>
          </a:p>
        </p:txBody>
      </p:sp>
    </p:spTree>
    <p:extLst>
      <p:ext uri="{BB962C8B-B14F-4D97-AF65-F5344CB8AC3E}">
        <p14:creationId xmlns:p14="http://schemas.microsoft.com/office/powerpoint/2010/main" val="75435624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1E26FB-A5E8-3CCA-EA68-AC697347FD56}"/>
              </a:ext>
            </a:extLst>
          </p:cNvPr>
          <p:cNvSpPr>
            <a:spLocks noGrp="1"/>
          </p:cNvSpPr>
          <p:nvPr>
            <p:ph type="title"/>
          </p:nvPr>
        </p:nvSpPr>
        <p:spPr>
          <a:xfrm>
            <a:off x="835137" y="0"/>
            <a:ext cx="10353762" cy="970450"/>
          </a:xfrm>
        </p:spPr>
        <p:txBody>
          <a:bodyPr/>
          <a:lstStyle/>
          <a:p>
            <a:r>
              <a:rPr lang="en-US"/>
              <a:t>LoginVM</a:t>
            </a:r>
          </a:p>
        </p:txBody>
      </p:sp>
      <p:sp>
        <p:nvSpPr>
          <p:cNvPr id="3" name="Content Placeholder 2">
            <a:extLst>
              <a:ext uri="{FF2B5EF4-FFF2-40B4-BE49-F238E27FC236}">
                <a16:creationId xmlns:a16="http://schemas.microsoft.com/office/drawing/2014/main" id="{B5F1CE3E-8FBA-4720-E027-74C182BEE6B6}"/>
              </a:ext>
            </a:extLst>
          </p:cNvPr>
          <p:cNvSpPr>
            <a:spLocks noGrp="1"/>
          </p:cNvSpPr>
          <p:nvPr>
            <p:ph idx="1"/>
          </p:nvPr>
        </p:nvSpPr>
        <p:spPr>
          <a:xfrm>
            <a:off x="324464" y="970450"/>
            <a:ext cx="11631561" cy="5794143"/>
          </a:xfrm>
        </p:spPr>
        <p:txBody>
          <a:bodyPr>
            <a:normAutofit/>
          </a:bodyPr>
          <a:lstStyle/>
          <a:p>
            <a:r>
              <a:rPr lang="en-US" sz="1600">
                <a:effectLst/>
              </a:rPr>
              <a:t>UserId</a:t>
            </a:r>
          </a:p>
          <a:p>
            <a:r>
              <a:rPr lang="en-US" sz="1600">
                <a:effectLst/>
              </a:rPr>
              <a:t>UserNameAR</a:t>
            </a:r>
          </a:p>
          <a:p>
            <a:r>
              <a:rPr lang="en-US" sz="1600">
                <a:effectLst/>
              </a:rPr>
              <a:t>UserNameEng</a:t>
            </a:r>
          </a:p>
          <a:p>
            <a:r>
              <a:rPr lang="en-US" sz="1600">
                <a:effectLst/>
              </a:rPr>
              <a:t>BranchNameAR</a:t>
            </a:r>
          </a:p>
          <a:p>
            <a:r>
              <a:rPr lang="en-US" sz="1600">
                <a:effectLst/>
              </a:rPr>
              <a:t>BranchNameEN</a:t>
            </a:r>
          </a:p>
          <a:p>
            <a:r>
              <a:rPr lang="en-US" sz="1600">
                <a:effectLst/>
              </a:rPr>
              <a:t>JobNameAR</a:t>
            </a:r>
          </a:p>
          <a:p>
            <a:r>
              <a:rPr lang="en-US" sz="1600">
                <a:effectLst/>
              </a:rPr>
              <a:t>BranchId</a:t>
            </a:r>
          </a:p>
          <a:p>
            <a:r>
              <a:rPr lang="en-US" sz="1600">
                <a:effectLst/>
              </a:rPr>
              <a:t>RegionId</a:t>
            </a:r>
          </a:p>
          <a:p>
            <a:r>
              <a:rPr lang="en-US" sz="1600">
                <a:effectLst/>
              </a:rPr>
              <a:t>Branch_code</a:t>
            </a:r>
          </a:p>
          <a:p>
            <a:r>
              <a:rPr lang="en-US" sz="1600">
                <a:effectLst/>
              </a:rPr>
              <a:t>ComId</a:t>
            </a:r>
          </a:p>
          <a:p>
            <a:r>
              <a:rPr lang="en-US" sz="1600">
                <a:effectLst/>
              </a:rPr>
              <a:t>JobId</a:t>
            </a:r>
          </a:p>
          <a:p>
            <a:r>
              <a:rPr lang="en-US" sz="1600">
                <a:effectLst/>
              </a:rPr>
              <a:t>JobCode</a:t>
            </a:r>
          </a:p>
          <a:p>
            <a:r>
              <a:rPr lang="en-US" sz="1600">
                <a:effectLst/>
              </a:rPr>
              <a:t>UserCode</a:t>
            </a:r>
          </a:p>
          <a:p>
            <a:r>
              <a:rPr lang="en-US" sz="1600">
                <a:effectLst/>
              </a:rPr>
              <a:t>Numberofmonthsofappointment</a:t>
            </a:r>
          </a:p>
          <a:p>
            <a:endParaRPr lang="en-US" sz="1600">
              <a:effectLst/>
            </a:endParaRPr>
          </a:p>
          <a:p>
            <a:endParaRPr lang="en-US" sz="1600">
              <a:effectLst/>
            </a:endParaRPr>
          </a:p>
        </p:txBody>
      </p:sp>
    </p:spTree>
    <p:extLst>
      <p:ext uri="{BB962C8B-B14F-4D97-AF65-F5344CB8AC3E}">
        <p14:creationId xmlns:p14="http://schemas.microsoft.com/office/powerpoint/2010/main" val="303395720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7A994-CBDD-3869-DFD8-01B774A3E1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C64D57B-77BC-B5EA-09E3-C1C7CE552796}"/>
              </a:ext>
            </a:extLst>
          </p:cNvPr>
          <p:cNvSpPr>
            <a:spLocks noGrp="1"/>
          </p:cNvSpPr>
          <p:nvPr>
            <p:ph idx="1"/>
          </p:nvPr>
        </p:nvSpPr>
        <p:spPr/>
        <p:txBody>
          <a:bodyPr/>
          <a:lstStyle/>
          <a:p>
            <a:r>
              <a:rPr lang="en-US"/>
              <a:t>sd</a:t>
            </a:r>
          </a:p>
        </p:txBody>
      </p:sp>
      <p:pic>
        <p:nvPicPr>
          <p:cNvPr id="5" name="Picture 4">
            <a:extLst>
              <a:ext uri="{FF2B5EF4-FFF2-40B4-BE49-F238E27FC236}">
                <a16:creationId xmlns:a16="http://schemas.microsoft.com/office/drawing/2014/main" id="{EF867BBE-3B01-D551-DC98-D1617DD264F4}"/>
              </a:ext>
            </a:extLst>
          </p:cNvPr>
          <p:cNvPicPr>
            <a:picLocks noChangeAspect="1"/>
          </p:cNvPicPr>
          <p:nvPr/>
        </p:nvPicPr>
        <p:blipFill>
          <a:blip r:embed="rId2"/>
          <a:stretch>
            <a:fillRect/>
          </a:stretch>
        </p:blipFill>
        <p:spPr>
          <a:xfrm>
            <a:off x="1333912" y="3066435"/>
            <a:ext cx="9668385" cy="725129"/>
          </a:xfrm>
          <a:prstGeom prst="rect">
            <a:avLst/>
          </a:prstGeom>
        </p:spPr>
      </p:pic>
    </p:spTree>
    <p:extLst>
      <p:ext uri="{BB962C8B-B14F-4D97-AF65-F5344CB8AC3E}">
        <p14:creationId xmlns:p14="http://schemas.microsoft.com/office/powerpoint/2010/main" val="49620764"/>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41C98-E0C9-150A-788A-B3171AEF14A1}"/>
              </a:ext>
            </a:extLst>
          </p:cNvPr>
          <p:cNvSpPr>
            <a:spLocks noGrp="1"/>
          </p:cNvSpPr>
          <p:nvPr>
            <p:ph type="title"/>
          </p:nvPr>
        </p:nvSpPr>
        <p:spPr>
          <a:xfrm>
            <a:off x="913795" y="1"/>
            <a:ext cx="10353762" cy="685800"/>
          </a:xfrm>
        </p:spPr>
        <p:txBody>
          <a:bodyPr>
            <a:normAutofit fontScale="90000"/>
          </a:bodyPr>
          <a:lstStyle/>
          <a:p>
            <a:r>
              <a:rPr lang="en-US" b="1"/>
              <a:t>To make migration</a:t>
            </a:r>
          </a:p>
        </p:txBody>
      </p:sp>
      <p:sp>
        <p:nvSpPr>
          <p:cNvPr id="3" name="Content Placeholder 2">
            <a:extLst>
              <a:ext uri="{FF2B5EF4-FFF2-40B4-BE49-F238E27FC236}">
                <a16:creationId xmlns:a16="http://schemas.microsoft.com/office/drawing/2014/main" id="{5B937FAB-5FF9-1D3C-71B4-AF439FC0DBCA}"/>
              </a:ext>
            </a:extLst>
          </p:cNvPr>
          <p:cNvSpPr>
            <a:spLocks noGrp="1"/>
          </p:cNvSpPr>
          <p:nvPr>
            <p:ph idx="1"/>
          </p:nvPr>
        </p:nvSpPr>
        <p:spPr>
          <a:xfrm>
            <a:off x="198783" y="685801"/>
            <a:ext cx="11068774" cy="6172198"/>
          </a:xfrm>
        </p:spPr>
        <p:txBody>
          <a:bodyPr/>
          <a:lstStyle/>
          <a:p>
            <a:r>
              <a:rPr lang="en-US"/>
              <a:t>At Tamweely.Infrastructure.Data / at Configuration class / constructor</a:t>
            </a:r>
          </a:p>
          <a:p>
            <a:pPr lvl="1"/>
            <a:r>
              <a:rPr lang="en-US"/>
              <a:t>AutomaticMigrationsEnabled = true;</a:t>
            </a:r>
          </a:p>
          <a:p>
            <a:pPr lvl="1"/>
            <a:r>
              <a:rPr lang="en-US"/>
              <a:t>AutomaticMigrationDataLossAllowed = true;</a:t>
            </a:r>
          </a:p>
          <a:p>
            <a:endParaRPr lang="en-US"/>
          </a:p>
          <a:p>
            <a:r>
              <a:rPr lang="en-US"/>
              <a:t>At Tamweely.Service.WebAPI / Global.asax.cs</a:t>
            </a:r>
          </a:p>
          <a:p>
            <a:pPr lvl="1"/>
            <a:r>
              <a:rPr lang="en-US"/>
              <a:t>Uncomment this code</a:t>
            </a:r>
          </a:p>
          <a:p>
            <a:endParaRPr lang="en-US"/>
          </a:p>
          <a:p>
            <a:endParaRPr lang="en-US"/>
          </a:p>
        </p:txBody>
      </p:sp>
      <p:pic>
        <p:nvPicPr>
          <p:cNvPr id="5" name="Picture 4">
            <a:extLst>
              <a:ext uri="{FF2B5EF4-FFF2-40B4-BE49-F238E27FC236}">
                <a16:creationId xmlns:a16="http://schemas.microsoft.com/office/drawing/2014/main" id="{A80E710F-D6D2-4D6C-8BCB-9691B0411223}"/>
              </a:ext>
            </a:extLst>
          </p:cNvPr>
          <p:cNvPicPr>
            <a:picLocks noChangeAspect="1"/>
          </p:cNvPicPr>
          <p:nvPr/>
        </p:nvPicPr>
        <p:blipFill>
          <a:blip r:embed="rId2"/>
          <a:stretch>
            <a:fillRect/>
          </a:stretch>
        </p:blipFill>
        <p:spPr>
          <a:xfrm>
            <a:off x="6766090" y="2270362"/>
            <a:ext cx="5425910" cy="4587638"/>
          </a:xfrm>
          <a:prstGeom prst="rect">
            <a:avLst/>
          </a:prstGeom>
        </p:spPr>
      </p:pic>
    </p:spTree>
    <p:extLst>
      <p:ext uri="{BB962C8B-B14F-4D97-AF65-F5344CB8AC3E}">
        <p14:creationId xmlns:p14="http://schemas.microsoft.com/office/powerpoint/2010/main" val="158128693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49548</TotalTime>
  <Words>8655</Words>
  <Application>Microsoft Office PowerPoint</Application>
  <PresentationFormat>Widescreen</PresentationFormat>
  <Paragraphs>1191</Paragraphs>
  <Slides>143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143</vt:i4>
      </vt:variant>
    </vt:vector>
  </HeadingPairs>
  <TitlesOfParts>
    <vt:vector size="147" baseType="lpstr">
      <vt:lpstr>Arial</vt:lpstr>
      <vt:lpstr>Calisto MT</vt:lpstr>
      <vt:lpstr>Wingdings 2</vt:lpstr>
      <vt:lpstr>Slate</vt:lpstr>
      <vt:lpstr>Apps Business </vt:lpstr>
      <vt:lpstr>شركات التأمين الخاصة بالتمويل</vt:lpstr>
      <vt:lpstr>أنواع التأمين الخاص بالتمويل ؟</vt:lpstr>
      <vt:lpstr>الحالات التأمينية</vt:lpstr>
      <vt:lpstr>أسباب رفض التعويض</vt:lpstr>
      <vt:lpstr>تعاقد شركة التأمين</vt:lpstr>
      <vt:lpstr>MICRO, Core, Master</vt:lpstr>
      <vt:lpstr>إدخال طلب (Funding Request)</vt:lpstr>
      <vt:lpstr>طلب تمويل تجديد</vt:lpstr>
      <vt:lpstr>Micro, Master, Core Flow Steps</vt:lpstr>
      <vt:lpstr>Funding Request: R111</vt:lpstr>
      <vt:lpstr>LO click on طلب جديد</vt:lpstr>
      <vt:lpstr>LO Select Funding Type [ نوع التمويل ]</vt:lpstr>
      <vt:lpstr>When click on اسم العميل  After write customer Id</vt:lpstr>
      <vt:lpstr>At customer, بيانات الاتصال</vt:lpstr>
      <vt:lpstr>After user fill all customer data and add it</vt:lpstr>
      <vt:lpstr>When Saving Request for the first time VIA LO</vt:lpstr>
      <vt:lpstr>PowerPoint Presentation</vt:lpstr>
      <vt:lpstr>When Saving Request for the first time VIA LO [cont.1]</vt:lpstr>
      <vt:lpstr>When Saving Request for the first time VIA LO [cont.2]</vt:lpstr>
      <vt:lpstr>When Saving Request for the first time VIA LO [cont.3]</vt:lpstr>
      <vt:lpstr>SWF.Flow_status</vt:lpstr>
      <vt:lpstr>End Funding Request (R111)</vt:lpstr>
      <vt:lpstr>TWF. Flow_branch_product</vt:lpstr>
      <vt:lpstr>TWF.Flow_Emp_Product</vt:lpstr>
      <vt:lpstr>TWF.Flow_Contact_Us</vt:lpstr>
      <vt:lpstr>Trans.Trans_GPS_Tracking</vt:lpstr>
      <vt:lpstr>Lookup.Branch</vt:lpstr>
      <vt:lpstr>TWF.Flow_GeneralSettings</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TWF.Flow_Funding_request [cont.]</vt:lpstr>
      <vt:lpstr>TWF.Flow_Funding_request [cont.]</vt:lpstr>
      <vt:lpstr>TDWF.Flow_Request_Deportation</vt:lpstr>
      <vt:lpstr>TDWF.Flow_Request_Deportation [cont. 1]</vt:lpstr>
      <vt:lpstr>TDWF.Flow_Request_Deportation [cont. 2]</vt:lpstr>
      <vt:lpstr>TDWF.Flow_Request_Deportation [cont. 3]</vt:lpstr>
      <vt:lpstr>TDWF.Flow_Request_Deportation [cont. 4]</vt:lpstr>
      <vt:lpstr>TDWF.Flow_Request_Deportation [cont. 5]</vt:lpstr>
      <vt:lpstr>TDWF.Flow_Request_Deportation [cont. 6]</vt:lpstr>
      <vt:lpstr>TDWF.Flow_Request_Deportation [cont. 7]</vt:lpstr>
      <vt:lpstr>TDWF.Flow_Request_Deportation [cont. 8]</vt:lpstr>
      <vt:lpstr>TDWF.Flow_Requests_Log</vt:lpstr>
      <vt:lpstr>TDWF.Flow_Requests_Log (cont.1)</vt:lpstr>
      <vt:lpstr>TDWF.Flow_Requests_Log (cont.2)</vt:lpstr>
      <vt:lpstr>TDWF.Flow_Requests_Log (cont.2)</vt:lpstr>
      <vt:lpstr>TDWF.Flow_Rejections_main</vt:lpstr>
      <vt:lpstr>TDWF.Flow_Rejections_SubOne</vt:lpstr>
      <vt:lpstr>TDWF.Flow_Rejections_SubOne [cont.1]</vt:lpstr>
      <vt:lpstr>Field Visit</vt:lpstr>
      <vt:lpstr>TDWF.Flow_FieldVisits_main</vt:lpstr>
      <vt:lpstr>TDWF.Flow_FieldVisits_Client</vt:lpstr>
      <vt:lpstr>TDWF.Flow_FieldVisits_Organization</vt:lpstr>
      <vt:lpstr>TDWF.Flow_FieldVisits_StatisticsData</vt:lpstr>
      <vt:lpstr>TDWF.Flow_FieldVisits_Guarantor</vt:lpstr>
      <vt:lpstr>TDWF.Flow_FieldVisits_FieldInquiry</vt:lpstr>
      <vt:lpstr>TDWF.Flow_FieldVisits_FinancialAnalysis [التحليل المالي]</vt:lpstr>
      <vt:lpstr>Credit Analysis</vt:lpstr>
      <vt:lpstr>TDWF.Flow_Credit_Analysis</vt:lpstr>
      <vt:lpstr>Documents Uploading DU77</vt:lpstr>
      <vt:lpstr>End Documents Uploading DU77</vt:lpstr>
      <vt:lpstr>SWF setup work flow</vt:lpstr>
      <vt:lpstr>SWF.Flow_repayment_cycle [دورية السداد]</vt:lpstr>
      <vt:lpstr>SWF.Flow_User_Status</vt:lpstr>
      <vt:lpstr>SWF.Flow_status</vt:lpstr>
      <vt:lpstr>SWF.Flow_Types</vt:lpstr>
      <vt:lpstr>SWF.Flow_Purpose_loan</vt:lpstr>
      <vt:lpstr>SWF.Flow_Tabs [الشاشات]</vt:lpstr>
      <vt:lpstr>SWF.Flow_Screen_components</vt:lpstr>
      <vt:lpstr>SWF.Flow_Actions , SWF.Flow_Action_workflow</vt:lpstr>
      <vt:lpstr>SWF. Flow_Branch_Type</vt:lpstr>
      <vt:lpstr>SWF.Flow_Sectors</vt:lpstr>
      <vt:lpstr>SWF.Flow_Main_activity</vt:lpstr>
      <vt:lpstr>SWF.Flow_Sub_activities</vt:lpstr>
      <vt:lpstr>SWF.Flow_Relationships</vt:lpstr>
      <vt:lpstr>SWF.Flow_Customers_jobs</vt:lpstr>
      <vt:lpstr>SWF.Flow_districts</vt:lpstr>
      <vt:lpstr>SWF.Flow_Sections</vt:lpstr>
      <vt:lpstr>SWF.Flow_Identity_Expiry</vt:lpstr>
      <vt:lpstr>End SWF setup work flow</vt:lpstr>
      <vt:lpstr>TWF.Flow_Transfer_Iscore</vt:lpstr>
      <vt:lpstr>TWT.Flow_Products</vt:lpstr>
      <vt:lpstr>TWT.Flow_Products [cont.]</vt:lpstr>
      <vt:lpstr>TWF.Flow_Exempted_Products</vt:lpstr>
      <vt:lpstr>TWF.Flow_Customers</vt:lpstr>
      <vt:lpstr>TWF.Flow_Enterprises</vt:lpstr>
      <vt:lpstr>Company entity</vt:lpstr>
      <vt:lpstr>Acc_Chart_Account entity</vt:lpstr>
      <vt:lpstr>Start Security</vt:lpstr>
      <vt:lpstr>Security.SEC_Action</vt:lpstr>
      <vt:lpstr>Security.Sec_APIs</vt:lpstr>
      <vt:lpstr>Security.SEC_Group</vt:lpstr>
      <vt:lpstr>Security.SEC_Menu</vt:lpstr>
      <vt:lpstr>End Security</vt:lpstr>
      <vt:lpstr>Trans.Trans_BusDate [ تاريخ اليومية ] </vt:lpstr>
      <vt:lpstr>TWF.Flow_ISCORE_Data</vt:lpstr>
      <vt:lpstr>TWF.Flow_ISCORE</vt:lpstr>
      <vt:lpstr>TWF. Flow_Risks</vt:lpstr>
      <vt:lpstr>Security. SEC_Access_tokens</vt:lpstr>
      <vt:lpstr>SWF.Flow_definition_expenditure</vt:lpstr>
      <vt:lpstr>TWF.Flow_select_definitioExp</vt:lpstr>
      <vt:lpstr>DOCS</vt:lpstr>
      <vt:lpstr>SWF.Flow_Types_documents</vt:lpstr>
      <vt:lpstr>TWF.Flow_MandatoryDoc</vt:lpstr>
      <vt:lpstr>TWF.TWF_Download DB table,  Flow_Download class</vt:lpstr>
      <vt:lpstr>documentsFiles</vt:lpstr>
      <vt:lpstr>to know how to GET request docs</vt:lpstr>
      <vt:lpstr>END DOCS</vt:lpstr>
      <vt:lpstr>BranchGovernRegion VM</vt:lpstr>
      <vt:lpstr>Amounts of Funding request</vt:lpstr>
      <vt:lpstr>Jobs</vt:lpstr>
      <vt:lpstr>Calculations</vt:lpstr>
      <vt:lpstr>Financing_Amount, Approv_value</vt:lpstr>
      <vt:lpstr>Actual Financing == Total_Amount</vt:lpstr>
      <vt:lpstr>Commision [ عمولة المنح الخاصة باالمنتج ]</vt:lpstr>
      <vt:lpstr>Loan Interest[ فايدة التمويل ]</vt:lpstr>
      <vt:lpstr>Funding_request.APP_FEE &amp; Funding_request.Rate</vt:lpstr>
      <vt:lpstr>Male &amp; Female from QID</vt:lpstr>
      <vt:lpstr>Places</vt:lpstr>
      <vt:lpstr>Places</vt:lpstr>
      <vt:lpstr>Places</vt:lpstr>
      <vt:lpstr> Start Flags </vt:lpstr>
      <vt:lpstr>SWF. Flow_status: [ Table ]</vt:lpstr>
      <vt:lpstr>Request_status</vt:lpstr>
      <vt:lpstr>Action_Flag</vt:lpstr>
      <vt:lpstr> END Flags </vt:lpstr>
      <vt:lpstr>Micro Login Sequence</vt:lpstr>
      <vt:lpstr>View Models</vt:lpstr>
      <vt:lpstr>FlowActionsNameStepFromTo</vt:lpstr>
      <vt:lpstr>FundingData</vt:lpstr>
      <vt:lpstr>FundingDataVM</vt:lpstr>
      <vt:lpstr>ProdVM</vt:lpstr>
      <vt:lpstr>PowerPoint Presentation</vt:lpstr>
      <vt:lpstr>PowerPoint Presentation</vt:lpstr>
      <vt:lpstr>TransactionVM</vt:lpstr>
      <vt:lpstr>LoginVM</vt:lpstr>
      <vt:lpstr>PowerPoint Presentation</vt:lpstr>
      <vt:lpstr>To make migration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IT Department</cp:lastModifiedBy>
  <cp:revision>1050</cp:revision>
  <dcterms:created xsi:type="dcterms:W3CDTF">2026-02-01T18:13:26Z</dcterms:created>
  <dcterms:modified xsi:type="dcterms:W3CDTF">2026-04-06T12:16:21Z</dcterms:modified>
</cp:coreProperties>
</file>