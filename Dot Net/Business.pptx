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57" r:id="rId3"/>
    <p:sldId id="258" r:id="rId4"/>
    <p:sldId id="259" r:id="rId5"/>
    <p:sldId id="260" r:id="rId6"/>
    <p:sldId id="261" r:id="rId7"/>
    <p:sldId id="263" r:id="rId8"/>
    <p:sldId id="262" r:id="rId9"/>
    <p:sldId id="264" r:id="rId10"/>
    <p:sldId id="277" r:id="rId11"/>
    <p:sldId id="265" r:id="rId12"/>
    <p:sldId id="266" r:id="rId13"/>
    <p:sldId id="267" r:id="rId14"/>
    <p:sldId id="269" r:id="rId15"/>
    <p:sldId id="268" r:id="rId16"/>
    <p:sldId id="270" r:id="rId17"/>
    <p:sldId id="271" r:id="rId18"/>
    <p:sldId id="272" r:id="rId19"/>
    <p:sldId id="273" r:id="rId20"/>
    <p:sldId id="274" r:id="rId21"/>
    <p:sldId id="275" r:id="rId22"/>
    <p:sldId id="278" r:id="rId23"/>
    <p:sldId id="279" r:id="rId24"/>
    <p:sldId id="280" r:id="rId25"/>
    <p:sldId id="285" r:id="rId26"/>
    <p:sldId id="286" r:id="rId27"/>
    <p:sldId id="287" r:id="rId28"/>
    <p:sldId id="281" r:id="rId29"/>
    <p:sldId id="288" r:id="rId30"/>
    <p:sldId id="282" r:id="rId31"/>
    <p:sldId id="283" r:id="rId32"/>
    <p:sldId id="284" r:id="rId33"/>
    <p:sldId id="292" r:id="rId34"/>
    <p:sldId id="293" r:id="rId35"/>
    <p:sldId id="294" r:id="rId36"/>
    <p:sldId id="296" r:id="rId37"/>
    <p:sldId id="297" r:id="rId38"/>
    <p:sldId id="299" r:id="rId39"/>
    <p:sldId id="298" r:id="rId40"/>
    <p:sldId id="300" r:id="rId41"/>
    <p:sldId id="301" r:id="rId42"/>
    <p:sldId id="303" r:id="rId43"/>
    <p:sldId id="276" r:id="rId44"/>
    <p:sldId id="289" r:id="rId45"/>
    <p:sldId id="290" r:id="rId46"/>
    <p:sldId id="295" r:id="rId47"/>
    <p:sldId id="302" r:id="rId4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p:scale>
          <a:sx n="77" d="100"/>
          <a:sy n="77" d="100"/>
        </p:scale>
        <p:origin x="883" y="8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8" Type="http://schemas.openxmlformats.org/officeDocument/2006/relationships/slide" Target="slides/slide7.xml"/><Relationship Id="rId51"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370693" y="1769540"/>
            <a:ext cx="9440034" cy="1828801"/>
          </a:xfrm>
        </p:spPr>
        <p:txBody>
          <a:bodyPr anchor="b">
            <a:normAutofit/>
          </a:bodyPr>
          <a:lstStyle>
            <a:lvl1pPr algn="ctr">
              <a:defRPr sz="5400"/>
            </a:lvl1pPr>
          </a:lstStyle>
          <a:p>
            <a:r>
              <a:rPr lang="en-US"/>
              <a:t>Click to edit Master title style</a:t>
            </a:r>
            <a:endParaRPr lang="en-US" dirty="0"/>
          </a:p>
        </p:txBody>
      </p:sp>
      <p:sp>
        <p:nvSpPr>
          <p:cNvPr id="3" name="Subtitle 2"/>
          <p:cNvSpPr>
            <a:spLocks noGrp="1"/>
          </p:cNvSpPr>
          <p:nvPr>
            <p:ph type="subTitle" idx="1"/>
          </p:nvPr>
        </p:nvSpPr>
        <p:spPr>
          <a:xfrm>
            <a:off x="1370693" y="3598339"/>
            <a:ext cx="9440034" cy="1049867"/>
          </a:xfrm>
        </p:spPr>
        <p:txBody>
          <a:bodyPr anchor="t"/>
          <a:lstStyle>
            <a:lvl1pPr marL="0" indent="0" algn="ctr">
              <a:buNone/>
              <a:defRPr>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C744FA5D-EF1D-489D-8D8F-1FF7B7B6D702}" type="datetimeFigureOut">
              <a:rPr lang="en-US" smtClean="0"/>
              <a:t>2/16/2026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249393886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744FA5D-EF1D-489D-8D8F-1FF7B7B6D702}" type="datetimeFigureOut">
              <a:rPr lang="en-US" smtClean="0"/>
              <a:t>2/16/2026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24645218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295401" y="1761067"/>
            <a:ext cx="9590550" cy="1828813"/>
          </a:xfrm>
        </p:spPr>
        <p:txBody>
          <a:bodyPr anchor="b"/>
          <a:lstStyle>
            <a:lvl1pPr algn="ctr">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1295401" y="3589879"/>
            <a:ext cx="9590550" cy="1507054"/>
          </a:xfrm>
        </p:spPr>
        <p:txBody>
          <a:bodyPr anchor="t"/>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C744FA5D-EF1D-489D-8D8F-1FF7B7B6D702}" type="datetimeFigureOut">
              <a:rPr lang="en-US" smtClean="0"/>
              <a:t>2/16/2026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104963086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913795" y="1732449"/>
            <a:ext cx="5060497" cy="4058750"/>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202892" y="1732449"/>
            <a:ext cx="5064665" cy="4058751"/>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C744FA5D-EF1D-489D-8D8F-1FF7B7B6D702}" type="datetimeFigureOut">
              <a:rPr lang="en-US" smtClean="0"/>
              <a:t>2/16/2026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224948140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pic>
        <p:nvPicPr>
          <p:cNvPr id="20" name="Picture 19" descr="Slate-V2-HD-comp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13795" y="1734506"/>
            <a:ext cx="5089072" cy="4148769"/>
          </a:xfrm>
          <a:prstGeom prst="rect">
            <a:avLst/>
          </a:prstGeom>
        </p:spPr>
      </p:pic>
      <p:pic>
        <p:nvPicPr>
          <p:cNvPr id="21" name="Picture 20" descr="Slate-V2-HD-comp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178485" y="1734506"/>
            <a:ext cx="5089072" cy="4148769"/>
          </a:xfrm>
          <a:prstGeom prst="rect">
            <a:avLst/>
          </a:prstGeom>
        </p:spPr>
      </p:pic>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1005872" y="1835254"/>
            <a:ext cx="4876344" cy="544884"/>
          </a:xfrm>
        </p:spPr>
        <p:txBody>
          <a:bodyPr anchor="b">
            <a:noAutofit/>
          </a:bodyPr>
          <a:lstStyle>
            <a:lvl1pPr marL="0" indent="0" algn="ctr">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005872" y="2380137"/>
            <a:ext cx="4876344" cy="3411063"/>
          </a:xfrm>
        </p:spPr>
        <p:txBody>
          <a:bodyPr anchor="t">
            <a:normAutofit/>
          </a:bodyPr>
          <a:lstStyle>
            <a:lvl1pPr>
              <a:defRPr sz="1800"/>
            </a:lvl1pPr>
            <a:lvl2pPr>
              <a:defRPr sz="1600"/>
            </a:lvl2pPr>
            <a:lvl3pPr>
              <a:defRPr sz="14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294967" y="1835254"/>
            <a:ext cx="4895330" cy="544883"/>
          </a:xfrm>
        </p:spPr>
        <p:txBody>
          <a:bodyPr anchor="b">
            <a:noAutofit/>
          </a:bodyPr>
          <a:lstStyle>
            <a:lvl1pPr marL="0" indent="0" algn="ctr">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294967" y="2380137"/>
            <a:ext cx="4895330" cy="3411063"/>
          </a:xfrm>
        </p:spPr>
        <p:txBody>
          <a:bodyPr anchor="t">
            <a:normAutofit/>
          </a:bodyPr>
          <a:lstStyle>
            <a:lvl1pPr>
              <a:defRPr sz="1800"/>
            </a:lvl1pPr>
            <a:lvl2pPr>
              <a:defRPr sz="1600"/>
            </a:lvl2pPr>
            <a:lvl3pPr>
              <a:defRPr sz="14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C744FA5D-EF1D-489D-8D8F-1FF7B7B6D702}" type="datetimeFigureOut">
              <a:rPr lang="en-US" smtClean="0"/>
              <a:t>2/16/2026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16581795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C744FA5D-EF1D-489D-8D8F-1FF7B7B6D702}" type="datetimeFigureOut">
              <a:rPr lang="en-US" smtClean="0"/>
              <a:t>2/16/2026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102611513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744FA5D-EF1D-489D-8D8F-1FF7B7B6D702}" type="datetimeFigureOut">
              <a:rPr lang="en-US" smtClean="0"/>
              <a:t>2/16/2026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428913435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13795" y="609600"/>
            <a:ext cx="3706889" cy="1821918"/>
          </a:xfrm>
        </p:spPr>
        <p:txBody>
          <a:bodyPr anchor="b">
            <a:normAutofit/>
          </a:bodyPr>
          <a:lstStyle>
            <a:lvl1pPr algn="ctr">
              <a:defRPr sz="2400" b="0"/>
            </a:lvl1pPr>
          </a:lstStyle>
          <a:p>
            <a:r>
              <a:rPr lang="en-US"/>
              <a:t>Click to edit Master title style</a:t>
            </a:r>
            <a:endParaRPr lang="en-US" dirty="0"/>
          </a:p>
        </p:txBody>
      </p:sp>
      <p:sp>
        <p:nvSpPr>
          <p:cNvPr id="3" name="Content Placeholder 2"/>
          <p:cNvSpPr>
            <a:spLocks noGrp="1"/>
          </p:cNvSpPr>
          <p:nvPr>
            <p:ph idx="1"/>
          </p:nvPr>
        </p:nvSpPr>
        <p:spPr>
          <a:xfrm>
            <a:off x="4855633" y="609600"/>
            <a:ext cx="6411924" cy="518160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913795" y="2431518"/>
            <a:ext cx="3706889" cy="3359681"/>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C744FA5D-EF1D-489D-8D8F-1FF7B7B6D702}" type="datetimeFigureOut">
              <a:rPr lang="en-US" smtClean="0"/>
              <a:t>2/16/2026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139045415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pic>
        <p:nvPicPr>
          <p:cNvPr id="22" name="Picture 21" descr="Slate-V2-HD-vert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293665" y="609600"/>
            <a:ext cx="3584166" cy="5204832"/>
          </a:xfrm>
          <a:prstGeom prst="rect">
            <a:avLst/>
          </a:prstGeom>
        </p:spPr>
      </p:pic>
      <p:sp>
        <p:nvSpPr>
          <p:cNvPr id="2" name="Title 1"/>
          <p:cNvSpPr>
            <a:spLocks noGrp="1"/>
          </p:cNvSpPr>
          <p:nvPr>
            <p:ph type="title"/>
          </p:nvPr>
        </p:nvSpPr>
        <p:spPr>
          <a:xfrm>
            <a:off x="913795" y="609923"/>
            <a:ext cx="5934949" cy="1829338"/>
          </a:xfrm>
        </p:spPr>
        <p:txBody>
          <a:bodyPr anchor="b">
            <a:noAutofit/>
          </a:bodyPr>
          <a:lstStyle>
            <a:lvl1pPr algn="ctr">
              <a:defRPr sz="32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7442551" y="763702"/>
            <a:ext cx="3275751" cy="4912822"/>
          </a:xfr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p>
        </p:txBody>
      </p:sp>
      <p:sp>
        <p:nvSpPr>
          <p:cNvPr id="4" name="Text Placeholder 3"/>
          <p:cNvSpPr>
            <a:spLocks noGrp="1"/>
          </p:cNvSpPr>
          <p:nvPr>
            <p:ph type="body" sz="half" idx="2"/>
          </p:nvPr>
        </p:nvSpPr>
        <p:spPr>
          <a:xfrm>
            <a:off x="913795" y="2439261"/>
            <a:ext cx="5934949" cy="3376134"/>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C744FA5D-EF1D-489D-8D8F-1FF7B7B6D702}" type="datetimeFigureOut">
              <a:rPr lang="en-US" smtClean="0"/>
              <a:t>2/16/2026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38720413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pic>
        <p:nvPicPr>
          <p:cNvPr id="16" name="Picture 15" descr="Slate-V2-HD-pano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13883" y="547807"/>
            <a:ext cx="10141799" cy="3816806"/>
          </a:xfrm>
          <a:prstGeom prst="rect">
            <a:avLst/>
          </a:prstGeom>
        </p:spPr>
      </p:pic>
      <p:sp>
        <p:nvSpPr>
          <p:cNvPr id="2" name="Title 1"/>
          <p:cNvSpPr>
            <a:spLocks noGrp="1"/>
          </p:cNvSpPr>
          <p:nvPr>
            <p:ph type="title"/>
          </p:nvPr>
        </p:nvSpPr>
        <p:spPr>
          <a:xfrm>
            <a:off x="913806" y="4565255"/>
            <a:ext cx="10355326" cy="543472"/>
          </a:xfrm>
        </p:spPr>
        <p:txBody>
          <a:bodyPr anchor="b">
            <a:normAutofit/>
          </a:bodyPr>
          <a:lstStyle>
            <a:lvl1pPr algn="ctr">
              <a:defRPr sz="2800"/>
            </a:lvl1pPr>
          </a:lstStyle>
          <a:p>
            <a:r>
              <a:rPr lang="en-US"/>
              <a:t>Click to edit Master title style</a:t>
            </a:r>
            <a:endParaRPr lang="en-US" dirty="0"/>
          </a:p>
        </p:txBody>
      </p:sp>
      <p:sp>
        <p:nvSpPr>
          <p:cNvPr id="3" name="Picture Placeholder 2"/>
          <p:cNvSpPr>
            <a:spLocks noGrp="1" noChangeAspect="1"/>
          </p:cNvSpPr>
          <p:nvPr>
            <p:ph type="pic" idx="1"/>
          </p:nvPr>
        </p:nvSpPr>
        <p:spPr>
          <a:xfrm>
            <a:off x="1169349" y="695009"/>
            <a:ext cx="9845346" cy="3525671"/>
          </a:xfrm>
          <a:effectLst>
            <a:outerShdw blurRad="38100" dist="25400" dir="4440000">
              <a:srgbClr val="000000">
                <a:alpha val="36000"/>
              </a:srgbClr>
            </a:outerShdw>
          </a:effectLst>
        </p:spPr>
        <p:txBody>
          <a:bodyPr anchor="t">
            <a:normAutofit/>
          </a:bodyPr>
          <a:lstStyle>
            <a:lvl1pPr marL="0" indent="0" algn="ctr">
              <a:buNone/>
              <a:defRPr sz="2000"/>
            </a:lvl1pPr>
            <a:lvl2pPr marL="457200" indent="0">
              <a:buNone/>
              <a:defRPr sz="2000"/>
            </a:lvl2pPr>
            <a:lvl3pPr marL="914400" indent="0">
              <a:buNone/>
              <a:defRPr sz="20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p:cNvSpPr>
            <a:spLocks noGrp="1"/>
          </p:cNvSpPr>
          <p:nvPr>
            <p:ph type="body" sz="half" idx="2"/>
          </p:nvPr>
        </p:nvSpPr>
        <p:spPr>
          <a:xfrm>
            <a:off x="913795" y="5108728"/>
            <a:ext cx="10353762" cy="682472"/>
          </a:xfrm>
        </p:spPr>
        <p:txBody>
          <a:bodyPr anchor="t"/>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C744FA5D-EF1D-489D-8D8F-1FF7B7B6D702}" type="datetimeFigureOut">
              <a:rPr lang="en-US" smtClean="0"/>
              <a:t>2/16/2026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102459247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913795" y="608437"/>
            <a:ext cx="10353762" cy="3534344"/>
          </a:xfrm>
        </p:spPr>
        <p:txBody>
          <a:bodyPr anchor="ctr"/>
          <a:lstStyle>
            <a:lvl1pPr>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913794" y="4295180"/>
            <a:ext cx="10353763" cy="1501826"/>
          </a:xfrm>
        </p:spPr>
        <p:txBody>
          <a:bodyPr anchor="ct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C744FA5D-EF1D-489D-8D8F-1FF7B7B6D702}" type="datetimeFigureOut">
              <a:rPr lang="en-US" smtClean="0"/>
              <a:t>2/16/2026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302652341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6212" y="609600"/>
            <a:ext cx="9302752" cy="2992904"/>
          </a:xfrm>
        </p:spPr>
        <p:txBody>
          <a:bodyPr anchor="ctr"/>
          <a:lstStyle>
            <a:lvl1pPr>
              <a:defRPr sz="3200"/>
            </a:lvl1pPr>
          </a:lstStyle>
          <a:p>
            <a:r>
              <a:rPr lang="en-US"/>
              <a:t>Click to edit Master title style</a:t>
            </a:r>
            <a:endParaRPr lang="en-US" dirty="0"/>
          </a:p>
        </p:txBody>
      </p:sp>
      <p:sp>
        <p:nvSpPr>
          <p:cNvPr id="12" name="Text Placeholder 3"/>
          <p:cNvSpPr>
            <a:spLocks noGrp="1"/>
          </p:cNvSpPr>
          <p:nvPr>
            <p:ph type="body" sz="half" idx="13"/>
          </p:nvPr>
        </p:nvSpPr>
        <p:spPr>
          <a:xfrm>
            <a:off x="1720644" y="3610032"/>
            <a:ext cx="8752299" cy="532749"/>
          </a:xfrm>
        </p:spPr>
        <p:txBody>
          <a:bodyPr anchor="t">
            <a:normAutofit/>
          </a:bodyPr>
          <a:lstStyle>
            <a:lvl1pPr marL="0" indent="0" algn="r">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4" name="Text Placeholder 3"/>
          <p:cNvSpPr>
            <a:spLocks noGrp="1"/>
          </p:cNvSpPr>
          <p:nvPr>
            <p:ph type="body" sz="half" idx="2"/>
          </p:nvPr>
        </p:nvSpPr>
        <p:spPr>
          <a:xfrm>
            <a:off x="913794" y="4304353"/>
            <a:ext cx="10353763" cy="1489496"/>
          </a:xfrm>
        </p:spPr>
        <p:txBody>
          <a:bodyPr anchor="ctr">
            <a:normAutofit/>
          </a:bodyP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C744FA5D-EF1D-489D-8D8F-1FF7B7B6D702}" type="datetimeFigureOut">
              <a:rPr lang="en-US" smtClean="0"/>
              <a:t>2/16/2026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98E705E-6DF9-4328-B377-5AB614CB69E7}" type="slidenum">
              <a:rPr lang="en-US" smtClean="0"/>
              <a:t>‹#›</a:t>
            </a:fld>
            <a:endParaRPr lang="en-US"/>
          </a:p>
        </p:txBody>
      </p:sp>
      <p:sp>
        <p:nvSpPr>
          <p:cNvPr id="11" name="TextBox 10"/>
          <p:cNvSpPr txBox="1"/>
          <p:nvPr/>
        </p:nvSpPr>
        <p:spPr>
          <a:xfrm>
            <a:off x="990600" y="884796"/>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a:solidFill>
                  <a:schemeClr val="tx1"/>
                </a:solidFill>
                <a:effectLst/>
              </a:rPr>
              <a:t>“</a:t>
            </a:r>
          </a:p>
        </p:txBody>
      </p:sp>
      <p:sp>
        <p:nvSpPr>
          <p:cNvPr id="13" name="TextBox 12"/>
          <p:cNvSpPr txBox="1"/>
          <p:nvPr/>
        </p:nvSpPr>
        <p:spPr>
          <a:xfrm>
            <a:off x="10504716" y="2928258"/>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a:solidFill>
                  <a:schemeClr val="tx1"/>
                </a:solidFill>
                <a:effectLst/>
              </a:rPr>
              <a:t>”</a:t>
            </a:r>
          </a:p>
        </p:txBody>
      </p:sp>
    </p:spTree>
    <p:extLst>
      <p:ext uri="{BB962C8B-B14F-4D97-AF65-F5344CB8AC3E}">
        <p14:creationId xmlns:p14="http://schemas.microsoft.com/office/powerpoint/2010/main" val="113801709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913794" y="2126942"/>
            <a:ext cx="10353763" cy="2511835"/>
          </a:xfrm>
        </p:spPr>
        <p:txBody>
          <a:bodyPr anchor="b"/>
          <a:lstStyle>
            <a:lvl1pPr>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913784" y="4650556"/>
            <a:ext cx="10352199" cy="1140644"/>
          </a:xfrm>
        </p:spPr>
        <p:txBody>
          <a:bodyPr anchor="t"/>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C744FA5D-EF1D-489D-8D8F-1FF7B7B6D702}" type="datetimeFigureOut">
              <a:rPr lang="en-US" smtClean="0"/>
              <a:t>2/16/2026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313771394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913795" y="609600"/>
            <a:ext cx="10353762" cy="970450"/>
          </a:xfrm>
        </p:spPr>
        <p:txBody>
          <a:bodyPr/>
          <a:lstStyle/>
          <a:p>
            <a:r>
              <a:rPr lang="en-US"/>
              <a:t>Click to edit Master title style</a:t>
            </a:r>
            <a:endParaRPr lang="en-US" dirty="0"/>
          </a:p>
        </p:txBody>
      </p:sp>
      <p:sp>
        <p:nvSpPr>
          <p:cNvPr id="7" name="Text Placeholder 2"/>
          <p:cNvSpPr>
            <a:spLocks noGrp="1"/>
          </p:cNvSpPr>
          <p:nvPr>
            <p:ph type="body" idx="1"/>
          </p:nvPr>
        </p:nvSpPr>
        <p:spPr>
          <a:xfrm>
            <a:off x="913795" y="1885950"/>
            <a:ext cx="3300984" cy="576262"/>
          </a:xfrm>
        </p:spPr>
        <p:txBody>
          <a:bodyPr anchor="b">
            <a:noAutofit/>
          </a:bodyPr>
          <a:lstStyle>
            <a:lvl1pPr marL="0" indent="0" algn="ctr">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3"/>
          <p:cNvSpPr>
            <a:spLocks noGrp="1"/>
          </p:cNvSpPr>
          <p:nvPr>
            <p:ph type="body" sz="half" idx="15"/>
          </p:nvPr>
        </p:nvSpPr>
        <p:spPr>
          <a:xfrm>
            <a:off x="913795" y="2571750"/>
            <a:ext cx="3300984" cy="3219450"/>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9" name="Text Placeholder 4"/>
          <p:cNvSpPr>
            <a:spLocks noGrp="1"/>
          </p:cNvSpPr>
          <p:nvPr>
            <p:ph type="body" sz="quarter" idx="3"/>
          </p:nvPr>
        </p:nvSpPr>
        <p:spPr>
          <a:xfrm>
            <a:off x="4446711" y="1885950"/>
            <a:ext cx="3300984" cy="576262"/>
          </a:xfrm>
        </p:spPr>
        <p:txBody>
          <a:bodyPr anchor="b">
            <a:noAutofit/>
          </a:bodyPr>
          <a:lstStyle>
            <a:lvl1pPr marL="0" indent="0" algn="ctr">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 name="Text Placeholder 3"/>
          <p:cNvSpPr>
            <a:spLocks noGrp="1"/>
          </p:cNvSpPr>
          <p:nvPr>
            <p:ph type="body" sz="half" idx="16"/>
          </p:nvPr>
        </p:nvSpPr>
        <p:spPr>
          <a:xfrm>
            <a:off x="4441435" y="2571750"/>
            <a:ext cx="3300984" cy="3219450"/>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1" name="Text Placeholder 4"/>
          <p:cNvSpPr>
            <a:spLocks noGrp="1"/>
          </p:cNvSpPr>
          <p:nvPr>
            <p:ph type="body" sz="quarter" idx="13"/>
          </p:nvPr>
        </p:nvSpPr>
        <p:spPr>
          <a:xfrm>
            <a:off x="7966572" y="1885950"/>
            <a:ext cx="3300984" cy="576262"/>
          </a:xfrm>
        </p:spPr>
        <p:txBody>
          <a:bodyPr anchor="b">
            <a:noAutofit/>
          </a:bodyPr>
          <a:lstStyle>
            <a:lvl1pPr marL="0" indent="0" algn="ctr">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2" name="Text Placeholder 3"/>
          <p:cNvSpPr>
            <a:spLocks noGrp="1"/>
          </p:cNvSpPr>
          <p:nvPr>
            <p:ph type="body" sz="half" idx="17"/>
          </p:nvPr>
        </p:nvSpPr>
        <p:spPr>
          <a:xfrm>
            <a:off x="7966572" y="2571750"/>
            <a:ext cx="3300984" cy="3219450"/>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C744FA5D-EF1D-489D-8D8F-1FF7B7B6D702}" type="datetimeFigureOut">
              <a:rPr lang="en-US" smtClean="0"/>
              <a:t>2/16/2026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293966374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pic>
        <p:nvPicPr>
          <p:cNvPr id="2" name="Picture 1" descr="Slate-V2-H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97962" y="1818214"/>
            <a:ext cx="3339972" cy="1847851"/>
          </a:xfrm>
          <a:prstGeom prst="rect">
            <a:avLst/>
          </a:prstGeom>
        </p:spPr>
      </p:pic>
      <p:pic>
        <p:nvPicPr>
          <p:cNvPr id="36" name="Picture 35" descr="Slate-V2-H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03800" y="1818214"/>
            <a:ext cx="3339972" cy="1847851"/>
          </a:xfrm>
          <a:prstGeom prst="rect">
            <a:avLst/>
          </a:prstGeom>
        </p:spPr>
      </p:pic>
      <p:pic>
        <p:nvPicPr>
          <p:cNvPr id="37" name="Picture 36" descr="Slate-V2-H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936051" y="1818214"/>
            <a:ext cx="3339972" cy="1847851"/>
          </a:xfrm>
          <a:prstGeom prst="rect">
            <a:avLst/>
          </a:prstGeom>
        </p:spPr>
      </p:pic>
      <p:sp>
        <p:nvSpPr>
          <p:cNvPr id="30" name="Title 1"/>
          <p:cNvSpPr>
            <a:spLocks noGrp="1"/>
          </p:cNvSpPr>
          <p:nvPr>
            <p:ph type="title"/>
          </p:nvPr>
        </p:nvSpPr>
        <p:spPr>
          <a:xfrm>
            <a:off x="913794" y="609600"/>
            <a:ext cx="10353763" cy="970450"/>
          </a:xfrm>
        </p:spPr>
        <p:txBody>
          <a:bodyPr/>
          <a:lstStyle/>
          <a:p>
            <a:r>
              <a:rPr lang="en-US"/>
              <a:t>Click to edit Master title style</a:t>
            </a:r>
            <a:endParaRPr lang="en-US" dirty="0"/>
          </a:p>
        </p:txBody>
      </p:sp>
      <p:sp>
        <p:nvSpPr>
          <p:cNvPr id="19" name="Text Placeholder 2"/>
          <p:cNvSpPr>
            <a:spLocks noGrp="1"/>
          </p:cNvSpPr>
          <p:nvPr>
            <p:ph type="body" idx="1"/>
          </p:nvPr>
        </p:nvSpPr>
        <p:spPr>
          <a:xfrm>
            <a:off x="913795"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0" name="Picture Placeholder 2"/>
          <p:cNvSpPr>
            <a:spLocks noGrp="1" noChangeAspect="1"/>
          </p:cNvSpPr>
          <p:nvPr>
            <p:ph type="pic" idx="15"/>
          </p:nvPr>
        </p:nvSpPr>
        <p:spPr>
          <a:xfrm>
            <a:off x="1018102" y="1938918"/>
            <a:ext cx="3092368" cy="160295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p>
        </p:txBody>
      </p:sp>
      <p:sp>
        <p:nvSpPr>
          <p:cNvPr id="21" name="Text Placeholder 3"/>
          <p:cNvSpPr>
            <a:spLocks noGrp="1"/>
          </p:cNvSpPr>
          <p:nvPr>
            <p:ph type="body" sz="half" idx="18"/>
          </p:nvPr>
        </p:nvSpPr>
        <p:spPr>
          <a:xfrm>
            <a:off x="913795" y="4480368"/>
            <a:ext cx="3300984" cy="1310833"/>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2" name="Text Placeholder 4"/>
          <p:cNvSpPr>
            <a:spLocks noGrp="1"/>
          </p:cNvSpPr>
          <p:nvPr>
            <p:ph type="body" sz="quarter" idx="3"/>
          </p:nvPr>
        </p:nvSpPr>
        <p:spPr>
          <a:xfrm>
            <a:off x="4442788"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3" name="Picture Placeholder 2"/>
          <p:cNvSpPr>
            <a:spLocks noGrp="1" noChangeAspect="1"/>
          </p:cNvSpPr>
          <p:nvPr>
            <p:ph type="pic" idx="21"/>
          </p:nvPr>
        </p:nvSpPr>
        <p:spPr>
          <a:xfrm>
            <a:off x="4545743" y="1939094"/>
            <a:ext cx="3092368" cy="160816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p>
        </p:txBody>
      </p:sp>
      <p:sp>
        <p:nvSpPr>
          <p:cNvPr id="24" name="Text Placeholder 3"/>
          <p:cNvSpPr>
            <a:spLocks noGrp="1"/>
          </p:cNvSpPr>
          <p:nvPr>
            <p:ph type="body" sz="half" idx="19"/>
          </p:nvPr>
        </p:nvSpPr>
        <p:spPr>
          <a:xfrm>
            <a:off x="4441435" y="4480367"/>
            <a:ext cx="3300984" cy="1310833"/>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5" name="Text Placeholder 4"/>
          <p:cNvSpPr>
            <a:spLocks noGrp="1"/>
          </p:cNvSpPr>
          <p:nvPr>
            <p:ph type="body" sz="quarter" idx="13"/>
          </p:nvPr>
        </p:nvSpPr>
        <p:spPr>
          <a:xfrm>
            <a:off x="7966697"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6" name="Picture Placeholder 2"/>
          <p:cNvSpPr>
            <a:spLocks noGrp="1" noChangeAspect="1"/>
          </p:cNvSpPr>
          <p:nvPr>
            <p:ph type="pic" idx="22"/>
          </p:nvPr>
        </p:nvSpPr>
        <p:spPr>
          <a:xfrm>
            <a:off x="8075698" y="1934432"/>
            <a:ext cx="3092368" cy="160729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p>
        </p:txBody>
      </p:sp>
      <p:sp>
        <p:nvSpPr>
          <p:cNvPr id="27" name="Text Placeholder 3"/>
          <p:cNvSpPr>
            <a:spLocks noGrp="1"/>
          </p:cNvSpPr>
          <p:nvPr>
            <p:ph type="body" sz="half" idx="20"/>
          </p:nvPr>
        </p:nvSpPr>
        <p:spPr>
          <a:xfrm>
            <a:off x="7966572" y="4480365"/>
            <a:ext cx="3300984" cy="1310835"/>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C744FA5D-EF1D-489D-8D8F-1FF7B7B6D702}" type="datetimeFigureOut">
              <a:rPr lang="en-US" smtClean="0"/>
              <a:t>2/16/2026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86074239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744FA5D-EF1D-489D-8D8F-1FF7B7B6D702}" type="datetimeFigureOut">
              <a:rPr lang="en-US" smtClean="0"/>
              <a:t>2/16/2026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22305320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983068" y="609599"/>
            <a:ext cx="2284487" cy="5181601"/>
          </a:xfrm>
        </p:spPr>
        <p:txBody>
          <a:bodyPr vert="eaVert"/>
          <a:lstStyle>
            <a:lvl1pPr algn="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913796" y="609599"/>
            <a:ext cx="7916872" cy="5181601"/>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744FA5D-EF1D-489D-8D8F-1FF7B7B6D702}" type="datetimeFigureOut">
              <a:rPr lang="en-US" smtClean="0"/>
              <a:t>2/16/2026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344224123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913795" y="609600"/>
            <a:ext cx="10353762" cy="970450"/>
          </a:xfrm>
          <a:prstGeom prst="rect">
            <a:avLst/>
          </a:prstGeom>
          <a:effectLst>
            <a:outerShdw blurRad="25400" dir="17880000">
              <a:srgbClr val="000000">
                <a:alpha val="46000"/>
              </a:srgbClr>
            </a:outerShdw>
          </a:effectLst>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913795" y="1732449"/>
            <a:ext cx="10353762" cy="4058751"/>
          </a:xfrm>
          <a:prstGeom prst="rect">
            <a:avLst/>
          </a:prstGeom>
          <a:effectLst>
            <a:outerShdw blurRad="25400" dir="17880000">
              <a:srgbClr val="000000">
                <a:alpha val="46000"/>
              </a:srgbClr>
            </a:outerShdw>
          </a:effectLst>
        </p:spPr>
        <p:txBody>
          <a:bodyPr vert="horz"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678736" y="5883275"/>
            <a:ext cx="2743200" cy="365125"/>
          </a:xfrm>
          <a:prstGeom prst="rect">
            <a:avLst/>
          </a:prstGeom>
        </p:spPr>
        <p:txBody>
          <a:bodyPr vert="horz" lIns="91440" tIns="45720" rIns="91440" bIns="45720" rtlCol="0" anchor="ctr"/>
          <a:lstStyle>
            <a:lvl1pPr algn="r">
              <a:defRPr sz="1000">
                <a:solidFill>
                  <a:schemeClr val="tx1">
                    <a:lumMod val="95000"/>
                  </a:schemeClr>
                </a:solidFill>
                <a:effectLst>
                  <a:outerShdw blurRad="50800" dist="38100" dir="2700000" algn="tl" rotWithShape="0">
                    <a:schemeClr val="bg1">
                      <a:alpha val="43000"/>
                    </a:schemeClr>
                  </a:outerShdw>
                </a:effectLst>
              </a:defRPr>
            </a:lvl1pPr>
          </a:lstStyle>
          <a:p>
            <a:fld id="{C744FA5D-EF1D-489D-8D8F-1FF7B7B6D702}" type="datetimeFigureOut">
              <a:rPr lang="en-US" smtClean="0"/>
              <a:t>2/16/2026</a:t>
            </a:fld>
            <a:endParaRPr lang="en-US"/>
          </a:p>
        </p:txBody>
      </p:sp>
      <p:sp>
        <p:nvSpPr>
          <p:cNvPr id="5" name="Footer Placeholder 4"/>
          <p:cNvSpPr>
            <a:spLocks noGrp="1"/>
          </p:cNvSpPr>
          <p:nvPr>
            <p:ph type="ftr" sz="quarter" idx="3"/>
          </p:nvPr>
        </p:nvSpPr>
        <p:spPr>
          <a:xfrm>
            <a:off x="913795" y="5883275"/>
            <a:ext cx="6672865" cy="365125"/>
          </a:xfrm>
          <a:prstGeom prst="rect">
            <a:avLst/>
          </a:prstGeom>
        </p:spPr>
        <p:txBody>
          <a:bodyPr vert="horz" lIns="91440" tIns="45720" rIns="91440" bIns="45720" rtlCol="0" anchor="ctr"/>
          <a:lstStyle>
            <a:lvl1pPr algn="l">
              <a:defRPr sz="1000">
                <a:solidFill>
                  <a:schemeClr val="tx1">
                    <a:lumMod val="95000"/>
                  </a:schemeClr>
                </a:solidFill>
                <a:effectLst>
                  <a:outerShdw blurRad="50800" dist="38100" dir="2700000" algn="tl" rotWithShape="0">
                    <a:schemeClr val="bg1">
                      <a:alpha val="43000"/>
                    </a:schemeClr>
                  </a:outerShdw>
                </a:effectLst>
              </a:defRPr>
            </a:lvl1pPr>
          </a:lstStyle>
          <a:p>
            <a:endParaRPr lang="en-US"/>
          </a:p>
        </p:txBody>
      </p:sp>
      <p:sp>
        <p:nvSpPr>
          <p:cNvPr id="6" name="Slide Number Placeholder 5"/>
          <p:cNvSpPr>
            <a:spLocks noGrp="1"/>
          </p:cNvSpPr>
          <p:nvPr>
            <p:ph type="sldNum" sz="quarter" idx="4"/>
          </p:nvPr>
        </p:nvSpPr>
        <p:spPr>
          <a:xfrm>
            <a:off x="10514011" y="5883275"/>
            <a:ext cx="753545" cy="365125"/>
          </a:xfrm>
          <a:prstGeom prst="rect">
            <a:avLst/>
          </a:prstGeom>
        </p:spPr>
        <p:txBody>
          <a:bodyPr vert="horz" lIns="91440" tIns="45720" rIns="91440" bIns="45720" rtlCol="0" anchor="ctr"/>
          <a:lstStyle>
            <a:lvl1pPr algn="r">
              <a:defRPr sz="1000">
                <a:solidFill>
                  <a:schemeClr val="tx1">
                    <a:lumMod val="95000"/>
                  </a:schemeClr>
                </a:solidFill>
                <a:effectLst>
                  <a:outerShdw blurRad="50800" dist="38100" dir="2700000" algn="tl" rotWithShape="0">
                    <a:schemeClr val="bg1">
                      <a:alpha val="43000"/>
                    </a:schemeClr>
                  </a:outerShdw>
                </a:effectLst>
              </a:defRPr>
            </a:lvl1pPr>
          </a:lstStyle>
          <a:p>
            <a:fld id="{E98E705E-6DF9-4328-B377-5AB614CB69E7}" type="slidenum">
              <a:rPr lang="en-US" smtClean="0"/>
              <a:t>‹#›</a:t>
            </a:fld>
            <a:endParaRPr lang="en-US"/>
          </a:p>
        </p:txBody>
      </p:sp>
    </p:spTree>
    <p:extLst>
      <p:ext uri="{BB962C8B-B14F-4D97-AF65-F5344CB8AC3E}">
        <p14:creationId xmlns:p14="http://schemas.microsoft.com/office/powerpoint/2010/main" val="2841564186"/>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Lst>
  <p:txStyles>
    <p:titleStyle>
      <a:lvl1pPr algn="ctr" defTabSz="457200" rtl="0" eaLnBrk="1" latinLnBrk="0" hangingPunct="1">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4D839B-EB92-2791-93AA-8C045F8A0743}"/>
              </a:ext>
            </a:extLst>
          </p:cNvPr>
          <p:cNvSpPr>
            <a:spLocks noGrp="1"/>
          </p:cNvSpPr>
          <p:nvPr>
            <p:ph type="ctrTitle"/>
          </p:nvPr>
        </p:nvSpPr>
        <p:spPr/>
        <p:txBody>
          <a:bodyPr/>
          <a:lstStyle/>
          <a:p>
            <a:r>
              <a:rPr lang="en-US"/>
              <a:t>Apps Business </a:t>
            </a:r>
          </a:p>
        </p:txBody>
      </p:sp>
      <p:sp>
        <p:nvSpPr>
          <p:cNvPr id="3" name="Subtitle 2">
            <a:extLst>
              <a:ext uri="{FF2B5EF4-FFF2-40B4-BE49-F238E27FC236}">
                <a16:creationId xmlns:a16="http://schemas.microsoft.com/office/drawing/2014/main" id="{E6FF182E-6C62-3F43-8E29-C22EA2C57AED}"/>
              </a:ext>
            </a:extLst>
          </p:cNvPr>
          <p:cNvSpPr>
            <a:spLocks noGrp="1"/>
          </p:cNvSpPr>
          <p:nvPr>
            <p:ph type="subTitle" idx="1"/>
          </p:nvPr>
        </p:nvSpPr>
        <p:spPr/>
        <p:txBody>
          <a:bodyPr/>
          <a:lstStyle/>
          <a:p>
            <a:r>
              <a:rPr lang="en-US"/>
              <a:t>By. Ahmed Mohamed Samir</a:t>
            </a:r>
          </a:p>
        </p:txBody>
      </p:sp>
    </p:spTree>
    <p:extLst>
      <p:ext uri="{BB962C8B-B14F-4D97-AF65-F5344CB8AC3E}">
        <p14:creationId xmlns:p14="http://schemas.microsoft.com/office/powerpoint/2010/main" val="142245227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27C9B9-6FEF-99E1-ADEE-4F163D131BF0}"/>
              </a:ext>
            </a:extLst>
          </p:cNvPr>
          <p:cNvSpPr>
            <a:spLocks noGrp="1"/>
          </p:cNvSpPr>
          <p:nvPr>
            <p:ph type="title"/>
          </p:nvPr>
        </p:nvSpPr>
        <p:spPr>
          <a:xfrm>
            <a:off x="562708" y="0"/>
            <a:ext cx="11354637" cy="572756"/>
          </a:xfrm>
        </p:spPr>
        <p:txBody>
          <a:bodyPr>
            <a:normAutofit fontScale="90000"/>
          </a:bodyPr>
          <a:lstStyle/>
          <a:p>
            <a:r>
              <a:rPr lang="ar-EG"/>
              <a:t>شركات التأمين الخاصة بالتمويل</a:t>
            </a:r>
            <a:endParaRPr lang="en-US"/>
          </a:p>
        </p:txBody>
      </p:sp>
      <p:sp>
        <p:nvSpPr>
          <p:cNvPr id="3" name="Content Placeholder 2">
            <a:extLst>
              <a:ext uri="{FF2B5EF4-FFF2-40B4-BE49-F238E27FC236}">
                <a16:creationId xmlns:a16="http://schemas.microsoft.com/office/drawing/2014/main" id="{7682971A-3D16-5220-46BF-928E73646358}"/>
              </a:ext>
            </a:extLst>
          </p:cNvPr>
          <p:cNvSpPr>
            <a:spLocks noGrp="1"/>
          </p:cNvSpPr>
          <p:nvPr>
            <p:ph idx="1"/>
          </p:nvPr>
        </p:nvSpPr>
        <p:spPr>
          <a:xfrm>
            <a:off x="562708" y="572756"/>
            <a:ext cx="11354637" cy="5868237"/>
          </a:xfrm>
        </p:spPr>
        <p:txBody>
          <a:bodyPr>
            <a:normAutofit/>
          </a:bodyPr>
          <a:lstStyle/>
          <a:p>
            <a:pPr algn="r" rtl="1"/>
            <a:r>
              <a:rPr lang="ar-EG" sz="2400"/>
              <a:t>هي شركة تؤمن الجهة الممولة. على سبيل المثال عميل أخذ تمويل 200 ألف وتوفى قبل إكمال السداد شركة التأمين تسدد باقي المديونية للبنك او الجهة الممولة</a:t>
            </a:r>
          </a:p>
          <a:p>
            <a:pPr algn="r" rtl="1"/>
            <a:r>
              <a:rPr lang="ar-EG" sz="2400"/>
              <a:t>سم شركة التأمين </a:t>
            </a:r>
          </a:p>
          <a:p>
            <a:pPr algn="r" rtl="1"/>
            <a:r>
              <a:rPr lang="ar-EG" sz="2400"/>
              <a:t>كود اسم شركة التأمين </a:t>
            </a:r>
            <a:r>
              <a:rPr lang="en-US" sz="2400"/>
              <a:t>( id )</a:t>
            </a:r>
          </a:p>
          <a:p>
            <a:pPr algn="r" rtl="1"/>
            <a:endParaRPr lang="en-US" sz="2400"/>
          </a:p>
        </p:txBody>
      </p:sp>
    </p:spTree>
    <p:extLst>
      <p:ext uri="{BB962C8B-B14F-4D97-AF65-F5344CB8AC3E}">
        <p14:creationId xmlns:p14="http://schemas.microsoft.com/office/powerpoint/2010/main" val="202895230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BE3C45-32EC-25C4-D465-E0956D5A3C19}"/>
              </a:ext>
            </a:extLst>
          </p:cNvPr>
          <p:cNvSpPr>
            <a:spLocks noGrp="1"/>
          </p:cNvSpPr>
          <p:nvPr>
            <p:ph type="title"/>
          </p:nvPr>
        </p:nvSpPr>
        <p:spPr>
          <a:xfrm>
            <a:off x="913795" y="0"/>
            <a:ext cx="10353762" cy="572756"/>
          </a:xfrm>
        </p:spPr>
        <p:txBody>
          <a:bodyPr>
            <a:normAutofit fontScale="90000"/>
          </a:bodyPr>
          <a:lstStyle/>
          <a:p>
            <a:r>
              <a:rPr lang="ar-EG"/>
              <a:t>أنواع التأمين الخاص بالتمويل ؟</a:t>
            </a:r>
            <a:endParaRPr lang="en-US"/>
          </a:p>
        </p:txBody>
      </p:sp>
      <p:sp>
        <p:nvSpPr>
          <p:cNvPr id="3" name="Content Placeholder 2">
            <a:extLst>
              <a:ext uri="{FF2B5EF4-FFF2-40B4-BE49-F238E27FC236}">
                <a16:creationId xmlns:a16="http://schemas.microsoft.com/office/drawing/2014/main" id="{8FE415B1-BF77-D949-69B3-D484616548EB}"/>
              </a:ext>
            </a:extLst>
          </p:cNvPr>
          <p:cNvSpPr>
            <a:spLocks noGrp="1"/>
          </p:cNvSpPr>
          <p:nvPr>
            <p:ph idx="1"/>
          </p:nvPr>
        </p:nvSpPr>
        <p:spPr>
          <a:xfrm>
            <a:off x="432078" y="572756"/>
            <a:ext cx="11495315" cy="5998865"/>
          </a:xfrm>
        </p:spPr>
        <p:txBody>
          <a:bodyPr>
            <a:normAutofit/>
          </a:bodyPr>
          <a:lstStyle/>
          <a:p>
            <a:pPr algn="r" rtl="1"/>
            <a:r>
              <a:rPr lang="ar-EG" sz="2400"/>
              <a:t>أنا مأمَّن على إيه؟</a:t>
            </a:r>
          </a:p>
          <a:p>
            <a:pPr algn="r" rtl="1"/>
            <a:r>
              <a:rPr lang="ar-EG" sz="2400"/>
              <a:t>تأمين حياة المقترض (الوفاة)</a:t>
            </a:r>
          </a:p>
          <a:p>
            <a:pPr algn="r" rtl="1"/>
            <a:r>
              <a:rPr lang="ar-EG" sz="2400"/>
              <a:t>تأمين فقدان الوظيفة </a:t>
            </a:r>
          </a:p>
          <a:p>
            <a:pPr algn="r" rtl="1"/>
            <a:r>
              <a:rPr lang="ar-EG" sz="2400"/>
              <a:t>تأمين على الإفلاس</a:t>
            </a:r>
          </a:p>
          <a:p>
            <a:pPr algn="r" rtl="1"/>
            <a:r>
              <a:rPr lang="ar-EG" sz="2400"/>
              <a:t>تأمين على العجز الكلى العجز الكلي</a:t>
            </a:r>
          </a:p>
          <a:p>
            <a:pPr algn="r" rtl="1"/>
            <a:r>
              <a:rPr lang="ar-EG" sz="2400"/>
              <a:t>تأمين على الأصل الممول: ده تأمين على </a:t>
            </a:r>
            <a:r>
              <a:rPr lang="ar-EG" sz="2400" b="1"/>
              <a:t>الشيء نفسه</a:t>
            </a:r>
            <a:r>
              <a:rPr lang="ar-EG" sz="2400"/>
              <a:t> اللي </a:t>
            </a:r>
            <a:r>
              <a:rPr lang="ar-EG" sz="2400" err="1"/>
              <a:t>اتاخد</a:t>
            </a:r>
            <a:r>
              <a:rPr lang="ar-EG" sz="2400"/>
              <a:t> بالقرض </a:t>
            </a:r>
            <a:r>
              <a:rPr lang="ar-EG" sz="2400" err="1"/>
              <a:t>زى</a:t>
            </a:r>
            <a:r>
              <a:rPr lang="ar-EG" sz="2400"/>
              <a:t> عربية او عقار</a:t>
            </a:r>
          </a:p>
          <a:p>
            <a:pPr algn="r" rtl="1"/>
            <a:endParaRPr lang="ar-EG" sz="2200"/>
          </a:p>
          <a:p>
            <a:pPr algn="r" rtl="1"/>
            <a:endParaRPr lang="ar-EG" sz="2400"/>
          </a:p>
          <a:p>
            <a:pPr algn="r" rtl="1"/>
            <a:endParaRPr lang="en-US" sz="2400"/>
          </a:p>
        </p:txBody>
      </p:sp>
    </p:spTree>
    <p:extLst>
      <p:ext uri="{BB962C8B-B14F-4D97-AF65-F5344CB8AC3E}">
        <p14:creationId xmlns:p14="http://schemas.microsoft.com/office/powerpoint/2010/main" val="97002266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1A4DF9-1B2D-E67C-75CB-4083CB67056A}"/>
              </a:ext>
            </a:extLst>
          </p:cNvPr>
          <p:cNvSpPr>
            <a:spLocks noGrp="1"/>
          </p:cNvSpPr>
          <p:nvPr>
            <p:ph type="title"/>
          </p:nvPr>
        </p:nvSpPr>
        <p:spPr>
          <a:xfrm>
            <a:off x="913795" y="0"/>
            <a:ext cx="10353762" cy="683288"/>
          </a:xfrm>
        </p:spPr>
        <p:txBody>
          <a:bodyPr>
            <a:normAutofit fontScale="90000"/>
          </a:bodyPr>
          <a:lstStyle/>
          <a:p>
            <a:r>
              <a:rPr lang="ar-EG"/>
              <a:t>الحالات التأمينية</a:t>
            </a:r>
            <a:endParaRPr lang="en-US"/>
          </a:p>
        </p:txBody>
      </p:sp>
      <p:sp>
        <p:nvSpPr>
          <p:cNvPr id="3" name="Content Placeholder 2">
            <a:extLst>
              <a:ext uri="{FF2B5EF4-FFF2-40B4-BE49-F238E27FC236}">
                <a16:creationId xmlns:a16="http://schemas.microsoft.com/office/drawing/2014/main" id="{7F5E244B-8CD2-92B2-34F6-C797313F6FED}"/>
              </a:ext>
            </a:extLst>
          </p:cNvPr>
          <p:cNvSpPr>
            <a:spLocks noGrp="1"/>
          </p:cNvSpPr>
          <p:nvPr>
            <p:ph idx="1"/>
          </p:nvPr>
        </p:nvSpPr>
        <p:spPr>
          <a:xfrm>
            <a:off x="502418" y="683289"/>
            <a:ext cx="11234057" cy="5908430"/>
          </a:xfrm>
        </p:spPr>
        <p:txBody>
          <a:bodyPr>
            <a:normAutofit/>
          </a:bodyPr>
          <a:lstStyle/>
          <a:p>
            <a:pPr algn="r" rtl="1"/>
            <a:r>
              <a:rPr lang="ar-EG" sz="2200" b="1"/>
              <a:t>الظروف أو الأحداث التي إذا وقعت تلتزم شركة التأمين بدفع التعويض</a:t>
            </a:r>
          </a:p>
          <a:p>
            <a:pPr lvl="1" algn="r" rtl="1"/>
            <a:r>
              <a:rPr lang="ar-EG" sz="2000" b="1"/>
              <a:t>العجز الكلي الدائم</a:t>
            </a:r>
          </a:p>
          <a:p>
            <a:pPr lvl="1" algn="r" rtl="1"/>
            <a:r>
              <a:rPr lang="ar-EG" sz="2000" b="1"/>
              <a:t>الوفاة</a:t>
            </a:r>
          </a:p>
          <a:p>
            <a:pPr algn="r" rtl="1"/>
            <a:endParaRPr lang="ar-EG" sz="2200" b="1"/>
          </a:p>
          <a:p>
            <a:pPr algn="r" rtl="1"/>
            <a:endParaRPr lang="en-US" sz="2200"/>
          </a:p>
        </p:txBody>
      </p:sp>
    </p:spTree>
    <p:extLst>
      <p:ext uri="{BB962C8B-B14F-4D97-AF65-F5344CB8AC3E}">
        <p14:creationId xmlns:p14="http://schemas.microsoft.com/office/powerpoint/2010/main" val="294472303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C4B52F-F493-6B97-BC7B-F952CDD29BAD}"/>
              </a:ext>
            </a:extLst>
          </p:cNvPr>
          <p:cNvSpPr>
            <a:spLocks noGrp="1"/>
          </p:cNvSpPr>
          <p:nvPr>
            <p:ph type="title"/>
          </p:nvPr>
        </p:nvSpPr>
        <p:spPr>
          <a:xfrm>
            <a:off x="994181" y="0"/>
            <a:ext cx="10353762" cy="970450"/>
          </a:xfrm>
        </p:spPr>
        <p:txBody>
          <a:bodyPr/>
          <a:lstStyle/>
          <a:p>
            <a:r>
              <a:rPr lang="ar-EG" b="1"/>
              <a:t>أسباب رفض التعويض</a:t>
            </a:r>
            <a:endParaRPr lang="en-US" b="1"/>
          </a:p>
        </p:txBody>
      </p:sp>
      <p:sp>
        <p:nvSpPr>
          <p:cNvPr id="3" name="Content Placeholder 2">
            <a:extLst>
              <a:ext uri="{FF2B5EF4-FFF2-40B4-BE49-F238E27FC236}">
                <a16:creationId xmlns:a16="http://schemas.microsoft.com/office/drawing/2014/main" id="{82504D8E-18F3-0C74-3A33-DB2B972296A3}"/>
              </a:ext>
            </a:extLst>
          </p:cNvPr>
          <p:cNvSpPr>
            <a:spLocks noGrp="1"/>
          </p:cNvSpPr>
          <p:nvPr>
            <p:ph idx="1"/>
          </p:nvPr>
        </p:nvSpPr>
        <p:spPr>
          <a:xfrm>
            <a:off x="411982" y="970450"/>
            <a:ext cx="11445073" cy="5480591"/>
          </a:xfrm>
        </p:spPr>
        <p:txBody>
          <a:bodyPr>
            <a:normAutofit/>
          </a:bodyPr>
          <a:lstStyle/>
          <a:p>
            <a:pPr algn="r" rtl="1"/>
            <a:r>
              <a:rPr lang="ar-EG" sz="2400" b="1"/>
              <a:t>التعويض: المبلغ الذي تدفعه شركة التأمين للجهة الممولة عند وقوع الخطر المؤمن عليه، لتعويض الضرر أو فقدان القيمة المالية.</a:t>
            </a:r>
          </a:p>
          <a:p>
            <a:pPr algn="r" rtl="1"/>
            <a:r>
              <a:rPr lang="ar-EG" sz="2400"/>
              <a:t>أسباب رفض التعويض في سياق التمويلات</a:t>
            </a:r>
          </a:p>
          <a:p>
            <a:pPr lvl="1" algn="r" rtl="1"/>
            <a:r>
              <a:rPr lang="ar-EG" sz="2400"/>
              <a:t>العميل متعثر لفترة طويلة بدون مبرر</a:t>
            </a:r>
          </a:p>
          <a:p>
            <a:pPr lvl="1" algn="r" rtl="1"/>
            <a:r>
              <a:rPr lang="ar-EG" sz="2400"/>
              <a:t>التمويل استُخدم في غير الغرض المحدد</a:t>
            </a:r>
            <a:endParaRPr lang="ar-EG" sz="2400" b="1"/>
          </a:p>
          <a:p>
            <a:pPr lvl="1" algn="r" rtl="1"/>
            <a:r>
              <a:rPr lang="ar-EG" sz="2400"/>
              <a:t>الخطر غير مغطى.</a:t>
            </a:r>
          </a:p>
          <a:p>
            <a:pPr lvl="1" algn="r" rtl="1"/>
            <a:endParaRPr lang="ar-EG" sz="2200" b="1"/>
          </a:p>
          <a:p>
            <a:pPr algn="r" rtl="1"/>
            <a:endParaRPr lang="en-US" sz="2400" b="1"/>
          </a:p>
        </p:txBody>
      </p:sp>
      <p:sp>
        <p:nvSpPr>
          <p:cNvPr id="5" name="Rectangle 2">
            <a:extLst>
              <a:ext uri="{FF2B5EF4-FFF2-40B4-BE49-F238E27FC236}">
                <a16:creationId xmlns:a16="http://schemas.microsoft.com/office/drawing/2014/main" id="{717B3722-EFB7-D3A5-8392-3979C38BB9EA}"/>
              </a:ext>
            </a:extLst>
          </p:cNvPr>
          <p:cNvSpPr>
            <a:spLocks noChangeArrowheads="1"/>
          </p:cNvSpPr>
          <p:nvPr/>
        </p:nvSpPr>
        <p:spPr bwMode="auto">
          <a:xfrm>
            <a:off x="0" y="0"/>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ar-SA" altLang="en-US" sz="1800" b="0" i="0" u="none" strike="noStrike" cap="none" normalizeH="0" baseline="0">
                <a:ln>
                  <a:noFill/>
                </a:ln>
                <a:solidFill>
                  <a:schemeClr val="tx1"/>
                </a:solidFill>
                <a:effectLst/>
                <a:latin typeface="Arial" panose="020B0604020202020204" pitchFamily="34" charset="0"/>
                <a:cs typeface="Arial" panose="020B0604020202020204" pitchFamily="34" charset="0"/>
              </a:rPr>
              <a:t>العميل متعثر لفترة طويلة بدون مبرر</a:t>
            </a:r>
            <a:endParaRPr kumimoji="0" lang="en-US" altLang="en-US" sz="1800" b="0" i="0" u="none" strike="noStrike" cap="none" normalizeH="0" baseline="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1800" b="0" i="0" u="none" strike="noStrike" cap="none" normalizeH="0" baseline="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89222945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899586-123B-35C4-B8FF-2970C1724B5D}"/>
              </a:ext>
            </a:extLst>
          </p:cNvPr>
          <p:cNvSpPr>
            <a:spLocks noGrp="1"/>
          </p:cNvSpPr>
          <p:nvPr>
            <p:ph type="title"/>
          </p:nvPr>
        </p:nvSpPr>
        <p:spPr>
          <a:xfrm>
            <a:off x="919119" y="0"/>
            <a:ext cx="10353762" cy="576105"/>
          </a:xfrm>
        </p:spPr>
        <p:txBody>
          <a:bodyPr>
            <a:normAutofit fontScale="90000"/>
          </a:bodyPr>
          <a:lstStyle/>
          <a:p>
            <a:r>
              <a:rPr lang="ar-EG" b="1"/>
              <a:t>تعاقد شركة التأمين</a:t>
            </a:r>
            <a:endParaRPr lang="en-US" b="1"/>
          </a:p>
        </p:txBody>
      </p:sp>
      <p:sp>
        <p:nvSpPr>
          <p:cNvPr id="3" name="Content Placeholder 2">
            <a:extLst>
              <a:ext uri="{FF2B5EF4-FFF2-40B4-BE49-F238E27FC236}">
                <a16:creationId xmlns:a16="http://schemas.microsoft.com/office/drawing/2014/main" id="{A8392B0D-AEBC-424B-06BC-C31E1A8449C7}"/>
              </a:ext>
            </a:extLst>
          </p:cNvPr>
          <p:cNvSpPr>
            <a:spLocks noGrp="1"/>
          </p:cNvSpPr>
          <p:nvPr>
            <p:ph idx="1"/>
          </p:nvPr>
        </p:nvSpPr>
        <p:spPr>
          <a:xfrm>
            <a:off x="90121" y="576104"/>
            <a:ext cx="11847321" cy="6281895"/>
          </a:xfrm>
        </p:spPr>
        <p:txBody>
          <a:bodyPr/>
          <a:lstStyle/>
          <a:p>
            <a:pPr algn="r" rtl="1"/>
            <a:r>
              <a:rPr lang="ar-EG" b="1"/>
              <a:t>نوع التأمين</a:t>
            </a:r>
          </a:p>
          <a:p>
            <a:pPr algn="r" rtl="1"/>
            <a:r>
              <a:rPr lang="ar-EG" b="1"/>
              <a:t>اسم شركة التأمين</a:t>
            </a:r>
          </a:p>
          <a:p>
            <a:pPr algn="r" rtl="1"/>
            <a:r>
              <a:rPr lang="ar-EG" b="1"/>
              <a:t>تاريخ بداية التعاقد</a:t>
            </a:r>
          </a:p>
          <a:p>
            <a:pPr algn="r" rtl="1"/>
            <a:r>
              <a:rPr lang="ar-EG" b="1"/>
              <a:t>تاريخ نهاية التعاقد</a:t>
            </a:r>
          </a:p>
          <a:p>
            <a:pPr algn="r" rtl="1"/>
            <a:r>
              <a:rPr lang="ar-EG" b="1"/>
              <a:t>أقصى مبلغ للتأمين : الحد الأقصى الذي تلتزم به شركة التأمين بدفعه للمستفيد عند وقوع الخطر المؤمن عليه.</a:t>
            </a:r>
          </a:p>
          <a:p>
            <a:pPr algn="r" rtl="1"/>
            <a:r>
              <a:rPr lang="ar-EG" b="1"/>
              <a:t>الحد الأدنى للقسط التأميني ؟ أقل مبلغ يجب دفعه للحصول على التغطية التأمينية، حتى لو كانت قيمة القرض أو الأصل صغيرة.</a:t>
            </a:r>
          </a:p>
          <a:p>
            <a:pPr algn="r" rtl="1"/>
            <a:r>
              <a:rPr lang="ar-EG" b="1"/>
              <a:t>الجزء المحمل من الشركة فقط (</a:t>
            </a:r>
            <a:r>
              <a:rPr lang="ar-EG"/>
              <a:t>شركة التمويل</a:t>
            </a:r>
            <a:r>
              <a:rPr lang="ar-EG" b="1"/>
              <a:t>) : القسط التأميني في نسبة التحمل </a:t>
            </a:r>
            <a:r>
              <a:rPr lang="ar-EG"/>
              <a:t>للشركة الممولة</a:t>
            </a:r>
            <a:endParaRPr lang="ar-EG" b="1"/>
          </a:p>
          <a:p>
            <a:pPr algn="r" rtl="1"/>
            <a:r>
              <a:rPr lang="ar-EG" b="1"/>
              <a:t>نسبة تحمل شركة التأمين </a:t>
            </a:r>
            <a:r>
              <a:rPr lang="en-US" b="1"/>
              <a:t>:</a:t>
            </a:r>
          </a:p>
          <a:p>
            <a:pPr algn="r" rtl="1"/>
            <a:r>
              <a:rPr lang="ar-EG" b="1"/>
              <a:t>مثال بحالة خسارة 50000</a:t>
            </a:r>
          </a:p>
          <a:p>
            <a:pPr algn="r" rtl="1"/>
            <a:endParaRPr lang="ar-EG" b="1"/>
          </a:p>
          <a:p>
            <a:pPr algn="r" rtl="1"/>
            <a:endParaRPr lang="ar-EG"/>
          </a:p>
          <a:p>
            <a:pPr algn="r" rtl="1"/>
            <a:endParaRPr lang="ar-EG"/>
          </a:p>
          <a:p>
            <a:pPr algn="r" rtl="1"/>
            <a:endParaRPr lang="en-US" b="1"/>
          </a:p>
        </p:txBody>
      </p:sp>
      <p:pic>
        <p:nvPicPr>
          <p:cNvPr id="6" name="Picture 5">
            <a:extLst>
              <a:ext uri="{FF2B5EF4-FFF2-40B4-BE49-F238E27FC236}">
                <a16:creationId xmlns:a16="http://schemas.microsoft.com/office/drawing/2014/main" id="{4AFFD04F-2578-AD8E-8AB3-C3C036D8A43C}"/>
              </a:ext>
            </a:extLst>
          </p:cNvPr>
          <p:cNvPicPr>
            <a:picLocks noChangeAspect="1"/>
          </p:cNvPicPr>
          <p:nvPr/>
        </p:nvPicPr>
        <p:blipFill>
          <a:blip r:embed="rId2"/>
          <a:stretch>
            <a:fillRect/>
          </a:stretch>
        </p:blipFill>
        <p:spPr>
          <a:xfrm>
            <a:off x="90121" y="3883029"/>
            <a:ext cx="7215031" cy="2866815"/>
          </a:xfrm>
          <a:prstGeom prst="rect">
            <a:avLst/>
          </a:prstGeom>
        </p:spPr>
      </p:pic>
    </p:spTree>
    <p:extLst>
      <p:ext uri="{BB962C8B-B14F-4D97-AF65-F5344CB8AC3E}">
        <p14:creationId xmlns:p14="http://schemas.microsoft.com/office/powerpoint/2010/main" val="188843978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26BFB9-CD17-9F48-9D2D-CDB2C527E941}"/>
              </a:ext>
            </a:extLst>
          </p:cNvPr>
          <p:cNvSpPr>
            <a:spLocks noGrp="1"/>
          </p:cNvSpPr>
          <p:nvPr>
            <p:ph type="title"/>
          </p:nvPr>
        </p:nvSpPr>
        <p:spPr>
          <a:xfrm>
            <a:off x="1031782" y="2458550"/>
            <a:ext cx="10353762" cy="970450"/>
          </a:xfrm>
        </p:spPr>
        <p:txBody>
          <a:bodyPr>
            <a:normAutofit/>
          </a:bodyPr>
          <a:lstStyle/>
          <a:p>
            <a:r>
              <a:rPr lang="en-US" sz="4400" b="1">
                <a:solidFill>
                  <a:srgbClr val="FF0000"/>
                </a:solidFill>
              </a:rPr>
              <a:t>MICRO, Core, Master</a:t>
            </a:r>
          </a:p>
        </p:txBody>
      </p:sp>
    </p:spTree>
    <p:extLst>
      <p:ext uri="{BB962C8B-B14F-4D97-AF65-F5344CB8AC3E}">
        <p14:creationId xmlns:p14="http://schemas.microsoft.com/office/powerpoint/2010/main" val="102923002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733EBA-13F1-0001-D2A2-41EE1A618A96}"/>
              </a:ext>
            </a:extLst>
          </p:cNvPr>
          <p:cNvSpPr>
            <a:spLocks noGrp="1"/>
          </p:cNvSpPr>
          <p:nvPr>
            <p:ph type="title"/>
          </p:nvPr>
        </p:nvSpPr>
        <p:spPr>
          <a:xfrm>
            <a:off x="913795" y="0"/>
            <a:ext cx="10353762" cy="619432"/>
          </a:xfrm>
        </p:spPr>
        <p:txBody>
          <a:bodyPr>
            <a:normAutofit fontScale="90000"/>
          </a:bodyPr>
          <a:lstStyle/>
          <a:p>
            <a:r>
              <a:rPr lang="en-US" b="1">
                <a:solidFill>
                  <a:srgbClr val="FF0000"/>
                </a:solidFill>
              </a:rPr>
              <a:t>Micro, Master, Core Flow Steps</a:t>
            </a:r>
          </a:p>
        </p:txBody>
      </p:sp>
      <p:sp>
        <p:nvSpPr>
          <p:cNvPr id="3" name="Content Placeholder 2">
            <a:extLst>
              <a:ext uri="{FF2B5EF4-FFF2-40B4-BE49-F238E27FC236}">
                <a16:creationId xmlns:a16="http://schemas.microsoft.com/office/drawing/2014/main" id="{62A0C5F3-D5BE-7FF0-05F1-97D23484FB8C}"/>
              </a:ext>
            </a:extLst>
          </p:cNvPr>
          <p:cNvSpPr>
            <a:spLocks noGrp="1"/>
          </p:cNvSpPr>
          <p:nvPr>
            <p:ph idx="1"/>
          </p:nvPr>
        </p:nvSpPr>
        <p:spPr>
          <a:xfrm>
            <a:off x="334296" y="737419"/>
            <a:ext cx="11552903" cy="5978014"/>
          </a:xfrm>
        </p:spPr>
        <p:txBody>
          <a:bodyPr>
            <a:normAutofit/>
          </a:bodyPr>
          <a:lstStyle/>
          <a:p>
            <a:pPr marL="494100" indent="-457200" algn="r" rtl="1">
              <a:buFont typeface="+mj-lt"/>
              <a:buAutoNum type="arabicPeriod"/>
            </a:pPr>
            <a:r>
              <a:rPr lang="ar-EG" sz="2200" b="1">
                <a:solidFill>
                  <a:srgbClr val="FF0000"/>
                </a:solidFill>
              </a:rPr>
              <a:t>إدخال طلب</a:t>
            </a:r>
          </a:p>
          <a:p>
            <a:pPr marL="871200" lvl="1" indent="-457200" algn="r" rtl="1"/>
            <a:r>
              <a:rPr lang="en-US" b="1"/>
              <a:t>Operator: loan officer ()</a:t>
            </a:r>
            <a:endParaRPr lang="ar-EG" b="1"/>
          </a:p>
          <a:p>
            <a:pPr marL="494100" indent="-457200" algn="r" rtl="1">
              <a:buFont typeface="+mj-lt"/>
              <a:buAutoNum type="arabicPeriod"/>
            </a:pPr>
            <a:r>
              <a:rPr lang="ar-EG" sz="2200" b="1">
                <a:solidFill>
                  <a:srgbClr val="FF0000"/>
                </a:solidFill>
              </a:rPr>
              <a:t>مراجعة أولية</a:t>
            </a:r>
            <a:endParaRPr lang="en-US" sz="2200" b="1">
              <a:solidFill>
                <a:srgbClr val="FF0000"/>
              </a:solidFill>
            </a:endParaRPr>
          </a:p>
          <a:p>
            <a:pPr marL="871200" lvl="1" indent="-457200" algn="r" rtl="1"/>
            <a:r>
              <a:rPr lang="en-US" b="1"/>
              <a:t>Operator: CO</a:t>
            </a:r>
            <a:endParaRPr lang="ar-EG" b="1"/>
          </a:p>
          <a:p>
            <a:pPr marL="494100" indent="-457200" algn="r" rtl="1">
              <a:buFont typeface="+mj-lt"/>
              <a:buAutoNum type="arabicPeriod"/>
            </a:pPr>
            <a:r>
              <a:rPr lang="ar-EG" sz="2200" b="1">
                <a:solidFill>
                  <a:srgbClr val="FF0000"/>
                </a:solidFill>
              </a:rPr>
              <a:t>زيارة ميدانية</a:t>
            </a:r>
            <a:endParaRPr lang="en-US" sz="2200" b="1">
              <a:solidFill>
                <a:srgbClr val="FF0000"/>
              </a:solidFill>
            </a:endParaRPr>
          </a:p>
          <a:p>
            <a:pPr marL="871200" lvl="1" indent="-457200" algn="r" rtl="1"/>
            <a:r>
              <a:rPr lang="en-US" b="1"/>
              <a:t>Operator: CO</a:t>
            </a:r>
            <a:endParaRPr lang="ar-EG" b="1"/>
          </a:p>
          <a:p>
            <a:pPr marL="494100" indent="-457200" algn="r" rtl="1">
              <a:buFont typeface="+mj-lt"/>
              <a:buAutoNum type="arabicPeriod"/>
            </a:pPr>
            <a:r>
              <a:rPr lang="ar-EG" sz="2200" b="1">
                <a:solidFill>
                  <a:srgbClr val="FF0000"/>
                </a:solidFill>
              </a:rPr>
              <a:t>تحليل الائتمانى</a:t>
            </a:r>
            <a:endParaRPr lang="en-US" sz="2200" b="1">
              <a:solidFill>
                <a:srgbClr val="FF0000"/>
              </a:solidFill>
            </a:endParaRPr>
          </a:p>
          <a:p>
            <a:pPr marL="871200" lvl="1" indent="-457200" algn="r" rtl="1"/>
            <a:r>
              <a:rPr lang="en-US" b="1"/>
              <a:t>Operator: CO</a:t>
            </a:r>
          </a:p>
          <a:p>
            <a:pPr marL="494100" indent="-457200" algn="r" rtl="1">
              <a:buFont typeface="+mj-lt"/>
              <a:buAutoNum type="arabicPeriod"/>
            </a:pPr>
            <a:r>
              <a:rPr lang="ar-EG" sz="2200" b="1">
                <a:solidFill>
                  <a:srgbClr val="FF0000"/>
                </a:solidFill>
              </a:rPr>
              <a:t>تحميل المستندات</a:t>
            </a:r>
            <a:endParaRPr lang="en-US" sz="2200" b="1">
              <a:solidFill>
                <a:srgbClr val="FF0000"/>
              </a:solidFill>
            </a:endParaRPr>
          </a:p>
          <a:p>
            <a:pPr marL="871200" lvl="1" indent="-457200" algn="r" rtl="1"/>
            <a:r>
              <a:rPr lang="en-US" b="1"/>
              <a:t>Operator: Branch Manager</a:t>
            </a:r>
            <a:endParaRPr lang="ar-EG" b="1"/>
          </a:p>
          <a:p>
            <a:pPr marL="494100" indent="-457200" algn="r" rtl="1">
              <a:buFont typeface="+mj-lt"/>
              <a:buAutoNum type="arabicPeriod"/>
            </a:pPr>
            <a:r>
              <a:rPr lang="ar-EG" sz="2200" b="1">
                <a:solidFill>
                  <a:srgbClr val="FF0000"/>
                </a:solidFill>
              </a:rPr>
              <a:t>المراجعة المركزية</a:t>
            </a:r>
            <a:endParaRPr lang="en-US" sz="2200" b="1">
              <a:solidFill>
                <a:srgbClr val="FF0000"/>
              </a:solidFill>
            </a:endParaRPr>
          </a:p>
          <a:p>
            <a:pPr marL="871200" lvl="1" indent="-457200" algn="r" rtl="1"/>
            <a:r>
              <a:rPr lang="en-US" b="1"/>
              <a:t>Operator: Credit</a:t>
            </a:r>
            <a:endParaRPr lang="ar-EG" b="1"/>
          </a:p>
          <a:p>
            <a:pPr marL="494100" indent="-457200" algn="r" rtl="1">
              <a:buFont typeface="+mj-lt"/>
              <a:buAutoNum type="arabicPeriod"/>
            </a:pPr>
            <a:r>
              <a:rPr lang="ar-EG" sz="2200" b="1">
                <a:solidFill>
                  <a:srgbClr val="FF0000"/>
                </a:solidFill>
              </a:rPr>
              <a:t>الصرف</a:t>
            </a:r>
          </a:p>
        </p:txBody>
      </p:sp>
    </p:spTree>
    <p:extLst>
      <p:ext uri="{BB962C8B-B14F-4D97-AF65-F5344CB8AC3E}">
        <p14:creationId xmlns:p14="http://schemas.microsoft.com/office/powerpoint/2010/main" val="259158195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66689A-AF67-DBC5-65AC-34D515217C60}"/>
              </a:ext>
            </a:extLst>
          </p:cNvPr>
          <p:cNvSpPr>
            <a:spLocks noGrp="1"/>
          </p:cNvSpPr>
          <p:nvPr>
            <p:ph type="title"/>
          </p:nvPr>
        </p:nvSpPr>
        <p:spPr>
          <a:xfrm>
            <a:off x="1012118" y="0"/>
            <a:ext cx="10353762" cy="383458"/>
          </a:xfrm>
        </p:spPr>
        <p:txBody>
          <a:bodyPr>
            <a:noAutofit/>
          </a:bodyPr>
          <a:lstStyle/>
          <a:p>
            <a:r>
              <a:rPr lang="ar-EG" sz="3200" b="1">
                <a:solidFill>
                  <a:srgbClr val="FF0000"/>
                </a:solidFill>
              </a:rPr>
              <a:t>إدخال طلب</a:t>
            </a:r>
            <a:r>
              <a:rPr lang="en-US" sz="3200" b="1">
                <a:solidFill>
                  <a:srgbClr val="FF0000"/>
                </a:solidFill>
              </a:rPr>
              <a:t> (Funding Request)</a:t>
            </a:r>
          </a:p>
        </p:txBody>
      </p:sp>
      <p:sp>
        <p:nvSpPr>
          <p:cNvPr id="3" name="Content Placeholder 2">
            <a:extLst>
              <a:ext uri="{FF2B5EF4-FFF2-40B4-BE49-F238E27FC236}">
                <a16:creationId xmlns:a16="http://schemas.microsoft.com/office/drawing/2014/main" id="{4391F90C-EE0A-D684-B8D5-359DE45E4FA0}"/>
              </a:ext>
            </a:extLst>
          </p:cNvPr>
          <p:cNvSpPr>
            <a:spLocks noGrp="1"/>
          </p:cNvSpPr>
          <p:nvPr>
            <p:ph idx="1"/>
          </p:nvPr>
        </p:nvSpPr>
        <p:spPr>
          <a:xfrm>
            <a:off x="334297" y="511276"/>
            <a:ext cx="11592232" cy="6346723"/>
          </a:xfrm>
        </p:spPr>
        <p:txBody>
          <a:bodyPr/>
          <a:lstStyle/>
          <a:p>
            <a:pPr algn="r" rtl="1"/>
            <a:r>
              <a:rPr lang="ar-EG"/>
              <a:t>نوع التمويل: </a:t>
            </a:r>
            <a:r>
              <a:rPr lang="ar-EG">
                <a:effectLst/>
              </a:rPr>
              <a:t>(مثل تمويل شخصي، تمويل عقاري، أو تمويل مشروعات صغيرة)</a:t>
            </a:r>
          </a:p>
          <a:p>
            <a:pPr algn="r" rtl="1"/>
            <a:r>
              <a:rPr lang="ar-EG">
                <a:effectLst/>
              </a:rPr>
              <a:t>الحالة: </a:t>
            </a:r>
            <a:r>
              <a:rPr lang="ar-EG" b="1">
                <a:effectLst/>
              </a:rPr>
              <a:t>(جديد/تجديد) </a:t>
            </a:r>
            <a:r>
              <a:rPr lang="ar-EG">
                <a:effectLst/>
              </a:rPr>
              <a:t>تُحدد ما إذا كان العميل يتقدم بطلب </a:t>
            </a:r>
            <a:r>
              <a:rPr lang="ar-EG" b="1">
                <a:effectLst/>
              </a:rPr>
              <a:t>لأول مرة</a:t>
            </a:r>
            <a:r>
              <a:rPr lang="ar-EG">
                <a:effectLst/>
              </a:rPr>
              <a:t> (جديد) أو يطلب </a:t>
            </a:r>
            <a:r>
              <a:rPr lang="ar-EG" b="1">
                <a:effectLst/>
              </a:rPr>
              <a:t>إعادة تمويل</a:t>
            </a:r>
            <a:r>
              <a:rPr lang="ar-EG">
                <a:effectLst/>
              </a:rPr>
              <a:t> أو تجديد لقرض قائم بالفعل</a:t>
            </a:r>
          </a:p>
          <a:p>
            <a:pPr algn="r" rtl="1"/>
            <a:r>
              <a:rPr lang="ar-EG" b="1">
                <a:effectLst/>
              </a:rPr>
              <a:t>إسم العميل:</a:t>
            </a:r>
            <a:r>
              <a:rPr lang="ar-EG">
                <a:effectLst/>
              </a:rPr>
              <a:t> الاسم الكامل لمقدم الطلب كما هو مسجل في الأوراق الرسمية</a:t>
            </a:r>
          </a:p>
          <a:p>
            <a:pPr algn="r" rtl="1"/>
            <a:r>
              <a:rPr lang="ar-EG" b="1">
                <a:effectLst/>
              </a:rPr>
              <a:t>المنشأة:</a:t>
            </a:r>
            <a:r>
              <a:rPr lang="ar-EG">
                <a:effectLst/>
              </a:rPr>
              <a:t> تشير إلى </a:t>
            </a:r>
            <a:r>
              <a:rPr lang="ar-EG" b="1">
                <a:effectLst/>
              </a:rPr>
              <a:t>جهة العمل</a:t>
            </a:r>
            <a:r>
              <a:rPr lang="ar-EG">
                <a:effectLst/>
              </a:rPr>
              <a:t> التي يعمل بها العميل أو اسم </a:t>
            </a:r>
            <a:r>
              <a:rPr lang="ar-EG" b="1">
                <a:effectLst/>
              </a:rPr>
              <a:t>المشروع/الشركة</a:t>
            </a:r>
            <a:r>
              <a:rPr lang="ar-EG">
                <a:effectLst/>
              </a:rPr>
              <a:t> التي يمتلكها ويرغب في تمويلها.</a:t>
            </a:r>
          </a:p>
          <a:p>
            <a:pPr algn="r" rtl="1"/>
            <a:r>
              <a:rPr lang="ar-EG" b="1">
                <a:effectLst/>
              </a:rPr>
              <a:t>إسم الضامن:</a:t>
            </a:r>
            <a:r>
              <a:rPr lang="ar-EG">
                <a:effectLst/>
              </a:rPr>
              <a:t> الشخص الذي يتعهد بسداد القرض في حال تعثر العميل الأساسي.</a:t>
            </a:r>
          </a:p>
          <a:p>
            <a:pPr algn="r" rtl="1"/>
            <a:r>
              <a:rPr lang="ar-EG" b="1">
                <a:effectLst/>
              </a:rPr>
              <a:t>الرقم القومي للضامن:</a:t>
            </a:r>
            <a:r>
              <a:rPr lang="ar-EG">
                <a:effectLst/>
              </a:rPr>
              <a:t> بيانات الهوية الخاصة بالضامن للتحقق من أهليته القانونية والائتمانية.</a:t>
            </a:r>
          </a:p>
          <a:p>
            <a:pPr algn="r" rtl="1"/>
            <a:r>
              <a:rPr lang="ar-EG" b="1">
                <a:effectLst/>
              </a:rPr>
              <a:t>صلة العميل بالضامن:</a:t>
            </a:r>
            <a:r>
              <a:rPr lang="ar-EG">
                <a:effectLst/>
              </a:rPr>
              <a:t> طبيعة العلاقة بينهما (مثل: درجة أولى، صديق، زميل عمل) لتقييم مدى قوة الضمانة</a:t>
            </a:r>
          </a:p>
          <a:p>
            <a:pPr algn="r" rtl="1"/>
            <a:r>
              <a:rPr lang="ar-EG" b="1">
                <a:solidFill>
                  <a:srgbClr val="FFFF00"/>
                </a:solidFill>
                <a:effectLst/>
              </a:rPr>
              <a:t>المبلغ المطلوب</a:t>
            </a:r>
            <a:r>
              <a:rPr lang="ar-EG" b="1">
                <a:effectLst/>
              </a:rPr>
              <a:t>:</a:t>
            </a:r>
            <a:r>
              <a:rPr lang="ar-EG">
                <a:effectLst/>
              </a:rPr>
              <a:t> إجمالي المبلغ الذي </a:t>
            </a:r>
            <a:r>
              <a:rPr lang="ar-EG" b="1">
                <a:effectLst/>
              </a:rPr>
              <a:t>يأمل</a:t>
            </a:r>
            <a:r>
              <a:rPr lang="ar-EG">
                <a:effectLst/>
              </a:rPr>
              <a:t> العميل في الحصول عليه من جهة التمويل</a:t>
            </a:r>
          </a:p>
          <a:p>
            <a:pPr algn="r" rtl="1"/>
            <a:r>
              <a:rPr lang="ar-EG" b="1">
                <a:solidFill>
                  <a:srgbClr val="FFFF00"/>
                </a:solidFill>
                <a:effectLst/>
              </a:rPr>
              <a:t>قيمة التمويل</a:t>
            </a:r>
            <a:r>
              <a:rPr lang="ar-EG" b="1">
                <a:effectLst/>
              </a:rPr>
              <a:t>:</a:t>
            </a:r>
            <a:r>
              <a:rPr lang="ar-EG">
                <a:effectLst/>
              </a:rPr>
              <a:t> </a:t>
            </a:r>
            <a:r>
              <a:rPr lang="ar-EG" b="1">
                <a:solidFill>
                  <a:schemeClr val="tx1"/>
                </a:solidFill>
                <a:effectLst/>
              </a:rPr>
              <a:t>مبلغ التمويل الذي توافق </a:t>
            </a:r>
            <a:r>
              <a:rPr lang="ar-EG">
                <a:effectLst/>
              </a:rPr>
              <a:t>جهة التمويل مبدئياً على منحه بناءً على دراسة حالة العميل</a:t>
            </a:r>
          </a:p>
          <a:p>
            <a:pPr algn="r" rtl="1"/>
            <a:r>
              <a:rPr lang="ar-EG" b="1">
                <a:solidFill>
                  <a:srgbClr val="FFFF00"/>
                </a:solidFill>
                <a:effectLst/>
              </a:rPr>
              <a:t>القيمة الفعلية للتمويل</a:t>
            </a:r>
            <a:r>
              <a:rPr lang="ar-EG" b="1">
                <a:effectLst/>
              </a:rPr>
              <a:t>:</a:t>
            </a:r>
            <a:r>
              <a:rPr lang="ar-EG">
                <a:effectLst/>
              </a:rPr>
              <a:t> المبلغ الصافي الذي سيستلمه العميل فعلياً بعد خصم أي رسوم إدارية أو مصاريف بنكية</a:t>
            </a:r>
          </a:p>
          <a:p>
            <a:pPr algn="r" rtl="1"/>
            <a:r>
              <a:rPr lang="ar-EG" b="1">
                <a:effectLst/>
              </a:rPr>
              <a:t>الهدف من التمويل : </a:t>
            </a:r>
            <a:r>
              <a:rPr lang="ar-EG">
                <a:effectLst/>
              </a:rPr>
              <a:t>الغرض من الحصول على المال (مثل: شراء أصول، توسعة مشروع، سداد ديون أخرى).</a:t>
            </a:r>
          </a:p>
          <a:p>
            <a:pPr algn="r" rtl="1"/>
            <a:r>
              <a:rPr lang="ar-EG" b="1">
                <a:effectLst/>
              </a:rPr>
              <a:t>جهة الصرف : ا</a:t>
            </a:r>
            <a:r>
              <a:rPr lang="ar-EG">
                <a:effectLst/>
              </a:rPr>
              <a:t>لمكان أو الطريقة التي سيتم بها تحويل الأموال (مثل: صرف نقدي، شيك لجهة موردة، أو إيداع في حساب بنكي محدد).</a:t>
            </a:r>
          </a:p>
          <a:p>
            <a:pPr algn="r" rtl="1"/>
            <a:endParaRPr lang="en-US"/>
          </a:p>
        </p:txBody>
      </p:sp>
    </p:spTree>
    <p:extLst>
      <p:ext uri="{BB962C8B-B14F-4D97-AF65-F5344CB8AC3E}">
        <p14:creationId xmlns:p14="http://schemas.microsoft.com/office/powerpoint/2010/main" val="18080738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A86539-538E-CE9F-800C-FD9E8FA4CC1D}"/>
              </a:ext>
            </a:extLst>
          </p:cNvPr>
          <p:cNvSpPr>
            <a:spLocks noGrp="1"/>
          </p:cNvSpPr>
          <p:nvPr>
            <p:ph type="title"/>
          </p:nvPr>
        </p:nvSpPr>
        <p:spPr>
          <a:xfrm>
            <a:off x="913795" y="0"/>
            <a:ext cx="10353762" cy="570271"/>
          </a:xfrm>
        </p:spPr>
        <p:txBody>
          <a:bodyPr>
            <a:normAutofit fontScale="90000"/>
          </a:bodyPr>
          <a:lstStyle/>
          <a:p>
            <a:r>
              <a:rPr lang="ar-EG" b="1">
                <a:effectLst/>
              </a:rPr>
              <a:t>طلب تمويل</a:t>
            </a:r>
            <a:r>
              <a:rPr lang="en-US" b="1">
                <a:effectLst/>
              </a:rPr>
              <a:t> </a:t>
            </a:r>
            <a:r>
              <a:rPr lang="ar-EG" b="1">
                <a:effectLst/>
              </a:rPr>
              <a:t>تجديد</a:t>
            </a:r>
            <a:endParaRPr lang="en-US"/>
          </a:p>
        </p:txBody>
      </p:sp>
      <p:sp>
        <p:nvSpPr>
          <p:cNvPr id="3" name="Content Placeholder 2">
            <a:extLst>
              <a:ext uri="{FF2B5EF4-FFF2-40B4-BE49-F238E27FC236}">
                <a16:creationId xmlns:a16="http://schemas.microsoft.com/office/drawing/2014/main" id="{E18F61E0-6387-C307-C046-3505F3EF2D2F}"/>
              </a:ext>
            </a:extLst>
          </p:cNvPr>
          <p:cNvSpPr>
            <a:spLocks noGrp="1"/>
          </p:cNvSpPr>
          <p:nvPr>
            <p:ph idx="1"/>
          </p:nvPr>
        </p:nvSpPr>
        <p:spPr>
          <a:xfrm>
            <a:off x="196644" y="570271"/>
            <a:ext cx="11857703" cy="6194323"/>
          </a:xfrm>
        </p:spPr>
        <p:txBody>
          <a:bodyPr/>
          <a:lstStyle/>
          <a:p>
            <a:pPr algn="r" rtl="1"/>
            <a:r>
              <a:rPr lang="ar-EG" b="1">
                <a:effectLst/>
              </a:rPr>
              <a:t>تمديد فترة السداد (</a:t>
            </a:r>
            <a:r>
              <a:rPr lang="en-US" b="1">
                <a:effectLst/>
              </a:rPr>
              <a:t>extension</a:t>
            </a:r>
            <a:r>
              <a:rPr lang="ar-EG" b="1">
                <a:effectLst/>
              </a:rPr>
              <a:t>)</a:t>
            </a:r>
            <a:endParaRPr lang="en-US" b="1">
              <a:effectLst/>
            </a:endParaRPr>
          </a:p>
          <a:p>
            <a:pPr lvl="1" algn="r" rtl="1"/>
            <a:r>
              <a:rPr lang="ar-EG">
                <a:effectLst/>
              </a:rPr>
              <a:t>هذا النوع يركز على </a:t>
            </a:r>
            <a:r>
              <a:rPr lang="ar-EG" b="1">
                <a:effectLst/>
              </a:rPr>
              <a:t>الزمن</a:t>
            </a:r>
            <a:r>
              <a:rPr lang="ar-EG">
                <a:effectLst/>
              </a:rPr>
              <a:t>؛ أي إعطاؤك وقتاً أطول لدفع نفس المبلغ المتبقي عليك، مما يؤدي غالباً لتقليل قيمة القسط الشهري.</a:t>
            </a:r>
            <a:endParaRPr lang="en-US">
              <a:effectLst/>
            </a:endParaRPr>
          </a:p>
          <a:p>
            <a:pPr lvl="1" algn="r" rtl="1"/>
            <a:r>
              <a:rPr lang="ar-EG" b="1">
                <a:effectLst/>
              </a:rPr>
              <a:t>مثال:</a:t>
            </a:r>
            <a:r>
              <a:rPr lang="ar-EG">
                <a:effectLst/>
              </a:rPr>
              <a:t> حصلت على تمويل بمبلغ 50,000 جنيه لمدة سنتين، وبعد مرور سنة تعثرت ظروفك وأصبح القسط كبيراً عليك. تطلب "تجديد" لتمديد السنة المتبقية لتصبح سنتين إضافيتين، فيقل القسط الشهري لكنك ستدفع فوائد لفترة أطول.</a:t>
            </a:r>
            <a:endParaRPr lang="en-US" b="1">
              <a:effectLst/>
            </a:endParaRPr>
          </a:p>
          <a:p>
            <a:pPr algn="r" rtl="1"/>
            <a:r>
              <a:rPr lang="ar-EG" b="1">
                <a:effectLst/>
              </a:rPr>
              <a:t>زيادة مبلغ التمويل </a:t>
            </a:r>
            <a:r>
              <a:rPr lang="en-US" b="1">
                <a:effectLst/>
              </a:rPr>
              <a:t>(Top-up)</a:t>
            </a:r>
          </a:p>
          <a:p>
            <a:pPr lvl="1" algn="r" rtl="1"/>
            <a:r>
              <a:rPr lang="ar-EG"/>
              <a:t>هذا النوع يركز على السيولة؛ وهو مخصص للعملاء الملتزمين الذين سددوا جزءاً من القرض ويريدون العودة للمبلغ الأصلي أو زيادته.</a:t>
            </a:r>
          </a:p>
          <a:p>
            <a:pPr lvl="1" algn="r" rtl="1"/>
            <a:r>
              <a:rPr lang="ar-EG"/>
              <a:t>مثال: كان لديك قرض بـ 100,000 جنيه، وسددت منه 60,000 جنيه (المتبقي عليك 40,000 فقط). تطلب "تجديد" ليرفع البنك القرض مرة أخرى إلى 100,000 جنيه. في هذه الحالة، يتم سداد الـ 40,000 القديمة وتستلم أنت 60,000 جنيه كاش في يدك لتبدأ دورة سداد جديدة.</a:t>
            </a:r>
            <a:endParaRPr lang="en-US"/>
          </a:p>
          <a:p>
            <a:pPr algn="r" rtl="1"/>
            <a:r>
              <a:rPr lang="ar-EG" b="1"/>
              <a:t>إعادة الجدولة (</a:t>
            </a:r>
            <a:r>
              <a:rPr lang="en-US" b="1"/>
              <a:t>Rescheduling</a:t>
            </a:r>
            <a:r>
              <a:rPr lang="ar-EG" b="1"/>
              <a:t>)</a:t>
            </a:r>
          </a:p>
          <a:p>
            <a:pPr lvl="1" algn="r" rtl="1"/>
            <a:r>
              <a:rPr lang="ar-EG"/>
              <a:t>هذا النوع يركز على تغيير الشروط؛ ويحدث عادةً عند حدوث تغيير جذري في حالتك المالية أو لتغيير نوع الفائدة.</a:t>
            </a:r>
          </a:p>
          <a:p>
            <a:pPr lvl="1" algn="r" rtl="1"/>
            <a:r>
              <a:rPr lang="ar-EG"/>
              <a:t>مثال: لديك قرض بضمان مرتبك، وقررت ترك عملك وبدء مشروعك الخاص. تطلب من جهة التمويل "تجديد" القرض ليصبح بضمان "سجل تجاري" أو بضمان "أصل عقاري" بدلاً من الراتب، مع تغيير قيمة الأقساط لتناسب دخلك الجديد من المشروع.</a:t>
            </a:r>
          </a:p>
          <a:p>
            <a:pPr algn="r" rtl="1"/>
            <a:endParaRPr lang="en-US"/>
          </a:p>
        </p:txBody>
      </p:sp>
    </p:spTree>
    <p:extLst>
      <p:ext uri="{BB962C8B-B14F-4D97-AF65-F5344CB8AC3E}">
        <p14:creationId xmlns:p14="http://schemas.microsoft.com/office/powerpoint/2010/main" val="261244719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8E5A12-5031-578B-73A6-5281966AFC97}"/>
              </a:ext>
            </a:extLst>
          </p:cNvPr>
          <p:cNvSpPr>
            <a:spLocks noGrp="1"/>
          </p:cNvSpPr>
          <p:nvPr>
            <p:ph type="title"/>
          </p:nvPr>
        </p:nvSpPr>
        <p:spPr>
          <a:xfrm>
            <a:off x="913795" y="0"/>
            <a:ext cx="10353762" cy="707923"/>
          </a:xfrm>
        </p:spPr>
        <p:txBody>
          <a:bodyPr/>
          <a:lstStyle/>
          <a:p>
            <a:r>
              <a:rPr lang="ar-EG" b="1">
                <a:solidFill>
                  <a:srgbClr val="FF0000"/>
                </a:solidFill>
              </a:rPr>
              <a:t>مراجعة أولية</a:t>
            </a:r>
            <a:endParaRPr lang="en-US" b="1">
              <a:solidFill>
                <a:srgbClr val="FF0000"/>
              </a:solidFill>
            </a:endParaRPr>
          </a:p>
        </p:txBody>
      </p:sp>
      <p:sp>
        <p:nvSpPr>
          <p:cNvPr id="3" name="Content Placeholder 2">
            <a:extLst>
              <a:ext uri="{FF2B5EF4-FFF2-40B4-BE49-F238E27FC236}">
                <a16:creationId xmlns:a16="http://schemas.microsoft.com/office/drawing/2014/main" id="{C6D0CF99-5768-3261-B86E-3BECA925F909}"/>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191817787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BD6999-6FBE-7FD0-77E3-BEFCDD7438B5}"/>
              </a:ext>
            </a:extLst>
          </p:cNvPr>
          <p:cNvSpPr>
            <a:spLocks noGrp="1"/>
          </p:cNvSpPr>
          <p:nvPr>
            <p:ph type="title"/>
          </p:nvPr>
        </p:nvSpPr>
        <p:spPr/>
        <p:txBody>
          <a:bodyPr/>
          <a:lstStyle/>
          <a:p>
            <a:r>
              <a:rPr lang="ar-EG"/>
              <a:t>زيارة ميدانية</a:t>
            </a:r>
            <a:endParaRPr lang="en-US"/>
          </a:p>
        </p:txBody>
      </p:sp>
      <p:sp>
        <p:nvSpPr>
          <p:cNvPr id="3" name="Content Placeholder 2">
            <a:extLst>
              <a:ext uri="{FF2B5EF4-FFF2-40B4-BE49-F238E27FC236}">
                <a16:creationId xmlns:a16="http://schemas.microsoft.com/office/drawing/2014/main" id="{26B4D821-A659-22F6-D27B-58D7BE5B7C48}"/>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2323829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04BEF7-16AD-EB38-03A0-9E38308744E8}"/>
              </a:ext>
            </a:extLst>
          </p:cNvPr>
          <p:cNvSpPr>
            <a:spLocks noGrp="1"/>
          </p:cNvSpPr>
          <p:nvPr>
            <p:ph type="title"/>
          </p:nvPr>
        </p:nvSpPr>
        <p:spPr/>
        <p:txBody>
          <a:bodyPr/>
          <a:lstStyle/>
          <a:p>
            <a:r>
              <a:rPr lang="ar-EG" b="1">
                <a:solidFill>
                  <a:srgbClr val="FF0000"/>
                </a:solidFill>
              </a:rPr>
              <a:t>التحليل الائتماني</a:t>
            </a:r>
            <a:endParaRPr lang="en-US" b="1">
              <a:solidFill>
                <a:srgbClr val="FF0000"/>
              </a:solidFill>
            </a:endParaRPr>
          </a:p>
        </p:txBody>
      </p:sp>
      <p:sp>
        <p:nvSpPr>
          <p:cNvPr id="3" name="Content Placeholder 2">
            <a:extLst>
              <a:ext uri="{FF2B5EF4-FFF2-40B4-BE49-F238E27FC236}">
                <a16:creationId xmlns:a16="http://schemas.microsoft.com/office/drawing/2014/main" id="{4B9905FB-09D5-E179-2DB7-D3AC27E86338}"/>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153344301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DBE4A9-0D80-63E2-93A1-0CD590C2F5FE}"/>
              </a:ext>
            </a:extLst>
          </p:cNvPr>
          <p:cNvSpPr>
            <a:spLocks noGrp="1"/>
          </p:cNvSpPr>
          <p:nvPr>
            <p:ph type="title"/>
          </p:nvPr>
        </p:nvSpPr>
        <p:spPr>
          <a:xfrm>
            <a:off x="913795" y="0"/>
            <a:ext cx="10353762" cy="668594"/>
          </a:xfrm>
        </p:spPr>
        <p:txBody>
          <a:bodyPr>
            <a:normAutofit fontScale="90000"/>
          </a:bodyPr>
          <a:lstStyle/>
          <a:p>
            <a:r>
              <a:rPr lang="ar-EG" b="1">
                <a:solidFill>
                  <a:srgbClr val="FF0000"/>
                </a:solidFill>
              </a:rPr>
              <a:t>تحميل المستندات</a:t>
            </a:r>
            <a:endParaRPr lang="en-US" b="1">
              <a:solidFill>
                <a:srgbClr val="FF0000"/>
              </a:solidFill>
            </a:endParaRPr>
          </a:p>
        </p:txBody>
      </p:sp>
      <p:sp>
        <p:nvSpPr>
          <p:cNvPr id="3" name="Content Placeholder 2">
            <a:extLst>
              <a:ext uri="{FF2B5EF4-FFF2-40B4-BE49-F238E27FC236}">
                <a16:creationId xmlns:a16="http://schemas.microsoft.com/office/drawing/2014/main" id="{D8EFC7BF-7EA3-03B6-F9DF-0E2BE48F01F0}"/>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409481095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0A2CEE-E4B4-FDA8-29CD-E7103B522F79}"/>
              </a:ext>
            </a:extLst>
          </p:cNvPr>
          <p:cNvSpPr>
            <a:spLocks noGrp="1"/>
          </p:cNvSpPr>
          <p:nvPr>
            <p:ph type="title"/>
          </p:nvPr>
        </p:nvSpPr>
        <p:spPr>
          <a:xfrm>
            <a:off x="844969" y="0"/>
            <a:ext cx="10353762" cy="698090"/>
          </a:xfrm>
        </p:spPr>
        <p:txBody>
          <a:bodyPr>
            <a:normAutofit fontScale="90000"/>
          </a:bodyPr>
          <a:lstStyle/>
          <a:p>
            <a:r>
              <a:rPr lang="ar-EG" b="1">
                <a:solidFill>
                  <a:srgbClr val="FF0000"/>
                </a:solidFill>
              </a:rPr>
              <a:t>المراجعة المركزية</a:t>
            </a:r>
            <a:endParaRPr lang="en-US" b="1">
              <a:solidFill>
                <a:srgbClr val="FF0000"/>
              </a:solidFill>
            </a:endParaRPr>
          </a:p>
        </p:txBody>
      </p:sp>
      <p:sp>
        <p:nvSpPr>
          <p:cNvPr id="3" name="Content Placeholder 2">
            <a:extLst>
              <a:ext uri="{FF2B5EF4-FFF2-40B4-BE49-F238E27FC236}">
                <a16:creationId xmlns:a16="http://schemas.microsoft.com/office/drawing/2014/main" id="{EA6FB638-B82F-DC6A-F0B1-71E66F335DC0}"/>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74244939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6A297D-FA92-F0E4-599A-68EAB03047C0}"/>
              </a:ext>
            </a:extLst>
          </p:cNvPr>
          <p:cNvSpPr>
            <a:spLocks noGrp="1"/>
          </p:cNvSpPr>
          <p:nvPr>
            <p:ph type="title"/>
          </p:nvPr>
        </p:nvSpPr>
        <p:spPr>
          <a:xfrm>
            <a:off x="913795" y="0"/>
            <a:ext cx="10353762" cy="766916"/>
          </a:xfrm>
        </p:spPr>
        <p:txBody>
          <a:bodyPr/>
          <a:lstStyle/>
          <a:p>
            <a:r>
              <a:rPr lang="ar-EG" b="1">
                <a:solidFill>
                  <a:srgbClr val="FF0000"/>
                </a:solidFill>
              </a:rPr>
              <a:t>الصرف</a:t>
            </a:r>
            <a:endParaRPr lang="en-US" b="1">
              <a:solidFill>
                <a:srgbClr val="FF0000"/>
              </a:solidFill>
            </a:endParaRPr>
          </a:p>
        </p:txBody>
      </p:sp>
      <p:sp>
        <p:nvSpPr>
          <p:cNvPr id="3" name="Content Placeholder 2">
            <a:extLst>
              <a:ext uri="{FF2B5EF4-FFF2-40B4-BE49-F238E27FC236}">
                <a16:creationId xmlns:a16="http://schemas.microsoft.com/office/drawing/2014/main" id="{24E0624C-F15D-C0E6-7DF1-8E90C1166A7A}"/>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407543256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ABF588-5A22-7C5C-254E-26F8B556C2F8}"/>
              </a:ext>
            </a:extLst>
          </p:cNvPr>
          <p:cNvSpPr>
            <a:spLocks noGrp="1"/>
          </p:cNvSpPr>
          <p:nvPr>
            <p:ph type="title"/>
          </p:nvPr>
        </p:nvSpPr>
        <p:spPr>
          <a:xfrm>
            <a:off x="913795" y="0"/>
            <a:ext cx="10353762" cy="353961"/>
          </a:xfrm>
        </p:spPr>
        <p:txBody>
          <a:bodyPr>
            <a:noAutofit/>
          </a:bodyPr>
          <a:lstStyle/>
          <a:p>
            <a:r>
              <a:rPr lang="en-US" sz="3200" b="1">
                <a:solidFill>
                  <a:srgbClr val="FF0000"/>
                </a:solidFill>
              </a:rPr>
              <a:t>Branch at Common</a:t>
            </a:r>
          </a:p>
        </p:txBody>
      </p:sp>
      <p:sp>
        <p:nvSpPr>
          <p:cNvPr id="3" name="Content Placeholder 2">
            <a:extLst>
              <a:ext uri="{FF2B5EF4-FFF2-40B4-BE49-F238E27FC236}">
                <a16:creationId xmlns:a16="http://schemas.microsoft.com/office/drawing/2014/main" id="{66405C29-9092-F04A-2677-BCF8645824E8}"/>
              </a:ext>
            </a:extLst>
          </p:cNvPr>
          <p:cNvSpPr>
            <a:spLocks noGrp="1"/>
          </p:cNvSpPr>
          <p:nvPr>
            <p:ph idx="1"/>
          </p:nvPr>
        </p:nvSpPr>
        <p:spPr>
          <a:xfrm>
            <a:off x="255639" y="442453"/>
            <a:ext cx="11729884" cy="6243482"/>
          </a:xfrm>
        </p:spPr>
        <p:txBody>
          <a:bodyPr numCol="2">
            <a:normAutofit/>
          </a:bodyPr>
          <a:lstStyle/>
          <a:p>
            <a:r>
              <a:rPr lang="en-US" sz="1800" b="1"/>
              <a:t>int BranchId</a:t>
            </a:r>
          </a:p>
          <a:p>
            <a:r>
              <a:rPr lang="en-US" sz="1800" b="1"/>
              <a:t>BranchNameAR</a:t>
            </a:r>
          </a:p>
          <a:p>
            <a:r>
              <a:rPr lang="en-US" sz="1800" b="1"/>
              <a:t>BranchNameEn</a:t>
            </a:r>
          </a:p>
          <a:p>
            <a:r>
              <a:rPr lang="en-US" sz="1800" b="1"/>
              <a:t>AddressAR</a:t>
            </a:r>
          </a:p>
          <a:p>
            <a:r>
              <a:rPr lang="en-US" sz="1800" b="1"/>
              <a:t>AddressEn</a:t>
            </a:r>
          </a:p>
          <a:p>
            <a:r>
              <a:rPr lang="en-US" sz="1800" b="1" err="1"/>
              <a:t>ExterNum</a:t>
            </a:r>
            <a:endParaRPr lang="en-US" sz="1800" b="1"/>
          </a:p>
          <a:p>
            <a:r>
              <a:rPr lang="en-US" sz="1800" b="1" err="1"/>
              <a:t>PhoneNum</a:t>
            </a:r>
            <a:endParaRPr lang="en-US" sz="1800" b="1"/>
          </a:p>
          <a:p>
            <a:r>
              <a:rPr lang="en-US" sz="1800" b="1"/>
              <a:t>RegionId</a:t>
            </a:r>
            <a:endParaRPr lang="ar-EG" sz="1800" b="1"/>
          </a:p>
          <a:p>
            <a:r>
              <a:rPr lang="en-US" sz="1800" b="1"/>
              <a:t>OriginalRegionId</a:t>
            </a:r>
            <a:endParaRPr lang="ar-EG" sz="1800" b="1"/>
          </a:p>
          <a:p>
            <a:r>
              <a:rPr lang="en-US" sz="1800" b="1"/>
              <a:t>GovId</a:t>
            </a:r>
            <a:endParaRPr lang="ar-EG" sz="1800" b="1"/>
          </a:p>
          <a:p>
            <a:r>
              <a:rPr lang="en-US" sz="1800" b="1" err="1"/>
              <a:t>Code_district</a:t>
            </a:r>
            <a:endParaRPr lang="ar-EG" sz="1800" b="1"/>
          </a:p>
          <a:p>
            <a:r>
              <a:rPr lang="en-US" sz="1800" b="1" err="1"/>
              <a:t>Code_Section</a:t>
            </a:r>
            <a:endParaRPr lang="en-US" sz="1800" b="1"/>
          </a:p>
          <a:p>
            <a:r>
              <a:rPr lang="en-US" sz="1800" b="1"/>
              <a:t>FBT_ID</a:t>
            </a:r>
          </a:p>
          <a:p>
            <a:r>
              <a:rPr lang="en-US" sz="1800" b="1"/>
              <a:t>IP</a:t>
            </a:r>
          </a:p>
          <a:p>
            <a:r>
              <a:rPr lang="en-US" sz="1800" b="1" err="1"/>
              <a:t>Branch_code</a:t>
            </a:r>
            <a:endParaRPr lang="en-US" sz="1800" b="1"/>
          </a:p>
          <a:p>
            <a:r>
              <a:rPr lang="en-US" b="1"/>
              <a:t>Latitude</a:t>
            </a:r>
          </a:p>
          <a:p>
            <a:r>
              <a:rPr lang="en-US" b="1"/>
              <a:t>Longitude</a:t>
            </a:r>
          </a:p>
          <a:p>
            <a:endParaRPr lang="en-US" sz="1800" b="1"/>
          </a:p>
        </p:txBody>
      </p:sp>
      <p:pic>
        <p:nvPicPr>
          <p:cNvPr id="5" name="Picture 4">
            <a:extLst>
              <a:ext uri="{FF2B5EF4-FFF2-40B4-BE49-F238E27FC236}">
                <a16:creationId xmlns:a16="http://schemas.microsoft.com/office/drawing/2014/main" id="{91B0352F-7758-F003-E05D-DF54D9006A5B}"/>
              </a:ext>
            </a:extLst>
          </p:cNvPr>
          <p:cNvPicPr>
            <a:picLocks noChangeAspect="1"/>
          </p:cNvPicPr>
          <p:nvPr/>
        </p:nvPicPr>
        <p:blipFill>
          <a:blip r:embed="rId2"/>
          <a:stretch>
            <a:fillRect/>
          </a:stretch>
        </p:blipFill>
        <p:spPr>
          <a:xfrm>
            <a:off x="5391461" y="1424285"/>
            <a:ext cx="5105667" cy="1141933"/>
          </a:xfrm>
          <a:prstGeom prst="rect">
            <a:avLst/>
          </a:prstGeom>
        </p:spPr>
      </p:pic>
    </p:spTree>
    <p:extLst>
      <p:ext uri="{BB962C8B-B14F-4D97-AF65-F5344CB8AC3E}">
        <p14:creationId xmlns:p14="http://schemas.microsoft.com/office/powerpoint/2010/main" val="231305299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C52536-DCCC-8C3D-9370-41602B2F1CB9}"/>
              </a:ext>
            </a:extLst>
          </p:cNvPr>
          <p:cNvSpPr>
            <a:spLocks noGrp="1"/>
          </p:cNvSpPr>
          <p:nvPr>
            <p:ph type="title"/>
          </p:nvPr>
        </p:nvSpPr>
        <p:spPr>
          <a:xfrm>
            <a:off x="913795" y="0"/>
            <a:ext cx="10353762" cy="609600"/>
          </a:xfrm>
        </p:spPr>
        <p:txBody>
          <a:bodyPr>
            <a:normAutofit fontScale="90000"/>
          </a:bodyPr>
          <a:lstStyle/>
          <a:p>
            <a:r>
              <a:rPr lang="en-US" b="1">
                <a:solidFill>
                  <a:srgbClr val="FF0000"/>
                </a:solidFill>
              </a:rPr>
              <a:t>Region at </a:t>
            </a:r>
          </a:p>
        </p:txBody>
      </p:sp>
      <p:sp>
        <p:nvSpPr>
          <p:cNvPr id="3" name="Content Placeholder 2">
            <a:extLst>
              <a:ext uri="{FF2B5EF4-FFF2-40B4-BE49-F238E27FC236}">
                <a16:creationId xmlns:a16="http://schemas.microsoft.com/office/drawing/2014/main" id="{5BEA9423-2224-07FD-FD9F-8B5FEDB393E2}"/>
              </a:ext>
            </a:extLst>
          </p:cNvPr>
          <p:cNvSpPr>
            <a:spLocks noGrp="1"/>
          </p:cNvSpPr>
          <p:nvPr>
            <p:ph idx="1"/>
          </p:nvPr>
        </p:nvSpPr>
        <p:spPr>
          <a:xfrm>
            <a:off x="314632" y="609601"/>
            <a:ext cx="11611897" cy="6076334"/>
          </a:xfrm>
        </p:spPr>
        <p:txBody>
          <a:bodyPr>
            <a:normAutofit/>
          </a:bodyPr>
          <a:lstStyle/>
          <a:p>
            <a:r>
              <a:rPr lang="en-US" sz="1800"/>
              <a:t>RegionId</a:t>
            </a:r>
          </a:p>
          <a:p>
            <a:r>
              <a:rPr lang="en-US" sz="1800"/>
              <a:t>RegionNameAR</a:t>
            </a:r>
          </a:p>
          <a:p>
            <a:r>
              <a:rPr lang="en-US" sz="1800"/>
              <a:t>RegionNameEn</a:t>
            </a:r>
          </a:p>
          <a:p>
            <a:endParaRPr lang="en-US" sz="1800"/>
          </a:p>
        </p:txBody>
      </p:sp>
    </p:spTree>
    <p:extLst>
      <p:ext uri="{BB962C8B-B14F-4D97-AF65-F5344CB8AC3E}">
        <p14:creationId xmlns:p14="http://schemas.microsoft.com/office/powerpoint/2010/main" val="181546946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3EAB15-CC51-C498-9EEC-A137D0323F46}"/>
              </a:ext>
            </a:extLst>
          </p:cNvPr>
          <p:cNvSpPr>
            <a:spLocks noGrp="1"/>
          </p:cNvSpPr>
          <p:nvPr>
            <p:ph type="title"/>
          </p:nvPr>
        </p:nvSpPr>
        <p:spPr>
          <a:xfrm>
            <a:off x="919119" y="0"/>
            <a:ext cx="10353762" cy="589935"/>
          </a:xfrm>
        </p:spPr>
        <p:txBody>
          <a:bodyPr>
            <a:normAutofit fontScale="90000"/>
          </a:bodyPr>
          <a:lstStyle/>
          <a:p>
            <a:r>
              <a:rPr lang="en-US" b="1">
                <a:solidFill>
                  <a:srgbClr val="FF0000"/>
                </a:solidFill>
              </a:rPr>
              <a:t>Governorate at common</a:t>
            </a:r>
          </a:p>
        </p:txBody>
      </p:sp>
      <p:sp>
        <p:nvSpPr>
          <p:cNvPr id="3" name="Content Placeholder 2">
            <a:extLst>
              <a:ext uri="{FF2B5EF4-FFF2-40B4-BE49-F238E27FC236}">
                <a16:creationId xmlns:a16="http://schemas.microsoft.com/office/drawing/2014/main" id="{8EEA33DE-45C9-F8E4-0DAE-47A71E2D1B22}"/>
              </a:ext>
            </a:extLst>
          </p:cNvPr>
          <p:cNvSpPr>
            <a:spLocks noGrp="1"/>
          </p:cNvSpPr>
          <p:nvPr>
            <p:ph idx="1"/>
          </p:nvPr>
        </p:nvSpPr>
        <p:spPr>
          <a:xfrm>
            <a:off x="196644" y="589935"/>
            <a:ext cx="11769213" cy="6154994"/>
          </a:xfrm>
        </p:spPr>
        <p:txBody>
          <a:bodyPr>
            <a:normAutofit/>
          </a:bodyPr>
          <a:lstStyle/>
          <a:p>
            <a:r>
              <a:rPr lang="en-US" sz="1800"/>
              <a:t>GovId</a:t>
            </a:r>
          </a:p>
          <a:p>
            <a:r>
              <a:rPr lang="en-US" sz="1800" err="1"/>
              <a:t>GovCode</a:t>
            </a:r>
            <a:endParaRPr lang="en-US" sz="1800"/>
          </a:p>
          <a:p>
            <a:r>
              <a:rPr lang="en-US" sz="1800" err="1"/>
              <a:t>GovNameAR</a:t>
            </a:r>
            <a:endParaRPr lang="en-US" sz="1800"/>
          </a:p>
          <a:p>
            <a:r>
              <a:rPr lang="en-US" sz="1800" err="1"/>
              <a:t>GovNameEn</a:t>
            </a:r>
            <a:endParaRPr lang="en-US" sz="1800"/>
          </a:p>
          <a:p>
            <a:r>
              <a:rPr lang="en-US" sz="1800"/>
              <a:t>RegionId </a:t>
            </a:r>
            <a:r>
              <a:rPr lang="en-US" sz="1800">
                <a:sym typeface="Wingdings" panose="05000000000000000000" pitchFamily="2" charset="2"/>
              </a:rPr>
              <a:t> </a:t>
            </a:r>
            <a:r>
              <a:rPr lang="ar-EG" sz="1800">
                <a:sym typeface="Wingdings" panose="05000000000000000000" pitchFamily="2" charset="2"/>
              </a:rPr>
              <a:t>بحري او قبلى</a:t>
            </a:r>
            <a:endParaRPr lang="en-US" sz="1800"/>
          </a:p>
          <a:p>
            <a:r>
              <a:rPr lang="en-US" sz="1800"/>
              <a:t>OriginalRegionId</a:t>
            </a:r>
          </a:p>
          <a:p>
            <a:endParaRPr lang="en-US" sz="1600"/>
          </a:p>
        </p:txBody>
      </p:sp>
    </p:spTree>
    <p:extLst>
      <p:ext uri="{BB962C8B-B14F-4D97-AF65-F5344CB8AC3E}">
        <p14:creationId xmlns:p14="http://schemas.microsoft.com/office/powerpoint/2010/main" val="376917491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BAD0F1-7946-1FB5-D0C6-936DDB98C545}"/>
              </a:ext>
            </a:extLst>
          </p:cNvPr>
          <p:cNvSpPr>
            <a:spLocks noGrp="1"/>
          </p:cNvSpPr>
          <p:nvPr>
            <p:ph type="title"/>
          </p:nvPr>
        </p:nvSpPr>
        <p:spPr>
          <a:xfrm>
            <a:off x="913795" y="0"/>
            <a:ext cx="10353762" cy="589935"/>
          </a:xfrm>
        </p:spPr>
        <p:txBody>
          <a:bodyPr>
            <a:normAutofit fontScale="90000"/>
          </a:bodyPr>
          <a:lstStyle/>
          <a:p>
            <a:r>
              <a:rPr lang="en-US" b="1" err="1">
                <a:solidFill>
                  <a:srgbClr val="FF0000"/>
                </a:solidFill>
              </a:rPr>
              <a:t>Original_Region</a:t>
            </a:r>
            <a:r>
              <a:rPr lang="en-US" b="1">
                <a:solidFill>
                  <a:srgbClr val="FF0000"/>
                </a:solidFill>
              </a:rPr>
              <a:t> entity at common</a:t>
            </a:r>
          </a:p>
        </p:txBody>
      </p:sp>
      <p:sp>
        <p:nvSpPr>
          <p:cNvPr id="3" name="Content Placeholder 2">
            <a:extLst>
              <a:ext uri="{FF2B5EF4-FFF2-40B4-BE49-F238E27FC236}">
                <a16:creationId xmlns:a16="http://schemas.microsoft.com/office/drawing/2014/main" id="{7ECECAF3-0EA8-1856-F13A-4BCD070DD6A4}"/>
              </a:ext>
            </a:extLst>
          </p:cNvPr>
          <p:cNvSpPr>
            <a:spLocks noGrp="1"/>
          </p:cNvSpPr>
          <p:nvPr>
            <p:ph idx="1"/>
          </p:nvPr>
        </p:nvSpPr>
        <p:spPr>
          <a:xfrm>
            <a:off x="344129" y="589935"/>
            <a:ext cx="11592232" cy="6164826"/>
          </a:xfrm>
        </p:spPr>
        <p:txBody>
          <a:bodyPr/>
          <a:lstStyle/>
          <a:p>
            <a:r>
              <a:rPr lang="en-US"/>
              <a:t>int </a:t>
            </a:r>
            <a:r>
              <a:rPr lang="en-US" err="1"/>
              <a:t>OR_Id</a:t>
            </a:r>
            <a:endParaRPr lang="en-US"/>
          </a:p>
          <a:p>
            <a:r>
              <a:rPr lang="en-US"/>
              <a:t>RegionNameAR</a:t>
            </a:r>
          </a:p>
          <a:p>
            <a:r>
              <a:rPr lang="en-US"/>
              <a:t>RegionNameEn</a:t>
            </a:r>
          </a:p>
          <a:p>
            <a:r>
              <a:rPr lang="en-US"/>
              <a:t>GovId</a:t>
            </a:r>
          </a:p>
          <a:p>
            <a:r>
              <a:rPr lang="en-US"/>
              <a:t>RegionId</a:t>
            </a:r>
          </a:p>
        </p:txBody>
      </p:sp>
    </p:spTree>
    <p:extLst>
      <p:ext uri="{BB962C8B-B14F-4D97-AF65-F5344CB8AC3E}">
        <p14:creationId xmlns:p14="http://schemas.microsoft.com/office/powerpoint/2010/main" val="46859869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D7BD2B-CA6A-CF07-0740-8E555031D199}"/>
              </a:ext>
            </a:extLst>
          </p:cNvPr>
          <p:cNvSpPr>
            <a:spLocks noGrp="1"/>
          </p:cNvSpPr>
          <p:nvPr>
            <p:ph type="title"/>
          </p:nvPr>
        </p:nvSpPr>
        <p:spPr>
          <a:xfrm>
            <a:off x="913795" y="0"/>
            <a:ext cx="10353762" cy="403123"/>
          </a:xfrm>
        </p:spPr>
        <p:txBody>
          <a:bodyPr>
            <a:normAutofit fontScale="90000"/>
          </a:bodyPr>
          <a:lstStyle/>
          <a:p>
            <a:r>
              <a:rPr lang="en-US" b="1" err="1">
                <a:solidFill>
                  <a:srgbClr val="FF0000"/>
                </a:solidFill>
              </a:rPr>
              <a:t>Flow_Branch_Type</a:t>
            </a:r>
            <a:r>
              <a:rPr lang="en-US" b="1">
                <a:solidFill>
                  <a:srgbClr val="FF0000"/>
                </a:solidFill>
              </a:rPr>
              <a:t> Entity</a:t>
            </a:r>
          </a:p>
        </p:txBody>
      </p:sp>
      <p:sp>
        <p:nvSpPr>
          <p:cNvPr id="3" name="Content Placeholder 2">
            <a:extLst>
              <a:ext uri="{FF2B5EF4-FFF2-40B4-BE49-F238E27FC236}">
                <a16:creationId xmlns:a16="http://schemas.microsoft.com/office/drawing/2014/main" id="{51BE9E88-259D-3524-74F4-5BE0DDE16F69}"/>
              </a:ext>
            </a:extLst>
          </p:cNvPr>
          <p:cNvSpPr>
            <a:spLocks noGrp="1"/>
          </p:cNvSpPr>
          <p:nvPr>
            <p:ph idx="1"/>
          </p:nvPr>
        </p:nvSpPr>
        <p:spPr>
          <a:xfrm>
            <a:off x="117986" y="501445"/>
            <a:ext cx="11926529" cy="6204155"/>
          </a:xfrm>
        </p:spPr>
        <p:txBody>
          <a:bodyPr/>
          <a:lstStyle/>
          <a:p>
            <a:r>
              <a:rPr lang="en-US"/>
              <a:t>int FBT_ID</a:t>
            </a:r>
          </a:p>
          <a:p>
            <a:r>
              <a:rPr lang="en-US"/>
              <a:t>string Type</a:t>
            </a:r>
          </a:p>
          <a:p>
            <a:r>
              <a:rPr lang="en-US"/>
              <a:t>string </a:t>
            </a:r>
            <a:r>
              <a:rPr lang="en-US" err="1"/>
              <a:t>TypeE</a:t>
            </a:r>
            <a:endParaRPr lang="en-US"/>
          </a:p>
          <a:p>
            <a:endParaRPr lang="en-US"/>
          </a:p>
        </p:txBody>
      </p:sp>
    </p:spTree>
    <p:extLst>
      <p:ext uri="{BB962C8B-B14F-4D97-AF65-F5344CB8AC3E}">
        <p14:creationId xmlns:p14="http://schemas.microsoft.com/office/powerpoint/2010/main" val="64731755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43CE53-308B-7AB5-E6DC-09A37427C286}"/>
              </a:ext>
            </a:extLst>
          </p:cNvPr>
          <p:cNvSpPr>
            <a:spLocks noGrp="1"/>
          </p:cNvSpPr>
          <p:nvPr>
            <p:ph type="title"/>
          </p:nvPr>
        </p:nvSpPr>
        <p:spPr>
          <a:xfrm>
            <a:off x="206477" y="0"/>
            <a:ext cx="11779045" cy="599768"/>
          </a:xfrm>
        </p:spPr>
        <p:txBody>
          <a:bodyPr>
            <a:normAutofit fontScale="90000"/>
          </a:bodyPr>
          <a:lstStyle/>
          <a:p>
            <a:r>
              <a:rPr lang="en-US" b="1" err="1">
                <a:solidFill>
                  <a:srgbClr val="FF0000"/>
                </a:solidFill>
              </a:rPr>
              <a:t>Trans_GPS_Tracking</a:t>
            </a:r>
            <a:endParaRPr lang="en-US" b="1">
              <a:solidFill>
                <a:srgbClr val="FF0000"/>
              </a:solidFill>
            </a:endParaRPr>
          </a:p>
        </p:txBody>
      </p:sp>
      <p:sp>
        <p:nvSpPr>
          <p:cNvPr id="3" name="Content Placeholder 2">
            <a:extLst>
              <a:ext uri="{FF2B5EF4-FFF2-40B4-BE49-F238E27FC236}">
                <a16:creationId xmlns:a16="http://schemas.microsoft.com/office/drawing/2014/main" id="{21169C85-3764-A8D2-5E7F-25BFA22E03A0}"/>
              </a:ext>
            </a:extLst>
          </p:cNvPr>
          <p:cNvSpPr>
            <a:spLocks noGrp="1"/>
          </p:cNvSpPr>
          <p:nvPr>
            <p:ph idx="1"/>
          </p:nvPr>
        </p:nvSpPr>
        <p:spPr>
          <a:xfrm>
            <a:off x="226142" y="599769"/>
            <a:ext cx="11779045" cy="6115664"/>
          </a:xfrm>
        </p:spPr>
        <p:txBody>
          <a:bodyPr/>
          <a:lstStyle/>
          <a:p>
            <a:r>
              <a:rPr lang="en-US"/>
              <a:t>int </a:t>
            </a:r>
            <a:r>
              <a:rPr lang="en-US" err="1"/>
              <a:t>GPST_Id</a:t>
            </a:r>
            <a:r>
              <a:rPr lang="en-US"/>
              <a:t> </a:t>
            </a:r>
          </a:p>
          <a:p>
            <a:r>
              <a:rPr lang="en-US"/>
              <a:t>int </a:t>
            </a:r>
            <a:r>
              <a:rPr lang="en-US" err="1"/>
              <a:t>UserID</a:t>
            </a:r>
            <a:r>
              <a:rPr lang="en-US"/>
              <a:t> </a:t>
            </a:r>
          </a:p>
          <a:p>
            <a:r>
              <a:rPr lang="en-US"/>
              <a:t>DateTime </a:t>
            </a:r>
            <a:r>
              <a:rPr lang="en-US" err="1"/>
              <a:t>ActionDate</a:t>
            </a:r>
            <a:r>
              <a:rPr lang="en-US"/>
              <a:t>  </a:t>
            </a:r>
          </a:p>
          <a:p>
            <a:r>
              <a:rPr lang="en-US"/>
              <a:t>string Step  </a:t>
            </a:r>
          </a:p>
          <a:p>
            <a:r>
              <a:rPr lang="en-US"/>
              <a:t>string  Latitude </a:t>
            </a:r>
          </a:p>
          <a:p>
            <a:r>
              <a:rPr lang="en-US"/>
              <a:t>string Longitude </a:t>
            </a:r>
          </a:p>
          <a:p>
            <a:r>
              <a:rPr lang="en-US"/>
              <a:t>string Address </a:t>
            </a:r>
          </a:p>
          <a:p>
            <a:r>
              <a:rPr lang="en-US"/>
              <a:t>decimal </a:t>
            </a:r>
            <a:r>
              <a:rPr lang="en-US" err="1"/>
              <a:t>RequestID</a:t>
            </a:r>
            <a:r>
              <a:rPr lang="en-US"/>
              <a:t> </a:t>
            </a:r>
          </a:p>
          <a:p>
            <a:r>
              <a:rPr lang="en-US"/>
              <a:t>string Status </a:t>
            </a:r>
          </a:p>
        </p:txBody>
      </p:sp>
    </p:spTree>
    <p:extLst>
      <p:ext uri="{BB962C8B-B14F-4D97-AF65-F5344CB8AC3E}">
        <p14:creationId xmlns:p14="http://schemas.microsoft.com/office/powerpoint/2010/main" val="126625765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EC5ABE-BF9E-001D-EBAF-5DD540BC2175}"/>
              </a:ext>
            </a:extLst>
          </p:cNvPr>
          <p:cNvSpPr>
            <a:spLocks noGrp="1"/>
          </p:cNvSpPr>
          <p:nvPr>
            <p:ph type="title"/>
          </p:nvPr>
        </p:nvSpPr>
        <p:spPr>
          <a:xfrm>
            <a:off x="913795" y="0"/>
            <a:ext cx="10353762" cy="530942"/>
          </a:xfrm>
        </p:spPr>
        <p:txBody>
          <a:bodyPr>
            <a:normAutofit/>
          </a:bodyPr>
          <a:lstStyle/>
          <a:p>
            <a:r>
              <a:rPr lang="en-US" sz="2800" b="1">
                <a:solidFill>
                  <a:srgbClr val="FFFF00"/>
                </a:solidFill>
                <a:effectLst/>
              </a:rPr>
              <a:t>TWF</a:t>
            </a:r>
            <a:r>
              <a:rPr lang="en-US" sz="2800" b="1">
                <a:solidFill>
                  <a:srgbClr val="FF0000"/>
                </a:solidFill>
              </a:rPr>
              <a:t>.Flow_Funding_request [cont.]</a:t>
            </a:r>
            <a:endParaRPr lang="en-US" sz="2800" b="1">
              <a:solidFill>
                <a:srgbClr val="FF0000"/>
              </a:solidFill>
              <a:effectLst/>
            </a:endParaRPr>
          </a:p>
        </p:txBody>
      </p:sp>
      <p:sp>
        <p:nvSpPr>
          <p:cNvPr id="3" name="Content Placeholder 2">
            <a:extLst>
              <a:ext uri="{FF2B5EF4-FFF2-40B4-BE49-F238E27FC236}">
                <a16:creationId xmlns:a16="http://schemas.microsoft.com/office/drawing/2014/main" id="{466D83B8-9737-6D50-1A3C-779CBDBDB609}"/>
              </a:ext>
            </a:extLst>
          </p:cNvPr>
          <p:cNvSpPr>
            <a:spLocks noGrp="1"/>
          </p:cNvSpPr>
          <p:nvPr>
            <p:ph idx="1"/>
          </p:nvPr>
        </p:nvSpPr>
        <p:spPr>
          <a:xfrm>
            <a:off x="206477" y="530943"/>
            <a:ext cx="11808542" cy="6194322"/>
          </a:xfrm>
        </p:spPr>
        <p:txBody>
          <a:bodyPr>
            <a:normAutofit/>
          </a:bodyPr>
          <a:lstStyle/>
          <a:p>
            <a:r>
              <a:rPr lang="en-US" sz="1800" b="1">
                <a:solidFill>
                  <a:srgbClr val="FF0000"/>
                </a:solidFill>
              </a:rPr>
              <a:t>decimal</a:t>
            </a:r>
            <a:r>
              <a:rPr lang="en-US" sz="1800"/>
              <a:t> </a:t>
            </a:r>
            <a:r>
              <a:rPr lang="en-US" sz="1800" err="1"/>
              <a:t>Request_id</a:t>
            </a:r>
            <a:endParaRPr lang="en-US" sz="1800"/>
          </a:p>
          <a:p>
            <a:r>
              <a:rPr lang="en-US" sz="1800" b="1">
                <a:solidFill>
                  <a:srgbClr val="FFFF00"/>
                </a:solidFill>
              </a:rPr>
              <a:t>int</a:t>
            </a:r>
            <a:r>
              <a:rPr lang="en-US" sz="1800"/>
              <a:t> BranchId [FK]</a:t>
            </a:r>
          </a:p>
          <a:p>
            <a:r>
              <a:rPr lang="en-US" sz="1800" err="1">
                <a:effectLst/>
              </a:rPr>
              <a:t>ComId</a:t>
            </a:r>
            <a:r>
              <a:rPr lang="en-US" sz="1800">
                <a:effectLst/>
              </a:rPr>
              <a:t> [FK]</a:t>
            </a:r>
          </a:p>
          <a:p>
            <a:r>
              <a:rPr lang="en-US" sz="1800" err="1">
                <a:effectLst/>
              </a:rPr>
              <a:t>product_Id</a:t>
            </a:r>
            <a:r>
              <a:rPr lang="en-US" sz="1800">
                <a:effectLst/>
              </a:rPr>
              <a:t> [FK] [</a:t>
            </a:r>
            <a:r>
              <a:rPr lang="ar-EG" sz="1800">
                <a:effectLst/>
              </a:rPr>
              <a:t>نوع التمويل</a:t>
            </a:r>
            <a:r>
              <a:rPr lang="en-US" sz="1800">
                <a:effectLst/>
              </a:rPr>
              <a:t>]</a:t>
            </a:r>
            <a:endParaRPr lang="ar-EG" sz="1800">
              <a:effectLst/>
            </a:endParaRPr>
          </a:p>
          <a:p>
            <a:r>
              <a:rPr lang="en-US" sz="1800"/>
              <a:t>bool </a:t>
            </a:r>
            <a:r>
              <a:rPr lang="en-US" sz="1800" err="1"/>
              <a:t>Request_status</a:t>
            </a:r>
            <a:r>
              <a:rPr lang="en-US" sz="1800"/>
              <a:t> [1 new , 0 renew ]</a:t>
            </a:r>
            <a:endParaRPr lang="ar-EG" sz="1800"/>
          </a:p>
          <a:p>
            <a:r>
              <a:rPr lang="en-US" sz="1800"/>
              <a:t>decimal </a:t>
            </a:r>
            <a:r>
              <a:rPr lang="en-US" sz="1800" err="1"/>
              <a:t>Customer_ID</a:t>
            </a:r>
            <a:r>
              <a:rPr lang="en-US" sz="1800"/>
              <a:t> [FK] [</a:t>
            </a:r>
            <a:r>
              <a:rPr lang="ar-EG" sz="1800"/>
              <a:t>رقم العميل</a:t>
            </a:r>
            <a:r>
              <a:rPr lang="en-US" sz="1800"/>
              <a:t>]</a:t>
            </a:r>
            <a:endParaRPr lang="ar-EG" sz="1800"/>
          </a:p>
          <a:p>
            <a:r>
              <a:rPr lang="en-US" sz="1800"/>
              <a:t>decimal? </a:t>
            </a:r>
            <a:r>
              <a:rPr lang="en-US" sz="1800" err="1"/>
              <a:t>Enterprise_ID</a:t>
            </a:r>
            <a:r>
              <a:rPr lang="en-US" sz="1800"/>
              <a:t> [FK] [</a:t>
            </a:r>
            <a:r>
              <a:rPr lang="ar-EG" sz="1800"/>
              <a:t>المنشأة</a:t>
            </a:r>
            <a:r>
              <a:rPr lang="en-US" sz="1800"/>
              <a:t>]</a:t>
            </a:r>
            <a:endParaRPr lang="ar-EG" sz="1800"/>
          </a:p>
          <a:p>
            <a:r>
              <a:rPr lang="en-US" sz="1800"/>
              <a:t>decimal </a:t>
            </a:r>
            <a:r>
              <a:rPr lang="en-US" sz="1800" err="1"/>
              <a:t>Required_amount</a:t>
            </a:r>
            <a:r>
              <a:rPr lang="en-US" sz="1800"/>
              <a:t> // </a:t>
            </a:r>
            <a:r>
              <a:rPr lang="ar-EG" sz="1800"/>
              <a:t> المبلغ الذي طلبه العميل</a:t>
            </a:r>
            <a:endParaRPr lang="en-US" sz="1800"/>
          </a:p>
          <a:p>
            <a:r>
              <a:rPr lang="en-US" sz="1800"/>
              <a:t>decimal </a:t>
            </a:r>
            <a:r>
              <a:rPr lang="en-US" sz="1800" err="1"/>
              <a:t>Financing_amount</a:t>
            </a:r>
            <a:r>
              <a:rPr lang="en-US" sz="1800"/>
              <a:t> // </a:t>
            </a:r>
            <a:r>
              <a:rPr lang="ar-EG" sz="1800"/>
              <a:t>المبلغ الذي وافق عليه البنك أو جهة التمويل</a:t>
            </a:r>
            <a:endParaRPr lang="en-US" sz="1800"/>
          </a:p>
          <a:p>
            <a:r>
              <a:rPr lang="en-US" sz="1800"/>
              <a:t>int Actual_financing // </a:t>
            </a:r>
            <a:r>
              <a:rPr lang="ar-EG" sz="1800"/>
              <a:t>المبلغ الذي تم صرفه فعلياً للعميل</a:t>
            </a:r>
          </a:p>
          <a:p>
            <a:r>
              <a:rPr lang="en-US" sz="1800"/>
              <a:t>int Repayment period // </a:t>
            </a:r>
            <a:r>
              <a:rPr lang="ar-EG" sz="1800"/>
              <a:t>عدد الاقساط</a:t>
            </a:r>
            <a:endParaRPr lang="en-US" sz="1800"/>
          </a:p>
          <a:p>
            <a:r>
              <a:rPr lang="en-US" sz="1800" err="1"/>
              <a:t>purpose_Id</a:t>
            </a:r>
            <a:r>
              <a:rPr lang="en-US" sz="1800"/>
              <a:t> [FK] // </a:t>
            </a:r>
            <a:r>
              <a:rPr lang="ar-EG" sz="1800"/>
              <a:t>الهدف من التمويل</a:t>
            </a:r>
            <a:endParaRPr lang="en-US" sz="1800"/>
          </a:p>
          <a:p>
            <a:r>
              <a:rPr lang="en-US" sz="1800"/>
              <a:t>int </a:t>
            </a:r>
            <a:r>
              <a:rPr lang="en-US" sz="1800" err="1"/>
              <a:t>status_code</a:t>
            </a:r>
            <a:r>
              <a:rPr lang="en-US" sz="1800"/>
              <a:t> // [from ] </a:t>
            </a:r>
            <a:endParaRPr lang="ar-EG" sz="1800"/>
          </a:p>
          <a:p>
            <a:r>
              <a:rPr lang="en-US" sz="1800"/>
              <a:t>DateTime </a:t>
            </a:r>
            <a:r>
              <a:rPr lang="en-US" sz="1800" err="1"/>
              <a:t>Creation_Data</a:t>
            </a:r>
            <a:r>
              <a:rPr lang="en-US" sz="1800"/>
              <a:t> // </a:t>
            </a:r>
            <a:endParaRPr lang="ar-EG" sz="1800"/>
          </a:p>
          <a:p>
            <a:endParaRPr lang="en-US" sz="1800"/>
          </a:p>
          <a:p>
            <a:endParaRPr lang="en-US" sz="1800"/>
          </a:p>
          <a:p>
            <a:endParaRPr lang="en-US" sz="1800"/>
          </a:p>
        </p:txBody>
      </p:sp>
    </p:spTree>
    <p:extLst>
      <p:ext uri="{BB962C8B-B14F-4D97-AF65-F5344CB8AC3E}">
        <p14:creationId xmlns:p14="http://schemas.microsoft.com/office/powerpoint/2010/main" val="153500604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66A461-930C-DBFD-5099-1D67067ACDE7}"/>
              </a:ext>
            </a:extLst>
          </p:cNvPr>
          <p:cNvSpPr>
            <a:spLocks noGrp="1"/>
          </p:cNvSpPr>
          <p:nvPr>
            <p:ph type="title"/>
          </p:nvPr>
        </p:nvSpPr>
        <p:spPr>
          <a:xfrm>
            <a:off x="913795" y="0"/>
            <a:ext cx="10353762" cy="550606"/>
          </a:xfrm>
        </p:spPr>
        <p:txBody>
          <a:bodyPr>
            <a:normAutofit/>
          </a:bodyPr>
          <a:lstStyle/>
          <a:p>
            <a:r>
              <a:rPr lang="en-US" sz="2800" b="1">
                <a:solidFill>
                  <a:srgbClr val="FFFF00"/>
                </a:solidFill>
                <a:effectLst/>
              </a:rPr>
              <a:t>TWF</a:t>
            </a:r>
            <a:r>
              <a:rPr lang="en-US" sz="2800" b="1">
                <a:solidFill>
                  <a:srgbClr val="FF0000"/>
                </a:solidFill>
              </a:rPr>
              <a:t>.Flow_Funding_request [cont.]</a:t>
            </a:r>
            <a:endParaRPr lang="en-US" sz="2800"/>
          </a:p>
        </p:txBody>
      </p:sp>
      <p:sp>
        <p:nvSpPr>
          <p:cNvPr id="3" name="Content Placeholder 2">
            <a:extLst>
              <a:ext uri="{FF2B5EF4-FFF2-40B4-BE49-F238E27FC236}">
                <a16:creationId xmlns:a16="http://schemas.microsoft.com/office/drawing/2014/main" id="{4DAEF54E-1369-44D7-AF28-AE5CD2599DDD}"/>
              </a:ext>
            </a:extLst>
          </p:cNvPr>
          <p:cNvSpPr>
            <a:spLocks noGrp="1"/>
          </p:cNvSpPr>
          <p:nvPr>
            <p:ph idx="1"/>
          </p:nvPr>
        </p:nvSpPr>
        <p:spPr>
          <a:xfrm>
            <a:off x="147484" y="550606"/>
            <a:ext cx="12044516" cy="6307394"/>
          </a:xfrm>
        </p:spPr>
        <p:txBody>
          <a:bodyPr>
            <a:normAutofit/>
          </a:bodyPr>
          <a:lstStyle/>
          <a:p>
            <a:r>
              <a:rPr lang="en-US"/>
              <a:t>String </a:t>
            </a:r>
            <a:r>
              <a:rPr lang="en-US" err="1"/>
              <a:t>Account_Code</a:t>
            </a:r>
            <a:r>
              <a:rPr lang="en-US"/>
              <a:t> // </a:t>
            </a:r>
            <a:r>
              <a:rPr lang="ar-EG">
                <a:effectLst/>
              </a:rPr>
              <a:t>يتم الاضافه وقت صرف التمويل , رقم حساب الدفعات المقدمة الخاصة بالعميل</a:t>
            </a:r>
          </a:p>
          <a:p>
            <a:r>
              <a:rPr lang="en-US">
                <a:effectLst/>
              </a:rPr>
              <a:t>int DEBTNO	  // </a:t>
            </a:r>
            <a:r>
              <a:rPr lang="ar-EG">
                <a:effectLst/>
              </a:rPr>
              <a:t>العميل الواحد قد يكون لديه اكثر من قرض فى نفس الوقت فهذا التسلسل الذي يفرق بين القرض الاول والثانى</a:t>
            </a:r>
          </a:p>
          <a:p>
            <a:pPr lvl="1"/>
            <a:r>
              <a:rPr lang="ar-EG">
                <a:effectLst/>
              </a:rPr>
              <a:t>عدد القروض بالنسبه للعميل هذا لان العميل ممكن يأخذ اكثر من قرض ففي كل مره يأخذ فيها العميل قرض يتم مضاعفة الرقم الموجود في هذا الحقل بمعنى أوضح العميل اخذ اول قرض من الشركة يوضع في هذا الحقل رقم 1  واذا قام بسداد القرض واخذ قرض اخر يتم وضع في هذا الحقل 2 وهكذه</a:t>
            </a:r>
          </a:p>
          <a:p>
            <a:r>
              <a:rPr lang="en-US">
                <a:effectLst/>
              </a:rPr>
              <a:t>int </a:t>
            </a:r>
            <a:r>
              <a:rPr lang="en-US" err="1"/>
              <a:t>Layer_code</a:t>
            </a:r>
            <a:r>
              <a:rPr lang="en-US"/>
              <a:t>  // </a:t>
            </a:r>
            <a:r>
              <a:rPr lang="en-US">
                <a:effectLst/>
              </a:rPr>
              <a:t>The value is obtained through a inquiry within the table </a:t>
            </a:r>
            <a:r>
              <a:rPr lang="en-US" err="1">
                <a:effectLst/>
              </a:rPr>
              <a:t>Flow_Products</a:t>
            </a:r>
            <a:r>
              <a:rPr lang="en-US">
                <a:effectLst/>
              </a:rPr>
              <a:t>.</a:t>
            </a:r>
          </a:p>
          <a:p>
            <a:r>
              <a:rPr lang="en-US">
                <a:effectLst/>
              </a:rPr>
              <a:t> </a:t>
            </a:r>
            <a:r>
              <a:rPr lang="en-US" sz="1800">
                <a:effectLst/>
              </a:rPr>
              <a:t>decimal? </a:t>
            </a:r>
            <a:r>
              <a:rPr lang="en-US" sz="1800"/>
              <a:t>DEBT_VALUE</a:t>
            </a:r>
            <a:endParaRPr lang="en-US"/>
          </a:p>
          <a:p>
            <a:pPr lvl="1"/>
            <a:r>
              <a:rPr lang="en-US" sz="1750">
                <a:effectLst/>
              </a:rPr>
              <a:t>It is calculated upon </a:t>
            </a:r>
            <a:r>
              <a:rPr lang="en-US" sz="1750" b="1">
                <a:effectLst/>
              </a:rPr>
              <a:t>Disbursement </a:t>
            </a:r>
            <a:r>
              <a:rPr lang="en-US" sz="1750">
                <a:effectLst/>
              </a:rPr>
              <a:t>and its value = </a:t>
            </a:r>
            <a:r>
              <a:rPr lang="ar-EG" sz="1750">
                <a:effectLst/>
              </a:rPr>
              <a:t>أصل مبلغ القرض الذي وافق عليه البنك</a:t>
            </a:r>
            <a:r>
              <a:rPr lang="en-US" sz="1750">
                <a:effectLst/>
              </a:rPr>
              <a:t> + </a:t>
            </a:r>
            <a:r>
              <a:rPr lang="ar-EG" sz="1750">
                <a:effectLst/>
              </a:rPr>
              <a:t>المصاريف الإدارية التي تضاف على القرض</a:t>
            </a:r>
            <a:endParaRPr lang="en-US" sz="1750">
              <a:effectLst/>
            </a:endParaRPr>
          </a:p>
          <a:p>
            <a:pPr lvl="1"/>
            <a:r>
              <a:rPr lang="ar-EG">
                <a:effectLst/>
              </a:rPr>
              <a:t>قيمة متناقصة مع السداد ويتم الانقاص من هذا المبلغ مع سداد كل قسط للعميل</a:t>
            </a:r>
          </a:p>
          <a:p>
            <a:r>
              <a:rPr lang="en-US" sz="1800">
                <a:effectLst/>
              </a:rPr>
              <a:t>decimal? </a:t>
            </a:r>
            <a:r>
              <a:rPr lang="en-US" sz="1800"/>
              <a:t>PRIMIUM_VALUE : </a:t>
            </a:r>
            <a:r>
              <a:rPr lang="ar-EG" sz="1800"/>
              <a:t>مبلغ القسط</a:t>
            </a:r>
          </a:p>
          <a:p>
            <a:pPr lvl="1"/>
            <a:r>
              <a:rPr lang="ar-EG">
                <a:effectLst/>
              </a:rPr>
              <a:t>ويكون المصدر من مرحلة الزيارة الميدانية ويكون من خلال حقل قيمة القسط الموجود على شاشة الزيارة الميدانية</a:t>
            </a:r>
            <a:endParaRPr lang="ar-EG" sz="1600"/>
          </a:p>
          <a:p>
            <a:r>
              <a:rPr lang="en-US" err="1">
                <a:effectLst/>
              </a:rPr>
              <a:t>FRC_Id</a:t>
            </a:r>
            <a:r>
              <a:rPr lang="en-US">
                <a:effectLst/>
              </a:rPr>
              <a:t>:  its table is </a:t>
            </a:r>
            <a:r>
              <a:rPr lang="en-US" err="1"/>
              <a:t>Flow_repayment_cycle</a:t>
            </a:r>
            <a:r>
              <a:rPr lang="en-US"/>
              <a:t> </a:t>
            </a:r>
            <a:endParaRPr lang="en-US">
              <a:effectLst/>
            </a:endParaRPr>
          </a:p>
          <a:p>
            <a:pPr lvl="1"/>
            <a:r>
              <a:rPr lang="ar-EG" sz="1700"/>
              <a:t>مدة السداد للقسط سواء كان بالشهر او نصف شهر ا واسبوع وهكذه  وذلك من خلال شاشة تسجيل دورية السداد وجدولها هووأيضا   يتم استخدمه في  شاشة المنتجات  كتعريف من التعريفات الخاصه بالمنتج</a:t>
            </a:r>
            <a:endParaRPr lang="en-US" sz="1700"/>
          </a:p>
        </p:txBody>
      </p:sp>
    </p:spTree>
    <p:extLst>
      <p:ext uri="{BB962C8B-B14F-4D97-AF65-F5344CB8AC3E}">
        <p14:creationId xmlns:p14="http://schemas.microsoft.com/office/powerpoint/2010/main" val="417375840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285B4D-5FEA-2016-0B84-B9424D8E1268}"/>
              </a:ext>
            </a:extLst>
          </p:cNvPr>
          <p:cNvSpPr>
            <a:spLocks noGrp="1"/>
          </p:cNvSpPr>
          <p:nvPr>
            <p:ph type="title"/>
          </p:nvPr>
        </p:nvSpPr>
        <p:spPr>
          <a:xfrm>
            <a:off x="521110" y="0"/>
            <a:ext cx="10893931" cy="442452"/>
          </a:xfrm>
        </p:spPr>
        <p:txBody>
          <a:bodyPr>
            <a:noAutofit/>
          </a:bodyPr>
          <a:lstStyle/>
          <a:p>
            <a:r>
              <a:rPr lang="en-US" sz="3200" b="1">
                <a:solidFill>
                  <a:srgbClr val="FFFF00"/>
                </a:solidFill>
                <a:effectLst/>
              </a:rPr>
              <a:t>TWF</a:t>
            </a:r>
            <a:r>
              <a:rPr lang="en-US" sz="3200" b="1">
                <a:solidFill>
                  <a:srgbClr val="FF0000"/>
                </a:solidFill>
              </a:rPr>
              <a:t>.Flow_Funding_request [cont.]</a:t>
            </a:r>
            <a:endParaRPr lang="en-US" sz="3200"/>
          </a:p>
        </p:txBody>
      </p:sp>
      <p:sp>
        <p:nvSpPr>
          <p:cNvPr id="3" name="Content Placeholder 2">
            <a:extLst>
              <a:ext uri="{FF2B5EF4-FFF2-40B4-BE49-F238E27FC236}">
                <a16:creationId xmlns:a16="http://schemas.microsoft.com/office/drawing/2014/main" id="{5AC57097-1A77-E325-EF9A-CFD5C0B7B27A}"/>
              </a:ext>
            </a:extLst>
          </p:cNvPr>
          <p:cNvSpPr>
            <a:spLocks noGrp="1"/>
          </p:cNvSpPr>
          <p:nvPr>
            <p:ph idx="1"/>
          </p:nvPr>
        </p:nvSpPr>
        <p:spPr>
          <a:xfrm>
            <a:off x="167148" y="589935"/>
            <a:ext cx="11867536" cy="6164826"/>
          </a:xfrm>
        </p:spPr>
        <p:txBody>
          <a:bodyPr/>
          <a:lstStyle/>
          <a:p>
            <a:r>
              <a:rPr lang="en-US" sz="1800"/>
              <a:t>F_PRIMIUM_DATE : </a:t>
            </a:r>
            <a:r>
              <a:rPr lang="ar-EG" sz="1800"/>
              <a:t>تاريخ اول قسط</a:t>
            </a:r>
            <a:endParaRPr lang="en-US" sz="1800"/>
          </a:p>
          <a:p>
            <a:pPr lvl="1"/>
            <a:r>
              <a:rPr lang="ar-EG"/>
              <a:t>يتم إضافة هذا الحقل  في صرف القرض فقط   ويتم تحديد تاريخ اول قسط من خلال معرفة نوع المنتج ودورية السداد المرتبطه به ولو هو شهر مثلا نقوم بإضافة </a:t>
            </a:r>
            <a:r>
              <a:rPr lang="ar-EG" b="1">
                <a:solidFill>
                  <a:srgbClr val="00B0F0"/>
                </a:solidFill>
              </a:rPr>
              <a:t>التاريخ شهر زيادة من تاريخ الصرف</a:t>
            </a:r>
            <a:r>
              <a:rPr lang="ar-EG"/>
              <a:t> وهكذه في لو أسبوع او نصف شهر وهكذه</a:t>
            </a:r>
            <a:endParaRPr lang="en-US"/>
          </a:p>
          <a:p>
            <a:r>
              <a:rPr lang="en-US" sz="1800"/>
              <a:t>L_PRIMIUM_DATE</a:t>
            </a:r>
          </a:p>
          <a:p>
            <a:pPr lvl="1"/>
            <a:r>
              <a:rPr lang="ar-EG"/>
              <a:t>يتم إضافة هذا الحقل  في صرف القرض فقط  ويتم تحديد تاريخ اخر قسط من خلال عدد الأشهر المحدد من قبل الزيارة الميدنية</a:t>
            </a:r>
            <a:endParaRPr lang="en-US"/>
          </a:p>
          <a:p>
            <a:r>
              <a:rPr lang="en-US" sz="1800"/>
              <a:t>DateTime  BUSDATE : </a:t>
            </a:r>
            <a:r>
              <a:rPr lang="ar-EG" sz="1800"/>
              <a:t>تاريخ الصرف</a:t>
            </a:r>
          </a:p>
          <a:p>
            <a:r>
              <a:rPr lang="en-US" sz="1800"/>
              <a:t>EXPDATE</a:t>
            </a:r>
            <a:r>
              <a:rPr lang="ar-EG" sz="1800"/>
              <a:t> </a:t>
            </a:r>
            <a:r>
              <a:rPr lang="en-US" sz="1800"/>
              <a:t> :  </a:t>
            </a:r>
            <a:r>
              <a:rPr lang="ar-EG" sz="1800"/>
              <a:t>تاريخ انتهاء القرض</a:t>
            </a:r>
          </a:p>
          <a:p>
            <a:pPr lvl="1"/>
            <a:r>
              <a:rPr lang="ar-EG"/>
              <a:t>يتم إضافة هذا الحقل  في صرف القرض فقط  ويتم تحديد تاريخ انتهاء القرض من خلال عدد الأشهر المحدد من قبل الزيارة الميدنية</a:t>
            </a:r>
          </a:p>
          <a:p>
            <a:pPr lvl="1"/>
            <a:r>
              <a:rPr lang="ar-EG"/>
              <a:t>ويتم التحديث على هذا التاريخ اذا تم السداد قبل انتهار التمويل مثلا اذا سدد سداد معجل</a:t>
            </a:r>
          </a:p>
          <a:p>
            <a:r>
              <a:rPr lang="en-US" sz="1800" err="1"/>
              <a:t>Curr_code</a:t>
            </a:r>
            <a:r>
              <a:rPr lang="en-US" sz="1800"/>
              <a:t>: [FK]  </a:t>
            </a:r>
            <a:r>
              <a:rPr lang="ar-EG" sz="1800"/>
              <a:t>العملة</a:t>
            </a:r>
            <a:endParaRPr lang="en-US" sz="1800"/>
          </a:p>
          <a:p>
            <a:r>
              <a:rPr lang="en-US" sz="1800"/>
              <a:t>decimal? Rate: </a:t>
            </a:r>
            <a:r>
              <a:rPr lang="ar-EG" sz="1800"/>
              <a:t>سعر الفائدة الذي سيتم تطبيقه على مبلغ التمويل</a:t>
            </a:r>
            <a:endParaRPr lang="en-US" sz="1800"/>
          </a:p>
          <a:p>
            <a:r>
              <a:rPr lang="en-US" sz="1800"/>
              <a:t>decimal? COM_RAT : </a:t>
            </a:r>
            <a:r>
              <a:rPr lang="ar-EG" sz="1800"/>
              <a:t>هي مبلغ مقطوع للمصاريف الادارية يتم استقطاعها مرة واحدة فقط عند بداية منح القرض أو التعلية</a:t>
            </a:r>
            <a:r>
              <a:rPr lang="en-US" sz="1800"/>
              <a:t> </a:t>
            </a:r>
            <a:endParaRPr lang="ar-EG" sz="1800"/>
          </a:p>
          <a:p>
            <a:r>
              <a:rPr lang="en-US" sz="1800"/>
              <a:t>APP_FEE: </a:t>
            </a:r>
            <a:r>
              <a:rPr lang="ar-EG" sz="1800"/>
              <a:t>عمولة الطلب  وهى رسوم غير مستردة لانها تغطى تكلفة مراجعة الاوراق والاستعلام الائتماني ايز كور</a:t>
            </a:r>
          </a:p>
          <a:p>
            <a:r>
              <a:rPr lang="en-US"/>
              <a:t>int? </a:t>
            </a:r>
            <a:r>
              <a:rPr lang="en-US" err="1"/>
              <a:t>bank_code</a:t>
            </a:r>
            <a:r>
              <a:rPr lang="ar-EG"/>
              <a:t>: </a:t>
            </a:r>
            <a:r>
              <a:rPr lang="en-US"/>
              <a:t> [FK]: </a:t>
            </a:r>
            <a:r>
              <a:rPr lang="ar-EG">
                <a:effectLst/>
              </a:rPr>
              <a:t>المعرّف الفريد للبنك</a:t>
            </a:r>
            <a:endParaRPr lang="en-US" sz="1600"/>
          </a:p>
          <a:p>
            <a:endParaRPr lang="ar-EG" sz="1800"/>
          </a:p>
        </p:txBody>
      </p:sp>
    </p:spTree>
    <p:extLst>
      <p:ext uri="{BB962C8B-B14F-4D97-AF65-F5344CB8AC3E}">
        <p14:creationId xmlns:p14="http://schemas.microsoft.com/office/powerpoint/2010/main" val="418324432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560A8C-DE11-C2D1-F442-EDB1FCABCB17}"/>
              </a:ext>
            </a:extLst>
          </p:cNvPr>
          <p:cNvSpPr>
            <a:spLocks noGrp="1"/>
          </p:cNvSpPr>
          <p:nvPr>
            <p:ph type="title"/>
          </p:nvPr>
        </p:nvSpPr>
        <p:spPr>
          <a:xfrm>
            <a:off x="815473" y="0"/>
            <a:ext cx="10353762" cy="511277"/>
          </a:xfrm>
        </p:spPr>
        <p:txBody>
          <a:bodyPr>
            <a:noAutofit/>
          </a:bodyPr>
          <a:lstStyle/>
          <a:p>
            <a:r>
              <a:rPr lang="en-US" sz="2800" b="1" err="1">
                <a:solidFill>
                  <a:srgbClr val="FF0000"/>
                </a:solidFill>
                <a:effectLst/>
              </a:rPr>
              <a:t>Funding_request</a:t>
            </a:r>
            <a:r>
              <a:rPr lang="en-US" sz="2800" b="1">
                <a:solidFill>
                  <a:srgbClr val="FF0000"/>
                </a:solidFill>
                <a:effectLst/>
              </a:rPr>
              <a:t> entity at </a:t>
            </a:r>
            <a:r>
              <a:rPr lang="en-US" sz="2800" b="1" err="1">
                <a:solidFill>
                  <a:srgbClr val="FF0000"/>
                </a:solidFill>
                <a:effectLst/>
              </a:rPr>
              <a:t>FlowChart.Transaction</a:t>
            </a:r>
            <a:r>
              <a:rPr lang="en-US" sz="2800" b="1">
                <a:solidFill>
                  <a:srgbClr val="FF0000"/>
                </a:solidFill>
                <a:effectLst/>
              </a:rPr>
              <a:t> [cont.]</a:t>
            </a:r>
            <a:endParaRPr lang="en-US" sz="2800"/>
          </a:p>
        </p:txBody>
      </p:sp>
      <p:sp>
        <p:nvSpPr>
          <p:cNvPr id="3" name="Content Placeholder 2">
            <a:extLst>
              <a:ext uri="{FF2B5EF4-FFF2-40B4-BE49-F238E27FC236}">
                <a16:creationId xmlns:a16="http://schemas.microsoft.com/office/drawing/2014/main" id="{A92D1E62-98B2-C2CA-6447-48C4F3BEB45E}"/>
              </a:ext>
            </a:extLst>
          </p:cNvPr>
          <p:cNvSpPr>
            <a:spLocks noGrp="1"/>
          </p:cNvSpPr>
          <p:nvPr>
            <p:ph idx="1"/>
          </p:nvPr>
        </p:nvSpPr>
        <p:spPr>
          <a:xfrm>
            <a:off x="226142" y="511277"/>
            <a:ext cx="11759381" cy="6213988"/>
          </a:xfrm>
        </p:spPr>
        <p:txBody>
          <a:bodyPr>
            <a:normAutofit/>
          </a:bodyPr>
          <a:lstStyle/>
          <a:p>
            <a:r>
              <a:rPr lang="en-US" sz="1800" err="1"/>
              <a:t>UserId</a:t>
            </a:r>
            <a:r>
              <a:rPr lang="en-US" sz="1800"/>
              <a:t>: FK , </a:t>
            </a:r>
            <a:r>
              <a:rPr lang="ar-EG" sz="1800">
                <a:effectLst/>
              </a:rPr>
              <a:t>كود الموظف الذى انشأ القرض</a:t>
            </a:r>
            <a:endParaRPr lang="en-US" sz="1800">
              <a:effectLst/>
            </a:endParaRPr>
          </a:p>
          <a:p>
            <a:r>
              <a:rPr lang="en-US" sz="1800" err="1"/>
              <a:t>Approv_value</a:t>
            </a:r>
            <a:r>
              <a:rPr lang="en-US" sz="1800"/>
              <a:t> : </a:t>
            </a:r>
            <a:r>
              <a:rPr lang="ar-EG" sz="1800">
                <a:effectLst/>
              </a:rPr>
              <a:t>المبلغ الموصى به من المسئول الاول فقط بدون اى اضافات</a:t>
            </a:r>
            <a:endParaRPr lang="en-US" sz="1800"/>
          </a:p>
          <a:p>
            <a:r>
              <a:rPr lang="en-US" sz="1800" err="1"/>
              <a:t>Approved_Amount</a:t>
            </a:r>
            <a:r>
              <a:rPr lang="en-US" sz="1800"/>
              <a:t> : </a:t>
            </a:r>
            <a:r>
              <a:rPr lang="en-US" sz="1800" b="1">
                <a:solidFill>
                  <a:srgbClr val="00B0F0"/>
                </a:solidFill>
              </a:rPr>
              <a:t>missed at docs</a:t>
            </a:r>
            <a:endParaRPr lang="en-US" sz="1800"/>
          </a:p>
          <a:p>
            <a:r>
              <a:rPr lang="en-US" sz="1800"/>
              <a:t>TOTAL_AMOUNT :  </a:t>
            </a:r>
            <a:r>
              <a:rPr lang="ar-EG" sz="1800"/>
              <a:t>يتم إضافة هذا الحقل من مرحلة الزيارة الميدانية اجمالى المبلغ الموصى به وهو قيمة التمويل المطلوب + الفائده</a:t>
            </a:r>
            <a:endParaRPr lang="en-US" sz="1800" b="1">
              <a:solidFill>
                <a:srgbClr val="00B0F0"/>
              </a:solidFill>
            </a:endParaRPr>
          </a:p>
          <a:p>
            <a:r>
              <a:rPr lang="en-US" sz="1800" err="1"/>
              <a:t>NO_Months</a:t>
            </a:r>
            <a:r>
              <a:rPr lang="en-US" sz="1800"/>
              <a:t> : </a:t>
            </a:r>
            <a:r>
              <a:rPr lang="ar-EG" sz="1800"/>
              <a:t>عدد الأشهر الموصى به  من مسئول التمويل</a:t>
            </a:r>
            <a:endParaRPr lang="en-US" sz="1800"/>
          </a:p>
          <a:p>
            <a:r>
              <a:rPr lang="en-US" sz="1800" err="1"/>
              <a:t>Open_date</a:t>
            </a:r>
            <a:r>
              <a:rPr lang="en-US" sz="1800"/>
              <a:t> : </a:t>
            </a:r>
            <a:r>
              <a:rPr lang="en-US" sz="1800">
                <a:effectLst/>
              </a:rPr>
              <a:t>date of request based on the </a:t>
            </a:r>
            <a:r>
              <a:rPr lang="en-US" sz="1800" err="1">
                <a:effectLst/>
              </a:rPr>
              <a:t>busdate</a:t>
            </a:r>
            <a:endParaRPr lang="en-US" sz="1800"/>
          </a:p>
          <a:p>
            <a:r>
              <a:rPr lang="en-US" sz="1800" err="1"/>
              <a:t>Yield_periodicity</a:t>
            </a:r>
            <a:r>
              <a:rPr lang="en-US" sz="1800"/>
              <a:t> : </a:t>
            </a:r>
            <a:r>
              <a:rPr lang="ar-EG" sz="1800" b="1">
                <a:solidFill>
                  <a:srgbClr val="00B0F0"/>
                </a:solidFill>
              </a:rPr>
              <a:t>دورية العائد من أجل برنامج الكشك</a:t>
            </a:r>
            <a:endParaRPr lang="en-US" sz="1800" b="1">
              <a:solidFill>
                <a:srgbClr val="00B0F0"/>
              </a:solidFill>
            </a:endParaRPr>
          </a:p>
          <a:p>
            <a:r>
              <a:rPr lang="en-US" sz="1800" err="1"/>
              <a:t>Code_ED</a:t>
            </a:r>
            <a:r>
              <a:rPr lang="en-US" sz="1800"/>
              <a:t> : </a:t>
            </a:r>
            <a:r>
              <a:rPr lang="ar-EG" b="1">
                <a:effectLst/>
              </a:rPr>
              <a:t>المُعرّف الرقمي للجهة المنفذة للصرف</a:t>
            </a:r>
            <a:r>
              <a:rPr lang="ar-EG">
                <a:effectLst/>
              </a:rPr>
              <a:t>.</a:t>
            </a:r>
            <a:endParaRPr lang="en-US" sz="1800"/>
          </a:p>
          <a:p>
            <a:r>
              <a:rPr lang="en-US" sz="1800"/>
              <a:t>Grant : </a:t>
            </a:r>
            <a:r>
              <a:rPr lang="ar-EG" sz="1800"/>
              <a:t>في حالة العميل لديه تمويل قائم وبياخد تمويل جديد علي منتج مختلف بقول التمويل الجديد قائم ولا لا قائم=0 وغير قائم =1</a:t>
            </a:r>
            <a:endParaRPr lang="en-US" sz="1800"/>
          </a:p>
          <a:p>
            <a:r>
              <a:rPr lang="en-US" sz="1800" err="1"/>
              <a:t>PenaltyAmount</a:t>
            </a:r>
            <a:r>
              <a:rPr lang="en-US" sz="1800"/>
              <a:t> : </a:t>
            </a:r>
            <a:r>
              <a:rPr lang="ar-EG" sz="1800"/>
              <a:t>اجمالى الغرامات</a:t>
            </a:r>
            <a:endParaRPr lang="en-US" sz="1800"/>
          </a:p>
          <a:p>
            <a:r>
              <a:rPr lang="en-US" err="1"/>
              <a:t>Flag_History</a:t>
            </a:r>
            <a:endParaRPr lang="en-US"/>
          </a:p>
          <a:p>
            <a:r>
              <a:rPr lang="en-US" err="1"/>
              <a:t>VisitCount</a:t>
            </a:r>
            <a:endParaRPr lang="en-US"/>
          </a:p>
        </p:txBody>
      </p:sp>
    </p:spTree>
    <p:extLst>
      <p:ext uri="{BB962C8B-B14F-4D97-AF65-F5344CB8AC3E}">
        <p14:creationId xmlns:p14="http://schemas.microsoft.com/office/powerpoint/2010/main" val="161088412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6D059F-40BC-AB46-49D3-FF85B10058C3}"/>
              </a:ext>
            </a:extLst>
          </p:cNvPr>
          <p:cNvSpPr>
            <a:spLocks noGrp="1"/>
          </p:cNvSpPr>
          <p:nvPr>
            <p:ph type="title"/>
          </p:nvPr>
        </p:nvSpPr>
        <p:spPr>
          <a:xfrm>
            <a:off x="398206" y="0"/>
            <a:ext cx="11395587" cy="639097"/>
          </a:xfrm>
        </p:spPr>
        <p:txBody>
          <a:bodyPr>
            <a:noAutofit/>
          </a:bodyPr>
          <a:lstStyle/>
          <a:p>
            <a:r>
              <a:rPr lang="en-US" sz="3600" b="1">
                <a:solidFill>
                  <a:srgbClr val="FFFF00"/>
                </a:solidFill>
                <a:effectLst/>
              </a:rPr>
              <a:t>TWF</a:t>
            </a:r>
            <a:r>
              <a:rPr lang="en-US" sz="3600" b="1">
                <a:solidFill>
                  <a:srgbClr val="FF0000"/>
                </a:solidFill>
              </a:rPr>
              <a:t>.Flow_Funding_request [cont.]</a:t>
            </a:r>
          </a:p>
        </p:txBody>
      </p:sp>
      <p:sp>
        <p:nvSpPr>
          <p:cNvPr id="3" name="Content Placeholder 2">
            <a:extLst>
              <a:ext uri="{FF2B5EF4-FFF2-40B4-BE49-F238E27FC236}">
                <a16:creationId xmlns:a16="http://schemas.microsoft.com/office/drawing/2014/main" id="{94D7ECD7-CC6A-361C-A01B-D83A127F07ED}"/>
              </a:ext>
            </a:extLst>
          </p:cNvPr>
          <p:cNvSpPr>
            <a:spLocks noGrp="1"/>
          </p:cNvSpPr>
          <p:nvPr>
            <p:ph idx="1"/>
          </p:nvPr>
        </p:nvSpPr>
        <p:spPr>
          <a:xfrm>
            <a:off x="432619" y="639097"/>
            <a:ext cx="10834938" cy="6046838"/>
          </a:xfrm>
        </p:spPr>
        <p:txBody>
          <a:bodyPr>
            <a:normAutofit/>
          </a:bodyPr>
          <a:lstStyle/>
          <a:p>
            <a:r>
              <a:rPr lang="en-US" sz="1800" err="1"/>
              <a:t>GuarVisitCount</a:t>
            </a:r>
            <a:r>
              <a:rPr lang="en-US" sz="1800"/>
              <a:t>: </a:t>
            </a:r>
            <a:endParaRPr lang="ar-EG" sz="1800"/>
          </a:p>
          <a:p>
            <a:pPr lvl="1"/>
            <a:r>
              <a:rPr lang="ar-EG" sz="1600"/>
              <a:t>بخزن فيه عدد المرات التي لم يستدل علي الضامن فيه لو  الضامن لم يستدل عليه اكثر من  مراتين بيترفض رفض نهلائي</a:t>
            </a:r>
          </a:p>
          <a:p>
            <a:pPr lvl="1"/>
            <a:endParaRPr lang="en-US" sz="1600"/>
          </a:p>
          <a:p>
            <a:r>
              <a:rPr lang="en-US" sz="1800" err="1"/>
              <a:t>Loan_code</a:t>
            </a:r>
            <a:r>
              <a:rPr lang="en-US" sz="1800"/>
              <a:t> : </a:t>
            </a:r>
            <a:r>
              <a:rPr lang="ar-EG" sz="1800"/>
              <a:t>كود التمويل</a:t>
            </a:r>
            <a:endParaRPr lang="en-US" sz="1800"/>
          </a:p>
          <a:p>
            <a:r>
              <a:rPr lang="en-US" sz="1800"/>
              <a:t>int </a:t>
            </a:r>
            <a:r>
              <a:rPr lang="en-US" sz="1800" err="1"/>
              <a:t>WriteOffFlag</a:t>
            </a:r>
            <a:r>
              <a:rPr lang="en-US" sz="1800"/>
              <a:t>: </a:t>
            </a:r>
            <a:r>
              <a:rPr lang="ar-EG" sz="1800"/>
              <a:t>التوريق</a:t>
            </a:r>
            <a:endParaRPr lang="en-US" sz="1800"/>
          </a:p>
          <a:p>
            <a:r>
              <a:rPr lang="en-US" sz="1800" err="1"/>
              <a:t>Securitization_Flag</a:t>
            </a:r>
            <a:r>
              <a:rPr lang="en-US" sz="1800"/>
              <a:t> : </a:t>
            </a:r>
            <a:r>
              <a:rPr lang="ar-EG" sz="1800"/>
              <a:t>اعدام</a:t>
            </a:r>
            <a:endParaRPr lang="en-US" sz="1800"/>
          </a:p>
          <a:p>
            <a:r>
              <a:rPr lang="en-US" sz="1800" err="1"/>
              <a:t>IsDisbursmented</a:t>
            </a:r>
            <a:r>
              <a:rPr lang="en-US" sz="1800"/>
              <a:t> : // actually </a:t>
            </a:r>
            <a:r>
              <a:rPr lang="en-US" sz="1800" err="1"/>
              <a:t>recieve</a:t>
            </a:r>
            <a:r>
              <a:rPr lang="en-US" sz="1800"/>
              <a:t> money on his Hand Or not (but  </a:t>
            </a:r>
            <a:r>
              <a:rPr lang="en-US" sz="1800" err="1"/>
              <a:t>StatusCode</a:t>
            </a:r>
            <a:r>
              <a:rPr lang="en-US" sz="1800"/>
              <a:t> is still = 9 )</a:t>
            </a:r>
          </a:p>
        </p:txBody>
      </p:sp>
    </p:spTree>
    <p:extLst>
      <p:ext uri="{BB962C8B-B14F-4D97-AF65-F5344CB8AC3E}">
        <p14:creationId xmlns:p14="http://schemas.microsoft.com/office/powerpoint/2010/main" val="81471008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90F1D-7211-4F61-C633-61C22E728B85}"/>
              </a:ext>
            </a:extLst>
          </p:cNvPr>
          <p:cNvSpPr>
            <a:spLocks noGrp="1"/>
          </p:cNvSpPr>
          <p:nvPr>
            <p:ph type="title"/>
          </p:nvPr>
        </p:nvSpPr>
        <p:spPr>
          <a:xfrm>
            <a:off x="913795" y="1"/>
            <a:ext cx="10353762" cy="550606"/>
          </a:xfrm>
        </p:spPr>
        <p:txBody>
          <a:bodyPr>
            <a:normAutofit fontScale="90000"/>
          </a:bodyPr>
          <a:lstStyle/>
          <a:p>
            <a:r>
              <a:rPr lang="en-US" b="1">
                <a:solidFill>
                  <a:srgbClr val="FFFF00"/>
                </a:solidFill>
              </a:rPr>
              <a:t>SWF</a:t>
            </a:r>
            <a:r>
              <a:rPr lang="en-US" b="1">
                <a:solidFill>
                  <a:srgbClr val="FF0000"/>
                </a:solidFill>
              </a:rPr>
              <a:t>.Flow Status</a:t>
            </a:r>
          </a:p>
        </p:txBody>
      </p:sp>
      <p:sp>
        <p:nvSpPr>
          <p:cNvPr id="3" name="Content Placeholder 2">
            <a:extLst>
              <a:ext uri="{FF2B5EF4-FFF2-40B4-BE49-F238E27FC236}">
                <a16:creationId xmlns:a16="http://schemas.microsoft.com/office/drawing/2014/main" id="{65F02D0E-6DBC-AF73-5CDA-680ACC90445A}"/>
              </a:ext>
            </a:extLst>
          </p:cNvPr>
          <p:cNvSpPr>
            <a:spLocks noGrp="1"/>
          </p:cNvSpPr>
          <p:nvPr>
            <p:ph idx="1"/>
          </p:nvPr>
        </p:nvSpPr>
        <p:spPr>
          <a:xfrm>
            <a:off x="452284" y="550607"/>
            <a:ext cx="11307097" cy="5653548"/>
          </a:xfrm>
        </p:spPr>
        <p:txBody>
          <a:bodyPr/>
          <a:lstStyle/>
          <a:p>
            <a:r>
              <a:rPr lang="en-US"/>
              <a:t>Tamweely.Infrastruture.Data.Project_Modules.FlowChart.SetUp , SWF schema</a:t>
            </a:r>
          </a:p>
          <a:p>
            <a:r>
              <a:rPr lang="en-US"/>
              <a:t>int status_code  </a:t>
            </a:r>
            <a:r>
              <a:rPr lang="en-US" b="1">
                <a:solidFill>
                  <a:srgbClr val="FFFF00"/>
                </a:solidFill>
              </a:rPr>
              <a:t>[PK]</a:t>
            </a:r>
          </a:p>
          <a:p>
            <a:r>
              <a:rPr lang="en-US"/>
              <a:t>int </a:t>
            </a:r>
            <a:r>
              <a:rPr lang="en-US" err="1"/>
              <a:t>status_id</a:t>
            </a:r>
            <a:r>
              <a:rPr lang="en-US"/>
              <a:t> </a:t>
            </a:r>
            <a:r>
              <a:rPr lang="en-US" b="1">
                <a:solidFill>
                  <a:srgbClr val="FF0000"/>
                </a:solidFill>
              </a:rPr>
              <a:t>[identity]</a:t>
            </a:r>
          </a:p>
          <a:p>
            <a:r>
              <a:rPr lang="en-US"/>
              <a:t>string name </a:t>
            </a:r>
          </a:p>
        </p:txBody>
      </p:sp>
      <p:pic>
        <p:nvPicPr>
          <p:cNvPr id="5" name="Picture 4">
            <a:extLst>
              <a:ext uri="{FF2B5EF4-FFF2-40B4-BE49-F238E27FC236}">
                <a16:creationId xmlns:a16="http://schemas.microsoft.com/office/drawing/2014/main" id="{25385219-4098-4FB5-D56B-9E4C6C5BB8C6}"/>
              </a:ext>
            </a:extLst>
          </p:cNvPr>
          <p:cNvPicPr>
            <a:picLocks noChangeAspect="1"/>
          </p:cNvPicPr>
          <p:nvPr/>
        </p:nvPicPr>
        <p:blipFill>
          <a:blip r:embed="rId2"/>
          <a:stretch>
            <a:fillRect/>
          </a:stretch>
        </p:blipFill>
        <p:spPr>
          <a:xfrm>
            <a:off x="6202018" y="1101213"/>
            <a:ext cx="4671392" cy="4381692"/>
          </a:xfrm>
          <a:prstGeom prst="rect">
            <a:avLst/>
          </a:prstGeom>
        </p:spPr>
      </p:pic>
    </p:spTree>
    <p:extLst>
      <p:ext uri="{BB962C8B-B14F-4D97-AF65-F5344CB8AC3E}">
        <p14:creationId xmlns:p14="http://schemas.microsoft.com/office/powerpoint/2010/main" val="313334682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6C32AC-2553-DF57-69EF-10F25DFBA585}"/>
              </a:ext>
            </a:extLst>
          </p:cNvPr>
          <p:cNvSpPr>
            <a:spLocks noGrp="1"/>
          </p:cNvSpPr>
          <p:nvPr>
            <p:ph type="title"/>
          </p:nvPr>
        </p:nvSpPr>
        <p:spPr>
          <a:xfrm>
            <a:off x="913795" y="0"/>
            <a:ext cx="10353762" cy="609600"/>
          </a:xfrm>
        </p:spPr>
        <p:txBody>
          <a:bodyPr>
            <a:normAutofit fontScale="90000"/>
          </a:bodyPr>
          <a:lstStyle/>
          <a:p>
            <a:r>
              <a:rPr lang="en-US" b="1">
                <a:solidFill>
                  <a:srgbClr val="FF0000"/>
                </a:solidFill>
              </a:rPr>
              <a:t>Company entity</a:t>
            </a:r>
          </a:p>
        </p:txBody>
      </p:sp>
      <p:sp>
        <p:nvSpPr>
          <p:cNvPr id="3" name="Content Placeholder 2">
            <a:extLst>
              <a:ext uri="{FF2B5EF4-FFF2-40B4-BE49-F238E27FC236}">
                <a16:creationId xmlns:a16="http://schemas.microsoft.com/office/drawing/2014/main" id="{301C27C4-CEF0-6A83-1EE8-4CA6A731E206}"/>
              </a:ext>
            </a:extLst>
          </p:cNvPr>
          <p:cNvSpPr>
            <a:spLocks noGrp="1"/>
          </p:cNvSpPr>
          <p:nvPr>
            <p:ph idx="1"/>
          </p:nvPr>
        </p:nvSpPr>
        <p:spPr>
          <a:xfrm>
            <a:off x="285135" y="609600"/>
            <a:ext cx="11700388" cy="6095999"/>
          </a:xfrm>
        </p:spPr>
        <p:txBody>
          <a:bodyPr/>
          <a:lstStyle/>
          <a:p>
            <a:r>
              <a:rPr lang="en-US"/>
              <a:t>int </a:t>
            </a:r>
            <a:r>
              <a:rPr lang="en-US" err="1"/>
              <a:t>ComId</a:t>
            </a:r>
            <a:endParaRPr lang="en-US"/>
          </a:p>
          <a:p>
            <a:r>
              <a:rPr lang="en-US" err="1"/>
              <a:t>ComNameAR</a:t>
            </a:r>
            <a:endParaRPr lang="en-US"/>
          </a:p>
          <a:p>
            <a:r>
              <a:rPr lang="en-US" err="1"/>
              <a:t>ComNameEn</a:t>
            </a:r>
            <a:endParaRPr lang="en-US"/>
          </a:p>
        </p:txBody>
      </p:sp>
    </p:spTree>
    <p:extLst>
      <p:ext uri="{BB962C8B-B14F-4D97-AF65-F5344CB8AC3E}">
        <p14:creationId xmlns:p14="http://schemas.microsoft.com/office/powerpoint/2010/main" val="291106429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F406B8-441A-11E8-B385-FD94F50259DC}"/>
              </a:ext>
            </a:extLst>
          </p:cNvPr>
          <p:cNvSpPr>
            <a:spLocks noGrp="1"/>
          </p:cNvSpPr>
          <p:nvPr>
            <p:ph type="title"/>
          </p:nvPr>
        </p:nvSpPr>
        <p:spPr>
          <a:xfrm>
            <a:off x="913795" y="0"/>
            <a:ext cx="10353762" cy="471948"/>
          </a:xfrm>
        </p:spPr>
        <p:txBody>
          <a:bodyPr>
            <a:normAutofit fontScale="90000"/>
          </a:bodyPr>
          <a:lstStyle/>
          <a:p>
            <a:r>
              <a:rPr lang="en-US" b="1" err="1">
                <a:solidFill>
                  <a:srgbClr val="FF0000"/>
                </a:solidFill>
              </a:rPr>
              <a:t>Acc_Chart_Account</a:t>
            </a:r>
            <a:r>
              <a:rPr lang="en-US" b="1">
                <a:solidFill>
                  <a:srgbClr val="FF0000"/>
                </a:solidFill>
              </a:rPr>
              <a:t> entity</a:t>
            </a:r>
          </a:p>
        </p:txBody>
      </p:sp>
      <p:sp>
        <p:nvSpPr>
          <p:cNvPr id="3" name="Content Placeholder 2">
            <a:extLst>
              <a:ext uri="{FF2B5EF4-FFF2-40B4-BE49-F238E27FC236}">
                <a16:creationId xmlns:a16="http://schemas.microsoft.com/office/drawing/2014/main" id="{0C4B6636-C47E-9A5C-7DAD-A3E52C048CAB}"/>
              </a:ext>
            </a:extLst>
          </p:cNvPr>
          <p:cNvSpPr>
            <a:spLocks noGrp="1"/>
          </p:cNvSpPr>
          <p:nvPr>
            <p:ph idx="1"/>
          </p:nvPr>
        </p:nvSpPr>
        <p:spPr>
          <a:xfrm>
            <a:off x="913795" y="471949"/>
            <a:ext cx="10353762" cy="5319252"/>
          </a:xfrm>
        </p:spPr>
        <p:txBody>
          <a:bodyPr/>
          <a:lstStyle/>
          <a:p>
            <a:r>
              <a:rPr lang="en-US"/>
              <a:t>namespace </a:t>
            </a:r>
            <a:r>
              <a:rPr lang="en-US" err="1"/>
              <a:t>Tamweely.Infrastruture.Data.Project_Modules.Accounts</a:t>
            </a:r>
            <a:endParaRPr lang="en-US"/>
          </a:p>
          <a:p>
            <a:endParaRPr lang="en-US"/>
          </a:p>
        </p:txBody>
      </p:sp>
    </p:spTree>
    <p:extLst>
      <p:ext uri="{BB962C8B-B14F-4D97-AF65-F5344CB8AC3E}">
        <p14:creationId xmlns:p14="http://schemas.microsoft.com/office/powerpoint/2010/main" val="99985790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14F211-A475-DBF7-9EED-1D353ADE10A6}"/>
              </a:ext>
            </a:extLst>
          </p:cNvPr>
          <p:cNvSpPr>
            <a:spLocks noGrp="1"/>
          </p:cNvSpPr>
          <p:nvPr>
            <p:ph type="title"/>
          </p:nvPr>
        </p:nvSpPr>
        <p:spPr>
          <a:xfrm>
            <a:off x="913795" y="1"/>
            <a:ext cx="10353762" cy="521110"/>
          </a:xfrm>
        </p:spPr>
        <p:txBody>
          <a:bodyPr>
            <a:normAutofit fontScale="90000"/>
          </a:bodyPr>
          <a:lstStyle/>
          <a:p>
            <a:r>
              <a:rPr lang="en-US" sz="3600" b="1">
                <a:solidFill>
                  <a:srgbClr val="FFFF00"/>
                </a:solidFill>
                <a:effectLst/>
              </a:rPr>
              <a:t>TWT</a:t>
            </a:r>
            <a:r>
              <a:rPr lang="en-US" sz="3600" b="1">
                <a:effectLst/>
              </a:rPr>
              <a:t>.</a:t>
            </a:r>
            <a:r>
              <a:rPr lang="en-US" sz="3600" b="1">
                <a:solidFill>
                  <a:srgbClr val="FF0000"/>
                </a:solidFill>
                <a:effectLst/>
              </a:rPr>
              <a:t>Flow_Products</a:t>
            </a:r>
            <a:endParaRPr lang="en-US" sz="3600">
              <a:solidFill>
                <a:srgbClr val="FF0000"/>
              </a:solidFill>
            </a:endParaRPr>
          </a:p>
        </p:txBody>
      </p:sp>
      <p:sp>
        <p:nvSpPr>
          <p:cNvPr id="3" name="Content Placeholder 2">
            <a:extLst>
              <a:ext uri="{FF2B5EF4-FFF2-40B4-BE49-F238E27FC236}">
                <a16:creationId xmlns:a16="http://schemas.microsoft.com/office/drawing/2014/main" id="{9195FB53-6728-18BE-505F-340013210440}"/>
              </a:ext>
            </a:extLst>
          </p:cNvPr>
          <p:cNvSpPr>
            <a:spLocks noGrp="1"/>
          </p:cNvSpPr>
          <p:nvPr>
            <p:ph idx="1"/>
          </p:nvPr>
        </p:nvSpPr>
        <p:spPr>
          <a:xfrm>
            <a:off x="304800" y="707923"/>
            <a:ext cx="11749548" cy="6037006"/>
          </a:xfrm>
        </p:spPr>
        <p:txBody>
          <a:bodyPr>
            <a:normAutofit/>
          </a:bodyPr>
          <a:lstStyle/>
          <a:p>
            <a:r>
              <a:rPr lang="en-US" sz="1800"/>
              <a:t>product</a:t>
            </a:r>
            <a:r>
              <a:rPr lang="en-US" sz="1800" err="1"/>
              <a:t>_Id</a:t>
            </a:r>
            <a:r>
              <a:rPr lang="en-US" sz="1800"/>
              <a:t>: int , PK</a:t>
            </a:r>
          </a:p>
          <a:p>
            <a:r>
              <a:rPr lang="en-US" sz="1800" err="1"/>
              <a:t>Loan_code</a:t>
            </a:r>
            <a:r>
              <a:rPr lang="en-US" sz="1800"/>
              <a:t>: int</a:t>
            </a:r>
          </a:p>
          <a:p>
            <a:r>
              <a:rPr lang="en-US" sz="1800" err="1"/>
              <a:t>Layer_code</a:t>
            </a:r>
            <a:r>
              <a:rPr lang="en-US" sz="1800"/>
              <a:t>: int</a:t>
            </a:r>
          </a:p>
          <a:p>
            <a:r>
              <a:rPr lang="en-US" sz="1800"/>
              <a:t>name_AR: string</a:t>
            </a:r>
          </a:p>
          <a:p>
            <a:r>
              <a:rPr lang="en-US" sz="1800"/>
              <a:t>name_Eng: string</a:t>
            </a:r>
          </a:p>
          <a:p>
            <a:endParaRPr lang="en-US" sz="1800"/>
          </a:p>
        </p:txBody>
      </p:sp>
    </p:spTree>
    <p:extLst>
      <p:ext uri="{BB962C8B-B14F-4D97-AF65-F5344CB8AC3E}">
        <p14:creationId xmlns:p14="http://schemas.microsoft.com/office/powerpoint/2010/main" val="359653422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0D3008-1F1E-7D6F-D61B-97B584425E05}"/>
              </a:ext>
            </a:extLst>
          </p:cNvPr>
          <p:cNvSpPr>
            <a:spLocks noGrp="1"/>
          </p:cNvSpPr>
          <p:nvPr>
            <p:ph type="title"/>
          </p:nvPr>
        </p:nvSpPr>
        <p:spPr>
          <a:xfrm>
            <a:off x="913795" y="0"/>
            <a:ext cx="10353762" cy="501445"/>
          </a:xfrm>
        </p:spPr>
        <p:txBody>
          <a:bodyPr>
            <a:normAutofit fontScale="90000"/>
          </a:bodyPr>
          <a:lstStyle/>
          <a:p>
            <a:r>
              <a:rPr lang="en-US" b="1" err="1">
                <a:solidFill>
                  <a:srgbClr val="FF0000"/>
                </a:solidFill>
              </a:rPr>
              <a:t>Flow_repayment_cycle</a:t>
            </a:r>
            <a:r>
              <a:rPr lang="en-US" b="1">
                <a:solidFill>
                  <a:srgbClr val="FF0000"/>
                </a:solidFill>
              </a:rPr>
              <a:t> entity</a:t>
            </a:r>
          </a:p>
        </p:txBody>
      </p:sp>
      <p:sp>
        <p:nvSpPr>
          <p:cNvPr id="3" name="Content Placeholder 2">
            <a:extLst>
              <a:ext uri="{FF2B5EF4-FFF2-40B4-BE49-F238E27FC236}">
                <a16:creationId xmlns:a16="http://schemas.microsoft.com/office/drawing/2014/main" id="{C276E366-E09D-CF9E-BA03-BB86AB6B5C5A}"/>
              </a:ext>
            </a:extLst>
          </p:cNvPr>
          <p:cNvSpPr>
            <a:spLocks noGrp="1"/>
          </p:cNvSpPr>
          <p:nvPr>
            <p:ph idx="1"/>
          </p:nvPr>
        </p:nvSpPr>
        <p:spPr>
          <a:xfrm>
            <a:off x="294968" y="619433"/>
            <a:ext cx="11602064" cy="5663380"/>
          </a:xfrm>
        </p:spPr>
        <p:txBody>
          <a:bodyPr/>
          <a:lstStyle/>
          <a:p>
            <a:r>
              <a:rPr lang="en-US"/>
              <a:t>namespace Tamweely.Infrastruture.Data.Project_Modules.FlowChart.SetUp</a:t>
            </a:r>
          </a:p>
          <a:p>
            <a:r>
              <a:rPr lang="en-US"/>
              <a:t>int </a:t>
            </a:r>
            <a:r>
              <a:rPr lang="en-US" err="1"/>
              <a:t>FRC_Id</a:t>
            </a:r>
            <a:r>
              <a:rPr lang="en-US"/>
              <a:t> </a:t>
            </a:r>
          </a:p>
          <a:p>
            <a:r>
              <a:rPr lang="en-US"/>
              <a:t>string </a:t>
            </a:r>
            <a:r>
              <a:rPr lang="en-US" err="1"/>
              <a:t>Name_AR</a:t>
            </a:r>
            <a:r>
              <a:rPr lang="en-US"/>
              <a:t> </a:t>
            </a:r>
          </a:p>
          <a:p>
            <a:r>
              <a:rPr lang="en-US"/>
              <a:t>string </a:t>
            </a:r>
            <a:r>
              <a:rPr lang="en-US" err="1"/>
              <a:t>Name_EN</a:t>
            </a:r>
            <a:r>
              <a:rPr lang="en-US"/>
              <a:t> </a:t>
            </a:r>
          </a:p>
          <a:p>
            <a:r>
              <a:rPr lang="en-US"/>
              <a:t>int </a:t>
            </a:r>
            <a:r>
              <a:rPr lang="en-US" err="1"/>
              <a:t>Count_days</a:t>
            </a:r>
            <a:endParaRPr lang="en-US"/>
          </a:p>
          <a:p>
            <a:r>
              <a:rPr lang="en-US"/>
              <a:t>int </a:t>
            </a:r>
            <a:r>
              <a:rPr lang="en-US" err="1"/>
              <a:t>Day_Month</a:t>
            </a:r>
            <a:endParaRPr lang="en-US"/>
          </a:p>
          <a:p>
            <a:r>
              <a:rPr lang="en-US"/>
              <a:t>int </a:t>
            </a:r>
            <a:r>
              <a:rPr lang="en-US" err="1"/>
              <a:t>Days_in_months</a:t>
            </a:r>
            <a:endParaRPr lang="en-US"/>
          </a:p>
        </p:txBody>
      </p:sp>
    </p:spTree>
    <p:extLst>
      <p:ext uri="{BB962C8B-B14F-4D97-AF65-F5344CB8AC3E}">
        <p14:creationId xmlns:p14="http://schemas.microsoft.com/office/powerpoint/2010/main" val="429229014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019171-CFF6-1A0B-D5F8-FB1D0D257193}"/>
              </a:ext>
            </a:extLst>
          </p:cNvPr>
          <p:cNvSpPr>
            <a:spLocks noGrp="1"/>
          </p:cNvSpPr>
          <p:nvPr>
            <p:ph type="title"/>
          </p:nvPr>
        </p:nvSpPr>
        <p:spPr>
          <a:xfrm>
            <a:off x="815472" y="0"/>
            <a:ext cx="10353762" cy="589935"/>
          </a:xfrm>
        </p:spPr>
        <p:txBody>
          <a:bodyPr>
            <a:normAutofit fontScale="90000"/>
          </a:bodyPr>
          <a:lstStyle/>
          <a:p>
            <a:r>
              <a:rPr lang="en-US" b="1" err="1">
                <a:solidFill>
                  <a:srgbClr val="FFFF00"/>
                </a:solidFill>
                <a:effectLst/>
              </a:rPr>
              <a:t>TWF</a:t>
            </a:r>
            <a:r>
              <a:rPr lang="en-US" b="1" err="1">
                <a:solidFill>
                  <a:srgbClr val="FF0000"/>
                </a:solidFill>
                <a:effectLst/>
              </a:rPr>
              <a:t>.Flow_GeneralSettings</a:t>
            </a:r>
            <a:endParaRPr lang="en-US">
              <a:solidFill>
                <a:srgbClr val="FF0000"/>
              </a:solidFill>
            </a:endParaRPr>
          </a:p>
        </p:txBody>
      </p:sp>
      <p:sp>
        <p:nvSpPr>
          <p:cNvPr id="3" name="Content Placeholder 2">
            <a:extLst>
              <a:ext uri="{FF2B5EF4-FFF2-40B4-BE49-F238E27FC236}">
                <a16:creationId xmlns:a16="http://schemas.microsoft.com/office/drawing/2014/main" id="{24CF6193-02AE-67B5-1622-4AF1A099973F}"/>
              </a:ext>
            </a:extLst>
          </p:cNvPr>
          <p:cNvSpPr>
            <a:spLocks noGrp="1"/>
          </p:cNvSpPr>
          <p:nvPr>
            <p:ph idx="1"/>
          </p:nvPr>
        </p:nvSpPr>
        <p:spPr>
          <a:xfrm>
            <a:off x="78658" y="589935"/>
            <a:ext cx="12024851" cy="5948517"/>
          </a:xfrm>
        </p:spPr>
        <p:txBody>
          <a:bodyPr/>
          <a:lstStyle/>
          <a:p>
            <a:r>
              <a:rPr lang="en-US"/>
              <a:t>GeneralSettings_Id : PK</a:t>
            </a:r>
          </a:p>
          <a:p>
            <a:r>
              <a:rPr lang="en-US"/>
              <a:t>FinanceAmount_Approximation: decimal , </a:t>
            </a:r>
            <a:r>
              <a:rPr lang="ar-EG" sz="1650"/>
              <a:t>تقريب قيمة التمويل وليكن لاقرب الف بعد ادخال المبلغ المطلوب فشاشات ادخال طلب وزيارة وتحليل</a:t>
            </a:r>
            <a:endParaRPr lang="en-US" sz="1650"/>
          </a:p>
          <a:p>
            <a:r>
              <a:rPr lang="en-US"/>
              <a:t>AllowInsertFund: int , </a:t>
            </a:r>
            <a:r>
              <a:rPr lang="ar-EG"/>
              <a:t>عند إدخال طلب تمويل </a:t>
            </a:r>
          </a:p>
          <a:p>
            <a:pPr lvl="1"/>
            <a:r>
              <a:rPr lang="en-US"/>
              <a:t>AllowInsertFund == 1 // </a:t>
            </a:r>
            <a:r>
              <a:rPr lang="en-US" b="1">
                <a:latin typeface="Tahoma" panose="020B0604030504040204" pitchFamily="34" charset="0"/>
                <a:ea typeface="Tahoma" panose="020B0604030504040204" pitchFamily="34" charset="0"/>
                <a:cs typeface="Tahoma" panose="020B0604030504040204" pitchFamily="34" charset="0"/>
              </a:rPr>
              <a:t>allow insert fund</a:t>
            </a:r>
          </a:p>
          <a:p>
            <a:pPr lvl="1"/>
            <a:r>
              <a:rPr lang="en-US"/>
              <a:t>AllowInsertFund ==0 // not allow insert fund</a:t>
            </a:r>
          </a:p>
          <a:p>
            <a:r>
              <a:rPr lang="en-US"/>
              <a:t>Approximation: decimal, </a:t>
            </a:r>
          </a:p>
          <a:p>
            <a:endParaRPr lang="en-US"/>
          </a:p>
          <a:p>
            <a:endParaRPr lang="en-US"/>
          </a:p>
          <a:p>
            <a:endParaRPr lang="en-US"/>
          </a:p>
          <a:p>
            <a:pPr lvl="1"/>
            <a:endParaRPr lang="en-US" sz="1400"/>
          </a:p>
        </p:txBody>
      </p:sp>
    </p:spTree>
    <p:extLst>
      <p:ext uri="{BB962C8B-B14F-4D97-AF65-F5344CB8AC3E}">
        <p14:creationId xmlns:p14="http://schemas.microsoft.com/office/powerpoint/2010/main" val="165503997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736718-CD91-8036-6E3E-58E76553F235}"/>
              </a:ext>
            </a:extLst>
          </p:cNvPr>
          <p:cNvSpPr>
            <a:spLocks noGrp="1"/>
          </p:cNvSpPr>
          <p:nvPr>
            <p:ph type="title"/>
          </p:nvPr>
        </p:nvSpPr>
        <p:spPr>
          <a:xfrm>
            <a:off x="913795" y="0"/>
            <a:ext cx="10353762" cy="530942"/>
          </a:xfrm>
        </p:spPr>
        <p:txBody>
          <a:bodyPr>
            <a:normAutofit fontScale="90000"/>
          </a:bodyPr>
          <a:lstStyle/>
          <a:p>
            <a:r>
              <a:rPr lang="en-US" b="1">
                <a:solidFill>
                  <a:srgbClr val="FFFF00"/>
                </a:solidFill>
              </a:rPr>
              <a:t>SWF</a:t>
            </a:r>
            <a:r>
              <a:rPr lang="en-US" b="1">
                <a:solidFill>
                  <a:srgbClr val="FF0000"/>
                </a:solidFill>
              </a:rPr>
              <a:t>.Flow_Relationships</a:t>
            </a:r>
          </a:p>
        </p:txBody>
      </p:sp>
      <p:sp>
        <p:nvSpPr>
          <p:cNvPr id="3" name="Content Placeholder 2">
            <a:extLst>
              <a:ext uri="{FF2B5EF4-FFF2-40B4-BE49-F238E27FC236}">
                <a16:creationId xmlns:a16="http://schemas.microsoft.com/office/drawing/2014/main" id="{9D71FCDA-98E2-D135-C67C-DB3B026CF36C}"/>
              </a:ext>
            </a:extLst>
          </p:cNvPr>
          <p:cNvSpPr>
            <a:spLocks noGrp="1"/>
          </p:cNvSpPr>
          <p:nvPr>
            <p:ph idx="1"/>
          </p:nvPr>
        </p:nvSpPr>
        <p:spPr>
          <a:xfrm>
            <a:off x="353961" y="530942"/>
            <a:ext cx="11552904" cy="6115663"/>
          </a:xfrm>
        </p:spPr>
        <p:txBody>
          <a:bodyPr/>
          <a:lstStyle/>
          <a:p>
            <a:r>
              <a:rPr lang="en-US"/>
              <a:t> code_relation: int [PK]</a:t>
            </a:r>
          </a:p>
          <a:p>
            <a:r>
              <a:rPr lang="en-US"/>
              <a:t> name_Ar : string </a:t>
            </a:r>
          </a:p>
          <a:p>
            <a:r>
              <a:rPr lang="en-US"/>
              <a:t> name_Eng : string</a:t>
            </a:r>
            <a:endParaRPr lang="ar-EG"/>
          </a:p>
          <a:p>
            <a:endParaRPr lang="en-US"/>
          </a:p>
        </p:txBody>
      </p:sp>
      <p:pic>
        <p:nvPicPr>
          <p:cNvPr id="7" name="Picture 6">
            <a:extLst>
              <a:ext uri="{FF2B5EF4-FFF2-40B4-BE49-F238E27FC236}">
                <a16:creationId xmlns:a16="http://schemas.microsoft.com/office/drawing/2014/main" id="{95B5E2DA-2922-4310-7254-CE8696B703F4}"/>
              </a:ext>
            </a:extLst>
          </p:cNvPr>
          <p:cNvPicPr>
            <a:picLocks noChangeAspect="1"/>
          </p:cNvPicPr>
          <p:nvPr/>
        </p:nvPicPr>
        <p:blipFill>
          <a:blip r:embed="rId2"/>
          <a:stretch>
            <a:fillRect/>
          </a:stretch>
        </p:blipFill>
        <p:spPr>
          <a:xfrm>
            <a:off x="3988992" y="704793"/>
            <a:ext cx="2107007" cy="1546344"/>
          </a:xfrm>
          <a:prstGeom prst="rect">
            <a:avLst/>
          </a:prstGeom>
        </p:spPr>
      </p:pic>
    </p:spTree>
    <p:extLst>
      <p:ext uri="{BB962C8B-B14F-4D97-AF65-F5344CB8AC3E}">
        <p14:creationId xmlns:p14="http://schemas.microsoft.com/office/powerpoint/2010/main" val="220926691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644BE0-7FCA-9F05-5A0B-F1E727580102}"/>
              </a:ext>
            </a:extLst>
          </p:cNvPr>
          <p:cNvSpPr>
            <a:spLocks noGrp="1"/>
          </p:cNvSpPr>
          <p:nvPr>
            <p:ph type="title"/>
          </p:nvPr>
        </p:nvSpPr>
        <p:spPr>
          <a:xfrm>
            <a:off x="913795" y="0"/>
            <a:ext cx="10353762" cy="491613"/>
          </a:xfrm>
        </p:spPr>
        <p:txBody>
          <a:bodyPr>
            <a:normAutofit fontScale="90000"/>
          </a:bodyPr>
          <a:lstStyle/>
          <a:p>
            <a:r>
              <a:rPr lang="en-US" b="1">
                <a:solidFill>
                  <a:srgbClr val="FFFF00"/>
                </a:solidFill>
              </a:rPr>
              <a:t>SWF</a:t>
            </a:r>
            <a:r>
              <a:rPr lang="en-US" b="1"/>
              <a:t>.</a:t>
            </a:r>
            <a:r>
              <a:rPr lang="en-US" b="1">
                <a:solidFill>
                  <a:srgbClr val="FF0000"/>
                </a:solidFill>
              </a:rPr>
              <a:t>Flow_Purpose_loan</a:t>
            </a:r>
          </a:p>
        </p:txBody>
      </p:sp>
      <p:sp>
        <p:nvSpPr>
          <p:cNvPr id="3" name="Content Placeholder 2">
            <a:extLst>
              <a:ext uri="{FF2B5EF4-FFF2-40B4-BE49-F238E27FC236}">
                <a16:creationId xmlns:a16="http://schemas.microsoft.com/office/drawing/2014/main" id="{A1BB4664-5AD0-3304-20B3-8D964D0DDC14}"/>
              </a:ext>
            </a:extLst>
          </p:cNvPr>
          <p:cNvSpPr>
            <a:spLocks noGrp="1"/>
          </p:cNvSpPr>
          <p:nvPr>
            <p:ph idx="1"/>
          </p:nvPr>
        </p:nvSpPr>
        <p:spPr>
          <a:xfrm>
            <a:off x="363794" y="737419"/>
            <a:ext cx="11484077" cy="5053781"/>
          </a:xfrm>
        </p:spPr>
        <p:txBody>
          <a:bodyPr/>
          <a:lstStyle/>
          <a:p>
            <a:r>
              <a:rPr lang="en-US"/>
              <a:t>purpose_Id: int,  [Key]</a:t>
            </a:r>
          </a:p>
          <a:p>
            <a:r>
              <a:rPr lang="en-US"/>
              <a:t>purpose: string </a:t>
            </a:r>
          </a:p>
          <a:p>
            <a:endParaRPr lang="en-US"/>
          </a:p>
          <a:p>
            <a:endParaRPr lang="en-US"/>
          </a:p>
          <a:p>
            <a:endParaRPr lang="en-US"/>
          </a:p>
        </p:txBody>
      </p:sp>
      <p:pic>
        <p:nvPicPr>
          <p:cNvPr id="5" name="Picture 4">
            <a:extLst>
              <a:ext uri="{FF2B5EF4-FFF2-40B4-BE49-F238E27FC236}">
                <a16:creationId xmlns:a16="http://schemas.microsoft.com/office/drawing/2014/main" id="{4EB67A28-E5BF-56BD-A7EA-172A8BA6C45F}"/>
              </a:ext>
            </a:extLst>
          </p:cNvPr>
          <p:cNvPicPr>
            <a:picLocks noChangeAspect="1"/>
          </p:cNvPicPr>
          <p:nvPr/>
        </p:nvPicPr>
        <p:blipFill>
          <a:blip r:embed="rId2"/>
          <a:stretch>
            <a:fillRect/>
          </a:stretch>
        </p:blipFill>
        <p:spPr>
          <a:xfrm>
            <a:off x="4350456" y="747250"/>
            <a:ext cx="3790951" cy="1956621"/>
          </a:xfrm>
          <a:prstGeom prst="rect">
            <a:avLst/>
          </a:prstGeom>
        </p:spPr>
      </p:pic>
    </p:spTree>
    <p:extLst>
      <p:ext uri="{BB962C8B-B14F-4D97-AF65-F5344CB8AC3E}">
        <p14:creationId xmlns:p14="http://schemas.microsoft.com/office/powerpoint/2010/main" val="129308197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CD2FC7-BCA3-0947-4C4F-377029E22462}"/>
              </a:ext>
            </a:extLst>
          </p:cNvPr>
          <p:cNvSpPr>
            <a:spLocks noGrp="1"/>
          </p:cNvSpPr>
          <p:nvPr>
            <p:ph type="title"/>
          </p:nvPr>
        </p:nvSpPr>
        <p:spPr>
          <a:xfrm>
            <a:off x="919119" y="98323"/>
            <a:ext cx="10353762" cy="766916"/>
          </a:xfrm>
        </p:spPr>
        <p:txBody>
          <a:bodyPr/>
          <a:lstStyle/>
          <a:p>
            <a:r>
              <a:rPr lang="en-US" b="1">
                <a:solidFill>
                  <a:srgbClr val="FFFF00"/>
                </a:solidFill>
                <a:effectLst/>
              </a:rPr>
              <a:t>SWF</a:t>
            </a:r>
            <a:r>
              <a:rPr lang="en-US" b="1">
                <a:effectLst/>
              </a:rPr>
              <a:t>.</a:t>
            </a:r>
            <a:r>
              <a:rPr lang="en-US" b="1">
                <a:solidFill>
                  <a:srgbClr val="FF0000"/>
                </a:solidFill>
                <a:effectLst/>
              </a:rPr>
              <a:t>Flow_Customers_jobs</a:t>
            </a:r>
            <a:endParaRPr lang="en-US">
              <a:solidFill>
                <a:srgbClr val="FF0000"/>
              </a:solidFill>
            </a:endParaRPr>
          </a:p>
        </p:txBody>
      </p:sp>
      <p:sp>
        <p:nvSpPr>
          <p:cNvPr id="7" name="Content Placeholder 6">
            <a:extLst>
              <a:ext uri="{FF2B5EF4-FFF2-40B4-BE49-F238E27FC236}">
                <a16:creationId xmlns:a16="http://schemas.microsoft.com/office/drawing/2014/main" id="{05F54450-0FD0-65BB-EFB7-DDF37D562034}"/>
              </a:ext>
            </a:extLst>
          </p:cNvPr>
          <p:cNvSpPr>
            <a:spLocks noGrp="1"/>
          </p:cNvSpPr>
          <p:nvPr>
            <p:ph idx="1"/>
          </p:nvPr>
        </p:nvSpPr>
        <p:spPr>
          <a:xfrm>
            <a:off x="324466" y="1149639"/>
            <a:ext cx="11326760" cy="5398645"/>
          </a:xfrm>
        </p:spPr>
        <p:txBody>
          <a:bodyPr/>
          <a:lstStyle/>
          <a:p>
            <a:r>
              <a:rPr lang="en-US"/>
              <a:t>public int Code_job { get; set; }</a:t>
            </a:r>
          </a:p>
          <a:p>
            <a:r>
              <a:rPr lang="en-US"/>
              <a:t>public string name_Ar { get; set; }</a:t>
            </a:r>
          </a:p>
          <a:p>
            <a:r>
              <a:rPr lang="en-US"/>
              <a:t>public string name_Eng { get; set; }</a:t>
            </a:r>
          </a:p>
          <a:p>
            <a:r>
              <a:rPr lang="en-US"/>
              <a:t>public int I_score { get; set; }</a:t>
            </a:r>
          </a:p>
        </p:txBody>
      </p:sp>
      <p:pic>
        <p:nvPicPr>
          <p:cNvPr id="8" name="Content Placeholder 4">
            <a:extLst>
              <a:ext uri="{FF2B5EF4-FFF2-40B4-BE49-F238E27FC236}">
                <a16:creationId xmlns:a16="http://schemas.microsoft.com/office/drawing/2014/main" id="{0045C470-86DA-1BAD-F025-6D3EAC01831E}"/>
              </a:ext>
            </a:extLst>
          </p:cNvPr>
          <p:cNvPicPr>
            <a:picLocks noChangeAspect="1"/>
          </p:cNvPicPr>
          <p:nvPr/>
        </p:nvPicPr>
        <p:blipFill>
          <a:blip r:embed="rId2"/>
          <a:stretch>
            <a:fillRect/>
          </a:stretch>
        </p:blipFill>
        <p:spPr>
          <a:xfrm>
            <a:off x="6999937" y="1149639"/>
            <a:ext cx="4464450" cy="2802501"/>
          </a:xfrm>
          <a:prstGeom prst="rect">
            <a:avLst/>
          </a:prstGeom>
          <a:effectLst>
            <a:outerShdw blurRad="25400" dir="17880000">
              <a:srgbClr val="000000">
                <a:alpha val="46000"/>
              </a:srgbClr>
            </a:outerShdw>
          </a:effectLst>
        </p:spPr>
      </p:pic>
    </p:spTree>
    <p:extLst>
      <p:ext uri="{BB962C8B-B14F-4D97-AF65-F5344CB8AC3E}">
        <p14:creationId xmlns:p14="http://schemas.microsoft.com/office/powerpoint/2010/main" val="152313492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D5051E-20B0-456A-27A0-A849223FE5DE}"/>
              </a:ext>
            </a:extLst>
          </p:cNvPr>
          <p:cNvSpPr>
            <a:spLocks noGrp="1"/>
          </p:cNvSpPr>
          <p:nvPr>
            <p:ph type="title"/>
          </p:nvPr>
        </p:nvSpPr>
        <p:spPr>
          <a:xfrm>
            <a:off x="913795" y="0"/>
            <a:ext cx="10353762" cy="550606"/>
          </a:xfrm>
        </p:spPr>
        <p:txBody>
          <a:bodyPr>
            <a:normAutofit fontScale="90000"/>
          </a:bodyPr>
          <a:lstStyle/>
          <a:p>
            <a:r>
              <a:rPr lang="en-US" b="1">
                <a:solidFill>
                  <a:srgbClr val="FFFF00"/>
                </a:solidFill>
              </a:rPr>
              <a:t>SWF</a:t>
            </a:r>
            <a:r>
              <a:rPr lang="en-US"/>
              <a:t>.</a:t>
            </a:r>
            <a:r>
              <a:rPr lang="en-US" b="1">
                <a:solidFill>
                  <a:srgbClr val="FF0000"/>
                </a:solidFill>
              </a:rPr>
              <a:t>Flow_districts</a:t>
            </a:r>
          </a:p>
        </p:txBody>
      </p:sp>
      <p:sp>
        <p:nvSpPr>
          <p:cNvPr id="3" name="Content Placeholder 2">
            <a:extLst>
              <a:ext uri="{FF2B5EF4-FFF2-40B4-BE49-F238E27FC236}">
                <a16:creationId xmlns:a16="http://schemas.microsoft.com/office/drawing/2014/main" id="{7CABE9C4-1036-08DF-688D-224BA7DC9F6A}"/>
              </a:ext>
            </a:extLst>
          </p:cNvPr>
          <p:cNvSpPr>
            <a:spLocks noGrp="1"/>
          </p:cNvSpPr>
          <p:nvPr>
            <p:ph idx="1"/>
          </p:nvPr>
        </p:nvSpPr>
        <p:spPr>
          <a:xfrm>
            <a:off x="383458" y="550606"/>
            <a:ext cx="11405419" cy="6076335"/>
          </a:xfrm>
        </p:spPr>
        <p:txBody>
          <a:bodyPr/>
          <a:lstStyle/>
          <a:p>
            <a:r>
              <a:rPr lang="en-US"/>
              <a:t>public int Code_district { get; set; }  </a:t>
            </a:r>
            <a:r>
              <a:rPr lang="en-US" b="1"/>
              <a:t>[FK]</a:t>
            </a:r>
          </a:p>
          <a:p>
            <a:r>
              <a:rPr lang="en-US"/>
              <a:t>public string name_ar { get; set; }</a:t>
            </a:r>
          </a:p>
          <a:p>
            <a:r>
              <a:rPr lang="en-US"/>
              <a:t>public string name_eng { get; set; }</a:t>
            </a:r>
          </a:p>
          <a:p>
            <a:r>
              <a:rPr lang="en-US"/>
              <a:t>public int GovId { get; set; }</a:t>
            </a:r>
          </a:p>
          <a:p>
            <a:r>
              <a:rPr lang="en-US"/>
              <a:t>public string District_DB_Code { get; set; }</a:t>
            </a:r>
          </a:p>
        </p:txBody>
      </p:sp>
      <p:pic>
        <p:nvPicPr>
          <p:cNvPr id="5" name="Picture 4">
            <a:extLst>
              <a:ext uri="{FF2B5EF4-FFF2-40B4-BE49-F238E27FC236}">
                <a16:creationId xmlns:a16="http://schemas.microsoft.com/office/drawing/2014/main" id="{DF86862D-330E-AEFE-3F7C-1878620572C9}"/>
              </a:ext>
            </a:extLst>
          </p:cNvPr>
          <p:cNvPicPr>
            <a:picLocks noChangeAspect="1"/>
          </p:cNvPicPr>
          <p:nvPr/>
        </p:nvPicPr>
        <p:blipFill>
          <a:blip r:embed="rId2"/>
          <a:stretch>
            <a:fillRect/>
          </a:stretch>
        </p:blipFill>
        <p:spPr>
          <a:xfrm>
            <a:off x="7236142" y="734029"/>
            <a:ext cx="4552735" cy="2138406"/>
          </a:xfrm>
          <a:prstGeom prst="rect">
            <a:avLst/>
          </a:prstGeom>
        </p:spPr>
      </p:pic>
    </p:spTree>
    <p:extLst>
      <p:ext uri="{BB962C8B-B14F-4D97-AF65-F5344CB8AC3E}">
        <p14:creationId xmlns:p14="http://schemas.microsoft.com/office/powerpoint/2010/main" val="181567147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CCF5D2-C14B-752B-7094-17DF4075385B}"/>
              </a:ext>
            </a:extLst>
          </p:cNvPr>
          <p:cNvSpPr>
            <a:spLocks noGrp="1"/>
          </p:cNvSpPr>
          <p:nvPr>
            <p:ph type="title"/>
          </p:nvPr>
        </p:nvSpPr>
        <p:spPr>
          <a:xfrm>
            <a:off x="919119" y="16721"/>
            <a:ext cx="10353762" cy="573214"/>
          </a:xfrm>
        </p:spPr>
        <p:txBody>
          <a:bodyPr>
            <a:normAutofit fontScale="90000"/>
          </a:bodyPr>
          <a:lstStyle/>
          <a:p>
            <a:r>
              <a:rPr lang="en-US" b="1">
                <a:solidFill>
                  <a:srgbClr val="FFFF00"/>
                </a:solidFill>
                <a:effectLst/>
              </a:rPr>
              <a:t>SWF</a:t>
            </a:r>
            <a:r>
              <a:rPr lang="en-US" b="1">
                <a:effectLst/>
              </a:rPr>
              <a:t>.</a:t>
            </a:r>
            <a:r>
              <a:rPr lang="en-US" b="1">
                <a:solidFill>
                  <a:srgbClr val="FF0000"/>
                </a:solidFill>
                <a:effectLst/>
              </a:rPr>
              <a:t>Flow_Sections</a:t>
            </a:r>
            <a:endParaRPr lang="en-US">
              <a:solidFill>
                <a:srgbClr val="FF0000"/>
              </a:solidFill>
            </a:endParaRPr>
          </a:p>
        </p:txBody>
      </p:sp>
      <p:sp>
        <p:nvSpPr>
          <p:cNvPr id="3" name="Content Placeholder 2">
            <a:extLst>
              <a:ext uri="{FF2B5EF4-FFF2-40B4-BE49-F238E27FC236}">
                <a16:creationId xmlns:a16="http://schemas.microsoft.com/office/drawing/2014/main" id="{EA4AE190-22B5-6065-BB91-B8685FAF1481}"/>
              </a:ext>
            </a:extLst>
          </p:cNvPr>
          <p:cNvSpPr>
            <a:spLocks noGrp="1"/>
          </p:cNvSpPr>
          <p:nvPr>
            <p:ph idx="1"/>
          </p:nvPr>
        </p:nvSpPr>
        <p:spPr>
          <a:xfrm>
            <a:off x="570271" y="704979"/>
            <a:ext cx="11503742" cy="5980956"/>
          </a:xfrm>
        </p:spPr>
        <p:txBody>
          <a:bodyPr/>
          <a:lstStyle/>
          <a:p>
            <a:r>
              <a:rPr lang="en-US"/>
              <a:t>Code_Section [PK]</a:t>
            </a:r>
          </a:p>
          <a:p>
            <a:endParaRPr lang="en-US"/>
          </a:p>
        </p:txBody>
      </p:sp>
      <p:pic>
        <p:nvPicPr>
          <p:cNvPr id="5" name="Picture 4">
            <a:extLst>
              <a:ext uri="{FF2B5EF4-FFF2-40B4-BE49-F238E27FC236}">
                <a16:creationId xmlns:a16="http://schemas.microsoft.com/office/drawing/2014/main" id="{A01B557B-65C1-8D4D-AFB5-EEC7C2124C93}"/>
              </a:ext>
            </a:extLst>
          </p:cNvPr>
          <p:cNvPicPr>
            <a:picLocks noChangeAspect="1"/>
          </p:cNvPicPr>
          <p:nvPr/>
        </p:nvPicPr>
        <p:blipFill>
          <a:blip r:embed="rId2"/>
          <a:stretch>
            <a:fillRect/>
          </a:stretch>
        </p:blipFill>
        <p:spPr>
          <a:xfrm>
            <a:off x="6712176" y="704979"/>
            <a:ext cx="5361837" cy="2647821"/>
          </a:xfrm>
          <a:prstGeom prst="rect">
            <a:avLst/>
          </a:prstGeom>
        </p:spPr>
      </p:pic>
    </p:spTree>
    <p:extLst>
      <p:ext uri="{BB962C8B-B14F-4D97-AF65-F5344CB8AC3E}">
        <p14:creationId xmlns:p14="http://schemas.microsoft.com/office/powerpoint/2010/main" val="82828717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B8C28E-61F7-6D4E-F31C-C60F41193EE4}"/>
              </a:ext>
            </a:extLst>
          </p:cNvPr>
          <p:cNvSpPr>
            <a:spLocks noGrp="1"/>
          </p:cNvSpPr>
          <p:nvPr>
            <p:ph type="title"/>
          </p:nvPr>
        </p:nvSpPr>
        <p:spPr>
          <a:xfrm>
            <a:off x="913795" y="0"/>
            <a:ext cx="10353762" cy="648929"/>
          </a:xfrm>
        </p:spPr>
        <p:txBody>
          <a:bodyPr>
            <a:normAutofit fontScale="90000"/>
          </a:bodyPr>
          <a:lstStyle/>
          <a:p>
            <a:r>
              <a:rPr lang="en-US" b="1">
                <a:solidFill>
                  <a:srgbClr val="FFFF00"/>
                </a:solidFill>
                <a:effectLst/>
              </a:rPr>
              <a:t>SWF</a:t>
            </a:r>
            <a:r>
              <a:rPr lang="en-US" b="1">
                <a:effectLst/>
              </a:rPr>
              <a:t>.</a:t>
            </a:r>
            <a:r>
              <a:rPr lang="en-US" b="1">
                <a:solidFill>
                  <a:srgbClr val="FF0000"/>
                </a:solidFill>
                <a:effectLst/>
              </a:rPr>
              <a:t>Flow_Identity_Expiry</a:t>
            </a:r>
            <a:endParaRPr lang="en-US">
              <a:solidFill>
                <a:srgbClr val="FF0000"/>
              </a:solidFill>
            </a:endParaRPr>
          </a:p>
        </p:txBody>
      </p:sp>
      <p:sp>
        <p:nvSpPr>
          <p:cNvPr id="3" name="Content Placeholder 2">
            <a:extLst>
              <a:ext uri="{FF2B5EF4-FFF2-40B4-BE49-F238E27FC236}">
                <a16:creationId xmlns:a16="http://schemas.microsoft.com/office/drawing/2014/main" id="{D4D3C5DB-79B9-56B6-11BF-ABC07DE1220D}"/>
              </a:ext>
            </a:extLst>
          </p:cNvPr>
          <p:cNvSpPr>
            <a:spLocks noGrp="1"/>
          </p:cNvSpPr>
          <p:nvPr>
            <p:ph idx="1"/>
          </p:nvPr>
        </p:nvSpPr>
        <p:spPr>
          <a:xfrm>
            <a:off x="913795" y="648929"/>
            <a:ext cx="10353762" cy="5142271"/>
          </a:xfrm>
        </p:spPr>
        <p:txBody>
          <a:bodyPr/>
          <a:lstStyle/>
          <a:p>
            <a:r>
              <a:rPr lang="en-US"/>
              <a:t>ssn_code : int</a:t>
            </a:r>
          </a:p>
          <a:p>
            <a:r>
              <a:rPr lang="en-US"/>
              <a:t>name_ar: string</a:t>
            </a:r>
          </a:p>
          <a:p>
            <a:r>
              <a:rPr lang="en-US"/>
              <a:t>name_eng: string</a:t>
            </a:r>
          </a:p>
          <a:p>
            <a:r>
              <a:rPr lang="en-US"/>
              <a:t>Expiry_date : string </a:t>
            </a:r>
          </a:p>
          <a:p>
            <a:endParaRPr lang="en-US"/>
          </a:p>
        </p:txBody>
      </p:sp>
      <p:pic>
        <p:nvPicPr>
          <p:cNvPr id="5" name="Picture 4">
            <a:extLst>
              <a:ext uri="{FF2B5EF4-FFF2-40B4-BE49-F238E27FC236}">
                <a16:creationId xmlns:a16="http://schemas.microsoft.com/office/drawing/2014/main" id="{F245421B-EB2A-8CF4-9A6E-F2E8FF8537E8}"/>
              </a:ext>
            </a:extLst>
          </p:cNvPr>
          <p:cNvPicPr>
            <a:picLocks noChangeAspect="1"/>
          </p:cNvPicPr>
          <p:nvPr/>
        </p:nvPicPr>
        <p:blipFill>
          <a:blip r:embed="rId2"/>
          <a:stretch>
            <a:fillRect/>
          </a:stretch>
        </p:blipFill>
        <p:spPr>
          <a:xfrm>
            <a:off x="5801242" y="782700"/>
            <a:ext cx="3698661" cy="568200"/>
          </a:xfrm>
          <a:prstGeom prst="rect">
            <a:avLst/>
          </a:prstGeom>
        </p:spPr>
      </p:pic>
    </p:spTree>
    <p:extLst>
      <p:ext uri="{BB962C8B-B14F-4D97-AF65-F5344CB8AC3E}">
        <p14:creationId xmlns:p14="http://schemas.microsoft.com/office/powerpoint/2010/main" val="43089806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1F7D08-A393-98DE-9C45-6689A32A2C38}"/>
              </a:ext>
            </a:extLst>
          </p:cNvPr>
          <p:cNvSpPr>
            <a:spLocks noGrp="1"/>
          </p:cNvSpPr>
          <p:nvPr>
            <p:ph type="title"/>
          </p:nvPr>
        </p:nvSpPr>
        <p:spPr>
          <a:xfrm>
            <a:off x="919119" y="0"/>
            <a:ext cx="10353762" cy="668594"/>
          </a:xfrm>
        </p:spPr>
        <p:txBody>
          <a:bodyPr>
            <a:normAutofit fontScale="90000"/>
          </a:bodyPr>
          <a:lstStyle/>
          <a:p>
            <a:r>
              <a:rPr lang="en-US" b="1">
                <a:solidFill>
                  <a:srgbClr val="FFFF00"/>
                </a:solidFill>
              </a:rPr>
              <a:t>Security</a:t>
            </a:r>
            <a:r>
              <a:rPr lang="en-US"/>
              <a:t>.</a:t>
            </a:r>
            <a:r>
              <a:rPr lang="en-US" b="1">
                <a:solidFill>
                  <a:srgbClr val="FF0000"/>
                </a:solidFill>
              </a:rPr>
              <a:t>SEC_Group</a:t>
            </a:r>
          </a:p>
        </p:txBody>
      </p:sp>
      <p:pic>
        <p:nvPicPr>
          <p:cNvPr id="5" name="Content Placeholder 4">
            <a:extLst>
              <a:ext uri="{FF2B5EF4-FFF2-40B4-BE49-F238E27FC236}">
                <a16:creationId xmlns:a16="http://schemas.microsoft.com/office/drawing/2014/main" id="{FDF058CE-131C-13EF-9962-3C2C8DBF70F1}"/>
              </a:ext>
            </a:extLst>
          </p:cNvPr>
          <p:cNvPicPr>
            <a:picLocks noGrp="1" noChangeAspect="1"/>
          </p:cNvPicPr>
          <p:nvPr>
            <p:ph idx="1"/>
          </p:nvPr>
        </p:nvPicPr>
        <p:blipFill>
          <a:blip r:embed="rId2"/>
          <a:stretch>
            <a:fillRect/>
          </a:stretch>
        </p:blipFill>
        <p:spPr>
          <a:xfrm>
            <a:off x="278774" y="890828"/>
            <a:ext cx="4971651" cy="4102949"/>
          </a:xfrm>
          <a:prstGeom prst="rect">
            <a:avLst/>
          </a:prstGeom>
          <a:effectLst>
            <a:outerShdw blurRad="25400" dir="17880000">
              <a:srgbClr val="000000">
                <a:alpha val="46000"/>
              </a:srgbClr>
            </a:outerShdw>
          </a:effectLst>
        </p:spPr>
      </p:pic>
    </p:spTree>
    <p:extLst>
      <p:ext uri="{BB962C8B-B14F-4D97-AF65-F5344CB8AC3E}">
        <p14:creationId xmlns:p14="http://schemas.microsoft.com/office/powerpoint/2010/main" val="391034790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CBBD2D-BC72-9321-F9E7-A67BCB410D4C}"/>
              </a:ext>
            </a:extLst>
          </p:cNvPr>
          <p:cNvSpPr>
            <a:spLocks noGrp="1"/>
          </p:cNvSpPr>
          <p:nvPr>
            <p:ph type="title"/>
          </p:nvPr>
        </p:nvSpPr>
        <p:spPr/>
        <p:txBody>
          <a:bodyPr/>
          <a:lstStyle/>
          <a:p>
            <a:r>
              <a:rPr lang="en-US" b="1">
                <a:solidFill>
                  <a:srgbClr val="FFFF00"/>
                </a:solidFill>
              </a:rPr>
              <a:t>Security</a:t>
            </a:r>
            <a:r>
              <a:rPr lang="en-US"/>
              <a:t>.</a:t>
            </a:r>
            <a:r>
              <a:rPr lang="en-US" b="1">
                <a:solidFill>
                  <a:srgbClr val="FF0000"/>
                </a:solidFill>
              </a:rPr>
              <a:t>SEC_Menu</a:t>
            </a:r>
            <a:endParaRPr lang="en-US"/>
          </a:p>
        </p:txBody>
      </p:sp>
      <p:pic>
        <p:nvPicPr>
          <p:cNvPr id="5" name="Content Placeholder 4">
            <a:extLst>
              <a:ext uri="{FF2B5EF4-FFF2-40B4-BE49-F238E27FC236}">
                <a16:creationId xmlns:a16="http://schemas.microsoft.com/office/drawing/2014/main" id="{A6EED765-6B26-3831-32AB-6C4D7F9CBE7E}"/>
              </a:ext>
            </a:extLst>
          </p:cNvPr>
          <p:cNvPicPr>
            <a:picLocks noGrp="1" noChangeAspect="1"/>
          </p:cNvPicPr>
          <p:nvPr>
            <p:ph idx="1"/>
          </p:nvPr>
        </p:nvPicPr>
        <p:blipFill>
          <a:blip r:embed="rId2"/>
          <a:stretch>
            <a:fillRect/>
          </a:stretch>
        </p:blipFill>
        <p:spPr>
          <a:xfrm>
            <a:off x="663301" y="1580050"/>
            <a:ext cx="7985453" cy="2195537"/>
          </a:xfrm>
          <a:prstGeom prst="rect">
            <a:avLst/>
          </a:prstGeom>
          <a:effectLst>
            <a:outerShdw blurRad="25400" dir="17880000">
              <a:srgbClr val="000000">
                <a:alpha val="46000"/>
              </a:srgbClr>
            </a:outerShdw>
          </a:effectLst>
        </p:spPr>
      </p:pic>
    </p:spTree>
    <p:extLst>
      <p:ext uri="{BB962C8B-B14F-4D97-AF65-F5344CB8AC3E}">
        <p14:creationId xmlns:p14="http://schemas.microsoft.com/office/powerpoint/2010/main" val="3576081585"/>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EE02EF-272C-634F-E677-280B413E4B0C}"/>
              </a:ext>
            </a:extLst>
          </p:cNvPr>
          <p:cNvSpPr>
            <a:spLocks noGrp="1"/>
          </p:cNvSpPr>
          <p:nvPr>
            <p:ph type="title"/>
          </p:nvPr>
        </p:nvSpPr>
        <p:spPr>
          <a:xfrm>
            <a:off x="913795" y="0"/>
            <a:ext cx="10353762" cy="688258"/>
          </a:xfrm>
        </p:spPr>
        <p:txBody>
          <a:bodyPr>
            <a:normAutofit fontScale="90000"/>
          </a:bodyPr>
          <a:lstStyle/>
          <a:p>
            <a:r>
              <a:rPr lang="en-US" b="1">
                <a:solidFill>
                  <a:srgbClr val="FFFF00"/>
                </a:solidFill>
                <a:effectLst/>
              </a:rPr>
              <a:t>TWF</a:t>
            </a:r>
            <a:r>
              <a:rPr lang="en-US" b="1">
                <a:effectLst/>
              </a:rPr>
              <a:t>.</a:t>
            </a:r>
            <a:r>
              <a:rPr lang="en-US" b="1">
                <a:solidFill>
                  <a:srgbClr val="FF0000"/>
                </a:solidFill>
                <a:effectLst/>
              </a:rPr>
              <a:t>Flow_ISCORE_Data</a:t>
            </a:r>
            <a:endParaRPr lang="en-US">
              <a:solidFill>
                <a:srgbClr val="FF0000"/>
              </a:solidFill>
            </a:endParaRPr>
          </a:p>
        </p:txBody>
      </p:sp>
      <p:sp>
        <p:nvSpPr>
          <p:cNvPr id="3" name="Content Placeholder 2">
            <a:extLst>
              <a:ext uri="{FF2B5EF4-FFF2-40B4-BE49-F238E27FC236}">
                <a16:creationId xmlns:a16="http://schemas.microsoft.com/office/drawing/2014/main" id="{C73E78E3-34C6-E811-8BA5-3DA8C61B8FD3}"/>
              </a:ext>
            </a:extLst>
          </p:cNvPr>
          <p:cNvSpPr>
            <a:spLocks noGrp="1"/>
          </p:cNvSpPr>
          <p:nvPr>
            <p:ph idx="1"/>
          </p:nvPr>
        </p:nvSpPr>
        <p:spPr>
          <a:xfrm>
            <a:off x="353961" y="688259"/>
            <a:ext cx="11503742" cy="6037006"/>
          </a:xfrm>
        </p:spPr>
        <p:txBody>
          <a:bodyPr>
            <a:normAutofit lnSpcReduction="10000"/>
          </a:bodyPr>
          <a:lstStyle/>
          <a:p>
            <a:r>
              <a:rPr lang="en-US"/>
              <a:t>int Code_FID  [PK]</a:t>
            </a:r>
          </a:p>
          <a:p>
            <a:r>
              <a:rPr lang="en-US" b="1">
                <a:effectLst/>
              </a:rPr>
              <a:t>Cust_IDNO: string // customer nationalId</a:t>
            </a:r>
          </a:p>
          <a:p>
            <a:r>
              <a:rPr lang="en-US" b="1"/>
              <a:t>Inquiry_Date: DateTime</a:t>
            </a:r>
            <a:r>
              <a:rPr lang="en-US"/>
              <a:t> // </a:t>
            </a:r>
          </a:p>
          <a:p>
            <a:r>
              <a:rPr lang="en-US" b="1">
                <a:effectLst/>
              </a:rPr>
              <a:t>Score: int   	// </a:t>
            </a:r>
            <a:r>
              <a:rPr lang="ar-EG">
                <a:effectLst/>
              </a:rPr>
              <a:t>هو رقم يعبر عن مدى التزام العميل</a:t>
            </a:r>
          </a:p>
          <a:p>
            <a:r>
              <a:rPr lang="en-US">
                <a:effectLst/>
              </a:rPr>
              <a:t>Open_credits // </a:t>
            </a:r>
            <a:r>
              <a:rPr lang="ar-EG">
                <a:effectLst/>
              </a:rPr>
              <a:t>أي عدد القروض أو البطاقات الائتمانية التي يستخدمها العميل حالياً ولم يغلقها.</a:t>
            </a:r>
            <a:endParaRPr lang="en-US">
              <a:effectLst/>
            </a:endParaRPr>
          </a:p>
          <a:p>
            <a:r>
              <a:rPr lang="en-US"/>
              <a:t>Days_Due: int </a:t>
            </a:r>
            <a:r>
              <a:rPr lang="ar-EG" sz="1800"/>
              <a:t>أيام التأخير؛ ويقصد بها عدد الأيام التي تأخر فيها العميل عن سداد الأقساط المستحقة عليه (مؤشر خطر إذا كان الرقم </a:t>
            </a:r>
            <a:r>
              <a:rPr lang="ar-EG"/>
              <a:t>كبيراً).</a:t>
            </a:r>
            <a:endParaRPr lang="en-US"/>
          </a:p>
          <a:p>
            <a:r>
              <a:rPr lang="en-US"/>
              <a:t>NO_OF_INQUIRES: </a:t>
            </a:r>
            <a:r>
              <a:rPr lang="ar-EG"/>
              <a:t>عدد الكرات التى تم فيها الاستعلام عن هذا الرقم</a:t>
            </a:r>
            <a:endParaRPr lang="en-US"/>
          </a:p>
          <a:p>
            <a:r>
              <a:rPr lang="en-US"/>
              <a:t>Request_id</a:t>
            </a:r>
          </a:p>
          <a:p>
            <a:r>
              <a:rPr lang="en-US"/>
              <a:t>REF_NO</a:t>
            </a:r>
          </a:p>
          <a:p>
            <a:r>
              <a:rPr lang="en-US"/>
              <a:t>NotFound , int : </a:t>
            </a:r>
            <a:r>
              <a:rPr lang="ar-EG"/>
              <a:t>حالة العميل</a:t>
            </a:r>
          </a:p>
          <a:p>
            <a:pPr lvl="1"/>
            <a:r>
              <a:rPr lang="en-US"/>
              <a:t>0 : </a:t>
            </a:r>
            <a:r>
              <a:rPr lang="ar-EG"/>
              <a:t>يوجد للعميل هذا بيانات فى الأيزكور</a:t>
            </a:r>
          </a:p>
          <a:p>
            <a:pPr lvl="1"/>
            <a:r>
              <a:rPr lang="en-US"/>
              <a:t>1 : </a:t>
            </a:r>
            <a:r>
              <a:rPr lang="ar-EG"/>
              <a:t>العميل هذا لا توجد له بيانات فى الايزكور لأنه لم يأخذ قروض من اى بنك او اى جهة من قبل </a:t>
            </a:r>
          </a:p>
          <a:p>
            <a:pPr lvl="1"/>
            <a:r>
              <a:rPr lang="en-US"/>
              <a:t>2 :</a:t>
            </a:r>
            <a:r>
              <a:rPr lang="ar-EG"/>
              <a:t> </a:t>
            </a:r>
            <a:r>
              <a:rPr lang="en-US"/>
              <a:t> </a:t>
            </a:r>
            <a:r>
              <a:rPr lang="ar-EG"/>
              <a:t>  يوجد مشكلة في الاتصال او اى مشكله أخرى لم تمكننى من الاستعلام عنه وبالتالي لايتم ترحيل الطلب الا اذا تم التحميل</a:t>
            </a:r>
            <a:r>
              <a:rPr lang="en-US"/>
              <a:t> </a:t>
            </a:r>
          </a:p>
          <a:p>
            <a:r>
              <a:rPr lang="en-US"/>
              <a:t>New_ISCORE</a:t>
            </a:r>
          </a:p>
          <a:p>
            <a:r>
              <a:rPr lang="en-US"/>
              <a:t>File_Code</a:t>
            </a:r>
          </a:p>
        </p:txBody>
      </p:sp>
    </p:spTree>
    <p:extLst>
      <p:ext uri="{BB962C8B-B14F-4D97-AF65-F5344CB8AC3E}">
        <p14:creationId xmlns:p14="http://schemas.microsoft.com/office/powerpoint/2010/main" val="344985806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B9A69E-06CE-97FD-204E-1EAB56654B9A}"/>
              </a:ext>
            </a:extLst>
          </p:cNvPr>
          <p:cNvSpPr>
            <a:spLocks noGrp="1"/>
          </p:cNvSpPr>
          <p:nvPr>
            <p:ph type="title"/>
          </p:nvPr>
        </p:nvSpPr>
        <p:spPr>
          <a:xfrm>
            <a:off x="795808" y="0"/>
            <a:ext cx="10353762" cy="530942"/>
          </a:xfrm>
        </p:spPr>
        <p:txBody>
          <a:bodyPr>
            <a:normAutofit fontScale="90000"/>
          </a:bodyPr>
          <a:lstStyle/>
          <a:p>
            <a:r>
              <a:rPr lang="en-US" b="1" err="1">
                <a:solidFill>
                  <a:srgbClr val="FF0000"/>
                </a:solidFill>
              </a:rPr>
              <a:t>BranchGovernRegion</a:t>
            </a:r>
            <a:r>
              <a:rPr lang="en-US" b="1">
                <a:solidFill>
                  <a:srgbClr val="FF0000"/>
                </a:solidFill>
              </a:rPr>
              <a:t> VM</a:t>
            </a:r>
          </a:p>
        </p:txBody>
      </p:sp>
      <p:sp>
        <p:nvSpPr>
          <p:cNvPr id="3" name="Content Placeholder 2">
            <a:extLst>
              <a:ext uri="{FF2B5EF4-FFF2-40B4-BE49-F238E27FC236}">
                <a16:creationId xmlns:a16="http://schemas.microsoft.com/office/drawing/2014/main" id="{8C64C52F-88D2-D45B-14B5-1C9472A1F8DB}"/>
              </a:ext>
            </a:extLst>
          </p:cNvPr>
          <p:cNvSpPr>
            <a:spLocks noGrp="1"/>
          </p:cNvSpPr>
          <p:nvPr>
            <p:ph idx="1"/>
          </p:nvPr>
        </p:nvSpPr>
        <p:spPr>
          <a:xfrm>
            <a:off x="353960" y="530943"/>
            <a:ext cx="11533239" cy="6135328"/>
          </a:xfrm>
        </p:spPr>
        <p:txBody>
          <a:bodyPr>
            <a:normAutofit/>
          </a:bodyPr>
          <a:lstStyle/>
          <a:p>
            <a:r>
              <a:rPr lang="en-US" sz="1800"/>
              <a:t>BranchId     		// From Table branch</a:t>
            </a:r>
          </a:p>
          <a:p>
            <a:r>
              <a:rPr lang="en-US" sz="1800" err="1"/>
              <a:t>Branch_code</a:t>
            </a:r>
            <a:r>
              <a:rPr lang="en-US" sz="1800"/>
              <a:t>		// From Table branch</a:t>
            </a:r>
          </a:p>
          <a:p>
            <a:r>
              <a:rPr lang="en-US" sz="1800" err="1"/>
              <a:t>ExterNum</a:t>
            </a:r>
            <a:r>
              <a:rPr lang="en-US" sz="1800"/>
              <a:t>		// From Table branch</a:t>
            </a:r>
          </a:p>
          <a:p>
            <a:endParaRPr lang="en-US" sz="1800"/>
          </a:p>
        </p:txBody>
      </p:sp>
    </p:spTree>
    <p:extLst>
      <p:ext uri="{BB962C8B-B14F-4D97-AF65-F5344CB8AC3E}">
        <p14:creationId xmlns:p14="http://schemas.microsoft.com/office/powerpoint/2010/main" val="167831603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F5FE32-DD82-CBD6-386F-93F17B98F119}"/>
              </a:ext>
            </a:extLst>
          </p:cNvPr>
          <p:cNvSpPr>
            <a:spLocks noGrp="1"/>
          </p:cNvSpPr>
          <p:nvPr>
            <p:ph type="title"/>
          </p:nvPr>
        </p:nvSpPr>
        <p:spPr>
          <a:xfrm>
            <a:off x="913795" y="0"/>
            <a:ext cx="10353762" cy="530942"/>
          </a:xfrm>
        </p:spPr>
        <p:txBody>
          <a:bodyPr>
            <a:normAutofit fontScale="90000"/>
          </a:bodyPr>
          <a:lstStyle/>
          <a:p>
            <a:r>
              <a:rPr lang="en-US"/>
              <a:t>Amounts of Funding request</a:t>
            </a:r>
          </a:p>
        </p:txBody>
      </p:sp>
      <p:sp>
        <p:nvSpPr>
          <p:cNvPr id="3" name="Content Placeholder 2">
            <a:extLst>
              <a:ext uri="{FF2B5EF4-FFF2-40B4-BE49-F238E27FC236}">
                <a16:creationId xmlns:a16="http://schemas.microsoft.com/office/drawing/2014/main" id="{D1726BCA-1DA4-81E2-3DF2-D1E1CF687B83}"/>
              </a:ext>
            </a:extLst>
          </p:cNvPr>
          <p:cNvSpPr>
            <a:spLocks noGrp="1"/>
          </p:cNvSpPr>
          <p:nvPr>
            <p:ph idx="1"/>
          </p:nvPr>
        </p:nvSpPr>
        <p:spPr>
          <a:xfrm>
            <a:off x="108156" y="530942"/>
            <a:ext cx="11779044" cy="6056671"/>
          </a:xfrm>
        </p:spPr>
        <p:txBody>
          <a:bodyPr/>
          <a:lstStyle/>
          <a:p>
            <a:pPr algn="r" rtl="1"/>
            <a:r>
              <a:rPr lang="en-US" b="1">
                <a:solidFill>
                  <a:srgbClr val="FF0000"/>
                </a:solidFill>
                <a:effectLst/>
              </a:rPr>
              <a:t>Required_amount</a:t>
            </a:r>
            <a:r>
              <a:rPr lang="ar-EG" b="1">
                <a:solidFill>
                  <a:srgbClr val="FF0000"/>
                </a:solidFill>
                <a:effectLst/>
              </a:rPr>
              <a:t> </a:t>
            </a:r>
            <a:r>
              <a:rPr lang="ar-EG">
                <a:effectLst/>
              </a:rPr>
              <a:t>: المبلغ الذي كتبه العميل في "نموذج الطلب" بناءً على احتياجه الشخصي.</a:t>
            </a:r>
          </a:p>
          <a:p>
            <a:pPr algn="r" rtl="1"/>
            <a:r>
              <a:rPr lang="en-US" b="1">
                <a:solidFill>
                  <a:srgbClr val="FF0000"/>
                </a:solidFill>
                <a:effectLst/>
              </a:rPr>
              <a:t>Financing_amount</a:t>
            </a:r>
            <a:r>
              <a:rPr lang="ar-EG">
                <a:effectLst/>
              </a:rPr>
              <a:t> : قيمة التمويل بعد التعلية</a:t>
            </a:r>
          </a:p>
          <a:p>
            <a:pPr algn="r" rtl="1"/>
            <a:r>
              <a:rPr lang="en-US" b="1">
                <a:solidFill>
                  <a:srgbClr val="FF0000"/>
                </a:solidFill>
                <a:effectLst/>
              </a:rPr>
              <a:t>Actual_financing</a:t>
            </a:r>
            <a:r>
              <a:rPr lang="ar-EG" b="1">
                <a:solidFill>
                  <a:srgbClr val="FF0000"/>
                </a:solidFill>
                <a:effectLst/>
              </a:rPr>
              <a:t> </a:t>
            </a:r>
            <a:r>
              <a:rPr lang="ar-EG">
                <a:effectLst/>
              </a:rPr>
              <a:t>: المبلغ الصافى الذى خرج من الخزينة وذهب للعميل</a:t>
            </a:r>
            <a:endParaRPr lang="en-US">
              <a:effectLst/>
            </a:endParaRPr>
          </a:p>
          <a:p>
            <a:pPr algn="r" rtl="1"/>
            <a:r>
              <a:rPr lang="en-US" b="1">
                <a:solidFill>
                  <a:srgbClr val="FF0000"/>
                </a:solidFill>
              </a:rPr>
              <a:t>COM_RAT</a:t>
            </a:r>
            <a:r>
              <a:rPr lang="ar-EG"/>
              <a:t> : </a:t>
            </a:r>
            <a:r>
              <a:rPr lang="ar-EG">
                <a:effectLst/>
              </a:rPr>
              <a:t>عمولة المنح و</a:t>
            </a:r>
            <a:r>
              <a:rPr lang="ar-EG"/>
              <a:t>هي مبلغ مقطوع للمصاريف الادارية </a:t>
            </a:r>
            <a:endParaRPr lang="en-US">
              <a:effectLst/>
            </a:endParaRPr>
          </a:p>
          <a:p>
            <a:pPr algn="r" rtl="1"/>
            <a:r>
              <a:rPr lang="en-US" b="1">
                <a:solidFill>
                  <a:srgbClr val="FF0000"/>
                </a:solidFill>
                <a:effectLst/>
              </a:rPr>
              <a:t>DEBT_VALUE</a:t>
            </a:r>
            <a:r>
              <a:rPr lang="en-US">
                <a:effectLst/>
              </a:rPr>
              <a:t> </a:t>
            </a:r>
            <a:r>
              <a:rPr lang="ar-EG">
                <a:effectLst/>
              </a:rPr>
              <a:t>: قيمة المديونية (أصل القرض + الفوائد + عمولة المنح). وهي قيمة متناقصة تقل مع كل عملية سداد يقوم بها العميل.</a:t>
            </a:r>
            <a:endParaRPr lang="en-US">
              <a:effectLst/>
            </a:endParaRPr>
          </a:p>
          <a:p>
            <a:pPr algn="r" rtl="1"/>
            <a:r>
              <a:rPr lang="en-US" b="1">
                <a:solidFill>
                  <a:srgbClr val="FF0000"/>
                </a:solidFill>
                <a:effectLst/>
              </a:rPr>
              <a:t>APP_FEE</a:t>
            </a:r>
            <a:r>
              <a:rPr lang="ar-EG" b="1">
                <a:solidFill>
                  <a:srgbClr val="FF0000"/>
                </a:solidFill>
                <a:effectLst/>
              </a:rPr>
              <a:t> </a:t>
            </a:r>
            <a:r>
              <a:rPr lang="ar-EG">
                <a:effectLst/>
              </a:rPr>
              <a:t>: رسوم إدارية ثابتة تُدفع نقداً عند تقديم الورق، وغالباً لا تُسترد حتى لو رُفض الطلب</a:t>
            </a:r>
            <a:endParaRPr lang="ar-EG"/>
          </a:p>
          <a:p>
            <a:pPr algn="r" rtl="1"/>
            <a:r>
              <a:rPr lang="en-US"/>
              <a:t> </a:t>
            </a:r>
            <a:r>
              <a:rPr lang="en-US" b="1">
                <a:solidFill>
                  <a:srgbClr val="FF0000"/>
                </a:solidFill>
              </a:rPr>
              <a:t>PRIMIUM_VALUE </a:t>
            </a:r>
            <a:r>
              <a:rPr lang="ar-EG"/>
              <a:t>: مبلغ القسط </a:t>
            </a:r>
          </a:p>
          <a:p>
            <a:pPr algn="r" rtl="1"/>
            <a:r>
              <a:rPr lang="en-US" b="1">
                <a:solidFill>
                  <a:srgbClr val="FF0000"/>
                </a:solidFill>
              </a:rPr>
              <a:t>Rate</a:t>
            </a:r>
            <a:r>
              <a:rPr lang="ar-EG"/>
              <a:t> : سعر الفائدة الذي سيتم تطبيقه على مبلغ التمويل</a:t>
            </a:r>
          </a:p>
          <a:p>
            <a:pPr algn="r" rtl="1"/>
            <a:r>
              <a:rPr lang="en-US" b="1" err="1">
                <a:solidFill>
                  <a:srgbClr val="FF0000"/>
                </a:solidFill>
              </a:rPr>
              <a:t>Approve_Value</a:t>
            </a:r>
            <a:r>
              <a:rPr lang="ar-EG" b="1">
                <a:solidFill>
                  <a:srgbClr val="FF0000"/>
                </a:solidFill>
              </a:rPr>
              <a:t> </a:t>
            </a:r>
            <a:r>
              <a:rPr lang="ar-EG"/>
              <a:t>: </a:t>
            </a:r>
          </a:p>
          <a:p>
            <a:pPr algn="r" rtl="1"/>
            <a:r>
              <a:rPr lang="en-US"/>
              <a:t> </a:t>
            </a:r>
            <a:r>
              <a:rPr lang="en-US" b="1" err="1">
                <a:solidFill>
                  <a:srgbClr val="FF0000"/>
                </a:solidFill>
              </a:rPr>
              <a:t>Approved_Amount</a:t>
            </a:r>
            <a:r>
              <a:rPr lang="ar-EG"/>
              <a:t>: </a:t>
            </a:r>
          </a:p>
          <a:p>
            <a:pPr algn="r" rtl="1"/>
            <a:r>
              <a:rPr lang="en-US" b="1" err="1">
                <a:solidFill>
                  <a:srgbClr val="FF0000"/>
                </a:solidFill>
              </a:rPr>
              <a:t>Total_Amount</a:t>
            </a:r>
            <a:r>
              <a:rPr lang="ar-EG" b="1">
                <a:solidFill>
                  <a:srgbClr val="FF0000"/>
                </a:solidFill>
              </a:rPr>
              <a:t> </a:t>
            </a:r>
            <a:r>
              <a:rPr lang="ar-EG"/>
              <a:t>:</a:t>
            </a:r>
          </a:p>
          <a:p>
            <a:pPr algn="r" rtl="1"/>
            <a:r>
              <a:rPr lang="en-US" b="1" err="1">
                <a:solidFill>
                  <a:srgbClr val="FF0000"/>
                </a:solidFill>
              </a:rPr>
              <a:t>PenaltyAmount</a:t>
            </a:r>
            <a:r>
              <a:rPr lang="ar-EG"/>
              <a:t> : إجمالى الغرامات </a:t>
            </a:r>
          </a:p>
          <a:p>
            <a:pPr algn="r" rtl="1"/>
            <a:r>
              <a:rPr lang="ar-EG"/>
              <a:t>  </a:t>
            </a:r>
            <a:endParaRPr lang="en-US"/>
          </a:p>
        </p:txBody>
      </p:sp>
    </p:spTree>
    <p:extLst>
      <p:ext uri="{BB962C8B-B14F-4D97-AF65-F5344CB8AC3E}">
        <p14:creationId xmlns:p14="http://schemas.microsoft.com/office/powerpoint/2010/main" val="426384076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5A5E12-8432-92CF-A8BC-5AC20707DA1D}"/>
              </a:ext>
            </a:extLst>
          </p:cNvPr>
          <p:cNvSpPr>
            <a:spLocks noGrp="1"/>
          </p:cNvSpPr>
          <p:nvPr>
            <p:ph type="title"/>
          </p:nvPr>
        </p:nvSpPr>
        <p:spPr>
          <a:xfrm>
            <a:off x="913795" y="0"/>
            <a:ext cx="10353762" cy="511277"/>
          </a:xfrm>
        </p:spPr>
        <p:txBody>
          <a:bodyPr>
            <a:normAutofit fontScale="90000"/>
          </a:bodyPr>
          <a:lstStyle/>
          <a:p>
            <a:r>
              <a:rPr lang="en-US" sz="3600" b="1"/>
              <a:t>Jobs</a:t>
            </a:r>
          </a:p>
        </p:txBody>
      </p:sp>
      <p:sp>
        <p:nvSpPr>
          <p:cNvPr id="3" name="Content Placeholder 2">
            <a:extLst>
              <a:ext uri="{FF2B5EF4-FFF2-40B4-BE49-F238E27FC236}">
                <a16:creationId xmlns:a16="http://schemas.microsoft.com/office/drawing/2014/main" id="{36881377-3BA7-64BF-2C6C-7C38762A6F09}"/>
              </a:ext>
            </a:extLst>
          </p:cNvPr>
          <p:cNvSpPr>
            <a:spLocks noGrp="1"/>
          </p:cNvSpPr>
          <p:nvPr>
            <p:ph idx="1"/>
          </p:nvPr>
        </p:nvSpPr>
        <p:spPr>
          <a:xfrm>
            <a:off x="422787" y="511277"/>
            <a:ext cx="11444748" cy="6154994"/>
          </a:xfrm>
        </p:spPr>
        <p:txBody>
          <a:bodyPr/>
          <a:lstStyle/>
          <a:p>
            <a:endParaRPr lang="en-US"/>
          </a:p>
          <a:p>
            <a:endParaRPr lang="en-US"/>
          </a:p>
          <a:p>
            <a:endParaRPr lang="en-US"/>
          </a:p>
          <a:p>
            <a:endParaRPr lang="en-US"/>
          </a:p>
          <a:p>
            <a:endParaRPr lang="en-US"/>
          </a:p>
          <a:p>
            <a:endParaRPr lang="en-US"/>
          </a:p>
          <a:p>
            <a:r>
              <a:rPr lang="en-US"/>
              <a:t>Loan officer login: 10100 , P@ssw0rd </a:t>
            </a:r>
          </a:p>
          <a:p>
            <a:endParaRPr lang="en-US"/>
          </a:p>
        </p:txBody>
      </p:sp>
      <p:graphicFrame>
        <p:nvGraphicFramePr>
          <p:cNvPr id="4" name="Table 3">
            <a:extLst>
              <a:ext uri="{FF2B5EF4-FFF2-40B4-BE49-F238E27FC236}">
                <a16:creationId xmlns:a16="http://schemas.microsoft.com/office/drawing/2014/main" id="{0F150A59-3F97-6127-7928-0F075A6A3BF7}"/>
              </a:ext>
            </a:extLst>
          </p:cNvPr>
          <p:cNvGraphicFramePr>
            <a:graphicFrameLocks noGrp="1"/>
          </p:cNvGraphicFramePr>
          <p:nvPr>
            <p:extLst>
              <p:ext uri="{D42A27DB-BD31-4B8C-83A1-F6EECF244321}">
                <p14:modId xmlns:p14="http://schemas.microsoft.com/office/powerpoint/2010/main" val="978963200"/>
              </p:ext>
            </p:extLst>
          </p:nvPr>
        </p:nvGraphicFramePr>
        <p:xfrm>
          <a:off x="586658" y="1022554"/>
          <a:ext cx="8127999" cy="1854200"/>
        </p:xfrm>
        <a:graphic>
          <a:graphicData uri="http://schemas.openxmlformats.org/drawingml/2006/table">
            <a:tbl>
              <a:tblPr firstRow="1" bandRow="1">
                <a:tableStyleId>{5C22544A-7EE6-4342-B048-85BDC9FD1C3A}</a:tableStyleId>
              </a:tblPr>
              <a:tblGrid>
                <a:gridCol w="4329471">
                  <a:extLst>
                    <a:ext uri="{9D8B030D-6E8A-4147-A177-3AD203B41FA5}">
                      <a16:colId xmlns:a16="http://schemas.microsoft.com/office/drawing/2014/main" val="3086131423"/>
                    </a:ext>
                  </a:extLst>
                </a:gridCol>
                <a:gridCol w="2015613">
                  <a:extLst>
                    <a:ext uri="{9D8B030D-6E8A-4147-A177-3AD203B41FA5}">
                      <a16:colId xmlns:a16="http://schemas.microsoft.com/office/drawing/2014/main" val="317690790"/>
                    </a:ext>
                  </a:extLst>
                </a:gridCol>
                <a:gridCol w="1782915">
                  <a:extLst>
                    <a:ext uri="{9D8B030D-6E8A-4147-A177-3AD203B41FA5}">
                      <a16:colId xmlns:a16="http://schemas.microsoft.com/office/drawing/2014/main" val="3599473225"/>
                    </a:ext>
                  </a:extLst>
                </a:gridCol>
              </a:tblGrid>
              <a:tr h="370840">
                <a:tc>
                  <a:txBody>
                    <a:bodyPr/>
                    <a:lstStyle/>
                    <a:p>
                      <a:r>
                        <a:rPr lang="en-US" err="1"/>
                        <a:t>JobName</a:t>
                      </a:r>
                      <a:endParaRPr lang="en-US"/>
                    </a:p>
                  </a:txBody>
                  <a:tcPr/>
                </a:tc>
                <a:tc>
                  <a:txBody>
                    <a:bodyPr/>
                    <a:lstStyle/>
                    <a:p>
                      <a:r>
                        <a:rPr lang="en-US"/>
                        <a:t>Job Id</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a:t>Job Code</a:t>
                      </a:r>
                    </a:p>
                  </a:txBody>
                  <a:tcPr/>
                </a:tc>
                <a:extLst>
                  <a:ext uri="{0D108BD9-81ED-4DB2-BD59-A6C34878D82A}">
                    <a16:rowId xmlns:a16="http://schemas.microsoft.com/office/drawing/2014/main" val="59362486"/>
                  </a:ext>
                </a:extLst>
              </a:tr>
              <a:tr h="370840">
                <a:tc>
                  <a:txBody>
                    <a:bodyPr/>
                    <a:lstStyle/>
                    <a:p>
                      <a:r>
                        <a:rPr lang="en-US"/>
                        <a:t>Loan officer (LO) </a:t>
                      </a:r>
                      <a:r>
                        <a:rPr lang="ar-EG"/>
                        <a:t>مسؤول تمويل</a:t>
                      </a:r>
                      <a:endParaRPr lang="en-US"/>
                    </a:p>
                  </a:txBody>
                  <a:tcPr/>
                </a:tc>
                <a:tc>
                  <a:txBody>
                    <a:bodyPr/>
                    <a:lstStyle/>
                    <a:p>
                      <a:r>
                        <a:rPr lang="en-US"/>
                        <a:t>10</a:t>
                      </a:r>
                    </a:p>
                  </a:txBody>
                  <a:tcPr/>
                </a:tc>
                <a:tc>
                  <a:txBody>
                    <a:bodyPr/>
                    <a:lstStyle/>
                    <a:p>
                      <a:r>
                        <a:rPr lang="en-US"/>
                        <a:t>0</a:t>
                      </a:r>
                    </a:p>
                  </a:txBody>
                  <a:tcPr/>
                </a:tc>
                <a:extLst>
                  <a:ext uri="{0D108BD9-81ED-4DB2-BD59-A6C34878D82A}">
                    <a16:rowId xmlns:a16="http://schemas.microsoft.com/office/drawing/2014/main" val="2991341697"/>
                  </a:ext>
                </a:extLst>
              </a:tr>
              <a:tr h="370840">
                <a:tc>
                  <a:txBody>
                    <a:bodyPr/>
                    <a:lstStyle/>
                    <a:p>
                      <a:r>
                        <a:rPr lang="en-US"/>
                        <a:t>Branch Manager </a:t>
                      </a:r>
                      <a:r>
                        <a:rPr lang="ar-EG"/>
                        <a:t>مدير فرع</a:t>
                      </a:r>
                      <a:endParaRPr lang="en-US"/>
                    </a:p>
                  </a:txBody>
                  <a:tcPr/>
                </a:tc>
                <a:tc>
                  <a:txBody>
                    <a:bodyPr/>
                    <a:lstStyle/>
                    <a:p>
                      <a:r>
                        <a:rPr lang="en-US"/>
                        <a:t>13</a:t>
                      </a:r>
                    </a:p>
                  </a:txBody>
                  <a:tcPr/>
                </a:tc>
                <a:tc>
                  <a:txBody>
                    <a:bodyPr/>
                    <a:lstStyle/>
                    <a:p>
                      <a:r>
                        <a:rPr lang="en-US"/>
                        <a:t>3</a:t>
                      </a:r>
                    </a:p>
                  </a:txBody>
                  <a:tcPr/>
                </a:tc>
                <a:extLst>
                  <a:ext uri="{0D108BD9-81ED-4DB2-BD59-A6C34878D82A}">
                    <a16:rowId xmlns:a16="http://schemas.microsoft.com/office/drawing/2014/main" val="3437649632"/>
                  </a:ext>
                </a:extLst>
              </a:tr>
              <a:tr h="370840">
                <a:tc>
                  <a:txBody>
                    <a:bodyPr/>
                    <a:lstStyle/>
                    <a:p>
                      <a:r>
                        <a:rPr lang="en-US"/>
                        <a:t>Teller (money man) </a:t>
                      </a:r>
                      <a:r>
                        <a:rPr lang="ar-EG"/>
                        <a:t>صراف</a:t>
                      </a:r>
                      <a:endParaRPr lang="en-US"/>
                    </a:p>
                  </a:txBody>
                  <a:tcPr/>
                </a:tc>
                <a:tc>
                  <a:txBody>
                    <a:bodyPr/>
                    <a:lstStyle/>
                    <a:p>
                      <a:r>
                        <a:rPr lang="en-US"/>
                        <a:t>12</a:t>
                      </a:r>
                    </a:p>
                  </a:txBody>
                  <a:tcPr/>
                </a:tc>
                <a:tc>
                  <a:txBody>
                    <a:bodyPr/>
                    <a:lstStyle/>
                    <a:p>
                      <a:r>
                        <a:rPr lang="ar-EG"/>
                        <a:t>2</a:t>
                      </a:r>
                      <a:endParaRPr lang="en-US"/>
                    </a:p>
                  </a:txBody>
                  <a:tcPr/>
                </a:tc>
                <a:extLst>
                  <a:ext uri="{0D108BD9-81ED-4DB2-BD59-A6C34878D82A}">
                    <a16:rowId xmlns:a16="http://schemas.microsoft.com/office/drawing/2014/main" val="4123986371"/>
                  </a:ext>
                </a:extLst>
              </a:tr>
              <a:tr h="370840">
                <a:tc>
                  <a:txBody>
                    <a:bodyPr/>
                    <a:lstStyle/>
                    <a:p>
                      <a:r>
                        <a:rPr lang="en-US"/>
                        <a:t>CO</a:t>
                      </a:r>
                    </a:p>
                  </a:txBody>
                  <a:tcPr/>
                </a:tc>
                <a:tc>
                  <a:txBody>
                    <a:bodyPr/>
                    <a:lstStyle/>
                    <a:p>
                      <a:r>
                        <a:rPr lang="en-US"/>
                        <a:t>1</a:t>
                      </a:r>
                    </a:p>
                  </a:txBody>
                  <a:tcPr/>
                </a:tc>
                <a:tc>
                  <a:txBody>
                    <a:bodyPr/>
                    <a:lstStyle/>
                    <a:p>
                      <a:r>
                        <a:rPr lang="en-US"/>
                        <a:t>1</a:t>
                      </a:r>
                    </a:p>
                  </a:txBody>
                  <a:tcPr/>
                </a:tc>
                <a:extLst>
                  <a:ext uri="{0D108BD9-81ED-4DB2-BD59-A6C34878D82A}">
                    <a16:rowId xmlns:a16="http://schemas.microsoft.com/office/drawing/2014/main" val="1665867047"/>
                  </a:ext>
                </a:extLst>
              </a:tr>
            </a:tbl>
          </a:graphicData>
        </a:graphic>
      </p:graphicFrame>
    </p:spTree>
    <p:extLst>
      <p:ext uri="{BB962C8B-B14F-4D97-AF65-F5344CB8AC3E}">
        <p14:creationId xmlns:p14="http://schemas.microsoft.com/office/powerpoint/2010/main" val="77567510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479AA4-7A27-F7BB-18CC-807B27549E5F}"/>
              </a:ext>
            </a:extLst>
          </p:cNvPr>
          <p:cNvSpPr>
            <a:spLocks noGrp="1"/>
          </p:cNvSpPr>
          <p:nvPr>
            <p:ph type="title"/>
          </p:nvPr>
        </p:nvSpPr>
        <p:spPr>
          <a:xfrm>
            <a:off x="992453" y="0"/>
            <a:ext cx="10353762" cy="570271"/>
          </a:xfrm>
        </p:spPr>
        <p:txBody>
          <a:bodyPr>
            <a:normAutofit fontScale="90000"/>
          </a:bodyPr>
          <a:lstStyle/>
          <a:p>
            <a:r>
              <a:rPr lang="en-US" b="1">
                <a:solidFill>
                  <a:srgbClr val="00B0F0"/>
                </a:solidFill>
              </a:rPr>
              <a:t>TransactionVM</a:t>
            </a:r>
          </a:p>
        </p:txBody>
      </p:sp>
      <p:pic>
        <p:nvPicPr>
          <p:cNvPr id="5" name="Content Placeholder 4">
            <a:extLst>
              <a:ext uri="{FF2B5EF4-FFF2-40B4-BE49-F238E27FC236}">
                <a16:creationId xmlns:a16="http://schemas.microsoft.com/office/drawing/2014/main" id="{551D13E4-7622-8C7C-0DCB-AF259538F592}"/>
              </a:ext>
            </a:extLst>
          </p:cNvPr>
          <p:cNvPicPr>
            <a:picLocks noGrp="1" noChangeAspect="1"/>
          </p:cNvPicPr>
          <p:nvPr>
            <p:ph idx="1"/>
          </p:nvPr>
        </p:nvPicPr>
        <p:blipFill>
          <a:blip r:embed="rId2"/>
          <a:stretch>
            <a:fillRect/>
          </a:stretch>
        </p:blipFill>
        <p:spPr>
          <a:xfrm>
            <a:off x="167951" y="570271"/>
            <a:ext cx="3342165" cy="2003594"/>
          </a:xfrm>
          <a:prstGeom prst="rect">
            <a:avLst/>
          </a:prstGeom>
          <a:effectLst>
            <a:outerShdw blurRad="25400" dir="17880000">
              <a:srgbClr val="000000">
                <a:alpha val="46000"/>
              </a:srgbClr>
            </a:outerShdw>
          </a:effectLst>
        </p:spPr>
      </p:pic>
      <p:pic>
        <p:nvPicPr>
          <p:cNvPr id="7" name="Picture 6">
            <a:extLst>
              <a:ext uri="{FF2B5EF4-FFF2-40B4-BE49-F238E27FC236}">
                <a16:creationId xmlns:a16="http://schemas.microsoft.com/office/drawing/2014/main" id="{B2000730-5033-72F2-C16F-B5D5DFF5876B}"/>
              </a:ext>
            </a:extLst>
          </p:cNvPr>
          <p:cNvPicPr>
            <a:picLocks noChangeAspect="1"/>
          </p:cNvPicPr>
          <p:nvPr/>
        </p:nvPicPr>
        <p:blipFill>
          <a:blip r:embed="rId3"/>
          <a:stretch>
            <a:fillRect/>
          </a:stretch>
        </p:blipFill>
        <p:spPr>
          <a:xfrm>
            <a:off x="167950" y="2682469"/>
            <a:ext cx="6055263" cy="3605260"/>
          </a:xfrm>
          <a:prstGeom prst="rect">
            <a:avLst/>
          </a:prstGeom>
        </p:spPr>
      </p:pic>
    </p:spTree>
    <p:extLst>
      <p:ext uri="{BB962C8B-B14F-4D97-AF65-F5344CB8AC3E}">
        <p14:creationId xmlns:p14="http://schemas.microsoft.com/office/powerpoint/2010/main" val="4049467895"/>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1E26FB-A5E8-3CCA-EA68-AC697347FD56}"/>
              </a:ext>
            </a:extLst>
          </p:cNvPr>
          <p:cNvSpPr>
            <a:spLocks noGrp="1"/>
          </p:cNvSpPr>
          <p:nvPr>
            <p:ph type="title"/>
          </p:nvPr>
        </p:nvSpPr>
        <p:spPr>
          <a:xfrm>
            <a:off x="835137" y="0"/>
            <a:ext cx="10353762" cy="970450"/>
          </a:xfrm>
        </p:spPr>
        <p:txBody>
          <a:bodyPr/>
          <a:lstStyle/>
          <a:p>
            <a:r>
              <a:rPr lang="en-US"/>
              <a:t>LoginVM</a:t>
            </a:r>
          </a:p>
        </p:txBody>
      </p:sp>
      <p:sp>
        <p:nvSpPr>
          <p:cNvPr id="3" name="Content Placeholder 2">
            <a:extLst>
              <a:ext uri="{FF2B5EF4-FFF2-40B4-BE49-F238E27FC236}">
                <a16:creationId xmlns:a16="http://schemas.microsoft.com/office/drawing/2014/main" id="{B5F1CE3E-8FBA-4720-E027-74C182BEE6B6}"/>
              </a:ext>
            </a:extLst>
          </p:cNvPr>
          <p:cNvSpPr>
            <a:spLocks noGrp="1"/>
          </p:cNvSpPr>
          <p:nvPr>
            <p:ph idx="1"/>
          </p:nvPr>
        </p:nvSpPr>
        <p:spPr>
          <a:xfrm>
            <a:off x="324464" y="970450"/>
            <a:ext cx="11631561" cy="5794143"/>
          </a:xfrm>
        </p:spPr>
        <p:txBody>
          <a:bodyPr>
            <a:normAutofit/>
          </a:bodyPr>
          <a:lstStyle/>
          <a:p>
            <a:r>
              <a:rPr lang="en-US" sz="1600">
                <a:effectLst/>
              </a:rPr>
              <a:t>UserId</a:t>
            </a:r>
          </a:p>
          <a:p>
            <a:r>
              <a:rPr lang="en-US" sz="1600">
                <a:effectLst/>
              </a:rPr>
              <a:t>UserNameAR</a:t>
            </a:r>
          </a:p>
          <a:p>
            <a:r>
              <a:rPr lang="en-US" sz="1600">
                <a:effectLst/>
              </a:rPr>
              <a:t>UserNameEng</a:t>
            </a:r>
          </a:p>
          <a:p>
            <a:r>
              <a:rPr lang="en-US" sz="1600">
                <a:effectLst/>
              </a:rPr>
              <a:t>BranchNameAR</a:t>
            </a:r>
          </a:p>
          <a:p>
            <a:r>
              <a:rPr lang="en-US" sz="1600">
                <a:effectLst/>
              </a:rPr>
              <a:t>BranchNameEN</a:t>
            </a:r>
          </a:p>
          <a:p>
            <a:r>
              <a:rPr lang="en-US" sz="1600">
                <a:effectLst/>
              </a:rPr>
              <a:t>JobNameAR</a:t>
            </a:r>
          </a:p>
          <a:p>
            <a:r>
              <a:rPr lang="en-US" sz="1600">
                <a:effectLst/>
              </a:rPr>
              <a:t>BranchId</a:t>
            </a:r>
          </a:p>
          <a:p>
            <a:r>
              <a:rPr lang="en-US" sz="1600">
                <a:effectLst/>
              </a:rPr>
              <a:t>RegionId</a:t>
            </a:r>
          </a:p>
          <a:p>
            <a:r>
              <a:rPr lang="en-US" sz="1600">
                <a:effectLst/>
              </a:rPr>
              <a:t>Branch_code</a:t>
            </a:r>
          </a:p>
          <a:p>
            <a:r>
              <a:rPr lang="en-US" sz="1600">
                <a:effectLst/>
              </a:rPr>
              <a:t>ComId</a:t>
            </a:r>
          </a:p>
          <a:p>
            <a:r>
              <a:rPr lang="en-US" sz="1600">
                <a:effectLst/>
              </a:rPr>
              <a:t>JobId</a:t>
            </a:r>
          </a:p>
          <a:p>
            <a:r>
              <a:rPr lang="en-US" sz="1600">
                <a:effectLst/>
              </a:rPr>
              <a:t>JobCode</a:t>
            </a:r>
          </a:p>
          <a:p>
            <a:r>
              <a:rPr lang="en-US" sz="1600">
                <a:effectLst/>
              </a:rPr>
              <a:t>UserCode</a:t>
            </a:r>
          </a:p>
          <a:p>
            <a:r>
              <a:rPr lang="en-US" sz="1600">
                <a:effectLst/>
              </a:rPr>
              <a:t>Numberofmonthsofappointment</a:t>
            </a:r>
          </a:p>
          <a:p>
            <a:endParaRPr lang="en-US" sz="1600">
              <a:effectLst/>
            </a:endParaRPr>
          </a:p>
          <a:p>
            <a:endParaRPr lang="en-US" sz="1600">
              <a:effectLst/>
            </a:endParaRPr>
          </a:p>
        </p:txBody>
      </p:sp>
    </p:spTree>
    <p:extLst>
      <p:ext uri="{BB962C8B-B14F-4D97-AF65-F5344CB8AC3E}">
        <p14:creationId xmlns:p14="http://schemas.microsoft.com/office/powerpoint/2010/main" val="3033957200"/>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Slate">
  <a:themeElements>
    <a:clrScheme name="Slate">
      <a:dk1>
        <a:sysClr val="windowText" lastClr="000000"/>
      </a:dk1>
      <a:lt1>
        <a:sysClr val="window" lastClr="FFFFFF"/>
      </a:lt1>
      <a:dk2>
        <a:srgbClr val="212123"/>
      </a:dk2>
      <a:lt2>
        <a:srgbClr val="DADADA"/>
      </a:lt2>
      <a:accent1>
        <a:srgbClr val="BC451B"/>
      </a:accent1>
      <a:accent2>
        <a:srgbClr val="D3BA68"/>
      </a:accent2>
      <a:accent3>
        <a:srgbClr val="BB8640"/>
      </a:accent3>
      <a:accent4>
        <a:srgbClr val="AD9277"/>
      </a:accent4>
      <a:accent5>
        <a:srgbClr val="A55A43"/>
      </a:accent5>
      <a:accent6>
        <a:srgbClr val="AD9D7B"/>
      </a:accent6>
      <a:hlink>
        <a:srgbClr val="E98052"/>
      </a:hlink>
      <a:folHlink>
        <a:srgbClr val="F4B69B"/>
      </a:folHlink>
    </a:clrScheme>
    <a:fontScheme name="Slate">
      <a:majorFont>
        <a:latin typeface="Calisto MT"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Calisto MT"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late">
      <a:fillStyleLst>
        <a:solidFill>
          <a:schemeClr val="phClr"/>
        </a:solidFill>
        <a:gradFill rotWithShape="1">
          <a:gsLst>
            <a:gs pos="0">
              <a:schemeClr val="phClr">
                <a:tint val="60000"/>
                <a:lumMod val="110000"/>
              </a:schemeClr>
            </a:gs>
            <a:gs pos="100000">
              <a:schemeClr val="phClr">
                <a:tint val="88000"/>
              </a:schemeClr>
            </a:gs>
          </a:gsLst>
          <a:lin ang="5400000" scaled="0"/>
        </a:gradFill>
        <a:gradFill rotWithShape="1">
          <a:gsLst>
            <a:gs pos="0">
              <a:schemeClr val="phClr">
                <a:tint val="96000"/>
                <a:lumMod val="104000"/>
              </a:schemeClr>
            </a:gs>
            <a:gs pos="100000">
              <a:schemeClr val="phClr">
                <a:shade val="90000"/>
                <a:lumMod val="90000"/>
              </a:schemeClr>
            </a:gs>
          </a:gsLst>
          <a:lin ang="5400000" scaled="0"/>
        </a:gradFill>
      </a:fillStyleLst>
      <a:lnStyleLst>
        <a:ln w="9525" cap="rnd" cmpd="sng" algn="ctr">
          <a:solidFill>
            <a:schemeClr val="phClr">
              <a:shade val="90000"/>
            </a:schemeClr>
          </a:solidFill>
          <a:prstDash val="solid"/>
        </a:ln>
        <a:ln w="1587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63500" dist="25400" dir="5400000" rotWithShape="0">
              <a:srgbClr val="000000">
                <a:alpha val="60000"/>
              </a:srgbClr>
            </a:outerShdw>
          </a:effectLst>
        </a:effectStyle>
        <a:effectStyle>
          <a:effectLst>
            <a:outerShdw blurRad="76200" dist="38100" dir="5400000" rotWithShape="0">
              <a:srgbClr val="000000">
                <a:alpha val="75000"/>
              </a:srgbClr>
            </a:outerShdw>
          </a:effectLst>
          <a:scene3d>
            <a:camera prst="orthographicFront">
              <a:rot lat="0" lon="0" rev="0"/>
            </a:camera>
            <a:lightRig rig="threePt" dir="t">
              <a:rot lat="0" lon="0" rev="1200000"/>
            </a:lightRig>
          </a:scene3d>
          <a:sp3d>
            <a:bevelT w="63500" h="25400" prst="hardEdge"/>
          </a:sp3d>
        </a:effectStyle>
      </a:effectStyleLst>
      <a:bgFillStyleLst>
        <a:solidFill>
          <a:schemeClr val="phClr"/>
        </a:solidFill>
        <a:solidFill>
          <a:schemeClr val="phClr"/>
        </a:solidFill>
        <a:blipFill rotWithShape="1">
          <a:blip xmlns:r="http://schemas.openxmlformats.org/officeDocument/2006/relationships" r:embed="rId1">
            <a:duotone>
              <a:schemeClr val="phClr">
                <a:shade val="80000"/>
                <a:lumMod val="80000"/>
              </a:schemeClr>
              <a:schemeClr val="phClr">
                <a:tint val="98000"/>
              </a:schemeClr>
            </a:duotone>
          </a:blip>
          <a:stretch/>
        </a:blipFill>
      </a:bgFillStyleLst>
    </a:fmtScheme>
  </a:themeElements>
  <a:objectDefaults/>
  <a:extraClrSchemeLst/>
  <a:extLst>
    <a:ext uri="{05A4C25C-085E-4340-85A3-A5531E510DB2}">
      <thm15:themeFamily xmlns:thm15="http://schemas.microsoft.com/office/thememl/2012/main" name="Slate" id="{C3F70B94-7CE9-428E-ADC1-3269CC2C3385}" vid="{3F2DE9A5-64E6-437C-A389-CC4477E817E8}"/>
    </a:ext>
  </a:extLst>
</a:theme>
</file>

<file path=docProps/app.xml><?xml version="1.0" encoding="utf-8"?>
<Properties xmlns="http://schemas.openxmlformats.org/officeDocument/2006/extended-properties" xmlns:vt="http://schemas.openxmlformats.org/officeDocument/2006/docPropsVTypes">
  <Template>Slate</Template>
  <TotalTime>8617</TotalTime>
  <Words>2437</Words>
  <Application>Microsoft Office PowerPoint</Application>
  <PresentationFormat>Widescreen</PresentationFormat>
  <Paragraphs>328</Paragraphs>
  <Slides>47</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47</vt:i4>
      </vt:variant>
    </vt:vector>
  </HeadingPairs>
  <TitlesOfParts>
    <vt:vector size="53" baseType="lpstr">
      <vt:lpstr>Arial</vt:lpstr>
      <vt:lpstr>Calisto MT</vt:lpstr>
      <vt:lpstr>Tahoma</vt:lpstr>
      <vt:lpstr>Wingdings</vt:lpstr>
      <vt:lpstr>Wingdings 2</vt:lpstr>
      <vt:lpstr>Slate</vt:lpstr>
      <vt:lpstr>Apps Business </vt:lpstr>
      <vt:lpstr>شركات التأمين الخاصة بالتمويل</vt:lpstr>
      <vt:lpstr>أنواع التأمين الخاص بالتمويل ؟</vt:lpstr>
      <vt:lpstr>الحالات التأمينية</vt:lpstr>
      <vt:lpstr>أسباب رفض التعويض</vt:lpstr>
      <vt:lpstr>تعاقد شركة التأمين</vt:lpstr>
      <vt:lpstr>MICRO, Core, Master</vt:lpstr>
      <vt:lpstr>Micro, Master, Core Flow Steps</vt:lpstr>
      <vt:lpstr>إدخال طلب (Funding Request)</vt:lpstr>
      <vt:lpstr>طلب تمويل تجديد</vt:lpstr>
      <vt:lpstr>مراجعة أولية</vt:lpstr>
      <vt:lpstr>زيارة ميدانية</vt:lpstr>
      <vt:lpstr>التحليل الائتماني</vt:lpstr>
      <vt:lpstr>تحميل المستندات</vt:lpstr>
      <vt:lpstr>المراجعة المركزية</vt:lpstr>
      <vt:lpstr>الصرف</vt:lpstr>
      <vt:lpstr>Branch at Common</vt:lpstr>
      <vt:lpstr>Region at </vt:lpstr>
      <vt:lpstr>Governorate at common</vt:lpstr>
      <vt:lpstr>Original_Region entity at common</vt:lpstr>
      <vt:lpstr>Flow_Branch_Type Entity</vt:lpstr>
      <vt:lpstr>Trans_GPS_Tracking</vt:lpstr>
      <vt:lpstr>TWF.Flow_Funding_request [cont.]</vt:lpstr>
      <vt:lpstr>TWF.Flow_Funding_request [cont.]</vt:lpstr>
      <vt:lpstr>TWF.Flow_Funding_request [cont.]</vt:lpstr>
      <vt:lpstr>Funding_request entity at FlowChart.Transaction [cont.]</vt:lpstr>
      <vt:lpstr>TWF.Flow_Funding_request [cont.]</vt:lpstr>
      <vt:lpstr>SWF.Flow Status</vt:lpstr>
      <vt:lpstr>Company entity</vt:lpstr>
      <vt:lpstr>Acc_Chart_Account entity</vt:lpstr>
      <vt:lpstr>TWT.Flow_Products</vt:lpstr>
      <vt:lpstr>Flow_repayment_cycle entity</vt:lpstr>
      <vt:lpstr>TWF.Flow_GeneralSettings</vt:lpstr>
      <vt:lpstr>SWF.Flow_Relationships</vt:lpstr>
      <vt:lpstr>SWF.Flow_Purpose_loan</vt:lpstr>
      <vt:lpstr>SWF.Flow_Customers_jobs</vt:lpstr>
      <vt:lpstr>SWF.Flow_districts</vt:lpstr>
      <vt:lpstr>SWF.Flow_Sections</vt:lpstr>
      <vt:lpstr>SWF.Flow_Identity_Expiry</vt:lpstr>
      <vt:lpstr>Security.SEC_Group</vt:lpstr>
      <vt:lpstr>Security.SEC_Menu</vt:lpstr>
      <vt:lpstr>TWF.Flow_ISCORE_Data</vt:lpstr>
      <vt:lpstr>BranchGovernRegion VM</vt:lpstr>
      <vt:lpstr>Amounts of Funding request</vt:lpstr>
      <vt:lpstr>Jobs</vt:lpstr>
      <vt:lpstr>TransactionVM</vt:lpstr>
      <vt:lpstr>LoginVM</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احمد محمد سمير</dc:creator>
  <cp:lastModifiedBy>IT Department</cp:lastModifiedBy>
  <cp:revision>255</cp:revision>
  <dcterms:created xsi:type="dcterms:W3CDTF">2026-02-01T18:13:26Z</dcterms:created>
  <dcterms:modified xsi:type="dcterms:W3CDTF">2026-02-19T11:42:29Z</dcterms:modified>
</cp:coreProperties>
</file>