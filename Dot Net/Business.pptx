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3" r:id="rId8"/>
    <p:sldId id="262" r:id="rId9"/>
    <p:sldId id="264" r:id="rId10"/>
    <p:sldId id="277" r:id="rId11"/>
    <p:sldId id="265" r:id="rId12"/>
    <p:sldId id="266" r:id="rId13"/>
    <p:sldId id="267" r:id="rId14"/>
    <p:sldId id="269" r:id="rId15"/>
    <p:sldId id="268" r:id="rId16"/>
    <p:sldId id="270" r:id="rId17"/>
    <p:sldId id="272" r:id="rId18"/>
    <p:sldId id="273" r:id="rId19"/>
    <p:sldId id="274" r:id="rId20"/>
    <p:sldId id="278" r:id="rId21"/>
    <p:sldId id="271" r:id="rId22"/>
    <p:sldId id="304" r:id="rId23"/>
    <p:sldId id="306" r:id="rId24"/>
    <p:sldId id="292" r:id="rId25"/>
    <p:sldId id="279" r:id="rId26"/>
    <p:sldId id="305" r:id="rId27"/>
    <p:sldId id="280" r:id="rId28"/>
    <p:sldId id="318" r:id="rId29"/>
    <p:sldId id="285" r:id="rId30"/>
    <p:sldId id="286" r:id="rId31"/>
    <p:sldId id="287" r:id="rId32"/>
    <p:sldId id="323" r:id="rId33"/>
    <p:sldId id="281" r:id="rId34"/>
    <p:sldId id="313" r:id="rId35"/>
    <p:sldId id="315" r:id="rId36"/>
    <p:sldId id="322" r:id="rId37"/>
    <p:sldId id="326" r:id="rId38"/>
    <p:sldId id="327" r:id="rId39"/>
    <p:sldId id="316" r:id="rId40"/>
    <p:sldId id="325" r:id="rId41"/>
    <p:sldId id="328" r:id="rId42"/>
    <p:sldId id="329" r:id="rId43"/>
    <p:sldId id="334" r:id="rId44"/>
    <p:sldId id="331" r:id="rId45"/>
    <p:sldId id="330" r:id="rId46"/>
    <p:sldId id="324" r:id="rId47"/>
    <p:sldId id="314" r:id="rId48"/>
    <p:sldId id="283" r:id="rId49"/>
    <p:sldId id="307" r:id="rId50"/>
    <p:sldId id="308" r:id="rId51"/>
    <p:sldId id="309" r:id="rId52"/>
    <p:sldId id="310" r:id="rId53"/>
    <p:sldId id="311" r:id="rId54"/>
    <p:sldId id="312" r:id="rId55"/>
    <p:sldId id="288" r:id="rId56"/>
    <p:sldId id="282" r:id="rId57"/>
    <p:sldId id="293" r:id="rId58"/>
    <p:sldId id="294" r:id="rId59"/>
    <p:sldId id="296" r:id="rId60"/>
    <p:sldId id="297" r:id="rId61"/>
    <p:sldId id="299" r:id="rId62"/>
    <p:sldId id="298" r:id="rId63"/>
    <p:sldId id="300" r:id="rId64"/>
    <p:sldId id="301" r:id="rId65"/>
    <p:sldId id="319" r:id="rId66"/>
    <p:sldId id="303" r:id="rId67"/>
    <p:sldId id="338" r:id="rId68"/>
    <p:sldId id="339" r:id="rId69"/>
    <p:sldId id="276" r:id="rId70"/>
    <p:sldId id="289" r:id="rId71"/>
    <p:sldId id="290" r:id="rId72"/>
    <p:sldId id="321" r:id="rId73"/>
    <p:sldId id="333" r:id="rId74"/>
    <p:sldId id="332" r:id="rId75"/>
    <p:sldId id="320" r:id="rId76"/>
    <p:sldId id="335" r:id="rId77"/>
    <p:sldId id="340" r:id="rId78"/>
    <p:sldId id="336" r:id="rId79"/>
    <p:sldId id="337" r:id="rId80"/>
    <p:sldId id="295" r:id="rId81"/>
    <p:sldId id="302" r:id="rId8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9" d="100"/>
          <a:sy n="79" d="100"/>
        </p:scale>
        <p:origin x="821"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slide" Target="slides/slide8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93938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6452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44FA5D-EF1D-489D-8D8F-1FF7B7B6D702}" type="datetimeFigureOut">
              <a:rPr lang="en-US" smtClean="0"/>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49630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44FA5D-EF1D-489D-8D8F-1FF7B7B6D702}" type="datetimeFigureOut">
              <a:rPr lang="en-US" smtClean="0"/>
              <a:t>3/3/2026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49481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44FA5D-EF1D-489D-8D8F-1FF7B7B6D702}" type="datetimeFigureOut">
              <a:rPr lang="en-US" smtClean="0"/>
              <a:t>3/3/2026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658179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44FA5D-EF1D-489D-8D8F-1FF7B7B6D702}" type="datetimeFigureOut">
              <a:rPr lang="en-US" smtClean="0"/>
              <a:t>3/3/2026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6115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44FA5D-EF1D-489D-8D8F-1FF7B7B6D702}" type="datetimeFigureOut">
              <a:rPr lang="en-US" smtClean="0"/>
              <a:t>3/3/2026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42891343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390454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872041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45924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0265234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Tree>
    <p:extLst>
      <p:ext uri="{BB962C8B-B14F-4D97-AF65-F5344CB8AC3E}">
        <p14:creationId xmlns:p14="http://schemas.microsoft.com/office/powerpoint/2010/main" val="11380170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13771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3/3/2026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9396637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3/3/2026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8607423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305320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442241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C744FA5D-EF1D-489D-8D8F-1FF7B7B6D702}" type="datetimeFigureOut">
              <a:rPr lang="en-US" smtClean="0"/>
              <a:t>3/3/2026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E98E705E-6DF9-4328-B377-5AB614CB69E7}" type="slidenum">
              <a:rPr lang="en-US" smtClean="0"/>
              <a:t>‹#›</a:t>
            </a:fld>
            <a:endParaRPr lang="en-US"/>
          </a:p>
        </p:txBody>
      </p:sp>
    </p:spTree>
    <p:extLst>
      <p:ext uri="{BB962C8B-B14F-4D97-AF65-F5344CB8AC3E}">
        <p14:creationId xmlns:p14="http://schemas.microsoft.com/office/powerpoint/2010/main" val="284156418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4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5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D839B-EB92-2791-93AA-8C045F8A0743}"/>
              </a:ext>
            </a:extLst>
          </p:cNvPr>
          <p:cNvSpPr>
            <a:spLocks noGrp="1"/>
          </p:cNvSpPr>
          <p:nvPr>
            <p:ph type="ctrTitle"/>
          </p:nvPr>
        </p:nvSpPr>
        <p:spPr/>
        <p:txBody>
          <a:bodyPr/>
          <a:lstStyle/>
          <a:p>
            <a:r>
              <a:rPr lang="en-US"/>
              <a:t>Apps Business </a:t>
            </a:r>
          </a:p>
        </p:txBody>
      </p:sp>
      <p:sp>
        <p:nvSpPr>
          <p:cNvPr id="3" name="Subtitle 2">
            <a:extLst>
              <a:ext uri="{FF2B5EF4-FFF2-40B4-BE49-F238E27FC236}">
                <a16:creationId xmlns:a16="http://schemas.microsoft.com/office/drawing/2014/main" id="{E6FF182E-6C62-3F43-8E29-C22EA2C57AED}"/>
              </a:ext>
            </a:extLst>
          </p:cNvPr>
          <p:cNvSpPr>
            <a:spLocks noGrp="1"/>
          </p:cNvSpPr>
          <p:nvPr>
            <p:ph type="subTitle" idx="1"/>
          </p:nvPr>
        </p:nvSpPr>
        <p:spPr/>
        <p:txBody>
          <a:bodyPr/>
          <a:lstStyle/>
          <a:p>
            <a:r>
              <a:rPr lang="en-US"/>
              <a:t>By. Ahmed Mohamed Samir</a:t>
            </a:r>
          </a:p>
        </p:txBody>
      </p:sp>
    </p:spTree>
    <p:extLst>
      <p:ext uri="{BB962C8B-B14F-4D97-AF65-F5344CB8AC3E}">
        <p14:creationId xmlns:p14="http://schemas.microsoft.com/office/powerpoint/2010/main" val="14224522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7C9B9-6FEF-99E1-ADEE-4F163D131BF0}"/>
              </a:ext>
            </a:extLst>
          </p:cNvPr>
          <p:cNvSpPr>
            <a:spLocks noGrp="1"/>
          </p:cNvSpPr>
          <p:nvPr>
            <p:ph type="title"/>
          </p:nvPr>
        </p:nvSpPr>
        <p:spPr>
          <a:xfrm>
            <a:off x="562708" y="0"/>
            <a:ext cx="11354637" cy="572756"/>
          </a:xfrm>
        </p:spPr>
        <p:txBody>
          <a:bodyPr>
            <a:normAutofit fontScale="90000"/>
          </a:bodyPr>
          <a:lstStyle/>
          <a:p>
            <a:r>
              <a:rPr lang="ar-EG"/>
              <a:t>شركات التأمين الخاصة بالتمويل</a:t>
            </a:r>
            <a:endParaRPr lang="en-US"/>
          </a:p>
        </p:txBody>
      </p:sp>
      <p:sp>
        <p:nvSpPr>
          <p:cNvPr id="3" name="Content Placeholder 2">
            <a:extLst>
              <a:ext uri="{FF2B5EF4-FFF2-40B4-BE49-F238E27FC236}">
                <a16:creationId xmlns:a16="http://schemas.microsoft.com/office/drawing/2014/main" id="{7682971A-3D16-5220-46BF-928E73646358}"/>
              </a:ext>
            </a:extLst>
          </p:cNvPr>
          <p:cNvSpPr>
            <a:spLocks noGrp="1"/>
          </p:cNvSpPr>
          <p:nvPr>
            <p:ph idx="1"/>
          </p:nvPr>
        </p:nvSpPr>
        <p:spPr>
          <a:xfrm>
            <a:off x="562708" y="572756"/>
            <a:ext cx="11354637" cy="5868237"/>
          </a:xfrm>
        </p:spPr>
        <p:txBody>
          <a:bodyPr>
            <a:normAutofit/>
          </a:bodyPr>
          <a:lstStyle/>
          <a:p>
            <a:pPr algn="r" rtl="1"/>
            <a:r>
              <a:rPr lang="ar-EG" sz="2400"/>
              <a:t>هي شركة تؤمن الجهة الممولة. على سبيل المثال عميل أخذ تمويل 200 ألف وتوفى قبل إكمال السداد شركة التأمين تسدد باقي المديونية للبنك او الجهة الممولة</a:t>
            </a:r>
          </a:p>
          <a:p>
            <a:pPr algn="r" rtl="1"/>
            <a:r>
              <a:rPr lang="ar-EG" sz="2400"/>
              <a:t>سم شركة التأمين </a:t>
            </a:r>
          </a:p>
          <a:p>
            <a:pPr algn="r" rtl="1"/>
            <a:r>
              <a:rPr lang="ar-EG" sz="2400"/>
              <a:t>كود اسم شركة التأمين </a:t>
            </a:r>
            <a:r>
              <a:rPr lang="en-US" sz="2400"/>
              <a:t>( id )</a:t>
            </a:r>
          </a:p>
          <a:p>
            <a:pPr algn="r" rtl="1"/>
            <a:endParaRPr lang="en-US" sz="2400"/>
          </a:p>
        </p:txBody>
      </p:sp>
    </p:spTree>
    <p:extLst>
      <p:ext uri="{BB962C8B-B14F-4D97-AF65-F5344CB8AC3E}">
        <p14:creationId xmlns:p14="http://schemas.microsoft.com/office/powerpoint/2010/main" val="20289523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E3C45-32EC-25C4-D465-E0956D5A3C19}"/>
              </a:ext>
            </a:extLst>
          </p:cNvPr>
          <p:cNvSpPr>
            <a:spLocks noGrp="1"/>
          </p:cNvSpPr>
          <p:nvPr>
            <p:ph type="title"/>
          </p:nvPr>
        </p:nvSpPr>
        <p:spPr>
          <a:xfrm>
            <a:off x="913795" y="0"/>
            <a:ext cx="10353762" cy="572756"/>
          </a:xfrm>
        </p:spPr>
        <p:txBody>
          <a:bodyPr>
            <a:normAutofit fontScale="90000"/>
          </a:bodyPr>
          <a:lstStyle/>
          <a:p>
            <a:r>
              <a:rPr lang="ar-EG"/>
              <a:t>أنواع التأمين الخاص بالتمويل ؟</a:t>
            </a:r>
            <a:endParaRPr lang="en-US"/>
          </a:p>
        </p:txBody>
      </p:sp>
      <p:sp>
        <p:nvSpPr>
          <p:cNvPr id="3" name="Content Placeholder 2">
            <a:extLst>
              <a:ext uri="{FF2B5EF4-FFF2-40B4-BE49-F238E27FC236}">
                <a16:creationId xmlns:a16="http://schemas.microsoft.com/office/drawing/2014/main" id="{8FE415B1-BF77-D949-69B3-D484616548EB}"/>
              </a:ext>
            </a:extLst>
          </p:cNvPr>
          <p:cNvSpPr>
            <a:spLocks noGrp="1"/>
          </p:cNvSpPr>
          <p:nvPr>
            <p:ph idx="1"/>
          </p:nvPr>
        </p:nvSpPr>
        <p:spPr>
          <a:xfrm>
            <a:off x="432078" y="572756"/>
            <a:ext cx="11495315" cy="5998865"/>
          </a:xfrm>
        </p:spPr>
        <p:txBody>
          <a:bodyPr>
            <a:normAutofit/>
          </a:bodyPr>
          <a:lstStyle/>
          <a:p>
            <a:pPr algn="r" rtl="1"/>
            <a:r>
              <a:rPr lang="ar-EG" sz="2400"/>
              <a:t>أنا مأمَّن على إيه؟</a:t>
            </a:r>
          </a:p>
          <a:p>
            <a:pPr algn="r" rtl="1"/>
            <a:r>
              <a:rPr lang="ar-EG" sz="2400"/>
              <a:t>تأمين حياة المقترض (الوفاة)</a:t>
            </a:r>
          </a:p>
          <a:p>
            <a:pPr algn="r" rtl="1"/>
            <a:r>
              <a:rPr lang="ar-EG" sz="2400"/>
              <a:t>تأمين فقدان الوظيفة </a:t>
            </a:r>
          </a:p>
          <a:p>
            <a:pPr algn="r" rtl="1"/>
            <a:r>
              <a:rPr lang="ar-EG" sz="2400"/>
              <a:t>تأمين على الإفلاس</a:t>
            </a:r>
          </a:p>
          <a:p>
            <a:pPr algn="r" rtl="1"/>
            <a:r>
              <a:rPr lang="ar-EG" sz="2400"/>
              <a:t>تأمين على العجز الكلى العجز الكلي</a:t>
            </a:r>
          </a:p>
          <a:p>
            <a:pPr algn="r" rtl="1"/>
            <a:r>
              <a:rPr lang="ar-EG" sz="2400"/>
              <a:t>تأمين على الأصل الممول: ده تأمين على </a:t>
            </a:r>
            <a:r>
              <a:rPr lang="ar-EG" sz="2400" b="1"/>
              <a:t>الشيء نفسه</a:t>
            </a:r>
            <a:r>
              <a:rPr lang="ar-EG" sz="2400"/>
              <a:t> اللي </a:t>
            </a:r>
            <a:r>
              <a:rPr lang="ar-EG" sz="2400" err="1"/>
              <a:t>اتاخد</a:t>
            </a:r>
            <a:r>
              <a:rPr lang="ar-EG" sz="2400"/>
              <a:t> بالقرض </a:t>
            </a:r>
            <a:r>
              <a:rPr lang="ar-EG" sz="2400" err="1"/>
              <a:t>زى</a:t>
            </a:r>
            <a:r>
              <a:rPr lang="ar-EG" sz="2400"/>
              <a:t> عربية او عقار</a:t>
            </a:r>
          </a:p>
          <a:p>
            <a:pPr algn="r" rtl="1"/>
            <a:endParaRPr lang="ar-EG" sz="2200"/>
          </a:p>
          <a:p>
            <a:pPr algn="r" rtl="1"/>
            <a:endParaRPr lang="ar-EG" sz="2400"/>
          </a:p>
          <a:p>
            <a:pPr algn="r" rtl="1"/>
            <a:endParaRPr lang="en-US" sz="2400"/>
          </a:p>
        </p:txBody>
      </p:sp>
    </p:spTree>
    <p:extLst>
      <p:ext uri="{BB962C8B-B14F-4D97-AF65-F5344CB8AC3E}">
        <p14:creationId xmlns:p14="http://schemas.microsoft.com/office/powerpoint/2010/main" val="9700226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A4DF9-1B2D-E67C-75CB-4083CB67056A}"/>
              </a:ext>
            </a:extLst>
          </p:cNvPr>
          <p:cNvSpPr>
            <a:spLocks noGrp="1"/>
          </p:cNvSpPr>
          <p:nvPr>
            <p:ph type="title"/>
          </p:nvPr>
        </p:nvSpPr>
        <p:spPr>
          <a:xfrm>
            <a:off x="913795" y="0"/>
            <a:ext cx="10353762" cy="683288"/>
          </a:xfrm>
        </p:spPr>
        <p:txBody>
          <a:bodyPr>
            <a:normAutofit fontScale="90000"/>
          </a:bodyPr>
          <a:lstStyle/>
          <a:p>
            <a:r>
              <a:rPr lang="ar-EG"/>
              <a:t>الحالات التأمينية</a:t>
            </a:r>
            <a:endParaRPr lang="en-US"/>
          </a:p>
        </p:txBody>
      </p:sp>
      <p:sp>
        <p:nvSpPr>
          <p:cNvPr id="3" name="Content Placeholder 2">
            <a:extLst>
              <a:ext uri="{FF2B5EF4-FFF2-40B4-BE49-F238E27FC236}">
                <a16:creationId xmlns:a16="http://schemas.microsoft.com/office/drawing/2014/main" id="{7F5E244B-8CD2-92B2-34F6-C797313F6FED}"/>
              </a:ext>
            </a:extLst>
          </p:cNvPr>
          <p:cNvSpPr>
            <a:spLocks noGrp="1"/>
          </p:cNvSpPr>
          <p:nvPr>
            <p:ph idx="1"/>
          </p:nvPr>
        </p:nvSpPr>
        <p:spPr>
          <a:xfrm>
            <a:off x="502418" y="683289"/>
            <a:ext cx="11234057" cy="5908430"/>
          </a:xfrm>
        </p:spPr>
        <p:txBody>
          <a:bodyPr>
            <a:normAutofit/>
          </a:bodyPr>
          <a:lstStyle/>
          <a:p>
            <a:pPr algn="r" rtl="1"/>
            <a:r>
              <a:rPr lang="ar-EG" sz="2200" b="1"/>
              <a:t>الظروف أو الأحداث التي إذا وقعت تلتزم شركة التأمين بدفع التعويض</a:t>
            </a:r>
          </a:p>
          <a:p>
            <a:pPr lvl="1" algn="r" rtl="1"/>
            <a:r>
              <a:rPr lang="ar-EG" sz="2000" b="1"/>
              <a:t>العجز الكلي الدائم</a:t>
            </a:r>
          </a:p>
          <a:p>
            <a:pPr lvl="1" algn="r" rtl="1"/>
            <a:r>
              <a:rPr lang="ar-EG" sz="2000" b="1"/>
              <a:t>الوفاة</a:t>
            </a:r>
          </a:p>
          <a:p>
            <a:pPr algn="r" rtl="1"/>
            <a:endParaRPr lang="ar-EG" sz="2200" b="1"/>
          </a:p>
          <a:p>
            <a:pPr algn="r" rtl="1"/>
            <a:endParaRPr lang="en-US" sz="2200"/>
          </a:p>
        </p:txBody>
      </p:sp>
    </p:spTree>
    <p:extLst>
      <p:ext uri="{BB962C8B-B14F-4D97-AF65-F5344CB8AC3E}">
        <p14:creationId xmlns:p14="http://schemas.microsoft.com/office/powerpoint/2010/main" val="29447230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4B52F-F493-6B97-BC7B-F952CDD29BAD}"/>
              </a:ext>
            </a:extLst>
          </p:cNvPr>
          <p:cNvSpPr>
            <a:spLocks noGrp="1"/>
          </p:cNvSpPr>
          <p:nvPr>
            <p:ph type="title"/>
          </p:nvPr>
        </p:nvSpPr>
        <p:spPr>
          <a:xfrm>
            <a:off x="994181" y="0"/>
            <a:ext cx="10353762" cy="970450"/>
          </a:xfrm>
        </p:spPr>
        <p:txBody>
          <a:bodyPr/>
          <a:lstStyle/>
          <a:p>
            <a:r>
              <a:rPr lang="ar-EG" b="1"/>
              <a:t>أسباب رفض التعويض</a:t>
            </a:r>
            <a:endParaRPr lang="en-US" b="1"/>
          </a:p>
        </p:txBody>
      </p:sp>
      <p:sp>
        <p:nvSpPr>
          <p:cNvPr id="3" name="Content Placeholder 2">
            <a:extLst>
              <a:ext uri="{FF2B5EF4-FFF2-40B4-BE49-F238E27FC236}">
                <a16:creationId xmlns:a16="http://schemas.microsoft.com/office/drawing/2014/main" id="{82504D8E-18F3-0C74-3A33-DB2B972296A3}"/>
              </a:ext>
            </a:extLst>
          </p:cNvPr>
          <p:cNvSpPr>
            <a:spLocks noGrp="1"/>
          </p:cNvSpPr>
          <p:nvPr>
            <p:ph idx="1"/>
          </p:nvPr>
        </p:nvSpPr>
        <p:spPr>
          <a:xfrm>
            <a:off x="411982" y="970450"/>
            <a:ext cx="11445073" cy="5480591"/>
          </a:xfrm>
        </p:spPr>
        <p:txBody>
          <a:bodyPr>
            <a:normAutofit/>
          </a:bodyPr>
          <a:lstStyle/>
          <a:p>
            <a:pPr algn="r" rtl="1"/>
            <a:r>
              <a:rPr lang="ar-EG" sz="2400" b="1"/>
              <a:t>التعويض: المبلغ الذي تدفعه شركة التأمين للجهة الممولة عند وقوع الخطر المؤمن عليه، لتعويض الضرر أو فقدان القيمة المالية.</a:t>
            </a:r>
          </a:p>
          <a:p>
            <a:pPr algn="r" rtl="1"/>
            <a:r>
              <a:rPr lang="ar-EG" sz="2400"/>
              <a:t>أسباب رفض التعويض في سياق التمويلات</a:t>
            </a:r>
          </a:p>
          <a:p>
            <a:pPr lvl="1" algn="r" rtl="1"/>
            <a:r>
              <a:rPr lang="ar-EG" sz="2400"/>
              <a:t>العميل متعثر لفترة طويلة بدون مبرر</a:t>
            </a:r>
          </a:p>
          <a:p>
            <a:pPr lvl="1" algn="r" rtl="1"/>
            <a:r>
              <a:rPr lang="ar-EG" sz="2400"/>
              <a:t>التمويل استُخدم في غير الغرض المحدد</a:t>
            </a:r>
            <a:endParaRPr lang="ar-EG" sz="2400" b="1"/>
          </a:p>
          <a:p>
            <a:pPr lvl="1" algn="r" rtl="1"/>
            <a:r>
              <a:rPr lang="ar-EG" sz="2400"/>
              <a:t>الخطر غير مغطى.</a:t>
            </a:r>
          </a:p>
          <a:p>
            <a:pPr lvl="1" algn="r" rtl="1"/>
            <a:endParaRPr lang="ar-EG" sz="2200" b="1"/>
          </a:p>
          <a:p>
            <a:pPr algn="r" rtl="1"/>
            <a:endParaRPr lang="en-US" sz="2400" b="1"/>
          </a:p>
        </p:txBody>
      </p:sp>
      <p:sp>
        <p:nvSpPr>
          <p:cNvPr id="5" name="Rectangle 2">
            <a:extLst>
              <a:ext uri="{FF2B5EF4-FFF2-40B4-BE49-F238E27FC236}">
                <a16:creationId xmlns:a16="http://schemas.microsoft.com/office/drawing/2014/main" id="{717B3722-EFB7-D3A5-8392-3979C38BB9E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ar-SA" altLang="en-US" sz="1800" b="0" i="0" u="none" strike="noStrike" cap="none" normalizeH="0" baseline="0">
                <a:ln>
                  <a:noFill/>
                </a:ln>
                <a:solidFill>
                  <a:schemeClr val="tx1"/>
                </a:solidFill>
                <a:effectLst/>
                <a:latin typeface="Arial" panose="020B0604020202020204" pitchFamily="34" charset="0"/>
                <a:cs typeface="Arial" panose="020B0604020202020204" pitchFamily="34" charset="0"/>
              </a:rPr>
              <a:t>العميل متعثر لفترة طويلة بدون مبرر</a:t>
            </a:r>
            <a:endParaRPr kumimoji="0" lang="en-US" altLang="en-US" sz="18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922294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99586-123B-35C4-B8FF-2970C1724B5D}"/>
              </a:ext>
            </a:extLst>
          </p:cNvPr>
          <p:cNvSpPr>
            <a:spLocks noGrp="1"/>
          </p:cNvSpPr>
          <p:nvPr>
            <p:ph type="title"/>
          </p:nvPr>
        </p:nvSpPr>
        <p:spPr>
          <a:xfrm>
            <a:off x="919119" y="0"/>
            <a:ext cx="10353762" cy="576105"/>
          </a:xfrm>
        </p:spPr>
        <p:txBody>
          <a:bodyPr>
            <a:normAutofit fontScale="90000"/>
          </a:bodyPr>
          <a:lstStyle/>
          <a:p>
            <a:r>
              <a:rPr lang="ar-EG" b="1"/>
              <a:t>تعاقد شركة التأمين</a:t>
            </a:r>
            <a:endParaRPr lang="en-US" b="1"/>
          </a:p>
        </p:txBody>
      </p:sp>
      <p:sp>
        <p:nvSpPr>
          <p:cNvPr id="3" name="Content Placeholder 2">
            <a:extLst>
              <a:ext uri="{FF2B5EF4-FFF2-40B4-BE49-F238E27FC236}">
                <a16:creationId xmlns:a16="http://schemas.microsoft.com/office/drawing/2014/main" id="{A8392B0D-AEBC-424B-06BC-C31E1A8449C7}"/>
              </a:ext>
            </a:extLst>
          </p:cNvPr>
          <p:cNvSpPr>
            <a:spLocks noGrp="1"/>
          </p:cNvSpPr>
          <p:nvPr>
            <p:ph idx="1"/>
          </p:nvPr>
        </p:nvSpPr>
        <p:spPr>
          <a:xfrm>
            <a:off x="90121" y="576104"/>
            <a:ext cx="11847321" cy="6281895"/>
          </a:xfrm>
        </p:spPr>
        <p:txBody>
          <a:bodyPr/>
          <a:lstStyle/>
          <a:p>
            <a:pPr algn="r" rtl="1"/>
            <a:r>
              <a:rPr lang="ar-EG" b="1"/>
              <a:t>نوع التأمين</a:t>
            </a:r>
          </a:p>
          <a:p>
            <a:pPr algn="r" rtl="1"/>
            <a:r>
              <a:rPr lang="ar-EG" b="1"/>
              <a:t>اسم شركة التأمين</a:t>
            </a:r>
          </a:p>
          <a:p>
            <a:pPr algn="r" rtl="1"/>
            <a:r>
              <a:rPr lang="ar-EG" b="1"/>
              <a:t>تاريخ بداية التعاقد</a:t>
            </a:r>
          </a:p>
          <a:p>
            <a:pPr algn="r" rtl="1"/>
            <a:r>
              <a:rPr lang="ar-EG" b="1"/>
              <a:t>تاريخ نهاية التعاقد</a:t>
            </a:r>
          </a:p>
          <a:p>
            <a:pPr algn="r" rtl="1"/>
            <a:r>
              <a:rPr lang="ar-EG" b="1"/>
              <a:t>أقصى مبلغ للتأمين : الحد الأقصى الذي تلتزم به شركة التأمين بدفعه للمستفيد عند وقوع الخطر المؤمن عليه.</a:t>
            </a:r>
          </a:p>
          <a:p>
            <a:pPr algn="r" rtl="1"/>
            <a:r>
              <a:rPr lang="ar-EG" b="1"/>
              <a:t>الحد الأدنى للقسط التأميني ؟ أقل مبلغ يجب دفعه للحصول على التغطية التأمينية، حتى لو كانت قيمة القرض أو الأصل صغيرة.</a:t>
            </a:r>
          </a:p>
          <a:p>
            <a:pPr algn="r" rtl="1"/>
            <a:r>
              <a:rPr lang="ar-EG" b="1"/>
              <a:t>الجزء المحمل من الشركة فقط (</a:t>
            </a:r>
            <a:r>
              <a:rPr lang="ar-EG"/>
              <a:t>شركة التمويل</a:t>
            </a:r>
            <a:r>
              <a:rPr lang="ar-EG" b="1"/>
              <a:t>) : القسط التأميني في نسبة التحمل </a:t>
            </a:r>
            <a:r>
              <a:rPr lang="ar-EG"/>
              <a:t>للشركة الممولة</a:t>
            </a:r>
            <a:endParaRPr lang="ar-EG" b="1"/>
          </a:p>
          <a:p>
            <a:pPr algn="r" rtl="1"/>
            <a:r>
              <a:rPr lang="ar-EG" b="1"/>
              <a:t>نسبة تحمل شركة التأمين </a:t>
            </a:r>
            <a:r>
              <a:rPr lang="en-US" b="1"/>
              <a:t>:</a:t>
            </a:r>
          </a:p>
          <a:p>
            <a:pPr algn="r" rtl="1"/>
            <a:r>
              <a:rPr lang="ar-EG" b="1"/>
              <a:t>مثال بحالة خسارة 50000</a:t>
            </a:r>
          </a:p>
          <a:p>
            <a:pPr algn="r" rtl="1"/>
            <a:endParaRPr lang="ar-EG" b="1"/>
          </a:p>
          <a:p>
            <a:pPr algn="r" rtl="1"/>
            <a:endParaRPr lang="ar-EG"/>
          </a:p>
          <a:p>
            <a:pPr algn="r" rtl="1"/>
            <a:endParaRPr lang="ar-EG"/>
          </a:p>
          <a:p>
            <a:pPr algn="r" rtl="1"/>
            <a:endParaRPr lang="en-US" b="1"/>
          </a:p>
        </p:txBody>
      </p:sp>
      <p:pic>
        <p:nvPicPr>
          <p:cNvPr id="6" name="Picture 5">
            <a:extLst>
              <a:ext uri="{FF2B5EF4-FFF2-40B4-BE49-F238E27FC236}">
                <a16:creationId xmlns:a16="http://schemas.microsoft.com/office/drawing/2014/main" id="{4AFFD04F-2578-AD8E-8AB3-C3C036D8A43C}"/>
              </a:ext>
            </a:extLst>
          </p:cNvPr>
          <p:cNvPicPr>
            <a:picLocks noChangeAspect="1"/>
          </p:cNvPicPr>
          <p:nvPr/>
        </p:nvPicPr>
        <p:blipFill>
          <a:blip r:embed="rId2"/>
          <a:stretch>
            <a:fillRect/>
          </a:stretch>
        </p:blipFill>
        <p:spPr>
          <a:xfrm>
            <a:off x="90121" y="3883029"/>
            <a:ext cx="7215031" cy="2866815"/>
          </a:xfrm>
          <a:prstGeom prst="rect">
            <a:avLst/>
          </a:prstGeom>
        </p:spPr>
      </p:pic>
    </p:spTree>
    <p:extLst>
      <p:ext uri="{BB962C8B-B14F-4D97-AF65-F5344CB8AC3E}">
        <p14:creationId xmlns:p14="http://schemas.microsoft.com/office/powerpoint/2010/main" val="18884397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6BFB9-CD17-9F48-9D2D-CDB2C527E941}"/>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MICRO, Core, Master</a:t>
            </a:r>
          </a:p>
        </p:txBody>
      </p:sp>
    </p:spTree>
    <p:extLst>
      <p:ext uri="{BB962C8B-B14F-4D97-AF65-F5344CB8AC3E}">
        <p14:creationId xmlns:p14="http://schemas.microsoft.com/office/powerpoint/2010/main" val="10292300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3EBA-13F1-0001-D2A2-41EE1A618A96}"/>
              </a:ext>
            </a:extLst>
          </p:cNvPr>
          <p:cNvSpPr>
            <a:spLocks noGrp="1"/>
          </p:cNvSpPr>
          <p:nvPr>
            <p:ph type="title"/>
          </p:nvPr>
        </p:nvSpPr>
        <p:spPr>
          <a:xfrm>
            <a:off x="913795" y="0"/>
            <a:ext cx="10353762" cy="619432"/>
          </a:xfrm>
        </p:spPr>
        <p:txBody>
          <a:bodyPr>
            <a:normAutofit fontScale="90000"/>
          </a:bodyPr>
          <a:lstStyle/>
          <a:p>
            <a:r>
              <a:rPr lang="en-US" b="1">
                <a:solidFill>
                  <a:srgbClr val="FF0000"/>
                </a:solidFill>
              </a:rPr>
              <a:t>Micro, Master, Core Flow Steps</a:t>
            </a:r>
          </a:p>
        </p:txBody>
      </p:sp>
      <p:sp>
        <p:nvSpPr>
          <p:cNvPr id="3" name="Content Placeholder 2">
            <a:extLst>
              <a:ext uri="{FF2B5EF4-FFF2-40B4-BE49-F238E27FC236}">
                <a16:creationId xmlns:a16="http://schemas.microsoft.com/office/drawing/2014/main" id="{62A0C5F3-D5BE-7FF0-05F1-97D23484FB8C}"/>
              </a:ext>
            </a:extLst>
          </p:cNvPr>
          <p:cNvSpPr>
            <a:spLocks noGrp="1"/>
          </p:cNvSpPr>
          <p:nvPr>
            <p:ph idx="1"/>
          </p:nvPr>
        </p:nvSpPr>
        <p:spPr>
          <a:xfrm>
            <a:off x="334296" y="737419"/>
            <a:ext cx="11552903" cy="5978014"/>
          </a:xfrm>
        </p:spPr>
        <p:txBody>
          <a:bodyPr>
            <a:normAutofit/>
          </a:bodyPr>
          <a:lstStyle/>
          <a:p>
            <a:pPr marL="494100" indent="-457200" algn="r" rtl="1">
              <a:buFont typeface="+mj-lt"/>
              <a:buAutoNum type="arabicPeriod"/>
            </a:pPr>
            <a:r>
              <a:rPr lang="ar-EG" sz="2200" b="1">
                <a:solidFill>
                  <a:srgbClr val="FF0000"/>
                </a:solidFill>
              </a:rPr>
              <a:t>إدخال طلب</a:t>
            </a:r>
          </a:p>
          <a:p>
            <a:pPr marL="871200" lvl="1" indent="-457200" algn="r" rtl="1"/>
            <a:r>
              <a:rPr lang="en-US" b="1"/>
              <a:t>Operator: loan officer ()</a:t>
            </a:r>
            <a:endParaRPr lang="ar-EG" b="1"/>
          </a:p>
          <a:p>
            <a:pPr marL="494100" indent="-457200" algn="r" rtl="1">
              <a:buFont typeface="+mj-lt"/>
              <a:buAutoNum type="arabicPeriod"/>
            </a:pPr>
            <a:r>
              <a:rPr lang="ar-EG" sz="2200" b="1">
                <a:solidFill>
                  <a:srgbClr val="FF0000"/>
                </a:solidFill>
              </a:rPr>
              <a:t>مراجعة أولية</a:t>
            </a:r>
            <a:endParaRPr lang="en-US" sz="2200" b="1">
              <a:solidFill>
                <a:srgbClr val="FF0000"/>
              </a:solidFill>
            </a:endParaRPr>
          </a:p>
          <a:p>
            <a:pPr marL="871200" lvl="1" indent="-457200" algn="r" rtl="1"/>
            <a:r>
              <a:rPr lang="en-US" b="1"/>
              <a:t>Operator: CO</a:t>
            </a:r>
            <a:endParaRPr lang="ar-EG" b="1"/>
          </a:p>
          <a:p>
            <a:pPr marL="494100" indent="-457200" algn="r" rtl="1">
              <a:buFont typeface="+mj-lt"/>
              <a:buAutoNum type="arabicPeriod"/>
            </a:pPr>
            <a:r>
              <a:rPr lang="ar-EG" sz="2200" b="1">
                <a:solidFill>
                  <a:srgbClr val="FF0000"/>
                </a:solidFill>
              </a:rPr>
              <a:t>زيارة ميدانية</a:t>
            </a:r>
            <a:endParaRPr lang="en-US" sz="2200" b="1">
              <a:solidFill>
                <a:srgbClr val="FF0000"/>
              </a:solidFill>
            </a:endParaRPr>
          </a:p>
          <a:p>
            <a:pPr marL="871200" lvl="1" indent="-457200" algn="r" rtl="1"/>
            <a:r>
              <a:rPr lang="en-US" b="1"/>
              <a:t>Operator: CO</a:t>
            </a:r>
            <a:endParaRPr lang="ar-EG" b="1"/>
          </a:p>
          <a:p>
            <a:pPr marL="494100" indent="-457200" algn="r" rtl="1">
              <a:buFont typeface="+mj-lt"/>
              <a:buAutoNum type="arabicPeriod"/>
            </a:pPr>
            <a:r>
              <a:rPr lang="ar-EG" sz="2200" b="1">
                <a:solidFill>
                  <a:srgbClr val="FF0000"/>
                </a:solidFill>
              </a:rPr>
              <a:t>تحليل الائتمانى</a:t>
            </a:r>
            <a:endParaRPr lang="en-US" sz="2200" b="1">
              <a:solidFill>
                <a:srgbClr val="FF0000"/>
              </a:solidFill>
            </a:endParaRPr>
          </a:p>
          <a:p>
            <a:pPr marL="871200" lvl="1" indent="-457200" algn="r" rtl="1"/>
            <a:r>
              <a:rPr lang="en-US" b="1"/>
              <a:t>Operator: CO</a:t>
            </a:r>
          </a:p>
          <a:p>
            <a:pPr marL="494100" indent="-457200" algn="r" rtl="1">
              <a:buFont typeface="+mj-lt"/>
              <a:buAutoNum type="arabicPeriod"/>
            </a:pPr>
            <a:r>
              <a:rPr lang="ar-EG" sz="2200" b="1">
                <a:solidFill>
                  <a:srgbClr val="FF0000"/>
                </a:solidFill>
              </a:rPr>
              <a:t>تحميل المستندات</a:t>
            </a:r>
            <a:endParaRPr lang="en-US" sz="2200" b="1">
              <a:solidFill>
                <a:srgbClr val="FF0000"/>
              </a:solidFill>
            </a:endParaRPr>
          </a:p>
          <a:p>
            <a:pPr marL="871200" lvl="1" indent="-457200" algn="r" rtl="1"/>
            <a:r>
              <a:rPr lang="en-US" b="1"/>
              <a:t>Operator: Branch Manager</a:t>
            </a:r>
            <a:endParaRPr lang="ar-EG" b="1"/>
          </a:p>
          <a:p>
            <a:pPr marL="494100" indent="-457200" algn="r" rtl="1">
              <a:buFont typeface="+mj-lt"/>
              <a:buAutoNum type="arabicPeriod"/>
            </a:pPr>
            <a:r>
              <a:rPr lang="ar-EG" sz="2200" b="1">
                <a:solidFill>
                  <a:srgbClr val="FF0000"/>
                </a:solidFill>
              </a:rPr>
              <a:t>المراجعة المركزية</a:t>
            </a:r>
            <a:endParaRPr lang="en-US" sz="2200" b="1">
              <a:solidFill>
                <a:srgbClr val="FF0000"/>
              </a:solidFill>
            </a:endParaRPr>
          </a:p>
          <a:p>
            <a:pPr marL="871200" lvl="1" indent="-457200" algn="r" rtl="1"/>
            <a:r>
              <a:rPr lang="en-US" b="1"/>
              <a:t>Operator: Credit</a:t>
            </a:r>
            <a:endParaRPr lang="ar-EG" b="1"/>
          </a:p>
          <a:p>
            <a:pPr marL="494100" indent="-457200" algn="r" rtl="1">
              <a:buFont typeface="+mj-lt"/>
              <a:buAutoNum type="arabicPeriod"/>
            </a:pPr>
            <a:r>
              <a:rPr lang="ar-EG" sz="2200" b="1">
                <a:solidFill>
                  <a:srgbClr val="FF0000"/>
                </a:solidFill>
              </a:rPr>
              <a:t>الصرف</a:t>
            </a:r>
          </a:p>
        </p:txBody>
      </p:sp>
    </p:spTree>
    <p:extLst>
      <p:ext uri="{BB962C8B-B14F-4D97-AF65-F5344CB8AC3E}">
        <p14:creationId xmlns:p14="http://schemas.microsoft.com/office/powerpoint/2010/main" val="25915819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66689A-AF67-DBC5-65AC-34D515217C60}"/>
              </a:ext>
            </a:extLst>
          </p:cNvPr>
          <p:cNvSpPr>
            <a:spLocks noGrp="1"/>
          </p:cNvSpPr>
          <p:nvPr>
            <p:ph type="title"/>
          </p:nvPr>
        </p:nvSpPr>
        <p:spPr>
          <a:xfrm>
            <a:off x="1012118" y="0"/>
            <a:ext cx="10353762" cy="383458"/>
          </a:xfrm>
        </p:spPr>
        <p:txBody>
          <a:bodyPr>
            <a:noAutofit/>
          </a:bodyPr>
          <a:lstStyle/>
          <a:p>
            <a:r>
              <a:rPr lang="ar-EG" sz="3200" b="1">
                <a:solidFill>
                  <a:srgbClr val="FF0000"/>
                </a:solidFill>
              </a:rPr>
              <a:t>إدخال طلب</a:t>
            </a:r>
            <a:r>
              <a:rPr lang="en-US" sz="3200" b="1">
                <a:solidFill>
                  <a:srgbClr val="FF0000"/>
                </a:solidFill>
              </a:rPr>
              <a:t> (Funding Request)</a:t>
            </a:r>
          </a:p>
        </p:txBody>
      </p:sp>
      <p:sp>
        <p:nvSpPr>
          <p:cNvPr id="3" name="Content Placeholder 2">
            <a:extLst>
              <a:ext uri="{FF2B5EF4-FFF2-40B4-BE49-F238E27FC236}">
                <a16:creationId xmlns:a16="http://schemas.microsoft.com/office/drawing/2014/main" id="{4391F90C-EE0A-D684-B8D5-359DE45E4FA0}"/>
              </a:ext>
            </a:extLst>
          </p:cNvPr>
          <p:cNvSpPr>
            <a:spLocks noGrp="1"/>
          </p:cNvSpPr>
          <p:nvPr>
            <p:ph idx="1"/>
          </p:nvPr>
        </p:nvSpPr>
        <p:spPr>
          <a:xfrm>
            <a:off x="334297" y="511276"/>
            <a:ext cx="11592232" cy="6346723"/>
          </a:xfrm>
        </p:spPr>
        <p:txBody>
          <a:bodyPr/>
          <a:lstStyle/>
          <a:p>
            <a:pPr algn="r" rtl="1"/>
            <a:r>
              <a:rPr lang="ar-EG"/>
              <a:t>نوع التمويل: </a:t>
            </a:r>
            <a:r>
              <a:rPr lang="ar-EG">
                <a:effectLst/>
              </a:rPr>
              <a:t>(مثل تمويل شخصي، تمويل عقاري، أو تمويل مشروعات صغيرة)</a:t>
            </a:r>
          </a:p>
          <a:p>
            <a:pPr algn="r" rtl="1"/>
            <a:r>
              <a:rPr lang="ar-EG">
                <a:effectLst/>
              </a:rPr>
              <a:t>الحالة: </a:t>
            </a:r>
            <a:r>
              <a:rPr lang="ar-EG" b="1">
                <a:effectLst/>
              </a:rPr>
              <a:t>(جديد/تجديد) </a:t>
            </a:r>
            <a:r>
              <a:rPr lang="ar-EG">
                <a:effectLst/>
              </a:rPr>
              <a:t>تُحدد ما إذا كان العميل يتقدم بطلب </a:t>
            </a:r>
            <a:r>
              <a:rPr lang="ar-EG" b="1">
                <a:effectLst/>
              </a:rPr>
              <a:t>لأول مرة</a:t>
            </a:r>
            <a:r>
              <a:rPr lang="ar-EG">
                <a:effectLst/>
              </a:rPr>
              <a:t> (جديد) أو يطلب </a:t>
            </a:r>
            <a:r>
              <a:rPr lang="ar-EG" b="1">
                <a:effectLst/>
              </a:rPr>
              <a:t>إعادة تمويل</a:t>
            </a:r>
            <a:r>
              <a:rPr lang="ar-EG">
                <a:effectLst/>
              </a:rPr>
              <a:t> أو تجديد لقرض قائم بالفعل</a:t>
            </a:r>
          </a:p>
          <a:p>
            <a:pPr algn="r" rtl="1"/>
            <a:r>
              <a:rPr lang="ar-EG" b="1">
                <a:effectLst/>
              </a:rPr>
              <a:t>إسم العميل:</a:t>
            </a:r>
            <a:r>
              <a:rPr lang="ar-EG">
                <a:effectLst/>
              </a:rPr>
              <a:t> الاسم الكامل لمقدم الطلب كما هو مسجل في الأوراق الرسمية</a:t>
            </a:r>
          </a:p>
          <a:p>
            <a:pPr algn="r" rtl="1"/>
            <a:r>
              <a:rPr lang="ar-EG" b="1">
                <a:effectLst/>
              </a:rPr>
              <a:t>المنشأة:</a:t>
            </a:r>
            <a:r>
              <a:rPr lang="ar-EG">
                <a:effectLst/>
              </a:rPr>
              <a:t> تشير إلى </a:t>
            </a:r>
            <a:r>
              <a:rPr lang="ar-EG" b="1">
                <a:effectLst/>
              </a:rPr>
              <a:t>جهة العمل</a:t>
            </a:r>
            <a:r>
              <a:rPr lang="ar-EG">
                <a:effectLst/>
              </a:rPr>
              <a:t> التي يعمل بها العميل أو اسم </a:t>
            </a:r>
            <a:r>
              <a:rPr lang="ar-EG" b="1">
                <a:effectLst/>
              </a:rPr>
              <a:t>المشروع/الشركة</a:t>
            </a:r>
            <a:r>
              <a:rPr lang="ar-EG">
                <a:effectLst/>
              </a:rPr>
              <a:t> التي يمتلكها ويرغب في تمويلها.</a:t>
            </a:r>
          </a:p>
          <a:p>
            <a:pPr algn="r" rtl="1"/>
            <a:r>
              <a:rPr lang="ar-EG" b="1">
                <a:effectLst/>
              </a:rPr>
              <a:t>إسم الضامن:</a:t>
            </a:r>
            <a:r>
              <a:rPr lang="ar-EG">
                <a:effectLst/>
              </a:rPr>
              <a:t> الشخص الذي يتعهد بسداد القرض في حال تعثر العميل الأساسي.</a:t>
            </a:r>
          </a:p>
          <a:p>
            <a:pPr algn="r" rtl="1"/>
            <a:r>
              <a:rPr lang="ar-EG" b="1">
                <a:effectLst/>
              </a:rPr>
              <a:t>الرقم القومي للضامن:</a:t>
            </a:r>
            <a:r>
              <a:rPr lang="ar-EG">
                <a:effectLst/>
              </a:rPr>
              <a:t> بيانات الهوية الخاصة بالضامن للتحقق من أهليته القانونية والائتمانية.</a:t>
            </a:r>
          </a:p>
          <a:p>
            <a:pPr algn="r" rtl="1"/>
            <a:r>
              <a:rPr lang="ar-EG" b="1">
                <a:effectLst/>
              </a:rPr>
              <a:t>صلة العميل بالضامن:</a:t>
            </a:r>
            <a:r>
              <a:rPr lang="ar-EG">
                <a:effectLst/>
              </a:rPr>
              <a:t> طبيعة العلاقة بينهما (مثل: درجة أولى، صديق، زميل عمل) لتقييم مدى قوة الضمانة</a:t>
            </a:r>
          </a:p>
          <a:p>
            <a:pPr algn="r" rtl="1"/>
            <a:r>
              <a:rPr lang="ar-EG" b="1">
                <a:solidFill>
                  <a:srgbClr val="FFFF00"/>
                </a:solidFill>
                <a:effectLst/>
              </a:rPr>
              <a:t>المبلغ المطلوب</a:t>
            </a:r>
            <a:r>
              <a:rPr lang="ar-EG" b="1">
                <a:effectLst/>
              </a:rPr>
              <a:t>:</a:t>
            </a:r>
            <a:r>
              <a:rPr lang="ar-EG">
                <a:effectLst/>
              </a:rPr>
              <a:t> إجمالي المبلغ الذي </a:t>
            </a:r>
            <a:r>
              <a:rPr lang="ar-EG" b="1">
                <a:effectLst/>
              </a:rPr>
              <a:t>يأمل</a:t>
            </a:r>
            <a:r>
              <a:rPr lang="ar-EG">
                <a:effectLst/>
              </a:rPr>
              <a:t> العميل في الحصول عليه من جهة التمويل</a:t>
            </a:r>
          </a:p>
          <a:p>
            <a:pPr algn="r" rtl="1"/>
            <a:r>
              <a:rPr lang="ar-EG" b="1">
                <a:solidFill>
                  <a:srgbClr val="FFFF00"/>
                </a:solidFill>
                <a:effectLst/>
              </a:rPr>
              <a:t>قيمة التمويل</a:t>
            </a:r>
            <a:r>
              <a:rPr lang="ar-EG" b="1">
                <a:effectLst/>
              </a:rPr>
              <a:t>:</a:t>
            </a:r>
            <a:r>
              <a:rPr lang="ar-EG">
                <a:effectLst/>
              </a:rPr>
              <a:t> </a:t>
            </a:r>
            <a:r>
              <a:rPr lang="ar-EG" b="1">
                <a:solidFill>
                  <a:schemeClr val="tx1"/>
                </a:solidFill>
                <a:effectLst/>
              </a:rPr>
              <a:t>مبلغ التمويل الذي توافق </a:t>
            </a:r>
            <a:r>
              <a:rPr lang="ar-EG">
                <a:effectLst/>
              </a:rPr>
              <a:t>جهة التمويل مبدئياً على منحه بناءً على دراسة حالة العميل</a:t>
            </a:r>
          </a:p>
          <a:p>
            <a:pPr algn="r" rtl="1"/>
            <a:r>
              <a:rPr lang="ar-EG" b="1">
                <a:solidFill>
                  <a:srgbClr val="FFFF00"/>
                </a:solidFill>
                <a:effectLst/>
              </a:rPr>
              <a:t>القيمة الفعلية للتمويل</a:t>
            </a:r>
            <a:r>
              <a:rPr lang="ar-EG" b="1">
                <a:effectLst/>
              </a:rPr>
              <a:t>:</a:t>
            </a:r>
            <a:r>
              <a:rPr lang="ar-EG">
                <a:effectLst/>
              </a:rPr>
              <a:t> المبلغ الصافي الذي سيستلمه العميل فعلياً بعد خصم أي رسوم إدارية أو مصاريف بنكية</a:t>
            </a:r>
          </a:p>
          <a:p>
            <a:pPr algn="r" rtl="1"/>
            <a:r>
              <a:rPr lang="ar-EG" b="1">
                <a:effectLst/>
              </a:rPr>
              <a:t>الهدف من التمويل : </a:t>
            </a:r>
            <a:r>
              <a:rPr lang="ar-EG">
                <a:effectLst/>
              </a:rPr>
              <a:t>الغرض من الحصول على المال (مثل: شراء أصول، توسعة مشروع، سداد ديون أخرى).</a:t>
            </a:r>
          </a:p>
          <a:p>
            <a:pPr algn="r" rtl="1"/>
            <a:r>
              <a:rPr lang="ar-EG" b="1">
                <a:effectLst/>
              </a:rPr>
              <a:t>جهة الصرف : ا</a:t>
            </a:r>
            <a:r>
              <a:rPr lang="ar-EG">
                <a:effectLst/>
              </a:rPr>
              <a:t>لمكان أو الطريقة التي سيتم بها تحويل الأموال (مثل: صرف نقدي، شيك لجهة موردة، أو إيداع في حساب بنكي محدد).</a:t>
            </a:r>
          </a:p>
          <a:p>
            <a:pPr algn="r" rtl="1"/>
            <a:endParaRPr lang="en-US"/>
          </a:p>
        </p:txBody>
      </p:sp>
    </p:spTree>
    <p:extLst>
      <p:ext uri="{BB962C8B-B14F-4D97-AF65-F5344CB8AC3E}">
        <p14:creationId xmlns:p14="http://schemas.microsoft.com/office/powerpoint/2010/main" val="18080738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86539-538E-CE9F-800C-FD9E8FA4CC1D}"/>
              </a:ext>
            </a:extLst>
          </p:cNvPr>
          <p:cNvSpPr>
            <a:spLocks noGrp="1"/>
          </p:cNvSpPr>
          <p:nvPr>
            <p:ph type="title"/>
          </p:nvPr>
        </p:nvSpPr>
        <p:spPr>
          <a:xfrm>
            <a:off x="913795" y="0"/>
            <a:ext cx="10353762" cy="570271"/>
          </a:xfrm>
        </p:spPr>
        <p:txBody>
          <a:bodyPr>
            <a:normAutofit fontScale="90000"/>
          </a:bodyPr>
          <a:lstStyle/>
          <a:p>
            <a:r>
              <a:rPr lang="ar-EG" b="1">
                <a:effectLst/>
              </a:rPr>
              <a:t>طلب تمويل</a:t>
            </a:r>
            <a:r>
              <a:rPr lang="en-US" b="1">
                <a:effectLst/>
              </a:rPr>
              <a:t> </a:t>
            </a:r>
            <a:r>
              <a:rPr lang="ar-EG" b="1">
                <a:effectLst/>
              </a:rPr>
              <a:t>تجديد</a:t>
            </a:r>
            <a:endParaRPr lang="en-US"/>
          </a:p>
        </p:txBody>
      </p:sp>
      <p:sp>
        <p:nvSpPr>
          <p:cNvPr id="3" name="Content Placeholder 2">
            <a:extLst>
              <a:ext uri="{FF2B5EF4-FFF2-40B4-BE49-F238E27FC236}">
                <a16:creationId xmlns:a16="http://schemas.microsoft.com/office/drawing/2014/main" id="{E18F61E0-6387-C307-C046-3505F3EF2D2F}"/>
              </a:ext>
            </a:extLst>
          </p:cNvPr>
          <p:cNvSpPr>
            <a:spLocks noGrp="1"/>
          </p:cNvSpPr>
          <p:nvPr>
            <p:ph idx="1"/>
          </p:nvPr>
        </p:nvSpPr>
        <p:spPr>
          <a:xfrm>
            <a:off x="196644" y="570271"/>
            <a:ext cx="11857703" cy="6194323"/>
          </a:xfrm>
        </p:spPr>
        <p:txBody>
          <a:bodyPr/>
          <a:lstStyle/>
          <a:p>
            <a:pPr algn="r" rtl="1"/>
            <a:r>
              <a:rPr lang="ar-EG" b="1">
                <a:effectLst/>
              </a:rPr>
              <a:t>تمديد فترة السداد (</a:t>
            </a:r>
            <a:r>
              <a:rPr lang="en-US" b="1">
                <a:effectLst/>
              </a:rPr>
              <a:t>extension</a:t>
            </a:r>
            <a:r>
              <a:rPr lang="ar-EG" b="1">
                <a:effectLst/>
              </a:rPr>
              <a:t>)</a:t>
            </a:r>
            <a:endParaRPr lang="en-US" b="1">
              <a:effectLst/>
            </a:endParaRPr>
          </a:p>
          <a:p>
            <a:pPr lvl="1" algn="r" rtl="1"/>
            <a:r>
              <a:rPr lang="ar-EG">
                <a:effectLst/>
              </a:rPr>
              <a:t>هذا النوع يركز على </a:t>
            </a:r>
            <a:r>
              <a:rPr lang="ar-EG" b="1">
                <a:effectLst/>
              </a:rPr>
              <a:t>الزمن</a:t>
            </a:r>
            <a:r>
              <a:rPr lang="ar-EG">
                <a:effectLst/>
              </a:rPr>
              <a:t>؛ أي إعطاؤك وقتاً أطول لدفع نفس المبلغ المتبقي عليك، مما يؤدي غالباً لتقليل قيمة القسط الشهري.</a:t>
            </a:r>
            <a:endParaRPr lang="en-US">
              <a:effectLst/>
            </a:endParaRPr>
          </a:p>
          <a:p>
            <a:pPr lvl="1" algn="r" rtl="1"/>
            <a:r>
              <a:rPr lang="ar-EG" b="1">
                <a:effectLst/>
              </a:rPr>
              <a:t>مثال:</a:t>
            </a:r>
            <a:r>
              <a:rPr lang="ar-EG">
                <a:effectLst/>
              </a:rPr>
              <a:t> حصلت على تمويل بمبلغ 50,000 جنيه لمدة سنتين، وبعد مرور سنة تعثرت ظروفك وأصبح القسط كبيراً عليك. تطلب "تجديد" لتمديد السنة المتبقية لتصبح سنتين إضافيتين، فيقل القسط الشهري لكنك ستدفع فوائد لفترة أطول.</a:t>
            </a:r>
            <a:endParaRPr lang="en-US" b="1">
              <a:effectLst/>
            </a:endParaRPr>
          </a:p>
          <a:p>
            <a:pPr algn="r" rtl="1"/>
            <a:r>
              <a:rPr lang="ar-EG" b="1">
                <a:effectLst/>
              </a:rPr>
              <a:t>زيادة مبلغ التمويل </a:t>
            </a:r>
            <a:r>
              <a:rPr lang="en-US" b="1">
                <a:effectLst/>
              </a:rPr>
              <a:t>(Top-up)</a:t>
            </a:r>
          </a:p>
          <a:p>
            <a:pPr lvl="1" algn="r" rtl="1"/>
            <a:r>
              <a:rPr lang="ar-EG"/>
              <a:t>هذا النوع يركز على السيولة؛ وهو مخصص للعملاء الملتزمين الذين سددوا جزءاً من القرض ويريدون العودة للمبلغ الأصلي أو زيادته.</a:t>
            </a:r>
          </a:p>
          <a:p>
            <a:pPr lvl="1" algn="r" rtl="1"/>
            <a:r>
              <a:rPr lang="ar-EG"/>
              <a:t>مثال: كان لديك قرض بـ 100,000 جنيه، وسددت منه 60,000 جنيه (المتبقي عليك 40,000 فقط). تطلب "تجديد" ليرفع البنك القرض مرة أخرى إلى 100,000 جنيه. في هذه الحالة، يتم سداد الـ 40,000 القديمة وتستلم أنت 60,000 جنيه كاش في يدك لتبدأ دورة سداد جديدة.</a:t>
            </a:r>
            <a:endParaRPr lang="en-US"/>
          </a:p>
          <a:p>
            <a:pPr algn="r" rtl="1"/>
            <a:r>
              <a:rPr lang="ar-EG" b="1"/>
              <a:t>إعادة الجدولة (</a:t>
            </a:r>
            <a:r>
              <a:rPr lang="en-US" b="1"/>
              <a:t>Rescheduling</a:t>
            </a:r>
            <a:r>
              <a:rPr lang="ar-EG" b="1"/>
              <a:t>)</a:t>
            </a:r>
          </a:p>
          <a:p>
            <a:pPr lvl="1" algn="r" rtl="1"/>
            <a:r>
              <a:rPr lang="ar-EG"/>
              <a:t>هذا النوع يركز على تغيير الشروط؛ ويحدث عادةً عند حدوث تغيير جذري في حالتك المالية أو لتغيير نوع الفائدة.</a:t>
            </a:r>
          </a:p>
          <a:p>
            <a:pPr lvl="1" algn="r" rtl="1"/>
            <a:r>
              <a:rPr lang="ar-EG"/>
              <a:t>مثال: لديك قرض بضمان مرتبك، وقررت ترك عملك وبدء مشروعك الخاص. تطلب من جهة التمويل "تجديد" القرض ليصبح بضمان "سجل تجاري" أو بضمان "أصل عقاري" بدلاً من الراتب، مع تغيير قيمة الأقساط لتناسب دخلك الجديد من المشروع.</a:t>
            </a:r>
          </a:p>
          <a:p>
            <a:pPr algn="r" rtl="1"/>
            <a:endParaRPr lang="en-US"/>
          </a:p>
        </p:txBody>
      </p:sp>
    </p:spTree>
    <p:extLst>
      <p:ext uri="{BB962C8B-B14F-4D97-AF65-F5344CB8AC3E}">
        <p14:creationId xmlns:p14="http://schemas.microsoft.com/office/powerpoint/2010/main" val="26124471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8E5A12-5031-578B-73A6-5281966AFC97}"/>
              </a:ext>
            </a:extLst>
          </p:cNvPr>
          <p:cNvSpPr>
            <a:spLocks noGrp="1"/>
          </p:cNvSpPr>
          <p:nvPr>
            <p:ph type="title"/>
          </p:nvPr>
        </p:nvSpPr>
        <p:spPr>
          <a:xfrm>
            <a:off x="913795" y="0"/>
            <a:ext cx="10353762" cy="707923"/>
          </a:xfrm>
        </p:spPr>
        <p:txBody>
          <a:bodyPr/>
          <a:lstStyle/>
          <a:p>
            <a:r>
              <a:rPr lang="ar-EG" b="1">
                <a:solidFill>
                  <a:srgbClr val="FF0000"/>
                </a:solidFill>
              </a:rPr>
              <a:t>مراجعة أولية</a:t>
            </a:r>
            <a:endParaRPr lang="en-US" b="1">
              <a:solidFill>
                <a:srgbClr val="FF0000"/>
              </a:solidFill>
            </a:endParaRPr>
          </a:p>
        </p:txBody>
      </p:sp>
      <p:sp>
        <p:nvSpPr>
          <p:cNvPr id="3" name="Content Placeholder 2">
            <a:extLst>
              <a:ext uri="{FF2B5EF4-FFF2-40B4-BE49-F238E27FC236}">
                <a16:creationId xmlns:a16="http://schemas.microsoft.com/office/drawing/2014/main" id="{C6D0CF99-5768-3261-B86E-3BECA925F90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9181778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BD6999-6FBE-7FD0-77E3-BEFCDD7438B5}"/>
              </a:ext>
            </a:extLst>
          </p:cNvPr>
          <p:cNvSpPr>
            <a:spLocks noGrp="1"/>
          </p:cNvSpPr>
          <p:nvPr>
            <p:ph type="title"/>
          </p:nvPr>
        </p:nvSpPr>
        <p:spPr/>
        <p:txBody>
          <a:bodyPr/>
          <a:lstStyle/>
          <a:p>
            <a:r>
              <a:rPr lang="ar-EG"/>
              <a:t>زيارة ميدانية</a:t>
            </a:r>
            <a:endParaRPr lang="en-US"/>
          </a:p>
        </p:txBody>
      </p:sp>
      <p:sp>
        <p:nvSpPr>
          <p:cNvPr id="3" name="Content Placeholder 2">
            <a:extLst>
              <a:ext uri="{FF2B5EF4-FFF2-40B4-BE49-F238E27FC236}">
                <a16:creationId xmlns:a16="http://schemas.microsoft.com/office/drawing/2014/main" id="{26B4D821-A659-22F6-D27B-58D7BE5B7C4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32382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4BEF7-16AD-EB38-03A0-9E38308744E8}"/>
              </a:ext>
            </a:extLst>
          </p:cNvPr>
          <p:cNvSpPr>
            <a:spLocks noGrp="1"/>
          </p:cNvSpPr>
          <p:nvPr>
            <p:ph type="title"/>
          </p:nvPr>
        </p:nvSpPr>
        <p:spPr/>
        <p:txBody>
          <a:bodyPr/>
          <a:lstStyle/>
          <a:p>
            <a:r>
              <a:rPr lang="ar-EG" b="1">
                <a:solidFill>
                  <a:srgbClr val="FF0000"/>
                </a:solidFill>
              </a:rPr>
              <a:t>التحليل الائتماني</a:t>
            </a:r>
            <a:endParaRPr lang="en-US" b="1">
              <a:solidFill>
                <a:srgbClr val="FF0000"/>
              </a:solidFill>
            </a:endParaRPr>
          </a:p>
        </p:txBody>
      </p:sp>
      <p:sp>
        <p:nvSpPr>
          <p:cNvPr id="3" name="Content Placeholder 2">
            <a:extLst>
              <a:ext uri="{FF2B5EF4-FFF2-40B4-BE49-F238E27FC236}">
                <a16:creationId xmlns:a16="http://schemas.microsoft.com/office/drawing/2014/main" id="{4B9905FB-09D5-E179-2DB7-D3AC27E8633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5334430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DBE4A9-0D80-63E2-93A1-0CD590C2F5FE}"/>
              </a:ext>
            </a:extLst>
          </p:cNvPr>
          <p:cNvSpPr>
            <a:spLocks noGrp="1"/>
          </p:cNvSpPr>
          <p:nvPr>
            <p:ph type="title"/>
          </p:nvPr>
        </p:nvSpPr>
        <p:spPr>
          <a:xfrm>
            <a:off x="913795" y="0"/>
            <a:ext cx="10353762" cy="668594"/>
          </a:xfrm>
        </p:spPr>
        <p:txBody>
          <a:bodyPr>
            <a:normAutofit fontScale="90000"/>
          </a:bodyPr>
          <a:lstStyle/>
          <a:p>
            <a:r>
              <a:rPr lang="ar-EG" b="1">
                <a:solidFill>
                  <a:srgbClr val="FF0000"/>
                </a:solidFill>
              </a:rPr>
              <a:t>تحميل المستندات</a:t>
            </a:r>
            <a:endParaRPr lang="en-US" b="1">
              <a:solidFill>
                <a:srgbClr val="FF0000"/>
              </a:solidFill>
            </a:endParaRPr>
          </a:p>
        </p:txBody>
      </p:sp>
      <p:sp>
        <p:nvSpPr>
          <p:cNvPr id="3" name="Content Placeholder 2">
            <a:extLst>
              <a:ext uri="{FF2B5EF4-FFF2-40B4-BE49-F238E27FC236}">
                <a16:creationId xmlns:a16="http://schemas.microsoft.com/office/drawing/2014/main" id="{D8EFC7BF-7EA3-03B6-F9DF-0E2BE48F01F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948109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0A2CEE-E4B4-FDA8-29CD-E7103B522F79}"/>
              </a:ext>
            </a:extLst>
          </p:cNvPr>
          <p:cNvSpPr>
            <a:spLocks noGrp="1"/>
          </p:cNvSpPr>
          <p:nvPr>
            <p:ph type="title"/>
          </p:nvPr>
        </p:nvSpPr>
        <p:spPr>
          <a:xfrm>
            <a:off x="844969" y="0"/>
            <a:ext cx="10353762" cy="698090"/>
          </a:xfrm>
        </p:spPr>
        <p:txBody>
          <a:bodyPr>
            <a:normAutofit fontScale="90000"/>
          </a:bodyPr>
          <a:lstStyle/>
          <a:p>
            <a:r>
              <a:rPr lang="ar-EG" b="1">
                <a:solidFill>
                  <a:srgbClr val="FF0000"/>
                </a:solidFill>
              </a:rPr>
              <a:t>المراجعة المركزية</a:t>
            </a:r>
            <a:endParaRPr lang="en-US" b="1">
              <a:solidFill>
                <a:srgbClr val="FF0000"/>
              </a:solidFill>
            </a:endParaRPr>
          </a:p>
        </p:txBody>
      </p:sp>
      <p:sp>
        <p:nvSpPr>
          <p:cNvPr id="3" name="Content Placeholder 2">
            <a:extLst>
              <a:ext uri="{FF2B5EF4-FFF2-40B4-BE49-F238E27FC236}">
                <a16:creationId xmlns:a16="http://schemas.microsoft.com/office/drawing/2014/main" id="{EA6FB638-B82F-DC6A-F0B1-71E66F335DC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742449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6A297D-FA92-F0E4-599A-68EAB03047C0}"/>
              </a:ext>
            </a:extLst>
          </p:cNvPr>
          <p:cNvSpPr>
            <a:spLocks noGrp="1"/>
          </p:cNvSpPr>
          <p:nvPr>
            <p:ph type="title"/>
          </p:nvPr>
        </p:nvSpPr>
        <p:spPr>
          <a:xfrm>
            <a:off x="913795" y="0"/>
            <a:ext cx="10353762" cy="766916"/>
          </a:xfrm>
        </p:spPr>
        <p:txBody>
          <a:bodyPr/>
          <a:lstStyle/>
          <a:p>
            <a:r>
              <a:rPr lang="ar-EG" b="1">
                <a:solidFill>
                  <a:srgbClr val="FF0000"/>
                </a:solidFill>
              </a:rPr>
              <a:t>الصرف</a:t>
            </a:r>
            <a:endParaRPr lang="en-US" b="1">
              <a:solidFill>
                <a:srgbClr val="FF0000"/>
              </a:solidFill>
            </a:endParaRPr>
          </a:p>
        </p:txBody>
      </p:sp>
      <p:sp>
        <p:nvSpPr>
          <p:cNvPr id="3" name="Content Placeholder 2">
            <a:extLst>
              <a:ext uri="{FF2B5EF4-FFF2-40B4-BE49-F238E27FC236}">
                <a16:creationId xmlns:a16="http://schemas.microsoft.com/office/drawing/2014/main" id="{24E0624C-F15D-C0E6-7DF1-8E90C1166A7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754325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52536-DCCC-8C3D-9370-41602B2F1CB9}"/>
              </a:ext>
            </a:extLst>
          </p:cNvPr>
          <p:cNvSpPr>
            <a:spLocks noGrp="1"/>
          </p:cNvSpPr>
          <p:nvPr>
            <p:ph type="title"/>
          </p:nvPr>
        </p:nvSpPr>
        <p:spPr>
          <a:xfrm>
            <a:off x="913795" y="0"/>
            <a:ext cx="10353762" cy="609600"/>
          </a:xfrm>
        </p:spPr>
        <p:txBody>
          <a:bodyPr>
            <a:normAutofit fontScale="90000"/>
          </a:bodyPr>
          <a:lstStyle/>
          <a:p>
            <a:r>
              <a:rPr lang="en-US" b="1">
                <a:solidFill>
                  <a:srgbClr val="FF0000"/>
                </a:solidFill>
              </a:rPr>
              <a:t>Region at </a:t>
            </a:r>
          </a:p>
        </p:txBody>
      </p:sp>
      <p:sp>
        <p:nvSpPr>
          <p:cNvPr id="3" name="Content Placeholder 2">
            <a:extLst>
              <a:ext uri="{FF2B5EF4-FFF2-40B4-BE49-F238E27FC236}">
                <a16:creationId xmlns:a16="http://schemas.microsoft.com/office/drawing/2014/main" id="{5BEA9423-2224-07FD-FD9F-8B5FEDB393E2}"/>
              </a:ext>
            </a:extLst>
          </p:cNvPr>
          <p:cNvSpPr>
            <a:spLocks noGrp="1"/>
          </p:cNvSpPr>
          <p:nvPr>
            <p:ph idx="1"/>
          </p:nvPr>
        </p:nvSpPr>
        <p:spPr>
          <a:xfrm>
            <a:off x="314632" y="609601"/>
            <a:ext cx="11611897" cy="6076334"/>
          </a:xfrm>
        </p:spPr>
        <p:txBody>
          <a:bodyPr>
            <a:normAutofit/>
          </a:bodyPr>
          <a:lstStyle/>
          <a:p>
            <a:r>
              <a:rPr lang="en-US" sz="1800"/>
              <a:t>RegionId, </a:t>
            </a:r>
            <a:r>
              <a:rPr lang="en-US"/>
              <a:t>int </a:t>
            </a:r>
            <a:r>
              <a:rPr lang="en-US" b="1">
                <a:solidFill>
                  <a:srgbClr val="FFFF00"/>
                </a:solidFill>
              </a:rPr>
              <a:t>[FK]</a:t>
            </a:r>
            <a:endParaRPr lang="en-US" sz="1800" b="1">
              <a:solidFill>
                <a:srgbClr val="FFFF00"/>
              </a:solidFill>
            </a:endParaRPr>
          </a:p>
          <a:p>
            <a:r>
              <a:rPr lang="en-US" sz="1800"/>
              <a:t>RegionNameAR : string</a:t>
            </a:r>
          </a:p>
          <a:p>
            <a:r>
              <a:rPr lang="en-US" sz="1800"/>
              <a:t>RegionNameEn: string</a:t>
            </a:r>
          </a:p>
          <a:p>
            <a:r>
              <a:rPr lang="en-US"/>
              <a:t>ICollection&lt;Branch&gt; Branches</a:t>
            </a:r>
          </a:p>
          <a:p>
            <a:r>
              <a:rPr lang="en-US"/>
              <a:t>ICollection&lt;Governorate&gt; Governorates</a:t>
            </a:r>
          </a:p>
          <a:p>
            <a:r>
              <a:rPr lang="en-US"/>
              <a:t>ICollection&lt;Flow_ISCORE&gt; Flow_ISCORE</a:t>
            </a:r>
          </a:p>
          <a:p>
            <a:r>
              <a:rPr lang="en-US"/>
              <a:t>ICollection&lt;Trans_Open_Close_Branch_M&gt; Trans_Open_Close_Branch_M</a:t>
            </a:r>
          </a:p>
          <a:p>
            <a:r>
              <a:rPr lang="en-US"/>
              <a:t>ICollection&lt;Trans_Open_Close_LO_M&gt; Trans_Open_Close_LO_M</a:t>
            </a:r>
            <a:endParaRPr lang="en-US" sz="1800"/>
          </a:p>
          <a:p>
            <a:endParaRPr lang="en-US" sz="1800"/>
          </a:p>
        </p:txBody>
      </p:sp>
    </p:spTree>
    <p:extLst>
      <p:ext uri="{BB962C8B-B14F-4D97-AF65-F5344CB8AC3E}">
        <p14:creationId xmlns:p14="http://schemas.microsoft.com/office/powerpoint/2010/main" val="18154694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3EAB15-CC51-C498-9EEC-A137D0323F46}"/>
              </a:ext>
            </a:extLst>
          </p:cNvPr>
          <p:cNvSpPr>
            <a:spLocks noGrp="1"/>
          </p:cNvSpPr>
          <p:nvPr>
            <p:ph type="title"/>
          </p:nvPr>
        </p:nvSpPr>
        <p:spPr>
          <a:xfrm>
            <a:off x="919119" y="0"/>
            <a:ext cx="10353762" cy="589935"/>
          </a:xfrm>
        </p:spPr>
        <p:txBody>
          <a:bodyPr>
            <a:normAutofit fontScale="90000"/>
          </a:bodyPr>
          <a:lstStyle/>
          <a:p>
            <a:r>
              <a:rPr lang="en-US" b="1">
                <a:solidFill>
                  <a:srgbClr val="FF0000"/>
                </a:solidFill>
              </a:rPr>
              <a:t>Governorate at common</a:t>
            </a:r>
          </a:p>
        </p:txBody>
      </p:sp>
      <p:sp>
        <p:nvSpPr>
          <p:cNvPr id="3" name="Content Placeholder 2">
            <a:extLst>
              <a:ext uri="{FF2B5EF4-FFF2-40B4-BE49-F238E27FC236}">
                <a16:creationId xmlns:a16="http://schemas.microsoft.com/office/drawing/2014/main" id="{8EEA33DE-45C9-F8E4-0DAE-47A71E2D1B22}"/>
              </a:ext>
            </a:extLst>
          </p:cNvPr>
          <p:cNvSpPr>
            <a:spLocks noGrp="1"/>
          </p:cNvSpPr>
          <p:nvPr>
            <p:ph idx="1"/>
          </p:nvPr>
        </p:nvSpPr>
        <p:spPr>
          <a:xfrm>
            <a:off x="196644" y="589935"/>
            <a:ext cx="11769213" cy="6154994"/>
          </a:xfrm>
        </p:spPr>
        <p:txBody>
          <a:bodyPr>
            <a:normAutofit/>
          </a:bodyPr>
          <a:lstStyle/>
          <a:p>
            <a:r>
              <a:rPr lang="en-US" sz="1800"/>
              <a:t>GovId</a:t>
            </a:r>
          </a:p>
          <a:p>
            <a:r>
              <a:rPr lang="en-US" sz="1800" err="1"/>
              <a:t>GovCode</a:t>
            </a:r>
            <a:endParaRPr lang="en-US" sz="1800"/>
          </a:p>
          <a:p>
            <a:r>
              <a:rPr lang="en-US" sz="1800" err="1"/>
              <a:t>GovNameAR</a:t>
            </a:r>
            <a:endParaRPr lang="en-US" sz="1800"/>
          </a:p>
          <a:p>
            <a:r>
              <a:rPr lang="en-US" sz="1800" err="1"/>
              <a:t>GovNameEn</a:t>
            </a:r>
            <a:endParaRPr lang="en-US" sz="1800"/>
          </a:p>
          <a:p>
            <a:r>
              <a:rPr lang="en-US" sz="1800"/>
              <a:t>RegionId </a:t>
            </a:r>
            <a:r>
              <a:rPr lang="en-US" sz="1800">
                <a:sym typeface="Wingdings" panose="05000000000000000000" pitchFamily="2" charset="2"/>
              </a:rPr>
              <a:t> </a:t>
            </a:r>
            <a:r>
              <a:rPr lang="ar-EG" sz="1800">
                <a:sym typeface="Wingdings" panose="05000000000000000000" pitchFamily="2" charset="2"/>
              </a:rPr>
              <a:t>بحري او قبلى</a:t>
            </a:r>
            <a:endParaRPr lang="en-US" sz="1800"/>
          </a:p>
          <a:p>
            <a:r>
              <a:rPr lang="en-US" sz="1800"/>
              <a:t>OriginalRegionId</a:t>
            </a:r>
          </a:p>
          <a:p>
            <a:endParaRPr lang="en-US" sz="1600"/>
          </a:p>
        </p:txBody>
      </p:sp>
    </p:spTree>
    <p:extLst>
      <p:ext uri="{BB962C8B-B14F-4D97-AF65-F5344CB8AC3E}">
        <p14:creationId xmlns:p14="http://schemas.microsoft.com/office/powerpoint/2010/main" val="37691749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AD0F1-7946-1FB5-D0C6-936DDB98C545}"/>
              </a:ext>
            </a:extLst>
          </p:cNvPr>
          <p:cNvSpPr>
            <a:spLocks noGrp="1"/>
          </p:cNvSpPr>
          <p:nvPr>
            <p:ph type="title"/>
          </p:nvPr>
        </p:nvSpPr>
        <p:spPr>
          <a:xfrm>
            <a:off x="913795" y="0"/>
            <a:ext cx="10353762" cy="589935"/>
          </a:xfrm>
        </p:spPr>
        <p:txBody>
          <a:bodyPr>
            <a:normAutofit fontScale="90000"/>
          </a:bodyPr>
          <a:lstStyle/>
          <a:p>
            <a:r>
              <a:rPr lang="en-US" b="1" err="1">
                <a:solidFill>
                  <a:srgbClr val="FF0000"/>
                </a:solidFill>
              </a:rPr>
              <a:t>Original_Region</a:t>
            </a:r>
            <a:r>
              <a:rPr lang="en-US" b="1">
                <a:solidFill>
                  <a:srgbClr val="FF0000"/>
                </a:solidFill>
              </a:rPr>
              <a:t> entity at common</a:t>
            </a:r>
          </a:p>
        </p:txBody>
      </p:sp>
      <p:sp>
        <p:nvSpPr>
          <p:cNvPr id="3" name="Content Placeholder 2">
            <a:extLst>
              <a:ext uri="{FF2B5EF4-FFF2-40B4-BE49-F238E27FC236}">
                <a16:creationId xmlns:a16="http://schemas.microsoft.com/office/drawing/2014/main" id="{7ECECAF3-0EA8-1856-F13A-4BCD070DD6A4}"/>
              </a:ext>
            </a:extLst>
          </p:cNvPr>
          <p:cNvSpPr>
            <a:spLocks noGrp="1"/>
          </p:cNvSpPr>
          <p:nvPr>
            <p:ph idx="1"/>
          </p:nvPr>
        </p:nvSpPr>
        <p:spPr>
          <a:xfrm>
            <a:off x="344129" y="589935"/>
            <a:ext cx="11592232" cy="6164826"/>
          </a:xfrm>
        </p:spPr>
        <p:txBody>
          <a:bodyPr/>
          <a:lstStyle/>
          <a:p>
            <a:r>
              <a:rPr lang="en-US"/>
              <a:t>int </a:t>
            </a:r>
            <a:r>
              <a:rPr lang="en-US" err="1"/>
              <a:t>OR_Id</a:t>
            </a:r>
            <a:endParaRPr lang="en-US"/>
          </a:p>
          <a:p>
            <a:r>
              <a:rPr lang="en-US"/>
              <a:t>RegionNameAR</a:t>
            </a:r>
          </a:p>
          <a:p>
            <a:r>
              <a:rPr lang="en-US"/>
              <a:t>RegionNameEn</a:t>
            </a:r>
          </a:p>
          <a:p>
            <a:r>
              <a:rPr lang="en-US"/>
              <a:t>GovId</a:t>
            </a:r>
          </a:p>
          <a:p>
            <a:r>
              <a:rPr lang="en-US"/>
              <a:t>RegionId</a:t>
            </a:r>
          </a:p>
        </p:txBody>
      </p:sp>
    </p:spTree>
    <p:extLst>
      <p:ext uri="{BB962C8B-B14F-4D97-AF65-F5344CB8AC3E}">
        <p14:creationId xmlns:p14="http://schemas.microsoft.com/office/powerpoint/2010/main" val="4685986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3CE53-308B-7AB5-E6DC-09A37427C286}"/>
              </a:ext>
            </a:extLst>
          </p:cNvPr>
          <p:cNvSpPr>
            <a:spLocks noGrp="1"/>
          </p:cNvSpPr>
          <p:nvPr>
            <p:ph type="title"/>
          </p:nvPr>
        </p:nvSpPr>
        <p:spPr>
          <a:xfrm>
            <a:off x="206477" y="0"/>
            <a:ext cx="11779045" cy="599768"/>
          </a:xfrm>
        </p:spPr>
        <p:txBody>
          <a:bodyPr>
            <a:normAutofit fontScale="90000"/>
          </a:bodyPr>
          <a:lstStyle/>
          <a:p>
            <a:r>
              <a:rPr lang="en-US" b="1" err="1">
                <a:solidFill>
                  <a:srgbClr val="FF0000"/>
                </a:solidFill>
              </a:rPr>
              <a:t>Trans_GPS_Tracking</a:t>
            </a:r>
            <a:endParaRPr lang="en-US" b="1">
              <a:solidFill>
                <a:srgbClr val="FF0000"/>
              </a:solidFill>
            </a:endParaRPr>
          </a:p>
        </p:txBody>
      </p:sp>
      <p:sp>
        <p:nvSpPr>
          <p:cNvPr id="3" name="Content Placeholder 2">
            <a:extLst>
              <a:ext uri="{FF2B5EF4-FFF2-40B4-BE49-F238E27FC236}">
                <a16:creationId xmlns:a16="http://schemas.microsoft.com/office/drawing/2014/main" id="{21169C85-3764-A8D2-5E7F-25BFA22E03A0}"/>
              </a:ext>
            </a:extLst>
          </p:cNvPr>
          <p:cNvSpPr>
            <a:spLocks noGrp="1"/>
          </p:cNvSpPr>
          <p:nvPr>
            <p:ph idx="1"/>
          </p:nvPr>
        </p:nvSpPr>
        <p:spPr>
          <a:xfrm>
            <a:off x="226142" y="599769"/>
            <a:ext cx="11779045" cy="6115664"/>
          </a:xfrm>
        </p:spPr>
        <p:txBody>
          <a:bodyPr/>
          <a:lstStyle/>
          <a:p>
            <a:r>
              <a:rPr lang="en-US"/>
              <a:t>int </a:t>
            </a:r>
            <a:r>
              <a:rPr lang="en-US" err="1"/>
              <a:t>GPST_Id</a:t>
            </a:r>
            <a:r>
              <a:rPr lang="en-US"/>
              <a:t> </a:t>
            </a:r>
          </a:p>
          <a:p>
            <a:r>
              <a:rPr lang="en-US"/>
              <a:t>int </a:t>
            </a:r>
            <a:r>
              <a:rPr lang="en-US" err="1"/>
              <a:t>UserID</a:t>
            </a:r>
            <a:r>
              <a:rPr lang="en-US"/>
              <a:t> </a:t>
            </a:r>
          </a:p>
          <a:p>
            <a:r>
              <a:rPr lang="en-US"/>
              <a:t>DateTime </a:t>
            </a:r>
            <a:r>
              <a:rPr lang="en-US" err="1"/>
              <a:t>ActionDate</a:t>
            </a:r>
            <a:r>
              <a:rPr lang="en-US"/>
              <a:t>  </a:t>
            </a:r>
          </a:p>
          <a:p>
            <a:r>
              <a:rPr lang="en-US"/>
              <a:t>string Step  </a:t>
            </a:r>
          </a:p>
          <a:p>
            <a:r>
              <a:rPr lang="en-US"/>
              <a:t>string  Latitude </a:t>
            </a:r>
          </a:p>
          <a:p>
            <a:r>
              <a:rPr lang="en-US"/>
              <a:t>string Longitude </a:t>
            </a:r>
          </a:p>
          <a:p>
            <a:r>
              <a:rPr lang="en-US"/>
              <a:t>string Address </a:t>
            </a:r>
          </a:p>
          <a:p>
            <a:r>
              <a:rPr lang="en-US"/>
              <a:t>decimal </a:t>
            </a:r>
            <a:r>
              <a:rPr lang="en-US" err="1"/>
              <a:t>RequestID</a:t>
            </a:r>
            <a:r>
              <a:rPr lang="en-US"/>
              <a:t> </a:t>
            </a:r>
          </a:p>
          <a:p>
            <a:r>
              <a:rPr lang="en-US"/>
              <a:t>string Status </a:t>
            </a:r>
          </a:p>
        </p:txBody>
      </p:sp>
    </p:spTree>
    <p:extLst>
      <p:ext uri="{BB962C8B-B14F-4D97-AF65-F5344CB8AC3E}">
        <p14:creationId xmlns:p14="http://schemas.microsoft.com/office/powerpoint/2010/main" val="12662576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F588-5A22-7C5C-254E-26F8B556C2F8}"/>
              </a:ext>
            </a:extLst>
          </p:cNvPr>
          <p:cNvSpPr>
            <a:spLocks noGrp="1"/>
          </p:cNvSpPr>
          <p:nvPr>
            <p:ph type="title"/>
          </p:nvPr>
        </p:nvSpPr>
        <p:spPr>
          <a:xfrm>
            <a:off x="913795" y="0"/>
            <a:ext cx="10353762" cy="353961"/>
          </a:xfrm>
        </p:spPr>
        <p:txBody>
          <a:bodyPr>
            <a:noAutofit/>
          </a:bodyPr>
          <a:lstStyle/>
          <a:p>
            <a:r>
              <a:rPr lang="en-US" sz="2800" b="1">
                <a:solidFill>
                  <a:srgbClr val="FFFF00"/>
                </a:solidFill>
              </a:rPr>
              <a:t>Lookup</a:t>
            </a:r>
            <a:r>
              <a:rPr lang="en-US" sz="2800">
                <a:solidFill>
                  <a:srgbClr val="FFFF00"/>
                </a:solidFill>
              </a:rPr>
              <a:t>.</a:t>
            </a:r>
            <a:r>
              <a:rPr lang="en-US" sz="2800" b="1">
                <a:solidFill>
                  <a:srgbClr val="FF0000"/>
                </a:solidFill>
              </a:rPr>
              <a:t>Branch</a:t>
            </a:r>
          </a:p>
        </p:txBody>
      </p:sp>
      <p:sp>
        <p:nvSpPr>
          <p:cNvPr id="3" name="Content Placeholder 2">
            <a:extLst>
              <a:ext uri="{FF2B5EF4-FFF2-40B4-BE49-F238E27FC236}">
                <a16:creationId xmlns:a16="http://schemas.microsoft.com/office/drawing/2014/main" id="{66405C29-9092-F04A-2677-BCF8645824E8}"/>
              </a:ext>
            </a:extLst>
          </p:cNvPr>
          <p:cNvSpPr>
            <a:spLocks noGrp="1"/>
          </p:cNvSpPr>
          <p:nvPr>
            <p:ph idx="1"/>
          </p:nvPr>
        </p:nvSpPr>
        <p:spPr>
          <a:xfrm>
            <a:off x="255639" y="442453"/>
            <a:ext cx="11729884" cy="6243482"/>
          </a:xfrm>
        </p:spPr>
        <p:txBody>
          <a:bodyPr numCol="2">
            <a:normAutofit/>
          </a:bodyPr>
          <a:lstStyle/>
          <a:p>
            <a:r>
              <a:rPr lang="en-US" sz="1800" b="1"/>
              <a:t>int </a:t>
            </a:r>
            <a:r>
              <a:rPr lang="en-US" sz="1800" b="1">
                <a:solidFill>
                  <a:srgbClr val="FFFF00"/>
                </a:solidFill>
              </a:rPr>
              <a:t>BranchId [PK]</a:t>
            </a:r>
          </a:p>
          <a:p>
            <a:r>
              <a:rPr lang="en-US" sz="1800" b="1"/>
              <a:t>BranchNameAR</a:t>
            </a:r>
          </a:p>
          <a:p>
            <a:r>
              <a:rPr lang="en-US" sz="1800" b="1"/>
              <a:t>BranchNameEn</a:t>
            </a:r>
          </a:p>
          <a:p>
            <a:r>
              <a:rPr lang="en-US" sz="1800" b="1"/>
              <a:t>AddressAR</a:t>
            </a:r>
          </a:p>
          <a:p>
            <a:r>
              <a:rPr lang="en-US" sz="1800" b="1"/>
              <a:t>AddressEn</a:t>
            </a:r>
          </a:p>
          <a:p>
            <a:r>
              <a:rPr lang="en-US" sz="1800" b="1" err="1"/>
              <a:t>ExterNum</a:t>
            </a:r>
            <a:endParaRPr lang="en-US" sz="1800" b="1"/>
          </a:p>
          <a:p>
            <a:r>
              <a:rPr lang="en-US" sz="1800" b="1" err="1"/>
              <a:t>PhoneNum</a:t>
            </a:r>
            <a:endParaRPr lang="en-US" sz="1800" b="1"/>
          </a:p>
          <a:p>
            <a:r>
              <a:rPr lang="en-US" sz="1800" b="1"/>
              <a:t>RegionId [FK]</a:t>
            </a:r>
            <a:endParaRPr lang="ar-EG" sz="1800" b="1"/>
          </a:p>
          <a:p>
            <a:r>
              <a:rPr lang="en-US" sz="1800" b="1"/>
              <a:t>OriginalRegionId [FK]</a:t>
            </a:r>
            <a:endParaRPr lang="ar-EG" sz="1800" b="1"/>
          </a:p>
          <a:p>
            <a:r>
              <a:rPr lang="en-US" sz="1800" b="1"/>
              <a:t>GovId </a:t>
            </a:r>
            <a:r>
              <a:rPr lang="en-US" sz="1800" b="1">
                <a:solidFill>
                  <a:srgbClr val="FFFF00"/>
                </a:solidFill>
              </a:rPr>
              <a:t>[FK]</a:t>
            </a:r>
            <a:endParaRPr lang="ar-EG" sz="1800" b="1">
              <a:solidFill>
                <a:srgbClr val="FFFF00"/>
              </a:solidFill>
            </a:endParaRPr>
          </a:p>
          <a:p>
            <a:r>
              <a:rPr lang="en-US" sz="1800" b="1" err="1"/>
              <a:t>Code_</a:t>
            </a:r>
            <a:r>
              <a:rPr lang="en-US" sz="1800" b="1"/>
              <a:t>district </a:t>
            </a:r>
            <a:r>
              <a:rPr lang="en-US" sz="1800" b="1">
                <a:solidFill>
                  <a:srgbClr val="FFFF00"/>
                </a:solidFill>
              </a:rPr>
              <a:t>[FK]</a:t>
            </a:r>
            <a:endParaRPr lang="ar-EG" sz="1800" b="1">
              <a:solidFill>
                <a:srgbClr val="FFFF00"/>
              </a:solidFill>
            </a:endParaRPr>
          </a:p>
          <a:p>
            <a:r>
              <a:rPr lang="en-US" sz="1800" b="1" err="1"/>
              <a:t>Code_</a:t>
            </a:r>
            <a:r>
              <a:rPr lang="en-US" sz="1800" b="1"/>
              <a:t>Section </a:t>
            </a:r>
            <a:r>
              <a:rPr lang="en-US" sz="1800" b="1">
                <a:solidFill>
                  <a:srgbClr val="FFFF00"/>
                </a:solidFill>
              </a:rPr>
              <a:t>[FK]</a:t>
            </a:r>
          </a:p>
          <a:p>
            <a:r>
              <a:rPr lang="en-US" sz="1800" b="1"/>
              <a:t>FBT_ID [FK] (flow branch type)</a:t>
            </a:r>
          </a:p>
          <a:p>
            <a:r>
              <a:rPr lang="en-US" sz="1800" b="1"/>
              <a:t>IP</a:t>
            </a:r>
          </a:p>
          <a:p>
            <a:r>
              <a:rPr lang="en-US" sz="1800" b="1" err="1"/>
              <a:t>Branch_code</a:t>
            </a:r>
            <a:endParaRPr lang="en-US" sz="1800" b="1"/>
          </a:p>
          <a:p>
            <a:r>
              <a:rPr lang="en-US" b="1"/>
              <a:t>Latitude</a:t>
            </a:r>
          </a:p>
          <a:p>
            <a:r>
              <a:rPr lang="en-US" b="1"/>
              <a:t>Longitude</a:t>
            </a:r>
          </a:p>
          <a:p>
            <a:endParaRPr lang="en-US" sz="1800" b="1"/>
          </a:p>
        </p:txBody>
      </p:sp>
      <p:pic>
        <p:nvPicPr>
          <p:cNvPr id="5" name="Picture 4">
            <a:extLst>
              <a:ext uri="{FF2B5EF4-FFF2-40B4-BE49-F238E27FC236}">
                <a16:creationId xmlns:a16="http://schemas.microsoft.com/office/drawing/2014/main" id="{91B0352F-7758-F003-E05D-DF54D9006A5B}"/>
              </a:ext>
            </a:extLst>
          </p:cNvPr>
          <p:cNvPicPr>
            <a:picLocks noChangeAspect="1"/>
          </p:cNvPicPr>
          <p:nvPr/>
        </p:nvPicPr>
        <p:blipFill>
          <a:blip r:embed="rId2"/>
          <a:stretch>
            <a:fillRect/>
          </a:stretch>
        </p:blipFill>
        <p:spPr>
          <a:xfrm>
            <a:off x="4516390" y="1335793"/>
            <a:ext cx="6751167" cy="1509965"/>
          </a:xfrm>
          <a:prstGeom prst="rect">
            <a:avLst/>
          </a:prstGeom>
        </p:spPr>
      </p:pic>
    </p:spTree>
    <p:extLst>
      <p:ext uri="{BB962C8B-B14F-4D97-AF65-F5344CB8AC3E}">
        <p14:creationId xmlns:p14="http://schemas.microsoft.com/office/powerpoint/2010/main" val="23130529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C20BD-154F-81CF-DF90-BBC850095632}"/>
              </a:ext>
            </a:extLst>
          </p:cNvPr>
          <p:cNvSpPr>
            <a:spLocks noGrp="1"/>
          </p:cNvSpPr>
          <p:nvPr>
            <p:ph type="title"/>
          </p:nvPr>
        </p:nvSpPr>
        <p:spPr>
          <a:xfrm>
            <a:off x="913795" y="0"/>
            <a:ext cx="10353762" cy="511277"/>
          </a:xfrm>
        </p:spPr>
        <p:txBody>
          <a:bodyPr>
            <a:normAutofit fontScale="90000"/>
          </a:bodyPr>
          <a:lstStyle/>
          <a:p>
            <a:r>
              <a:rPr lang="en-US" sz="3600" b="1">
                <a:solidFill>
                  <a:srgbClr val="FFFF00"/>
                </a:solidFill>
              </a:rPr>
              <a:t>SWF</a:t>
            </a:r>
            <a:r>
              <a:rPr lang="en-US" sz="3600" b="1"/>
              <a:t>. </a:t>
            </a:r>
            <a:r>
              <a:rPr lang="en-US" sz="3600" b="1">
                <a:solidFill>
                  <a:srgbClr val="FF0000"/>
                </a:solidFill>
              </a:rPr>
              <a:t>Flow_Branch_Type</a:t>
            </a:r>
          </a:p>
        </p:txBody>
      </p:sp>
      <p:sp>
        <p:nvSpPr>
          <p:cNvPr id="3" name="Content Placeholder 2">
            <a:extLst>
              <a:ext uri="{FF2B5EF4-FFF2-40B4-BE49-F238E27FC236}">
                <a16:creationId xmlns:a16="http://schemas.microsoft.com/office/drawing/2014/main" id="{BD156EFC-FDDD-4719-1C2D-1A7E95ADF67A}"/>
              </a:ext>
            </a:extLst>
          </p:cNvPr>
          <p:cNvSpPr>
            <a:spLocks noGrp="1"/>
          </p:cNvSpPr>
          <p:nvPr>
            <p:ph idx="1"/>
          </p:nvPr>
        </p:nvSpPr>
        <p:spPr>
          <a:xfrm>
            <a:off x="337930" y="511277"/>
            <a:ext cx="11678479" cy="6204155"/>
          </a:xfrm>
        </p:spPr>
        <p:txBody>
          <a:bodyPr/>
          <a:lstStyle/>
          <a:p>
            <a:r>
              <a:rPr lang="en-US"/>
              <a:t>int FBT_ID </a:t>
            </a:r>
            <a:r>
              <a:rPr lang="en-US" b="1">
                <a:solidFill>
                  <a:srgbClr val="FFFF00"/>
                </a:solidFill>
              </a:rPr>
              <a:t>[PK]</a:t>
            </a:r>
          </a:p>
          <a:p>
            <a:r>
              <a:rPr lang="en-US"/>
              <a:t>string Type</a:t>
            </a:r>
          </a:p>
          <a:p>
            <a:r>
              <a:rPr lang="en-US"/>
              <a:t>string TypeE</a:t>
            </a:r>
          </a:p>
          <a:p>
            <a:r>
              <a:rPr lang="en-US"/>
              <a:t>ICollection&lt;Branch&gt; </a:t>
            </a:r>
            <a:r>
              <a:rPr lang="en-US" b="1">
                <a:solidFill>
                  <a:srgbClr val="00B0F0"/>
                </a:solidFill>
              </a:rPr>
              <a:t>Branches</a:t>
            </a:r>
          </a:p>
        </p:txBody>
      </p:sp>
      <p:pic>
        <p:nvPicPr>
          <p:cNvPr id="5" name="Picture 4">
            <a:extLst>
              <a:ext uri="{FF2B5EF4-FFF2-40B4-BE49-F238E27FC236}">
                <a16:creationId xmlns:a16="http://schemas.microsoft.com/office/drawing/2014/main" id="{4DD5E613-C8E9-F646-6A0B-58840459A1BB}"/>
              </a:ext>
            </a:extLst>
          </p:cNvPr>
          <p:cNvPicPr>
            <a:picLocks noChangeAspect="1"/>
          </p:cNvPicPr>
          <p:nvPr/>
        </p:nvPicPr>
        <p:blipFill>
          <a:blip r:embed="rId2"/>
          <a:stretch>
            <a:fillRect/>
          </a:stretch>
        </p:blipFill>
        <p:spPr>
          <a:xfrm>
            <a:off x="6090676" y="961101"/>
            <a:ext cx="4036550" cy="1413521"/>
          </a:xfrm>
          <a:prstGeom prst="rect">
            <a:avLst/>
          </a:prstGeom>
        </p:spPr>
      </p:pic>
    </p:spTree>
    <p:extLst>
      <p:ext uri="{BB962C8B-B14F-4D97-AF65-F5344CB8AC3E}">
        <p14:creationId xmlns:p14="http://schemas.microsoft.com/office/powerpoint/2010/main" val="26363918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94142-D6B2-9151-0018-528E0802A351}"/>
              </a:ext>
            </a:extLst>
          </p:cNvPr>
          <p:cNvSpPr>
            <a:spLocks noGrp="1"/>
          </p:cNvSpPr>
          <p:nvPr>
            <p:ph type="title"/>
          </p:nvPr>
        </p:nvSpPr>
        <p:spPr>
          <a:xfrm>
            <a:off x="919119" y="0"/>
            <a:ext cx="10353762" cy="589935"/>
          </a:xfrm>
        </p:spPr>
        <p:txBody>
          <a:bodyPr>
            <a:normAutofit fontScale="90000"/>
          </a:bodyPr>
          <a:lstStyle/>
          <a:p>
            <a:r>
              <a:rPr lang="en-US" sz="3600" b="1">
                <a:solidFill>
                  <a:srgbClr val="FFFF00"/>
                </a:solidFill>
              </a:rPr>
              <a:t>SWF</a:t>
            </a:r>
            <a:r>
              <a:rPr lang="en-US" sz="3600" b="1"/>
              <a:t>.</a:t>
            </a:r>
            <a:r>
              <a:rPr lang="en-US" sz="3600" b="1">
                <a:solidFill>
                  <a:srgbClr val="FF0000"/>
                </a:solidFill>
              </a:rPr>
              <a:t>Flow_repayment_cycle [</a:t>
            </a:r>
            <a:r>
              <a:rPr lang="ar-EG" sz="3600" b="1">
                <a:solidFill>
                  <a:srgbClr val="FF0000"/>
                </a:solidFill>
              </a:rPr>
              <a:t>دورية السداد</a:t>
            </a:r>
            <a:r>
              <a:rPr lang="en-US" sz="3600" b="1">
                <a:solidFill>
                  <a:srgbClr val="FF0000"/>
                </a:solidFill>
              </a:rPr>
              <a:t>]</a:t>
            </a:r>
          </a:p>
        </p:txBody>
      </p:sp>
      <p:sp>
        <p:nvSpPr>
          <p:cNvPr id="3" name="Content Placeholder 2">
            <a:extLst>
              <a:ext uri="{FF2B5EF4-FFF2-40B4-BE49-F238E27FC236}">
                <a16:creationId xmlns:a16="http://schemas.microsoft.com/office/drawing/2014/main" id="{F7F5CE3E-449F-C96E-814F-C0E920ADD26C}"/>
              </a:ext>
            </a:extLst>
          </p:cNvPr>
          <p:cNvSpPr>
            <a:spLocks noGrp="1"/>
          </p:cNvSpPr>
          <p:nvPr>
            <p:ph idx="1"/>
          </p:nvPr>
        </p:nvSpPr>
        <p:spPr>
          <a:xfrm>
            <a:off x="196644" y="589935"/>
            <a:ext cx="11995355" cy="6125497"/>
          </a:xfrm>
        </p:spPr>
        <p:txBody>
          <a:bodyPr/>
          <a:lstStyle/>
          <a:p>
            <a:r>
              <a:rPr lang="en-US"/>
              <a:t>int FRC_Id   </a:t>
            </a:r>
            <a:r>
              <a:rPr lang="en-US" b="1">
                <a:solidFill>
                  <a:srgbClr val="FFFF00"/>
                </a:solidFill>
              </a:rPr>
              <a:t>[PK]</a:t>
            </a:r>
          </a:p>
          <a:p>
            <a:r>
              <a:rPr lang="en-US"/>
              <a:t>string Name_AR </a:t>
            </a:r>
          </a:p>
          <a:p>
            <a:r>
              <a:rPr lang="en-US"/>
              <a:t>string Name_EN </a:t>
            </a:r>
          </a:p>
          <a:p>
            <a:r>
              <a:rPr lang="en-US"/>
              <a:t>int Count_days: </a:t>
            </a:r>
            <a:r>
              <a:rPr lang="ar-EG"/>
              <a:t>عدد الوحدات الزمنية</a:t>
            </a:r>
            <a:endParaRPr lang="en-US"/>
          </a:p>
          <a:p>
            <a:pPr lvl="1"/>
            <a:r>
              <a:rPr lang="en-US"/>
              <a:t>If </a:t>
            </a:r>
            <a:r>
              <a:rPr lang="en-US" b="1">
                <a:solidFill>
                  <a:srgbClr val="FF0000"/>
                </a:solidFill>
              </a:rPr>
              <a:t>Day_Month</a:t>
            </a:r>
            <a:r>
              <a:rPr lang="en-US"/>
              <a:t> == 1 then </a:t>
            </a:r>
            <a:r>
              <a:rPr lang="en-US" b="1">
                <a:solidFill>
                  <a:srgbClr val="FF0000"/>
                </a:solidFill>
              </a:rPr>
              <a:t>Count_days</a:t>
            </a:r>
            <a:r>
              <a:rPr lang="en-US"/>
              <a:t> refers to number of days</a:t>
            </a:r>
          </a:p>
          <a:p>
            <a:pPr lvl="1"/>
            <a:r>
              <a:rPr lang="en-US"/>
              <a:t>If </a:t>
            </a:r>
            <a:r>
              <a:rPr lang="en-US" b="1">
                <a:solidFill>
                  <a:srgbClr val="FF0000"/>
                </a:solidFill>
              </a:rPr>
              <a:t>Day_Month</a:t>
            </a:r>
            <a:r>
              <a:rPr lang="en-US"/>
              <a:t> == 2 then </a:t>
            </a:r>
            <a:r>
              <a:rPr lang="en-US" b="1">
                <a:solidFill>
                  <a:srgbClr val="FF0000"/>
                </a:solidFill>
              </a:rPr>
              <a:t>Count_days</a:t>
            </a:r>
            <a:r>
              <a:rPr lang="en-US"/>
              <a:t>  refers to number of months</a:t>
            </a:r>
          </a:p>
          <a:p>
            <a:r>
              <a:rPr lang="en-US"/>
              <a:t>int Day_Month</a:t>
            </a:r>
          </a:p>
          <a:p>
            <a:pPr lvl="1"/>
            <a:r>
              <a:rPr lang="en-US"/>
              <a:t>1 refer to day	</a:t>
            </a:r>
          </a:p>
          <a:p>
            <a:pPr lvl="1"/>
            <a:r>
              <a:rPr lang="en-US"/>
              <a:t>2 refers to month</a:t>
            </a:r>
          </a:p>
          <a:p>
            <a:r>
              <a:rPr lang="en-US"/>
              <a:t>int Days_in_months</a:t>
            </a:r>
          </a:p>
          <a:p>
            <a:r>
              <a:rPr lang="en-US"/>
              <a:t>ICollection&lt;Flow_Products&gt; Flow_Products </a:t>
            </a:r>
          </a:p>
          <a:p>
            <a:r>
              <a:rPr lang="en-US"/>
              <a:t>ICollection&lt;Flow_Funding_request&gt; Flow_Funding_request</a:t>
            </a:r>
          </a:p>
          <a:p>
            <a:endParaRPr lang="en-US"/>
          </a:p>
        </p:txBody>
      </p:sp>
      <p:pic>
        <p:nvPicPr>
          <p:cNvPr id="5" name="Picture 4">
            <a:extLst>
              <a:ext uri="{FF2B5EF4-FFF2-40B4-BE49-F238E27FC236}">
                <a16:creationId xmlns:a16="http://schemas.microsoft.com/office/drawing/2014/main" id="{F1F601CC-3402-F74F-FCCD-2DF199050CBA}"/>
              </a:ext>
            </a:extLst>
          </p:cNvPr>
          <p:cNvPicPr>
            <a:picLocks noChangeAspect="1"/>
          </p:cNvPicPr>
          <p:nvPr/>
        </p:nvPicPr>
        <p:blipFill>
          <a:blip r:embed="rId2"/>
          <a:stretch>
            <a:fillRect/>
          </a:stretch>
        </p:blipFill>
        <p:spPr>
          <a:xfrm>
            <a:off x="5870522" y="681131"/>
            <a:ext cx="6217344" cy="1107912"/>
          </a:xfrm>
          <a:prstGeom prst="rect">
            <a:avLst/>
          </a:prstGeom>
        </p:spPr>
      </p:pic>
    </p:spTree>
    <p:extLst>
      <p:ext uri="{BB962C8B-B14F-4D97-AF65-F5344CB8AC3E}">
        <p14:creationId xmlns:p14="http://schemas.microsoft.com/office/powerpoint/2010/main" val="11390343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19171-CFF6-1A0B-D5F8-FB1D0D257193}"/>
              </a:ext>
            </a:extLst>
          </p:cNvPr>
          <p:cNvSpPr>
            <a:spLocks noGrp="1"/>
          </p:cNvSpPr>
          <p:nvPr>
            <p:ph type="title"/>
          </p:nvPr>
        </p:nvSpPr>
        <p:spPr>
          <a:xfrm>
            <a:off x="815472" y="0"/>
            <a:ext cx="10353762" cy="589935"/>
          </a:xfrm>
        </p:spPr>
        <p:txBody>
          <a:bodyPr>
            <a:normAutofit fontScale="90000"/>
          </a:bodyPr>
          <a:lstStyle/>
          <a:p>
            <a:r>
              <a:rPr lang="en-US" b="1" err="1">
                <a:solidFill>
                  <a:srgbClr val="FFFF00"/>
                </a:solidFill>
                <a:effectLst/>
              </a:rPr>
              <a:t>TWF</a:t>
            </a:r>
            <a:r>
              <a:rPr lang="en-US" b="1" err="1">
                <a:solidFill>
                  <a:srgbClr val="FF0000"/>
                </a:solidFill>
                <a:effectLst/>
              </a:rPr>
              <a:t>.Flow_GeneralSettings</a:t>
            </a:r>
            <a:endParaRPr lang="en-US">
              <a:solidFill>
                <a:srgbClr val="FF0000"/>
              </a:solidFill>
            </a:endParaRPr>
          </a:p>
        </p:txBody>
      </p:sp>
      <p:sp>
        <p:nvSpPr>
          <p:cNvPr id="3" name="Content Placeholder 2">
            <a:extLst>
              <a:ext uri="{FF2B5EF4-FFF2-40B4-BE49-F238E27FC236}">
                <a16:creationId xmlns:a16="http://schemas.microsoft.com/office/drawing/2014/main" id="{24CF6193-02AE-67B5-1622-4AF1A099973F}"/>
              </a:ext>
            </a:extLst>
          </p:cNvPr>
          <p:cNvSpPr>
            <a:spLocks noGrp="1"/>
          </p:cNvSpPr>
          <p:nvPr>
            <p:ph idx="1"/>
          </p:nvPr>
        </p:nvSpPr>
        <p:spPr>
          <a:xfrm>
            <a:off x="0" y="589935"/>
            <a:ext cx="12192000" cy="6268065"/>
          </a:xfrm>
        </p:spPr>
        <p:txBody>
          <a:bodyPr/>
          <a:lstStyle/>
          <a:p>
            <a:r>
              <a:rPr lang="en-US"/>
              <a:t>GeneralSettings_Id : PK</a:t>
            </a:r>
          </a:p>
          <a:p>
            <a:r>
              <a:rPr lang="en-US"/>
              <a:t>FinanceAmount_Approximation: decimal , </a:t>
            </a:r>
            <a:r>
              <a:rPr lang="ar-EG" sz="1650"/>
              <a:t>تقريب قيمة التمويل وليكن لاقرب الف بعد ادخال المبلغ المطلوب فشاشات ادخال طلب وزيارة وتحليل</a:t>
            </a:r>
            <a:endParaRPr lang="en-US" sz="1650"/>
          </a:p>
          <a:p>
            <a:r>
              <a:rPr lang="en-US"/>
              <a:t>AllowInsertFund: int , </a:t>
            </a:r>
            <a:r>
              <a:rPr lang="ar-EG"/>
              <a:t>عند إدخال طلب تمويل </a:t>
            </a:r>
          </a:p>
          <a:p>
            <a:pPr lvl="1"/>
            <a:r>
              <a:rPr lang="en-US"/>
              <a:t>AllowInsertFund == 1 // </a:t>
            </a:r>
            <a:r>
              <a:rPr lang="en-US" b="1">
                <a:latin typeface="Tahoma" panose="020B0604030504040204" pitchFamily="34" charset="0"/>
                <a:ea typeface="Tahoma" panose="020B0604030504040204" pitchFamily="34" charset="0"/>
                <a:cs typeface="Tahoma" panose="020B0604030504040204" pitchFamily="34" charset="0"/>
              </a:rPr>
              <a:t>allow insert fund</a:t>
            </a:r>
          </a:p>
          <a:p>
            <a:pPr lvl="1"/>
            <a:r>
              <a:rPr lang="en-US"/>
              <a:t>AllowInsertFund ==0 // not allow insert fund</a:t>
            </a:r>
          </a:p>
          <a:p>
            <a:r>
              <a:rPr lang="en-US"/>
              <a:t>Approximation: decimal, </a:t>
            </a:r>
          </a:p>
          <a:p>
            <a:endParaRPr lang="en-US"/>
          </a:p>
          <a:p>
            <a:endParaRPr lang="en-US"/>
          </a:p>
          <a:p>
            <a:endParaRPr lang="en-US"/>
          </a:p>
          <a:p>
            <a:pPr lvl="1"/>
            <a:endParaRPr lang="en-US" sz="1400"/>
          </a:p>
        </p:txBody>
      </p:sp>
      <p:pic>
        <p:nvPicPr>
          <p:cNvPr id="5" name="Picture 4">
            <a:extLst>
              <a:ext uri="{FF2B5EF4-FFF2-40B4-BE49-F238E27FC236}">
                <a16:creationId xmlns:a16="http://schemas.microsoft.com/office/drawing/2014/main" id="{B396C214-4048-E7E3-C256-A4EB9D784A3C}"/>
              </a:ext>
            </a:extLst>
          </p:cNvPr>
          <p:cNvPicPr>
            <a:picLocks noChangeAspect="1"/>
          </p:cNvPicPr>
          <p:nvPr/>
        </p:nvPicPr>
        <p:blipFill>
          <a:blip r:embed="rId2"/>
          <a:stretch>
            <a:fillRect/>
          </a:stretch>
        </p:blipFill>
        <p:spPr>
          <a:xfrm>
            <a:off x="86707" y="3243337"/>
            <a:ext cx="11661058" cy="510172"/>
          </a:xfrm>
          <a:prstGeom prst="rect">
            <a:avLst/>
          </a:prstGeom>
        </p:spPr>
      </p:pic>
      <p:pic>
        <p:nvPicPr>
          <p:cNvPr id="6" name="Picture 5">
            <a:extLst>
              <a:ext uri="{FF2B5EF4-FFF2-40B4-BE49-F238E27FC236}">
                <a16:creationId xmlns:a16="http://schemas.microsoft.com/office/drawing/2014/main" id="{6259D315-42B1-A527-665B-4CDEF3B6F6CE}"/>
              </a:ext>
            </a:extLst>
          </p:cNvPr>
          <p:cNvPicPr>
            <a:picLocks noChangeAspect="1"/>
          </p:cNvPicPr>
          <p:nvPr/>
        </p:nvPicPr>
        <p:blipFill>
          <a:blip r:embed="rId3"/>
          <a:stretch>
            <a:fillRect/>
          </a:stretch>
        </p:blipFill>
        <p:spPr>
          <a:xfrm>
            <a:off x="87930" y="3809550"/>
            <a:ext cx="11659835" cy="563219"/>
          </a:xfrm>
          <a:prstGeom prst="rect">
            <a:avLst/>
          </a:prstGeom>
        </p:spPr>
      </p:pic>
      <p:pic>
        <p:nvPicPr>
          <p:cNvPr id="8" name="Picture 7">
            <a:extLst>
              <a:ext uri="{FF2B5EF4-FFF2-40B4-BE49-F238E27FC236}">
                <a16:creationId xmlns:a16="http://schemas.microsoft.com/office/drawing/2014/main" id="{0DA809C7-37D9-6FBF-6258-84E1355DF90B}"/>
              </a:ext>
            </a:extLst>
          </p:cNvPr>
          <p:cNvPicPr>
            <a:picLocks noChangeAspect="1"/>
          </p:cNvPicPr>
          <p:nvPr/>
        </p:nvPicPr>
        <p:blipFill>
          <a:blip r:embed="rId4"/>
          <a:stretch>
            <a:fillRect/>
          </a:stretch>
        </p:blipFill>
        <p:spPr>
          <a:xfrm>
            <a:off x="86707" y="4425254"/>
            <a:ext cx="11659835" cy="529991"/>
          </a:xfrm>
          <a:prstGeom prst="rect">
            <a:avLst/>
          </a:prstGeom>
        </p:spPr>
      </p:pic>
      <p:pic>
        <p:nvPicPr>
          <p:cNvPr id="10" name="Picture 9">
            <a:extLst>
              <a:ext uri="{FF2B5EF4-FFF2-40B4-BE49-F238E27FC236}">
                <a16:creationId xmlns:a16="http://schemas.microsoft.com/office/drawing/2014/main" id="{8A31679D-0D22-2EBC-77A9-DA7BCCA4EADE}"/>
              </a:ext>
            </a:extLst>
          </p:cNvPr>
          <p:cNvPicPr>
            <a:picLocks noChangeAspect="1"/>
          </p:cNvPicPr>
          <p:nvPr/>
        </p:nvPicPr>
        <p:blipFill>
          <a:blip r:embed="rId5"/>
          <a:stretch>
            <a:fillRect/>
          </a:stretch>
        </p:blipFill>
        <p:spPr>
          <a:xfrm>
            <a:off x="86707" y="5004405"/>
            <a:ext cx="11320950" cy="510172"/>
          </a:xfrm>
          <a:prstGeom prst="rect">
            <a:avLst/>
          </a:prstGeom>
        </p:spPr>
      </p:pic>
      <p:pic>
        <p:nvPicPr>
          <p:cNvPr id="12" name="Picture 11">
            <a:extLst>
              <a:ext uri="{FF2B5EF4-FFF2-40B4-BE49-F238E27FC236}">
                <a16:creationId xmlns:a16="http://schemas.microsoft.com/office/drawing/2014/main" id="{9D90B51C-4BE7-6475-8922-DC2AD22673A5}"/>
              </a:ext>
            </a:extLst>
          </p:cNvPr>
          <p:cNvPicPr>
            <a:picLocks noChangeAspect="1"/>
          </p:cNvPicPr>
          <p:nvPr/>
        </p:nvPicPr>
        <p:blipFill>
          <a:blip r:embed="rId6"/>
          <a:stretch>
            <a:fillRect/>
          </a:stretch>
        </p:blipFill>
        <p:spPr>
          <a:xfrm>
            <a:off x="86707" y="5584508"/>
            <a:ext cx="11659834" cy="494660"/>
          </a:xfrm>
          <a:prstGeom prst="rect">
            <a:avLst/>
          </a:prstGeom>
        </p:spPr>
      </p:pic>
      <p:pic>
        <p:nvPicPr>
          <p:cNvPr id="14" name="Picture 13">
            <a:extLst>
              <a:ext uri="{FF2B5EF4-FFF2-40B4-BE49-F238E27FC236}">
                <a16:creationId xmlns:a16="http://schemas.microsoft.com/office/drawing/2014/main" id="{A20E6F0E-6C9B-D4B2-FDFB-87B886427429}"/>
              </a:ext>
            </a:extLst>
          </p:cNvPr>
          <p:cNvPicPr>
            <a:picLocks noChangeAspect="1"/>
          </p:cNvPicPr>
          <p:nvPr/>
        </p:nvPicPr>
        <p:blipFill>
          <a:blip r:embed="rId7"/>
          <a:stretch>
            <a:fillRect/>
          </a:stretch>
        </p:blipFill>
        <p:spPr>
          <a:xfrm>
            <a:off x="86707" y="6143840"/>
            <a:ext cx="11659834" cy="663453"/>
          </a:xfrm>
          <a:prstGeom prst="rect">
            <a:avLst/>
          </a:prstGeom>
        </p:spPr>
      </p:pic>
    </p:spTree>
    <p:extLst>
      <p:ext uri="{BB962C8B-B14F-4D97-AF65-F5344CB8AC3E}">
        <p14:creationId xmlns:p14="http://schemas.microsoft.com/office/powerpoint/2010/main" val="17221417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C5ABE-BF9E-001D-EBAF-5DD540BC2175}"/>
              </a:ext>
            </a:extLst>
          </p:cNvPr>
          <p:cNvSpPr>
            <a:spLocks noGrp="1"/>
          </p:cNvSpPr>
          <p:nvPr>
            <p:ph type="title"/>
          </p:nvPr>
        </p:nvSpPr>
        <p:spPr>
          <a:xfrm>
            <a:off x="913795" y="0"/>
            <a:ext cx="10353762" cy="417443"/>
          </a:xfrm>
        </p:spPr>
        <p:txBody>
          <a:bodyPr>
            <a:normAutofit fontScale="90000"/>
          </a:bodyPr>
          <a:lstStyle/>
          <a:p>
            <a:r>
              <a:rPr lang="en-US" sz="2800" b="1">
                <a:solidFill>
                  <a:srgbClr val="FFFF00"/>
                </a:solidFill>
                <a:effectLst/>
              </a:rPr>
              <a:t>TWF</a:t>
            </a:r>
            <a:r>
              <a:rPr lang="en-US" sz="2800" b="1">
                <a:solidFill>
                  <a:srgbClr val="FF0000"/>
                </a:solidFill>
              </a:rPr>
              <a:t>.Flow_Funding_request 1</a:t>
            </a:r>
            <a:endParaRPr lang="en-US" sz="2800" b="1">
              <a:solidFill>
                <a:srgbClr val="FF0000"/>
              </a:solidFill>
              <a:effectLst/>
            </a:endParaRPr>
          </a:p>
        </p:txBody>
      </p:sp>
      <p:sp>
        <p:nvSpPr>
          <p:cNvPr id="3" name="Content Placeholder 2">
            <a:extLst>
              <a:ext uri="{FF2B5EF4-FFF2-40B4-BE49-F238E27FC236}">
                <a16:creationId xmlns:a16="http://schemas.microsoft.com/office/drawing/2014/main" id="{466D83B8-9737-6D50-1A3C-779CBDBDB609}"/>
              </a:ext>
            </a:extLst>
          </p:cNvPr>
          <p:cNvSpPr>
            <a:spLocks noGrp="1"/>
          </p:cNvSpPr>
          <p:nvPr>
            <p:ph idx="1"/>
          </p:nvPr>
        </p:nvSpPr>
        <p:spPr>
          <a:xfrm>
            <a:off x="206476" y="417444"/>
            <a:ext cx="11985523" cy="6440556"/>
          </a:xfrm>
        </p:spPr>
        <p:txBody>
          <a:bodyPr>
            <a:normAutofit/>
          </a:bodyPr>
          <a:lstStyle/>
          <a:p>
            <a:r>
              <a:rPr lang="en-US" sz="1800" b="1">
                <a:solidFill>
                  <a:srgbClr val="FF0000"/>
                </a:solidFill>
              </a:rPr>
              <a:t>decimal</a:t>
            </a:r>
            <a:r>
              <a:rPr lang="en-US" sz="1800"/>
              <a:t> </a:t>
            </a:r>
            <a:r>
              <a:rPr lang="en-US" sz="1800" err="1"/>
              <a:t>Request_id</a:t>
            </a:r>
            <a:endParaRPr lang="en-US" sz="1800"/>
          </a:p>
          <a:p>
            <a:r>
              <a:rPr lang="en-US" sz="1800" b="1">
                <a:solidFill>
                  <a:srgbClr val="FFFF00"/>
                </a:solidFill>
              </a:rPr>
              <a:t>int</a:t>
            </a:r>
            <a:r>
              <a:rPr lang="en-US" sz="1800"/>
              <a:t> BranchId [FK] // the branch that funding request had done from it </a:t>
            </a:r>
          </a:p>
          <a:p>
            <a:r>
              <a:rPr lang="en-US" sz="1800">
                <a:effectLst/>
              </a:rPr>
              <a:t>ComId [FK] // is always 1 because we have only tamweely</a:t>
            </a:r>
          </a:p>
          <a:p>
            <a:r>
              <a:rPr lang="en-US" sz="1800" err="1">
                <a:effectLst/>
              </a:rPr>
              <a:t>product_Id</a:t>
            </a:r>
            <a:r>
              <a:rPr lang="en-US" sz="1800">
                <a:effectLst/>
              </a:rPr>
              <a:t> [FK] [</a:t>
            </a:r>
            <a:r>
              <a:rPr lang="ar-EG" sz="1800">
                <a:effectLst/>
              </a:rPr>
              <a:t>نوع التمويل</a:t>
            </a:r>
            <a:r>
              <a:rPr lang="en-US" sz="1800">
                <a:effectLst/>
              </a:rPr>
              <a:t>]</a:t>
            </a:r>
            <a:endParaRPr lang="ar-EG" sz="1800">
              <a:effectLst/>
            </a:endParaRPr>
          </a:p>
          <a:p>
            <a:r>
              <a:rPr lang="en-US" sz="1800"/>
              <a:t>bool </a:t>
            </a:r>
            <a:r>
              <a:rPr lang="en-US" sz="1800" err="1"/>
              <a:t>Request_</a:t>
            </a:r>
            <a:r>
              <a:rPr lang="en-US" sz="1800"/>
              <a:t>status (IsNew) [1 new , 0 renew ]</a:t>
            </a:r>
            <a:endParaRPr lang="ar-EG" sz="1800"/>
          </a:p>
          <a:p>
            <a:r>
              <a:rPr lang="en-US" sz="1800"/>
              <a:t>decimal </a:t>
            </a:r>
            <a:r>
              <a:rPr lang="en-US" sz="1800" err="1"/>
              <a:t>Customer_ID</a:t>
            </a:r>
            <a:r>
              <a:rPr lang="en-US" sz="1800"/>
              <a:t> [FK] [</a:t>
            </a:r>
            <a:r>
              <a:rPr lang="ar-EG" sz="1800"/>
              <a:t>رقم العميل</a:t>
            </a:r>
            <a:r>
              <a:rPr lang="en-US" sz="1800"/>
              <a:t>]</a:t>
            </a:r>
            <a:endParaRPr lang="ar-EG" sz="1800"/>
          </a:p>
          <a:p>
            <a:r>
              <a:rPr lang="en-US" sz="1800"/>
              <a:t>decimal? </a:t>
            </a:r>
            <a:r>
              <a:rPr lang="en-US" sz="1800" err="1"/>
              <a:t>Enterprise_ID</a:t>
            </a:r>
            <a:r>
              <a:rPr lang="en-US" sz="1800"/>
              <a:t> [FK] [</a:t>
            </a:r>
            <a:r>
              <a:rPr lang="ar-EG" sz="1800"/>
              <a:t>المنشأة</a:t>
            </a:r>
            <a:r>
              <a:rPr lang="en-US" sz="1800"/>
              <a:t>]</a:t>
            </a:r>
            <a:endParaRPr lang="ar-EG" sz="1800"/>
          </a:p>
          <a:p>
            <a:r>
              <a:rPr lang="en-US" sz="1800"/>
              <a:t>decimal </a:t>
            </a:r>
            <a:r>
              <a:rPr lang="en-US" sz="1800" err="1"/>
              <a:t>Required_amount</a:t>
            </a:r>
            <a:r>
              <a:rPr lang="en-US" sz="1800"/>
              <a:t> // </a:t>
            </a:r>
            <a:r>
              <a:rPr lang="ar-EG" sz="1800"/>
              <a:t> المبلغ الذي طلبه العميل</a:t>
            </a:r>
            <a:endParaRPr lang="en-US" sz="1800"/>
          </a:p>
          <a:p>
            <a:pPr marL="36900" indent="0">
              <a:buNone/>
            </a:pPr>
            <a:br>
              <a:rPr lang="en-US">
                <a:effectLst/>
              </a:rPr>
            </a:br>
            <a:endParaRPr lang="en-US">
              <a:effectLst/>
            </a:endParaRPr>
          </a:p>
          <a:p>
            <a:pPr lvl="1"/>
            <a:endParaRPr lang="en-US" sz="1600"/>
          </a:p>
          <a:p>
            <a:endParaRPr lang="en-US" sz="1800"/>
          </a:p>
          <a:p>
            <a:endParaRPr lang="en-US" sz="1800"/>
          </a:p>
          <a:p>
            <a:endParaRPr lang="en-US" sz="1800"/>
          </a:p>
        </p:txBody>
      </p:sp>
      <p:pic>
        <p:nvPicPr>
          <p:cNvPr id="7" name="Picture 6">
            <a:extLst>
              <a:ext uri="{FF2B5EF4-FFF2-40B4-BE49-F238E27FC236}">
                <a16:creationId xmlns:a16="http://schemas.microsoft.com/office/drawing/2014/main" id="{7041B630-D254-6792-325F-0B621F05EB63}"/>
              </a:ext>
            </a:extLst>
          </p:cNvPr>
          <p:cNvPicPr>
            <a:picLocks noChangeAspect="1"/>
          </p:cNvPicPr>
          <p:nvPr/>
        </p:nvPicPr>
        <p:blipFill>
          <a:blip r:embed="rId2"/>
          <a:stretch>
            <a:fillRect/>
          </a:stretch>
        </p:blipFill>
        <p:spPr>
          <a:xfrm>
            <a:off x="3797686" y="3866140"/>
            <a:ext cx="7948824" cy="556773"/>
          </a:xfrm>
          <a:prstGeom prst="rect">
            <a:avLst/>
          </a:prstGeom>
        </p:spPr>
      </p:pic>
    </p:spTree>
    <p:extLst>
      <p:ext uri="{BB962C8B-B14F-4D97-AF65-F5344CB8AC3E}">
        <p14:creationId xmlns:p14="http://schemas.microsoft.com/office/powerpoint/2010/main" val="15350060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564C4-F863-7A31-B699-66A559808C11}"/>
              </a:ext>
            </a:extLst>
          </p:cNvPr>
          <p:cNvSpPr>
            <a:spLocks noGrp="1"/>
          </p:cNvSpPr>
          <p:nvPr>
            <p:ph type="title"/>
          </p:nvPr>
        </p:nvSpPr>
        <p:spPr>
          <a:xfrm>
            <a:off x="919119" y="0"/>
            <a:ext cx="10353762" cy="511277"/>
          </a:xfrm>
        </p:spPr>
        <p:txBody>
          <a:bodyPr>
            <a:normAutofit fontScale="90000"/>
          </a:bodyPr>
          <a:lstStyle/>
          <a:p>
            <a:r>
              <a:rPr lang="en-US" sz="3200" b="1">
                <a:solidFill>
                  <a:srgbClr val="FFFF00"/>
                </a:solidFill>
                <a:effectLst/>
              </a:rPr>
              <a:t>TWF</a:t>
            </a:r>
            <a:r>
              <a:rPr lang="en-US" sz="3200" b="1">
                <a:solidFill>
                  <a:srgbClr val="FF0000"/>
                </a:solidFill>
              </a:rPr>
              <a:t>.Flow_Funding_request [cont. 2]</a:t>
            </a:r>
            <a:endParaRPr lang="en-US" sz="3200"/>
          </a:p>
        </p:txBody>
      </p:sp>
      <p:sp>
        <p:nvSpPr>
          <p:cNvPr id="3" name="Content Placeholder 2">
            <a:extLst>
              <a:ext uri="{FF2B5EF4-FFF2-40B4-BE49-F238E27FC236}">
                <a16:creationId xmlns:a16="http://schemas.microsoft.com/office/drawing/2014/main" id="{F544E1B6-35EF-A2D0-DB73-3E12457B381D}"/>
              </a:ext>
            </a:extLst>
          </p:cNvPr>
          <p:cNvSpPr>
            <a:spLocks noGrp="1"/>
          </p:cNvSpPr>
          <p:nvPr>
            <p:ph idx="1"/>
          </p:nvPr>
        </p:nvSpPr>
        <p:spPr>
          <a:xfrm>
            <a:off x="0" y="511276"/>
            <a:ext cx="12192000" cy="6346723"/>
          </a:xfrm>
        </p:spPr>
        <p:txBody>
          <a:bodyPr>
            <a:normAutofit/>
          </a:bodyPr>
          <a:lstStyle/>
          <a:p>
            <a:r>
              <a:rPr lang="en-US" sz="1800"/>
              <a:t>decimal </a:t>
            </a:r>
            <a:r>
              <a:rPr lang="en-US" sz="1800" b="1">
                <a:solidFill>
                  <a:srgbClr val="FFFF00"/>
                </a:solidFill>
              </a:rPr>
              <a:t>Financing_amount</a:t>
            </a:r>
            <a:r>
              <a:rPr lang="en-US" sz="1800"/>
              <a:t> //</a:t>
            </a:r>
          </a:p>
          <a:p>
            <a:pPr lvl="1"/>
            <a:r>
              <a:rPr lang="en-US" sz="1700">
                <a:effectLst/>
              </a:rPr>
              <a:t>FinanceAmountBeforeApproximations=	Math.floor((Financing_amount*(1+this.ProductLayer.Ramping_Ratio/100))+this.ProductLayer.Ramping_Amount)</a:t>
            </a:r>
          </a:p>
          <a:p>
            <a:pPr lvl="1"/>
            <a:r>
              <a:rPr lang="en-US">
                <a:effectLst/>
              </a:rPr>
              <a:t>Financing_amount = </a:t>
            </a:r>
            <a:r>
              <a:rPr lang="en-US" sz="1600">
                <a:effectLst/>
              </a:rPr>
              <a:t>Math.ceil(FinanceAmountBeforeApproximations/this.FinanceAmount_Approximation)*this.FinanceAmount_Approximation; </a:t>
            </a:r>
          </a:p>
          <a:p>
            <a:pPr lvl="1"/>
            <a:r>
              <a:rPr lang="en-US">
                <a:effectLst/>
              </a:rPr>
              <a:t>FinanceAmount_Approximation // coming from general setting</a:t>
            </a:r>
            <a:endParaRPr lang="en-US"/>
          </a:p>
          <a:p>
            <a:r>
              <a:rPr lang="en-US"/>
              <a:t>int Actual_financing // </a:t>
            </a:r>
            <a:r>
              <a:rPr lang="ar-EG"/>
              <a:t>المبلغ الذي تم صرفه فعلياً للعميل</a:t>
            </a:r>
          </a:p>
          <a:p>
            <a:r>
              <a:rPr lang="en-US"/>
              <a:t>int Repayment period // </a:t>
            </a:r>
            <a:r>
              <a:rPr lang="ar-EG"/>
              <a:t>عدد الاقساط</a:t>
            </a:r>
            <a:endParaRPr lang="en-US"/>
          </a:p>
          <a:p>
            <a:r>
              <a:rPr lang="en-US"/>
              <a:t>purpose_Id [FK] // </a:t>
            </a:r>
            <a:r>
              <a:rPr lang="ar-EG"/>
              <a:t>الهدف من التمويل</a:t>
            </a:r>
            <a:endParaRPr lang="en-US"/>
          </a:p>
          <a:p>
            <a:pPr lvl="1"/>
            <a:r>
              <a:rPr lang="en-US"/>
              <a:t>1 : </a:t>
            </a:r>
            <a:r>
              <a:rPr lang="ar-EG"/>
              <a:t>تمويل رأس مال عامل</a:t>
            </a:r>
            <a:endParaRPr lang="en-US"/>
          </a:p>
          <a:p>
            <a:pPr lvl="1"/>
            <a:r>
              <a:rPr lang="en-US"/>
              <a:t>2: </a:t>
            </a:r>
            <a:r>
              <a:rPr lang="ar-EG"/>
              <a:t>تمويل أدوات إنتاج</a:t>
            </a:r>
            <a:endParaRPr lang="en-US"/>
          </a:p>
          <a:p>
            <a:pPr lvl="1"/>
            <a:r>
              <a:rPr lang="en-US"/>
              <a:t>3: </a:t>
            </a:r>
            <a:r>
              <a:rPr lang="ar-EG"/>
              <a:t>تمويل إحلال وتجديد</a:t>
            </a:r>
            <a:endParaRPr lang="en-US"/>
          </a:p>
          <a:p>
            <a:r>
              <a:rPr lang="en-US"/>
              <a:t>int status_code </a:t>
            </a:r>
            <a:r>
              <a:rPr lang="en-US" b="1">
                <a:solidFill>
                  <a:srgbClr val="FFFF00"/>
                </a:solidFill>
              </a:rPr>
              <a:t>[FK]</a:t>
            </a:r>
            <a:r>
              <a:rPr lang="en-US"/>
              <a:t> // [from Flow_status]</a:t>
            </a:r>
          </a:p>
          <a:p>
            <a:pPr lvl="1"/>
            <a:r>
              <a:rPr lang="en-US"/>
              <a:t>0 : </a:t>
            </a:r>
            <a:r>
              <a:rPr lang="ar-EG"/>
              <a:t>الطلب عند مسؤول التمويل</a:t>
            </a:r>
            <a:endParaRPr lang="en-US"/>
          </a:p>
          <a:p>
            <a:pPr lvl="1"/>
            <a:r>
              <a:rPr lang="en-US"/>
              <a:t>50: </a:t>
            </a:r>
            <a:r>
              <a:rPr lang="ar-EG"/>
              <a:t>اغلاق التمويل</a:t>
            </a:r>
          </a:p>
          <a:p>
            <a:r>
              <a:rPr lang="en-US"/>
              <a:t>DateTime Creation_Data</a:t>
            </a:r>
            <a:endParaRPr lang="ar-EG"/>
          </a:p>
        </p:txBody>
      </p:sp>
      <p:pic>
        <p:nvPicPr>
          <p:cNvPr id="5" name="Picture 4">
            <a:extLst>
              <a:ext uri="{FF2B5EF4-FFF2-40B4-BE49-F238E27FC236}">
                <a16:creationId xmlns:a16="http://schemas.microsoft.com/office/drawing/2014/main" id="{C72AC027-ABDB-4673-3C64-162CD207DE21}"/>
              </a:ext>
            </a:extLst>
          </p:cNvPr>
          <p:cNvPicPr>
            <a:picLocks noChangeAspect="1"/>
          </p:cNvPicPr>
          <p:nvPr/>
        </p:nvPicPr>
        <p:blipFill>
          <a:blip r:embed="rId2"/>
          <a:stretch>
            <a:fillRect/>
          </a:stretch>
        </p:blipFill>
        <p:spPr>
          <a:xfrm>
            <a:off x="4743648" y="3429000"/>
            <a:ext cx="7303482" cy="477279"/>
          </a:xfrm>
          <a:prstGeom prst="rect">
            <a:avLst/>
          </a:prstGeom>
        </p:spPr>
      </p:pic>
      <p:pic>
        <p:nvPicPr>
          <p:cNvPr id="7" name="Picture 6">
            <a:extLst>
              <a:ext uri="{FF2B5EF4-FFF2-40B4-BE49-F238E27FC236}">
                <a16:creationId xmlns:a16="http://schemas.microsoft.com/office/drawing/2014/main" id="{A098AF7A-963B-7C12-3F55-959980149A58}"/>
              </a:ext>
            </a:extLst>
          </p:cNvPr>
          <p:cNvPicPr>
            <a:picLocks noChangeAspect="1"/>
          </p:cNvPicPr>
          <p:nvPr/>
        </p:nvPicPr>
        <p:blipFill>
          <a:blip r:embed="rId3"/>
          <a:stretch>
            <a:fillRect/>
          </a:stretch>
        </p:blipFill>
        <p:spPr>
          <a:xfrm>
            <a:off x="4743648" y="4224331"/>
            <a:ext cx="7303482" cy="477278"/>
          </a:xfrm>
          <a:prstGeom prst="rect">
            <a:avLst/>
          </a:prstGeom>
        </p:spPr>
      </p:pic>
    </p:spTree>
    <p:extLst>
      <p:ext uri="{BB962C8B-B14F-4D97-AF65-F5344CB8AC3E}">
        <p14:creationId xmlns:p14="http://schemas.microsoft.com/office/powerpoint/2010/main" val="10384465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6A461-930C-DBFD-5099-1D67067ACDE7}"/>
              </a:ext>
            </a:extLst>
          </p:cNvPr>
          <p:cNvSpPr>
            <a:spLocks noGrp="1"/>
          </p:cNvSpPr>
          <p:nvPr>
            <p:ph type="title"/>
          </p:nvPr>
        </p:nvSpPr>
        <p:spPr>
          <a:xfrm>
            <a:off x="913795" y="0"/>
            <a:ext cx="10353762" cy="550606"/>
          </a:xfrm>
        </p:spPr>
        <p:txBody>
          <a:bodyPr>
            <a:normAutofit/>
          </a:bodyPr>
          <a:lstStyle/>
          <a:p>
            <a:r>
              <a:rPr lang="en-US" sz="2800" b="1">
                <a:solidFill>
                  <a:srgbClr val="FFFF00"/>
                </a:solidFill>
                <a:effectLst/>
              </a:rPr>
              <a:t>TWF</a:t>
            </a:r>
            <a:r>
              <a:rPr lang="en-US" sz="2800" b="1">
                <a:solidFill>
                  <a:srgbClr val="FF0000"/>
                </a:solidFill>
              </a:rPr>
              <a:t>.Flow_Funding_request [cont. 3]</a:t>
            </a:r>
            <a:endParaRPr lang="en-US" sz="2800"/>
          </a:p>
        </p:txBody>
      </p:sp>
      <p:sp>
        <p:nvSpPr>
          <p:cNvPr id="3" name="Content Placeholder 2">
            <a:extLst>
              <a:ext uri="{FF2B5EF4-FFF2-40B4-BE49-F238E27FC236}">
                <a16:creationId xmlns:a16="http://schemas.microsoft.com/office/drawing/2014/main" id="{4DAEF54E-1369-44D7-AF28-AE5CD2599DDD}"/>
              </a:ext>
            </a:extLst>
          </p:cNvPr>
          <p:cNvSpPr>
            <a:spLocks noGrp="1"/>
          </p:cNvSpPr>
          <p:nvPr>
            <p:ph idx="1"/>
          </p:nvPr>
        </p:nvSpPr>
        <p:spPr>
          <a:xfrm>
            <a:off x="79513" y="550606"/>
            <a:ext cx="12112487" cy="6307394"/>
          </a:xfrm>
        </p:spPr>
        <p:txBody>
          <a:bodyPr>
            <a:normAutofit/>
          </a:bodyPr>
          <a:lstStyle/>
          <a:p>
            <a:r>
              <a:rPr lang="en-US"/>
              <a:t>String </a:t>
            </a:r>
            <a:r>
              <a:rPr lang="en-US" err="1"/>
              <a:t>Account_Code</a:t>
            </a:r>
            <a:r>
              <a:rPr lang="en-US"/>
              <a:t> : </a:t>
            </a:r>
            <a:r>
              <a:rPr lang="ar-EG">
                <a:effectLst/>
              </a:rPr>
              <a:t>يتم الاضافه وقت صرف التمويل</a:t>
            </a:r>
          </a:p>
          <a:p>
            <a:pPr lvl="1"/>
            <a:r>
              <a:rPr lang="en-US" b="1">
                <a:solidFill>
                  <a:srgbClr val="00B050"/>
                </a:solidFill>
              </a:rPr>
              <a:t>It is added </a:t>
            </a:r>
            <a:r>
              <a:rPr lang="en-US" b="1">
                <a:solidFill>
                  <a:srgbClr val="00B050"/>
                </a:solidFill>
                <a:effectLst/>
              </a:rPr>
              <a:t>upon Disbursement</a:t>
            </a:r>
            <a:endParaRPr lang="en-US">
              <a:effectLst/>
            </a:endParaRPr>
          </a:p>
          <a:p>
            <a:pPr lvl="1"/>
            <a:r>
              <a:rPr lang="ar-EG">
                <a:effectLst/>
              </a:rPr>
              <a:t>, رقم حساب الدفعات المقدمة الخاصة بالعميل وده اللى من خلاله العميل بيدفع المصاريف الادارية او الدفعة الاولى او التأمين او العمولة</a:t>
            </a:r>
          </a:p>
          <a:p>
            <a:r>
              <a:rPr lang="en-US">
                <a:effectLst/>
              </a:rPr>
              <a:t>int DEBTNO	  // </a:t>
            </a:r>
            <a:r>
              <a:rPr lang="ar-EG">
                <a:effectLst/>
              </a:rPr>
              <a:t>العميل الواحد قد يكون لديه اكثر من قرض فى نفس الوقت فهذا التسلسل الذي يفرق بين القرض الاول والثانى</a:t>
            </a:r>
          </a:p>
          <a:p>
            <a:pPr lvl="1"/>
            <a:r>
              <a:rPr lang="ar-EG">
                <a:effectLst/>
              </a:rPr>
              <a:t>عدد القروض بالنسبه للعميل هذا لان العميل ممكن يأخذ اكثر من قرض ففي كل مره يأخذ فيها العميل قرض يتم مضاعفة الرقم الموجود في هذا الحقل بمعنى أوضح العميل اخذ اول قرض من الشركة يوضع في هذا الحقل رقم 1  واذا قام بسداد القرض واخذ قرض اخر يتم وضع في هذا الحقل 2 وهكذه</a:t>
            </a:r>
            <a:endParaRPr lang="en-US">
              <a:effectLst/>
            </a:endParaRPr>
          </a:p>
          <a:p>
            <a:r>
              <a:rPr lang="en-US">
                <a:effectLst/>
              </a:rPr>
              <a:t>int </a:t>
            </a:r>
            <a:r>
              <a:rPr lang="en-US" err="1"/>
              <a:t>Layer_code</a:t>
            </a:r>
            <a:r>
              <a:rPr lang="en-US"/>
              <a:t> : </a:t>
            </a:r>
            <a:r>
              <a:rPr lang="ar-EG"/>
              <a:t>شريحة القرض</a:t>
            </a:r>
            <a:endParaRPr lang="en-US"/>
          </a:p>
          <a:p>
            <a:pPr lvl="1"/>
            <a:r>
              <a:rPr lang="en-US">
                <a:effectLst/>
              </a:rPr>
              <a:t>obtained through a inquiry within the table </a:t>
            </a:r>
            <a:r>
              <a:rPr lang="en-US" err="1">
                <a:effectLst/>
              </a:rPr>
              <a:t>Flow_Products</a:t>
            </a:r>
            <a:r>
              <a:rPr lang="en-US">
                <a:effectLst/>
              </a:rPr>
              <a:t>.</a:t>
            </a:r>
          </a:p>
          <a:p>
            <a:r>
              <a:rPr lang="en-US">
                <a:effectLst/>
              </a:rPr>
              <a:t> </a:t>
            </a:r>
            <a:r>
              <a:rPr lang="en-US" sz="1800">
                <a:effectLst/>
              </a:rPr>
              <a:t>decimal? </a:t>
            </a:r>
            <a:r>
              <a:rPr lang="en-US" sz="1800"/>
              <a:t>DEBT_VALUE</a:t>
            </a:r>
            <a:endParaRPr lang="ar-EG" sz="1800"/>
          </a:p>
          <a:p>
            <a:pPr lvl="1"/>
            <a:r>
              <a:rPr lang="en-US" b="1">
                <a:solidFill>
                  <a:srgbClr val="00B050"/>
                </a:solidFill>
              </a:rPr>
              <a:t>It is added </a:t>
            </a:r>
            <a:r>
              <a:rPr lang="en-US" b="1">
                <a:solidFill>
                  <a:srgbClr val="00B050"/>
                </a:solidFill>
                <a:effectLst/>
              </a:rPr>
              <a:t>upon Disbursement</a:t>
            </a:r>
            <a:endParaRPr lang="ar-EG"/>
          </a:p>
          <a:p>
            <a:pPr lvl="1"/>
            <a:r>
              <a:rPr lang="en-US" sz="1750">
                <a:effectLst/>
              </a:rPr>
              <a:t>its value = </a:t>
            </a:r>
            <a:r>
              <a:rPr lang="ar-EG" sz="1750">
                <a:effectLst/>
              </a:rPr>
              <a:t>أصل مبلغ القرض الذي وافق عليه البنك</a:t>
            </a:r>
            <a:r>
              <a:rPr lang="en-US" sz="1750">
                <a:effectLst/>
              </a:rPr>
              <a:t> + </a:t>
            </a:r>
            <a:r>
              <a:rPr lang="ar-EG" sz="1750">
                <a:effectLst/>
              </a:rPr>
              <a:t>المصاريف الإدارية التي تضاف على القرض</a:t>
            </a:r>
            <a:endParaRPr lang="en-US" sz="1750">
              <a:effectLst/>
            </a:endParaRPr>
          </a:p>
          <a:p>
            <a:pPr lvl="1"/>
            <a:r>
              <a:rPr lang="ar-EG">
                <a:effectLst/>
              </a:rPr>
              <a:t>قيمة متناقصة مع السداد ويتم الانقاص من هذا المبلغ مع سداد كل قسط للعميل</a:t>
            </a:r>
          </a:p>
          <a:p>
            <a:r>
              <a:rPr lang="en-US" sz="1800">
                <a:effectLst/>
              </a:rPr>
              <a:t>decimal? </a:t>
            </a:r>
            <a:r>
              <a:rPr lang="en-US" sz="1800"/>
              <a:t>PRIMIUM_VALUE : </a:t>
            </a:r>
            <a:r>
              <a:rPr lang="ar-EG" sz="1800"/>
              <a:t>مبلغ القسط</a:t>
            </a:r>
          </a:p>
          <a:p>
            <a:pPr lvl="1"/>
            <a:r>
              <a:rPr lang="en-US" b="1">
                <a:solidFill>
                  <a:srgbClr val="00B050"/>
                </a:solidFill>
              </a:rPr>
              <a:t>It is added upon Disbursement</a:t>
            </a:r>
            <a:endParaRPr lang="ar-EG" b="1">
              <a:solidFill>
                <a:srgbClr val="00B050"/>
              </a:solidFill>
            </a:endParaRPr>
          </a:p>
          <a:p>
            <a:pPr lvl="1"/>
            <a:r>
              <a:rPr lang="ar-EG">
                <a:effectLst/>
              </a:rPr>
              <a:t>ويكون المصدر من مرحلة الزيارة الميدانية ويكون من خلال حقل قيمة القسط الموجود على شاشة الزيارة الميدانية</a:t>
            </a:r>
            <a:endParaRPr lang="en-US">
              <a:effectLst/>
            </a:endParaRPr>
          </a:p>
        </p:txBody>
      </p:sp>
      <p:pic>
        <p:nvPicPr>
          <p:cNvPr id="8" name="Picture 7">
            <a:extLst>
              <a:ext uri="{FF2B5EF4-FFF2-40B4-BE49-F238E27FC236}">
                <a16:creationId xmlns:a16="http://schemas.microsoft.com/office/drawing/2014/main" id="{A9255937-E1B1-3806-337B-ACC54810377A}"/>
              </a:ext>
            </a:extLst>
          </p:cNvPr>
          <p:cNvPicPr>
            <a:picLocks noChangeAspect="1"/>
          </p:cNvPicPr>
          <p:nvPr/>
        </p:nvPicPr>
        <p:blipFill>
          <a:blip r:embed="rId2"/>
          <a:stretch>
            <a:fillRect/>
          </a:stretch>
        </p:blipFill>
        <p:spPr>
          <a:xfrm>
            <a:off x="5214663" y="3865313"/>
            <a:ext cx="6215337" cy="537721"/>
          </a:xfrm>
          <a:prstGeom prst="rect">
            <a:avLst/>
          </a:prstGeom>
        </p:spPr>
      </p:pic>
    </p:spTree>
    <p:extLst>
      <p:ext uri="{BB962C8B-B14F-4D97-AF65-F5344CB8AC3E}">
        <p14:creationId xmlns:p14="http://schemas.microsoft.com/office/powerpoint/2010/main" val="41737584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9DBB5-DC4F-8BAE-D69E-2EAD6F1EA40F}"/>
              </a:ext>
            </a:extLst>
          </p:cNvPr>
          <p:cNvSpPr>
            <a:spLocks noGrp="1"/>
          </p:cNvSpPr>
          <p:nvPr>
            <p:ph type="title"/>
          </p:nvPr>
        </p:nvSpPr>
        <p:spPr>
          <a:xfrm>
            <a:off x="1003247" y="0"/>
            <a:ext cx="10353762" cy="576470"/>
          </a:xfrm>
        </p:spPr>
        <p:txBody>
          <a:bodyPr>
            <a:normAutofit fontScale="90000"/>
          </a:bodyPr>
          <a:lstStyle/>
          <a:p>
            <a:r>
              <a:rPr lang="en-US" b="1">
                <a:solidFill>
                  <a:srgbClr val="FFFF00"/>
                </a:solidFill>
                <a:effectLst/>
              </a:rPr>
              <a:t>TWF</a:t>
            </a:r>
            <a:r>
              <a:rPr lang="en-US" b="1">
                <a:solidFill>
                  <a:srgbClr val="FF0000"/>
                </a:solidFill>
              </a:rPr>
              <a:t>.Flow_Funding_request [cont. 3]</a:t>
            </a:r>
            <a:endParaRPr lang="en-US"/>
          </a:p>
        </p:txBody>
      </p:sp>
      <p:sp>
        <p:nvSpPr>
          <p:cNvPr id="3" name="Content Placeholder 2">
            <a:extLst>
              <a:ext uri="{FF2B5EF4-FFF2-40B4-BE49-F238E27FC236}">
                <a16:creationId xmlns:a16="http://schemas.microsoft.com/office/drawing/2014/main" id="{EFF156A1-44BA-C0B3-7F82-26C14420681F}"/>
              </a:ext>
            </a:extLst>
          </p:cNvPr>
          <p:cNvSpPr>
            <a:spLocks noGrp="1"/>
          </p:cNvSpPr>
          <p:nvPr>
            <p:ph idx="1"/>
          </p:nvPr>
        </p:nvSpPr>
        <p:spPr>
          <a:xfrm>
            <a:off x="228600" y="576471"/>
            <a:ext cx="11767930" cy="6132442"/>
          </a:xfrm>
        </p:spPr>
        <p:txBody>
          <a:bodyPr/>
          <a:lstStyle/>
          <a:p>
            <a:r>
              <a:rPr lang="en-US">
                <a:effectLst/>
              </a:rPr>
              <a:t>FRC_Id:  its table is </a:t>
            </a:r>
            <a:r>
              <a:rPr lang="en-US"/>
              <a:t>Flow_repayment_cycle</a:t>
            </a:r>
          </a:p>
          <a:p>
            <a:r>
              <a:rPr lang="en-US" sz="1800"/>
              <a:t>F_PRIMIUM_DATE : </a:t>
            </a:r>
            <a:r>
              <a:rPr lang="ar-EG" sz="1800"/>
              <a:t>تاريخ اول قسط</a:t>
            </a:r>
            <a:endParaRPr lang="en-US" sz="1800"/>
          </a:p>
          <a:p>
            <a:pPr lvl="1"/>
            <a:r>
              <a:rPr lang="en-US" sz="1900" b="1">
                <a:solidFill>
                  <a:srgbClr val="00B050"/>
                </a:solidFill>
              </a:rPr>
              <a:t>Addded upon disbursement</a:t>
            </a:r>
          </a:p>
          <a:p>
            <a:pPr lvl="1"/>
            <a:r>
              <a:rPr lang="ar-EG"/>
              <a:t>ويتم تحديد تاريخ اول قسط من خلال معرفة نوع المنتج ودورية السداد المرتبطه به ولو هو شهر مثلا نقوم بإضافة </a:t>
            </a:r>
            <a:r>
              <a:rPr lang="ar-EG" b="1">
                <a:solidFill>
                  <a:srgbClr val="00B0F0"/>
                </a:solidFill>
              </a:rPr>
              <a:t>التاريخ شهر زيادة من تاريخ الصرف</a:t>
            </a:r>
            <a:r>
              <a:rPr lang="ar-EG"/>
              <a:t> وهكذه في لو أسبوع او نصف شهر وهكذه</a:t>
            </a:r>
            <a:endParaRPr lang="en-US"/>
          </a:p>
          <a:p>
            <a:r>
              <a:rPr lang="en-US" sz="1800"/>
              <a:t>L_PRIMIUM_DATE</a:t>
            </a:r>
          </a:p>
          <a:p>
            <a:pPr lvl="1"/>
            <a:r>
              <a:rPr lang="en-US" sz="1900" b="1">
                <a:solidFill>
                  <a:srgbClr val="00B050"/>
                </a:solidFill>
              </a:rPr>
              <a:t>Addded upon disbursement</a:t>
            </a:r>
          </a:p>
          <a:p>
            <a:pPr lvl="1"/>
            <a:r>
              <a:rPr lang="ar-EG"/>
              <a:t>ويتم تحديد تاريخ اخر قسط من خلال عدد الأشهر المحدد من قبل الزيارة الميدنية</a:t>
            </a:r>
            <a:endParaRPr lang="en-US"/>
          </a:p>
          <a:p>
            <a:r>
              <a:rPr lang="en-US" sz="1800"/>
              <a:t>DateTime  BUSDATE : </a:t>
            </a:r>
            <a:r>
              <a:rPr lang="ar-EG" sz="1800"/>
              <a:t>تاريخ الصرف</a:t>
            </a:r>
          </a:p>
          <a:p>
            <a:r>
              <a:rPr lang="en-US" sz="1800"/>
              <a:t>EXPDATE</a:t>
            </a:r>
            <a:r>
              <a:rPr lang="ar-EG" sz="1800"/>
              <a:t> </a:t>
            </a:r>
            <a:r>
              <a:rPr lang="en-US" sz="1800"/>
              <a:t> :  </a:t>
            </a:r>
            <a:r>
              <a:rPr lang="ar-EG" sz="1800"/>
              <a:t>تاريخ انتهاء القرض</a:t>
            </a:r>
            <a:endParaRPr lang="en-US" sz="1800"/>
          </a:p>
          <a:p>
            <a:pPr lvl="1"/>
            <a:r>
              <a:rPr lang="en-US" sz="1900" b="1">
                <a:solidFill>
                  <a:srgbClr val="00B050"/>
                </a:solidFill>
              </a:rPr>
              <a:t>Addded upon disbursement</a:t>
            </a:r>
            <a:endParaRPr lang="ar-EG" sz="1600"/>
          </a:p>
          <a:p>
            <a:pPr lvl="1"/>
            <a:r>
              <a:rPr lang="ar-EG"/>
              <a:t>ويتم تحديد تاريخ انتهاء القرض من خلال عدد الأشهر المحدد من قبل الزيارة الميدنية</a:t>
            </a:r>
          </a:p>
          <a:p>
            <a:pPr lvl="1"/>
            <a:r>
              <a:rPr lang="ar-EG"/>
              <a:t>ويتم التحديث على هذا التاريخ اذا تم السداد قبل انتهار التمويل مثلا اذا سدد سداد معجل</a:t>
            </a:r>
          </a:p>
          <a:p>
            <a:endParaRPr lang="en-US"/>
          </a:p>
        </p:txBody>
      </p:sp>
      <p:pic>
        <p:nvPicPr>
          <p:cNvPr id="5" name="Picture 4">
            <a:extLst>
              <a:ext uri="{FF2B5EF4-FFF2-40B4-BE49-F238E27FC236}">
                <a16:creationId xmlns:a16="http://schemas.microsoft.com/office/drawing/2014/main" id="{0B7D0BBA-3160-ADB4-0E23-67572344D07F}"/>
              </a:ext>
            </a:extLst>
          </p:cNvPr>
          <p:cNvPicPr>
            <a:picLocks noChangeAspect="1"/>
          </p:cNvPicPr>
          <p:nvPr/>
        </p:nvPicPr>
        <p:blipFill>
          <a:blip r:embed="rId2"/>
          <a:stretch>
            <a:fillRect/>
          </a:stretch>
        </p:blipFill>
        <p:spPr>
          <a:xfrm>
            <a:off x="4549249" y="3861503"/>
            <a:ext cx="7642751" cy="489045"/>
          </a:xfrm>
          <a:prstGeom prst="rect">
            <a:avLst/>
          </a:prstGeom>
        </p:spPr>
      </p:pic>
    </p:spTree>
    <p:extLst>
      <p:ext uri="{BB962C8B-B14F-4D97-AF65-F5344CB8AC3E}">
        <p14:creationId xmlns:p14="http://schemas.microsoft.com/office/powerpoint/2010/main" val="140049484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85B4D-5FEA-2016-0B84-B9424D8E1268}"/>
              </a:ext>
            </a:extLst>
          </p:cNvPr>
          <p:cNvSpPr>
            <a:spLocks noGrp="1"/>
          </p:cNvSpPr>
          <p:nvPr>
            <p:ph type="title"/>
          </p:nvPr>
        </p:nvSpPr>
        <p:spPr>
          <a:xfrm>
            <a:off x="521110" y="0"/>
            <a:ext cx="10893931" cy="442452"/>
          </a:xfrm>
        </p:spPr>
        <p:txBody>
          <a:bodyPr>
            <a:noAutofit/>
          </a:bodyPr>
          <a:lstStyle/>
          <a:p>
            <a:r>
              <a:rPr lang="en-US" sz="3200" b="1">
                <a:solidFill>
                  <a:srgbClr val="FFFF00"/>
                </a:solidFill>
                <a:effectLst/>
              </a:rPr>
              <a:t>TWF</a:t>
            </a:r>
            <a:r>
              <a:rPr lang="en-US" sz="3200" b="1">
                <a:solidFill>
                  <a:srgbClr val="FF0000"/>
                </a:solidFill>
              </a:rPr>
              <a:t>.Flow_Funding_request [cont.]</a:t>
            </a:r>
            <a:endParaRPr lang="en-US" sz="3200"/>
          </a:p>
        </p:txBody>
      </p:sp>
      <p:sp>
        <p:nvSpPr>
          <p:cNvPr id="3" name="Content Placeholder 2">
            <a:extLst>
              <a:ext uri="{FF2B5EF4-FFF2-40B4-BE49-F238E27FC236}">
                <a16:creationId xmlns:a16="http://schemas.microsoft.com/office/drawing/2014/main" id="{5AC57097-1A77-E325-EF9A-CFD5C0B7B27A}"/>
              </a:ext>
            </a:extLst>
          </p:cNvPr>
          <p:cNvSpPr>
            <a:spLocks noGrp="1"/>
          </p:cNvSpPr>
          <p:nvPr>
            <p:ph idx="1"/>
          </p:nvPr>
        </p:nvSpPr>
        <p:spPr>
          <a:xfrm>
            <a:off x="167148" y="589935"/>
            <a:ext cx="11867536" cy="6164826"/>
          </a:xfrm>
        </p:spPr>
        <p:txBody>
          <a:bodyPr>
            <a:normAutofit/>
          </a:bodyPr>
          <a:lstStyle/>
          <a:p>
            <a:r>
              <a:rPr lang="en-US" sz="1800"/>
              <a:t>Curr</a:t>
            </a:r>
            <a:r>
              <a:rPr lang="en-US" sz="1800" err="1"/>
              <a:t>_code</a:t>
            </a:r>
            <a:r>
              <a:rPr lang="en-US" sz="1800"/>
              <a:t>: [FK]  </a:t>
            </a:r>
            <a:r>
              <a:rPr lang="ar-EG" sz="1800"/>
              <a:t>العملة</a:t>
            </a:r>
            <a:endParaRPr lang="en-US" sz="1800"/>
          </a:p>
          <a:p>
            <a:r>
              <a:rPr lang="en-US" sz="1800"/>
              <a:t>decimal? Rate: </a:t>
            </a:r>
            <a:r>
              <a:rPr lang="ar-EG" sz="1800"/>
              <a:t>سعر الفائدة الذي سيتم تطبيقه على مبلغ التمويل</a:t>
            </a:r>
            <a:endParaRPr lang="en-US" sz="1800"/>
          </a:p>
          <a:p>
            <a:r>
              <a:rPr lang="en-US" sz="1800"/>
              <a:t>decimal? COM_RAT : </a:t>
            </a:r>
            <a:r>
              <a:rPr lang="ar-EG" sz="1800"/>
              <a:t>هي مبلغ مقطوع للمصاريف الادارية يتم استقطاعها مرة واحدة فقط عند بداية منح القرض أو التعلية</a:t>
            </a:r>
            <a:r>
              <a:rPr lang="en-US" sz="1800"/>
              <a:t> </a:t>
            </a:r>
            <a:endParaRPr lang="ar-EG" sz="1800"/>
          </a:p>
          <a:p>
            <a:r>
              <a:rPr lang="en-US" sz="1800"/>
              <a:t>APP_FEE: </a:t>
            </a:r>
            <a:r>
              <a:rPr lang="ar-EG" sz="1800"/>
              <a:t>عمولة الطلب  وهى رسوم غير مستردة لانها تغطى تكلفة مراجعة الاوراق والاستعلام الائتماني ايز كور</a:t>
            </a:r>
          </a:p>
          <a:p>
            <a:r>
              <a:rPr lang="en-US"/>
              <a:t>int? </a:t>
            </a:r>
            <a:r>
              <a:rPr lang="en-US" err="1"/>
              <a:t>bank_code</a:t>
            </a:r>
            <a:r>
              <a:rPr lang="ar-EG"/>
              <a:t>: </a:t>
            </a:r>
            <a:r>
              <a:rPr lang="en-US"/>
              <a:t> [FK]: </a:t>
            </a:r>
            <a:r>
              <a:rPr lang="ar-EG">
                <a:effectLst/>
              </a:rPr>
              <a:t>المعرّف الفريد للبنك</a:t>
            </a:r>
            <a:endParaRPr lang="en-US" sz="1600"/>
          </a:p>
        </p:txBody>
      </p:sp>
    </p:spTree>
    <p:extLst>
      <p:ext uri="{BB962C8B-B14F-4D97-AF65-F5344CB8AC3E}">
        <p14:creationId xmlns:p14="http://schemas.microsoft.com/office/powerpoint/2010/main" val="41832443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60A8C-DE11-C2D1-F442-EDB1FCABCB17}"/>
              </a:ext>
            </a:extLst>
          </p:cNvPr>
          <p:cNvSpPr>
            <a:spLocks noGrp="1"/>
          </p:cNvSpPr>
          <p:nvPr>
            <p:ph type="title"/>
          </p:nvPr>
        </p:nvSpPr>
        <p:spPr>
          <a:xfrm>
            <a:off x="815473" y="0"/>
            <a:ext cx="10353762" cy="511277"/>
          </a:xfrm>
        </p:spPr>
        <p:txBody>
          <a:bodyPr>
            <a:noAutofit/>
          </a:bodyPr>
          <a:lstStyle/>
          <a:p>
            <a:r>
              <a:rPr lang="en-US" sz="2800" b="1">
                <a:solidFill>
                  <a:srgbClr val="FFFF00"/>
                </a:solidFill>
                <a:effectLst/>
              </a:rPr>
              <a:t>TWF</a:t>
            </a:r>
            <a:r>
              <a:rPr lang="en-US" sz="2800" b="1">
                <a:solidFill>
                  <a:srgbClr val="FF0000"/>
                </a:solidFill>
              </a:rPr>
              <a:t>.Flow_Funding_request [cont.]</a:t>
            </a:r>
            <a:endParaRPr lang="en-US" sz="2800"/>
          </a:p>
        </p:txBody>
      </p:sp>
      <p:sp>
        <p:nvSpPr>
          <p:cNvPr id="3" name="Content Placeholder 2">
            <a:extLst>
              <a:ext uri="{FF2B5EF4-FFF2-40B4-BE49-F238E27FC236}">
                <a16:creationId xmlns:a16="http://schemas.microsoft.com/office/drawing/2014/main" id="{A92D1E62-98B2-C2CA-6447-48C4F3BEB45E}"/>
              </a:ext>
            </a:extLst>
          </p:cNvPr>
          <p:cNvSpPr>
            <a:spLocks noGrp="1"/>
          </p:cNvSpPr>
          <p:nvPr>
            <p:ph idx="1"/>
          </p:nvPr>
        </p:nvSpPr>
        <p:spPr>
          <a:xfrm>
            <a:off x="226142" y="511277"/>
            <a:ext cx="11759381" cy="6213988"/>
          </a:xfrm>
        </p:spPr>
        <p:txBody>
          <a:bodyPr>
            <a:normAutofit/>
          </a:bodyPr>
          <a:lstStyle/>
          <a:p>
            <a:r>
              <a:rPr lang="en-US" sz="1800" err="1"/>
              <a:t>UserId</a:t>
            </a:r>
            <a:r>
              <a:rPr lang="en-US" sz="1800"/>
              <a:t>: FK , </a:t>
            </a:r>
            <a:r>
              <a:rPr lang="ar-EG" sz="1800">
                <a:effectLst/>
              </a:rPr>
              <a:t>كود الموظف الذى انشأ القرض</a:t>
            </a:r>
            <a:endParaRPr lang="en-US" sz="1800">
              <a:effectLst/>
            </a:endParaRPr>
          </a:p>
          <a:p>
            <a:r>
              <a:rPr lang="en-US" sz="1800" err="1"/>
              <a:t>Approv_value</a:t>
            </a:r>
            <a:r>
              <a:rPr lang="en-US" sz="1800"/>
              <a:t> : </a:t>
            </a:r>
            <a:r>
              <a:rPr lang="ar-EG" sz="1800">
                <a:effectLst/>
              </a:rPr>
              <a:t>المبلغ الموصى به من المسئول الاول فقط بدون اى اضافات</a:t>
            </a:r>
            <a:endParaRPr lang="en-US" sz="1800"/>
          </a:p>
          <a:p>
            <a:r>
              <a:rPr lang="en-US" sz="1800" err="1"/>
              <a:t>Approved_Amount</a:t>
            </a:r>
            <a:r>
              <a:rPr lang="en-US" sz="1800"/>
              <a:t> : </a:t>
            </a:r>
            <a:r>
              <a:rPr lang="en-US" sz="1800" b="1">
                <a:solidFill>
                  <a:srgbClr val="00B0F0"/>
                </a:solidFill>
              </a:rPr>
              <a:t>missed at docs</a:t>
            </a:r>
            <a:endParaRPr lang="en-US" sz="1800"/>
          </a:p>
          <a:p>
            <a:r>
              <a:rPr lang="en-US" sz="1800"/>
              <a:t>TOTAL_AMOUNT :  </a:t>
            </a:r>
            <a:r>
              <a:rPr lang="ar-EG" sz="1800"/>
              <a:t>يتم إضافة هذا الحقل من مرحلة الزيارة الميدانية اجمالى المبلغ الموصى به وهو قيمة التمويل المطلوب + الفائده</a:t>
            </a:r>
            <a:endParaRPr lang="en-US" sz="1800" b="1">
              <a:solidFill>
                <a:srgbClr val="00B0F0"/>
              </a:solidFill>
            </a:endParaRPr>
          </a:p>
          <a:p>
            <a:r>
              <a:rPr lang="en-US" sz="1800" err="1"/>
              <a:t>NO_Months</a:t>
            </a:r>
            <a:r>
              <a:rPr lang="en-US" sz="1800"/>
              <a:t> : </a:t>
            </a:r>
            <a:r>
              <a:rPr lang="ar-EG" sz="1800"/>
              <a:t>عدد الأشهر الموصى به  من مسئول التمويل</a:t>
            </a:r>
            <a:endParaRPr lang="en-US" sz="1800"/>
          </a:p>
          <a:p>
            <a:r>
              <a:rPr lang="en-US" sz="1800" err="1"/>
              <a:t>Open_date</a:t>
            </a:r>
            <a:r>
              <a:rPr lang="en-US" sz="1800"/>
              <a:t> : </a:t>
            </a:r>
            <a:r>
              <a:rPr lang="en-US" sz="1800">
                <a:effectLst/>
              </a:rPr>
              <a:t>date of request based on the </a:t>
            </a:r>
            <a:r>
              <a:rPr lang="en-US" sz="1800" err="1">
                <a:effectLst/>
              </a:rPr>
              <a:t>busdate</a:t>
            </a:r>
            <a:endParaRPr lang="en-US" sz="1800"/>
          </a:p>
          <a:p>
            <a:r>
              <a:rPr lang="en-US" sz="1800" err="1"/>
              <a:t>Yield_periodicity</a:t>
            </a:r>
            <a:r>
              <a:rPr lang="en-US" sz="1800"/>
              <a:t> : </a:t>
            </a:r>
            <a:r>
              <a:rPr lang="ar-EG" sz="1800" b="1">
                <a:solidFill>
                  <a:srgbClr val="00B0F0"/>
                </a:solidFill>
              </a:rPr>
              <a:t>دورية العائد من أجل برنامج الكشك</a:t>
            </a:r>
            <a:endParaRPr lang="en-US" sz="1800" b="1">
              <a:solidFill>
                <a:srgbClr val="00B0F0"/>
              </a:solidFill>
            </a:endParaRPr>
          </a:p>
          <a:p>
            <a:r>
              <a:rPr lang="en-US" sz="1800" err="1"/>
              <a:t>Code_ED</a:t>
            </a:r>
            <a:r>
              <a:rPr lang="en-US" sz="1800"/>
              <a:t> : </a:t>
            </a:r>
            <a:r>
              <a:rPr lang="ar-EG" b="1">
                <a:effectLst/>
              </a:rPr>
              <a:t>المُعرّف الرقمي للجهة المنفذة للصرف</a:t>
            </a:r>
            <a:r>
              <a:rPr lang="ar-EG">
                <a:effectLst/>
              </a:rPr>
              <a:t>.</a:t>
            </a:r>
            <a:endParaRPr lang="en-US" sz="1800"/>
          </a:p>
          <a:p>
            <a:r>
              <a:rPr lang="en-US" sz="1800"/>
              <a:t>Grant : </a:t>
            </a:r>
            <a:r>
              <a:rPr lang="ar-EG" sz="1800"/>
              <a:t>في حالة العميل لديه تمويل قائم وبياخد تمويل جديد علي منتج مختلف بقول التمويل الجديد قائم ولا لا قائم=0 وغير قائم =1</a:t>
            </a:r>
            <a:endParaRPr lang="en-US" sz="1800"/>
          </a:p>
          <a:p>
            <a:r>
              <a:rPr lang="en-US" sz="1800" err="1"/>
              <a:t>PenaltyAmount</a:t>
            </a:r>
            <a:r>
              <a:rPr lang="en-US" sz="1800"/>
              <a:t> : </a:t>
            </a:r>
            <a:r>
              <a:rPr lang="ar-EG" sz="1800"/>
              <a:t>اجمالى الغرامات</a:t>
            </a:r>
            <a:endParaRPr lang="en-US" sz="1800"/>
          </a:p>
          <a:p>
            <a:r>
              <a:rPr lang="en-US" err="1"/>
              <a:t>Flag_History</a:t>
            </a:r>
            <a:endParaRPr lang="en-US"/>
          </a:p>
          <a:p>
            <a:r>
              <a:rPr lang="en-US" err="1"/>
              <a:t>VisitCount</a:t>
            </a:r>
            <a:endParaRPr lang="en-US"/>
          </a:p>
        </p:txBody>
      </p:sp>
    </p:spTree>
    <p:extLst>
      <p:ext uri="{BB962C8B-B14F-4D97-AF65-F5344CB8AC3E}">
        <p14:creationId xmlns:p14="http://schemas.microsoft.com/office/powerpoint/2010/main" val="16108841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D059F-40BC-AB46-49D3-FF85B10058C3}"/>
              </a:ext>
            </a:extLst>
          </p:cNvPr>
          <p:cNvSpPr>
            <a:spLocks noGrp="1"/>
          </p:cNvSpPr>
          <p:nvPr>
            <p:ph type="title"/>
          </p:nvPr>
        </p:nvSpPr>
        <p:spPr>
          <a:xfrm>
            <a:off x="398206" y="0"/>
            <a:ext cx="11395587" cy="639097"/>
          </a:xfrm>
        </p:spPr>
        <p:txBody>
          <a:bodyPr>
            <a:noAutofit/>
          </a:bodyPr>
          <a:lstStyle/>
          <a:p>
            <a:r>
              <a:rPr lang="en-US" sz="3600" b="1">
                <a:solidFill>
                  <a:srgbClr val="FFFF00"/>
                </a:solidFill>
                <a:effectLst/>
              </a:rPr>
              <a:t>TWF</a:t>
            </a:r>
            <a:r>
              <a:rPr lang="en-US" sz="3600" b="1">
                <a:solidFill>
                  <a:srgbClr val="FF0000"/>
                </a:solidFill>
              </a:rPr>
              <a:t>.Flow_Funding_request [cont.]</a:t>
            </a:r>
          </a:p>
        </p:txBody>
      </p:sp>
      <p:sp>
        <p:nvSpPr>
          <p:cNvPr id="3" name="Content Placeholder 2">
            <a:extLst>
              <a:ext uri="{FF2B5EF4-FFF2-40B4-BE49-F238E27FC236}">
                <a16:creationId xmlns:a16="http://schemas.microsoft.com/office/drawing/2014/main" id="{94D7ECD7-CC6A-361C-A01B-D83A127F07ED}"/>
              </a:ext>
            </a:extLst>
          </p:cNvPr>
          <p:cNvSpPr>
            <a:spLocks noGrp="1"/>
          </p:cNvSpPr>
          <p:nvPr>
            <p:ph idx="1"/>
          </p:nvPr>
        </p:nvSpPr>
        <p:spPr>
          <a:xfrm>
            <a:off x="432619" y="639097"/>
            <a:ext cx="10834938" cy="6046838"/>
          </a:xfrm>
        </p:spPr>
        <p:txBody>
          <a:bodyPr>
            <a:normAutofit/>
          </a:bodyPr>
          <a:lstStyle/>
          <a:p>
            <a:r>
              <a:rPr lang="en-US" sz="1800" err="1"/>
              <a:t>GuarVisitCount</a:t>
            </a:r>
            <a:r>
              <a:rPr lang="en-US" sz="1800"/>
              <a:t>: </a:t>
            </a:r>
            <a:endParaRPr lang="ar-EG" sz="1800"/>
          </a:p>
          <a:p>
            <a:pPr lvl="1"/>
            <a:r>
              <a:rPr lang="ar-EG" sz="1600"/>
              <a:t>بخزن فيه عدد المرات التي لم يستدل علي الضامن فيه لو  الضامن لم يستدل عليه اكثر من  مراتين بيترفض رفض نهلائي</a:t>
            </a:r>
          </a:p>
          <a:p>
            <a:pPr lvl="1"/>
            <a:endParaRPr lang="en-US" sz="1600"/>
          </a:p>
          <a:p>
            <a:r>
              <a:rPr lang="en-US" sz="1800" err="1"/>
              <a:t>Loan_code</a:t>
            </a:r>
            <a:r>
              <a:rPr lang="en-US" sz="1800"/>
              <a:t> : </a:t>
            </a:r>
            <a:r>
              <a:rPr lang="ar-EG" sz="1800"/>
              <a:t>كود التمويل</a:t>
            </a:r>
            <a:endParaRPr lang="en-US" sz="1800"/>
          </a:p>
          <a:p>
            <a:r>
              <a:rPr lang="en-US" sz="1800"/>
              <a:t>int </a:t>
            </a:r>
            <a:r>
              <a:rPr lang="en-US" sz="1800" err="1"/>
              <a:t>WriteOffFlag</a:t>
            </a:r>
            <a:r>
              <a:rPr lang="en-US" sz="1800"/>
              <a:t>: </a:t>
            </a:r>
            <a:r>
              <a:rPr lang="ar-EG" sz="1800"/>
              <a:t>التوريق</a:t>
            </a:r>
            <a:endParaRPr lang="en-US" sz="1800"/>
          </a:p>
          <a:p>
            <a:r>
              <a:rPr lang="en-US" sz="1800" err="1"/>
              <a:t>Securitization_Flag</a:t>
            </a:r>
            <a:r>
              <a:rPr lang="en-US" sz="1800"/>
              <a:t> : </a:t>
            </a:r>
            <a:r>
              <a:rPr lang="ar-EG" sz="1800"/>
              <a:t>اعدام</a:t>
            </a:r>
            <a:endParaRPr lang="en-US" sz="1800"/>
          </a:p>
          <a:p>
            <a:r>
              <a:rPr lang="en-US" sz="1800" err="1"/>
              <a:t>IsDisbursmented</a:t>
            </a:r>
            <a:r>
              <a:rPr lang="en-US" sz="1800"/>
              <a:t> : // actually </a:t>
            </a:r>
            <a:r>
              <a:rPr lang="en-US" sz="1800" err="1"/>
              <a:t>recieve</a:t>
            </a:r>
            <a:r>
              <a:rPr lang="en-US" sz="1800"/>
              <a:t> money on his Hand Or not (but  </a:t>
            </a:r>
            <a:r>
              <a:rPr lang="en-US" sz="1800" err="1"/>
              <a:t>StatusCode</a:t>
            </a:r>
            <a:r>
              <a:rPr lang="en-US" sz="1800"/>
              <a:t> is still = 9 )</a:t>
            </a:r>
          </a:p>
        </p:txBody>
      </p:sp>
    </p:spTree>
    <p:extLst>
      <p:ext uri="{BB962C8B-B14F-4D97-AF65-F5344CB8AC3E}">
        <p14:creationId xmlns:p14="http://schemas.microsoft.com/office/powerpoint/2010/main" val="8147100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9C386-977F-3EF3-D653-27D861F6482F}"/>
              </a:ext>
            </a:extLst>
          </p:cNvPr>
          <p:cNvSpPr>
            <a:spLocks noGrp="1"/>
          </p:cNvSpPr>
          <p:nvPr>
            <p:ph type="title"/>
          </p:nvPr>
        </p:nvSpPr>
        <p:spPr>
          <a:xfrm>
            <a:off x="913795" y="0"/>
            <a:ext cx="10353762" cy="692426"/>
          </a:xfrm>
        </p:spPr>
        <p:txBody>
          <a:bodyPr>
            <a:normAutofit fontScale="90000"/>
          </a:bodyPr>
          <a:lstStyle/>
          <a:p>
            <a:r>
              <a:rPr lang="en-US" b="1">
                <a:solidFill>
                  <a:srgbClr val="FFFF00"/>
                </a:solidFill>
                <a:effectLst/>
              </a:rPr>
              <a:t>TWF</a:t>
            </a:r>
            <a:r>
              <a:rPr lang="en-US" b="1">
                <a:solidFill>
                  <a:srgbClr val="FF0000"/>
                </a:solidFill>
              </a:rPr>
              <a:t>.Flow_Funding_request [cont.]</a:t>
            </a:r>
            <a:endParaRPr lang="en-US"/>
          </a:p>
        </p:txBody>
      </p:sp>
      <p:sp>
        <p:nvSpPr>
          <p:cNvPr id="3" name="Content Placeholder 2">
            <a:extLst>
              <a:ext uri="{FF2B5EF4-FFF2-40B4-BE49-F238E27FC236}">
                <a16:creationId xmlns:a16="http://schemas.microsoft.com/office/drawing/2014/main" id="{AD82EFCA-7DD8-76CF-C422-B2C5728D9837}"/>
              </a:ext>
            </a:extLst>
          </p:cNvPr>
          <p:cNvSpPr>
            <a:spLocks noGrp="1"/>
          </p:cNvSpPr>
          <p:nvPr>
            <p:ph idx="1"/>
          </p:nvPr>
        </p:nvSpPr>
        <p:spPr>
          <a:xfrm>
            <a:off x="198783" y="692426"/>
            <a:ext cx="11837504" cy="6076121"/>
          </a:xfrm>
        </p:spPr>
        <p:txBody>
          <a:bodyPr/>
          <a:lstStyle/>
          <a:p>
            <a:r>
              <a:rPr lang="en-US"/>
              <a:t>After funding request is done via LO first time</a:t>
            </a:r>
          </a:p>
          <a:p>
            <a:pPr lvl="1"/>
            <a:r>
              <a:rPr lang="en-US"/>
              <a:t>Request_status: 1 // new</a:t>
            </a:r>
          </a:p>
          <a:p>
            <a:pPr lvl="1"/>
            <a:r>
              <a:rPr lang="en-US" b="1">
                <a:solidFill>
                  <a:srgbClr val="FFFF00"/>
                </a:solidFill>
              </a:rPr>
              <a:t>status_code: 0 </a:t>
            </a:r>
            <a:r>
              <a:rPr lang="en-US"/>
              <a:t>// </a:t>
            </a:r>
            <a:r>
              <a:rPr lang="ar-EG"/>
              <a:t>عند مسئول التمويل</a:t>
            </a:r>
            <a:r>
              <a:rPr lang="en-US"/>
              <a:t> </a:t>
            </a:r>
          </a:p>
          <a:p>
            <a:pPr lvl="2"/>
            <a:r>
              <a:rPr lang="en-US" sz="1800"/>
              <a:t>Locally: [ status_code: 11 ]  </a:t>
            </a:r>
            <a:r>
              <a:rPr lang="ar-EG" sz="1800"/>
              <a:t>فشل فى تحميل أي سكور</a:t>
            </a:r>
            <a:endParaRPr lang="en-US" sz="1800"/>
          </a:p>
          <a:p>
            <a:r>
              <a:rPr lang="en-US"/>
              <a:t>After LO press save and send </a:t>
            </a:r>
            <a:r>
              <a:rPr lang="ar-EG"/>
              <a:t>حفظ وإرسال</a:t>
            </a:r>
            <a:endParaRPr lang="en-US"/>
          </a:p>
          <a:p>
            <a:pPr lvl="1"/>
            <a:r>
              <a:rPr lang="en-US" b="1">
                <a:solidFill>
                  <a:srgbClr val="FFFF00"/>
                </a:solidFill>
              </a:rPr>
              <a:t>status_code: 56 </a:t>
            </a:r>
            <a:r>
              <a:rPr lang="ar-EG"/>
              <a:t>الطلب تم ترحيله إلى المسؤول الأول </a:t>
            </a:r>
          </a:p>
          <a:p>
            <a:pPr marL="450000" lvl="1" indent="0">
              <a:buNone/>
            </a:pPr>
            <a:endParaRPr lang="ar-EG"/>
          </a:p>
          <a:p>
            <a:endParaRPr lang="ar-EG"/>
          </a:p>
          <a:p>
            <a:endParaRPr lang="en-US"/>
          </a:p>
        </p:txBody>
      </p:sp>
    </p:spTree>
    <p:extLst>
      <p:ext uri="{BB962C8B-B14F-4D97-AF65-F5344CB8AC3E}">
        <p14:creationId xmlns:p14="http://schemas.microsoft.com/office/powerpoint/2010/main" val="26058029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90F1D-7211-4F61-C633-61C22E728B85}"/>
              </a:ext>
            </a:extLst>
          </p:cNvPr>
          <p:cNvSpPr>
            <a:spLocks noGrp="1"/>
          </p:cNvSpPr>
          <p:nvPr>
            <p:ph type="title"/>
          </p:nvPr>
        </p:nvSpPr>
        <p:spPr>
          <a:xfrm>
            <a:off x="913795" y="1"/>
            <a:ext cx="10353762" cy="550606"/>
          </a:xfrm>
        </p:spPr>
        <p:txBody>
          <a:bodyPr>
            <a:normAutofit fontScale="90000"/>
          </a:bodyPr>
          <a:lstStyle/>
          <a:p>
            <a:r>
              <a:rPr lang="en-US" b="1">
                <a:solidFill>
                  <a:srgbClr val="FFFF00"/>
                </a:solidFill>
              </a:rPr>
              <a:t>SWF.</a:t>
            </a:r>
            <a:r>
              <a:rPr lang="en-US" b="1">
                <a:solidFill>
                  <a:srgbClr val="FF0000"/>
                </a:solidFill>
              </a:rPr>
              <a:t>Flow_status</a:t>
            </a:r>
          </a:p>
        </p:txBody>
      </p:sp>
      <p:sp>
        <p:nvSpPr>
          <p:cNvPr id="3" name="Content Placeholder 2">
            <a:extLst>
              <a:ext uri="{FF2B5EF4-FFF2-40B4-BE49-F238E27FC236}">
                <a16:creationId xmlns:a16="http://schemas.microsoft.com/office/drawing/2014/main" id="{65F02D0E-6DBC-AF73-5CDA-680ACC90445A}"/>
              </a:ext>
            </a:extLst>
          </p:cNvPr>
          <p:cNvSpPr>
            <a:spLocks noGrp="1"/>
          </p:cNvSpPr>
          <p:nvPr>
            <p:ph idx="1"/>
          </p:nvPr>
        </p:nvSpPr>
        <p:spPr>
          <a:xfrm>
            <a:off x="452284" y="550607"/>
            <a:ext cx="11307097" cy="5653548"/>
          </a:xfrm>
        </p:spPr>
        <p:txBody>
          <a:bodyPr/>
          <a:lstStyle/>
          <a:p>
            <a:r>
              <a:rPr lang="en-US"/>
              <a:t>Tamweely.Infrastruture.Data.Project_Modules.FlowChart.SetUp , SWF schema</a:t>
            </a:r>
          </a:p>
          <a:p>
            <a:r>
              <a:rPr lang="en-US"/>
              <a:t>int status_code  </a:t>
            </a:r>
            <a:r>
              <a:rPr lang="en-US" b="1">
                <a:solidFill>
                  <a:srgbClr val="FFFF00"/>
                </a:solidFill>
              </a:rPr>
              <a:t>[PK]</a:t>
            </a:r>
          </a:p>
          <a:p>
            <a:r>
              <a:rPr lang="en-US"/>
              <a:t>int </a:t>
            </a:r>
            <a:r>
              <a:rPr lang="en-US" err="1"/>
              <a:t>status_id</a:t>
            </a:r>
            <a:r>
              <a:rPr lang="en-US"/>
              <a:t> </a:t>
            </a:r>
            <a:r>
              <a:rPr lang="en-US" b="1">
                <a:solidFill>
                  <a:srgbClr val="FF0000"/>
                </a:solidFill>
              </a:rPr>
              <a:t>[identity]</a:t>
            </a:r>
          </a:p>
          <a:p>
            <a:r>
              <a:rPr lang="en-US"/>
              <a:t>string name </a:t>
            </a:r>
          </a:p>
        </p:txBody>
      </p:sp>
      <p:pic>
        <p:nvPicPr>
          <p:cNvPr id="5" name="Picture 4">
            <a:extLst>
              <a:ext uri="{FF2B5EF4-FFF2-40B4-BE49-F238E27FC236}">
                <a16:creationId xmlns:a16="http://schemas.microsoft.com/office/drawing/2014/main" id="{25385219-4098-4FB5-D56B-9E4C6C5BB8C6}"/>
              </a:ext>
            </a:extLst>
          </p:cNvPr>
          <p:cNvPicPr>
            <a:picLocks noChangeAspect="1"/>
          </p:cNvPicPr>
          <p:nvPr/>
        </p:nvPicPr>
        <p:blipFill>
          <a:blip r:embed="rId2"/>
          <a:stretch>
            <a:fillRect/>
          </a:stretch>
        </p:blipFill>
        <p:spPr>
          <a:xfrm>
            <a:off x="7609098" y="1670773"/>
            <a:ext cx="4671392" cy="4381692"/>
          </a:xfrm>
          <a:prstGeom prst="rect">
            <a:avLst/>
          </a:prstGeom>
        </p:spPr>
      </p:pic>
      <p:pic>
        <p:nvPicPr>
          <p:cNvPr id="6" name="Picture 5">
            <a:extLst>
              <a:ext uri="{FF2B5EF4-FFF2-40B4-BE49-F238E27FC236}">
                <a16:creationId xmlns:a16="http://schemas.microsoft.com/office/drawing/2014/main" id="{4550F3C6-6EC4-3A36-41C3-C96C4DBFB2E3}"/>
              </a:ext>
            </a:extLst>
          </p:cNvPr>
          <p:cNvPicPr>
            <a:picLocks noChangeAspect="1"/>
          </p:cNvPicPr>
          <p:nvPr/>
        </p:nvPicPr>
        <p:blipFill>
          <a:blip r:embed="rId3"/>
          <a:stretch>
            <a:fillRect/>
          </a:stretch>
        </p:blipFill>
        <p:spPr>
          <a:xfrm>
            <a:off x="97253" y="3763297"/>
            <a:ext cx="7423355" cy="2878393"/>
          </a:xfrm>
          <a:prstGeom prst="rect">
            <a:avLst/>
          </a:prstGeom>
        </p:spPr>
      </p:pic>
    </p:spTree>
    <p:extLst>
      <p:ext uri="{BB962C8B-B14F-4D97-AF65-F5344CB8AC3E}">
        <p14:creationId xmlns:p14="http://schemas.microsoft.com/office/powerpoint/2010/main" val="31333468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FBFD65-081A-4A23-EB55-FEFD7F41BA9E}"/>
              </a:ext>
            </a:extLst>
          </p:cNvPr>
          <p:cNvSpPr>
            <a:spLocks noGrp="1"/>
          </p:cNvSpPr>
          <p:nvPr>
            <p:ph type="title"/>
          </p:nvPr>
        </p:nvSpPr>
        <p:spPr>
          <a:xfrm>
            <a:off x="913795" y="0"/>
            <a:ext cx="10353762" cy="481781"/>
          </a:xfrm>
        </p:spPr>
        <p:txBody>
          <a:bodyPr>
            <a:noAutofit/>
          </a:bodyPr>
          <a:lstStyle/>
          <a:p>
            <a:r>
              <a:rPr lang="en-US" sz="3200" b="1">
                <a:solidFill>
                  <a:srgbClr val="FFFF00"/>
                </a:solidFill>
              </a:rPr>
              <a:t>TDWF.</a:t>
            </a:r>
            <a:r>
              <a:rPr lang="en-US" sz="3200" b="1">
                <a:solidFill>
                  <a:srgbClr val="FF0000"/>
                </a:solidFill>
              </a:rPr>
              <a:t>Flow_Request_Deportation</a:t>
            </a:r>
          </a:p>
        </p:txBody>
      </p:sp>
      <p:sp>
        <p:nvSpPr>
          <p:cNvPr id="3" name="Content Placeholder 2">
            <a:extLst>
              <a:ext uri="{FF2B5EF4-FFF2-40B4-BE49-F238E27FC236}">
                <a16:creationId xmlns:a16="http://schemas.microsoft.com/office/drawing/2014/main" id="{074243CB-A69A-8B57-BFE2-256010A29D54}"/>
              </a:ext>
            </a:extLst>
          </p:cNvPr>
          <p:cNvSpPr>
            <a:spLocks noGrp="1"/>
          </p:cNvSpPr>
          <p:nvPr>
            <p:ph idx="1"/>
          </p:nvPr>
        </p:nvSpPr>
        <p:spPr>
          <a:xfrm>
            <a:off x="0" y="609600"/>
            <a:ext cx="11985523" cy="6037005"/>
          </a:xfrm>
        </p:spPr>
        <p:txBody>
          <a:bodyPr/>
          <a:lstStyle/>
          <a:p>
            <a:r>
              <a:rPr lang="en-US" sz="1800"/>
              <a:t>Enterprise_ID: decimal, </a:t>
            </a:r>
            <a:r>
              <a:rPr lang="en-US" sz="1800" b="1">
                <a:solidFill>
                  <a:srgbClr val="FF0000"/>
                </a:solidFill>
              </a:rPr>
              <a:t>[PK]</a:t>
            </a:r>
          </a:p>
          <a:p>
            <a:r>
              <a:rPr lang="en-US" sz="1800"/>
              <a:t>UserId_from: int [FK] // the LO who make the request for the customer</a:t>
            </a:r>
          </a:p>
          <a:p>
            <a:r>
              <a:rPr lang="en-US" sz="1800"/>
              <a:t>jobId: int [FK] // the job id of any loan officer 10</a:t>
            </a:r>
          </a:p>
          <a:p>
            <a:r>
              <a:rPr lang="en-US" sz="1800"/>
              <a:t>Request_id: int  [FK] // from RequestId</a:t>
            </a:r>
          </a:p>
          <a:p>
            <a:r>
              <a:rPr lang="en-US" sz="1800"/>
              <a:t>UserId_from : ?? </a:t>
            </a:r>
          </a:p>
          <a:p>
            <a:r>
              <a:rPr lang="en-US" sz="1800"/>
              <a:t>UserId_to :  ??</a:t>
            </a:r>
          </a:p>
          <a:p>
            <a:r>
              <a:rPr lang="en-US" sz="1800"/>
              <a:t>Code_action: is null ?</a:t>
            </a:r>
          </a:p>
          <a:p>
            <a:r>
              <a:rPr lang="en-US" sz="1800"/>
              <a:t>Date_Assigned ?</a:t>
            </a:r>
          </a:p>
          <a:p>
            <a:r>
              <a:rPr lang="en-US" sz="1800"/>
              <a:t>Type_code: </a:t>
            </a:r>
          </a:p>
          <a:p>
            <a:pPr lvl="1"/>
            <a:r>
              <a:rPr lang="en-US" sz="1600"/>
              <a:t>1 : </a:t>
            </a:r>
            <a:r>
              <a:rPr lang="ar-EG" sz="1600"/>
              <a:t>مسار عمل  صغير</a:t>
            </a:r>
          </a:p>
          <a:p>
            <a:pPr lvl="1"/>
            <a:r>
              <a:rPr lang="en-US" sz="1600"/>
              <a:t>2 : </a:t>
            </a:r>
            <a:r>
              <a:rPr lang="ar-EG" sz="1600"/>
              <a:t>مسار عمل كبير</a:t>
            </a:r>
            <a:endParaRPr lang="en-US" sz="1600"/>
          </a:p>
          <a:p>
            <a:endParaRPr lang="en-US" sz="1800"/>
          </a:p>
        </p:txBody>
      </p:sp>
      <p:pic>
        <p:nvPicPr>
          <p:cNvPr id="5" name="Picture 4">
            <a:extLst>
              <a:ext uri="{FF2B5EF4-FFF2-40B4-BE49-F238E27FC236}">
                <a16:creationId xmlns:a16="http://schemas.microsoft.com/office/drawing/2014/main" id="{FB811957-E4AD-DA9F-5CD3-C7D6839F787B}"/>
              </a:ext>
            </a:extLst>
          </p:cNvPr>
          <p:cNvPicPr>
            <a:picLocks noChangeAspect="1"/>
          </p:cNvPicPr>
          <p:nvPr/>
        </p:nvPicPr>
        <p:blipFill>
          <a:blip r:embed="rId2"/>
          <a:stretch>
            <a:fillRect/>
          </a:stretch>
        </p:blipFill>
        <p:spPr>
          <a:xfrm>
            <a:off x="2743200" y="4341693"/>
            <a:ext cx="8239432" cy="635730"/>
          </a:xfrm>
          <a:prstGeom prst="rect">
            <a:avLst/>
          </a:prstGeom>
        </p:spPr>
      </p:pic>
      <p:pic>
        <p:nvPicPr>
          <p:cNvPr id="7" name="Picture 6">
            <a:extLst>
              <a:ext uri="{FF2B5EF4-FFF2-40B4-BE49-F238E27FC236}">
                <a16:creationId xmlns:a16="http://schemas.microsoft.com/office/drawing/2014/main" id="{BFBFFCC1-9DFD-B1B1-79E5-B3CC542ECF74}"/>
              </a:ext>
            </a:extLst>
          </p:cNvPr>
          <p:cNvPicPr>
            <a:picLocks noChangeAspect="1"/>
          </p:cNvPicPr>
          <p:nvPr/>
        </p:nvPicPr>
        <p:blipFill>
          <a:blip r:embed="rId3"/>
          <a:stretch>
            <a:fillRect/>
          </a:stretch>
        </p:blipFill>
        <p:spPr>
          <a:xfrm>
            <a:off x="1533832" y="5183843"/>
            <a:ext cx="10658168" cy="551038"/>
          </a:xfrm>
          <a:prstGeom prst="rect">
            <a:avLst/>
          </a:prstGeom>
        </p:spPr>
      </p:pic>
    </p:spTree>
    <p:extLst>
      <p:ext uri="{BB962C8B-B14F-4D97-AF65-F5344CB8AC3E}">
        <p14:creationId xmlns:p14="http://schemas.microsoft.com/office/powerpoint/2010/main" val="29429710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974AEB-3139-DEE2-E60B-64589C38D1D0}"/>
              </a:ext>
            </a:extLst>
          </p:cNvPr>
          <p:cNvSpPr>
            <a:spLocks noGrp="1"/>
          </p:cNvSpPr>
          <p:nvPr>
            <p:ph type="title"/>
          </p:nvPr>
        </p:nvSpPr>
        <p:spPr>
          <a:xfrm>
            <a:off x="913795" y="0"/>
            <a:ext cx="10353762" cy="540774"/>
          </a:xfrm>
        </p:spPr>
        <p:txBody>
          <a:bodyPr>
            <a:normAutofit fontScale="90000"/>
          </a:bodyPr>
          <a:lstStyle/>
          <a:p>
            <a:r>
              <a:rPr lang="en-US" sz="3200" b="1">
                <a:solidFill>
                  <a:srgbClr val="FFFF00"/>
                </a:solidFill>
              </a:rPr>
              <a:t>TDWF.</a:t>
            </a:r>
            <a:r>
              <a:rPr lang="en-US" sz="3200" b="1">
                <a:solidFill>
                  <a:srgbClr val="FF0000"/>
                </a:solidFill>
              </a:rPr>
              <a:t>Flow_Request_Deportation [cont. 1]</a:t>
            </a:r>
            <a:endParaRPr lang="en-US" sz="3200"/>
          </a:p>
        </p:txBody>
      </p:sp>
      <p:sp>
        <p:nvSpPr>
          <p:cNvPr id="3" name="Content Placeholder 2">
            <a:extLst>
              <a:ext uri="{FF2B5EF4-FFF2-40B4-BE49-F238E27FC236}">
                <a16:creationId xmlns:a16="http://schemas.microsoft.com/office/drawing/2014/main" id="{E8440506-2E85-BEF2-5538-4DD2AC723626}"/>
              </a:ext>
            </a:extLst>
          </p:cNvPr>
          <p:cNvSpPr>
            <a:spLocks noGrp="1"/>
          </p:cNvSpPr>
          <p:nvPr>
            <p:ph idx="1"/>
          </p:nvPr>
        </p:nvSpPr>
        <p:spPr>
          <a:xfrm>
            <a:off x="0" y="648928"/>
            <a:ext cx="12064181" cy="6209071"/>
          </a:xfrm>
        </p:spPr>
        <p:txBody>
          <a:bodyPr numCol="2">
            <a:normAutofit/>
          </a:bodyPr>
          <a:lstStyle/>
          <a:p>
            <a:r>
              <a:rPr lang="en-US" sz="1800"/>
              <a:t>Status_one</a:t>
            </a:r>
          </a:p>
          <a:p>
            <a:pPr lvl="1"/>
            <a:r>
              <a:rPr lang="en-US" sz="1600" b="1">
                <a:solidFill>
                  <a:srgbClr val="00B0F0"/>
                </a:solidFill>
              </a:rPr>
              <a:t>Inprocess</a:t>
            </a:r>
            <a:r>
              <a:rPr lang="en-US" sz="1600"/>
              <a:t> // LO just create the Request  </a:t>
            </a:r>
            <a:r>
              <a:rPr lang="ar-EG" b="1">
                <a:solidFill>
                  <a:srgbClr val="92D050"/>
                </a:solidFill>
              </a:rPr>
              <a:t>طلبات غير مرسلة</a:t>
            </a:r>
            <a:endParaRPr lang="en-US" sz="1600" b="1">
              <a:solidFill>
                <a:srgbClr val="92D050"/>
              </a:solidFill>
            </a:endParaRPr>
          </a:p>
          <a:p>
            <a:pPr lvl="1"/>
            <a:r>
              <a:rPr lang="en-US" sz="1600" b="1">
                <a:solidFill>
                  <a:srgbClr val="00B0F0"/>
                </a:solidFill>
              </a:rPr>
              <a:t>Approved</a:t>
            </a:r>
            <a:r>
              <a:rPr lang="en-US" sz="1600"/>
              <a:t> // REQUEST IS Approved </a:t>
            </a:r>
            <a:r>
              <a:rPr lang="ar-EG" sz="1600"/>
              <a:t>قبول_حقول</a:t>
            </a:r>
            <a:endParaRPr lang="en-US" sz="1600"/>
          </a:p>
          <a:p>
            <a:pPr lvl="1"/>
            <a:r>
              <a:rPr lang="en-US" sz="1600" b="1">
                <a:solidFill>
                  <a:srgbClr val="00B0F0"/>
                </a:solidFill>
              </a:rPr>
              <a:t>Failed Iscore Customer // </a:t>
            </a:r>
          </a:p>
          <a:p>
            <a:pPr lvl="1"/>
            <a:r>
              <a:rPr lang="en-US" sz="1600" b="1">
                <a:solidFill>
                  <a:srgbClr val="00B0F0"/>
                </a:solidFill>
              </a:rPr>
              <a:t>Failed Iscore Guarantor</a:t>
            </a:r>
          </a:p>
          <a:p>
            <a:pPr lvl="1"/>
            <a:r>
              <a:rPr lang="en-US" sz="1600" b="1">
                <a:solidFill>
                  <a:srgbClr val="00B0F0"/>
                </a:solidFill>
              </a:rPr>
              <a:t>Final Reject // </a:t>
            </a:r>
            <a:r>
              <a:rPr lang="ar-EG"/>
              <a:t>طلبات مرفوضة نهائى</a:t>
            </a:r>
            <a:endParaRPr lang="en-US" sz="1600" b="1">
              <a:solidFill>
                <a:srgbClr val="00B0F0"/>
              </a:solidFill>
            </a:endParaRPr>
          </a:p>
          <a:p>
            <a:pPr lvl="1"/>
            <a:r>
              <a:rPr lang="en-US" sz="1600" b="1">
                <a:solidFill>
                  <a:srgbClr val="00B0F0"/>
                </a:solidFill>
              </a:rPr>
              <a:t>Final Reject Guarantor</a:t>
            </a:r>
          </a:p>
          <a:p>
            <a:pPr lvl="1"/>
            <a:r>
              <a:rPr lang="en-US" sz="1600" b="1">
                <a:solidFill>
                  <a:srgbClr val="00B0F0"/>
                </a:solidFill>
              </a:rPr>
              <a:t>Reject</a:t>
            </a:r>
            <a:r>
              <a:rPr lang="en-US" sz="1600"/>
              <a:t> // rejected by CO</a:t>
            </a:r>
          </a:p>
          <a:p>
            <a:pPr lvl="1"/>
            <a:r>
              <a:rPr lang="en-US" sz="1600" b="1">
                <a:solidFill>
                  <a:srgbClr val="00B0F0"/>
                </a:solidFill>
              </a:rPr>
              <a:t>Reject Guarantor</a:t>
            </a:r>
          </a:p>
          <a:p>
            <a:pPr lvl="1"/>
            <a:endParaRPr lang="en-US" sz="1600"/>
          </a:p>
          <a:p>
            <a:pPr lvl="1"/>
            <a:endParaRPr lang="en-US" sz="1600"/>
          </a:p>
          <a:p>
            <a:pPr lvl="1"/>
            <a:endParaRPr lang="en-US" sz="1600"/>
          </a:p>
          <a:p>
            <a:pPr lvl="1"/>
            <a:endParaRPr lang="en-US" sz="1600"/>
          </a:p>
          <a:p>
            <a:pPr lvl="1"/>
            <a:endParaRPr lang="en-US" sz="1600"/>
          </a:p>
          <a:p>
            <a:pPr lvl="1"/>
            <a:endParaRPr lang="en-US" sz="1600"/>
          </a:p>
          <a:p>
            <a:pPr marL="450000" lvl="1" indent="0">
              <a:buNone/>
            </a:pPr>
            <a:endParaRPr lang="en-US" sz="1600"/>
          </a:p>
          <a:p>
            <a:r>
              <a:rPr lang="en-US" sz="1800"/>
              <a:t>Status_two</a:t>
            </a:r>
          </a:p>
          <a:p>
            <a:pPr lvl="1"/>
            <a:r>
              <a:rPr lang="en-US" sz="1600" b="1">
                <a:solidFill>
                  <a:srgbClr val="FFFF00"/>
                </a:solidFill>
              </a:rPr>
              <a:t>R111: </a:t>
            </a:r>
            <a:r>
              <a:rPr lang="ar-EG" sz="1600" b="1">
                <a:solidFill>
                  <a:srgbClr val="FFFF00"/>
                </a:solidFill>
              </a:rPr>
              <a:t>طلب التمويل</a:t>
            </a:r>
          </a:p>
          <a:p>
            <a:pPr lvl="1"/>
            <a:r>
              <a:rPr lang="en-US" sz="1600" b="1">
                <a:solidFill>
                  <a:srgbClr val="FFFF00"/>
                </a:solidFill>
              </a:rPr>
              <a:t>CO1010: </a:t>
            </a:r>
            <a:r>
              <a:rPr lang="ar-EG" sz="1600" b="1">
                <a:solidFill>
                  <a:srgbClr val="FFFF00"/>
                </a:solidFill>
              </a:rPr>
              <a:t>مراجعة اولية</a:t>
            </a:r>
            <a:endParaRPr lang="en-US" sz="1600" b="1">
              <a:solidFill>
                <a:srgbClr val="FFFF00"/>
              </a:solidFill>
            </a:endParaRPr>
          </a:p>
          <a:p>
            <a:pPr lvl="1"/>
            <a:r>
              <a:rPr lang="en-US" sz="1600" b="1">
                <a:solidFill>
                  <a:srgbClr val="FFFF00"/>
                </a:solidFill>
              </a:rPr>
              <a:t>CO1311: </a:t>
            </a:r>
            <a:r>
              <a:rPr lang="ar-EG" sz="1600" b="1">
                <a:solidFill>
                  <a:srgbClr val="FFFF00"/>
                </a:solidFill>
              </a:rPr>
              <a:t>زيارة ميدانية</a:t>
            </a:r>
            <a:endParaRPr lang="en-US" sz="1600" b="1">
              <a:solidFill>
                <a:srgbClr val="FFFF00"/>
              </a:solidFill>
            </a:endParaRPr>
          </a:p>
          <a:p>
            <a:pPr lvl="1"/>
            <a:r>
              <a:rPr lang="en-US" sz="1600" b="1">
                <a:solidFill>
                  <a:srgbClr val="FFFF00"/>
                </a:solidFill>
              </a:rPr>
              <a:t>CA1211: </a:t>
            </a:r>
            <a:r>
              <a:rPr lang="ar-EG" sz="1600" b="1">
                <a:solidFill>
                  <a:srgbClr val="FFFF00"/>
                </a:solidFill>
              </a:rPr>
              <a:t>تحليل ائتماني</a:t>
            </a:r>
            <a:endParaRPr lang="en-US" sz="1600" b="1">
              <a:solidFill>
                <a:srgbClr val="FFFF00"/>
              </a:solidFill>
            </a:endParaRPr>
          </a:p>
          <a:p>
            <a:pPr lvl="1"/>
            <a:r>
              <a:rPr lang="en-US" sz="1600" b="1">
                <a:solidFill>
                  <a:srgbClr val="FFFF00"/>
                </a:solidFill>
              </a:rPr>
              <a:t>DU77: </a:t>
            </a:r>
            <a:r>
              <a:rPr lang="ar-EG" sz="1600" b="1">
                <a:solidFill>
                  <a:srgbClr val="FFFF00"/>
                </a:solidFill>
              </a:rPr>
              <a:t>تحميل مستندات</a:t>
            </a:r>
            <a:endParaRPr lang="en-US" sz="1600" b="1">
              <a:solidFill>
                <a:srgbClr val="FFFF00"/>
              </a:solidFill>
            </a:endParaRPr>
          </a:p>
          <a:p>
            <a:pPr lvl="1"/>
            <a:r>
              <a:rPr lang="en-US" sz="1600" b="1">
                <a:solidFill>
                  <a:srgbClr val="FFFF00"/>
                </a:solidFill>
              </a:rPr>
              <a:t>LR55: </a:t>
            </a:r>
            <a:r>
              <a:rPr lang="ar-EG" sz="1600" b="1">
                <a:solidFill>
                  <a:srgbClr val="FFFF00"/>
                </a:solidFill>
              </a:rPr>
              <a:t>مراجعة مركزية</a:t>
            </a:r>
            <a:endParaRPr lang="en-US" sz="1600" b="1">
              <a:solidFill>
                <a:srgbClr val="FFFF00"/>
              </a:solidFill>
            </a:endParaRPr>
          </a:p>
          <a:p>
            <a:pPr lvl="1"/>
            <a:r>
              <a:rPr lang="en-US" sz="1600" b="1">
                <a:solidFill>
                  <a:srgbClr val="FFFF00"/>
                </a:solidFill>
              </a:rPr>
              <a:t>BMSC66: </a:t>
            </a:r>
            <a:r>
              <a:rPr lang="ar-EG" sz="1600" b="1">
                <a:solidFill>
                  <a:srgbClr val="FFFF00"/>
                </a:solidFill>
              </a:rPr>
              <a:t>إتمام توقيع</a:t>
            </a:r>
            <a:endParaRPr lang="en-US" sz="1600" b="1">
              <a:solidFill>
                <a:srgbClr val="FFFF00"/>
              </a:solidFill>
            </a:endParaRPr>
          </a:p>
        </p:txBody>
      </p:sp>
    </p:spTree>
    <p:extLst>
      <p:ext uri="{BB962C8B-B14F-4D97-AF65-F5344CB8AC3E}">
        <p14:creationId xmlns:p14="http://schemas.microsoft.com/office/powerpoint/2010/main" val="12236050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090C5-E7A3-ADD3-9AFE-2AC8BB08055A}"/>
              </a:ext>
            </a:extLst>
          </p:cNvPr>
          <p:cNvSpPr>
            <a:spLocks noGrp="1"/>
          </p:cNvSpPr>
          <p:nvPr>
            <p:ph type="title"/>
          </p:nvPr>
        </p:nvSpPr>
        <p:spPr>
          <a:xfrm>
            <a:off x="913795" y="0"/>
            <a:ext cx="10353762" cy="682487"/>
          </a:xfrm>
        </p:spPr>
        <p:txBody>
          <a:bodyPr>
            <a:normAutofit fontScale="90000"/>
          </a:bodyPr>
          <a:lstStyle/>
          <a:p>
            <a:r>
              <a:rPr lang="en-US" b="1">
                <a:solidFill>
                  <a:srgbClr val="FFFF00"/>
                </a:solidFill>
              </a:rPr>
              <a:t>TDWF.</a:t>
            </a:r>
            <a:r>
              <a:rPr lang="en-US" b="1">
                <a:solidFill>
                  <a:srgbClr val="FF0000"/>
                </a:solidFill>
              </a:rPr>
              <a:t>Flow_Request_Deportation [cont. 2]</a:t>
            </a:r>
            <a:endParaRPr lang="en-US"/>
          </a:p>
        </p:txBody>
      </p:sp>
      <p:sp>
        <p:nvSpPr>
          <p:cNvPr id="3" name="Content Placeholder 2">
            <a:extLst>
              <a:ext uri="{FF2B5EF4-FFF2-40B4-BE49-F238E27FC236}">
                <a16:creationId xmlns:a16="http://schemas.microsoft.com/office/drawing/2014/main" id="{8FE51947-09CC-8830-531D-1A275859978C}"/>
              </a:ext>
            </a:extLst>
          </p:cNvPr>
          <p:cNvSpPr>
            <a:spLocks noGrp="1"/>
          </p:cNvSpPr>
          <p:nvPr>
            <p:ph idx="1"/>
          </p:nvPr>
        </p:nvSpPr>
        <p:spPr>
          <a:xfrm>
            <a:off x="99392" y="682487"/>
            <a:ext cx="11986592" cy="6026426"/>
          </a:xfrm>
        </p:spPr>
        <p:txBody>
          <a:bodyPr/>
          <a:lstStyle/>
          <a:p>
            <a:r>
              <a:rPr lang="en-US" sz="2400"/>
              <a:t>After funding request is done via LO first time</a:t>
            </a:r>
          </a:p>
          <a:p>
            <a:pPr lvl="1"/>
            <a:r>
              <a:rPr lang="en-US"/>
              <a:t>UserId_from= 10837  // the LO Id</a:t>
            </a:r>
          </a:p>
          <a:p>
            <a:pPr lvl="1"/>
            <a:r>
              <a:rPr lang="en-US"/>
              <a:t>UserId_to = 10837    // the LO id</a:t>
            </a:r>
          </a:p>
          <a:p>
            <a:pPr lvl="1"/>
            <a:r>
              <a:rPr lang="en-US"/>
              <a:t>Name_step_from  : </a:t>
            </a:r>
            <a:r>
              <a:rPr lang="ar-EG"/>
              <a:t>طلب تمويل</a:t>
            </a:r>
          </a:p>
          <a:p>
            <a:pPr lvl="1"/>
            <a:r>
              <a:rPr lang="en-US"/>
              <a:t>Name_step_to:	 </a:t>
            </a:r>
            <a:r>
              <a:rPr lang="ar-EG"/>
              <a:t>طلب تمويل</a:t>
            </a:r>
            <a:endParaRPr lang="en-US"/>
          </a:p>
          <a:p>
            <a:pPr lvl="1"/>
            <a:r>
              <a:rPr lang="en-US"/>
              <a:t>Code_action (from: Flow_Actions): Null</a:t>
            </a:r>
          </a:p>
          <a:p>
            <a:pPr lvl="1"/>
            <a:r>
              <a:rPr lang="en-US"/>
              <a:t>Type_code: [ </a:t>
            </a:r>
            <a:r>
              <a:rPr lang="en-US" b="1"/>
              <a:t>1: </a:t>
            </a:r>
            <a:r>
              <a:rPr lang="ar-EG" b="1"/>
              <a:t>مسار عمل  صغير</a:t>
            </a:r>
            <a:r>
              <a:rPr lang="en-US" b="1"/>
              <a:t> ] , [ 2 : </a:t>
            </a:r>
            <a:r>
              <a:rPr lang="ar-EG" b="1"/>
              <a:t>مسار عمل كبير</a:t>
            </a:r>
            <a:r>
              <a:rPr lang="en-US" b="1"/>
              <a:t> ]</a:t>
            </a:r>
            <a:endParaRPr lang="en-US"/>
          </a:p>
          <a:p>
            <a:pPr lvl="1"/>
            <a:r>
              <a:rPr lang="en-US"/>
              <a:t>Status_one: Inprocess</a:t>
            </a:r>
          </a:p>
          <a:p>
            <a:pPr lvl="1"/>
            <a:r>
              <a:rPr lang="en-US"/>
              <a:t>Status_two: </a:t>
            </a:r>
            <a:r>
              <a:rPr lang="en-US" b="1">
                <a:solidFill>
                  <a:srgbClr val="FFFF00"/>
                </a:solidFill>
              </a:rPr>
              <a:t>R111 (</a:t>
            </a:r>
            <a:r>
              <a:rPr lang="ar-EG" b="1">
                <a:solidFill>
                  <a:srgbClr val="FFFF00"/>
                </a:solidFill>
              </a:rPr>
              <a:t>طلب التمويل</a:t>
            </a:r>
            <a:r>
              <a:rPr lang="en-US" b="1">
                <a:solidFill>
                  <a:srgbClr val="FFFF00"/>
                </a:solidFill>
              </a:rPr>
              <a:t>) // </a:t>
            </a:r>
            <a:r>
              <a:rPr lang="ar-EG" b="1">
                <a:solidFill>
                  <a:srgbClr val="FFFF00"/>
                </a:solidFill>
              </a:rPr>
              <a:t>المرحلة</a:t>
            </a:r>
            <a:endParaRPr lang="en-US" b="1">
              <a:solidFill>
                <a:srgbClr val="FFFF00"/>
              </a:solidFill>
            </a:endParaRPr>
          </a:p>
        </p:txBody>
      </p:sp>
    </p:spTree>
    <p:extLst>
      <p:ext uri="{BB962C8B-B14F-4D97-AF65-F5344CB8AC3E}">
        <p14:creationId xmlns:p14="http://schemas.microsoft.com/office/powerpoint/2010/main" val="17699474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FA27DE2-55AF-7B22-3B9B-3548E0D603CE}"/>
              </a:ext>
            </a:extLst>
          </p:cNvPr>
          <p:cNvSpPr>
            <a:spLocks noGrp="1"/>
          </p:cNvSpPr>
          <p:nvPr>
            <p:ph idx="1"/>
          </p:nvPr>
        </p:nvSpPr>
        <p:spPr>
          <a:xfrm>
            <a:off x="278296" y="586409"/>
            <a:ext cx="11787808" cy="6122504"/>
          </a:xfrm>
        </p:spPr>
        <p:txBody>
          <a:bodyPr/>
          <a:lstStyle/>
          <a:p>
            <a:r>
              <a:rPr lang="en-US"/>
              <a:t>After funding request is save and send VIA LO </a:t>
            </a:r>
            <a:r>
              <a:rPr lang="ar-EG"/>
              <a:t>حفظ وإرسال</a:t>
            </a:r>
          </a:p>
          <a:p>
            <a:pPr lvl="1"/>
            <a:r>
              <a:rPr lang="en-US"/>
              <a:t>UserId_from= 1132  // the LO Id</a:t>
            </a:r>
          </a:p>
          <a:p>
            <a:pPr lvl="1"/>
            <a:r>
              <a:rPr lang="en-US"/>
              <a:t>UserId_to = 1152    // the CO id that request is sent for </a:t>
            </a:r>
          </a:p>
          <a:p>
            <a:pPr lvl="1"/>
            <a:r>
              <a:rPr lang="en-US"/>
              <a:t>Name_step_from  : </a:t>
            </a:r>
            <a:r>
              <a:rPr lang="ar-EG"/>
              <a:t>طلب تمويل</a:t>
            </a:r>
          </a:p>
          <a:p>
            <a:pPr lvl="1"/>
            <a:r>
              <a:rPr lang="en-US"/>
              <a:t>Name_step_to:	 </a:t>
            </a:r>
            <a:r>
              <a:rPr lang="ar-EG"/>
              <a:t>مراجعة أولية</a:t>
            </a:r>
            <a:endParaRPr lang="en-US"/>
          </a:p>
          <a:p>
            <a:pPr lvl="1"/>
            <a:r>
              <a:rPr lang="en-US"/>
              <a:t>Code_action (from: Flow_Actions): </a:t>
            </a:r>
            <a:r>
              <a:rPr lang="ar-EG"/>
              <a:t>1</a:t>
            </a:r>
            <a:r>
              <a:rPr lang="en-US"/>
              <a:t>  </a:t>
            </a:r>
            <a:r>
              <a:rPr lang="ar-EG"/>
              <a:t>الأكشن حصل خلال طلب التمويل</a:t>
            </a:r>
            <a:endParaRPr lang="en-US"/>
          </a:p>
          <a:p>
            <a:pPr lvl="1"/>
            <a:r>
              <a:rPr lang="en-US"/>
              <a:t>Status_one: Approved // means the Name_step_from  : </a:t>
            </a:r>
            <a:r>
              <a:rPr lang="ar-EG"/>
              <a:t>طلب تمويل</a:t>
            </a:r>
            <a:r>
              <a:rPr lang="en-US"/>
              <a:t> is approved</a:t>
            </a:r>
          </a:p>
          <a:p>
            <a:pPr lvl="1"/>
            <a:r>
              <a:rPr lang="en-US"/>
              <a:t>Status_two: </a:t>
            </a:r>
            <a:r>
              <a:rPr lang="en-US" b="1">
                <a:solidFill>
                  <a:srgbClr val="FFFF00"/>
                </a:solidFill>
              </a:rPr>
              <a:t>CO1010 (</a:t>
            </a:r>
            <a:r>
              <a:rPr lang="ar-EG" b="1">
                <a:solidFill>
                  <a:srgbClr val="FFFF00"/>
                </a:solidFill>
              </a:rPr>
              <a:t>مراجعة اولية</a:t>
            </a:r>
            <a:r>
              <a:rPr lang="en-US" b="1">
                <a:solidFill>
                  <a:srgbClr val="FFFF00"/>
                </a:solidFill>
              </a:rPr>
              <a:t>) // </a:t>
            </a:r>
            <a:r>
              <a:rPr lang="ar-EG" b="1">
                <a:solidFill>
                  <a:srgbClr val="FFFF00"/>
                </a:solidFill>
              </a:rPr>
              <a:t>المرحلة الحالية</a:t>
            </a:r>
            <a:endParaRPr lang="ar-EG"/>
          </a:p>
          <a:p>
            <a:endParaRPr lang="en-US"/>
          </a:p>
          <a:p>
            <a:endParaRPr lang="en-US"/>
          </a:p>
        </p:txBody>
      </p:sp>
      <p:sp>
        <p:nvSpPr>
          <p:cNvPr id="5" name="Title 1">
            <a:extLst>
              <a:ext uri="{FF2B5EF4-FFF2-40B4-BE49-F238E27FC236}">
                <a16:creationId xmlns:a16="http://schemas.microsoft.com/office/drawing/2014/main" id="{7336299F-1866-0CB9-303D-8088B6F39CD1}"/>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TDWF.</a:t>
            </a:r>
            <a:r>
              <a:rPr lang="en-US" b="1">
                <a:solidFill>
                  <a:srgbClr val="FF0000"/>
                </a:solidFill>
              </a:rPr>
              <a:t>Flow_Request_Deportation [cont. 3]</a:t>
            </a:r>
            <a:endParaRPr lang="en-US"/>
          </a:p>
        </p:txBody>
      </p:sp>
    </p:spTree>
    <p:extLst>
      <p:ext uri="{BB962C8B-B14F-4D97-AF65-F5344CB8AC3E}">
        <p14:creationId xmlns:p14="http://schemas.microsoft.com/office/powerpoint/2010/main" val="28205613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74DD2-B8C5-524E-2EB8-D7F58338F8FC}"/>
              </a:ext>
            </a:extLst>
          </p:cNvPr>
          <p:cNvSpPr>
            <a:spLocks noGrp="1"/>
          </p:cNvSpPr>
          <p:nvPr>
            <p:ph type="title"/>
          </p:nvPr>
        </p:nvSpPr>
        <p:spPr>
          <a:xfrm>
            <a:off x="913795" y="0"/>
            <a:ext cx="10353762" cy="727587"/>
          </a:xfrm>
        </p:spPr>
        <p:txBody>
          <a:bodyPr/>
          <a:lstStyle/>
          <a:p>
            <a:r>
              <a:rPr lang="en-US" b="1">
                <a:solidFill>
                  <a:srgbClr val="FFFF00"/>
                </a:solidFill>
              </a:rPr>
              <a:t>TDWF.</a:t>
            </a:r>
            <a:r>
              <a:rPr lang="en-US" b="1">
                <a:solidFill>
                  <a:srgbClr val="FF0000"/>
                </a:solidFill>
              </a:rPr>
              <a:t>Flow_Request_Deportation [cont. 4]</a:t>
            </a:r>
            <a:endParaRPr lang="en-US"/>
          </a:p>
        </p:txBody>
      </p:sp>
      <p:sp>
        <p:nvSpPr>
          <p:cNvPr id="3" name="Content Placeholder 2">
            <a:extLst>
              <a:ext uri="{FF2B5EF4-FFF2-40B4-BE49-F238E27FC236}">
                <a16:creationId xmlns:a16="http://schemas.microsoft.com/office/drawing/2014/main" id="{5602215C-C6E0-6DF3-213A-363721EB5E9A}"/>
              </a:ext>
            </a:extLst>
          </p:cNvPr>
          <p:cNvSpPr>
            <a:spLocks noGrp="1"/>
          </p:cNvSpPr>
          <p:nvPr>
            <p:ph idx="1"/>
          </p:nvPr>
        </p:nvSpPr>
        <p:spPr>
          <a:xfrm>
            <a:off x="285134" y="727587"/>
            <a:ext cx="11297265" cy="5938684"/>
          </a:xfrm>
        </p:spPr>
        <p:txBody>
          <a:bodyPr/>
          <a:lstStyle/>
          <a:p>
            <a:r>
              <a:rPr lang="en-US"/>
              <a:t>After funding request is </a:t>
            </a:r>
            <a:r>
              <a:rPr lang="en-US" b="1">
                <a:solidFill>
                  <a:srgbClr val="FF0000"/>
                </a:solidFill>
              </a:rPr>
              <a:t>Rejected</a:t>
            </a:r>
            <a:r>
              <a:rPr lang="en-US"/>
              <a:t> VIA CO </a:t>
            </a:r>
            <a:r>
              <a:rPr lang="ar-EG" b="1">
                <a:solidFill>
                  <a:srgbClr val="FF0000"/>
                </a:solidFill>
              </a:rPr>
              <a:t>رفض</a:t>
            </a:r>
          </a:p>
          <a:p>
            <a:pPr lvl="1"/>
            <a:r>
              <a:rPr lang="en-US"/>
              <a:t>UserId_from= 1132  // the LO Id</a:t>
            </a:r>
          </a:p>
          <a:p>
            <a:pPr lvl="1"/>
            <a:r>
              <a:rPr lang="en-US"/>
              <a:t>UserId_to = 1132    //</a:t>
            </a:r>
          </a:p>
          <a:p>
            <a:pPr lvl="1"/>
            <a:r>
              <a:rPr lang="en-US"/>
              <a:t>Name_step_from  : </a:t>
            </a:r>
            <a:r>
              <a:rPr lang="ar-EG"/>
              <a:t>مراجعة أولية</a:t>
            </a:r>
          </a:p>
          <a:p>
            <a:pPr lvl="1"/>
            <a:r>
              <a:rPr lang="en-US"/>
              <a:t>Name_step_to:	 </a:t>
            </a:r>
            <a:r>
              <a:rPr lang="ar-EG"/>
              <a:t>طلب التمويل</a:t>
            </a:r>
            <a:endParaRPr lang="en-US"/>
          </a:p>
          <a:p>
            <a:pPr lvl="1"/>
            <a:r>
              <a:rPr lang="en-US"/>
              <a:t>Code_action (from: Flow_Actions): </a:t>
            </a:r>
            <a:r>
              <a:rPr lang="ar-EG" sz="2000" b="1">
                <a:solidFill>
                  <a:srgbClr val="FFFF00"/>
                </a:solidFill>
              </a:rPr>
              <a:t>2</a:t>
            </a:r>
            <a:r>
              <a:rPr lang="en-US"/>
              <a:t>  </a:t>
            </a:r>
            <a:r>
              <a:rPr lang="ar-EG"/>
              <a:t>الأكشن حصل خلال المراجعة الأولية</a:t>
            </a:r>
            <a:endParaRPr lang="en-US"/>
          </a:p>
          <a:p>
            <a:pPr lvl="1"/>
            <a:r>
              <a:rPr lang="en-US"/>
              <a:t>Status_one: </a:t>
            </a:r>
            <a:r>
              <a:rPr lang="en-US" b="1">
                <a:solidFill>
                  <a:srgbClr val="00B0F0"/>
                </a:solidFill>
              </a:rPr>
              <a:t>Reject</a:t>
            </a:r>
            <a:r>
              <a:rPr lang="en-US"/>
              <a:t> // means the Name_step_from  : </a:t>
            </a:r>
            <a:r>
              <a:rPr lang="ar-EG"/>
              <a:t>مراجعة أولية</a:t>
            </a:r>
            <a:r>
              <a:rPr lang="en-US"/>
              <a:t> is rejected</a:t>
            </a:r>
          </a:p>
          <a:p>
            <a:pPr lvl="1"/>
            <a:r>
              <a:rPr lang="en-US"/>
              <a:t>Status_two: </a:t>
            </a:r>
            <a:r>
              <a:rPr lang="en-US" b="1">
                <a:solidFill>
                  <a:srgbClr val="FFFF00"/>
                </a:solidFill>
              </a:rPr>
              <a:t>R111 (</a:t>
            </a:r>
            <a:r>
              <a:rPr lang="ar-EG" b="1">
                <a:solidFill>
                  <a:srgbClr val="FFFF00"/>
                </a:solidFill>
              </a:rPr>
              <a:t>طلب التمويل</a:t>
            </a:r>
            <a:r>
              <a:rPr lang="en-US" b="1">
                <a:solidFill>
                  <a:srgbClr val="FFFF00"/>
                </a:solidFill>
              </a:rPr>
              <a:t>) // </a:t>
            </a:r>
            <a:r>
              <a:rPr lang="ar-EG" b="1">
                <a:solidFill>
                  <a:srgbClr val="FFFF00"/>
                </a:solidFill>
              </a:rPr>
              <a:t>المرحلة الحالية</a:t>
            </a:r>
            <a:endParaRPr lang="ar-EG"/>
          </a:p>
          <a:p>
            <a:endParaRPr lang="en-US"/>
          </a:p>
        </p:txBody>
      </p:sp>
    </p:spTree>
    <p:extLst>
      <p:ext uri="{BB962C8B-B14F-4D97-AF65-F5344CB8AC3E}">
        <p14:creationId xmlns:p14="http://schemas.microsoft.com/office/powerpoint/2010/main" val="38431876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4DAF5-9AA4-F8BB-BB37-FF5F2745FCAD}"/>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a:t>
            </a:r>
          </a:p>
        </p:txBody>
      </p:sp>
      <p:sp>
        <p:nvSpPr>
          <p:cNvPr id="3" name="Content Placeholder 2">
            <a:extLst>
              <a:ext uri="{FF2B5EF4-FFF2-40B4-BE49-F238E27FC236}">
                <a16:creationId xmlns:a16="http://schemas.microsoft.com/office/drawing/2014/main" id="{5F9EA027-2DD6-BCFE-4F4A-1EFA9C8FD666}"/>
              </a:ext>
            </a:extLst>
          </p:cNvPr>
          <p:cNvSpPr>
            <a:spLocks noGrp="1"/>
          </p:cNvSpPr>
          <p:nvPr>
            <p:ph idx="1"/>
          </p:nvPr>
        </p:nvSpPr>
        <p:spPr>
          <a:xfrm>
            <a:off x="149086" y="583096"/>
            <a:ext cx="11877261" cy="6145695"/>
          </a:xfrm>
        </p:spPr>
        <p:txBody>
          <a:bodyPr>
            <a:normAutofit fontScale="92500" lnSpcReduction="10000"/>
          </a:bodyPr>
          <a:lstStyle/>
          <a:p>
            <a:r>
              <a:rPr lang="en-US" sz="1800"/>
              <a:t>decimal </a:t>
            </a:r>
            <a:r>
              <a:rPr lang="en-US" sz="1800" b="1">
                <a:solidFill>
                  <a:srgbClr val="00B0F0"/>
                </a:solidFill>
              </a:rPr>
              <a:t>FRL_ID</a:t>
            </a:r>
            <a:r>
              <a:rPr lang="en-US" sz="1800"/>
              <a:t> [PK], identity</a:t>
            </a:r>
          </a:p>
          <a:p>
            <a:r>
              <a:rPr lang="en-US" sz="1800"/>
              <a:t>decimal FRD_ID { get; set; }</a:t>
            </a:r>
          </a:p>
          <a:p>
            <a:r>
              <a:rPr lang="en-US" sz="1800"/>
              <a:t>DateTime Date_Creation { get; set; }</a:t>
            </a:r>
          </a:p>
          <a:p>
            <a:r>
              <a:rPr lang="en-US" sz="1800"/>
              <a:t>Nullable&lt;int&gt; UserId { get; set; }</a:t>
            </a:r>
          </a:p>
          <a:p>
            <a:r>
              <a:rPr lang="en-US" sz="1800"/>
              <a:t>DateTime Daily_Date { get; set; }</a:t>
            </a:r>
          </a:p>
          <a:p>
            <a:r>
              <a:rPr lang="en-US" sz="1800"/>
              <a:t>Nullable&lt;int&gt; Action_Flag { get; set; }</a:t>
            </a:r>
          </a:p>
          <a:p>
            <a:pPr lvl="1"/>
            <a:r>
              <a:rPr lang="en-US" sz="1600"/>
              <a:t>0 : </a:t>
            </a:r>
            <a:r>
              <a:rPr lang="ar-EG" sz="1600"/>
              <a:t>رفض</a:t>
            </a:r>
            <a:endParaRPr lang="en-US" sz="1600"/>
          </a:p>
          <a:p>
            <a:pPr lvl="1"/>
            <a:r>
              <a:rPr lang="en-US" sz="1600"/>
              <a:t>1 : </a:t>
            </a:r>
            <a:r>
              <a:rPr lang="ar-EG" sz="1600"/>
              <a:t>قبول</a:t>
            </a:r>
            <a:endParaRPr lang="en-US" sz="1600"/>
          </a:p>
          <a:p>
            <a:pPr lvl="1"/>
            <a:r>
              <a:rPr lang="en-US" sz="1600"/>
              <a:t>2 : </a:t>
            </a:r>
            <a:r>
              <a:rPr lang="ar-EG" sz="1600"/>
              <a:t>رفض نهائي</a:t>
            </a:r>
            <a:endParaRPr lang="en-US" sz="1600"/>
          </a:p>
          <a:p>
            <a:pPr lvl="1"/>
            <a:r>
              <a:rPr lang="en-US" sz="1600"/>
              <a:t>3 : </a:t>
            </a:r>
            <a:r>
              <a:rPr lang="ar-EG" sz="1600"/>
              <a:t>رفض ضامن</a:t>
            </a:r>
            <a:endParaRPr lang="en-US" sz="1600"/>
          </a:p>
          <a:p>
            <a:pPr lvl="1"/>
            <a:r>
              <a:rPr lang="en-US" sz="1600"/>
              <a:t>4 : </a:t>
            </a:r>
            <a:r>
              <a:rPr lang="ar-EG" sz="1600"/>
              <a:t>حفظ</a:t>
            </a:r>
            <a:endParaRPr lang="en-US" sz="1600"/>
          </a:p>
          <a:p>
            <a:pPr lvl="1"/>
            <a:r>
              <a:rPr lang="en-US" sz="1600"/>
              <a:t>5 : </a:t>
            </a:r>
            <a:r>
              <a:rPr lang="ar-EG" sz="1600"/>
              <a:t>حفظ وإرسال</a:t>
            </a:r>
            <a:endParaRPr lang="en-US" sz="1600"/>
          </a:p>
          <a:p>
            <a:pPr lvl="1"/>
            <a:r>
              <a:rPr lang="en-US" sz="1600"/>
              <a:t>Null: </a:t>
            </a:r>
          </a:p>
          <a:p>
            <a:r>
              <a:rPr lang="en-US" sz="1800"/>
              <a:t>string Step_name { get; set; }</a:t>
            </a:r>
            <a:endParaRPr lang="en-US"/>
          </a:p>
          <a:p>
            <a:r>
              <a:rPr lang="en-US" sz="1800"/>
              <a:t>string Definition_number { get; set; } // to use it in filteration in FstReview ##</a:t>
            </a:r>
          </a:p>
          <a:p>
            <a:r>
              <a:rPr lang="en-US" sz="1800"/>
              <a:t>Flow_Request_Deportation Flow_Request_Deportation { get; set; }</a:t>
            </a:r>
          </a:p>
          <a:p>
            <a:r>
              <a:rPr lang="en-US" sz="1800"/>
              <a:t>User Users { get; set; }</a:t>
            </a:r>
          </a:p>
          <a:p>
            <a:endParaRPr lang="en-US" sz="1800"/>
          </a:p>
          <a:p>
            <a:endParaRPr lang="en-US" sz="1800"/>
          </a:p>
        </p:txBody>
      </p:sp>
      <p:pic>
        <p:nvPicPr>
          <p:cNvPr id="8" name="Picture 7">
            <a:extLst>
              <a:ext uri="{FF2B5EF4-FFF2-40B4-BE49-F238E27FC236}">
                <a16:creationId xmlns:a16="http://schemas.microsoft.com/office/drawing/2014/main" id="{5A705ED5-539D-26CC-976C-AC0F502E3A9A}"/>
              </a:ext>
            </a:extLst>
          </p:cNvPr>
          <p:cNvPicPr>
            <a:picLocks noChangeAspect="1"/>
          </p:cNvPicPr>
          <p:nvPr/>
        </p:nvPicPr>
        <p:blipFill>
          <a:blip r:embed="rId2"/>
          <a:stretch>
            <a:fillRect/>
          </a:stretch>
        </p:blipFill>
        <p:spPr>
          <a:xfrm>
            <a:off x="4381721" y="740465"/>
            <a:ext cx="7661193" cy="2017643"/>
          </a:xfrm>
          <a:prstGeom prst="rect">
            <a:avLst/>
          </a:prstGeom>
        </p:spPr>
      </p:pic>
      <p:pic>
        <p:nvPicPr>
          <p:cNvPr id="10" name="Picture 9">
            <a:extLst>
              <a:ext uri="{FF2B5EF4-FFF2-40B4-BE49-F238E27FC236}">
                <a16:creationId xmlns:a16="http://schemas.microsoft.com/office/drawing/2014/main" id="{6DA83F0D-A5E3-2EAE-4147-1D05F64BD3B8}"/>
              </a:ext>
            </a:extLst>
          </p:cNvPr>
          <p:cNvPicPr>
            <a:picLocks noChangeAspect="1"/>
          </p:cNvPicPr>
          <p:nvPr/>
        </p:nvPicPr>
        <p:blipFill>
          <a:blip r:embed="rId3"/>
          <a:stretch>
            <a:fillRect/>
          </a:stretch>
        </p:blipFill>
        <p:spPr>
          <a:xfrm>
            <a:off x="4598725" y="2864694"/>
            <a:ext cx="7227183" cy="902235"/>
          </a:xfrm>
          <a:prstGeom prst="rect">
            <a:avLst/>
          </a:prstGeom>
        </p:spPr>
      </p:pic>
      <p:pic>
        <p:nvPicPr>
          <p:cNvPr id="12" name="Picture 11">
            <a:extLst>
              <a:ext uri="{FF2B5EF4-FFF2-40B4-BE49-F238E27FC236}">
                <a16:creationId xmlns:a16="http://schemas.microsoft.com/office/drawing/2014/main" id="{B37B54F2-4E30-83D6-5610-9B03C569F250}"/>
              </a:ext>
            </a:extLst>
          </p:cNvPr>
          <p:cNvPicPr>
            <a:picLocks noChangeAspect="1"/>
          </p:cNvPicPr>
          <p:nvPr/>
        </p:nvPicPr>
        <p:blipFill>
          <a:blip r:embed="rId4"/>
          <a:stretch>
            <a:fillRect/>
          </a:stretch>
        </p:blipFill>
        <p:spPr>
          <a:xfrm>
            <a:off x="4598725" y="3874603"/>
            <a:ext cx="7058397" cy="1214743"/>
          </a:xfrm>
          <a:prstGeom prst="rect">
            <a:avLst/>
          </a:prstGeom>
        </p:spPr>
      </p:pic>
    </p:spTree>
    <p:extLst>
      <p:ext uri="{BB962C8B-B14F-4D97-AF65-F5344CB8AC3E}">
        <p14:creationId xmlns:p14="http://schemas.microsoft.com/office/powerpoint/2010/main" val="31738252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19C68C-300F-D981-E5B5-31F8DFBDF9FB}"/>
              </a:ext>
            </a:extLst>
          </p:cNvPr>
          <p:cNvSpPr>
            <a:spLocks noGrp="1"/>
          </p:cNvSpPr>
          <p:nvPr>
            <p:ph idx="1"/>
          </p:nvPr>
        </p:nvSpPr>
        <p:spPr>
          <a:xfrm>
            <a:off x="437322" y="636104"/>
            <a:ext cx="11032435" cy="5784361"/>
          </a:xfrm>
        </p:spPr>
        <p:txBody>
          <a:bodyPr/>
          <a:lstStyle/>
          <a:p>
            <a:r>
              <a:rPr lang="en-US"/>
              <a:t>After funding request is done via LO first time</a:t>
            </a:r>
            <a:endParaRPr lang="ar-EG"/>
          </a:p>
          <a:p>
            <a:pPr lvl="1"/>
            <a:r>
              <a:rPr lang="en-US"/>
              <a:t>Action_Flag: NULL</a:t>
            </a:r>
          </a:p>
          <a:p>
            <a:pPr lvl="1"/>
            <a:r>
              <a:rPr lang="en-US"/>
              <a:t>Step_name: </a:t>
            </a:r>
            <a:r>
              <a:rPr lang="ar-EG"/>
              <a:t>طلب تمويل</a:t>
            </a:r>
          </a:p>
          <a:p>
            <a:pPr lvl="1"/>
            <a:r>
              <a:rPr lang="en-US"/>
              <a:t>Definition_number: R111</a:t>
            </a:r>
          </a:p>
          <a:p>
            <a:r>
              <a:rPr lang="en-US"/>
              <a:t>After funding request is save and send VIA LO </a:t>
            </a:r>
            <a:r>
              <a:rPr lang="ar-EG"/>
              <a:t>حفظ وإرسال</a:t>
            </a:r>
          </a:p>
          <a:p>
            <a:endParaRPr lang="ar-EG"/>
          </a:p>
          <a:p>
            <a:endParaRPr lang="ar-EG"/>
          </a:p>
          <a:p>
            <a:endParaRPr lang="ar-EG"/>
          </a:p>
          <a:p>
            <a:r>
              <a:rPr lang="en-US"/>
              <a:t>After funding request is </a:t>
            </a:r>
            <a:r>
              <a:rPr lang="en-US" b="1">
                <a:solidFill>
                  <a:srgbClr val="FF0000"/>
                </a:solidFill>
              </a:rPr>
              <a:t>Rejected</a:t>
            </a:r>
            <a:r>
              <a:rPr lang="en-US"/>
              <a:t> VIA CO </a:t>
            </a:r>
            <a:r>
              <a:rPr lang="ar-EG" b="1">
                <a:solidFill>
                  <a:srgbClr val="FF0000"/>
                </a:solidFill>
              </a:rPr>
              <a:t>رفض</a:t>
            </a:r>
          </a:p>
          <a:p>
            <a:endParaRPr lang="ar-EG"/>
          </a:p>
        </p:txBody>
      </p:sp>
      <p:sp>
        <p:nvSpPr>
          <p:cNvPr id="4" name="Title 1">
            <a:extLst>
              <a:ext uri="{FF2B5EF4-FFF2-40B4-BE49-F238E27FC236}">
                <a16:creationId xmlns:a16="http://schemas.microsoft.com/office/drawing/2014/main" id="{52E6BF61-7FE5-F9C7-3F71-AED941A5895F}"/>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 (cont.1)</a:t>
            </a:r>
          </a:p>
        </p:txBody>
      </p:sp>
      <p:graphicFrame>
        <p:nvGraphicFramePr>
          <p:cNvPr id="6" name="Table 5">
            <a:extLst>
              <a:ext uri="{FF2B5EF4-FFF2-40B4-BE49-F238E27FC236}">
                <a16:creationId xmlns:a16="http://schemas.microsoft.com/office/drawing/2014/main" id="{5D1F7E5C-F8D8-8598-A6B1-AA1BDC6CF1EE}"/>
              </a:ext>
            </a:extLst>
          </p:cNvPr>
          <p:cNvGraphicFramePr>
            <a:graphicFrameLocks noGrp="1"/>
          </p:cNvGraphicFramePr>
          <p:nvPr>
            <p:extLst>
              <p:ext uri="{D42A27DB-BD31-4B8C-83A1-F6EECF244321}">
                <p14:modId xmlns:p14="http://schemas.microsoft.com/office/powerpoint/2010/main" val="3355624214"/>
              </p:ext>
            </p:extLst>
          </p:nvPr>
        </p:nvGraphicFramePr>
        <p:xfrm>
          <a:off x="913795" y="2832983"/>
          <a:ext cx="8004064" cy="111252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NULL</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bl>
          </a:graphicData>
        </a:graphic>
      </p:graphicFrame>
      <p:graphicFrame>
        <p:nvGraphicFramePr>
          <p:cNvPr id="7" name="Table 6">
            <a:extLst>
              <a:ext uri="{FF2B5EF4-FFF2-40B4-BE49-F238E27FC236}">
                <a16:creationId xmlns:a16="http://schemas.microsoft.com/office/drawing/2014/main" id="{46E7303B-A3FB-8C02-B23F-F5F69C37505F}"/>
              </a:ext>
            </a:extLst>
          </p:cNvPr>
          <p:cNvGraphicFramePr>
            <a:graphicFrameLocks noGrp="1"/>
          </p:cNvGraphicFramePr>
          <p:nvPr>
            <p:extLst>
              <p:ext uri="{D42A27DB-BD31-4B8C-83A1-F6EECF244321}">
                <p14:modId xmlns:p14="http://schemas.microsoft.com/office/powerpoint/2010/main" val="908067994"/>
              </p:ext>
            </p:extLst>
          </p:nvPr>
        </p:nvGraphicFramePr>
        <p:xfrm>
          <a:off x="913795" y="4626724"/>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0 [ </a:t>
                      </a:r>
                      <a:r>
                        <a:rPr lang="ar-EG"/>
                        <a:t>رفض</a:t>
                      </a:r>
                      <a:r>
                        <a:rPr lang="en-US"/>
                        <a:t> ]</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1132  [ LO ]</a:t>
                      </a:r>
                    </a:p>
                  </a:txBody>
                  <a:tcPr/>
                </a:tc>
                <a:tc>
                  <a:txBody>
                    <a:bodyPr/>
                    <a:lstStyle/>
                    <a:p>
                      <a:r>
                        <a:rPr lang="en-US"/>
                        <a:t>NULL</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3688995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24FBF-F0BB-774C-FD4E-6A182D98FC28}"/>
              </a:ext>
            </a:extLst>
          </p:cNvPr>
          <p:cNvSpPr>
            <a:spLocks noGrp="1"/>
          </p:cNvSpPr>
          <p:nvPr>
            <p:ph type="title"/>
          </p:nvPr>
        </p:nvSpPr>
        <p:spPr>
          <a:xfrm>
            <a:off x="913795" y="0"/>
            <a:ext cx="10353762" cy="619432"/>
          </a:xfrm>
        </p:spPr>
        <p:txBody>
          <a:bodyPr>
            <a:normAutofit fontScale="90000"/>
          </a:bodyPr>
          <a:lstStyle/>
          <a:p>
            <a:r>
              <a:rPr lang="en-US" b="1">
                <a:solidFill>
                  <a:srgbClr val="FFFF00"/>
                </a:solidFill>
              </a:rPr>
              <a:t>TDWF</a:t>
            </a:r>
            <a:r>
              <a:rPr lang="en-US"/>
              <a:t>.</a:t>
            </a:r>
            <a:r>
              <a:rPr lang="en-US" b="1">
                <a:solidFill>
                  <a:srgbClr val="FF0000"/>
                </a:solidFill>
              </a:rPr>
              <a:t>Flow_Rejections_main</a:t>
            </a:r>
          </a:p>
        </p:txBody>
      </p:sp>
      <p:sp>
        <p:nvSpPr>
          <p:cNvPr id="3" name="Content Placeholder 2">
            <a:extLst>
              <a:ext uri="{FF2B5EF4-FFF2-40B4-BE49-F238E27FC236}">
                <a16:creationId xmlns:a16="http://schemas.microsoft.com/office/drawing/2014/main" id="{36DA3D8E-EFB8-1022-10D0-BA8027151160}"/>
              </a:ext>
            </a:extLst>
          </p:cNvPr>
          <p:cNvSpPr>
            <a:spLocks noGrp="1"/>
          </p:cNvSpPr>
          <p:nvPr>
            <p:ph idx="1"/>
          </p:nvPr>
        </p:nvSpPr>
        <p:spPr>
          <a:xfrm>
            <a:off x="24172" y="619432"/>
            <a:ext cx="12167828" cy="5928851"/>
          </a:xfrm>
        </p:spPr>
        <p:txBody>
          <a:bodyPr/>
          <a:lstStyle/>
          <a:p>
            <a:r>
              <a:rPr lang="en-US" sz="2400" b="1">
                <a:solidFill>
                  <a:srgbClr val="FF0000"/>
                </a:solidFill>
              </a:rPr>
              <a:t>After request is rejected via CO </a:t>
            </a:r>
            <a:r>
              <a:rPr lang="ar-EG" sz="2400" b="1">
                <a:solidFill>
                  <a:srgbClr val="FF0000"/>
                </a:solidFill>
              </a:rPr>
              <a:t>رفض</a:t>
            </a:r>
            <a:endParaRPr lang="en-US" sz="2400" b="1">
              <a:solidFill>
                <a:srgbClr val="FF0000"/>
              </a:solidFill>
            </a:endParaRPr>
          </a:p>
          <a:p>
            <a:endParaRPr lang="en-US"/>
          </a:p>
          <a:p>
            <a:endParaRPr lang="en-US"/>
          </a:p>
        </p:txBody>
      </p:sp>
      <p:graphicFrame>
        <p:nvGraphicFramePr>
          <p:cNvPr id="4" name="Table 3">
            <a:extLst>
              <a:ext uri="{FF2B5EF4-FFF2-40B4-BE49-F238E27FC236}">
                <a16:creationId xmlns:a16="http://schemas.microsoft.com/office/drawing/2014/main" id="{D3D1A445-A00D-FB58-863B-86E29C7B9CD7}"/>
              </a:ext>
            </a:extLst>
          </p:cNvPr>
          <p:cNvGraphicFramePr>
            <a:graphicFrameLocks noGrp="1"/>
          </p:cNvGraphicFramePr>
          <p:nvPr>
            <p:extLst>
              <p:ext uri="{D42A27DB-BD31-4B8C-83A1-F6EECF244321}">
                <p14:modId xmlns:p14="http://schemas.microsoft.com/office/powerpoint/2010/main" val="649893934"/>
              </p:ext>
            </p:extLst>
          </p:nvPr>
        </p:nvGraphicFramePr>
        <p:xfrm>
          <a:off x="7295532" y="1014110"/>
          <a:ext cx="4601500" cy="1752600"/>
        </p:xfrm>
        <a:graphic>
          <a:graphicData uri="http://schemas.openxmlformats.org/drawingml/2006/table">
            <a:tbl>
              <a:tblPr firstRow="1" bandRow="1">
                <a:tableStyleId>{5C22544A-7EE6-4342-B048-85BDC9FD1C3A}</a:tableStyleId>
              </a:tblPr>
              <a:tblGrid>
                <a:gridCol w="2300750">
                  <a:extLst>
                    <a:ext uri="{9D8B030D-6E8A-4147-A177-3AD203B41FA5}">
                      <a16:colId xmlns:a16="http://schemas.microsoft.com/office/drawing/2014/main" val="953148366"/>
                    </a:ext>
                  </a:extLst>
                </a:gridCol>
                <a:gridCol w="2300750">
                  <a:extLst>
                    <a:ext uri="{9D8B030D-6E8A-4147-A177-3AD203B41FA5}">
                      <a16:colId xmlns:a16="http://schemas.microsoft.com/office/drawing/2014/main" val="1910439298"/>
                    </a:ext>
                  </a:extLst>
                </a:gridCol>
              </a:tblGrid>
              <a:tr h="370840">
                <a:tc gridSpan="2">
                  <a:txBody>
                    <a:bodyPr/>
                    <a:lstStyle/>
                    <a:p>
                      <a:pPr algn="ctr"/>
                      <a:r>
                        <a:rPr lang="en-US"/>
                        <a:t>Rejection_Flag</a:t>
                      </a:r>
                    </a:p>
                  </a:txBody>
                  <a:tcPr/>
                </a:tc>
                <a:tc hMerge="1">
                  <a:txBody>
                    <a:bodyPr/>
                    <a:lstStyle/>
                    <a:p>
                      <a:endParaRPr lang="en-US"/>
                    </a:p>
                  </a:txBody>
                  <a:tcPr/>
                </a:tc>
                <a:extLst>
                  <a:ext uri="{0D108BD9-81ED-4DB2-BD59-A6C34878D82A}">
                    <a16:rowId xmlns:a16="http://schemas.microsoft.com/office/drawing/2014/main" val="1543311661"/>
                  </a:ext>
                </a:extLst>
              </a:tr>
              <a:tr h="370840">
                <a:tc>
                  <a:txBody>
                    <a:bodyPr/>
                    <a:lstStyle/>
                    <a:p>
                      <a:r>
                        <a:rPr lang="en-US"/>
                        <a:t>1</a:t>
                      </a:r>
                    </a:p>
                  </a:txBody>
                  <a:tcPr/>
                </a:tc>
                <a:tc>
                  <a:txBody>
                    <a:bodyPr/>
                    <a:lstStyle/>
                    <a:p>
                      <a:r>
                        <a:rPr lang="ar-EG"/>
                        <a:t>رفض نهائي</a:t>
                      </a:r>
                      <a:endParaRPr lang="en-US"/>
                    </a:p>
                  </a:txBody>
                  <a:tcPr/>
                </a:tc>
                <a:extLst>
                  <a:ext uri="{0D108BD9-81ED-4DB2-BD59-A6C34878D82A}">
                    <a16:rowId xmlns:a16="http://schemas.microsoft.com/office/drawing/2014/main" val="3601044299"/>
                  </a:ext>
                </a:extLst>
              </a:tr>
              <a:tr h="370840">
                <a:tc>
                  <a:txBody>
                    <a:bodyPr/>
                    <a:lstStyle/>
                    <a:p>
                      <a:r>
                        <a:rPr lang="ar-EG"/>
                        <a:t>2</a:t>
                      </a:r>
                      <a:endParaRPr lang="en-US"/>
                    </a:p>
                  </a:txBody>
                  <a:tcPr/>
                </a:tc>
                <a:tc>
                  <a:txBody>
                    <a:bodyPr/>
                    <a:lstStyle/>
                    <a:p>
                      <a:r>
                        <a:rPr lang="ar-EG"/>
                        <a:t>رفض حقول من مراجعة أولية أو من مراجعة مركزية</a:t>
                      </a:r>
                      <a:endParaRPr lang="en-US"/>
                    </a:p>
                  </a:txBody>
                  <a:tcPr/>
                </a:tc>
                <a:extLst>
                  <a:ext uri="{0D108BD9-81ED-4DB2-BD59-A6C34878D82A}">
                    <a16:rowId xmlns:a16="http://schemas.microsoft.com/office/drawing/2014/main" val="2503362686"/>
                  </a:ext>
                </a:extLst>
              </a:tr>
              <a:tr h="370840">
                <a:tc>
                  <a:txBody>
                    <a:bodyPr/>
                    <a:lstStyle/>
                    <a:p>
                      <a:r>
                        <a:rPr lang="ar-EG"/>
                        <a:t>3</a:t>
                      </a:r>
                      <a:endParaRPr lang="en-US"/>
                    </a:p>
                  </a:txBody>
                  <a:tcPr/>
                </a:tc>
                <a:tc>
                  <a:txBody>
                    <a:bodyPr/>
                    <a:lstStyle/>
                    <a:p>
                      <a:r>
                        <a:rPr lang="ar-EG"/>
                        <a:t>رفض عادي كتابة سبب فقط</a:t>
                      </a:r>
                      <a:endParaRPr lang="en-US"/>
                    </a:p>
                  </a:txBody>
                  <a:tcPr/>
                </a:tc>
                <a:extLst>
                  <a:ext uri="{0D108BD9-81ED-4DB2-BD59-A6C34878D82A}">
                    <a16:rowId xmlns:a16="http://schemas.microsoft.com/office/drawing/2014/main" val="650885445"/>
                  </a:ext>
                </a:extLst>
              </a:tr>
            </a:tbl>
          </a:graphicData>
        </a:graphic>
      </p:graphicFrame>
      <p:graphicFrame>
        <p:nvGraphicFramePr>
          <p:cNvPr id="5" name="Table 4">
            <a:extLst>
              <a:ext uri="{FF2B5EF4-FFF2-40B4-BE49-F238E27FC236}">
                <a16:creationId xmlns:a16="http://schemas.microsoft.com/office/drawing/2014/main" id="{406FBB2F-FC2B-611E-BCA7-6481DF9C3673}"/>
              </a:ext>
            </a:extLst>
          </p:cNvPr>
          <p:cNvGraphicFramePr>
            <a:graphicFrameLocks noGrp="1"/>
          </p:cNvGraphicFramePr>
          <p:nvPr>
            <p:extLst>
              <p:ext uri="{D42A27DB-BD31-4B8C-83A1-F6EECF244321}">
                <p14:modId xmlns:p14="http://schemas.microsoft.com/office/powerpoint/2010/main" val="2891636773"/>
              </p:ext>
            </p:extLst>
          </p:nvPr>
        </p:nvGraphicFramePr>
        <p:xfrm>
          <a:off x="102829" y="2966664"/>
          <a:ext cx="11794203" cy="741680"/>
        </p:xfrm>
        <a:graphic>
          <a:graphicData uri="http://schemas.openxmlformats.org/drawingml/2006/table">
            <a:tbl>
              <a:tblPr firstRow="1" bandRow="1">
                <a:tableStyleId>{5C22544A-7EE6-4342-B048-85BDC9FD1C3A}</a:tableStyleId>
              </a:tblPr>
              <a:tblGrid>
                <a:gridCol w="1651099">
                  <a:extLst>
                    <a:ext uri="{9D8B030D-6E8A-4147-A177-3AD203B41FA5}">
                      <a16:colId xmlns:a16="http://schemas.microsoft.com/office/drawing/2014/main" val="2510266671"/>
                    </a:ext>
                  </a:extLst>
                </a:gridCol>
                <a:gridCol w="1964600">
                  <a:extLst>
                    <a:ext uri="{9D8B030D-6E8A-4147-A177-3AD203B41FA5}">
                      <a16:colId xmlns:a16="http://schemas.microsoft.com/office/drawing/2014/main" val="3238377372"/>
                    </a:ext>
                  </a:extLst>
                </a:gridCol>
                <a:gridCol w="1421199">
                  <a:extLst>
                    <a:ext uri="{9D8B030D-6E8A-4147-A177-3AD203B41FA5}">
                      <a16:colId xmlns:a16="http://schemas.microsoft.com/office/drawing/2014/main" val="1594916714"/>
                    </a:ext>
                  </a:extLst>
                </a:gridCol>
                <a:gridCol w="2946897">
                  <a:extLst>
                    <a:ext uri="{9D8B030D-6E8A-4147-A177-3AD203B41FA5}">
                      <a16:colId xmlns:a16="http://schemas.microsoft.com/office/drawing/2014/main" val="396291970"/>
                    </a:ext>
                  </a:extLst>
                </a:gridCol>
                <a:gridCol w="1995949">
                  <a:extLst>
                    <a:ext uri="{9D8B030D-6E8A-4147-A177-3AD203B41FA5}">
                      <a16:colId xmlns:a16="http://schemas.microsoft.com/office/drawing/2014/main" val="2006853344"/>
                    </a:ext>
                  </a:extLst>
                </a:gridCol>
                <a:gridCol w="1814459">
                  <a:extLst>
                    <a:ext uri="{9D8B030D-6E8A-4147-A177-3AD203B41FA5}">
                      <a16:colId xmlns:a16="http://schemas.microsoft.com/office/drawing/2014/main" val="2181801146"/>
                    </a:ext>
                  </a:extLst>
                </a:gridCol>
              </a:tblGrid>
              <a:tr h="370840">
                <a:tc>
                  <a:txBody>
                    <a:bodyPr/>
                    <a:lstStyle/>
                    <a:p>
                      <a:r>
                        <a:rPr lang="en-US"/>
                        <a:t>UserId</a:t>
                      </a:r>
                    </a:p>
                  </a:txBody>
                  <a:tcPr/>
                </a:tc>
                <a:tc>
                  <a:txBody>
                    <a:bodyPr/>
                    <a:lstStyle/>
                    <a:p>
                      <a:r>
                        <a:rPr lang="en-US"/>
                        <a:t>Reject_by_phase</a:t>
                      </a:r>
                    </a:p>
                  </a:txBody>
                  <a:tcPr/>
                </a:tc>
                <a:tc>
                  <a:txBody>
                    <a:bodyPr/>
                    <a:lstStyle/>
                    <a:p>
                      <a:r>
                        <a:rPr lang="en-US"/>
                        <a:t>Request_id</a:t>
                      </a:r>
                    </a:p>
                  </a:txBody>
                  <a:tcPr/>
                </a:tc>
                <a:tc>
                  <a:txBody>
                    <a:bodyPr/>
                    <a:lstStyle/>
                    <a:p>
                      <a:r>
                        <a:rPr lang="en-US"/>
                        <a:t>Remarks</a:t>
                      </a:r>
                    </a:p>
                  </a:txBody>
                  <a:tcPr/>
                </a:tc>
                <a:tc>
                  <a:txBody>
                    <a:bodyPr/>
                    <a:lstStyle/>
                    <a:p>
                      <a:r>
                        <a:rPr lang="en-US"/>
                        <a:t>InsertDate</a:t>
                      </a:r>
                    </a:p>
                  </a:txBody>
                  <a:tcPr/>
                </a:tc>
                <a:tc>
                  <a:txBody>
                    <a:bodyPr/>
                    <a:lstStyle/>
                    <a:p>
                      <a:r>
                        <a:rPr lang="en-US"/>
                        <a:t>Rejection_flag</a:t>
                      </a:r>
                    </a:p>
                  </a:txBody>
                  <a:tcPr/>
                </a:tc>
                <a:extLst>
                  <a:ext uri="{0D108BD9-81ED-4DB2-BD59-A6C34878D82A}">
                    <a16:rowId xmlns:a16="http://schemas.microsoft.com/office/drawing/2014/main" val="2813072921"/>
                  </a:ext>
                </a:extLst>
              </a:tr>
              <a:tr h="370840">
                <a:tc>
                  <a:txBody>
                    <a:bodyPr/>
                    <a:lstStyle/>
                    <a:p>
                      <a:r>
                        <a:rPr lang="en-US"/>
                        <a:t>1152  [ CO ]</a:t>
                      </a:r>
                    </a:p>
                  </a:txBody>
                  <a:tcPr/>
                </a:tc>
                <a:tc>
                  <a:txBody>
                    <a:bodyPr/>
                    <a:lstStyle/>
                    <a:p>
                      <a:r>
                        <a:rPr lang="en-US"/>
                        <a:t>CO1010</a:t>
                      </a:r>
                    </a:p>
                  </a:txBody>
                  <a:tcPr/>
                </a:tc>
                <a:tc>
                  <a:txBody>
                    <a:bodyPr/>
                    <a:lstStyle/>
                    <a:p>
                      <a:r>
                        <a:rPr lang="en-US"/>
                        <a:t>1565295</a:t>
                      </a:r>
                    </a:p>
                  </a:txBody>
                  <a:tcPr/>
                </a:tc>
                <a:tc>
                  <a:txBody>
                    <a:bodyPr/>
                    <a:lstStyle/>
                    <a:p>
                      <a:r>
                        <a:rPr lang="ar-EG" sz="1600"/>
                        <a:t>تم الرفض من مرحلة المراجعة الأولية</a:t>
                      </a:r>
                      <a:endParaRPr lang="en-US" sz="1600"/>
                    </a:p>
                  </a:txBody>
                  <a:tcPr/>
                </a:tc>
                <a:tc>
                  <a:txBody>
                    <a:bodyPr/>
                    <a:lstStyle/>
                    <a:p>
                      <a:r>
                        <a:rPr lang="en-US" sz="1600"/>
                        <a:t>2026-02-25 11:15:07</a:t>
                      </a:r>
                    </a:p>
                  </a:txBody>
                  <a:tcPr/>
                </a:tc>
                <a:tc>
                  <a:txBody>
                    <a:bodyPr/>
                    <a:lstStyle/>
                    <a:p>
                      <a:r>
                        <a:rPr lang="ar-EG"/>
                        <a:t>2</a:t>
                      </a:r>
                      <a:endParaRPr lang="en-US"/>
                    </a:p>
                  </a:txBody>
                  <a:tcPr/>
                </a:tc>
                <a:extLst>
                  <a:ext uri="{0D108BD9-81ED-4DB2-BD59-A6C34878D82A}">
                    <a16:rowId xmlns:a16="http://schemas.microsoft.com/office/drawing/2014/main" val="2372472528"/>
                  </a:ext>
                </a:extLst>
              </a:tr>
            </a:tbl>
          </a:graphicData>
        </a:graphic>
      </p:graphicFrame>
    </p:spTree>
    <p:extLst>
      <p:ext uri="{BB962C8B-B14F-4D97-AF65-F5344CB8AC3E}">
        <p14:creationId xmlns:p14="http://schemas.microsoft.com/office/powerpoint/2010/main" val="41473384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3AF15-2900-BCCD-BE8F-E2D58873E262}"/>
              </a:ext>
            </a:extLst>
          </p:cNvPr>
          <p:cNvSpPr>
            <a:spLocks noGrp="1"/>
          </p:cNvSpPr>
          <p:nvPr>
            <p:ph type="title"/>
          </p:nvPr>
        </p:nvSpPr>
        <p:spPr>
          <a:xfrm>
            <a:off x="913795" y="0"/>
            <a:ext cx="10353762" cy="648929"/>
          </a:xfrm>
        </p:spPr>
        <p:txBody>
          <a:bodyPr>
            <a:normAutofit/>
          </a:bodyPr>
          <a:lstStyle/>
          <a:p>
            <a:r>
              <a:rPr lang="en-US" sz="3200" b="1">
                <a:solidFill>
                  <a:srgbClr val="FFFF00"/>
                </a:solidFill>
              </a:rPr>
              <a:t>TDWF</a:t>
            </a:r>
            <a:r>
              <a:rPr lang="en-US" sz="3200"/>
              <a:t>.</a:t>
            </a:r>
            <a:r>
              <a:rPr lang="en-US" sz="3200" b="1">
                <a:solidFill>
                  <a:srgbClr val="FF0000"/>
                </a:solidFill>
              </a:rPr>
              <a:t>Flow_Rejections_SubOne</a:t>
            </a:r>
          </a:p>
        </p:txBody>
      </p:sp>
      <p:sp>
        <p:nvSpPr>
          <p:cNvPr id="3" name="Content Placeholder 2">
            <a:extLst>
              <a:ext uri="{FF2B5EF4-FFF2-40B4-BE49-F238E27FC236}">
                <a16:creationId xmlns:a16="http://schemas.microsoft.com/office/drawing/2014/main" id="{C8CE30A4-CBA1-C28D-BA06-F2D2F5A3F8D1}"/>
              </a:ext>
            </a:extLst>
          </p:cNvPr>
          <p:cNvSpPr>
            <a:spLocks noGrp="1"/>
          </p:cNvSpPr>
          <p:nvPr>
            <p:ph idx="1"/>
          </p:nvPr>
        </p:nvSpPr>
        <p:spPr>
          <a:xfrm>
            <a:off x="275302" y="648929"/>
            <a:ext cx="11690555" cy="6105832"/>
          </a:xfrm>
        </p:spPr>
        <p:txBody>
          <a:bodyPr/>
          <a:lstStyle/>
          <a:p>
            <a:r>
              <a:rPr lang="en-US"/>
              <a:t>FRSO_ID [PK]</a:t>
            </a:r>
          </a:p>
          <a:p>
            <a:r>
              <a:rPr lang="en-US"/>
              <a:t>tabs_code [FK] </a:t>
            </a:r>
            <a:r>
              <a:rPr lang="en-US" b="1">
                <a:solidFill>
                  <a:srgbClr val="FFFF00"/>
                </a:solidFill>
              </a:rPr>
              <a:t>from Flow_Tabs</a:t>
            </a:r>
          </a:p>
          <a:p>
            <a:r>
              <a:rPr lang="en-US"/>
              <a:t>Field_name</a:t>
            </a:r>
          </a:p>
          <a:p>
            <a:r>
              <a:rPr lang="en-US"/>
              <a:t>Field_code</a:t>
            </a:r>
          </a:p>
          <a:p>
            <a:r>
              <a:rPr lang="en-US"/>
              <a:t>UserId: the User who will receive the rejection</a:t>
            </a:r>
          </a:p>
          <a:p>
            <a:r>
              <a:rPr lang="en-US"/>
              <a:t>Phase_back_to: string </a:t>
            </a:r>
          </a:p>
          <a:p>
            <a:r>
              <a:rPr lang="en-US"/>
              <a:t>Comment: string</a:t>
            </a:r>
          </a:p>
          <a:p>
            <a:r>
              <a:rPr lang="en-US"/>
              <a:t>FRM_ID </a:t>
            </a:r>
            <a:r>
              <a:rPr lang="en-US" b="1">
                <a:solidFill>
                  <a:srgbClr val="FFFF00"/>
                </a:solidFill>
              </a:rPr>
              <a:t>[FK] from Flow_Rejection_Main</a:t>
            </a:r>
          </a:p>
        </p:txBody>
      </p:sp>
    </p:spTree>
    <p:extLst>
      <p:ext uri="{BB962C8B-B14F-4D97-AF65-F5344CB8AC3E}">
        <p14:creationId xmlns:p14="http://schemas.microsoft.com/office/powerpoint/2010/main" val="25945814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DC371A-EF07-CBCD-1233-CFDD455359D4}"/>
              </a:ext>
            </a:extLst>
          </p:cNvPr>
          <p:cNvSpPr>
            <a:spLocks noGrp="1"/>
          </p:cNvSpPr>
          <p:nvPr>
            <p:ph type="title"/>
          </p:nvPr>
        </p:nvSpPr>
        <p:spPr>
          <a:xfrm>
            <a:off x="913795" y="0"/>
            <a:ext cx="10353762" cy="970450"/>
          </a:xfrm>
        </p:spPr>
        <p:txBody>
          <a:bodyPr/>
          <a:lstStyle/>
          <a:p>
            <a:r>
              <a:rPr lang="en-US" b="1">
                <a:solidFill>
                  <a:srgbClr val="FFFF00"/>
                </a:solidFill>
              </a:rPr>
              <a:t>TDWF</a:t>
            </a:r>
            <a:r>
              <a:rPr lang="en-US"/>
              <a:t>.</a:t>
            </a:r>
            <a:r>
              <a:rPr lang="en-US" b="1">
                <a:solidFill>
                  <a:srgbClr val="FF0000"/>
                </a:solidFill>
              </a:rPr>
              <a:t>Flow_Rejections_SubOne [cont.1]</a:t>
            </a:r>
            <a:endParaRPr lang="en-US"/>
          </a:p>
        </p:txBody>
      </p:sp>
      <p:sp>
        <p:nvSpPr>
          <p:cNvPr id="3" name="Content Placeholder 2">
            <a:extLst>
              <a:ext uri="{FF2B5EF4-FFF2-40B4-BE49-F238E27FC236}">
                <a16:creationId xmlns:a16="http://schemas.microsoft.com/office/drawing/2014/main" id="{0B200E3E-059A-C3FB-2BFA-B1B945F5D940}"/>
              </a:ext>
            </a:extLst>
          </p:cNvPr>
          <p:cNvSpPr>
            <a:spLocks noGrp="1"/>
          </p:cNvSpPr>
          <p:nvPr>
            <p:ph idx="1"/>
          </p:nvPr>
        </p:nvSpPr>
        <p:spPr>
          <a:xfrm>
            <a:off x="176980" y="970451"/>
            <a:ext cx="12929419" cy="5705652"/>
          </a:xfrm>
        </p:spPr>
        <p:txBody>
          <a:bodyPr/>
          <a:lstStyle/>
          <a:p>
            <a:r>
              <a:rPr lang="en-US" b="1">
                <a:solidFill>
                  <a:srgbClr val="FF0000"/>
                </a:solidFill>
              </a:rPr>
              <a:t>After request is rejected via CO </a:t>
            </a:r>
            <a:r>
              <a:rPr lang="ar-EG" b="1">
                <a:solidFill>
                  <a:srgbClr val="FF0000"/>
                </a:solidFill>
              </a:rPr>
              <a:t>رفض</a:t>
            </a:r>
            <a:endParaRPr lang="en-US" b="1">
              <a:solidFill>
                <a:srgbClr val="FF0000"/>
              </a:solidFill>
            </a:endParaRPr>
          </a:p>
          <a:p>
            <a:pPr lvl="1"/>
            <a:r>
              <a:rPr lang="en-US" b="1">
                <a:solidFill>
                  <a:schemeClr val="tx1"/>
                </a:solidFill>
              </a:rPr>
              <a:t>The CO rejected at screen [ </a:t>
            </a:r>
            <a:r>
              <a:rPr lang="ar-EG" b="1">
                <a:solidFill>
                  <a:schemeClr val="tx1"/>
                </a:solidFill>
              </a:rPr>
              <a:t>: طلب قرض</a:t>
            </a:r>
            <a:r>
              <a:rPr lang="en-US" b="1">
                <a:solidFill>
                  <a:schemeClr val="tx1"/>
                </a:solidFill>
              </a:rPr>
              <a:t> </a:t>
            </a:r>
            <a:r>
              <a:rPr lang="ar-EG" b="1">
                <a:solidFill>
                  <a:schemeClr val="tx1"/>
                </a:solidFill>
              </a:rPr>
              <a:t>2</a:t>
            </a:r>
            <a:r>
              <a:rPr lang="en-US" b="1">
                <a:solidFill>
                  <a:schemeClr val="tx1"/>
                </a:solidFill>
              </a:rPr>
              <a:t>] </a:t>
            </a:r>
            <a:r>
              <a:rPr lang="ar-EG" b="1">
                <a:solidFill>
                  <a:schemeClr val="tx1"/>
                </a:solidFill>
              </a:rPr>
              <a:t>صله العميل بالضامن</a:t>
            </a:r>
            <a:endParaRPr lang="en-US" b="1">
              <a:solidFill>
                <a:schemeClr val="tx1"/>
              </a:solidFill>
            </a:endParaRPr>
          </a:p>
          <a:p>
            <a:pPr lvl="1"/>
            <a:r>
              <a:rPr lang="en-US" b="1">
                <a:solidFill>
                  <a:schemeClr val="tx1"/>
                </a:solidFill>
              </a:rPr>
              <a:t>The CO rejected </a:t>
            </a:r>
            <a:r>
              <a:rPr lang="ar-EG" b="1">
                <a:solidFill>
                  <a:schemeClr val="tx1"/>
                </a:solidFill>
              </a:rPr>
              <a:t>الاسم الاول</a:t>
            </a:r>
            <a:endParaRPr lang="en-US" b="1">
              <a:solidFill>
                <a:schemeClr val="tx1"/>
              </a:solidFill>
            </a:endParaRPr>
          </a:p>
          <a:p>
            <a:pPr lvl="1"/>
            <a:r>
              <a:rPr lang="en-US" b="1">
                <a:solidFill>
                  <a:schemeClr val="tx1"/>
                </a:solidFill>
              </a:rPr>
              <a:t>The CO rejected </a:t>
            </a:r>
            <a:r>
              <a:rPr lang="ar-EG" b="1">
                <a:solidFill>
                  <a:schemeClr val="tx1"/>
                </a:solidFill>
              </a:rPr>
              <a:t>اسم الشخص</a:t>
            </a:r>
            <a:endParaRPr lang="en-US" b="1">
              <a:solidFill>
                <a:schemeClr val="tx1"/>
              </a:solidFill>
            </a:endParaRPr>
          </a:p>
          <a:p>
            <a:endParaRPr lang="en-US" b="1">
              <a:solidFill>
                <a:srgbClr val="FF0000"/>
              </a:solidFill>
            </a:endParaRPr>
          </a:p>
          <a:p>
            <a:endParaRPr lang="en-US"/>
          </a:p>
          <a:p>
            <a:endParaRPr lang="en-US"/>
          </a:p>
        </p:txBody>
      </p:sp>
      <p:graphicFrame>
        <p:nvGraphicFramePr>
          <p:cNvPr id="4" name="Table 3">
            <a:extLst>
              <a:ext uri="{FF2B5EF4-FFF2-40B4-BE49-F238E27FC236}">
                <a16:creationId xmlns:a16="http://schemas.microsoft.com/office/drawing/2014/main" id="{87413163-944C-737B-8975-BCC4417383FE}"/>
              </a:ext>
            </a:extLst>
          </p:cNvPr>
          <p:cNvGraphicFramePr>
            <a:graphicFrameLocks noGrp="1"/>
          </p:cNvGraphicFramePr>
          <p:nvPr>
            <p:extLst>
              <p:ext uri="{D42A27DB-BD31-4B8C-83A1-F6EECF244321}">
                <p14:modId xmlns:p14="http://schemas.microsoft.com/office/powerpoint/2010/main" val="863933099"/>
              </p:ext>
            </p:extLst>
          </p:nvPr>
        </p:nvGraphicFramePr>
        <p:xfrm>
          <a:off x="442452" y="2931924"/>
          <a:ext cx="11425085" cy="1483360"/>
        </p:xfrm>
        <a:graphic>
          <a:graphicData uri="http://schemas.openxmlformats.org/drawingml/2006/table">
            <a:tbl>
              <a:tblPr firstRow="1" bandRow="1">
                <a:tableStyleId>{5C22544A-7EE6-4342-B048-85BDC9FD1C3A}</a:tableStyleId>
              </a:tblPr>
              <a:tblGrid>
                <a:gridCol w="1573161">
                  <a:extLst>
                    <a:ext uri="{9D8B030D-6E8A-4147-A177-3AD203B41FA5}">
                      <a16:colId xmlns:a16="http://schemas.microsoft.com/office/drawing/2014/main" val="1232553221"/>
                    </a:ext>
                  </a:extLst>
                </a:gridCol>
                <a:gridCol w="1897626">
                  <a:extLst>
                    <a:ext uri="{9D8B030D-6E8A-4147-A177-3AD203B41FA5}">
                      <a16:colId xmlns:a16="http://schemas.microsoft.com/office/drawing/2014/main" val="753264519"/>
                    </a:ext>
                  </a:extLst>
                </a:gridCol>
                <a:gridCol w="1425678">
                  <a:extLst>
                    <a:ext uri="{9D8B030D-6E8A-4147-A177-3AD203B41FA5}">
                      <a16:colId xmlns:a16="http://schemas.microsoft.com/office/drawing/2014/main" val="1508910083"/>
                    </a:ext>
                  </a:extLst>
                </a:gridCol>
                <a:gridCol w="1291078">
                  <a:extLst>
                    <a:ext uri="{9D8B030D-6E8A-4147-A177-3AD203B41FA5}">
                      <a16:colId xmlns:a16="http://schemas.microsoft.com/office/drawing/2014/main" val="1295832117"/>
                    </a:ext>
                  </a:extLst>
                </a:gridCol>
                <a:gridCol w="1973232">
                  <a:extLst>
                    <a:ext uri="{9D8B030D-6E8A-4147-A177-3AD203B41FA5}">
                      <a16:colId xmlns:a16="http://schemas.microsoft.com/office/drawing/2014/main" val="3577669660"/>
                    </a:ext>
                  </a:extLst>
                </a:gridCol>
                <a:gridCol w="1632155">
                  <a:extLst>
                    <a:ext uri="{9D8B030D-6E8A-4147-A177-3AD203B41FA5}">
                      <a16:colId xmlns:a16="http://schemas.microsoft.com/office/drawing/2014/main" val="3223476129"/>
                    </a:ext>
                  </a:extLst>
                </a:gridCol>
                <a:gridCol w="1632155">
                  <a:extLst>
                    <a:ext uri="{9D8B030D-6E8A-4147-A177-3AD203B41FA5}">
                      <a16:colId xmlns:a16="http://schemas.microsoft.com/office/drawing/2014/main" val="488725321"/>
                    </a:ext>
                  </a:extLst>
                </a:gridCol>
              </a:tblGrid>
              <a:tr h="370840">
                <a:tc>
                  <a:txBody>
                    <a:bodyPr/>
                    <a:lstStyle/>
                    <a:p>
                      <a:pPr algn="ctr"/>
                      <a:r>
                        <a:rPr lang="en-US" b="1"/>
                        <a:t>Tabs code</a:t>
                      </a:r>
                    </a:p>
                  </a:txBody>
                  <a:tcPr/>
                </a:tc>
                <a:tc>
                  <a:txBody>
                    <a:bodyPr/>
                    <a:lstStyle/>
                    <a:p>
                      <a:pPr algn="ctr"/>
                      <a:r>
                        <a:rPr lang="en-US" b="1"/>
                        <a:t>Field_name</a:t>
                      </a:r>
                    </a:p>
                  </a:txBody>
                  <a:tcPr/>
                </a:tc>
                <a:tc>
                  <a:txBody>
                    <a:bodyPr/>
                    <a:lstStyle/>
                    <a:p>
                      <a:pPr algn="ctr"/>
                      <a:r>
                        <a:rPr lang="en-US" b="1"/>
                        <a:t>Field_code</a:t>
                      </a:r>
                    </a:p>
                  </a:txBody>
                  <a:tcPr/>
                </a:tc>
                <a:tc>
                  <a:txBody>
                    <a:bodyPr/>
                    <a:lstStyle/>
                    <a:p>
                      <a:pPr algn="ctr"/>
                      <a:r>
                        <a:rPr lang="en-US" b="1"/>
                        <a:t>UserId</a:t>
                      </a:r>
                    </a:p>
                  </a:txBody>
                  <a:tcPr/>
                </a:tc>
                <a:tc>
                  <a:txBody>
                    <a:bodyPr/>
                    <a:lstStyle/>
                    <a:p>
                      <a:pPr algn="ctr"/>
                      <a:r>
                        <a:rPr lang="en-US" b="1"/>
                        <a:t>Phase_back_to</a:t>
                      </a:r>
                    </a:p>
                  </a:txBody>
                  <a:tcPr/>
                </a:tc>
                <a:tc>
                  <a:txBody>
                    <a:bodyPr/>
                    <a:lstStyle/>
                    <a:p>
                      <a:pPr algn="ctr"/>
                      <a:r>
                        <a:rPr lang="en-US" b="1"/>
                        <a:t>Comment</a:t>
                      </a:r>
                    </a:p>
                  </a:txBody>
                  <a:tcPr/>
                </a:tc>
                <a:tc>
                  <a:txBody>
                    <a:bodyPr/>
                    <a:lstStyle/>
                    <a:p>
                      <a:pPr algn="ctr"/>
                      <a:r>
                        <a:rPr lang="en-US" b="1"/>
                        <a:t>FRM_ID</a:t>
                      </a:r>
                    </a:p>
                  </a:txBody>
                  <a:tcPr/>
                </a:tc>
                <a:extLst>
                  <a:ext uri="{0D108BD9-81ED-4DB2-BD59-A6C34878D82A}">
                    <a16:rowId xmlns:a16="http://schemas.microsoft.com/office/drawing/2014/main" val="2212852566"/>
                  </a:ext>
                </a:extLst>
              </a:tr>
              <a:tr h="370840">
                <a:tc>
                  <a:txBody>
                    <a:bodyPr/>
                    <a:lstStyle/>
                    <a:p>
                      <a:pPr algn="ctr"/>
                      <a:r>
                        <a:rPr lang="en-US" b="1"/>
                        <a:t>2 [flow_tab]</a:t>
                      </a:r>
                    </a:p>
                  </a:txBody>
                  <a:tcPr/>
                </a:tc>
                <a:tc>
                  <a:txBody>
                    <a:bodyPr/>
                    <a:lstStyle/>
                    <a:p>
                      <a:pPr algn="ctr"/>
                      <a:r>
                        <a:rPr lang="ar-EG" b="1"/>
                        <a:t>صله العميل بالضامن</a:t>
                      </a:r>
                      <a:endParaRPr lang="en-US" b="1"/>
                    </a:p>
                  </a:txBody>
                  <a:tcPr/>
                </a:tc>
                <a:tc>
                  <a:txBody>
                    <a:bodyPr/>
                    <a:lstStyle/>
                    <a:p>
                      <a:pPr algn="ctr"/>
                      <a:r>
                        <a:rPr lang="en-US" b="1"/>
                        <a:t>1</a:t>
                      </a:r>
                    </a:p>
                  </a:txBody>
                  <a:tcPr/>
                </a:tc>
                <a:tc>
                  <a:txBody>
                    <a:bodyPr/>
                    <a:lstStyle/>
                    <a:p>
                      <a:pPr algn="ct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2950472985"/>
                  </a:ext>
                </a:extLst>
              </a:tr>
              <a:tr h="370840">
                <a:tc>
                  <a:txBody>
                    <a:bodyPr/>
                    <a:lstStyle/>
                    <a:p>
                      <a:pPr algn="ctr"/>
                      <a:r>
                        <a:rPr lang="en-US" b="1"/>
                        <a:t>3</a:t>
                      </a:r>
                    </a:p>
                  </a:txBody>
                  <a:tcPr/>
                </a:tc>
                <a:tc>
                  <a:txBody>
                    <a:bodyPr/>
                    <a:lstStyle/>
                    <a:p>
                      <a:pPr algn="ctr"/>
                      <a:r>
                        <a:rPr lang="ar-EG" b="1"/>
                        <a:t>الاسم الاول</a:t>
                      </a:r>
                      <a:endParaRPr lang="en-US" b="1"/>
                    </a:p>
                  </a:txBody>
                  <a:tcPr/>
                </a:tc>
                <a:tc>
                  <a:txBody>
                    <a:bodyPr/>
                    <a:lstStyle/>
                    <a:p>
                      <a:pPr algn="ctr"/>
                      <a:r>
                        <a:rPr lang="en-US" b="1"/>
                        <a:t>2</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1881440603"/>
                  </a:ext>
                </a:extLst>
              </a:tr>
              <a:tr h="370840">
                <a:tc>
                  <a:txBody>
                    <a:bodyPr/>
                    <a:lstStyle/>
                    <a:p>
                      <a:pPr algn="ctr"/>
                      <a:r>
                        <a:rPr lang="en-US" b="1"/>
                        <a:t>1</a:t>
                      </a:r>
                    </a:p>
                  </a:txBody>
                  <a:tcPr/>
                </a:tc>
                <a:tc>
                  <a:txBody>
                    <a:bodyPr/>
                    <a:lstStyle/>
                    <a:p>
                      <a:pPr algn="ctr"/>
                      <a:r>
                        <a:rPr lang="ar-EG" b="1"/>
                        <a:t>اسم الشخص</a:t>
                      </a:r>
                      <a:endParaRPr lang="en-US" b="1"/>
                    </a:p>
                  </a:txBody>
                  <a:tcPr/>
                </a:tc>
                <a:tc>
                  <a:txBody>
                    <a:bodyPr/>
                    <a:lstStyle/>
                    <a:p>
                      <a:pPr algn="ctr"/>
                      <a:r>
                        <a:rPr lang="en-US" b="1"/>
                        <a:t>11</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1836126872"/>
                  </a:ext>
                </a:extLst>
              </a:tr>
            </a:tbl>
          </a:graphicData>
        </a:graphic>
      </p:graphicFrame>
    </p:spTree>
    <p:extLst>
      <p:ext uri="{BB962C8B-B14F-4D97-AF65-F5344CB8AC3E}">
        <p14:creationId xmlns:p14="http://schemas.microsoft.com/office/powerpoint/2010/main" val="1958758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DD218-4D33-78EB-31A6-2CF981235BA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Flow_Tabs [</a:t>
            </a:r>
            <a:r>
              <a:rPr lang="ar-EG" b="1">
                <a:solidFill>
                  <a:srgbClr val="FF0000"/>
                </a:solidFill>
              </a:rPr>
              <a:t>الشاشات</a:t>
            </a:r>
            <a:r>
              <a:rPr lang="en-US" b="1">
                <a:solidFill>
                  <a:srgbClr val="FF0000"/>
                </a:solidFill>
              </a:rPr>
              <a:t>]</a:t>
            </a:r>
          </a:p>
        </p:txBody>
      </p:sp>
      <p:sp>
        <p:nvSpPr>
          <p:cNvPr id="3" name="Content Placeholder 2">
            <a:extLst>
              <a:ext uri="{FF2B5EF4-FFF2-40B4-BE49-F238E27FC236}">
                <a16:creationId xmlns:a16="http://schemas.microsoft.com/office/drawing/2014/main" id="{D07FEF39-BF4B-C831-5910-CAC918C3E7CD}"/>
              </a:ext>
            </a:extLst>
          </p:cNvPr>
          <p:cNvSpPr>
            <a:spLocks noGrp="1"/>
          </p:cNvSpPr>
          <p:nvPr>
            <p:ph idx="1"/>
          </p:nvPr>
        </p:nvSpPr>
        <p:spPr>
          <a:xfrm>
            <a:off x="245806" y="737418"/>
            <a:ext cx="11690556" cy="5978013"/>
          </a:xfrm>
        </p:spPr>
        <p:txBody>
          <a:bodyPr/>
          <a:lstStyle/>
          <a:p>
            <a:r>
              <a:rPr lang="en-US"/>
              <a:t>tabs_code </a:t>
            </a:r>
            <a:r>
              <a:rPr lang="en-US" b="1">
                <a:solidFill>
                  <a:srgbClr val="FF0000"/>
                </a:solidFill>
              </a:rPr>
              <a:t>[PK] </a:t>
            </a:r>
          </a:p>
          <a:p>
            <a:r>
              <a:rPr lang="en-US"/>
              <a:t>Description: string</a:t>
            </a:r>
          </a:p>
          <a:p>
            <a:r>
              <a:rPr lang="en-US"/>
              <a:t>Screen_name_Eng: string</a:t>
            </a:r>
          </a:p>
          <a:p>
            <a:r>
              <a:rPr lang="en-US"/>
              <a:t>Scr_DefCode: string </a:t>
            </a:r>
            <a:r>
              <a:rPr lang="en-US" sz="1800"/>
              <a:t>// screen definition code</a:t>
            </a:r>
            <a:endParaRPr lang="en-US"/>
          </a:p>
          <a:p>
            <a:endParaRPr lang="ar-EG"/>
          </a:p>
          <a:p>
            <a:endParaRPr lang="en-US"/>
          </a:p>
        </p:txBody>
      </p:sp>
      <p:pic>
        <p:nvPicPr>
          <p:cNvPr id="7" name="Picture 6">
            <a:extLst>
              <a:ext uri="{FF2B5EF4-FFF2-40B4-BE49-F238E27FC236}">
                <a16:creationId xmlns:a16="http://schemas.microsoft.com/office/drawing/2014/main" id="{072252D4-CE45-CBFE-D823-DE8EF0202B3D}"/>
              </a:ext>
            </a:extLst>
          </p:cNvPr>
          <p:cNvPicPr>
            <a:picLocks noChangeAspect="1"/>
          </p:cNvPicPr>
          <p:nvPr/>
        </p:nvPicPr>
        <p:blipFill>
          <a:blip r:embed="rId2"/>
          <a:stretch>
            <a:fillRect/>
          </a:stretch>
        </p:blipFill>
        <p:spPr>
          <a:xfrm>
            <a:off x="7377126" y="560439"/>
            <a:ext cx="4028294" cy="4198904"/>
          </a:xfrm>
          <a:prstGeom prst="rect">
            <a:avLst/>
          </a:prstGeom>
        </p:spPr>
      </p:pic>
    </p:spTree>
    <p:extLst>
      <p:ext uri="{BB962C8B-B14F-4D97-AF65-F5344CB8AC3E}">
        <p14:creationId xmlns:p14="http://schemas.microsoft.com/office/powerpoint/2010/main" val="159352302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B867D-BC17-ABD8-54A2-CC85071ABF21}"/>
              </a:ext>
            </a:extLst>
          </p:cNvPr>
          <p:cNvSpPr>
            <a:spLocks noGrp="1"/>
          </p:cNvSpPr>
          <p:nvPr>
            <p:ph type="title"/>
          </p:nvPr>
        </p:nvSpPr>
        <p:spPr>
          <a:xfrm>
            <a:off x="919119" y="0"/>
            <a:ext cx="10353762" cy="648929"/>
          </a:xfrm>
        </p:spPr>
        <p:txBody>
          <a:bodyPr>
            <a:normAutofit fontScale="90000"/>
          </a:bodyPr>
          <a:lstStyle/>
          <a:p>
            <a:r>
              <a:rPr lang="en-US" b="1">
                <a:solidFill>
                  <a:srgbClr val="FFFF00"/>
                </a:solidFill>
              </a:rPr>
              <a:t>SWF</a:t>
            </a:r>
            <a:r>
              <a:rPr lang="en-US"/>
              <a:t>.</a:t>
            </a:r>
            <a:r>
              <a:rPr lang="en-US" b="1">
                <a:solidFill>
                  <a:srgbClr val="FF0000"/>
                </a:solidFill>
              </a:rPr>
              <a:t>Flow_Screen_components</a:t>
            </a:r>
          </a:p>
        </p:txBody>
      </p:sp>
      <p:sp>
        <p:nvSpPr>
          <p:cNvPr id="3" name="Content Placeholder 2">
            <a:extLst>
              <a:ext uri="{FF2B5EF4-FFF2-40B4-BE49-F238E27FC236}">
                <a16:creationId xmlns:a16="http://schemas.microsoft.com/office/drawing/2014/main" id="{EACFA8A6-1689-F4A2-3D60-756B96143BBA}"/>
              </a:ext>
            </a:extLst>
          </p:cNvPr>
          <p:cNvSpPr>
            <a:spLocks noGrp="1"/>
          </p:cNvSpPr>
          <p:nvPr>
            <p:ph idx="1"/>
          </p:nvPr>
        </p:nvSpPr>
        <p:spPr>
          <a:xfrm>
            <a:off x="226142" y="648929"/>
            <a:ext cx="11749548" cy="6096000"/>
          </a:xfrm>
        </p:spPr>
        <p:txBody>
          <a:bodyPr/>
          <a:lstStyle/>
          <a:p>
            <a:r>
              <a:rPr lang="en-US"/>
              <a:t>screen_code: int [PK], identity</a:t>
            </a:r>
          </a:p>
          <a:p>
            <a:r>
              <a:rPr lang="en-US"/>
              <a:t>tabs_code: int , </a:t>
            </a:r>
            <a:r>
              <a:rPr lang="en-US" b="1">
                <a:solidFill>
                  <a:srgbClr val="FFFF00"/>
                </a:solidFill>
              </a:rPr>
              <a:t>[FK] from </a:t>
            </a:r>
            <a:r>
              <a:rPr lang="en-US"/>
              <a:t>Flow_Tabs</a:t>
            </a:r>
            <a:endParaRPr lang="en-US" b="1">
              <a:solidFill>
                <a:srgbClr val="FFFF00"/>
              </a:solidFill>
            </a:endParaRPr>
          </a:p>
          <a:p>
            <a:r>
              <a:rPr lang="en-US"/>
              <a:t>fieldName: string </a:t>
            </a:r>
          </a:p>
          <a:p>
            <a:r>
              <a:rPr lang="en-US"/>
              <a:t>field_code: int</a:t>
            </a:r>
          </a:p>
          <a:p>
            <a:endParaRPr lang="en-US"/>
          </a:p>
          <a:p>
            <a:r>
              <a:rPr lang="en-US"/>
              <a:t>Note: tabs_code refer to the screen</a:t>
            </a:r>
          </a:p>
          <a:p>
            <a:r>
              <a:rPr lang="en-US"/>
              <a:t>The </a:t>
            </a:r>
            <a:r>
              <a:rPr lang="en-US" b="1">
                <a:solidFill>
                  <a:srgbClr val="00B050"/>
                </a:solidFill>
              </a:rPr>
              <a:t>field_code</a:t>
            </a:r>
            <a:r>
              <a:rPr lang="en-US"/>
              <a:t>, </a:t>
            </a:r>
            <a:r>
              <a:rPr lang="en-US" b="1">
                <a:solidFill>
                  <a:srgbClr val="00B050"/>
                </a:solidFill>
              </a:rPr>
              <a:t>tabs_code </a:t>
            </a:r>
            <a:r>
              <a:rPr lang="en-US"/>
              <a:t>are together unique</a:t>
            </a:r>
          </a:p>
          <a:p>
            <a:endParaRPr lang="en-US"/>
          </a:p>
          <a:p>
            <a:endParaRPr lang="en-US"/>
          </a:p>
        </p:txBody>
      </p:sp>
      <p:pic>
        <p:nvPicPr>
          <p:cNvPr id="5" name="Picture 4">
            <a:extLst>
              <a:ext uri="{FF2B5EF4-FFF2-40B4-BE49-F238E27FC236}">
                <a16:creationId xmlns:a16="http://schemas.microsoft.com/office/drawing/2014/main" id="{A9FD775A-C4BE-B9E8-F57F-3CAC5592794F}"/>
              </a:ext>
            </a:extLst>
          </p:cNvPr>
          <p:cNvPicPr>
            <a:picLocks noChangeAspect="1"/>
          </p:cNvPicPr>
          <p:nvPr/>
        </p:nvPicPr>
        <p:blipFill>
          <a:blip r:embed="rId2"/>
          <a:stretch>
            <a:fillRect/>
          </a:stretch>
        </p:blipFill>
        <p:spPr>
          <a:xfrm>
            <a:off x="6479458" y="833284"/>
            <a:ext cx="4555318" cy="2595716"/>
          </a:xfrm>
          <a:prstGeom prst="rect">
            <a:avLst/>
          </a:prstGeom>
        </p:spPr>
      </p:pic>
      <p:sp>
        <p:nvSpPr>
          <p:cNvPr id="6" name="TextBox 5">
            <a:extLst>
              <a:ext uri="{FF2B5EF4-FFF2-40B4-BE49-F238E27FC236}">
                <a16:creationId xmlns:a16="http://schemas.microsoft.com/office/drawing/2014/main" id="{029C1112-E0B3-9E9D-ECBF-277EB116EC39}"/>
              </a:ext>
            </a:extLst>
          </p:cNvPr>
          <p:cNvSpPr txBox="1"/>
          <p:nvPr/>
        </p:nvSpPr>
        <p:spPr>
          <a:xfrm>
            <a:off x="7325032" y="3429000"/>
            <a:ext cx="3805084" cy="369332"/>
          </a:xfrm>
          <a:prstGeom prst="rect">
            <a:avLst/>
          </a:prstGeom>
          <a:noFill/>
        </p:spPr>
        <p:txBody>
          <a:bodyPr wrap="square" rtlCol="0">
            <a:spAutoFit/>
          </a:bodyPr>
          <a:lstStyle/>
          <a:p>
            <a:r>
              <a:rPr lang="en-US"/>
              <a:t>Description here is from join </a:t>
            </a:r>
          </a:p>
        </p:txBody>
      </p:sp>
    </p:spTree>
    <p:extLst>
      <p:ext uri="{BB962C8B-B14F-4D97-AF65-F5344CB8AC3E}">
        <p14:creationId xmlns:p14="http://schemas.microsoft.com/office/powerpoint/2010/main" val="60402226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D3B53-B836-0405-734D-4B281D1E77AC}"/>
              </a:ext>
            </a:extLst>
          </p:cNvPr>
          <p:cNvSpPr>
            <a:spLocks noGrp="1"/>
          </p:cNvSpPr>
          <p:nvPr>
            <p:ph type="title"/>
          </p:nvPr>
        </p:nvSpPr>
        <p:spPr>
          <a:xfrm>
            <a:off x="0" y="0"/>
            <a:ext cx="12192000" cy="752061"/>
          </a:xfrm>
        </p:spPr>
        <p:txBody>
          <a:bodyPr>
            <a:normAutofit/>
          </a:bodyPr>
          <a:lstStyle/>
          <a:p>
            <a:r>
              <a:rPr lang="en-US" sz="3600" b="1">
                <a:solidFill>
                  <a:srgbClr val="FFFF00"/>
                </a:solidFill>
              </a:rPr>
              <a:t>SWF</a:t>
            </a:r>
            <a:r>
              <a:rPr lang="en-US" sz="3600"/>
              <a:t>.</a:t>
            </a:r>
            <a:r>
              <a:rPr lang="en-US" sz="3600" b="1">
                <a:solidFill>
                  <a:srgbClr val="FF0000"/>
                </a:solidFill>
              </a:rPr>
              <a:t>Flow_Actions </a:t>
            </a:r>
            <a:r>
              <a:rPr lang="en-US" sz="3600" b="1">
                <a:solidFill>
                  <a:schemeClr val="tx1"/>
                </a:solidFill>
              </a:rPr>
              <a:t>,</a:t>
            </a:r>
            <a:r>
              <a:rPr lang="en-US" sz="3600" b="1">
                <a:solidFill>
                  <a:srgbClr val="FF0000"/>
                </a:solidFill>
              </a:rPr>
              <a:t> </a:t>
            </a:r>
            <a:r>
              <a:rPr lang="en-US" sz="3600" b="1">
                <a:solidFill>
                  <a:srgbClr val="FFFF00"/>
                </a:solidFill>
              </a:rPr>
              <a:t>SWF</a:t>
            </a:r>
            <a:r>
              <a:rPr lang="en-US" sz="3600"/>
              <a:t>.</a:t>
            </a:r>
            <a:r>
              <a:rPr lang="en-US" sz="3600" b="1">
                <a:solidFill>
                  <a:srgbClr val="FF0000"/>
                </a:solidFill>
              </a:rPr>
              <a:t>Flow_Action_workflow</a:t>
            </a:r>
          </a:p>
        </p:txBody>
      </p:sp>
      <p:sp>
        <p:nvSpPr>
          <p:cNvPr id="3" name="Content Placeholder 2">
            <a:extLst>
              <a:ext uri="{FF2B5EF4-FFF2-40B4-BE49-F238E27FC236}">
                <a16:creationId xmlns:a16="http://schemas.microsoft.com/office/drawing/2014/main" id="{835AAC1E-80E6-763F-4B4B-60C2C3B28629}"/>
              </a:ext>
            </a:extLst>
          </p:cNvPr>
          <p:cNvSpPr>
            <a:spLocks noGrp="1"/>
          </p:cNvSpPr>
          <p:nvPr>
            <p:ph idx="1"/>
          </p:nvPr>
        </p:nvSpPr>
        <p:spPr>
          <a:xfrm>
            <a:off x="238538" y="752061"/>
            <a:ext cx="11767931" cy="6036365"/>
          </a:xfrm>
        </p:spPr>
        <p:txBody>
          <a:bodyPr/>
          <a:lstStyle/>
          <a:p>
            <a:r>
              <a:rPr lang="en-US"/>
              <a:t>Code_FA: int [PK, identity]</a:t>
            </a:r>
          </a:p>
          <a:p>
            <a:endParaRPr lang="en-US"/>
          </a:p>
        </p:txBody>
      </p:sp>
      <p:pic>
        <p:nvPicPr>
          <p:cNvPr id="5" name="Picture 4">
            <a:extLst>
              <a:ext uri="{FF2B5EF4-FFF2-40B4-BE49-F238E27FC236}">
                <a16:creationId xmlns:a16="http://schemas.microsoft.com/office/drawing/2014/main" id="{F154AA93-DA80-428E-5ADA-801AE10A397F}"/>
              </a:ext>
            </a:extLst>
          </p:cNvPr>
          <p:cNvPicPr>
            <a:picLocks noChangeAspect="1"/>
          </p:cNvPicPr>
          <p:nvPr/>
        </p:nvPicPr>
        <p:blipFill>
          <a:blip r:embed="rId2"/>
          <a:stretch>
            <a:fillRect/>
          </a:stretch>
        </p:blipFill>
        <p:spPr>
          <a:xfrm>
            <a:off x="0" y="1173526"/>
            <a:ext cx="7551174" cy="3927173"/>
          </a:xfrm>
          <a:prstGeom prst="rect">
            <a:avLst/>
          </a:prstGeom>
        </p:spPr>
      </p:pic>
      <p:pic>
        <p:nvPicPr>
          <p:cNvPr id="6" name="Picture 5">
            <a:extLst>
              <a:ext uri="{FF2B5EF4-FFF2-40B4-BE49-F238E27FC236}">
                <a16:creationId xmlns:a16="http://schemas.microsoft.com/office/drawing/2014/main" id="{5A0F96E1-B6D0-72A5-7EFE-33820455086B}"/>
              </a:ext>
            </a:extLst>
          </p:cNvPr>
          <p:cNvPicPr>
            <a:picLocks noChangeAspect="1"/>
          </p:cNvPicPr>
          <p:nvPr/>
        </p:nvPicPr>
        <p:blipFill>
          <a:blip r:embed="rId3"/>
          <a:stretch>
            <a:fillRect/>
          </a:stretch>
        </p:blipFill>
        <p:spPr>
          <a:xfrm>
            <a:off x="7551174" y="1504122"/>
            <a:ext cx="4640826" cy="2973027"/>
          </a:xfrm>
          <a:prstGeom prst="rect">
            <a:avLst/>
          </a:prstGeom>
        </p:spPr>
      </p:pic>
    </p:spTree>
    <p:extLst>
      <p:ext uri="{BB962C8B-B14F-4D97-AF65-F5344CB8AC3E}">
        <p14:creationId xmlns:p14="http://schemas.microsoft.com/office/powerpoint/2010/main" val="214691003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3A7F0-BDD0-62DB-01D9-1F536CC89E65}"/>
              </a:ext>
            </a:extLst>
          </p:cNvPr>
          <p:cNvSpPr>
            <a:spLocks noGrp="1"/>
          </p:cNvSpPr>
          <p:nvPr>
            <p:ph type="title"/>
          </p:nvPr>
        </p:nvSpPr>
        <p:spPr>
          <a:xfrm>
            <a:off x="913795" y="0"/>
            <a:ext cx="10353762" cy="629265"/>
          </a:xfrm>
        </p:spPr>
        <p:txBody>
          <a:bodyPr>
            <a:normAutofit fontScale="90000"/>
          </a:bodyPr>
          <a:lstStyle/>
          <a:p>
            <a:r>
              <a:rPr lang="en-US">
                <a:solidFill>
                  <a:srgbClr val="FFFF00"/>
                </a:solidFill>
              </a:rPr>
              <a:t>SWF</a:t>
            </a:r>
            <a:r>
              <a:rPr lang="en-US"/>
              <a:t>.</a:t>
            </a:r>
            <a:r>
              <a:rPr lang="en-US" b="1">
                <a:solidFill>
                  <a:srgbClr val="FF0000"/>
                </a:solidFill>
              </a:rPr>
              <a:t>Flow_Types</a:t>
            </a:r>
          </a:p>
        </p:txBody>
      </p:sp>
      <p:sp>
        <p:nvSpPr>
          <p:cNvPr id="3" name="Content Placeholder 2">
            <a:extLst>
              <a:ext uri="{FF2B5EF4-FFF2-40B4-BE49-F238E27FC236}">
                <a16:creationId xmlns:a16="http://schemas.microsoft.com/office/drawing/2014/main" id="{A09F7DB1-F504-0D08-6D9D-74E2647CAD91}"/>
              </a:ext>
            </a:extLst>
          </p:cNvPr>
          <p:cNvSpPr>
            <a:spLocks noGrp="1"/>
          </p:cNvSpPr>
          <p:nvPr>
            <p:ph idx="1"/>
          </p:nvPr>
        </p:nvSpPr>
        <p:spPr>
          <a:xfrm>
            <a:off x="913794" y="629265"/>
            <a:ext cx="10816089" cy="5161935"/>
          </a:xfrm>
        </p:spPr>
        <p:txBody>
          <a:bodyPr/>
          <a:lstStyle/>
          <a:p>
            <a:r>
              <a:rPr lang="en-US" sz="1800"/>
              <a:t>int Type_code </a:t>
            </a:r>
            <a:r>
              <a:rPr lang="en-US" sz="1800" b="1">
                <a:solidFill>
                  <a:srgbClr val="FFFF00"/>
                </a:solidFill>
              </a:rPr>
              <a:t>[PK]</a:t>
            </a:r>
          </a:p>
          <a:p>
            <a:r>
              <a:rPr lang="en-US" sz="1800"/>
              <a:t>string description</a:t>
            </a:r>
          </a:p>
          <a:p>
            <a:r>
              <a:rPr lang="en-US" sz="1800"/>
              <a:t>ICollection&lt;Flow_Actions&gt; Flow_Actions</a:t>
            </a:r>
          </a:p>
          <a:p>
            <a:r>
              <a:rPr lang="en-US" sz="1800"/>
              <a:t>ICollection&lt;Flow_Products&gt; Flow_Products</a:t>
            </a:r>
          </a:p>
          <a:p>
            <a:r>
              <a:rPr lang="en-US" sz="1800"/>
              <a:t>ICollection&lt;Flow_Tabs_available&gt; Flow_Tabs_available</a:t>
            </a:r>
          </a:p>
          <a:p>
            <a:r>
              <a:rPr lang="en-US" sz="1800"/>
              <a:t>ICollection&lt;Flow_Action_workflow&gt;  Flow_Action_workflow</a:t>
            </a:r>
          </a:p>
          <a:p>
            <a:r>
              <a:rPr lang="en-US" sz="1800"/>
              <a:t>ICollection&lt;Flow_Request_Deportation&gt; Flow_Request_Deportation</a:t>
            </a:r>
          </a:p>
          <a:p>
            <a:endParaRPr lang="en-US"/>
          </a:p>
        </p:txBody>
      </p:sp>
      <p:pic>
        <p:nvPicPr>
          <p:cNvPr id="7" name="Picture 6">
            <a:extLst>
              <a:ext uri="{FF2B5EF4-FFF2-40B4-BE49-F238E27FC236}">
                <a16:creationId xmlns:a16="http://schemas.microsoft.com/office/drawing/2014/main" id="{0CAECF5C-0FAB-5F50-CAF8-361FBEF9EAD4}"/>
              </a:ext>
            </a:extLst>
          </p:cNvPr>
          <p:cNvPicPr>
            <a:picLocks noChangeAspect="1"/>
          </p:cNvPicPr>
          <p:nvPr/>
        </p:nvPicPr>
        <p:blipFill>
          <a:blip r:embed="rId2"/>
          <a:stretch>
            <a:fillRect/>
          </a:stretch>
        </p:blipFill>
        <p:spPr>
          <a:xfrm>
            <a:off x="8248465" y="1049190"/>
            <a:ext cx="3344372" cy="1366517"/>
          </a:xfrm>
          <a:prstGeom prst="rect">
            <a:avLst/>
          </a:prstGeom>
        </p:spPr>
      </p:pic>
    </p:spTree>
    <p:extLst>
      <p:ext uri="{BB962C8B-B14F-4D97-AF65-F5344CB8AC3E}">
        <p14:creationId xmlns:p14="http://schemas.microsoft.com/office/powerpoint/2010/main" val="8857415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4F211-A475-DBF7-9EED-1D353ADE10A6}"/>
              </a:ext>
            </a:extLst>
          </p:cNvPr>
          <p:cNvSpPr>
            <a:spLocks noGrp="1"/>
          </p:cNvSpPr>
          <p:nvPr>
            <p:ph type="title"/>
          </p:nvPr>
        </p:nvSpPr>
        <p:spPr>
          <a:xfrm>
            <a:off x="913795" y="1"/>
            <a:ext cx="10353762" cy="521110"/>
          </a:xfrm>
        </p:spPr>
        <p:txBody>
          <a:bodyPr>
            <a:normAutofit fontScale="90000"/>
          </a:bodyPr>
          <a:lstStyle/>
          <a:p>
            <a:r>
              <a:rPr lang="en-US" sz="3600" b="1">
                <a:solidFill>
                  <a:srgbClr val="FFFF00"/>
                </a:solidFill>
                <a:effectLst/>
              </a:rPr>
              <a:t>TWT</a:t>
            </a:r>
            <a:r>
              <a:rPr lang="en-US" sz="3600" b="1">
                <a:effectLst/>
              </a:rPr>
              <a:t>.</a:t>
            </a:r>
            <a:r>
              <a:rPr lang="en-US" sz="3600" b="1">
                <a:solidFill>
                  <a:srgbClr val="FF0000"/>
                </a:solidFill>
                <a:effectLst/>
              </a:rPr>
              <a:t>Flow_Products</a:t>
            </a:r>
            <a:endParaRPr lang="en-US" sz="3600">
              <a:solidFill>
                <a:srgbClr val="FF0000"/>
              </a:solidFill>
            </a:endParaRPr>
          </a:p>
        </p:txBody>
      </p:sp>
      <p:sp>
        <p:nvSpPr>
          <p:cNvPr id="3" name="Content Placeholder 2">
            <a:extLst>
              <a:ext uri="{FF2B5EF4-FFF2-40B4-BE49-F238E27FC236}">
                <a16:creationId xmlns:a16="http://schemas.microsoft.com/office/drawing/2014/main" id="{9195FB53-6728-18BE-505F-340013210440}"/>
              </a:ext>
            </a:extLst>
          </p:cNvPr>
          <p:cNvSpPr>
            <a:spLocks noGrp="1"/>
          </p:cNvSpPr>
          <p:nvPr>
            <p:ph idx="1"/>
          </p:nvPr>
        </p:nvSpPr>
        <p:spPr>
          <a:xfrm>
            <a:off x="0" y="707923"/>
            <a:ext cx="12192000" cy="6037006"/>
          </a:xfrm>
        </p:spPr>
        <p:txBody>
          <a:bodyPr>
            <a:normAutofit lnSpcReduction="10000"/>
          </a:bodyPr>
          <a:lstStyle/>
          <a:p>
            <a:r>
              <a:rPr lang="en-US" sz="1700"/>
              <a:t>product</a:t>
            </a:r>
            <a:r>
              <a:rPr lang="en-US" sz="1700" err="1"/>
              <a:t>_Id</a:t>
            </a:r>
            <a:r>
              <a:rPr lang="en-US" sz="1700"/>
              <a:t>: int , </a:t>
            </a:r>
            <a:r>
              <a:rPr lang="en-US" sz="1700" b="1">
                <a:solidFill>
                  <a:srgbClr val="FFFF00"/>
                </a:solidFill>
              </a:rPr>
              <a:t>PK</a:t>
            </a:r>
          </a:p>
          <a:p>
            <a:r>
              <a:rPr lang="en-US" sz="1700" err="1"/>
              <a:t>Loan_code</a:t>
            </a:r>
            <a:r>
              <a:rPr lang="en-US" sz="1700"/>
              <a:t>: int</a:t>
            </a:r>
          </a:p>
          <a:p>
            <a:pPr lvl="1"/>
            <a:r>
              <a:rPr lang="en-US" sz="1500"/>
              <a:t>Not unique</a:t>
            </a:r>
          </a:p>
          <a:p>
            <a:r>
              <a:rPr lang="en-US" sz="1700"/>
              <a:t>Layer</a:t>
            </a:r>
            <a:r>
              <a:rPr lang="en-US" sz="1700" err="1"/>
              <a:t>_code</a:t>
            </a:r>
            <a:r>
              <a:rPr lang="en-US" sz="1700"/>
              <a:t>: int</a:t>
            </a:r>
          </a:p>
          <a:p>
            <a:r>
              <a:rPr lang="en-US" sz="1700"/>
              <a:t>name_AR: string</a:t>
            </a:r>
          </a:p>
          <a:p>
            <a:r>
              <a:rPr lang="en-US" sz="1700"/>
              <a:t>name_Eng: string</a:t>
            </a:r>
          </a:p>
          <a:p>
            <a:r>
              <a:rPr lang="en-US" sz="1700"/>
              <a:t>min_loan_amount: decimal</a:t>
            </a:r>
          </a:p>
          <a:p>
            <a:r>
              <a:rPr lang="en-US" sz="1700"/>
              <a:t>max_loan_amount: decimal</a:t>
            </a:r>
          </a:p>
          <a:p>
            <a:r>
              <a:rPr lang="en-US" sz="1700"/>
              <a:t>min_customer_age: decimal</a:t>
            </a:r>
          </a:p>
          <a:p>
            <a:r>
              <a:rPr lang="en-US" sz="1700"/>
              <a:t>max_customer_age: decimal</a:t>
            </a:r>
          </a:p>
          <a:p>
            <a:r>
              <a:rPr lang="en-US" sz="1700"/>
              <a:t>Max_Age_Guarantor</a:t>
            </a:r>
          </a:p>
          <a:p>
            <a:r>
              <a:rPr lang="en-US" sz="1700"/>
              <a:t>Min_Age_Guarantor</a:t>
            </a:r>
          </a:p>
          <a:p>
            <a:r>
              <a:rPr lang="en-US" sz="1700"/>
              <a:t>min_loan_period: decimal</a:t>
            </a:r>
          </a:p>
          <a:p>
            <a:r>
              <a:rPr lang="en-US" sz="1700"/>
              <a:t>max_loan_period: decimal</a:t>
            </a:r>
          </a:p>
          <a:p>
            <a:r>
              <a:rPr lang="en-US" sz="1700"/>
              <a:t>Ramping_Amount: int</a:t>
            </a:r>
          </a:p>
          <a:p>
            <a:r>
              <a:rPr lang="en-US" sz="1700"/>
              <a:t>Ramping_Ratio: decimal</a:t>
            </a:r>
          </a:p>
        </p:txBody>
      </p:sp>
      <p:pic>
        <p:nvPicPr>
          <p:cNvPr id="5" name="Picture 4">
            <a:extLst>
              <a:ext uri="{FF2B5EF4-FFF2-40B4-BE49-F238E27FC236}">
                <a16:creationId xmlns:a16="http://schemas.microsoft.com/office/drawing/2014/main" id="{1FF40305-221F-8654-F2E3-FFFF313A43FD}"/>
              </a:ext>
            </a:extLst>
          </p:cNvPr>
          <p:cNvPicPr>
            <a:picLocks noChangeAspect="1"/>
          </p:cNvPicPr>
          <p:nvPr/>
        </p:nvPicPr>
        <p:blipFill>
          <a:blip r:embed="rId2"/>
          <a:stretch>
            <a:fillRect/>
          </a:stretch>
        </p:blipFill>
        <p:spPr>
          <a:xfrm>
            <a:off x="4562061" y="825937"/>
            <a:ext cx="7588564" cy="639097"/>
          </a:xfrm>
          <a:prstGeom prst="rect">
            <a:avLst/>
          </a:prstGeom>
        </p:spPr>
      </p:pic>
      <p:pic>
        <p:nvPicPr>
          <p:cNvPr id="7" name="Picture 6">
            <a:extLst>
              <a:ext uri="{FF2B5EF4-FFF2-40B4-BE49-F238E27FC236}">
                <a16:creationId xmlns:a16="http://schemas.microsoft.com/office/drawing/2014/main" id="{496278A0-E80D-F74A-726C-6B068E985577}"/>
              </a:ext>
            </a:extLst>
          </p:cNvPr>
          <p:cNvPicPr>
            <a:picLocks noChangeAspect="1"/>
          </p:cNvPicPr>
          <p:nvPr/>
        </p:nvPicPr>
        <p:blipFill>
          <a:blip r:embed="rId3"/>
          <a:stretch>
            <a:fillRect/>
          </a:stretch>
        </p:blipFill>
        <p:spPr>
          <a:xfrm>
            <a:off x="4562061" y="1602659"/>
            <a:ext cx="7629938" cy="488556"/>
          </a:xfrm>
          <a:prstGeom prst="rect">
            <a:avLst/>
          </a:prstGeom>
        </p:spPr>
      </p:pic>
      <p:pic>
        <p:nvPicPr>
          <p:cNvPr id="9" name="Picture 8">
            <a:extLst>
              <a:ext uri="{FF2B5EF4-FFF2-40B4-BE49-F238E27FC236}">
                <a16:creationId xmlns:a16="http://schemas.microsoft.com/office/drawing/2014/main" id="{919F5981-2F44-83C4-CD88-D9ED8D95874F}"/>
              </a:ext>
            </a:extLst>
          </p:cNvPr>
          <p:cNvPicPr>
            <a:picLocks noChangeAspect="1"/>
          </p:cNvPicPr>
          <p:nvPr/>
        </p:nvPicPr>
        <p:blipFill>
          <a:blip r:embed="rId4"/>
          <a:stretch>
            <a:fillRect/>
          </a:stretch>
        </p:blipFill>
        <p:spPr>
          <a:xfrm>
            <a:off x="4562060" y="2150209"/>
            <a:ext cx="7629939" cy="488556"/>
          </a:xfrm>
          <a:prstGeom prst="rect">
            <a:avLst/>
          </a:prstGeom>
        </p:spPr>
      </p:pic>
      <p:pic>
        <p:nvPicPr>
          <p:cNvPr id="11" name="Picture 10">
            <a:extLst>
              <a:ext uri="{FF2B5EF4-FFF2-40B4-BE49-F238E27FC236}">
                <a16:creationId xmlns:a16="http://schemas.microsoft.com/office/drawing/2014/main" id="{116C0BE6-8A9A-49DD-6C5D-76A11B72563E}"/>
              </a:ext>
            </a:extLst>
          </p:cNvPr>
          <p:cNvPicPr>
            <a:picLocks noChangeAspect="1"/>
          </p:cNvPicPr>
          <p:nvPr/>
        </p:nvPicPr>
        <p:blipFill>
          <a:blip r:embed="rId5"/>
          <a:stretch>
            <a:fillRect/>
          </a:stretch>
        </p:blipFill>
        <p:spPr>
          <a:xfrm>
            <a:off x="4562060" y="2724509"/>
            <a:ext cx="7629940" cy="520800"/>
          </a:xfrm>
          <a:prstGeom prst="rect">
            <a:avLst/>
          </a:prstGeom>
        </p:spPr>
      </p:pic>
      <p:pic>
        <p:nvPicPr>
          <p:cNvPr id="13" name="Picture 12">
            <a:extLst>
              <a:ext uri="{FF2B5EF4-FFF2-40B4-BE49-F238E27FC236}">
                <a16:creationId xmlns:a16="http://schemas.microsoft.com/office/drawing/2014/main" id="{C7EA477B-679D-B66A-783E-E156B2239F92}"/>
              </a:ext>
            </a:extLst>
          </p:cNvPr>
          <p:cNvPicPr>
            <a:picLocks noChangeAspect="1"/>
          </p:cNvPicPr>
          <p:nvPr/>
        </p:nvPicPr>
        <p:blipFill>
          <a:blip r:embed="rId6"/>
          <a:stretch>
            <a:fillRect/>
          </a:stretch>
        </p:blipFill>
        <p:spPr>
          <a:xfrm>
            <a:off x="4562058" y="3363097"/>
            <a:ext cx="7629941" cy="520800"/>
          </a:xfrm>
          <a:prstGeom prst="rect">
            <a:avLst/>
          </a:prstGeom>
        </p:spPr>
      </p:pic>
      <p:pic>
        <p:nvPicPr>
          <p:cNvPr id="15" name="Picture 14">
            <a:extLst>
              <a:ext uri="{FF2B5EF4-FFF2-40B4-BE49-F238E27FC236}">
                <a16:creationId xmlns:a16="http://schemas.microsoft.com/office/drawing/2014/main" id="{2D5B9370-3592-44AE-ACFD-D82AD1F56770}"/>
              </a:ext>
            </a:extLst>
          </p:cNvPr>
          <p:cNvPicPr>
            <a:picLocks noChangeAspect="1"/>
          </p:cNvPicPr>
          <p:nvPr/>
        </p:nvPicPr>
        <p:blipFill>
          <a:blip r:embed="rId7"/>
          <a:stretch>
            <a:fillRect/>
          </a:stretch>
        </p:blipFill>
        <p:spPr>
          <a:xfrm>
            <a:off x="4562058" y="4009114"/>
            <a:ext cx="7637730" cy="520800"/>
          </a:xfrm>
          <a:prstGeom prst="rect">
            <a:avLst/>
          </a:prstGeom>
        </p:spPr>
      </p:pic>
      <p:pic>
        <p:nvPicPr>
          <p:cNvPr id="17" name="Picture 16">
            <a:extLst>
              <a:ext uri="{FF2B5EF4-FFF2-40B4-BE49-F238E27FC236}">
                <a16:creationId xmlns:a16="http://schemas.microsoft.com/office/drawing/2014/main" id="{8E216CC5-6031-6680-C5F8-EB8B296EE3F5}"/>
              </a:ext>
            </a:extLst>
          </p:cNvPr>
          <p:cNvPicPr>
            <a:picLocks noChangeAspect="1"/>
          </p:cNvPicPr>
          <p:nvPr/>
        </p:nvPicPr>
        <p:blipFill>
          <a:blip r:embed="rId8"/>
          <a:stretch>
            <a:fillRect/>
          </a:stretch>
        </p:blipFill>
        <p:spPr>
          <a:xfrm>
            <a:off x="4520283" y="4655131"/>
            <a:ext cx="7637730" cy="600210"/>
          </a:xfrm>
          <a:prstGeom prst="rect">
            <a:avLst/>
          </a:prstGeom>
        </p:spPr>
      </p:pic>
    </p:spTree>
    <p:extLst>
      <p:ext uri="{BB962C8B-B14F-4D97-AF65-F5344CB8AC3E}">
        <p14:creationId xmlns:p14="http://schemas.microsoft.com/office/powerpoint/2010/main" val="359653422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F16B-5632-6543-20D2-952872D818B9}"/>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TWF</a:t>
            </a:r>
            <a:r>
              <a:rPr lang="en-US"/>
              <a:t>.</a:t>
            </a:r>
            <a:r>
              <a:rPr lang="en-US" b="1">
                <a:solidFill>
                  <a:srgbClr val="FF0000"/>
                </a:solidFill>
              </a:rPr>
              <a:t>Flow_Customers</a:t>
            </a:r>
          </a:p>
        </p:txBody>
      </p:sp>
      <p:sp>
        <p:nvSpPr>
          <p:cNvPr id="3" name="Content Placeholder 2">
            <a:extLst>
              <a:ext uri="{FF2B5EF4-FFF2-40B4-BE49-F238E27FC236}">
                <a16:creationId xmlns:a16="http://schemas.microsoft.com/office/drawing/2014/main" id="{2E6F3D00-E0DA-547C-36CB-2E21C1CFDD29}"/>
              </a:ext>
            </a:extLst>
          </p:cNvPr>
          <p:cNvSpPr>
            <a:spLocks noGrp="1"/>
          </p:cNvSpPr>
          <p:nvPr>
            <p:ph idx="1"/>
          </p:nvPr>
        </p:nvSpPr>
        <p:spPr>
          <a:xfrm>
            <a:off x="108154" y="491613"/>
            <a:ext cx="12083845" cy="6164826"/>
          </a:xfrm>
        </p:spPr>
        <p:txBody>
          <a:bodyPr/>
          <a:lstStyle/>
          <a:p>
            <a:r>
              <a:rPr lang="en-US"/>
              <a:t>CustomerId </a:t>
            </a:r>
            <a:r>
              <a:rPr lang="en-US" b="1">
                <a:solidFill>
                  <a:srgbClr val="FFFF00"/>
                </a:solidFill>
              </a:rPr>
              <a:t>[PK]</a:t>
            </a:r>
          </a:p>
          <a:p>
            <a:r>
              <a:rPr lang="en-US" sz="1800"/>
              <a:t>creationUser [FK] from user</a:t>
            </a:r>
          </a:p>
          <a:p>
            <a:endParaRPr lang="en-US" b="1">
              <a:solidFill>
                <a:srgbClr val="FFFF00"/>
              </a:solidFill>
            </a:endParaRPr>
          </a:p>
        </p:txBody>
      </p:sp>
      <p:pic>
        <p:nvPicPr>
          <p:cNvPr id="5" name="Picture 4">
            <a:extLst>
              <a:ext uri="{FF2B5EF4-FFF2-40B4-BE49-F238E27FC236}">
                <a16:creationId xmlns:a16="http://schemas.microsoft.com/office/drawing/2014/main" id="{025D9512-5EE2-6EA6-52B5-B024211BAE94}"/>
              </a:ext>
            </a:extLst>
          </p:cNvPr>
          <p:cNvPicPr>
            <a:picLocks noChangeAspect="1"/>
          </p:cNvPicPr>
          <p:nvPr/>
        </p:nvPicPr>
        <p:blipFill>
          <a:blip r:embed="rId2"/>
          <a:stretch>
            <a:fillRect/>
          </a:stretch>
        </p:blipFill>
        <p:spPr>
          <a:xfrm>
            <a:off x="3480619" y="1548025"/>
            <a:ext cx="8711381" cy="501444"/>
          </a:xfrm>
          <a:prstGeom prst="rect">
            <a:avLst/>
          </a:prstGeom>
        </p:spPr>
      </p:pic>
      <p:pic>
        <p:nvPicPr>
          <p:cNvPr id="7" name="Picture 6">
            <a:extLst>
              <a:ext uri="{FF2B5EF4-FFF2-40B4-BE49-F238E27FC236}">
                <a16:creationId xmlns:a16="http://schemas.microsoft.com/office/drawing/2014/main" id="{908568C5-2438-725A-6BA0-E2FCF0DC059C}"/>
              </a:ext>
            </a:extLst>
          </p:cNvPr>
          <p:cNvPicPr>
            <a:picLocks noChangeAspect="1"/>
          </p:cNvPicPr>
          <p:nvPr/>
        </p:nvPicPr>
        <p:blipFill>
          <a:blip r:embed="rId3"/>
          <a:stretch>
            <a:fillRect/>
          </a:stretch>
        </p:blipFill>
        <p:spPr>
          <a:xfrm>
            <a:off x="3480619" y="2142876"/>
            <a:ext cx="8711381" cy="501444"/>
          </a:xfrm>
          <a:prstGeom prst="rect">
            <a:avLst/>
          </a:prstGeom>
        </p:spPr>
      </p:pic>
      <p:pic>
        <p:nvPicPr>
          <p:cNvPr id="9" name="Picture 8">
            <a:extLst>
              <a:ext uri="{FF2B5EF4-FFF2-40B4-BE49-F238E27FC236}">
                <a16:creationId xmlns:a16="http://schemas.microsoft.com/office/drawing/2014/main" id="{9C3BAB53-239E-B505-4C2A-B6AB9F9EB67F}"/>
              </a:ext>
            </a:extLst>
          </p:cNvPr>
          <p:cNvPicPr>
            <a:picLocks noChangeAspect="1"/>
          </p:cNvPicPr>
          <p:nvPr/>
        </p:nvPicPr>
        <p:blipFill>
          <a:blip r:embed="rId4"/>
          <a:stretch>
            <a:fillRect/>
          </a:stretch>
        </p:blipFill>
        <p:spPr>
          <a:xfrm>
            <a:off x="5262936" y="2732811"/>
            <a:ext cx="5444393" cy="502560"/>
          </a:xfrm>
          <a:prstGeom prst="rect">
            <a:avLst/>
          </a:prstGeom>
        </p:spPr>
      </p:pic>
    </p:spTree>
    <p:extLst>
      <p:ext uri="{BB962C8B-B14F-4D97-AF65-F5344CB8AC3E}">
        <p14:creationId xmlns:p14="http://schemas.microsoft.com/office/powerpoint/2010/main" val="151675787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F730D3-0F79-5F7C-895F-52331C63FED7}"/>
              </a:ext>
            </a:extLst>
          </p:cNvPr>
          <p:cNvSpPr>
            <a:spLocks noGrp="1"/>
          </p:cNvSpPr>
          <p:nvPr>
            <p:ph type="title"/>
          </p:nvPr>
        </p:nvSpPr>
        <p:spPr>
          <a:xfrm>
            <a:off x="913795" y="0"/>
            <a:ext cx="10353762" cy="717755"/>
          </a:xfrm>
        </p:spPr>
        <p:txBody>
          <a:bodyPr/>
          <a:lstStyle/>
          <a:p>
            <a:r>
              <a:rPr lang="en-US" b="1">
                <a:solidFill>
                  <a:srgbClr val="FFFF00"/>
                </a:solidFill>
              </a:rPr>
              <a:t>TWF</a:t>
            </a:r>
            <a:r>
              <a:rPr lang="en-US"/>
              <a:t>.</a:t>
            </a:r>
            <a:r>
              <a:rPr lang="en-US" b="1">
                <a:solidFill>
                  <a:srgbClr val="FF0000"/>
                </a:solidFill>
              </a:rPr>
              <a:t>Flow_Contact_Us</a:t>
            </a:r>
          </a:p>
        </p:txBody>
      </p:sp>
      <p:sp>
        <p:nvSpPr>
          <p:cNvPr id="7" name="Content Placeholder 6">
            <a:extLst>
              <a:ext uri="{FF2B5EF4-FFF2-40B4-BE49-F238E27FC236}">
                <a16:creationId xmlns:a16="http://schemas.microsoft.com/office/drawing/2014/main" id="{3073AE93-BA35-FB28-BA39-B0CDEE52D4B1}"/>
              </a:ext>
            </a:extLst>
          </p:cNvPr>
          <p:cNvSpPr>
            <a:spLocks noGrp="1"/>
          </p:cNvSpPr>
          <p:nvPr>
            <p:ph idx="1"/>
          </p:nvPr>
        </p:nvSpPr>
        <p:spPr>
          <a:xfrm>
            <a:off x="913795" y="717755"/>
            <a:ext cx="10353762" cy="5073445"/>
          </a:xfrm>
        </p:spPr>
        <p:txBody>
          <a:bodyPr/>
          <a:lstStyle/>
          <a:p>
            <a:r>
              <a:rPr lang="en-US"/>
              <a:t>Id_contact </a:t>
            </a:r>
            <a:r>
              <a:rPr lang="en-US" b="1">
                <a:solidFill>
                  <a:srgbClr val="FF0000"/>
                </a:solidFill>
              </a:rPr>
              <a:t>[PK]</a:t>
            </a:r>
          </a:p>
          <a:p>
            <a:endParaRPr lang="en-US" b="1">
              <a:solidFill>
                <a:srgbClr val="FF0000"/>
              </a:solidFill>
            </a:endParaRPr>
          </a:p>
        </p:txBody>
      </p:sp>
      <p:pic>
        <p:nvPicPr>
          <p:cNvPr id="8" name="Content Placeholder 4">
            <a:extLst>
              <a:ext uri="{FF2B5EF4-FFF2-40B4-BE49-F238E27FC236}">
                <a16:creationId xmlns:a16="http://schemas.microsoft.com/office/drawing/2014/main" id="{5F698F2B-A00E-4F18-B669-C748A374EDF1}"/>
              </a:ext>
            </a:extLst>
          </p:cNvPr>
          <p:cNvPicPr>
            <a:picLocks noChangeAspect="1"/>
          </p:cNvPicPr>
          <p:nvPr/>
        </p:nvPicPr>
        <p:blipFill>
          <a:blip r:embed="rId2"/>
          <a:stretch>
            <a:fillRect/>
          </a:stretch>
        </p:blipFill>
        <p:spPr>
          <a:xfrm>
            <a:off x="5553042" y="717755"/>
            <a:ext cx="6306106" cy="101297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79370559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0BE0D-D7D9-C836-9C7A-D44C993466C6}"/>
              </a:ext>
            </a:extLst>
          </p:cNvPr>
          <p:cNvSpPr>
            <a:spLocks noGrp="1"/>
          </p:cNvSpPr>
          <p:nvPr>
            <p:ph type="title"/>
          </p:nvPr>
        </p:nvSpPr>
        <p:spPr>
          <a:xfrm>
            <a:off x="919119" y="0"/>
            <a:ext cx="10353762" cy="698090"/>
          </a:xfrm>
        </p:spPr>
        <p:txBody>
          <a:bodyPr>
            <a:normAutofit fontScale="90000"/>
          </a:bodyPr>
          <a:lstStyle/>
          <a:p>
            <a:r>
              <a:rPr lang="en-US" b="1">
                <a:solidFill>
                  <a:srgbClr val="FFFF00"/>
                </a:solidFill>
              </a:rPr>
              <a:t>TWF</a:t>
            </a:r>
            <a:r>
              <a:rPr lang="en-US"/>
              <a:t>.</a:t>
            </a:r>
            <a:r>
              <a:rPr lang="en-US" b="1">
                <a:solidFill>
                  <a:srgbClr val="FF0000"/>
                </a:solidFill>
              </a:rPr>
              <a:t>Flow_Enterprises</a:t>
            </a:r>
          </a:p>
        </p:txBody>
      </p:sp>
      <p:sp>
        <p:nvSpPr>
          <p:cNvPr id="3" name="Content Placeholder 2">
            <a:extLst>
              <a:ext uri="{FF2B5EF4-FFF2-40B4-BE49-F238E27FC236}">
                <a16:creationId xmlns:a16="http://schemas.microsoft.com/office/drawing/2014/main" id="{B2BAA4F4-1B4B-9AB2-BD76-7AA41529A8EB}"/>
              </a:ext>
            </a:extLst>
          </p:cNvPr>
          <p:cNvSpPr>
            <a:spLocks noGrp="1"/>
          </p:cNvSpPr>
          <p:nvPr>
            <p:ph idx="1"/>
          </p:nvPr>
        </p:nvSpPr>
        <p:spPr>
          <a:xfrm>
            <a:off x="7552" y="698091"/>
            <a:ext cx="12176896" cy="5987844"/>
          </a:xfrm>
        </p:spPr>
        <p:txBody>
          <a:bodyPr>
            <a:normAutofit/>
          </a:bodyPr>
          <a:lstStyle/>
          <a:p>
            <a:r>
              <a:rPr lang="en-US" sz="1800"/>
              <a:t>Enterprise_ID [PK], [identity]</a:t>
            </a:r>
          </a:p>
          <a:p>
            <a:r>
              <a:rPr lang="en-US" sz="1800"/>
              <a:t>Code_Sector: </a:t>
            </a:r>
            <a:r>
              <a:rPr lang="ar-EG" b="1">
                <a:effectLst/>
              </a:rPr>
              <a:t>القطاع</a:t>
            </a:r>
            <a:r>
              <a:rPr lang="en-US" b="1">
                <a:effectLst/>
              </a:rPr>
              <a:t>: </a:t>
            </a:r>
            <a:r>
              <a:rPr lang="ar-EG" b="1">
                <a:effectLst/>
              </a:rPr>
              <a:t>تجاري</a:t>
            </a:r>
          </a:p>
          <a:p>
            <a:r>
              <a:rPr lang="en-US" b="1">
                <a:effectLst/>
              </a:rPr>
              <a:t>Code_main: </a:t>
            </a:r>
            <a:r>
              <a:rPr lang="ar-EG" b="1">
                <a:effectLst/>
              </a:rPr>
              <a:t>النشاط الرئيسي</a:t>
            </a:r>
            <a:endParaRPr lang="en-US" b="1">
              <a:effectLst/>
            </a:endParaRPr>
          </a:p>
          <a:p>
            <a:r>
              <a:rPr lang="en-US" b="1">
                <a:effectLst/>
              </a:rPr>
              <a:t>Code: </a:t>
            </a:r>
            <a:r>
              <a:rPr lang="ar-EG" b="1">
                <a:effectLst/>
              </a:rPr>
              <a:t>النشاط الفرعى</a:t>
            </a:r>
          </a:p>
          <a:p>
            <a:r>
              <a:rPr lang="en-US"/>
              <a:t>Nature_enterprise: </a:t>
            </a:r>
            <a:r>
              <a:rPr lang="ar-EG"/>
              <a:t>النشاط التجاري</a:t>
            </a:r>
          </a:p>
          <a:p>
            <a:r>
              <a:rPr lang="en-US"/>
              <a:t>Type_enterprise: </a:t>
            </a:r>
            <a:r>
              <a:rPr lang="ar-EG"/>
              <a:t>طبيعة المنشأة</a:t>
            </a:r>
            <a:endParaRPr lang="en-US"/>
          </a:p>
          <a:p>
            <a:r>
              <a:rPr lang="en-US"/>
              <a:t>Org_Id</a:t>
            </a:r>
          </a:p>
          <a:p>
            <a:endParaRPr lang="en-US"/>
          </a:p>
          <a:p>
            <a:endParaRPr lang="ar-EG" b="1">
              <a:effectLst/>
            </a:endParaRPr>
          </a:p>
          <a:p>
            <a:r>
              <a:rPr lang="en-US"/>
              <a:t>ICollection&lt;</a:t>
            </a:r>
            <a:r>
              <a:rPr lang="en-US" b="1">
                <a:solidFill>
                  <a:srgbClr val="00B0F0"/>
                </a:solidFill>
              </a:rPr>
              <a:t>Flow_Funding_request</a:t>
            </a:r>
            <a:r>
              <a:rPr lang="en-US"/>
              <a:t>&gt; </a:t>
            </a:r>
            <a:r>
              <a:rPr lang="en-US" b="1">
                <a:solidFill>
                  <a:srgbClr val="FF0000"/>
                </a:solidFill>
              </a:rPr>
              <a:t>Flow_Funding_request</a:t>
            </a:r>
            <a:endParaRPr lang="en-US" b="1">
              <a:solidFill>
                <a:srgbClr val="FF0000"/>
              </a:solidFill>
              <a:effectLst/>
            </a:endParaRPr>
          </a:p>
          <a:p>
            <a:endParaRPr lang="en-US" sz="1800"/>
          </a:p>
        </p:txBody>
      </p:sp>
      <p:pic>
        <p:nvPicPr>
          <p:cNvPr id="5" name="Picture 4">
            <a:extLst>
              <a:ext uri="{FF2B5EF4-FFF2-40B4-BE49-F238E27FC236}">
                <a16:creationId xmlns:a16="http://schemas.microsoft.com/office/drawing/2014/main" id="{402484BB-426D-0F9D-C948-4107D86BA9A9}"/>
              </a:ext>
            </a:extLst>
          </p:cNvPr>
          <p:cNvPicPr>
            <a:picLocks noChangeAspect="1"/>
          </p:cNvPicPr>
          <p:nvPr/>
        </p:nvPicPr>
        <p:blipFill>
          <a:blip r:embed="rId2"/>
          <a:stretch>
            <a:fillRect/>
          </a:stretch>
        </p:blipFill>
        <p:spPr>
          <a:xfrm>
            <a:off x="3824748" y="2807862"/>
            <a:ext cx="8359700" cy="550606"/>
          </a:xfrm>
          <a:prstGeom prst="rect">
            <a:avLst/>
          </a:prstGeom>
        </p:spPr>
      </p:pic>
      <p:pic>
        <p:nvPicPr>
          <p:cNvPr id="7" name="Picture 6">
            <a:extLst>
              <a:ext uri="{FF2B5EF4-FFF2-40B4-BE49-F238E27FC236}">
                <a16:creationId xmlns:a16="http://schemas.microsoft.com/office/drawing/2014/main" id="{F2B73201-E84B-4641-692B-6663995EC0DE}"/>
              </a:ext>
            </a:extLst>
          </p:cNvPr>
          <p:cNvPicPr>
            <a:picLocks noChangeAspect="1"/>
          </p:cNvPicPr>
          <p:nvPr/>
        </p:nvPicPr>
        <p:blipFill>
          <a:blip r:embed="rId3"/>
          <a:stretch>
            <a:fillRect/>
          </a:stretch>
        </p:blipFill>
        <p:spPr>
          <a:xfrm>
            <a:off x="2654710" y="3499531"/>
            <a:ext cx="9537290" cy="460432"/>
          </a:xfrm>
          <a:prstGeom prst="rect">
            <a:avLst/>
          </a:prstGeom>
        </p:spPr>
      </p:pic>
    </p:spTree>
    <p:extLst>
      <p:ext uri="{BB962C8B-B14F-4D97-AF65-F5344CB8AC3E}">
        <p14:creationId xmlns:p14="http://schemas.microsoft.com/office/powerpoint/2010/main" val="335824246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37158-7743-9EE1-4BAF-D2210E79E2D1}"/>
              </a:ext>
            </a:extLst>
          </p:cNvPr>
          <p:cNvSpPr>
            <a:spLocks noGrp="1"/>
          </p:cNvSpPr>
          <p:nvPr>
            <p:ph type="title"/>
          </p:nvPr>
        </p:nvSpPr>
        <p:spPr>
          <a:xfrm>
            <a:off x="913795" y="0"/>
            <a:ext cx="10353762" cy="747252"/>
          </a:xfrm>
        </p:spPr>
        <p:txBody>
          <a:bodyPr/>
          <a:lstStyle/>
          <a:p>
            <a:r>
              <a:rPr lang="en-US" b="1">
                <a:solidFill>
                  <a:srgbClr val="FFFF00"/>
                </a:solidFill>
              </a:rPr>
              <a:t>SWF</a:t>
            </a:r>
            <a:r>
              <a:rPr lang="en-US"/>
              <a:t>.</a:t>
            </a:r>
            <a:r>
              <a:rPr lang="en-US" b="1">
                <a:solidFill>
                  <a:srgbClr val="FF0000"/>
                </a:solidFill>
              </a:rPr>
              <a:t>Flow_Sectors</a:t>
            </a:r>
          </a:p>
        </p:txBody>
      </p:sp>
      <p:sp>
        <p:nvSpPr>
          <p:cNvPr id="3" name="Content Placeholder 2">
            <a:extLst>
              <a:ext uri="{FF2B5EF4-FFF2-40B4-BE49-F238E27FC236}">
                <a16:creationId xmlns:a16="http://schemas.microsoft.com/office/drawing/2014/main" id="{3191A6B9-0A9D-DC5E-EB63-BEA30659E4E3}"/>
              </a:ext>
            </a:extLst>
          </p:cNvPr>
          <p:cNvSpPr>
            <a:spLocks noGrp="1"/>
          </p:cNvSpPr>
          <p:nvPr>
            <p:ph idx="1"/>
          </p:nvPr>
        </p:nvSpPr>
        <p:spPr>
          <a:xfrm>
            <a:off x="304800" y="747252"/>
            <a:ext cx="11552903" cy="5899353"/>
          </a:xfrm>
        </p:spPr>
        <p:txBody>
          <a:bodyPr/>
          <a:lstStyle/>
          <a:p>
            <a:r>
              <a:rPr lang="en-US"/>
              <a:t>Code_Sectors </a:t>
            </a:r>
          </a:p>
          <a:p>
            <a:r>
              <a:rPr lang="en-US"/>
              <a:t>string name_ar</a:t>
            </a:r>
          </a:p>
          <a:p>
            <a:r>
              <a:rPr lang="en-US"/>
              <a:t>string name_eng</a:t>
            </a:r>
          </a:p>
          <a:p>
            <a:r>
              <a:rPr lang="en-US"/>
              <a:t>public virtual ICollection&lt;Flow_Enterprises&gt; Flow_Enterprises</a:t>
            </a:r>
          </a:p>
          <a:p>
            <a:r>
              <a:rPr lang="en-US"/>
              <a:t>public virtual ICollection&lt;Flow_Main_activity&gt; Flow_Main_activity</a:t>
            </a:r>
          </a:p>
          <a:p>
            <a:endParaRPr lang="en-US"/>
          </a:p>
        </p:txBody>
      </p:sp>
      <p:pic>
        <p:nvPicPr>
          <p:cNvPr id="5" name="Picture 4">
            <a:extLst>
              <a:ext uri="{FF2B5EF4-FFF2-40B4-BE49-F238E27FC236}">
                <a16:creationId xmlns:a16="http://schemas.microsoft.com/office/drawing/2014/main" id="{CCAF1E98-3135-028C-5CA3-C5AD3F870432}"/>
              </a:ext>
            </a:extLst>
          </p:cNvPr>
          <p:cNvPicPr>
            <a:picLocks noChangeAspect="1"/>
          </p:cNvPicPr>
          <p:nvPr/>
        </p:nvPicPr>
        <p:blipFill>
          <a:blip r:embed="rId2"/>
          <a:stretch>
            <a:fillRect/>
          </a:stretch>
        </p:blipFill>
        <p:spPr>
          <a:xfrm>
            <a:off x="8233810" y="674455"/>
            <a:ext cx="3486242" cy="1419851"/>
          </a:xfrm>
          <a:prstGeom prst="rect">
            <a:avLst/>
          </a:prstGeom>
        </p:spPr>
      </p:pic>
    </p:spTree>
    <p:extLst>
      <p:ext uri="{BB962C8B-B14F-4D97-AF65-F5344CB8AC3E}">
        <p14:creationId xmlns:p14="http://schemas.microsoft.com/office/powerpoint/2010/main" val="137304196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DD817-260C-AF04-11DE-8E1E001CB164}"/>
              </a:ext>
            </a:extLst>
          </p:cNvPr>
          <p:cNvSpPr>
            <a:spLocks noGrp="1"/>
          </p:cNvSpPr>
          <p:nvPr>
            <p:ph type="title"/>
          </p:nvPr>
        </p:nvSpPr>
        <p:spPr>
          <a:xfrm>
            <a:off x="919119" y="0"/>
            <a:ext cx="10353762" cy="599768"/>
          </a:xfrm>
        </p:spPr>
        <p:txBody>
          <a:bodyPr>
            <a:normAutofit fontScale="90000"/>
          </a:bodyPr>
          <a:lstStyle/>
          <a:p>
            <a:r>
              <a:rPr lang="en-US" b="1">
                <a:solidFill>
                  <a:srgbClr val="FFFF00"/>
                </a:solidFill>
              </a:rPr>
              <a:t>SWF</a:t>
            </a:r>
            <a:r>
              <a:rPr lang="en-US"/>
              <a:t>.</a:t>
            </a:r>
            <a:r>
              <a:rPr lang="en-US" b="1">
                <a:solidFill>
                  <a:srgbClr val="FF0000"/>
                </a:solidFill>
              </a:rPr>
              <a:t>Flow_Main_activity</a:t>
            </a:r>
          </a:p>
        </p:txBody>
      </p:sp>
      <p:sp>
        <p:nvSpPr>
          <p:cNvPr id="3" name="Content Placeholder 2">
            <a:extLst>
              <a:ext uri="{FF2B5EF4-FFF2-40B4-BE49-F238E27FC236}">
                <a16:creationId xmlns:a16="http://schemas.microsoft.com/office/drawing/2014/main" id="{F7D378FD-9F52-03D3-BD02-7346B02022EE}"/>
              </a:ext>
            </a:extLst>
          </p:cNvPr>
          <p:cNvSpPr>
            <a:spLocks noGrp="1"/>
          </p:cNvSpPr>
          <p:nvPr>
            <p:ph idx="1"/>
          </p:nvPr>
        </p:nvSpPr>
        <p:spPr>
          <a:xfrm>
            <a:off x="0" y="599769"/>
            <a:ext cx="11267557" cy="6096000"/>
          </a:xfrm>
        </p:spPr>
        <p:txBody>
          <a:bodyPr>
            <a:normAutofit/>
          </a:bodyPr>
          <a:lstStyle/>
          <a:p>
            <a:r>
              <a:rPr lang="en-US"/>
              <a:t> int Code_Main </a:t>
            </a:r>
          </a:p>
          <a:p>
            <a:r>
              <a:rPr lang="en-US"/>
              <a:t> string name_ar </a:t>
            </a:r>
          </a:p>
          <a:p>
            <a:r>
              <a:rPr lang="en-US"/>
              <a:t>string name_eng </a:t>
            </a:r>
          </a:p>
          <a:p>
            <a:r>
              <a:rPr lang="en-US"/>
              <a:t>int Code_Sectors </a:t>
            </a:r>
          </a:p>
          <a:p>
            <a:r>
              <a:rPr lang="en-US"/>
              <a:t>int? Data_Migration </a:t>
            </a:r>
          </a:p>
          <a:p>
            <a:r>
              <a:rPr lang="en-US"/>
              <a:t>virtual ICollection&lt;Flow_Enterprises&gt; Flow_Enterprises </a:t>
            </a:r>
          </a:p>
          <a:p>
            <a:r>
              <a:rPr lang="en-US"/>
              <a:t>Flow_Sectors Flow_Sectors </a:t>
            </a:r>
          </a:p>
          <a:p>
            <a:r>
              <a:rPr lang="en-US"/>
              <a:t>ICollection&lt;</a:t>
            </a:r>
            <a:r>
              <a:rPr lang="en-US">
                <a:solidFill>
                  <a:srgbClr val="FF0000"/>
                </a:solidFill>
              </a:rPr>
              <a:t>Flow_Sub_activities</a:t>
            </a:r>
            <a:r>
              <a:rPr lang="en-US"/>
              <a:t>&gt; Flow_Sub_activities </a:t>
            </a:r>
          </a:p>
          <a:p>
            <a:r>
              <a:rPr lang="en-US"/>
              <a:t>ICollection&lt;Nano_Business_Owner&gt; Nano_Business_Owner </a:t>
            </a:r>
          </a:p>
        </p:txBody>
      </p:sp>
      <p:pic>
        <p:nvPicPr>
          <p:cNvPr id="5" name="Picture 4">
            <a:extLst>
              <a:ext uri="{FF2B5EF4-FFF2-40B4-BE49-F238E27FC236}">
                <a16:creationId xmlns:a16="http://schemas.microsoft.com/office/drawing/2014/main" id="{6381B033-0C5D-35D4-B6AA-90CFA43B0169}"/>
              </a:ext>
            </a:extLst>
          </p:cNvPr>
          <p:cNvPicPr>
            <a:picLocks noChangeAspect="1"/>
          </p:cNvPicPr>
          <p:nvPr/>
        </p:nvPicPr>
        <p:blipFill>
          <a:blip r:embed="rId2"/>
          <a:stretch>
            <a:fillRect/>
          </a:stretch>
        </p:blipFill>
        <p:spPr>
          <a:xfrm>
            <a:off x="6723254" y="738587"/>
            <a:ext cx="5174106" cy="1864727"/>
          </a:xfrm>
          <a:prstGeom prst="rect">
            <a:avLst/>
          </a:prstGeom>
        </p:spPr>
      </p:pic>
    </p:spTree>
    <p:extLst>
      <p:ext uri="{BB962C8B-B14F-4D97-AF65-F5344CB8AC3E}">
        <p14:creationId xmlns:p14="http://schemas.microsoft.com/office/powerpoint/2010/main" val="143635075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48D99-553D-4B5A-62F8-F30EBF2FF581}"/>
              </a:ext>
            </a:extLst>
          </p:cNvPr>
          <p:cNvSpPr>
            <a:spLocks noGrp="1"/>
          </p:cNvSpPr>
          <p:nvPr>
            <p:ph type="title"/>
          </p:nvPr>
        </p:nvSpPr>
        <p:spPr>
          <a:xfrm>
            <a:off x="913795" y="78659"/>
            <a:ext cx="10353762" cy="678426"/>
          </a:xfrm>
        </p:spPr>
        <p:txBody>
          <a:bodyPr>
            <a:normAutofit fontScale="90000"/>
          </a:bodyPr>
          <a:lstStyle/>
          <a:p>
            <a:r>
              <a:rPr lang="en-US" b="1">
                <a:solidFill>
                  <a:srgbClr val="FFFF00"/>
                </a:solidFill>
              </a:rPr>
              <a:t>SWF</a:t>
            </a:r>
            <a:r>
              <a:rPr lang="en-US"/>
              <a:t>.</a:t>
            </a:r>
            <a:r>
              <a:rPr lang="en-US" b="1">
                <a:solidFill>
                  <a:srgbClr val="FF0000"/>
                </a:solidFill>
              </a:rPr>
              <a:t>Flow_Sub_activities</a:t>
            </a:r>
          </a:p>
        </p:txBody>
      </p:sp>
      <p:sp>
        <p:nvSpPr>
          <p:cNvPr id="3" name="Content Placeholder 2">
            <a:extLst>
              <a:ext uri="{FF2B5EF4-FFF2-40B4-BE49-F238E27FC236}">
                <a16:creationId xmlns:a16="http://schemas.microsoft.com/office/drawing/2014/main" id="{B622469A-E6CE-8E6D-FEDC-224855C38A77}"/>
              </a:ext>
            </a:extLst>
          </p:cNvPr>
          <p:cNvSpPr>
            <a:spLocks noGrp="1"/>
          </p:cNvSpPr>
          <p:nvPr>
            <p:ph idx="1"/>
          </p:nvPr>
        </p:nvSpPr>
        <p:spPr>
          <a:xfrm>
            <a:off x="363794" y="757085"/>
            <a:ext cx="11670890" cy="5751870"/>
          </a:xfrm>
        </p:spPr>
        <p:txBody>
          <a:bodyPr/>
          <a:lstStyle/>
          <a:p>
            <a:r>
              <a:rPr lang="en-US"/>
              <a:t>Code</a:t>
            </a:r>
          </a:p>
          <a:p>
            <a:r>
              <a:rPr lang="en-US"/>
              <a:t>name_ar</a:t>
            </a:r>
          </a:p>
          <a:p>
            <a:r>
              <a:rPr lang="en-US"/>
              <a:t>name_eng</a:t>
            </a:r>
          </a:p>
          <a:p>
            <a:r>
              <a:rPr lang="en-US"/>
              <a:t>Code_Main [FK]</a:t>
            </a:r>
          </a:p>
          <a:p>
            <a:r>
              <a:rPr lang="en-US"/>
              <a:t>Flag_Block</a:t>
            </a:r>
          </a:p>
          <a:p>
            <a:r>
              <a:rPr lang="en-US"/>
              <a:t>Data_Migration</a:t>
            </a:r>
          </a:p>
          <a:p>
            <a:r>
              <a:rPr lang="en-US"/>
              <a:t>Flow_Main_activity Flow_Main_activity</a:t>
            </a:r>
          </a:p>
          <a:p>
            <a:r>
              <a:rPr lang="en-US"/>
              <a:t>ICollection&lt;Flow_Enterprises&gt; Flow_Enterprises</a:t>
            </a:r>
          </a:p>
          <a:p>
            <a:r>
              <a:rPr lang="en-US"/>
              <a:t>ICollection&lt;Nano_Business_Owner&gt; Nano_Business_Owner</a:t>
            </a:r>
          </a:p>
        </p:txBody>
      </p:sp>
      <p:pic>
        <p:nvPicPr>
          <p:cNvPr id="5" name="Picture 4">
            <a:extLst>
              <a:ext uri="{FF2B5EF4-FFF2-40B4-BE49-F238E27FC236}">
                <a16:creationId xmlns:a16="http://schemas.microsoft.com/office/drawing/2014/main" id="{298D9C30-50D0-9E8F-825A-10BEB70F8038}"/>
              </a:ext>
            </a:extLst>
          </p:cNvPr>
          <p:cNvPicPr>
            <a:picLocks noChangeAspect="1"/>
          </p:cNvPicPr>
          <p:nvPr/>
        </p:nvPicPr>
        <p:blipFill>
          <a:blip r:embed="rId2"/>
          <a:stretch>
            <a:fillRect/>
          </a:stretch>
        </p:blipFill>
        <p:spPr>
          <a:xfrm>
            <a:off x="6527612" y="757085"/>
            <a:ext cx="5428415" cy="2738660"/>
          </a:xfrm>
          <a:prstGeom prst="rect">
            <a:avLst/>
          </a:prstGeom>
        </p:spPr>
      </p:pic>
    </p:spTree>
    <p:extLst>
      <p:ext uri="{BB962C8B-B14F-4D97-AF65-F5344CB8AC3E}">
        <p14:creationId xmlns:p14="http://schemas.microsoft.com/office/powerpoint/2010/main" val="212067167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C32AC-2553-DF57-69EF-10F25DFBA585}"/>
              </a:ext>
            </a:extLst>
          </p:cNvPr>
          <p:cNvSpPr>
            <a:spLocks noGrp="1"/>
          </p:cNvSpPr>
          <p:nvPr>
            <p:ph type="title"/>
          </p:nvPr>
        </p:nvSpPr>
        <p:spPr>
          <a:xfrm>
            <a:off x="913795" y="0"/>
            <a:ext cx="10353762" cy="609600"/>
          </a:xfrm>
        </p:spPr>
        <p:txBody>
          <a:bodyPr>
            <a:normAutofit fontScale="90000"/>
          </a:bodyPr>
          <a:lstStyle/>
          <a:p>
            <a:r>
              <a:rPr lang="en-US" b="1">
                <a:solidFill>
                  <a:srgbClr val="FF0000"/>
                </a:solidFill>
              </a:rPr>
              <a:t>Company entity</a:t>
            </a:r>
          </a:p>
        </p:txBody>
      </p:sp>
      <p:sp>
        <p:nvSpPr>
          <p:cNvPr id="3" name="Content Placeholder 2">
            <a:extLst>
              <a:ext uri="{FF2B5EF4-FFF2-40B4-BE49-F238E27FC236}">
                <a16:creationId xmlns:a16="http://schemas.microsoft.com/office/drawing/2014/main" id="{301C27C4-CEF0-6A83-1EE8-4CA6A731E206}"/>
              </a:ext>
            </a:extLst>
          </p:cNvPr>
          <p:cNvSpPr>
            <a:spLocks noGrp="1"/>
          </p:cNvSpPr>
          <p:nvPr>
            <p:ph idx="1"/>
          </p:nvPr>
        </p:nvSpPr>
        <p:spPr>
          <a:xfrm>
            <a:off x="285135" y="609600"/>
            <a:ext cx="11700388" cy="6095999"/>
          </a:xfrm>
        </p:spPr>
        <p:txBody>
          <a:bodyPr/>
          <a:lstStyle/>
          <a:p>
            <a:r>
              <a:rPr lang="en-US"/>
              <a:t>int </a:t>
            </a:r>
            <a:r>
              <a:rPr lang="en-US" err="1"/>
              <a:t>ComId</a:t>
            </a:r>
            <a:endParaRPr lang="en-US"/>
          </a:p>
          <a:p>
            <a:r>
              <a:rPr lang="en-US" err="1"/>
              <a:t>ComNameAR</a:t>
            </a:r>
            <a:endParaRPr lang="en-US"/>
          </a:p>
          <a:p>
            <a:r>
              <a:rPr lang="en-US" err="1"/>
              <a:t>ComNameEn</a:t>
            </a:r>
            <a:endParaRPr lang="en-US"/>
          </a:p>
        </p:txBody>
      </p:sp>
    </p:spTree>
    <p:extLst>
      <p:ext uri="{BB962C8B-B14F-4D97-AF65-F5344CB8AC3E}">
        <p14:creationId xmlns:p14="http://schemas.microsoft.com/office/powerpoint/2010/main" val="291106429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406B8-441A-11E8-B385-FD94F50259DC}"/>
              </a:ext>
            </a:extLst>
          </p:cNvPr>
          <p:cNvSpPr>
            <a:spLocks noGrp="1"/>
          </p:cNvSpPr>
          <p:nvPr>
            <p:ph type="title"/>
          </p:nvPr>
        </p:nvSpPr>
        <p:spPr>
          <a:xfrm>
            <a:off x="913795" y="0"/>
            <a:ext cx="10353762" cy="471948"/>
          </a:xfrm>
        </p:spPr>
        <p:txBody>
          <a:bodyPr>
            <a:normAutofit fontScale="90000"/>
          </a:bodyPr>
          <a:lstStyle/>
          <a:p>
            <a:r>
              <a:rPr lang="en-US" b="1" err="1">
                <a:solidFill>
                  <a:srgbClr val="FF0000"/>
                </a:solidFill>
              </a:rPr>
              <a:t>Acc_Chart_Account</a:t>
            </a:r>
            <a:r>
              <a:rPr lang="en-US" b="1">
                <a:solidFill>
                  <a:srgbClr val="FF0000"/>
                </a:solidFill>
              </a:rPr>
              <a:t> entity</a:t>
            </a:r>
          </a:p>
        </p:txBody>
      </p:sp>
      <p:sp>
        <p:nvSpPr>
          <p:cNvPr id="3" name="Content Placeholder 2">
            <a:extLst>
              <a:ext uri="{FF2B5EF4-FFF2-40B4-BE49-F238E27FC236}">
                <a16:creationId xmlns:a16="http://schemas.microsoft.com/office/drawing/2014/main" id="{0C4B6636-C47E-9A5C-7DAD-A3E52C048CAB}"/>
              </a:ext>
            </a:extLst>
          </p:cNvPr>
          <p:cNvSpPr>
            <a:spLocks noGrp="1"/>
          </p:cNvSpPr>
          <p:nvPr>
            <p:ph idx="1"/>
          </p:nvPr>
        </p:nvSpPr>
        <p:spPr>
          <a:xfrm>
            <a:off x="913795" y="471949"/>
            <a:ext cx="10353762" cy="5319252"/>
          </a:xfrm>
        </p:spPr>
        <p:txBody>
          <a:bodyPr/>
          <a:lstStyle/>
          <a:p>
            <a:r>
              <a:rPr lang="en-US"/>
              <a:t>namespace </a:t>
            </a:r>
            <a:r>
              <a:rPr lang="en-US" err="1"/>
              <a:t>Tamweely.Infrastruture.Data.Project_Modules.Accounts</a:t>
            </a:r>
            <a:endParaRPr lang="en-US"/>
          </a:p>
          <a:p>
            <a:endParaRPr lang="en-US"/>
          </a:p>
        </p:txBody>
      </p:sp>
    </p:spTree>
    <p:extLst>
      <p:ext uri="{BB962C8B-B14F-4D97-AF65-F5344CB8AC3E}">
        <p14:creationId xmlns:p14="http://schemas.microsoft.com/office/powerpoint/2010/main" val="99985790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36718-CD91-8036-6E3E-58E76553F235}"/>
              </a:ext>
            </a:extLst>
          </p:cNvPr>
          <p:cNvSpPr>
            <a:spLocks noGrp="1"/>
          </p:cNvSpPr>
          <p:nvPr>
            <p:ph type="title"/>
          </p:nvPr>
        </p:nvSpPr>
        <p:spPr>
          <a:xfrm>
            <a:off x="913795" y="0"/>
            <a:ext cx="10353762" cy="530942"/>
          </a:xfrm>
        </p:spPr>
        <p:txBody>
          <a:bodyPr>
            <a:normAutofit fontScale="90000"/>
          </a:bodyPr>
          <a:lstStyle/>
          <a:p>
            <a:r>
              <a:rPr lang="en-US" b="1">
                <a:solidFill>
                  <a:srgbClr val="FFFF00"/>
                </a:solidFill>
              </a:rPr>
              <a:t>SWF</a:t>
            </a:r>
            <a:r>
              <a:rPr lang="en-US" b="1">
                <a:solidFill>
                  <a:srgbClr val="FF0000"/>
                </a:solidFill>
              </a:rPr>
              <a:t>.Flow_Relationships</a:t>
            </a:r>
          </a:p>
        </p:txBody>
      </p:sp>
      <p:sp>
        <p:nvSpPr>
          <p:cNvPr id="3" name="Content Placeholder 2">
            <a:extLst>
              <a:ext uri="{FF2B5EF4-FFF2-40B4-BE49-F238E27FC236}">
                <a16:creationId xmlns:a16="http://schemas.microsoft.com/office/drawing/2014/main" id="{9D71FCDA-98E2-D135-C67C-DB3B026CF36C}"/>
              </a:ext>
            </a:extLst>
          </p:cNvPr>
          <p:cNvSpPr>
            <a:spLocks noGrp="1"/>
          </p:cNvSpPr>
          <p:nvPr>
            <p:ph idx="1"/>
          </p:nvPr>
        </p:nvSpPr>
        <p:spPr>
          <a:xfrm>
            <a:off x="353961" y="530942"/>
            <a:ext cx="11552904" cy="6115663"/>
          </a:xfrm>
        </p:spPr>
        <p:txBody>
          <a:bodyPr/>
          <a:lstStyle/>
          <a:p>
            <a:r>
              <a:rPr lang="en-US"/>
              <a:t> code_relation: int [PK]</a:t>
            </a:r>
          </a:p>
          <a:p>
            <a:r>
              <a:rPr lang="en-US"/>
              <a:t> name_Ar : string </a:t>
            </a:r>
          </a:p>
          <a:p>
            <a:r>
              <a:rPr lang="en-US"/>
              <a:t> name_Eng : string</a:t>
            </a:r>
            <a:endParaRPr lang="ar-EG"/>
          </a:p>
          <a:p>
            <a:endParaRPr lang="en-US"/>
          </a:p>
        </p:txBody>
      </p:sp>
      <p:pic>
        <p:nvPicPr>
          <p:cNvPr id="7" name="Picture 6">
            <a:extLst>
              <a:ext uri="{FF2B5EF4-FFF2-40B4-BE49-F238E27FC236}">
                <a16:creationId xmlns:a16="http://schemas.microsoft.com/office/drawing/2014/main" id="{95B5E2DA-2922-4310-7254-CE8696B703F4}"/>
              </a:ext>
            </a:extLst>
          </p:cNvPr>
          <p:cNvPicPr>
            <a:picLocks noChangeAspect="1"/>
          </p:cNvPicPr>
          <p:nvPr/>
        </p:nvPicPr>
        <p:blipFill>
          <a:blip r:embed="rId2"/>
          <a:stretch>
            <a:fillRect/>
          </a:stretch>
        </p:blipFill>
        <p:spPr>
          <a:xfrm>
            <a:off x="3988992" y="704793"/>
            <a:ext cx="2107007" cy="1546344"/>
          </a:xfrm>
          <a:prstGeom prst="rect">
            <a:avLst/>
          </a:prstGeom>
        </p:spPr>
      </p:pic>
    </p:spTree>
    <p:extLst>
      <p:ext uri="{BB962C8B-B14F-4D97-AF65-F5344CB8AC3E}">
        <p14:creationId xmlns:p14="http://schemas.microsoft.com/office/powerpoint/2010/main" val="220926691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4BE0-7FCA-9F05-5A0B-F1E727580102}"/>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SWF</a:t>
            </a:r>
            <a:r>
              <a:rPr lang="en-US" b="1"/>
              <a:t>.</a:t>
            </a:r>
            <a:r>
              <a:rPr lang="en-US" b="1">
                <a:solidFill>
                  <a:srgbClr val="FF0000"/>
                </a:solidFill>
              </a:rPr>
              <a:t>Flow_Purpose_loan</a:t>
            </a:r>
          </a:p>
        </p:txBody>
      </p:sp>
      <p:sp>
        <p:nvSpPr>
          <p:cNvPr id="3" name="Content Placeholder 2">
            <a:extLst>
              <a:ext uri="{FF2B5EF4-FFF2-40B4-BE49-F238E27FC236}">
                <a16:creationId xmlns:a16="http://schemas.microsoft.com/office/drawing/2014/main" id="{A1BB4664-5AD0-3304-20B3-8D964D0DDC14}"/>
              </a:ext>
            </a:extLst>
          </p:cNvPr>
          <p:cNvSpPr>
            <a:spLocks noGrp="1"/>
          </p:cNvSpPr>
          <p:nvPr>
            <p:ph idx="1"/>
          </p:nvPr>
        </p:nvSpPr>
        <p:spPr>
          <a:xfrm>
            <a:off x="363794" y="737419"/>
            <a:ext cx="11484077" cy="5053781"/>
          </a:xfrm>
        </p:spPr>
        <p:txBody>
          <a:bodyPr/>
          <a:lstStyle/>
          <a:p>
            <a:r>
              <a:rPr lang="en-US"/>
              <a:t>purpose_Id: int,  [Key]</a:t>
            </a:r>
          </a:p>
          <a:p>
            <a:r>
              <a:rPr lang="en-US"/>
              <a:t>purpose: string </a:t>
            </a:r>
          </a:p>
          <a:p>
            <a:endParaRPr lang="en-US"/>
          </a:p>
          <a:p>
            <a:endParaRPr lang="en-US"/>
          </a:p>
          <a:p>
            <a:endParaRPr lang="en-US"/>
          </a:p>
        </p:txBody>
      </p:sp>
      <p:pic>
        <p:nvPicPr>
          <p:cNvPr id="5" name="Picture 4">
            <a:extLst>
              <a:ext uri="{FF2B5EF4-FFF2-40B4-BE49-F238E27FC236}">
                <a16:creationId xmlns:a16="http://schemas.microsoft.com/office/drawing/2014/main" id="{4EB67A28-E5BF-56BD-A7EA-172A8BA6C45F}"/>
              </a:ext>
            </a:extLst>
          </p:cNvPr>
          <p:cNvPicPr>
            <a:picLocks noChangeAspect="1"/>
          </p:cNvPicPr>
          <p:nvPr/>
        </p:nvPicPr>
        <p:blipFill>
          <a:blip r:embed="rId2"/>
          <a:stretch>
            <a:fillRect/>
          </a:stretch>
        </p:blipFill>
        <p:spPr>
          <a:xfrm>
            <a:off x="4350456" y="747250"/>
            <a:ext cx="3790951" cy="1956621"/>
          </a:xfrm>
          <a:prstGeom prst="rect">
            <a:avLst/>
          </a:prstGeom>
        </p:spPr>
      </p:pic>
    </p:spTree>
    <p:extLst>
      <p:ext uri="{BB962C8B-B14F-4D97-AF65-F5344CB8AC3E}">
        <p14:creationId xmlns:p14="http://schemas.microsoft.com/office/powerpoint/2010/main" val="129308197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D2FC7-BCA3-0947-4C4F-377029E22462}"/>
              </a:ext>
            </a:extLst>
          </p:cNvPr>
          <p:cNvSpPr>
            <a:spLocks noGrp="1"/>
          </p:cNvSpPr>
          <p:nvPr>
            <p:ph type="title"/>
          </p:nvPr>
        </p:nvSpPr>
        <p:spPr>
          <a:xfrm>
            <a:off x="919119" y="98323"/>
            <a:ext cx="10353762" cy="766916"/>
          </a:xfrm>
        </p:spPr>
        <p:txBody>
          <a:bodyPr/>
          <a:lstStyle/>
          <a:p>
            <a:r>
              <a:rPr lang="en-US" b="1">
                <a:solidFill>
                  <a:srgbClr val="FFFF00"/>
                </a:solidFill>
                <a:effectLst/>
              </a:rPr>
              <a:t>SWF</a:t>
            </a:r>
            <a:r>
              <a:rPr lang="en-US" b="1">
                <a:effectLst/>
              </a:rPr>
              <a:t>.</a:t>
            </a:r>
            <a:r>
              <a:rPr lang="en-US" b="1">
                <a:solidFill>
                  <a:srgbClr val="FF0000"/>
                </a:solidFill>
                <a:effectLst/>
              </a:rPr>
              <a:t>Flow_Customers_jobs</a:t>
            </a:r>
            <a:endParaRPr lang="en-US">
              <a:solidFill>
                <a:srgbClr val="FF0000"/>
              </a:solidFill>
            </a:endParaRPr>
          </a:p>
        </p:txBody>
      </p:sp>
      <p:sp>
        <p:nvSpPr>
          <p:cNvPr id="7" name="Content Placeholder 6">
            <a:extLst>
              <a:ext uri="{FF2B5EF4-FFF2-40B4-BE49-F238E27FC236}">
                <a16:creationId xmlns:a16="http://schemas.microsoft.com/office/drawing/2014/main" id="{05F54450-0FD0-65BB-EFB7-DDF37D562034}"/>
              </a:ext>
            </a:extLst>
          </p:cNvPr>
          <p:cNvSpPr>
            <a:spLocks noGrp="1"/>
          </p:cNvSpPr>
          <p:nvPr>
            <p:ph idx="1"/>
          </p:nvPr>
        </p:nvSpPr>
        <p:spPr>
          <a:xfrm>
            <a:off x="324466" y="1149639"/>
            <a:ext cx="11326760" cy="5398645"/>
          </a:xfrm>
        </p:spPr>
        <p:txBody>
          <a:bodyPr/>
          <a:lstStyle/>
          <a:p>
            <a:r>
              <a:rPr lang="en-US"/>
              <a:t>public int Code_job </a:t>
            </a:r>
          </a:p>
          <a:p>
            <a:r>
              <a:rPr lang="en-US"/>
              <a:t>public string name_Ar </a:t>
            </a:r>
          </a:p>
          <a:p>
            <a:r>
              <a:rPr lang="en-US"/>
              <a:t>public string name_Eng </a:t>
            </a:r>
          </a:p>
          <a:p>
            <a:r>
              <a:rPr lang="en-US"/>
              <a:t>public int I_score </a:t>
            </a:r>
          </a:p>
        </p:txBody>
      </p:sp>
      <p:pic>
        <p:nvPicPr>
          <p:cNvPr id="8" name="Content Placeholder 4">
            <a:extLst>
              <a:ext uri="{FF2B5EF4-FFF2-40B4-BE49-F238E27FC236}">
                <a16:creationId xmlns:a16="http://schemas.microsoft.com/office/drawing/2014/main" id="{0045C470-86DA-1BAD-F025-6D3EAC01831E}"/>
              </a:ext>
            </a:extLst>
          </p:cNvPr>
          <p:cNvPicPr>
            <a:picLocks noChangeAspect="1"/>
          </p:cNvPicPr>
          <p:nvPr/>
        </p:nvPicPr>
        <p:blipFill>
          <a:blip r:embed="rId2"/>
          <a:stretch>
            <a:fillRect/>
          </a:stretch>
        </p:blipFill>
        <p:spPr>
          <a:xfrm>
            <a:off x="6999937" y="1149639"/>
            <a:ext cx="4464450" cy="2802501"/>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52313492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5051E-20B0-456A-27A0-A849223FE5DE}"/>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SWF</a:t>
            </a:r>
            <a:r>
              <a:rPr lang="en-US"/>
              <a:t>.</a:t>
            </a:r>
            <a:r>
              <a:rPr lang="en-US" b="1">
                <a:solidFill>
                  <a:srgbClr val="FF0000"/>
                </a:solidFill>
              </a:rPr>
              <a:t>Flow_districts</a:t>
            </a:r>
          </a:p>
        </p:txBody>
      </p:sp>
      <p:sp>
        <p:nvSpPr>
          <p:cNvPr id="3" name="Content Placeholder 2">
            <a:extLst>
              <a:ext uri="{FF2B5EF4-FFF2-40B4-BE49-F238E27FC236}">
                <a16:creationId xmlns:a16="http://schemas.microsoft.com/office/drawing/2014/main" id="{7CABE9C4-1036-08DF-688D-224BA7DC9F6A}"/>
              </a:ext>
            </a:extLst>
          </p:cNvPr>
          <p:cNvSpPr>
            <a:spLocks noGrp="1"/>
          </p:cNvSpPr>
          <p:nvPr>
            <p:ph idx="1"/>
          </p:nvPr>
        </p:nvSpPr>
        <p:spPr>
          <a:xfrm>
            <a:off x="383458" y="550606"/>
            <a:ext cx="11405419" cy="6076335"/>
          </a:xfrm>
        </p:spPr>
        <p:txBody>
          <a:bodyPr/>
          <a:lstStyle/>
          <a:p>
            <a:r>
              <a:rPr lang="en-US"/>
              <a:t>public int Code_district   </a:t>
            </a:r>
            <a:r>
              <a:rPr lang="en-US" b="1"/>
              <a:t>[FK]</a:t>
            </a:r>
          </a:p>
          <a:p>
            <a:r>
              <a:rPr lang="en-US"/>
              <a:t>public string name_ar </a:t>
            </a:r>
          </a:p>
          <a:p>
            <a:r>
              <a:rPr lang="en-US"/>
              <a:t>public string name_eng </a:t>
            </a:r>
          </a:p>
          <a:p>
            <a:r>
              <a:rPr lang="en-US"/>
              <a:t>public int GovId </a:t>
            </a:r>
          </a:p>
          <a:p>
            <a:r>
              <a:rPr lang="en-US"/>
              <a:t>public string District_DB_Code </a:t>
            </a:r>
          </a:p>
        </p:txBody>
      </p:sp>
      <p:pic>
        <p:nvPicPr>
          <p:cNvPr id="5" name="Picture 4">
            <a:extLst>
              <a:ext uri="{FF2B5EF4-FFF2-40B4-BE49-F238E27FC236}">
                <a16:creationId xmlns:a16="http://schemas.microsoft.com/office/drawing/2014/main" id="{DF86862D-330E-AEFE-3F7C-1878620572C9}"/>
              </a:ext>
            </a:extLst>
          </p:cNvPr>
          <p:cNvPicPr>
            <a:picLocks noChangeAspect="1"/>
          </p:cNvPicPr>
          <p:nvPr/>
        </p:nvPicPr>
        <p:blipFill>
          <a:blip r:embed="rId2"/>
          <a:stretch>
            <a:fillRect/>
          </a:stretch>
        </p:blipFill>
        <p:spPr>
          <a:xfrm>
            <a:off x="7236142" y="734029"/>
            <a:ext cx="4552735" cy="2138406"/>
          </a:xfrm>
          <a:prstGeom prst="rect">
            <a:avLst/>
          </a:prstGeom>
        </p:spPr>
      </p:pic>
    </p:spTree>
    <p:extLst>
      <p:ext uri="{BB962C8B-B14F-4D97-AF65-F5344CB8AC3E}">
        <p14:creationId xmlns:p14="http://schemas.microsoft.com/office/powerpoint/2010/main" val="181567147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CF5D2-C14B-752B-7094-17DF4075385B}"/>
              </a:ext>
            </a:extLst>
          </p:cNvPr>
          <p:cNvSpPr>
            <a:spLocks noGrp="1"/>
          </p:cNvSpPr>
          <p:nvPr>
            <p:ph type="title"/>
          </p:nvPr>
        </p:nvSpPr>
        <p:spPr>
          <a:xfrm>
            <a:off x="919119" y="16721"/>
            <a:ext cx="10353762" cy="573214"/>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Flow_Sections</a:t>
            </a:r>
            <a:endParaRPr lang="en-US">
              <a:solidFill>
                <a:srgbClr val="FF0000"/>
              </a:solidFill>
            </a:endParaRPr>
          </a:p>
        </p:txBody>
      </p:sp>
      <p:sp>
        <p:nvSpPr>
          <p:cNvPr id="3" name="Content Placeholder 2">
            <a:extLst>
              <a:ext uri="{FF2B5EF4-FFF2-40B4-BE49-F238E27FC236}">
                <a16:creationId xmlns:a16="http://schemas.microsoft.com/office/drawing/2014/main" id="{EA4AE190-22B5-6065-BB91-B8685FAF1481}"/>
              </a:ext>
            </a:extLst>
          </p:cNvPr>
          <p:cNvSpPr>
            <a:spLocks noGrp="1"/>
          </p:cNvSpPr>
          <p:nvPr>
            <p:ph idx="1"/>
          </p:nvPr>
        </p:nvSpPr>
        <p:spPr>
          <a:xfrm>
            <a:off x="570271" y="704979"/>
            <a:ext cx="11503742" cy="5980956"/>
          </a:xfrm>
        </p:spPr>
        <p:txBody>
          <a:bodyPr/>
          <a:lstStyle/>
          <a:p>
            <a:r>
              <a:rPr lang="en-US"/>
              <a:t>Code_Section [PK]</a:t>
            </a:r>
          </a:p>
          <a:p>
            <a:endParaRPr lang="en-US"/>
          </a:p>
        </p:txBody>
      </p:sp>
      <p:pic>
        <p:nvPicPr>
          <p:cNvPr id="5" name="Picture 4">
            <a:extLst>
              <a:ext uri="{FF2B5EF4-FFF2-40B4-BE49-F238E27FC236}">
                <a16:creationId xmlns:a16="http://schemas.microsoft.com/office/drawing/2014/main" id="{A01B557B-65C1-8D4D-AFB5-EEC7C2124C93}"/>
              </a:ext>
            </a:extLst>
          </p:cNvPr>
          <p:cNvPicPr>
            <a:picLocks noChangeAspect="1"/>
          </p:cNvPicPr>
          <p:nvPr/>
        </p:nvPicPr>
        <p:blipFill>
          <a:blip r:embed="rId2"/>
          <a:stretch>
            <a:fillRect/>
          </a:stretch>
        </p:blipFill>
        <p:spPr>
          <a:xfrm>
            <a:off x="6712176" y="704979"/>
            <a:ext cx="5361837" cy="2647821"/>
          </a:xfrm>
          <a:prstGeom prst="rect">
            <a:avLst/>
          </a:prstGeom>
        </p:spPr>
      </p:pic>
    </p:spTree>
    <p:extLst>
      <p:ext uri="{BB962C8B-B14F-4D97-AF65-F5344CB8AC3E}">
        <p14:creationId xmlns:p14="http://schemas.microsoft.com/office/powerpoint/2010/main" val="82828717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8C28E-61F7-6D4E-F31C-C60F41193EE4}"/>
              </a:ext>
            </a:extLst>
          </p:cNvPr>
          <p:cNvSpPr>
            <a:spLocks noGrp="1"/>
          </p:cNvSpPr>
          <p:nvPr>
            <p:ph type="title"/>
          </p:nvPr>
        </p:nvSpPr>
        <p:spPr>
          <a:xfrm>
            <a:off x="913795" y="0"/>
            <a:ext cx="10353762" cy="648929"/>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Flow_Identity_Expiry</a:t>
            </a:r>
            <a:endParaRPr lang="en-US">
              <a:solidFill>
                <a:srgbClr val="FF0000"/>
              </a:solidFill>
            </a:endParaRPr>
          </a:p>
        </p:txBody>
      </p:sp>
      <p:sp>
        <p:nvSpPr>
          <p:cNvPr id="3" name="Content Placeholder 2">
            <a:extLst>
              <a:ext uri="{FF2B5EF4-FFF2-40B4-BE49-F238E27FC236}">
                <a16:creationId xmlns:a16="http://schemas.microsoft.com/office/drawing/2014/main" id="{D4D3C5DB-79B9-56B6-11BF-ABC07DE1220D}"/>
              </a:ext>
            </a:extLst>
          </p:cNvPr>
          <p:cNvSpPr>
            <a:spLocks noGrp="1"/>
          </p:cNvSpPr>
          <p:nvPr>
            <p:ph idx="1"/>
          </p:nvPr>
        </p:nvSpPr>
        <p:spPr>
          <a:xfrm>
            <a:off x="913795" y="648929"/>
            <a:ext cx="10353762" cy="5142271"/>
          </a:xfrm>
        </p:spPr>
        <p:txBody>
          <a:bodyPr/>
          <a:lstStyle/>
          <a:p>
            <a:r>
              <a:rPr lang="en-US"/>
              <a:t>ssn_code : int</a:t>
            </a:r>
          </a:p>
          <a:p>
            <a:r>
              <a:rPr lang="en-US"/>
              <a:t>name_ar: string</a:t>
            </a:r>
          </a:p>
          <a:p>
            <a:r>
              <a:rPr lang="en-US"/>
              <a:t>name_eng: string</a:t>
            </a:r>
          </a:p>
          <a:p>
            <a:r>
              <a:rPr lang="en-US"/>
              <a:t>Expiry_date : string </a:t>
            </a:r>
          </a:p>
          <a:p>
            <a:endParaRPr lang="en-US"/>
          </a:p>
        </p:txBody>
      </p:sp>
      <p:pic>
        <p:nvPicPr>
          <p:cNvPr id="5" name="Picture 4">
            <a:extLst>
              <a:ext uri="{FF2B5EF4-FFF2-40B4-BE49-F238E27FC236}">
                <a16:creationId xmlns:a16="http://schemas.microsoft.com/office/drawing/2014/main" id="{F245421B-EB2A-8CF4-9A6E-F2E8FF8537E8}"/>
              </a:ext>
            </a:extLst>
          </p:cNvPr>
          <p:cNvPicPr>
            <a:picLocks noChangeAspect="1"/>
          </p:cNvPicPr>
          <p:nvPr/>
        </p:nvPicPr>
        <p:blipFill>
          <a:blip r:embed="rId2"/>
          <a:stretch>
            <a:fillRect/>
          </a:stretch>
        </p:blipFill>
        <p:spPr>
          <a:xfrm>
            <a:off x="5801242" y="782700"/>
            <a:ext cx="3698661" cy="568200"/>
          </a:xfrm>
          <a:prstGeom prst="rect">
            <a:avLst/>
          </a:prstGeom>
        </p:spPr>
      </p:pic>
    </p:spTree>
    <p:extLst>
      <p:ext uri="{BB962C8B-B14F-4D97-AF65-F5344CB8AC3E}">
        <p14:creationId xmlns:p14="http://schemas.microsoft.com/office/powerpoint/2010/main" val="4308980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F7D08-A393-98DE-9C45-6689A32A2C38}"/>
              </a:ext>
            </a:extLst>
          </p:cNvPr>
          <p:cNvSpPr>
            <a:spLocks noGrp="1"/>
          </p:cNvSpPr>
          <p:nvPr>
            <p:ph type="title"/>
          </p:nvPr>
        </p:nvSpPr>
        <p:spPr>
          <a:xfrm>
            <a:off x="919119" y="0"/>
            <a:ext cx="10353762" cy="668594"/>
          </a:xfrm>
        </p:spPr>
        <p:txBody>
          <a:bodyPr>
            <a:normAutofit fontScale="90000"/>
          </a:bodyPr>
          <a:lstStyle/>
          <a:p>
            <a:r>
              <a:rPr lang="en-US" b="1">
                <a:solidFill>
                  <a:srgbClr val="FFFF00"/>
                </a:solidFill>
              </a:rPr>
              <a:t>Security</a:t>
            </a:r>
            <a:r>
              <a:rPr lang="en-US"/>
              <a:t>.</a:t>
            </a:r>
            <a:r>
              <a:rPr lang="en-US" b="1">
                <a:solidFill>
                  <a:srgbClr val="FF0000"/>
                </a:solidFill>
              </a:rPr>
              <a:t>SEC_Group</a:t>
            </a:r>
          </a:p>
        </p:txBody>
      </p:sp>
      <p:pic>
        <p:nvPicPr>
          <p:cNvPr id="5" name="Content Placeholder 4">
            <a:extLst>
              <a:ext uri="{FF2B5EF4-FFF2-40B4-BE49-F238E27FC236}">
                <a16:creationId xmlns:a16="http://schemas.microsoft.com/office/drawing/2014/main" id="{FDF058CE-131C-13EF-9962-3C2C8DBF70F1}"/>
              </a:ext>
            </a:extLst>
          </p:cNvPr>
          <p:cNvPicPr>
            <a:picLocks noGrp="1" noChangeAspect="1"/>
          </p:cNvPicPr>
          <p:nvPr>
            <p:ph idx="1"/>
          </p:nvPr>
        </p:nvPicPr>
        <p:blipFill>
          <a:blip r:embed="rId2"/>
          <a:stretch>
            <a:fillRect/>
          </a:stretch>
        </p:blipFill>
        <p:spPr>
          <a:xfrm>
            <a:off x="7151521" y="639098"/>
            <a:ext cx="4971651" cy="410294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034790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BBD2D-BC72-9321-F9E7-A67BCB410D4C}"/>
              </a:ext>
            </a:extLst>
          </p:cNvPr>
          <p:cNvSpPr>
            <a:spLocks noGrp="1"/>
          </p:cNvSpPr>
          <p:nvPr>
            <p:ph type="title"/>
          </p:nvPr>
        </p:nvSpPr>
        <p:spPr/>
        <p:txBody>
          <a:bodyPr/>
          <a:lstStyle/>
          <a:p>
            <a:r>
              <a:rPr lang="en-US" b="1">
                <a:solidFill>
                  <a:srgbClr val="FFFF00"/>
                </a:solidFill>
              </a:rPr>
              <a:t>Security</a:t>
            </a:r>
            <a:r>
              <a:rPr lang="en-US"/>
              <a:t>.</a:t>
            </a:r>
            <a:r>
              <a:rPr lang="en-US" b="1">
                <a:solidFill>
                  <a:srgbClr val="FF0000"/>
                </a:solidFill>
              </a:rPr>
              <a:t>SEC_Menu</a:t>
            </a:r>
            <a:endParaRPr lang="en-US"/>
          </a:p>
        </p:txBody>
      </p:sp>
      <p:pic>
        <p:nvPicPr>
          <p:cNvPr id="5" name="Content Placeholder 4">
            <a:extLst>
              <a:ext uri="{FF2B5EF4-FFF2-40B4-BE49-F238E27FC236}">
                <a16:creationId xmlns:a16="http://schemas.microsoft.com/office/drawing/2014/main" id="{A6EED765-6B26-3831-32AB-6C4D7F9CBE7E}"/>
              </a:ext>
            </a:extLst>
          </p:cNvPr>
          <p:cNvPicPr>
            <a:picLocks noGrp="1" noChangeAspect="1"/>
          </p:cNvPicPr>
          <p:nvPr>
            <p:ph idx="1"/>
          </p:nvPr>
        </p:nvPicPr>
        <p:blipFill>
          <a:blip r:embed="rId2"/>
          <a:stretch>
            <a:fillRect/>
          </a:stretch>
        </p:blipFill>
        <p:spPr>
          <a:xfrm>
            <a:off x="663301" y="1580050"/>
            <a:ext cx="7985453" cy="2195537"/>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57608158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E6867-6E51-14F1-2A51-99D276A28E58}"/>
              </a:ext>
            </a:extLst>
          </p:cNvPr>
          <p:cNvSpPr>
            <a:spLocks noGrp="1"/>
          </p:cNvSpPr>
          <p:nvPr>
            <p:ph type="title"/>
          </p:nvPr>
        </p:nvSpPr>
        <p:spPr>
          <a:xfrm>
            <a:off x="913795" y="0"/>
            <a:ext cx="10487022" cy="626165"/>
          </a:xfrm>
        </p:spPr>
        <p:txBody>
          <a:bodyPr>
            <a:normAutofit fontScale="90000"/>
          </a:bodyPr>
          <a:lstStyle/>
          <a:p>
            <a:r>
              <a:rPr lang="en-US">
                <a:solidFill>
                  <a:srgbClr val="FFFF00"/>
                </a:solidFill>
              </a:rPr>
              <a:t>Trans</a:t>
            </a:r>
            <a:r>
              <a:rPr lang="en-US"/>
              <a:t>.</a:t>
            </a:r>
            <a:r>
              <a:rPr lang="en-US" b="1">
                <a:solidFill>
                  <a:srgbClr val="FF0000"/>
                </a:solidFill>
              </a:rPr>
              <a:t>Trans_BusDate [ </a:t>
            </a:r>
            <a:r>
              <a:rPr lang="ar-EG"/>
              <a:t>تاريخ اليومية</a:t>
            </a:r>
            <a:r>
              <a:rPr lang="en-US"/>
              <a:t> </a:t>
            </a:r>
            <a:r>
              <a:rPr lang="en-US" b="1">
                <a:solidFill>
                  <a:srgbClr val="FF0000"/>
                </a:solidFill>
              </a:rPr>
              <a:t>] </a:t>
            </a:r>
          </a:p>
        </p:txBody>
      </p:sp>
      <p:sp>
        <p:nvSpPr>
          <p:cNvPr id="3" name="Content Placeholder 2">
            <a:extLst>
              <a:ext uri="{FF2B5EF4-FFF2-40B4-BE49-F238E27FC236}">
                <a16:creationId xmlns:a16="http://schemas.microsoft.com/office/drawing/2014/main" id="{86E90942-CEE9-522B-BDB4-9C8EDF3FB9A5}"/>
              </a:ext>
            </a:extLst>
          </p:cNvPr>
          <p:cNvSpPr>
            <a:spLocks noGrp="1"/>
          </p:cNvSpPr>
          <p:nvPr>
            <p:ph idx="1"/>
          </p:nvPr>
        </p:nvSpPr>
        <p:spPr>
          <a:xfrm>
            <a:off x="308112" y="983975"/>
            <a:ext cx="11705547" cy="4807226"/>
          </a:xfrm>
        </p:spPr>
        <p:txBody>
          <a:bodyPr/>
          <a:lstStyle/>
          <a:p>
            <a:r>
              <a:rPr lang="en-US"/>
              <a:t>Trans</a:t>
            </a:r>
          </a:p>
        </p:txBody>
      </p:sp>
      <p:pic>
        <p:nvPicPr>
          <p:cNvPr id="5" name="Picture 4">
            <a:extLst>
              <a:ext uri="{FF2B5EF4-FFF2-40B4-BE49-F238E27FC236}">
                <a16:creationId xmlns:a16="http://schemas.microsoft.com/office/drawing/2014/main" id="{0D2F40EF-E3BC-1771-F69A-DA94F475A119}"/>
              </a:ext>
            </a:extLst>
          </p:cNvPr>
          <p:cNvPicPr>
            <a:picLocks noChangeAspect="1"/>
          </p:cNvPicPr>
          <p:nvPr/>
        </p:nvPicPr>
        <p:blipFill>
          <a:blip r:embed="rId2"/>
          <a:stretch>
            <a:fillRect/>
          </a:stretch>
        </p:blipFill>
        <p:spPr>
          <a:xfrm>
            <a:off x="7687349" y="626165"/>
            <a:ext cx="4326310" cy="2896124"/>
          </a:xfrm>
          <a:prstGeom prst="rect">
            <a:avLst/>
          </a:prstGeom>
        </p:spPr>
      </p:pic>
    </p:spTree>
    <p:extLst>
      <p:ext uri="{BB962C8B-B14F-4D97-AF65-F5344CB8AC3E}">
        <p14:creationId xmlns:p14="http://schemas.microsoft.com/office/powerpoint/2010/main" val="56025687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02EF-272C-634F-E677-280B413E4B0C}"/>
              </a:ext>
            </a:extLst>
          </p:cNvPr>
          <p:cNvSpPr>
            <a:spLocks noGrp="1"/>
          </p:cNvSpPr>
          <p:nvPr>
            <p:ph type="title"/>
          </p:nvPr>
        </p:nvSpPr>
        <p:spPr>
          <a:xfrm>
            <a:off x="913795" y="0"/>
            <a:ext cx="10353762" cy="688258"/>
          </a:xfrm>
        </p:spPr>
        <p:txBody>
          <a:bodyPr>
            <a:normAutofit fontScale="90000"/>
          </a:bodyPr>
          <a:lstStyle/>
          <a:p>
            <a:r>
              <a:rPr lang="en-US" b="1">
                <a:solidFill>
                  <a:srgbClr val="FFFF00"/>
                </a:solidFill>
                <a:effectLst/>
              </a:rPr>
              <a:t>TWF</a:t>
            </a:r>
            <a:r>
              <a:rPr lang="en-US" b="1">
                <a:effectLst/>
              </a:rPr>
              <a:t>.</a:t>
            </a:r>
            <a:r>
              <a:rPr lang="en-US" b="1">
                <a:solidFill>
                  <a:srgbClr val="FF0000"/>
                </a:solidFill>
                <a:effectLst/>
              </a:rPr>
              <a:t>Flow_ISCORE_Data</a:t>
            </a:r>
            <a:endParaRPr lang="en-US">
              <a:solidFill>
                <a:srgbClr val="FF0000"/>
              </a:solidFill>
            </a:endParaRPr>
          </a:p>
        </p:txBody>
      </p:sp>
      <p:sp>
        <p:nvSpPr>
          <p:cNvPr id="3" name="Content Placeholder 2">
            <a:extLst>
              <a:ext uri="{FF2B5EF4-FFF2-40B4-BE49-F238E27FC236}">
                <a16:creationId xmlns:a16="http://schemas.microsoft.com/office/drawing/2014/main" id="{C73E78E3-34C6-E811-8BA5-3DA8C61B8FD3}"/>
              </a:ext>
            </a:extLst>
          </p:cNvPr>
          <p:cNvSpPr>
            <a:spLocks noGrp="1"/>
          </p:cNvSpPr>
          <p:nvPr>
            <p:ph idx="1"/>
          </p:nvPr>
        </p:nvSpPr>
        <p:spPr>
          <a:xfrm>
            <a:off x="353961" y="688259"/>
            <a:ext cx="11503742" cy="6037006"/>
          </a:xfrm>
        </p:spPr>
        <p:txBody>
          <a:bodyPr>
            <a:normAutofit lnSpcReduction="10000"/>
          </a:bodyPr>
          <a:lstStyle/>
          <a:p>
            <a:r>
              <a:rPr lang="en-US"/>
              <a:t>int Code_FID  [PK]</a:t>
            </a:r>
          </a:p>
          <a:p>
            <a:r>
              <a:rPr lang="en-US" b="1">
                <a:effectLst/>
              </a:rPr>
              <a:t>Cust_IDNO: string // customer nationalId</a:t>
            </a:r>
          </a:p>
          <a:p>
            <a:r>
              <a:rPr lang="en-US" b="1"/>
              <a:t>Inquiry_Date: DateTime</a:t>
            </a:r>
            <a:r>
              <a:rPr lang="en-US"/>
              <a:t> // </a:t>
            </a:r>
          </a:p>
          <a:p>
            <a:r>
              <a:rPr lang="en-US" b="1">
                <a:effectLst/>
              </a:rPr>
              <a:t>Score: int   	// </a:t>
            </a:r>
            <a:r>
              <a:rPr lang="ar-EG">
                <a:effectLst/>
              </a:rPr>
              <a:t>هو رقم يعبر عن مدى التزام العميل</a:t>
            </a:r>
          </a:p>
          <a:p>
            <a:r>
              <a:rPr lang="en-US">
                <a:effectLst/>
              </a:rPr>
              <a:t>Open_credits // </a:t>
            </a:r>
            <a:r>
              <a:rPr lang="ar-EG">
                <a:effectLst/>
              </a:rPr>
              <a:t>أي عدد القروض أو البطاقات الائتمانية التي يستخدمها العميل حالياً ولم يغلقها.</a:t>
            </a:r>
            <a:endParaRPr lang="en-US">
              <a:effectLst/>
            </a:endParaRPr>
          </a:p>
          <a:p>
            <a:r>
              <a:rPr lang="en-US"/>
              <a:t>Days_Due: int </a:t>
            </a:r>
            <a:r>
              <a:rPr lang="ar-EG" sz="1800"/>
              <a:t>أيام التأخير؛ ويقصد بها عدد الأيام التي تأخر فيها العميل عن سداد الأقساط المستحقة عليه (مؤشر خطر إذا كان الرقم </a:t>
            </a:r>
            <a:r>
              <a:rPr lang="ar-EG"/>
              <a:t>كبيراً).</a:t>
            </a:r>
            <a:endParaRPr lang="en-US"/>
          </a:p>
          <a:p>
            <a:r>
              <a:rPr lang="en-US"/>
              <a:t>NO_OF_INQUIRES: </a:t>
            </a:r>
            <a:r>
              <a:rPr lang="ar-EG"/>
              <a:t>عدد الكرات التى تم فيها الاستعلام عن هذا الرقم</a:t>
            </a:r>
            <a:endParaRPr lang="en-US"/>
          </a:p>
          <a:p>
            <a:r>
              <a:rPr lang="en-US"/>
              <a:t>Request_id</a:t>
            </a:r>
          </a:p>
          <a:p>
            <a:r>
              <a:rPr lang="en-US"/>
              <a:t>REF_NO</a:t>
            </a:r>
          </a:p>
          <a:p>
            <a:r>
              <a:rPr lang="en-US"/>
              <a:t>NotFound , int : </a:t>
            </a:r>
            <a:r>
              <a:rPr lang="ar-EG"/>
              <a:t>حالة العميل</a:t>
            </a:r>
          </a:p>
          <a:p>
            <a:pPr lvl="1"/>
            <a:r>
              <a:rPr lang="en-US"/>
              <a:t>0 : </a:t>
            </a:r>
            <a:r>
              <a:rPr lang="ar-EG"/>
              <a:t>يوجد للعميل هذا بيانات فى الأيزكور</a:t>
            </a:r>
          </a:p>
          <a:p>
            <a:pPr lvl="1"/>
            <a:r>
              <a:rPr lang="en-US"/>
              <a:t>1 : </a:t>
            </a:r>
            <a:r>
              <a:rPr lang="ar-EG"/>
              <a:t>العميل هذا لا توجد له بيانات فى الايزكور لأنه لم يأخذ قروض من اى بنك او اى جهة من قبل </a:t>
            </a:r>
          </a:p>
          <a:p>
            <a:pPr lvl="1"/>
            <a:r>
              <a:rPr lang="en-US"/>
              <a:t>2 :</a:t>
            </a:r>
            <a:r>
              <a:rPr lang="ar-EG"/>
              <a:t> </a:t>
            </a:r>
            <a:r>
              <a:rPr lang="en-US"/>
              <a:t> </a:t>
            </a:r>
            <a:r>
              <a:rPr lang="ar-EG"/>
              <a:t>  يوجد مشكلة في الاتصال او اى مشكله أخرى لم تمكننى من الاستعلام عنه وبالتالي لايتم ترحيل الطلب الا اذا تم التحميل</a:t>
            </a:r>
            <a:r>
              <a:rPr lang="en-US"/>
              <a:t> </a:t>
            </a:r>
          </a:p>
          <a:p>
            <a:r>
              <a:rPr lang="en-US"/>
              <a:t>New_ISCORE</a:t>
            </a:r>
          </a:p>
          <a:p>
            <a:r>
              <a:rPr lang="en-US"/>
              <a:t>File_Code</a:t>
            </a:r>
          </a:p>
        </p:txBody>
      </p:sp>
    </p:spTree>
    <p:extLst>
      <p:ext uri="{BB962C8B-B14F-4D97-AF65-F5344CB8AC3E}">
        <p14:creationId xmlns:p14="http://schemas.microsoft.com/office/powerpoint/2010/main" val="344985806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497A2-FFAE-D9AC-77D1-7693D633169B}"/>
              </a:ext>
            </a:extLst>
          </p:cNvPr>
          <p:cNvSpPr>
            <a:spLocks noGrp="1"/>
          </p:cNvSpPr>
          <p:nvPr>
            <p:ph type="title"/>
          </p:nvPr>
        </p:nvSpPr>
        <p:spPr>
          <a:xfrm>
            <a:off x="913795" y="0"/>
            <a:ext cx="10353762" cy="713362"/>
          </a:xfrm>
        </p:spPr>
        <p:txBody>
          <a:bodyPr/>
          <a:lstStyle/>
          <a:p>
            <a:r>
              <a:rPr lang="en-US" b="1">
                <a:solidFill>
                  <a:srgbClr val="FFFF00"/>
                </a:solidFill>
              </a:rPr>
              <a:t>TWF</a:t>
            </a:r>
            <a:r>
              <a:rPr lang="en-US"/>
              <a:t>. </a:t>
            </a:r>
            <a:r>
              <a:rPr lang="en-US" b="1">
                <a:solidFill>
                  <a:srgbClr val="FF0000"/>
                </a:solidFill>
              </a:rPr>
              <a:t>Flow_Risks</a:t>
            </a:r>
          </a:p>
        </p:txBody>
      </p:sp>
      <p:sp>
        <p:nvSpPr>
          <p:cNvPr id="3" name="Content Placeholder 2">
            <a:extLst>
              <a:ext uri="{FF2B5EF4-FFF2-40B4-BE49-F238E27FC236}">
                <a16:creationId xmlns:a16="http://schemas.microsoft.com/office/drawing/2014/main" id="{DC432B2B-8018-12BE-79D4-D635FAD8512D}"/>
              </a:ext>
            </a:extLst>
          </p:cNvPr>
          <p:cNvSpPr>
            <a:spLocks noGrp="1"/>
          </p:cNvSpPr>
          <p:nvPr>
            <p:ph idx="1"/>
          </p:nvPr>
        </p:nvSpPr>
        <p:spPr>
          <a:xfrm>
            <a:off x="350196" y="713363"/>
            <a:ext cx="11682919" cy="5998722"/>
          </a:xfrm>
        </p:spPr>
        <p:txBody>
          <a:bodyPr>
            <a:normAutofit/>
          </a:bodyPr>
          <a:lstStyle/>
          <a:p>
            <a:r>
              <a:rPr lang="en-US" sz="1800"/>
              <a:t>R_code: int ,  [PK]</a:t>
            </a:r>
          </a:p>
          <a:p>
            <a:r>
              <a:rPr lang="en-US" sz="1800"/>
              <a:t>R_code_Identity: int,  [identity]</a:t>
            </a:r>
          </a:p>
          <a:p>
            <a:r>
              <a:rPr lang="en-US" sz="1800"/>
              <a:t>product_Id: int, [FK] </a:t>
            </a:r>
          </a:p>
          <a:p>
            <a:r>
              <a:rPr lang="en-US" sz="1800"/>
              <a:t>Number: int,</a:t>
            </a:r>
          </a:p>
          <a:p>
            <a:r>
              <a:rPr lang="en-US" sz="1800"/>
              <a:t>From_day: decimal</a:t>
            </a:r>
          </a:p>
          <a:p>
            <a:r>
              <a:rPr lang="en-US" sz="1800"/>
              <a:t>To_day: decimal</a:t>
            </a:r>
          </a:p>
          <a:p>
            <a:r>
              <a:rPr lang="en-US" sz="1800"/>
              <a:t>Name_AR: string</a:t>
            </a:r>
          </a:p>
          <a:p>
            <a:r>
              <a:rPr lang="en-US" sz="1800"/>
              <a:t>Name_Eng: string</a:t>
            </a:r>
          </a:p>
          <a:p>
            <a:r>
              <a:rPr lang="en-US" sz="1800"/>
              <a:t>Payment_way: int</a:t>
            </a:r>
          </a:p>
          <a:p>
            <a:r>
              <a:rPr lang="en-US" sz="1800"/>
              <a:t>Days: int</a:t>
            </a:r>
          </a:p>
          <a:p>
            <a:r>
              <a:rPr lang="en-US" sz="1800"/>
              <a:t>Ratio_risk: int</a:t>
            </a:r>
          </a:p>
        </p:txBody>
      </p:sp>
    </p:spTree>
    <p:extLst>
      <p:ext uri="{BB962C8B-B14F-4D97-AF65-F5344CB8AC3E}">
        <p14:creationId xmlns:p14="http://schemas.microsoft.com/office/powerpoint/2010/main" val="82083722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ED61C-376F-A7C9-08F6-0C7B767D2FD6}"/>
              </a:ext>
            </a:extLst>
          </p:cNvPr>
          <p:cNvSpPr>
            <a:spLocks noGrp="1"/>
          </p:cNvSpPr>
          <p:nvPr>
            <p:ph type="title"/>
          </p:nvPr>
        </p:nvSpPr>
        <p:spPr>
          <a:xfrm>
            <a:off x="913795" y="0"/>
            <a:ext cx="10353762" cy="603115"/>
          </a:xfrm>
        </p:spPr>
        <p:txBody>
          <a:bodyPr>
            <a:normAutofit fontScale="90000"/>
          </a:bodyPr>
          <a:lstStyle/>
          <a:p>
            <a:r>
              <a:rPr lang="en-US" b="1">
                <a:solidFill>
                  <a:srgbClr val="FFFF00"/>
                </a:solidFill>
              </a:rPr>
              <a:t>Security.</a:t>
            </a:r>
            <a:r>
              <a:rPr lang="en-US"/>
              <a:t> </a:t>
            </a:r>
            <a:r>
              <a:rPr lang="en-US" b="1">
                <a:solidFill>
                  <a:srgbClr val="FF0000"/>
                </a:solidFill>
              </a:rPr>
              <a:t>SEC_Access_tokens</a:t>
            </a:r>
          </a:p>
        </p:txBody>
      </p:sp>
      <p:sp>
        <p:nvSpPr>
          <p:cNvPr id="3" name="Content Placeholder 2">
            <a:extLst>
              <a:ext uri="{FF2B5EF4-FFF2-40B4-BE49-F238E27FC236}">
                <a16:creationId xmlns:a16="http://schemas.microsoft.com/office/drawing/2014/main" id="{6BBC543C-6C1F-7A11-F5D3-A371EC677E43}"/>
              </a:ext>
            </a:extLst>
          </p:cNvPr>
          <p:cNvSpPr>
            <a:spLocks noGrp="1"/>
          </p:cNvSpPr>
          <p:nvPr>
            <p:ph idx="1"/>
          </p:nvPr>
        </p:nvSpPr>
        <p:spPr>
          <a:xfrm>
            <a:off x="145915" y="603115"/>
            <a:ext cx="11828834" cy="6138153"/>
          </a:xfrm>
        </p:spPr>
        <p:txBody>
          <a:bodyPr/>
          <a:lstStyle/>
          <a:p>
            <a:r>
              <a:rPr lang="en-US"/>
              <a:t>string Token </a:t>
            </a:r>
            <a:r>
              <a:rPr lang="en-US" b="1">
                <a:solidFill>
                  <a:srgbClr val="FFFF00"/>
                </a:solidFill>
              </a:rPr>
              <a:t>[PK]</a:t>
            </a:r>
          </a:p>
          <a:p>
            <a:r>
              <a:rPr lang="en-US"/>
              <a:t>int UserId </a:t>
            </a:r>
            <a:r>
              <a:rPr lang="en-US" b="1">
                <a:solidFill>
                  <a:srgbClr val="FFFF00"/>
                </a:solidFill>
              </a:rPr>
              <a:t>[FK]</a:t>
            </a:r>
            <a:endParaRPr lang="en-US"/>
          </a:p>
          <a:p>
            <a:r>
              <a:rPr lang="en-US"/>
              <a:t>Virtual User User</a:t>
            </a:r>
            <a:endParaRPr lang="en-US" b="1">
              <a:solidFill>
                <a:srgbClr val="FFFF00"/>
              </a:solidFill>
            </a:endParaRPr>
          </a:p>
        </p:txBody>
      </p:sp>
      <p:pic>
        <p:nvPicPr>
          <p:cNvPr id="5" name="Picture 4">
            <a:extLst>
              <a:ext uri="{FF2B5EF4-FFF2-40B4-BE49-F238E27FC236}">
                <a16:creationId xmlns:a16="http://schemas.microsoft.com/office/drawing/2014/main" id="{BF26DA70-7F36-0A78-66D2-D9DB99232805}"/>
              </a:ext>
            </a:extLst>
          </p:cNvPr>
          <p:cNvPicPr>
            <a:picLocks noChangeAspect="1"/>
          </p:cNvPicPr>
          <p:nvPr/>
        </p:nvPicPr>
        <p:blipFill>
          <a:blip r:embed="rId2"/>
          <a:stretch>
            <a:fillRect/>
          </a:stretch>
        </p:blipFill>
        <p:spPr>
          <a:xfrm>
            <a:off x="7118640" y="603115"/>
            <a:ext cx="4502513" cy="1483897"/>
          </a:xfrm>
          <a:prstGeom prst="rect">
            <a:avLst/>
          </a:prstGeom>
        </p:spPr>
      </p:pic>
    </p:spTree>
    <p:extLst>
      <p:ext uri="{BB962C8B-B14F-4D97-AF65-F5344CB8AC3E}">
        <p14:creationId xmlns:p14="http://schemas.microsoft.com/office/powerpoint/2010/main" val="140770208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9A69E-06CE-97FD-204E-1EAB56654B9A}"/>
              </a:ext>
            </a:extLst>
          </p:cNvPr>
          <p:cNvSpPr>
            <a:spLocks noGrp="1"/>
          </p:cNvSpPr>
          <p:nvPr>
            <p:ph type="title"/>
          </p:nvPr>
        </p:nvSpPr>
        <p:spPr>
          <a:xfrm>
            <a:off x="795808" y="0"/>
            <a:ext cx="10353762" cy="530942"/>
          </a:xfrm>
        </p:spPr>
        <p:txBody>
          <a:bodyPr>
            <a:normAutofit fontScale="90000"/>
          </a:bodyPr>
          <a:lstStyle/>
          <a:p>
            <a:r>
              <a:rPr lang="en-US" b="1" err="1">
                <a:solidFill>
                  <a:srgbClr val="FF0000"/>
                </a:solidFill>
              </a:rPr>
              <a:t>BranchGovernRegion</a:t>
            </a:r>
            <a:r>
              <a:rPr lang="en-US" b="1">
                <a:solidFill>
                  <a:srgbClr val="FF0000"/>
                </a:solidFill>
              </a:rPr>
              <a:t> VM</a:t>
            </a:r>
          </a:p>
        </p:txBody>
      </p:sp>
      <p:sp>
        <p:nvSpPr>
          <p:cNvPr id="3" name="Content Placeholder 2">
            <a:extLst>
              <a:ext uri="{FF2B5EF4-FFF2-40B4-BE49-F238E27FC236}">
                <a16:creationId xmlns:a16="http://schemas.microsoft.com/office/drawing/2014/main" id="{8C64C52F-88D2-D45B-14B5-1C9472A1F8DB}"/>
              </a:ext>
            </a:extLst>
          </p:cNvPr>
          <p:cNvSpPr>
            <a:spLocks noGrp="1"/>
          </p:cNvSpPr>
          <p:nvPr>
            <p:ph idx="1"/>
          </p:nvPr>
        </p:nvSpPr>
        <p:spPr>
          <a:xfrm>
            <a:off x="353960" y="530943"/>
            <a:ext cx="11533239" cy="6135328"/>
          </a:xfrm>
        </p:spPr>
        <p:txBody>
          <a:bodyPr>
            <a:normAutofit/>
          </a:bodyPr>
          <a:lstStyle/>
          <a:p>
            <a:r>
              <a:rPr lang="en-US" sz="1800"/>
              <a:t>BranchId     		// From Table branch</a:t>
            </a:r>
          </a:p>
          <a:p>
            <a:r>
              <a:rPr lang="en-US" sz="1800" err="1"/>
              <a:t>Branch_code</a:t>
            </a:r>
            <a:r>
              <a:rPr lang="en-US" sz="1800"/>
              <a:t>		// From Table branch</a:t>
            </a:r>
          </a:p>
          <a:p>
            <a:r>
              <a:rPr lang="en-US" sz="1800" err="1"/>
              <a:t>ExterNum</a:t>
            </a:r>
            <a:r>
              <a:rPr lang="en-US" sz="1800"/>
              <a:t>		// From Table branch</a:t>
            </a:r>
          </a:p>
          <a:p>
            <a:endParaRPr lang="en-US" sz="1800"/>
          </a:p>
        </p:txBody>
      </p:sp>
    </p:spTree>
    <p:extLst>
      <p:ext uri="{BB962C8B-B14F-4D97-AF65-F5344CB8AC3E}">
        <p14:creationId xmlns:p14="http://schemas.microsoft.com/office/powerpoint/2010/main" val="16783160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FE32-DD82-CBD6-386F-93F17B98F119}"/>
              </a:ext>
            </a:extLst>
          </p:cNvPr>
          <p:cNvSpPr>
            <a:spLocks noGrp="1"/>
          </p:cNvSpPr>
          <p:nvPr>
            <p:ph type="title"/>
          </p:nvPr>
        </p:nvSpPr>
        <p:spPr>
          <a:xfrm>
            <a:off x="913795" y="0"/>
            <a:ext cx="10353762" cy="530942"/>
          </a:xfrm>
        </p:spPr>
        <p:txBody>
          <a:bodyPr>
            <a:normAutofit fontScale="90000"/>
          </a:bodyPr>
          <a:lstStyle/>
          <a:p>
            <a:r>
              <a:rPr lang="en-US"/>
              <a:t>Amounts of Funding request</a:t>
            </a:r>
          </a:p>
        </p:txBody>
      </p:sp>
      <p:sp>
        <p:nvSpPr>
          <p:cNvPr id="3" name="Content Placeholder 2">
            <a:extLst>
              <a:ext uri="{FF2B5EF4-FFF2-40B4-BE49-F238E27FC236}">
                <a16:creationId xmlns:a16="http://schemas.microsoft.com/office/drawing/2014/main" id="{D1726BCA-1DA4-81E2-3DF2-D1E1CF687B83}"/>
              </a:ext>
            </a:extLst>
          </p:cNvPr>
          <p:cNvSpPr>
            <a:spLocks noGrp="1"/>
          </p:cNvSpPr>
          <p:nvPr>
            <p:ph idx="1"/>
          </p:nvPr>
        </p:nvSpPr>
        <p:spPr>
          <a:xfrm>
            <a:off x="108156" y="530942"/>
            <a:ext cx="11779044" cy="6056671"/>
          </a:xfrm>
        </p:spPr>
        <p:txBody>
          <a:bodyPr/>
          <a:lstStyle/>
          <a:p>
            <a:pPr algn="r" rtl="1"/>
            <a:r>
              <a:rPr lang="en-US" b="1">
                <a:solidFill>
                  <a:srgbClr val="FF0000"/>
                </a:solidFill>
                <a:effectLst/>
              </a:rPr>
              <a:t>Required_amount</a:t>
            </a:r>
            <a:r>
              <a:rPr lang="ar-EG" b="1">
                <a:solidFill>
                  <a:srgbClr val="FF0000"/>
                </a:solidFill>
                <a:effectLst/>
              </a:rPr>
              <a:t> </a:t>
            </a:r>
            <a:r>
              <a:rPr lang="ar-EG">
                <a:effectLst/>
              </a:rPr>
              <a:t>: المبلغ الذي كتبه العميل في "نموذج الطلب" بناءً على احتياجه الشخصي.</a:t>
            </a:r>
          </a:p>
          <a:p>
            <a:pPr algn="r" rtl="1"/>
            <a:r>
              <a:rPr lang="en-US" b="1">
                <a:solidFill>
                  <a:srgbClr val="FF0000"/>
                </a:solidFill>
                <a:effectLst/>
              </a:rPr>
              <a:t>Financing_amount</a:t>
            </a:r>
            <a:r>
              <a:rPr lang="ar-EG">
                <a:effectLst/>
              </a:rPr>
              <a:t> : قيمة التمويل بعد التعلية</a:t>
            </a:r>
          </a:p>
          <a:p>
            <a:pPr algn="r" rtl="1"/>
            <a:r>
              <a:rPr lang="en-US" b="1">
                <a:solidFill>
                  <a:srgbClr val="FF0000"/>
                </a:solidFill>
                <a:effectLst/>
              </a:rPr>
              <a:t>Actual_financing</a:t>
            </a:r>
            <a:r>
              <a:rPr lang="ar-EG" b="1">
                <a:solidFill>
                  <a:srgbClr val="FF0000"/>
                </a:solidFill>
                <a:effectLst/>
              </a:rPr>
              <a:t> </a:t>
            </a:r>
            <a:r>
              <a:rPr lang="ar-EG">
                <a:effectLst/>
              </a:rPr>
              <a:t>: المبلغ الصافى الذى خرج من الخزينة وذهب للعميل</a:t>
            </a:r>
            <a:endParaRPr lang="en-US">
              <a:effectLst/>
            </a:endParaRPr>
          </a:p>
          <a:p>
            <a:pPr algn="r" rtl="1"/>
            <a:r>
              <a:rPr lang="en-US" b="1">
                <a:solidFill>
                  <a:srgbClr val="FF0000"/>
                </a:solidFill>
              </a:rPr>
              <a:t>COM_RAT</a:t>
            </a:r>
            <a:r>
              <a:rPr lang="ar-EG"/>
              <a:t> : </a:t>
            </a:r>
            <a:r>
              <a:rPr lang="ar-EG">
                <a:effectLst/>
              </a:rPr>
              <a:t>عمولة المنح و</a:t>
            </a:r>
            <a:r>
              <a:rPr lang="ar-EG"/>
              <a:t>هي مبلغ مقطوع للمصاريف الادارية </a:t>
            </a:r>
            <a:endParaRPr lang="en-US">
              <a:effectLst/>
            </a:endParaRPr>
          </a:p>
          <a:p>
            <a:pPr algn="r" rtl="1"/>
            <a:r>
              <a:rPr lang="en-US" b="1">
                <a:solidFill>
                  <a:srgbClr val="FF0000"/>
                </a:solidFill>
                <a:effectLst/>
              </a:rPr>
              <a:t>DEBT_VALUE</a:t>
            </a:r>
            <a:r>
              <a:rPr lang="en-US">
                <a:effectLst/>
              </a:rPr>
              <a:t> </a:t>
            </a:r>
            <a:r>
              <a:rPr lang="ar-EG">
                <a:effectLst/>
              </a:rPr>
              <a:t>: قيمة المديونية (أصل القرض + الفوائد + عمولة المنح). وهي قيمة متناقصة تقل مع كل عملية سداد يقوم بها العميل.</a:t>
            </a:r>
            <a:endParaRPr lang="en-US">
              <a:effectLst/>
            </a:endParaRPr>
          </a:p>
          <a:p>
            <a:pPr algn="r" rtl="1"/>
            <a:r>
              <a:rPr lang="en-US" b="1">
                <a:solidFill>
                  <a:srgbClr val="FF0000"/>
                </a:solidFill>
                <a:effectLst/>
              </a:rPr>
              <a:t>APP_FEE</a:t>
            </a:r>
            <a:r>
              <a:rPr lang="ar-EG" b="1">
                <a:solidFill>
                  <a:srgbClr val="FF0000"/>
                </a:solidFill>
                <a:effectLst/>
              </a:rPr>
              <a:t> </a:t>
            </a:r>
            <a:r>
              <a:rPr lang="ar-EG">
                <a:effectLst/>
              </a:rPr>
              <a:t>: رسوم إدارية ثابتة تُدفع نقداً عند تقديم الورق، وغالباً لا تُسترد حتى لو رُفض الطلب</a:t>
            </a:r>
            <a:endParaRPr lang="ar-EG"/>
          </a:p>
          <a:p>
            <a:pPr algn="r" rtl="1"/>
            <a:r>
              <a:rPr lang="en-US"/>
              <a:t> </a:t>
            </a:r>
            <a:r>
              <a:rPr lang="en-US" b="1">
                <a:solidFill>
                  <a:srgbClr val="FF0000"/>
                </a:solidFill>
              </a:rPr>
              <a:t>PRIMIUM_VALUE </a:t>
            </a:r>
            <a:r>
              <a:rPr lang="ar-EG"/>
              <a:t>: مبلغ القسط </a:t>
            </a:r>
          </a:p>
          <a:p>
            <a:pPr algn="r" rtl="1"/>
            <a:r>
              <a:rPr lang="en-US" b="1">
                <a:solidFill>
                  <a:srgbClr val="FF0000"/>
                </a:solidFill>
              </a:rPr>
              <a:t>Rate</a:t>
            </a:r>
            <a:r>
              <a:rPr lang="ar-EG"/>
              <a:t> : سعر الفائدة الذي سيتم تطبيقه على مبلغ التمويل</a:t>
            </a:r>
          </a:p>
          <a:p>
            <a:pPr algn="r" rtl="1"/>
            <a:r>
              <a:rPr lang="en-US" b="1" err="1">
                <a:solidFill>
                  <a:srgbClr val="FF0000"/>
                </a:solidFill>
              </a:rPr>
              <a:t>Approve_Value</a:t>
            </a:r>
            <a:r>
              <a:rPr lang="ar-EG" b="1">
                <a:solidFill>
                  <a:srgbClr val="FF0000"/>
                </a:solidFill>
              </a:rPr>
              <a:t> </a:t>
            </a:r>
            <a:r>
              <a:rPr lang="ar-EG"/>
              <a:t>: </a:t>
            </a:r>
          </a:p>
          <a:p>
            <a:pPr algn="r" rtl="1"/>
            <a:r>
              <a:rPr lang="en-US"/>
              <a:t> </a:t>
            </a:r>
            <a:r>
              <a:rPr lang="en-US" b="1" err="1">
                <a:solidFill>
                  <a:srgbClr val="FF0000"/>
                </a:solidFill>
              </a:rPr>
              <a:t>Approved_Amount</a:t>
            </a:r>
            <a:r>
              <a:rPr lang="ar-EG"/>
              <a:t>: </a:t>
            </a:r>
          </a:p>
          <a:p>
            <a:pPr algn="r" rtl="1"/>
            <a:r>
              <a:rPr lang="en-US" b="1" err="1">
                <a:solidFill>
                  <a:srgbClr val="FF0000"/>
                </a:solidFill>
              </a:rPr>
              <a:t>Total_Amount</a:t>
            </a:r>
            <a:r>
              <a:rPr lang="ar-EG" b="1">
                <a:solidFill>
                  <a:srgbClr val="FF0000"/>
                </a:solidFill>
              </a:rPr>
              <a:t> </a:t>
            </a:r>
            <a:r>
              <a:rPr lang="ar-EG"/>
              <a:t>:</a:t>
            </a:r>
          </a:p>
          <a:p>
            <a:pPr algn="r" rtl="1"/>
            <a:r>
              <a:rPr lang="en-US" b="1" err="1">
                <a:solidFill>
                  <a:srgbClr val="FF0000"/>
                </a:solidFill>
              </a:rPr>
              <a:t>PenaltyAmount</a:t>
            </a:r>
            <a:r>
              <a:rPr lang="ar-EG"/>
              <a:t> : إجمالى الغرامات </a:t>
            </a:r>
          </a:p>
          <a:p>
            <a:pPr algn="r" rtl="1"/>
            <a:r>
              <a:rPr lang="ar-EG"/>
              <a:t>  </a:t>
            </a:r>
            <a:endParaRPr lang="en-US"/>
          </a:p>
        </p:txBody>
      </p:sp>
    </p:spTree>
    <p:extLst>
      <p:ext uri="{BB962C8B-B14F-4D97-AF65-F5344CB8AC3E}">
        <p14:creationId xmlns:p14="http://schemas.microsoft.com/office/powerpoint/2010/main" val="426384076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A5E12-8432-92CF-A8BC-5AC20707DA1D}"/>
              </a:ext>
            </a:extLst>
          </p:cNvPr>
          <p:cNvSpPr>
            <a:spLocks noGrp="1"/>
          </p:cNvSpPr>
          <p:nvPr>
            <p:ph type="title"/>
          </p:nvPr>
        </p:nvSpPr>
        <p:spPr>
          <a:xfrm>
            <a:off x="913795" y="0"/>
            <a:ext cx="10353762" cy="511277"/>
          </a:xfrm>
        </p:spPr>
        <p:txBody>
          <a:bodyPr>
            <a:normAutofit fontScale="90000"/>
          </a:bodyPr>
          <a:lstStyle/>
          <a:p>
            <a:r>
              <a:rPr lang="en-US" sz="3600" b="1"/>
              <a:t>Jobs</a:t>
            </a:r>
          </a:p>
        </p:txBody>
      </p:sp>
      <p:sp>
        <p:nvSpPr>
          <p:cNvPr id="3" name="Content Placeholder 2">
            <a:extLst>
              <a:ext uri="{FF2B5EF4-FFF2-40B4-BE49-F238E27FC236}">
                <a16:creationId xmlns:a16="http://schemas.microsoft.com/office/drawing/2014/main" id="{36881377-3BA7-64BF-2C6C-7C38762A6F09}"/>
              </a:ext>
            </a:extLst>
          </p:cNvPr>
          <p:cNvSpPr>
            <a:spLocks noGrp="1"/>
          </p:cNvSpPr>
          <p:nvPr>
            <p:ph idx="1"/>
          </p:nvPr>
        </p:nvSpPr>
        <p:spPr>
          <a:xfrm>
            <a:off x="422787" y="511277"/>
            <a:ext cx="11444748" cy="6154994"/>
          </a:xfrm>
        </p:spPr>
        <p:txBody>
          <a:bodyPr/>
          <a:lstStyle/>
          <a:p>
            <a:endParaRPr lang="en-US"/>
          </a:p>
          <a:p>
            <a:endParaRPr lang="en-US"/>
          </a:p>
          <a:p>
            <a:endParaRPr lang="en-US"/>
          </a:p>
          <a:p>
            <a:endParaRPr lang="en-US"/>
          </a:p>
          <a:p>
            <a:endParaRPr lang="en-US"/>
          </a:p>
          <a:p>
            <a:endParaRPr lang="en-US"/>
          </a:p>
          <a:p>
            <a:r>
              <a:rPr lang="en-US"/>
              <a:t>Loan officer login: 10100 , P@ssw0rd </a:t>
            </a:r>
          </a:p>
          <a:p>
            <a:endParaRPr lang="en-US"/>
          </a:p>
        </p:txBody>
      </p:sp>
      <p:graphicFrame>
        <p:nvGraphicFramePr>
          <p:cNvPr id="4" name="Table 3">
            <a:extLst>
              <a:ext uri="{FF2B5EF4-FFF2-40B4-BE49-F238E27FC236}">
                <a16:creationId xmlns:a16="http://schemas.microsoft.com/office/drawing/2014/main" id="{0F150A59-3F97-6127-7928-0F075A6A3BF7}"/>
              </a:ext>
            </a:extLst>
          </p:cNvPr>
          <p:cNvGraphicFramePr>
            <a:graphicFrameLocks noGrp="1"/>
          </p:cNvGraphicFramePr>
          <p:nvPr>
            <p:extLst>
              <p:ext uri="{D42A27DB-BD31-4B8C-83A1-F6EECF244321}">
                <p14:modId xmlns:p14="http://schemas.microsoft.com/office/powerpoint/2010/main" val="978963200"/>
              </p:ext>
            </p:extLst>
          </p:nvPr>
        </p:nvGraphicFramePr>
        <p:xfrm>
          <a:off x="586658" y="1022554"/>
          <a:ext cx="8127999" cy="1854200"/>
        </p:xfrm>
        <a:graphic>
          <a:graphicData uri="http://schemas.openxmlformats.org/drawingml/2006/table">
            <a:tbl>
              <a:tblPr firstRow="1" bandRow="1">
                <a:tableStyleId>{5C22544A-7EE6-4342-B048-85BDC9FD1C3A}</a:tableStyleId>
              </a:tblPr>
              <a:tblGrid>
                <a:gridCol w="4329471">
                  <a:extLst>
                    <a:ext uri="{9D8B030D-6E8A-4147-A177-3AD203B41FA5}">
                      <a16:colId xmlns:a16="http://schemas.microsoft.com/office/drawing/2014/main" val="3086131423"/>
                    </a:ext>
                  </a:extLst>
                </a:gridCol>
                <a:gridCol w="2015613">
                  <a:extLst>
                    <a:ext uri="{9D8B030D-6E8A-4147-A177-3AD203B41FA5}">
                      <a16:colId xmlns:a16="http://schemas.microsoft.com/office/drawing/2014/main" val="317690790"/>
                    </a:ext>
                  </a:extLst>
                </a:gridCol>
                <a:gridCol w="1782915">
                  <a:extLst>
                    <a:ext uri="{9D8B030D-6E8A-4147-A177-3AD203B41FA5}">
                      <a16:colId xmlns:a16="http://schemas.microsoft.com/office/drawing/2014/main" val="3599473225"/>
                    </a:ext>
                  </a:extLst>
                </a:gridCol>
              </a:tblGrid>
              <a:tr h="370840">
                <a:tc>
                  <a:txBody>
                    <a:bodyPr/>
                    <a:lstStyle/>
                    <a:p>
                      <a:r>
                        <a:rPr lang="en-US" err="1"/>
                        <a:t>JobName</a:t>
                      </a:r>
                      <a:endParaRPr lang="en-US"/>
                    </a:p>
                  </a:txBody>
                  <a:tcPr/>
                </a:tc>
                <a:tc>
                  <a:txBody>
                    <a:bodyPr/>
                    <a:lstStyle/>
                    <a:p>
                      <a:r>
                        <a:rPr lang="en-US"/>
                        <a:t>Job Id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Job Code</a:t>
                      </a:r>
                    </a:p>
                  </a:txBody>
                  <a:tcPr/>
                </a:tc>
                <a:extLst>
                  <a:ext uri="{0D108BD9-81ED-4DB2-BD59-A6C34878D82A}">
                    <a16:rowId xmlns:a16="http://schemas.microsoft.com/office/drawing/2014/main" val="59362486"/>
                  </a:ext>
                </a:extLst>
              </a:tr>
              <a:tr h="370840">
                <a:tc>
                  <a:txBody>
                    <a:bodyPr/>
                    <a:lstStyle/>
                    <a:p>
                      <a:r>
                        <a:rPr lang="en-US"/>
                        <a:t>Loan officer (LO) </a:t>
                      </a:r>
                      <a:r>
                        <a:rPr lang="ar-EG"/>
                        <a:t>مسؤول تمويل</a:t>
                      </a:r>
                      <a:endParaRPr lang="en-US"/>
                    </a:p>
                  </a:txBody>
                  <a:tcPr/>
                </a:tc>
                <a:tc>
                  <a:txBody>
                    <a:bodyPr/>
                    <a:lstStyle/>
                    <a:p>
                      <a:r>
                        <a:rPr lang="en-US"/>
                        <a:t>10</a:t>
                      </a:r>
                    </a:p>
                  </a:txBody>
                  <a:tcPr/>
                </a:tc>
                <a:tc>
                  <a:txBody>
                    <a:bodyPr/>
                    <a:lstStyle/>
                    <a:p>
                      <a:r>
                        <a:rPr lang="en-US"/>
                        <a:t>0</a:t>
                      </a:r>
                    </a:p>
                  </a:txBody>
                  <a:tcPr/>
                </a:tc>
                <a:extLst>
                  <a:ext uri="{0D108BD9-81ED-4DB2-BD59-A6C34878D82A}">
                    <a16:rowId xmlns:a16="http://schemas.microsoft.com/office/drawing/2014/main" val="2991341697"/>
                  </a:ext>
                </a:extLst>
              </a:tr>
              <a:tr h="370840">
                <a:tc>
                  <a:txBody>
                    <a:bodyPr/>
                    <a:lstStyle/>
                    <a:p>
                      <a:r>
                        <a:rPr lang="en-US"/>
                        <a:t>Branch Manager </a:t>
                      </a:r>
                      <a:r>
                        <a:rPr lang="ar-EG"/>
                        <a:t>مدير فرع</a:t>
                      </a:r>
                      <a:endParaRPr lang="en-US"/>
                    </a:p>
                  </a:txBody>
                  <a:tcPr/>
                </a:tc>
                <a:tc>
                  <a:txBody>
                    <a:bodyPr/>
                    <a:lstStyle/>
                    <a:p>
                      <a:r>
                        <a:rPr lang="en-US"/>
                        <a:t>13</a:t>
                      </a:r>
                    </a:p>
                  </a:txBody>
                  <a:tcPr/>
                </a:tc>
                <a:tc>
                  <a:txBody>
                    <a:bodyPr/>
                    <a:lstStyle/>
                    <a:p>
                      <a:r>
                        <a:rPr lang="en-US"/>
                        <a:t>3</a:t>
                      </a:r>
                    </a:p>
                  </a:txBody>
                  <a:tcPr/>
                </a:tc>
                <a:extLst>
                  <a:ext uri="{0D108BD9-81ED-4DB2-BD59-A6C34878D82A}">
                    <a16:rowId xmlns:a16="http://schemas.microsoft.com/office/drawing/2014/main" val="3437649632"/>
                  </a:ext>
                </a:extLst>
              </a:tr>
              <a:tr h="370840">
                <a:tc>
                  <a:txBody>
                    <a:bodyPr/>
                    <a:lstStyle/>
                    <a:p>
                      <a:r>
                        <a:rPr lang="en-US"/>
                        <a:t>Teller (money man) </a:t>
                      </a:r>
                      <a:r>
                        <a:rPr lang="ar-EG"/>
                        <a:t>صراف</a:t>
                      </a:r>
                      <a:endParaRPr lang="en-US"/>
                    </a:p>
                  </a:txBody>
                  <a:tcPr/>
                </a:tc>
                <a:tc>
                  <a:txBody>
                    <a:bodyPr/>
                    <a:lstStyle/>
                    <a:p>
                      <a:r>
                        <a:rPr lang="en-US"/>
                        <a:t>12</a:t>
                      </a:r>
                    </a:p>
                  </a:txBody>
                  <a:tcPr/>
                </a:tc>
                <a:tc>
                  <a:txBody>
                    <a:bodyPr/>
                    <a:lstStyle/>
                    <a:p>
                      <a:r>
                        <a:rPr lang="ar-EG"/>
                        <a:t>2</a:t>
                      </a:r>
                      <a:endParaRPr lang="en-US"/>
                    </a:p>
                  </a:txBody>
                  <a:tcPr/>
                </a:tc>
                <a:extLst>
                  <a:ext uri="{0D108BD9-81ED-4DB2-BD59-A6C34878D82A}">
                    <a16:rowId xmlns:a16="http://schemas.microsoft.com/office/drawing/2014/main" val="4123986371"/>
                  </a:ext>
                </a:extLst>
              </a:tr>
              <a:tr h="370840">
                <a:tc>
                  <a:txBody>
                    <a:bodyPr/>
                    <a:lstStyle/>
                    <a:p>
                      <a:r>
                        <a:rPr lang="en-US"/>
                        <a:t>CO</a:t>
                      </a:r>
                    </a:p>
                  </a:txBody>
                  <a:tcPr/>
                </a:tc>
                <a:tc>
                  <a:txBody>
                    <a:bodyPr/>
                    <a:lstStyle/>
                    <a:p>
                      <a:r>
                        <a:rPr lang="en-US"/>
                        <a:t>1</a:t>
                      </a:r>
                    </a:p>
                  </a:txBody>
                  <a:tcPr/>
                </a:tc>
                <a:tc>
                  <a:txBody>
                    <a:bodyPr/>
                    <a:lstStyle/>
                    <a:p>
                      <a:r>
                        <a:rPr lang="en-US"/>
                        <a:t>1</a:t>
                      </a:r>
                    </a:p>
                  </a:txBody>
                  <a:tcPr/>
                </a:tc>
                <a:extLst>
                  <a:ext uri="{0D108BD9-81ED-4DB2-BD59-A6C34878D82A}">
                    <a16:rowId xmlns:a16="http://schemas.microsoft.com/office/drawing/2014/main" val="1665867047"/>
                  </a:ext>
                </a:extLst>
              </a:tr>
            </a:tbl>
          </a:graphicData>
        </a:graphic>
      </p:graphicFrame>
    </p:spTree>
    <p:extLst>
      <p:ext uri="{BB962C8B-B14F-4D97-AF65-F5344CB8AC3E}">
        <p14:creationId xmlns:p14="http://schemas.microsoft.com/office/powerpoint/2010/main" val="77567510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2D7C44-A13E-6833-7D6F-1BAB07BEC642}"/>
              </a:ext>
            </a:extLst>
          </p:cNvPr>
          <p:cNvSpPr>
            <a:spLocks noGrp="1"/>
          </p:cNvSpPr>
          <p:nvPr>
            <p:ph type="title"/>
          </p:nvPr>
        </p:nvSpPr>
        <p:spPr>
          <a:xfrm>
            <a:off x="834282" y="0"/>
            <a:ext cx="10353762" cy="642730"/>
          </a:xfrm>
        </p:spPr>
        <p:txBody>
          <a:bodyPr>
            <a:normAutofit fontScale="90000"/>
          </a:bodyPr>
          <a:lstStyle/>
          <a:p>
            <a:r>
              <a:rPr lang="en-US" b="1"/>
              <a:t>When CO reject the FundingRequest</a:t>
            </a:r>
          </a:p>
        </p:txBody>
      </p:sp>
      <p:sp>
        <p:nvSpPr>
          <p:cNvPr id="3" name="Content Placeholder 2">
            <a:extLst>
              <a:ext uri="{FF2B5EF4-FFF2-40B4-BE49-F238E27FC236}">
                <a16:creationId xmlns:a16="http://schemas.microsoft.com/office/drawing/2014/main" id="{4284F2B7-37DF-CFDD-2EEF-4ACC0B3D094B}"/>
              </a:ext>
            </a:extLst>
          </p:cNvPr>
          <p:cNvSpPr>
            <a:spLocks noGrp="1"/>
          </p:cNvSpPr>
          <p:nvPr>
            <p:ph idx="1"/>
          </p:nvPr>
        </p:nvSpPr>
        <p:spPr>
          <a:xfrm>
            <a:off x="198783" y="642730"/>
            <a:ext cx="11068774" cy="5877339"/>
          </a:xfrm>
        </p:spPr>
        <p:txBody>
          <a:bodyPr/>
          <a:lstStyle/>
          <a:p>
            <a:r>
              <a:rPr lang="en-US"/>
              <a:t>TDWF.Flow_Request_Deportation</a:t>
            </a:r>
          </a:p>
          <a:p>
            <a:pPr lvl="1"/>
            <a:endParaRPr lang="en-US"/>
          </a:p>
          <a:p>
            <a:endParaRPr lang="en-US"/>
          </a:p>
        </p:txBody>
      </p:sp>
    </p:spTree>
    <p:extLst>
      <p:ext uri="{BB962C8B-B14F-4D97-AF65-F5344CB8AC3E}">
        <p14:creationId xmlns:p14="http://schemas.microsoft.com/office/powerpoint/2010/main" val="408570386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2C3EEF-AB22-5FAD-E7FB-766816AE7007}"/>
              </a:ext>
            </a:extLst>
          </p:cNvPr>
          <p:cNvSpPr>
            <a:spLocks noGrp="1"/>
          </p:cNvSpPr>
          <p:nvPr>
            <p:ph type="title"/>
          </p:nvPr>
        </p:nvSpPr>
        <p:spPr>
          <a:xfrm>
            <a:off x="913795" y="0"/>
            <a:ext cx="10353762" cy="737419"/>
          </a:xfrm>
        </p:spPr>
        <p:txBody>
          <a:bodyPr/>
          <a:lstStyle/>
          <a:p>
            <a:r>
              <a:rPr lang="en-US" b="1"/>
              <a:t>Front Places</a:t>
            </a:r>
          </a:p>
        </p:txBody>
      </p:sp>
      <p:sp>
        <p:nvSpPr>
          <p:cNvPr id="3" name="Content Placeholder 2">
            <a:extLst>
              <a:ext uri="{FF2B5EF4-FFF2-40B4-BE49-F238E27FC236}">
                <a16:creationId xmlns:a16="http://schemas.microsoft.com/office/drawing/2014/main" id="{3A6C8A89-D75F-3D76-3338-8061FC380E18}"/>
              </a:ext>
            </a:extLst>
          </p:cNvPr>
          <p:cNvSpPr>
            <a:spLocks noGrp="1"/>
          </p:cNvSpPr>
          <p:nvPr>
            <p:ph idx="1"/>
          </p:nvPr>
        </p:nvSpPr>
        <p:spPr>
          <a:xfrm>
            <a:off x="294968" y="737419"/>
            <a:ext cx="11700387" cy="5958349"/>
          </a:xfrm>
        </p:spPr>
        <p:txBody>
          <a:bodyPr/>
          <a:lstStyle/>
          <a:p>
            <a:r>
              <a:rPr lang="en-US"/>
              <a:t>app\Modules\Transaction\funding\</a:t>
            </a:r>
            <a:r>
              <a:rPr lang="en-US" b="1">
                <a:solidFill>
                  <a:srgbClr val="FFFF00"/>
                </a:solidFill>
              </a:rPr>
              <a:t>funding.component.ts</a:t>
            </a:r>
          </a:p>
          <a:p>
            <a:endParaRPr lang="en-US"/>
          </a:p>
        </p:txBody>
      </p:sp>
    </p:spTree>
    <p:extLst>
      <p:ext uri="{BB962C8B-B14F-4D97-AF65-F5344CB8AC3E}">
        <p14:creationId xmlns:p14="http://schemas.microsoft.com/office/powerpoint/2010/main" val="28069313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099F25-69DD-0B59-E12E-FF349DBC35DE}"/>
              </a:ext>
            </a:extLst>
          </p:cNvPr>
          <p:cNvSpPr>
            <a:spLocks noGrp="1"/>
          </p:cNvSpPr>
          <p:nvPr>
            <p:ph type="title"/>
          </p:nvPr>
        </p:nvSpPr>
        <p:spPr/>
        <p:txBody>
          <a:bodyPr/>
          <a:lstStyle/>
          <a:p>
            <a:r>
              <a:rPr lang="en-US"/>
              <a:t>Places</a:t>
            </a:r>
          </a:p>
        </p:txBody>
      </p:sp>
      <p:sp>
        <p:nvSpPr>
          <p:cNvPr id="3" name="Content Placeholder 2">
            <a:extLst>
              <a:ext uri="{FF2B5EF4-FFF2-40B4-BE49-F238E27FC236}">
                <a16:creationId xmlns:a16="http://schemas.microsoft.com/office/drawing/2014/main" id="{BE834885-BB5E-ED54-5976-BF14D866F797}"/>
              </a:ext>
            </a:extLst>
          </p:cNvPr>
          <p:cNvSpPr>
            <a:spLocks noGrp="1"/>
          </p:cNvSpPr>
          <p:nvPr>
            <p:ph idx="1"/>
          </p:nvPr>
        </p:nvSpPr>
        <p:spPr/>
        <p:txBody>
          <a:bodyPr/>
          <a:lstStyle/>
          <a:p>
            <a:r>
              <a:rPr lang="en-US"/>
              <a:t>_Flow_Rejections_mainService.GetAllRejectionFieldsByRequest_id(Request_id)</a:t>
            </a:r>
          </a:p>
          <a:p>
            <a:endParaRPr lang="en-US"/>
          </a:p>
        </p:txBody>
      </p:sp>
    </p:spTree>
    <p:extLst>
      <p:ext uri="{BB962C8B-B14F-4D97-AF65-F5344CB8AC3E}">
        <p14:creationId xmlns:p14="http://schemas.microsoft.com/office/powerpoint/2010/main" val="320439395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BB69CF-0430-C72F-E158-7D4576E1893D}"/>
              </a:ext>
            </a:extLst>
          </p:cNvPr>
          <p:cNvSpPr>
            <a:spLocks noGrp="1"/>
          </p:cNvSpPr>
          <p:nvPr>
            <p:ph type="title"/>
          </p:nvPr>
        </p:nvSpPr>
        <p:spPr>
          <a:xfrm>
            <a:off x="913795" y="46654"/>
            <a:ext cx="10353762" cy="659024"/>
          </a:xfrm>
        </p:spPr>
        <p:txBody>
          <a:bodyPr>
            <a:normAutofit fontScale="90000"/>
          </a:bodyPr>
          <a:lstStyle/>
          <a:p>
            <a:r>
              <a:rPr lang="en-US" b="1"/>
              <a:t>Micro Login Sequence</a:t>
            </a:r>
          </a:p>
        </p:txBody>
      </p:sp>
      <p:sp>
        <p:nvSpPr>
          <p:cNvPr id="3" name="Content Placeholder 2">
            <a:extLst>
              <a:ext uri="{FF2B5EF4-FFF2-40B4-BE49-F238E27FC236}">
                <a16:creationId xmlns:a16="http://schemas.microsoft.com/office/drawing/2014/main" id="{A7E639F0-DFFB-8A01-6FC5-695433537E24}"/>
              </a:ext>
            </a:extLst>
          </p:cNvPr>
          <p:cNvSpPr>
            <a:spLocks noGrp="1"/>
          </p:cNvSpPr>
          <p:nvPr>
            <p:ph idx="1"/>
          </p:nvPr>
        </p:nvSpPr>
        <p:spPr>
          <a:xfrm>
            <a:off x="258417" y="705678"/>
            <a:ext cx="11009140" cy="6033051"/>
          </a:xfrm>
        </p:spPr>
        <p:txBody>
          <a:bodyPr/>
          <a:lstStyle/>
          <a:p>
            <a:endParaRPr lang="en-US"/>
          </a:p>
          <a:p>
            <a:endParaRPr lang="en-US"/>
          </a:p>
          <a:p>
            <a:endParaRPr lang="en-US"/>
          </a:p>
          <a:p>
            <a:r>
              <a:rPr lang="en-US"/>
              <a:t>Then go to loginService</a:t>
            </a:r>
          </a:p>
          <a:p>
            <a:endParaRPr lang="en-US"/>
          </a:p>
        </p:txBody>
      </p:sp>
      <p:pic>
        <p:nvPicPr>
          <p:cNvPr id="7" name="Picture 6">
            <a:extLst>
              <a:ext uri="{FF2B5EF4-FFF2-40B4-BE49-F238E27FC236}">
                <a16:creationId xmlns:a16="http://schemas.microsoft.com/office/drawing/2014/main" id="{9949445F-5D8F-6554-A6F3-73F4D9DADB18}"/>
              </a:ext>
            </a:extLst>
          </p:cNvPr>
          <p:cNvPicPr>
            <a:picLocks noChangeAspect="1"/>
          </p:cNvPicPr>
          <p:nvPr/>
        </p:nvPicPr>
        <p:blipFill>
          <a:blip r:embed="rId2"/>
          <a:stretch>
            <a:fillRect/>
          </a:stretch>
        </p:blipFill>
        <p:spPr>
          <a:xfrm>
            <a:off x="195592" y="799824"/>
            <a:ext cx="5895084" cy="1129756"/>
          </a:xfrm>
          <a:prstGeom prst="rect">
            <a:avLst/>
          </a:prstGeom>
        </p:spPr>
      </p:pic>
      <p:pic>
        <p:nvPicPr>
          <p:cNvPr id="9" name="Picture 8">
            <a:extLst>
              <a:ext uri="{FF2B5EF4-FFF2-40B4-BE49-F238E27FC236}">
                <a16:creationId xmlns:a16="http://schemas.microsoft.com/office/drawing/2014/main" id="{7D96E95C-6FD8-AD7C-7E21-F0E9E7B05C9D}"/>
              </a:ext>
            </a:extLst>
          </p:cNvPr>
          <p:cNvPicPr>
            <a:picLocks noChangeAspect="1"/>
          </p:cNvPicPr>
          <p:nvPr/>
        </p:nvPicPr>
        <p:blipFill>
          <a:blip r:embed="rId3"/>
          <a:stretch>
            <a:fillRect/>
          </a:stretch>
        </p:blipFill>
        <p:spPr>
          <a:xfrm>
            <a:off x="3450237" y="2023726"/>
            <a:ext cx="4669377" cy="352850"/>
          </a:xfrm>
          <a:prstGeom prst="rect">
            <a:avLst/>
          </a:prstGeom>
        </p:spPr>
      </p:pic>
    </p:spTree>
    <p:extLst>
      <p:ext uri="{BB962C8B-B14F-4D97-AF65-F5344CB8AC3E}">
        <p14:creationId xmlns:p14="http://schemas.microsoft.com/office/powerpoint/2010/main" val="18429463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C1E88-436E-358B-0172-0873ADFF98D4}"/>
              </a:ext>
            </a:extLst>
          </p:cNvPr>
          <p:cNvSpPr>
            <a:spLocks noGrp="1"/>
          </p:cNvSpPr>
          <p:nvPr>
            <p:ph type="title"/>
          </p:nvPr>
        </p:nvSpPr>
        <p:spPr>
          <a:xfrm>
            <a:off x="344129" y="2104103"/>
            <a:ext cx="11503742" cy="1445342"/>
          </a:xfrm>
        </p:spPr>
        <p:txBody>
          <a:bodyPr>
            <a:normAutofit/>
          </a:bodyPr>
          <a:lstStyle/>
          <a:p>
            <a:r>
              <a:rPr lang="en-US" sz="5400" b="1">
                <a:solidFill>
                  <a:srgbClr val="FF0000"/>
                </a:solidFill>
              </a:rPr>
              <a:t>View Models</a:t>
            </a:r>
          </a:p>
        </p:txBody>
      </p:sp>
    </p:spTree>
    <p:extLst>
      <p:ext uri="{BB962C8B-B14F-4D97-AF65-F5344CB8AC3E}">
        <p14:creationId xmlns:p14="http://schemas.microsoft.com/office/powerpoint/2010/main" val="3193152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F2869F-AEE9-B9E1-894D-0E5F9A4F135E}"/>
              </a:ext>
            </a:extLst>
          </p:cNvPr>
          <p:cNvSpPr>
            <a:spLocks noGrp="1"/>
          </p:cNvSpPr>
          <p:nvPr>
            <p:ph type="title"/>
          </p:nvPr>
        </p:nvSpPr>
        <p:spPr>
          <a:xfrm>
            <a:off x="913795" y="0"/>
            <a:ext cx="10353762" cy="616085"/>
          </a:xfrm>
        </p:spPr>
        <p:txBody>
          <a:bodyPr>
            <a:normAutofit fontScale="90000"/>
          </a:bodyPr>
          <a:lstStyle/>
          <a:p>
            <a:r>
              <a:rPr lang="en-US" b="1">
                <a:solidFill>
                  <a:srgbClr val="00B0F0"/>
                </a:solidFill>
              </a:rPr>
              <a:t>FundingData</a:t>
            </a:r>
          </a:p>
        </p:txBody>
      </p:sp>
      <p:sp>
        <p:nvSpPr>
          <p:cNvPr id="3" name="Content Placeholder 2">
            <a:extLst>
              <a:ext uri="{FF2B5EF4-FFF2-40B4-BE49-F238E27FC236}">
                <a16:creationId xmlns:a16="http://schemas.microsoft.com/office/drawing/2014/main" id="{F35E5826-09F5-EDF6-ED1F-949D33282C40}"/>
              </a:ext>
            </a:extLst>
          </p:cNvPr>
          <p:cNvSpPr>
            <a:spLocks noGrp="1"/>
          </p:cNvSpPr>
          <p:nvPr>
            <p:ph idx="1"/>
          </p:nvPr>
        </p:nvSpPr>
        <p:spPr>
          <a:xfrm>
            <a:off x="107004" y="616085"/>
            <a:ext cx="11160553" cy="6086272"/>
          </a:xfrm>
        </p:spPr>
        <p:txBody>
          <a:bodyPr numCol="2"/>
          <a:lstStyle/>
          <a:p>
            <a:r>
              <a:rPr lang="en-US"/>
              <a:t>decimal </a:t>
            </a:r>
            <a:r>
              <a:rPr lang="en-US" b="1">
                <a:solidFill>
                  <a:srgbClr val="00B050"/>
                </a:solidFill>
              </a:rPr>
              <a:t>Request_id</a:t>
            </a:r>
          </a:p>
          <a:p>
            <a:r>
              <a:rPr lang="en-US"/>
              <a:t>DateTime </a:t>
            </a:r>
            <a:r>
              <a:rPr lang="en-US" b="1">
                <a:solidFill>
                  <a:srgbClr val="00B050"/>
                </a:solidFill>
              </a:rPr>
              <a:t>Date_creation_request</a:t>
            </a:r>
          </a:p>
          <a:p>
            <a:r>
              <a:rPr lang="en-US"/>
              <a:t>string </a:t>
            </a:r>
            <a:r>
              <a:rPr lang="en-US" b="1">
                <a:solidFill>
                  <a:srgbClr val="00B050"/>
                </a:solidFill>
              </a:rPr>
              <a:t>Name_step_to</a:t>
            </a:r>
          </a:p>
          <a:p>
            <a:r>
              <a:rPr lang="en-US"/>
              <a:t>string </a:t>
            </a:r>
            <a:r>
              <a:rPr lang="en-US" b="1">
                <a:solidFill>
                  <a:srgbClr val="00B050"/>
                </a:solidFill>
              </a:rPr>
              <a:t>Status_two</a:t>
            </a:r>
          </a:p>
          <a:p>
            <a:r>
              <a:rPr lang="en-US"/>
              <a:t>int </a:t>
            </a:r>
            <a:r>
              <a:rPr lang="en-US" b="1">
                <a:solidFill>
                  <a:srgbClr val="00B050"/>
                </a:solidFill>
              </a:rPr>
              <a:t>product_Id</a:t>
            </a:r>
          </a:p>
          <a:p>
            <a:r>
              <a:rPr lang="en-US"/>
              <a:t>string </a:t>
            </a:r>
            <a:r>
              <a:rPr lang="en-US" b="1">
                <a:solidFill>
                  <a:srgbClr val="00B050"/>
                </a:solidFill>
              </a:rPr>
              <a:t>product_name_AR</a:t>
            </a:r>
          </a:p>
          <a:p>
            <a:r>
              <a:rPr lang="en-US"/>
              <a:t>string </a:t>
            </a:r>
            <a:r>
              <a:rPr lang="en-US" b="1">
                <a:solidFill>
                  <a:srgbClr val="00B050"/>
                </a:solidFill>
              </a:rPr>
              <a:t>product_name_Eng</a:t>
            </a:r>
          </a:p>
          <a:p>
            <a:r>
              <a:rPr lang="en-US"/>
              <a:t>decimal </a:t>
            </a:r>
            <a:r>
              <a:rPr lang="en-US" b="1">
                <a:solidFill>
                  <a:srgbClr val="00B050"/>
                </a:solidFill>
              </a:rPr>
              <a:t>Customer_ID_C</a:t>
            </a:r>
          </a:p>
          <a:p>
            <a:r>
              <a:rPr lang="en-US"/>
              <a:t>string</a:t>
            </a:r>
            <a:r>
              <a:rPr lang="en-US" b="1">
                <a:solidFill>
                  <a:srgbClr val="00B050"/>
                </a:solidFill>
              </a:rPr>
              <a:t> CustomerFullName</a:t>
            </a:r>
          </a:p>
          <a:p>
            <a:r>
              <a:rPr lang="en-US"/>
              <a:t>decimal </a:t>
            </a:r>
            <a:r>
              <a:rPr lang="en-US" b="1">
                <a:solidFill>
                  <a:srgbClr val="00B050"/>
                </a:solidFill>
              </a:rPr>
              <a:t>CustomerQID</a:t>
            </a:r>
          </a:p>
          <a:p>
            <a:r>
              <a:rPr lang="en-US"/>
              <a:t>string </a:t>
            </a:r>
            <a:r>
              <a:rPr lang="en-US" b="1">
                <a:solidFill>
                  <a:srgbClr val="00B050"/>
                </a:solidFill>
              </a:rPr>
              <a:t>Enterprise_ID</a:t>
            </a:r>
          </a:p>
          <a:p>
            <a:r>
              <a:rPr lang="en-US"/>
              <a:t>string </a:t>
            </a:r>
            <a:r>
              <a:rPr lang="en-US" b="1">
                <a:solidFill>
                  <a:srgbClr val="00B050"/>
                </a:solidFill>
              </a:rPr>
              <a:t>Brand_name</a:t>
            </a:r>
          </a:p>
          <a:p>
            <a:r>
              <a:rPr lang="en-US" b="1"/>
              <a:t>int?</a:t>
            </a:r>
            <a:r>
              <a:rPr lang="en-US" b="1">
                <a:solidFill>
                  <a:srgbClr val="00B050"/>
                </a:solidFill>
              </a:rPr>
              <a:t> UserId_from</a:t>
            </a:r>
          </a:p>
          <a:p>
            <a:r>
              <a:rPr lang="en-US" b="1">
                <a:solidFill>
                  <a:srgbClr val="00B050"/>
                </a:solidFill>
              </a:rPr>
              <a:t>UserfromNameAR</a:t>
            </a:r>
          </a:p>
          <a:p>
            <a:r>
              <a:rPr lang="en-US" b="1">
                <a:solidFill>
                  <a:srgbClr val="00B050"/>
                </a:solidFill>
              </a:rPr>
              <a:t>UserfromNameEng</a:t>
            </a:r>
          </a:p>
          <a:p>
            <a:r>
              <a:rPr lang="en-US"/>
              <a:t>List&lt;</a:t>
            </a:r>
            <a:r>
              <a:rPr lang="en-US" b="1">
                <a:solidFill>
                  <a:srgbClr val="00B0F0"/>
                </a:solidFill>
              </a:rPr>
              <a:t>GuarVM</a:t>
            </a:r>
            <a:r>
              <a:rPr lang="en-US"/>
              <a:t>&gt; </a:t>
            </a:r>
            <a:r>
              <a:rPr lang="en-US" b="1">
                <a:solidFill>
                  <a:srgbClr val="00B050"/>
                </a:solidFill>
              </a:rPr>
              <a:t>Guaranters</a:t>
            </a:r>
          </a:p>
          <a:p>
            <a:pPr lvl="1"/>
            <a:r>
              <a:rPr lang="en-US" sz="1600"/>
              <a:t>decimal Guaranter_ID</a:t>
            </a:r>
          </a:p>
          <a:p>
            <a:pPr lvl="1"/>
            <a:r>
              <a:rPr lang="en-US" sz="1600"/>
              <a:t>string GuaranterQID</a:t>
            </a:r>
          </a:p>
          <a:p>
            <a:pPr lvl="1"/>
            <a:r>
              <a:rPr lang="en-US" sz="1600"/>
              <a:t>string GuaranterName</a:t>
            </a:r>
          </a:p>
          <a:p>
            <a:pPr lvl="1"/>
            <a:r>
              <a:rPr lang="en-US" sz="1600"/>
              <a:t>int Serial</a:t>
            </a:r>
          </a:p>
          <a:p>
            <a:pPr lvl="1"/>
            <a:r>
              <a:rPr lang="en-US" sz="1600"/>
              <a:t>int code_relation</a:t>
            </a:r>
          </a:p>
          <a:p>
            <a:r>
              <a:rPr lang="en-US" b="1">
                <a:solidFill>
                  <a:srgbClr val="00B050"/>
                </a:solidFill>
              </a:rPr>
              <a:t>BranchId</a:t>
            </a:r>
          </a:p>
          <a:p>
            <a:r>
              <a:rPr lang="en-US" b="1">
                <a:solidFill>
                  <a:schemeClr val="tx1"/>
                </a:solidFill>
              </a:rPr>
              <a:t>DateTime?</a:t>
            </a:r>
            <a:r>
              <a:rPr lang="en-US" b="1">
                <a:solidFill>
                  <a:srgbClr val="00B050"/>
                </a:solidFill>
              </a:rPr>
              <a:t> Date_Assigned</a:t>
            </a:r>
          </a:p>
        </p:txBody>
      </p:sp>
    </p:spTree>
    <p:extLst>
      <p:ext uri="{BB962C8B-B14F-4D97-AF65-F5344CB8AC3E}">
        <p14:creationId xmlns:p14="http://schemas.microsoft.com/office/powerpoint/2010/main" val="161767399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46355-124E-3796-C27E-50B1FEE9ADD5}"/>
              </a:ext>
            </a:extLst>
          </p:cNvPr>
          <p:cNvSpPr>
            <a:spLocks noGrp="1"/>
          </p:cNvSpPr>
          <p:nvPr>
            <p:ph type="title"/>
          </p:nvPr>
        </p:nvSpPr>
        <p:spPr>
          <a:xfrm>
            <a:off x="913795" y="0"/>
            <a:ext cx="10353762" cy="688258"/>
          </a:xfrm>
        </p:spPr>
        <p:txBody>
          <a:bodyPr>
            <a:normAutofit fontScale="90000"/>
          </a:bodyPr>
          <a:lstStyle/>
          <a:p>
            <a:r>
              <a:rPr lang="en-US" b="1">
                <a:solidFill>
                  <a:srgbClr val="FF0000"/>
                </a:solidFill>
              </a:rPr>
              <a:t>ProdVM</a:t>
            </a:r>
          </a:p>
        </p:txBody>
      </p:sp>
      <p:sp>
        <p:nvSpPr>
          <p:cNvPr id="3" name="Content Placeholder 2">
            <a:extLst>
              <a:ext uri="{FF2B5EF4-FFF2-40B4-BE49-F238E27FC236}">
                <a16:creationId xmlns:a16="http://schemas.microsoft.com/office/drawing/2014/main" id="{E2533BB6-2BA2-1C59-7D9D-054CC9AB8FB7}"/>
              </a:ext>
            </a:extLst>
          </p:cNvPr>
          <p:cNvSpPr>
            <a:spLocks noGrp="1"/>
          </p:cNvSpPr>
          <p:nvPr>
            <p:ph idx="1"/>
          </p:nvPr>
        </p:nvSpPr>
        <p:spPr>
          <a:xfrm>
            <a:off x="363794" y="688257"/>
            <a:ext cx="11602064" cy="5928853"/>
          </a:xfrm>
        </p:spPr>
        <p:txBody>
          <a:bodyPr>
            <a:normAutofit/>
          </a:bodyPr>
          <a:lstStyle/>
          <a:p>
            <a:pPr marL="36900" indent="0">
              <a:buNone/>
            </a:pPr>
            <a:r>
              <a:rPr lang="en-US"/>
              <a:t>public class ProdVM {</a:t>
            </a:r>
          </a:p>
          <a:p>
            <a:pPr marL="36900" indent="0">
              <a:buNone/>
            </a:pPr>
            <a:r>
              <a:rPr lang="en-US"/>
              <a:t>        public </a:t>
            </a:r>
            <a:r>
              <a:rPr lang="en-US">
                <a:solidFill>
                  <a:srgbClr val="00B0F0"/>
                </a:solidFill>
              </a:rPr>
              <a:t>IQueryable</a:t>
            </a:r>
            <a:r>
              <a:rPr lang="en-US"/>
              <a:t>&lt;Flow_branch_product&gt; </a:t>
            </a:r>
            <a:r>
              <a:rPr lang="en-US" b="1">
                <a:solidFill>
                  <a:srgbClr val="FFFF00"/>
                </a:solidFill>
              </a:rPr>
              <a:t>BranchProduct</a:t>
            </a:r>
            <a:r>
              <a:rPr lang="en-US"/>
              <a:t> { get; set; }</a:t>
            </a:r>
          </a:p>
          <a:p>
            <a:pPr marL="36900" indent="0">
              <a:buNone/>
            </a:pPr>
            <a:r>
              <a:rPr lang="en-US"/>
              <a:t>        public </a:t>
            </a:r>
            <a:r>
              <a:rPr lang="en-US">
                <a:solidFill>
                  <a:srgbClr val="00B0F0"/>
                </a:solidFill>
              </a:rPr>
              <a:t>IQueryable</a:t>
            </a:r>
            <a:r>
              <a:rPr lang="en-US"/>
              <a:t>&lt;Flow_Products&gt; </a:t>
            </a:r>
            <a:r>
              <a:rPr lang="en-US" b="1">
                <a:solidFill>
                  <a:srgbClr val="FFFF00"/>
                </a:solidFill>
              </a:rPr>
              <a:t>Products</a:t>
            </a:r>
            <a:r>
              <a:rPr lang="en-US"/>
              <a:t> { get; set; }</a:t>
            </a:r>
          </a:p>
          <a:p>
            <a:pPr marL="36900" indent="0">
              <a:buNone/>
            </a:pPr>
            <a:r>
              <a:rPr lang="en-US"/>
              <a:t>        public </a:t>
            </a:r>
            <a:r>
              <a:rPr lang="en-US">
                <a:solidFill>
                  <a:srgbClr val="00B0F0"/>
                </a:solidFill>
              </a:rPr>
              <a:t>IQueryable</a:t>
            </a:r>
            <a:r>
              <a:rPr lang="en-US"/>
              <a:t>&lt;Flow_Emp_Product&gt; </a:t>
            </a:r>
            <a:r>
              <a:rPr lang="en-US" b="1">
                <a:solidFill>
                  <a:srgbClr val="FFFF00"/>
                </a:solidFill>
              </a:rPr>
              <a:t>EmpProduct</a:t>
            </a:r>
            <a:r>
              <a:rPr lang="en-US"/>
              <a:t> { get; set; }</a:t>
            </a:r>
          </a:p>
          <a:p>
            <a:pPr marL="36900" indent="0">
              <a:buNone/>
            </a:pPr>
            <a:r>
              <a:rPr lang="en-US"/>
              <a:t>}</a:t>
            </a:r>
          </a:p>
          <a:p>
            <a:pPr marL="36900" indent="0">
              <a:buNone/>
            </a:pPr>
            <a:r>
              <a:rPr lang="en-US"/>
              <a:t>public class FundindPageLoadVM  {</a:t>
            </a:r>
          </a:p>
          <a:p>
            <a:pPr marL="36900" indent="0">
              <a:buNone/>
            </a:pPr>
            <a:r>
              <a:rPr lang="en-US"/>
              <a:t>	public IQueryable&lt;Flow_Purpose_loan&gt; </a:t>
            </a:r>
            <a:r>
              <a:rPr lang="en-US" b="1">
                <a:solidFill>
                  <a:srgbClr val="FFFF00"/>
                </a:solidFill>
              </a:rPr>
              <a:t>Purpose_loan </a:t>
            </a:r>
            <a:r>
              <a:rPr lang="en-US"/>
              <a:t>{ get; set; }</a:t>
            </a:r>
          </a:p>
          <a:p>
            <a:pPr marL="36900" indent="0">
              <a:buNone/>
            </a:pPr>
            <a:r>
              <a:rPr lang="en-US"/>
              <a:t>      	public IQueryable&lt;Flow_Relationships&gt; </a:t>
            </a:r>
            <a:r>
              <a:rPr lang="en-US" b="1">
                <a:solidFill>
                  <a:srgbClr val="FFFF00"/>
                </a:solidFill>
              </a:rPr>
              <a:t>Relationships</a:t>
            </a:r>
            <a:r>
              <a:rPr lang="en-US"/>
              <a:t> { get; set; }</a:t>
            </a:r>
          </a:p>
          <a:p>
            <a:pPr marL="36900" indent="0">
              <a:buNone/>
            </a:pPr>
            <a:r>
              <a:rPr lang="en-US"/>
              <a:t>      	public IQueryable&lt;Flow_Exempted_Products&gt; </a:t>
            </a:r>
            <a:r>
              <a:rPr lang="en-US" b="1">
                <a:solidFill>
                  <a:srgbClr val="FFFF00"/>
                </a:solidFill>
              </a:rPr>
              <a:t>flow_exempted_products</a:t>
            </a:r>
            <a:r>
              <a:rPr lang="en-US"/>
              <a:t> { get; set; }     </a:t>
            </a:r>
          </a:p>
          <a:p>
            <a:pPr marL="36900" indent="0">
              <a:buNone/>
            </a:pPr>
            <a:r>
              <a:rPr lang="en-US"/>
              <a:t>	public decimal </a:t>
            </a:r>
            <a:r>
              <a:rPr lang="en-US" b="1">
                <a:solidFill>
                  <a:srgbClr val="FFFF00"/>
                </a:solidFill>
              </a:rPr>
              <a:t>Approximation</a:t>
            </a:r>
            <a:r>
              <a:rPr lang="en-US"/>
              <a:t> { get; set; }</a:t>
            </a:r>
          </a:p>
          <a:p>
            <a:pPr marL="36900" indent="0">
              <a:buNone/>
            </a:pPr>
            <a:r>
              <a:rPr lang="en-US"/>
              <a:t>       public decimal </a:t>
            </a:r>
            <a:r>
              <a:rPr lang="en-US" b="1">
                <a:solidFill>
                  <a:srgbClr val="FFFF00"/>
                </a:solidFill>
              </a:rPr>
              <a:t>FinanceAmount_Approximation</a:t>
            </a:r>
            <a:r>
              <a:rPr lang="en-US"/>
              <a:t> { get; set; }</a:t>
            </a:r>
          </a:p>
          <a:p>
            <a:pPr marL="36900" indent="0">
              <a:buNone/>
            </a:pPr>
            <a:r>
              <a:rPr lang="en-US"/>
              <a:t>	public ProdVM </a:t>
            </a:r>
            <a:r>
              <a:rPr lang="en-US" b="1">
                <a:solidFill>
                  <a:srgbClr val="FFFF00"/>
                </a:solidFill>
              </a:rPr>
              <a:t>ProdVM</a:t>
            </a:r>
            <a:r>
              <a:rPr lang="en-US"/>
              <a:t> { get; set; }</a:t>
            </a:r>
          </a:p>
          <a:p>
            <a:pPr marL="36900" indent="0">
              <a:buNone/>
            </a:pPr>
            <a:r>
              <a:rPr lang="en-US"/>
              <a:t>}</a:t>
            </a:r>
          </a:p>
        </p:txBody>
      </p:sp>
    </p:spTree>
    <p:extLst>
      <p:ext uri="{BB962C8B-B14F-4D97-AF65-F5344CB8AC3E}">
        <p14:creationId xmlns:p14="http://schemas.microsoft.com/office/powerpoint/2010/main" val="81114362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0B4D8-7F7B-C582-0D5B-818D3EBCB3C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BEBDDC3-EAEC-EFFC-2A0C-7E22E2707850}"/>
              </a:ext>
            </a:extLst>
          </p:cNvPr>
          <p:cNvSpPr>
            <a:spLocks noGrp="1"/>
          </p:cNvSpPr>
          <p:nvPr>
            <p:ph idx="1"/>
          </p:nvPr>
        </p:nvSpPr>
        <p:spPr>
          <a:xfrm>
            <a:off x="913795" y="1732449"/>
            <a:ext cx="10353762" cy="4982983"/>
          </a:xfrm>
        </p:spPr>
        <p:txBody>
          <a:bodyPr>
            <a:normAutofit fontScale="92500" lnSpcReduction="20000"/>
          </a:bodyPr>
          <a:lstStyle/>
          <a:p>
            <a:pPr marL="36900" indent="0">
              <a:buNone/>
            </a:pPr>
            <a:r>
              <a:rPr lang="en-US"/>
              <a:t>public class </a:t>
            </a:r>
            <a:r>
              <a:rPr lang="en-US" b="1">
                <a:solidFill>
                  <a:srgbClr val="00B0F0"/>
                </a:solidFill>
              </a:rPr>
              <a:t>FundingVM</a:t>
            </a:r>
          </a:p>
          <a:p>
            <a:pPr marL="36900" indent="0">
              <a:buNone/>
            </a:pPr>
            <a:r>
              <a:rPr lang="en-US"/>
              <a:t>    {</a:t>
            </a:r>
          </a:p>
          <a:p>
            <a:pPr marL="36900" indent="0">
              <a:buNone/>
            </a:pPr>
            <a:r>
              <a:rPr lang="en-US"/>
              <a:t>        public Flow_Funding_request Funding_request { get; set; }</a:t>
            </a:r>
          </a:p>
          <a:p>
            <a:pPr marL="36900" indent="0">
              <a:buNone/>
            </a:pPr>
            <a:r>
              <a:rPr lang="en-US"/>
              <a:t>        public IQueryable&lt;JoinMandatoryDocAndTypeDocuments&gt; Documents { get; set; }</a:t>
            </a:r>
          </a:p>
          <a:p>
            <a:pPr marL="36900" indent="0">
              <a:buNone/>
            </a:pPr>
            <a:r>
              <a:rPr lang="en-US"/>
              <a:t>        public IQueryable&lt;Flow_Rejections_mainVM&gt; Comments { get; set; }</a:t>
            </a:r>
          </a:p>
          <a:p>
            <a:pPr marL="36900" indent="0">
              <a:buNone/>
            </a:pPr>
            <a:r>
              <a:rPr lang="en-US"/>
              <a:t>        public IQueryable&lt;Flow_Rejections_mainFieldVM&gt; RejectedFields { get; set; }</a:t>
            </a:r>
          </a:p>
          <a:p>
            <a:pPr marL="36900" indent="0">
              <a:buNone/>
            </a:pPr>
            <a:r>
              <a:rPr lang="en-US"/>
              <a:t>        public IQueryable&lt;GuarVM&gt; Guaranters { get; set; }</a:t>
            </a:r>
          </a:p>
          <a:p>
            <a:pPr marL="36900" indent="0">
              <a:buNone/>
            </a:pPr>
            <a:r>
              <a:rPr lang="en-US"/>
              <a:t>        //public Flow_Enterprises Flow_Enterprise { get; set; }</a:t>
            </a:r>
          </a:p>
          <a:p>
            <a:pPr marL="36900" indent="0">
              <a:buNone/>
            </a:pPr>
            <a:r>
              <a:rPr lang="en-US"/>
              <a:t>        public IEnumerable&lt;Product_destinationVM&gt; Flow_Product_destinations { get; set; }</a:t>
            </a:r>
          </a:p>
          <a:p>
            <a:pPr marL="36900" indent="0">
              <a:buNone/>
            </a:pPr>
            <a:r>
              <a:rPr lang="en-US"/>
              <a:t>        public IQueryable&lt;Cheque_InformationDTO&gt; cheque_Information { get; set; }</a:t>
            </a:r>
          </a:p>
          <a:p>
            <a:pPr marL="36900" indent="0">
              <a:buNone/>
            </a:pPr>
            <a:r>
              <a:rPr lang="en-US"/>
              <a:t>        public int Flag { get; set; }</a:t>
            </a:r>
          </a:p>
          <a:p>
            <a:pPr marL="36900" indent="0">
              <a:buNone/>
            </a:pPr>
            <a:endParaRPr lang="en-US"/>
          </a:p>
          <a:p>
            <a:pPr marL="36900" indent="0">
              <a:buNone/>
            </a:pPr>
            <a:r>
              <a:rPr lang="en-US"/>
              <a:t>    }</a:t>
            </a:r>
          </a:p>
        </p:txBody>
      </p:sp>
    </p:spTree>
    <p:extLst>
      <p:ext uri="{BB962C8B-B14F-4D97-AF65-F5344CB8AC3E}">
        <p14:creationId xmlns:p14="http://schemas.microsoft.com/office/powerpoint/2010/main" val="171357832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79AA4-7A27-F7BB-18CC-807B27549E5F}"/>
              </a:ext>
            </a:extLst>
          </p:cNvPr>
          <p:cNvSpPr>
            <a:spLocks noGrp="1"/>
          </p:cNvSpPr>
          <p:nvPr>
            <p:ph type="title"/>
          </p:nvPr>
        </p:nvSpPr>
        <p:spPr>
          <a:xfrm>
            <a:off x="992453" y="0"/>
            <a:ext cx="10353762" cy="570271"/>
          </a:xfrm>
        </p:spPr>
        <p:txBody>
          <a:bodyPr>
            <a:normAutofit fontScale="90000"/>
          </a:bodyPr>
          <a:lstStyle/>
          <a:p>
            <a:r>
              <a:rPr lang="en-US" b="1">
                <a:solidFill>
                  <a:srgbClr val="00B0F0"/>
                </a:solidFill>
              </a:rPr>
              <a:t>TransactionVM</a:t>
            </a:r>
          </a:p>
        </p:txBody>
      </p:sp>
      <p:pic>
        <p:nvPicPr>
          <p:cNvPr id="5" name="Content Placeholder 4">
            <a:extLst>
              <a:ext uri="{FF2B5EF4-FFF2-40B4-BE49-F238E27FC236}">
                <a16:creationId xmlns:a16="http://schemas.microsoft.com/office/drawing/2014/main" id="{551D13E4-7622-8C7C-0DCB-AF259538F592}"/>
              </a:ext>
            </a:extLst>
          </p:cNvPr>
          <p:cNvPicPr>
            <a:picLocks noGrp="1" noChangeAspect="1"/>
          </p:cNvPicPr>
          <p:nvPr>
            <p:ph idx="1"/>
          </p:nvPr>
        </p:nvPicPr>
        <p:blipFill>
          <a:blip r:embed="rId2"/>
          <a:stretch>
            <a:fillRect/>
          </a:stretch>
        </p:blipFill>
        <p:spPr>
          <a:xfrm>
            <a:off x="167951" y="570271"/>
            <a:ext cx="3342165" cy="200359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B2000730-5033-72F2-C16F-B5D5DFF5876B}"/>
              </a:ext>
            </a:extLst>
          </p:cNvPr>
          <p:cNvPicPr>
            <a:picLocks noChangeAspect="1"/>
          </p:cNvPicPr>
          <p:nvPr/>
        </p:nvPicPr>
        <p:blipFill>
          <a:blip r:embed="rId3"/>
          <a:stretch>
            <a:fillRect/>
          </a:stretch>
        </p:blipFill>
        <p:spPr>
          <a:xfrm>
            <a:off x="167950" y="2682469"/>
            <a:ext cx="6055263" cy="3605260"/>
          </a:xfrm>
          <a:prstGeom prst="rect">
            <a:avLst/>
          </a:prstGeom>
        </p:spPr>
      </p:pic>
    </p:spTree>
    <p:extLst>
      <p:ext uri="{BB962C8B-B14F-4D97-AF65-F5344CB8AC3E}">
        <p14:creationId xmlns:p14="http://schemas.microsoft.com/office/powerpoint/2010/main" val="404946789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1E26FB-A5E8-3CCA-EA68-AC697347FD56}"/>
              </a:ext>
            </a:extLst>
          </p:cNvPr>
          <p:cNvSpPr>
            <a:spLocks noGrp="1"/>
          </p:cNvSpPr>
          <p:nvPr>
            <p:ph type="title"/>
          </p:nvPr>
        </p:nvSpPr>
        <p:spPr>
          <a:xfrm>
            <a:off x="835137" y="0"/>
            <a:ext cx="10353762" cy="970450"/>
          </a:xfrm>
        </p:spPr>
        <p:txBody>
          <a:bodyPr/>
          <a:lstStyle/>
          <a:p>
            <a:r>
              <a:rPr lang="en-US"/>
              <a:t>LoginVM</a:t>
            </a:r>
          </a:p>
        </p:txBody>
      </p:sp>
      <p:sp>
        <p:nvSpPr>
          <p:cNvPr id="3" name="Content Placeholder 2">
            <a:extLst>
              <a:ext uri="{FF2B5EF4-FFF2-40B4-BE49-F238E27FC236}">
                <a16:creationId xmlns:a16="http://schemas.microsoft.com/office/drawing/2014/main" id="{B5F1CE3E-8FBA-4720-E027-74C182BEE6B6}"/>
              </a:ext>
            </a:extLst>
          </p:cNvPr>
          <p:cNvSpPr>
            <a:spLocks noGrp="1"/>
          </p:cNvSpPr>
          <p:nvPr>
            <p:ph idx="1"/>
          </p:nvPr>
        </p:nvSpPr>
        <p:spPr>
          <a:xfrm>
            <a:off x="324464" y="970450"/>
            <a:ext cx="11631561" cy="5794143"/>
          </a:xfrm>
        </p:spPr>
        <p:txBody>
          <a:bodyPr>
            <a:normAutofit/>
          </a:bodyPr>
          <a:lstStyle/>
          <a:p>
            <a:r>
              <a:rPr lang="en-US" sz="1600">
                <a:effectLst/>
              </a:rPr>
              <a:t>UserId</a:t>
            </a:r>
          </a:p>
          <a:p>
            <a:r>
              <a:rPr lang="en-US" sz="1600">
                <a:effectLst/>
              </a:rPr>
              <a:t>UserNameAR</a:t>
            </a:r>
          </a:p>
          <a:p>
            <a:r>
              <a:rPr lang="en-US" sz="1600">
                <a:effectLst/>
              </a:rPr>
              <a:t>UserNameEng</a:t>
            </a:r>
          </a:p>
          <a:p>
            <a:r>
              <a:rPr lang="en-US" sz="1600">
                <a:effectLst/>
              </a:rPr>
              <a:t>BranchNameAR</a:t>
            </a:r>
          </a:p>
          <a:p>
            <a:r>
              <a:rPr lang="en-US" sz="1600">
                <a:effectLst/>
              </a:rPr>
              <a:t>BranchNameEN</a:t>
            </a:r>
          </a:p>
          <a:p>
            <a:r>
              <a:rPr lang="en-US" sz="1600">
                <a:effectLst/>
              </a:rPr>
              <a:t>JobNameAR</a:t>
            </a:r>
          </a:p>
          <a:p>
            <a:r>
              <a:rPr lang="en-US" sz="1600">
                <a:effectLst/>
              </a:rPr>
              <a:t>BranchId</a:t>
            </a:r>
          </a:p>
          <a:p>
            <a:r>
              <a:rPr lang="en-US" sz="1600">
                <a:effectLst/>
              </a:rPr>
              <a:t>RegionId</a:t>
            </a:r>
          </a:p>
          <a:p>
            <a:r>
              <a:rPr lang="en-US" sz="1600">
                <a:effectLst/>
              </a:rPr>
              <a:t>Branch_code</a:t>
            </a:r>
          </a:p>
          <a:p>
            <a:r>
              <a:rPr lang="en-US" sz="1600">
                <a:effectLst/>
              </a:rPr>
              <a:t>ComId</a:t>
            </a:r>
          </a:p>
          <a:p>
            <a:r>
              <a:rPr lang="en-US" sz="1600">
                <a:effectLst/>
              </a:rPr>
              <a:t>JobId</a:t>
            </a:r>
          </a:p>
          <a:p>
            <a:r>
              <a:rPr lang="en-US" sz="1600">
                <a:effectLst/>
              </a:rPr>
              <a:t>JobCode</a:t>
            </a:r>
          </a:p>
          <a:p>
            <a:r>
              <a:rPr lang="en-US" sz="1600">
                <a:effectLst/>
              </a:rPr>
              <a:t>UserCode</a:t>
            </a:r>
          </a:p>
          <a:p>
            <a:r>
              <a:rPr lang="en-US" sz="1600">
                <a:effectLst/>
              </a:rPr>
              <a:t>Numberofmonthsofappointment</a:t>
            </a:r>
          </a:p>
          <a:p>
            <a:endParaRPr lang="en-US" sz="1600">
              <a:effectLst/>
            </a:endParaRPr>
          </a:p>
          <a:p>
            <a:endParaRPr lang="en-US" sz="1600">
              <a:effectLst/>
            </a:endParaRPr>
          </a:p>
        </p:txBody>
      </p:sp>
    </p:spTree>
    <p:extLst>
      <p:ext uri="{BB962C8B-B14F-4D97-AF65-F5344CB8AC3E}">
        <p14:creationId xmlns:p14="http://schemas.microsoft.com/office/powerpoint/2010/main" val="303395720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Slate</Template>
  <TotalTime>22835</TotalTime>
  <Words>4759</Words>
  <Application>Microsoft Office PowerPoint</Application>
  <PresentationFormat>Widescreen</PresentationFormat>
  <Paragraphs>709</Paragraphs>
  <Slides>81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81</vt:i4>
      </vt:variant>
    </vt:vector>
  </HeadingPairs>
  <TitlesOfParts>
    <vt:vector size="87" baseType="lpstr">
      <vt:lpstr>Arial</vt:lpstr>
      <vt:lpstr>Calisto MT</vt:lpstr>
      <vt:lpstr>Tahoma</vt:lpstr>
      <vt:lpstr>Wingdings</vt:lpstr>
      <vt:lpstr>Wingdings 2</vt:lpstr>
      <vt:lpstr>Slate</vt:lpstr>
      <vt:lpstr>Apps Business </vt:lpstr>
      <vt:lpstr>شركات التأمين الخاصة بالتمويل</vt:lpstr>
      <vt:lpstr>أنواع التأمين الخاص بالتمويل ؟</vt:lpstr>
      <vt:lpstr>الحالات التأمينية</vt:lpstr>
      <vt:lpstr>أسباب رفض التعويض</vt:lpstr>
      <vt:lpstr>تعاقد شركة التأمين</vt:lpstr>
      <vt:lpstr>MICRO, Core, Master</vt:lpstr>
      <vt:lpstr>Micro, Master, Core Flow Steps</vt:lpstr>
      <vt:lpstr>إدخال طلب (Funding Request)</vt:lpstr>
      <vt:lpstr>طلب تمويل تجديد</vt:lpstr>
      <vt:lpstr>مراجعة أولية</vt:lpstr>
      <vt:lpstr>زيارة ميدانية</vt:lpstr>
      <vt:lpstr>التحليل الائتماني</vt:lpstr>
      <vt:lpstr>تحميل المستندات</vt:lpstr>
      <vt:lpstr>المراجعة المركزية</vt:lpstr>
      <vt:lpstr>الصرف</vt:lpstr>
      <vt:lpstr>Region at </vt:lpstr>
      <vt:lpstr>Governorate at common</vt:lpstr>
      <vt:lpstr>Original_Region entity at common</vt:lpstr>
      <vt:lpstr>Trans_GPS_Tracking</vt:lpstr>
      <vt:lpstr>Lookup.Branch</vt:lpstr>
      <vt:lpstr>SWF. Flow_Branch_Type</vt:lpstr>
      <vt:lpstr>SWF.Flow_repayment_cycle [دورية السداد]</vt:lpstr>
      <vt:lpstr>TWF.Flow_GeneralSettings</vt:lpstr>
      <vt:lpstr>TWF.Flow_Funding_request 1</vt:lpstr>
      <vt:lpstr>TWF.Flow_Funding_request [cont. 2]</vt:lpstr>
      <vt:lpstr>TWF.Flow_Funding_request [cont. 3]</vt:lpstr>
      <vt:lpstr>TWF.Flow_Funding_request [cont. 3]</vt:lpstr>
      <vt:lpstr>TWF.Flow_Funding_request [cont.]</vt:lpstr>
      <vt:lpstr>TWF.Flow_Funding_request [cont.]</vt:lpstr>
      <vt:lpstr>TWF.Flow_Funding_request [cont.]</vt:lpstr>
      <vt:lpstr>TWF.Flow_Funding_request [cont.]</vt:lpstr>
      <vt:lpstr>SWF.Flow_status</vt:lpstr>
      <vt:lpstr>TDWF.Flow_Request_Deportation</vt:lpstr>
      <vt:lpstr>TDWF.Flow_Request_Deportation [cont. 1]</vt:lpstr>
      <vt:lpstr>TDWF.Flow_Request_Deportation [cont. 2]</vt:lpstr>
      <vt:lpstr>TDWF.Flow_Request_Deportation [cont. 3]</vt:lpstr>
      <vt:lpstr>TDWF.Flow_Request_Deportation [cont. 4]</vt:lpstr>
      <vt:lpstr>TDWF.Flow_Requests_Log</vt:lpstr>
      <vt:lpstr>TDWF.Flow_Requests_Log (cont.1)</vt:lpstr>
      <vt:lpstr>TDWF.Flow_Rejections_main</vt:lpstr>
      <vt:lpstr>TDWF.Flow_Rejections_SubOne</vt:lpstr>
      <vt:lpstr>TDWF.Flow_Rejections_SubOne [cont.1]</vt:lpstr>
      <vt:lpstr>SWF.Flow_Tabs [الشاشات]</vt:lpstr>
      <vt:lpstr>SWF.Flow_Screen_components</vt:lpstr>
      <vt:lpstr>SWF.Flow_Actions , SWF.Flow_Action_workflow</vt:lpstr>
      <vt:lpstr>SWF.Flow_Types</vt:lpstr>
      <vt:lpstr>TWT.Flow_Products</vt:lpstr>
      <vt:lpstr>TWF.Flow_Customers</vt:lpstr>
      <vt:lpstr>TWF.Flow_Contact_Us</vt:lpstr>
      <vt:lpstr>TWF.Flow_Enterprises</vt:lpstr>
      <vt:lpstr>SWF.Flow_Sectors</vt:lpstr>
      <vt:lpstr>SWF.Flow_Main_activity</vt:lpstr>
      <vt:lpstr>SWF.Flow_Sub_activities</vt:lpstr>
      <vt:lpstr>Company entity</vt:lpstr>
      <vt:lpstr>Acc_Chart_Account entity</vt:lpstr>
      <vt:lpstr>SWF.Flow_Relationships</vt:lpstr>
      <vt:lpstr>SWF.Flow_Purpose_loan</vt:lpstr>
      <vt:lpstr>SWF.Flow_Customers_jobs</vt:lpstr>
      <vt:lpstr>SWF.Flow_districts</vt:lpstr>
      <vt:lpstr>SWF.Flow_Sections</vt:lpstr>
      <vt:lpstr>SWF.Flow_Identity_Expiry</vt:lpstr>
      <vt:lpstr>Security.SEC_Group</vt:lpstr>
      <vt:lpstr>Security.SEC_Menu</vt:lpstr>
      <vt:lpstr>Trans.Trans_BusDate [ تاريخ اليومية ] </vt:lpstr>
      <vt:lpstr>TWF.Flow_ISCORE_Data</vt:lpstr>
      <vt:lpstr>TWF. Flow_Risks</vt:lpstr>
      <vt:lpstr>Security. SEC_Access_tokens</vt:lpstr>
      <vt:lpstr>BranchGovernRegion VM</vt:lpstr>
      <vt:lpstr>Amounts of Funding request</vt:lpstr>
      <vt:lpstr>Jobs</vt:lpstr>
      <vt:lpstr>When CO reject the FundingRequest</vt:lpstr>
      <vt:lpstr>Front Places</vt:lpstr>
      <vt:lpstr>Places</vt:lpstr>
      <vt:lpstr>Micro Login Sequence</vt:lpstr>
      <vt:lpstr>View Models</vt:lpstr>
      <vt:lpstr>FundingData</vt:lpstr>
      <vt:lpstr>ProdVM</vt:lpstr>
      <vt:lpstr>PowerPoint Presentation</vt:lpstr>
      <vt:lpstr>TransactionVM</vt:lpstr>
      <vt:lpstr>LoginVM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احمد محمد سمير</dc:creator>
  <cp:lastModifiedBy>IT Department</cp:lastModifiedBy>
  <cp:revision>493</cp:revision>
  <dcterms:created xsi:type="dcterms:W3CDTF">2026-02-01T18:13:26Z</dcterms:created>
  <dcterms:modified xsi:type="dcterms:W3CDTF">2026-03-05T12:20:57Z</dcterms:modified>
</cp:coreProperties>
</file>