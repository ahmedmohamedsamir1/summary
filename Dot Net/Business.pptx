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2" r:id="rId9"/>
    <p:sldId id="392" r:id="rId10"/>
    <p:sldId id="394" r:id="rId11"/>
    <p:sldId id="402" r:id="rId12"/>
    <p:sldId id="404" r:id="rId13"/>
    <p:sldId id="406" r:id="rId14"/>
    <p:sldId id="407" r:id="rId15"/>
    <p:sldId id="408" r:id="rId16"/>
    <p:sldId id="412" r:id="rId17"/>
    <p:sldId id="411" r:id="rId18"/>
    <p:sldId id="422" r:id="rId19"/>
    <p:sldId id="423" r:id="rId20"/>
    <p:sldId id="413" r:id="rId21"/>
    <p:sldId id="424" r:id="rId22"/>
    <p:sldId id="409" r:id="rId23"/>
    <p:sldId id="393" r:id="rId24"/>
    <p:sldId id="396" r:id="rId25"/>
    <p:sldId id="395" r:id="rId26"/>
    <p:sldId id="308" r:id="rId27"/>
    <p:sldId id="278" r:id="rId28"/>
    <p:sldId id="271" r:id="rId29"/>
    <p:sldId id="292" r:id="rId30"/>
    <p:sldId id="279" r:id="rId31"/>
    <p:sldId id="305" r:id="rId32"/>
    <p:sldId id="280" r:id="rId33"/>
    <p:sldId id="318" r:id="rId34"/>
    <p:sldId id="285" r:id="rId35"/>
    <p:sldId id="286" r:id="rId36"/>
    <p:sldId id="287" r:id="rId37"/>
    <p:sldId id="323" r:id="rId38"/>
    <p:sldId id="368" r:id="rId39"/>
    <p:sldId id="313" r:id="rId40"/>
    <p:sldId id="315" r:id="rId41"/>
    <p:sldId id="322" r:id="rId42"/>
    <p:sldId id="326" r:id="rId43"/>
    <p:sldId id="327" r:id="rId44"/>
    <p:sldId id="346" r:id="rId45"/>
    <p:sldId id="367" r:id="rId46"/>
    <p:sldId id="369" r:id="rId47"/>
    <p:sldId id="372" r:id="rId48"/>
    <p:sldId id="316" r:id="rId49"/>
    <p:sldId id="325" r:id="rId50"/>
    <p:sldId id="347" r:id="rId51"/>
    <p:sldId id="373" r:id="rId52"/>
    <p:sldId id="328" r:id="rId53"/>
    <p:sldId id="329" r:id="rId54"/>
    <p:sldId id="334" r:id="rId55"/>
    <p:sldId id="348" r:id="rId56"/>
    <p:sldId id="349" r:id="rId57"/>
    <p:sldId id="351" r:id="rId58"/>
    <p:sldId id="350" r:id="rId59"/>
    <p:sldId id="355" r:id="rId60"/>
    <p:sldId id="352" r:id="rId61"/>
    <p:sldId id="353" r:id="rId62"/>
    <p:sldId id="354" r:id="rId63"/>
    <p:sldId id="370" r:id="rId64"/>
    <p:sldId id="371" r:id="rId65"/>
    <p:sldId id="379" r:id="rId66"/>
    <p:sldId id="390" r:id="rId67"/>
    <p:sldId id="388" r:id="rId68"/>
    <p:sldId id="306" r:id="rId69"/>
    <p:sldId id="358" r:id="rId70"/>
    <p:sldId id="281" r:id="rId71"/>
    <p:sldId id="314" r:id="rId72"/>
    <p:sldId id="294" r:id="rId73"/>
    <p:sldId id="331" r:id="rId74"/>
    <p:sldId id="330" r:id="rId75"/>
    <p:sldId id="324" r:id="rId76"/>
    <p:sldId id="304" r:id="rId77"/>
    <p:sldId id="310" r:id="rId78"/>
    <p:sldId id="311" r:id="rId79"/>
    <p:sldId id="312" r:id="rId80"/>
    <p:sldId id="293" r:id="rId81"/>
    <p:sldId id="296" r:id="rId82"/>
    <p:sldId id="297" r:id="rId83"/>
    <p:sldId id="299" r:id="rId84"/>
    <p:sldId id="298" r:id="rId85"/>
    <p:sldId id="421" r:id="rId86"/>
    <p:sldId id="389" r:id="rId87"/>
    <p:sldId id="415" r:id="rId88"/>
    <p:sldId id="283" r:id="rId89"/>
    <p:sldId id="374" r:id="rId90"/>
    <p:sldId id="359" r:id="rId91"/>
    <p:sldId id="307" r:id="rId92"/>
    <p:sldId id="309" r:id="rId93"/>
    <p:sldId id="288" r:id="rId94"/>
    <p:sldId id="282" r:id="rId95"/>
    <p:sldId id="397" r:id="rId96"/>
    <p:sldId id="399" r:id="rId97"/>
    <p:sldId id="400" r:id="rId98"/>
    <p:sldId id="300" r:id="rId99"/>
    <p:sldId id="301" r:id="rId100"/>
    <p:sldId id="398" r:id="rId101"/>
    <p:sldId id="319" r:id="rId102"/>
    <p:sldId id="403" r:id="rId103"/>
    <p:sldId id="338" r:id="rId104"/>
    <p:sldId id="339" r:id="rId105"/>
    <p:sldId id="356" r:id="rId106"/>
    <p:sldId id="357" r:id="rId107"/>
    <p:sldId id="384" r:id="rId108"/>
    <p:sldId id="343" r:id="rId109"/>
    <p:sldId id="382" r:id="rId110"/>
    <p:sldId id="377" r:id="rId111"/>
    <p:sldId id="378" r:id="rId112"/>
    <p:sldId id="386" r:id="rId113"/>
    <p:sldId id="385" r:id="rId114"/>
    <p:sldId id="426" r:id="rId115"/>
    <p:sldId id="432" r:id="rId116"/>
    <p:sldId id="303" r:id="rId117"/>
    <p:sldId id="428" r:id="rId118"/>
    <p:sldId id="433" r:id="rId119"/>
    <p:sldId id="434" r:id="rId120"/>
    <p:sldId id="435" r:id="rId121"/>
    <p:sldId id="436" r:id="rId122"/>
    <p:sldId id="439" r:id="rId123"/>
    <p:sldId id="441" r:id="rId124"/>
    <p:sldId id="443" r:id="rId125"/>
    <p:sldId id="444" r:id="rId126"/>
    <p:sldId id="440" r:id="rId127"/>
    <p:sldId id="437" r:id="rId128"/>
    <p:sldId id="445" r:id="rId129"/>
    <p:sldId id="429" r:id="rId130"/>
    <p:sldId id="438" r:id="rId131"/>
    <p:sldId id="427" r:id="rId132"/>
    <p:sldId id="276" r:id="rId133"/>
    <p:sldId id="289" r:id="rId134"/>
    <p:sldId id="290" r:id="rId135"/>
    <p:sldId id="376" r:id="rId136"/>
    <p:sldId id="361" r:id="rId137"/>
    <p:sldId id="362" r:id="rId138"/>
    <p:sldId id="321" r:id="rId139"/>
    <p:sldId id="360" r:id="rId140"/>
    <p:sldId id="366" r:id="rId141"/>
    <p:sldId id="405" r:id="rId142"/>
    <p:sldId id="332" r:id="rId143"/>
    <p:sldId id="365" r:id="rId144"/>
    <p:sldId id="364" r:id="rId145"/>
    <p:sldId id="383" r:id="rId146"/>
    <p:sldId id="418" r:id="rId147"/>
    <p:sldId id="419" r:id="rId148"/>
    <p:sldId id="420" r:id="rId149"/>
    <p:sldId id="417" r:id="rId150"/>
    <p:sldId id="320" r:id="rId151"/>
    <p:sldId id="335" r:id="rId152"/>
    <p:sldId id="375" r:id="rId153"/>
    <p:sldId id="340" r:id="rId154"/>
    <p:sldId id="345" r:id="rId155"/>
    <p:sldId id="336" r:id="rId156"/>
    <p:sldId id="341" r:id="rId157"/>
    <p:sldId id="337" r:id="rId158"/>
    <p:sldId id="295" r:id="rId159"/>
    <p:sldId id="302" r:id="rId160"/>
    <p:sldId id="344" r:id="rId161"/>
    <p:sldId id="363" r:id="rId162"/>
    <p:sldId id="431" r:id="rId163"/>
    <p:sldId id="430"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62"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4/14/2026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4/14/2026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4/14/2026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4/14/2026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4/14/2026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4/14/2026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4/14/2026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9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a:t>( id )</a:t>
            </a:r>
          </a:p>
          <a:p>
            <a:pPr algn="r" rtl="1"/>
            <a:endParaRPr lang="en-US" sz="240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a:t>:</a:t>
            </a:r>
          </a:p>
          <a:p>
            <a:pPr algn="r" rtl="1"/>
            <a:r>
              <a:rPr lang="ar-EG" b="1"/>
              <a:t>مثال بحالة خسارة 50000</a:t>
            </a:r>
          </a:p>
          <a:p>
            <a:pPr algn="r" rtl="1"/>
            <a:endParaRPr lang="ar-EG" b="1"/>
          </a:p>
          <a:p>
            <a:pPr algn="r" rtl="1"/>
            <a:endParaRPr lang="ar-EG"/>
          </a:p>
          <a:p>
            <a:pPr algn="r" rtl="1"/>
            <a:endParaRPr lang="ar-EG"/>
          </a:p>
          <a:p>
            <a:pPr algn="r" rtl="1"/>
            <a:endParaRPr lang="en-US" b="1"/>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solidFill>
                  <a:srgbClr val="FF0000"/>
                </a:solidFill>
              </a:rPr>
              <a:t> </a:t>
            </a:r>
            <a:r>
              <a:rPr lang="en-US" sz="1700" b="1"/>
              <a:t>Operator: Credit</a:t>
            </a:r>
          </a:p>
          <a:p>
            <a:pPr marL="871200" lvl="1" indent="-457200">
              <a:buFont typeface="+mj-lt"/>
              <a:buAutoNum type="arabicPeriod"/>
            </a:pPr>
            <a:r>
              <a:rPr lang="ar-EG" sz="1700" b="1">
                <a:solidFill>
                  <a:srgbClr val="FF0000"/>
                </a:solidFill>
              </a:rPr>
              <a:t>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5791201" y="796415"/>
            <a:ext cx="6304721" cy="407055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Funding Request: R111</a:t>
            </a:r>
          </a:p>
        </p:txBody>
      </p:sp>
    </p:spTree>
    <p:extLst>
      <p:ext uri="{BB962C8B-B14F-4D97-AF65-F5344CB8AC3E}">
        <p14:creationId xmlns:p14="http://schemas.microsoft.com/office/powerpoint/2010/main" val="14722935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814463" cy="6047509"/>
          </a:xfrm>
        </p:spPr>
        <p:txBody>
          <a:bodyPr/>
          <a:lstStyle/>
          <a:p>
            <a:r>
              <a:rPr lang="ar-EG"/>
              <a:t>بجيب كل البيانات الخاصة بالمنتج</a:t>
            </a:r>
            <a:endParaRPr lang="en-US"/>
          </a:p>
          <a:p>
            <a:r>
              <a:rPr lang="en-US"/>
              <a:t>Flow_Funding_requestController/</a:t>
            </a:r>
            <a:r>
              <a:rPr lang="en-US" sz="1800" b="1">
                <a:solidFill>
                  <a:srgbClr val="00B0F0"/>
                </a:solidFill>
              </a:rPr>
              <a:t>Flow_Funding_requestController</a:t>
            </a:r>
            <a:r>
              <a:rPr lang="en-US"/>
              <a:t>/{BranchId}/{UserId}</a:t>
            </a:r>
          </a:p>
          <a:p>
            <a:pPr lvl="1"/>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a:t>( </a:t>
            </a:r>
            <a:r>
              <a:rPr lang="en-US" b="1"/>
              <a:t>branchId, userId</a:t>
            </a:r>
            <a:r>
              <a:rPr lang="en-US"/>
              <a:t> )</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0" y="2109480"/>
            <a:ext cx="6264183" cy="3543607"/>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CustomerData(</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245805" y="1488553"/>
            <a:ext cx="2844528" cy="283791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Transactions/Flow_Contact_UsController/GetOne/</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0" y="589934"/>
            <a:ext cx="12064181" cy="61844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r>
              <a:rPr lang="en-US"/>
              <a:t>StepFrom : </a:t>
            </a:r>
            <a:r>
              <a:rPr lang="en-US" b="1">
                <a:solidFill>
                  <a:srgbClr val="FFC000"/>
                </a:solidFill>
              </a:rPr>
              <a:t>R111</a:t>
            </a:r>
          </a:p>
          <a:p>
            <a:r>
              <a:rPr lang="en-US"/>
              <a:t>IsNew : true</a:t>
            </a:r>
          </a:p>
          <a:p>
            <a:r>
              <a:rPr lang="en-US"/>
              <a:t>status : 1 == </a:t>
            </a:r>
            <a:r>
              <a:rPr lang="en-US" b="1">
                <a:solidFill>
                  <a:srgbClr val="FFFF00"/>
                </a:solidFill>
              </a:rPr>
              <a:t>FixedStatus.Status_1_Is_Save</a:t>
            </a:r>
          </a:p>
          <a:p>
            <a:r>
              <a:rPr lang="en-US"/>
              <a:t>Flag : 0 </a:t>
            </a:r>
          </a:p>
          <a:p>
            <a:r>
              <a:rPr lang="en-US"/>
              <a:t>Trans_GPS_Tracking = null</a:t>
            </a: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127819" y="1573160"/>
            <a:ext cx="4972083" cy="2572120"/>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282699" y="5687306"/>
            <a:ext cx="7781482"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5383814" y="1420987"/>
            <a:ext cx="5714829" cy="3283094"/>
          </a:xfrm>
          <a:prstGeom prst="rect">
            <a:avLst/>
          </a:prstGeom>
        </p:spPr>
      </p:pic>
    </p:spTree>
    <p:extLst>
      <p:ext uri="{BB962C8B-B14F-4D97-AF65-F5344CB8AC3E}">
        <p14:creationId xmlns:p14="http://schemas.microsoft.com/office/powerpoint/2010/main" val="20318907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22F32-1C60-FCB3-A76B-54DAFC79DD5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921CAA2-1F1C-C50A-81D4-B18B797764AD}"/>
              </a:ext>
            </a:extLst>
          </p:cNvPr>
          <p:cNvSpPr>
            <a:spLocks noGrp="1"/>
          </p:cNvSpPr>
          <p:nvPr>
            <p:ph idx="1"/>
          </p:nvPr>
        </p:nvSpPr>
        <p:spPr/>
        <p:txBody>
          <a:bodyPr/>
          <a:lstStyle/>
          <a:p>
            <a:r>
              <a:rPr lang="en-US" sz="2400" b="1">
                <a:solidFill>
                  <a:srgbClr val="FFFF00"/>
                </a:solidFill>
              </a:rPr>
              <a:t>FundingVM.</a:t>
            </a:r>
            <a:r>
              <a:rPr lang="en-US" sz="2400" b="1">
                <a:solidFill>
                  <a:srgbClr val="FF0000"/>
                </a:solidFill>
              </a:rPr>
              <a:t>Flag = 5 // </a:t>
            </a:r>
            <a:r>
              <a:rPr lang="ar-EG" sz="2400" b="1"/>
              <a:t>لا يوجد مدير لهذا الفرع</a:t>
            </a:r>
            <a:r>
              <a:rPr lang="en-US" sz="2400" b="1">
                <a:solidFill>
                  <a:srgbClr val="FF0000"/>
                </a:solidFill>
              </a:rPr>
              <a:t> </a:t>
            </a:r>
            <a:endParaRPr lang="ar-EG" sz="2400" b="1">
              <a:solidFill>
                <a:srgbClr val="FF0000"/>
              </a:solidFill>
            </a:endParaRPr>
          </a:p>
          <a:p>
            <a:endParaRPr lang="en-US" sz="2400" b="1">
              <a:solidFill>
                <a:srgbClr val="FF0000"/>
              </a:solidFill>
            </a:endParaRPr>
          </a:p>
          <a:p>
            <a:endParaRPr lang="en-US" b="1">
              <a:solidFill>
                <a:srgbClr val="FF0000"/>
              </a:solidFill>
            </a:endParaRPr>
          </a:p>
        </p:txBody>
      </p:sp>
    </p:spTree>
    <p:extLst>
      <p:ext uri="{BB962C8B-B14F-4D97-AF65-F5344CB8AC3E}">
        <p14:creationId xmlns:p14="http://schemas.microsoft.com/office/powerpoint/2010/main" val="2661735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92000" cy="6075680"/>
          </a:xfrm>
        </p:spPr>
        <p:txBody>
          <a:bodyPr>
            <a:normAutofit/>
          </a:bodyPr>
          <a:lstStyle/>
          <a:p>
            <a:r>
              <a:rPr lang="en-US" b="1" err="1"/>
              <a:t>Flow_Funding_</a:t>
            </a:r>
            <a:r>
              <a:rPr lang="en-US" b="1"/>
              <a:t>Request fields that will get a value</a:t>
            </a:r>
          </a:p>
          <a:p>
            <a:r>
              <a:rPr lang="en-US" sz="1800" b="1">
                <a:solidFill>
                  <a:srgbClr val="FFFF00"/>
                </a:solidFill>
              </a:rPr>
              <a:t>Open</a:t>
            </a:r>
            <a:r>
              <a:rPr lang="en-US" sz="1800" b="1" err="1">
                <a:solidFill>
                  <a:srgbClr val="FFFF00"/>
                </a:solidFill>
              </a:rPr>
              <a:t>_date</a:t>
            </a:r>
            <a:r>
              <a:rPr lang="en-US" sz="1800"/>
              <a:t> = </a:t>
            </a:r>
            <a:r>
              <a:rPr lang="en-US" sz="1600" b="1"/>
              <a:t>_</a:t>
            </a:r>
            <a:r>
              <a:rPr lang="en-US" sz="1600" b="1" err="1"/>
              <a:t>Trans_BusDate.Queryable</a:t>
            </a:r>
            <a:r>
              <a:rPr lang="en-US" sz="1600" b="1"/>
              <a:t>().</a:t>
            </a:r>
            <a:r>
              <a:rPr lang="en-US" sz="1600" b="1" err="1"/>
              <a:t>FirstOrDefault</a:t>
            </a:r>
            <a:r>
              <a:rPr lang="en-US" sz="1600" b="1"/>
              <a:t>(ex =&gt; </a:t>
            </a:r>
            <a:r>
              <a:rPr lang="en-US" sz="1600" b="1" err="1"/>
              <a:t>ex.BranchId</a:t>
            </a:r>
            <a:r>
              <a:rPr lang="en-US" sz="1600" b="1"/>
              <a:t> == </a:t>
            </a:r>
            <a:r>
              <a:rPr lang="en-US" sz="1600" b="1" err="1"/>
              <a:t>Funding_request.BranchId</a:t>
            </a:r>
            <a:r>
              <a:rPr lang="en-US" sz="1600" b="1"/>
              <a:t>).</a:t>
            </a:r>
            <a:r>
              <a:rPr lang="en-US" sz="1600" b="1" err="1">
                <a:solidFill>
                  <a:srgbClr val="FFFF00"/>
                </a:solidFill>
              </a:rPr>
              <a:t>BusDate</a:t>
            </a:r>
            <a:r>
              <a:rPr lang="en-US" sz="16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a:t> = </a:t>
            </a:r>
            <a:r>
              <a:rPr lang="en-US" sz="1800" err="1"/>
              <a:t>IsNew</a:t>
            </a:r>
            <a:r>
              <a:rPr lang="en-US" sz="1800"/>
              <a:t> == true ? </a:t>
            </a:r>
            <a:r>
              <a:rPr lang="en-US" sz="1800" err="1"/>
              <a:t>Product.</a:t>
            </a:r>
            <a:r>
              <a:rPr lang="en-US" sz="1800" b="1" err="1">
                <a:solidFill>
                  <a:srgbClr val="FFFF00"/>
                </a:solidFill>
              </a:rPr>
              <a:t>Com_submit_new_app</a:t>
            </a:r>
            <a:r>
              <a:rPr lang="en-US" sz="1800"/>
              <a:t> : </a:t>
            </a:r>
            <a:r>
              <a:rPr lang="en-US" sz="1800" err="1"/>
              <a:t>Product.</a:t>
            </a:r>
            <a:r>
              <a:rPr lang="en-US" sz="1800" b="1" err="1">
                <a:solidFill>
                  <a:srgbClr val="FFFF00"/>
                </a:solidFill>
              </a:rPr>
              <a:t>Com_submit_renew_app</a:t>
            </a:r>
            <a:r>
              <a:rPr lang="en-US" sz="1800"/>
              <a:t>;</a:t>
            </a:r>
          </a:p>
          <a:p>
            <a:r>
              <a:rPr lang="en-US" sz="1800" b="1">
                <a:solidFill>
                  <a:srgbClr val="FFFF00"/>
                </a:solidFill>
              </a:rPr>
              <a:t>RATE</a:t>
            </a:r>
            <a:r>
              <a:rPr lang="en-US" sz="1800"/>
              <a:t> = </a:t>
            </a:r>
            <a:r>
              <a:rPr lang="en-US" sz="1800" err="1"/>
              <a:t>IsNew</a:t>
            </a:r>
            <a:r>
              <a:rPr lang="en-US" sz="1800"/>
              <a:t> == true ? </a:t>
            </a:r>
            <a:r>
              <a:rPr lang="en-US" sz="1800" err="1"/>
              <a:t>Product.</a:t>
            </a:r>
            <a:r>
              <a:rPr lang="en-US" sz="1800" b="1" err="1">
                <a:solidFill>
                  <a:srgbClr val="FFFF00"/>
                </a:solidFill>
              </a:rPr>
              <a:t>Fixed_return_new</a:t>
            </a:r>
            <a:r>
              <a:rPr lang="en-US" sz="1800" err="1"/>
              <a:t>:Product.</a:t>
            </a:r>
            <a:r>
              <a:rPr lang="en-US" sz="1800" b="1" err="1">
                <a:solidFill>
                  <a:srgbClr val="FFFF00"/>
                </a:solidFill>
              </a:rPr>
              <a:t>Fixed_return_renew</a:t>
            </a:r>
            <a:r>
              <a:rPr lang="en-US" sz="1800"/>
              <a:t>;</a:t>
            </a:r>
          </a:p>
          <a:p>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a:p>
          <a:p>
            <a:r>
              <a:rPr lang="en-US" sz="1600" b="1">
                <a:solidFill>
                  <a:srgbClr val="FFFF00"/>
                </a:solidFill>
              </a:rPr>
              <a:t>DEBTNO</a:t>
            </a:r>
            <a:r>
              <a:rPr lang="en-US" sz="1600"/>
              <a:t>=</a:t>
            </a:r>
            <a:r>
              <a:rPr lang="en-US" sz="1600" err="1"/>
              <a:t>Flow_Funding_request.where</a:t>
            </a:r>
            <a:r>
              <a:rPr lang="en-US" sz="1600"/>
              <a:t>(c =&gt; </a:t>
            </a:r>
            <a:r>
              <a:rPr lang="en-US" sz="1600" err="1"/>
              <a:t>c.Customer_ID</a:t>
            </a:r>
            <a:r>
              <a:rPr lang="en-US" sz="1600"/>
              <a:t> == </a:t>
            </a:r>
            <a:r>
              <a:rPr lang="en-US" sz="1600" err="1"/>
              <a:t>entity.Funding_request.Customer_ID</a:t>
            </a:r>
            <a:r>
              <a:rPr lang="en-US" sz="1600"/>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a:t>
            </a:r>
          </a:p>
          <a:p>
            <a:r>
              <a:rPr lang="en-US" sz="1500" b="1"/>
              <a:t>EXPDATE: NULL</a:t>
            </a:r>
          </a:p>
          <a:p>
            <a:r>
              <a:rPr lang="en-US" sz="1500" b="1"/>
              <a:t>Com_RATE: NULL</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a:t> = FixedStatus.Status_One_Inprocess // “inporoccess”</a:t>
            </a:r>
          </a:p>
          <a:p>
            <a:r>
              <a:rPr lang="en-US" sz="1600" b="1"/>
              <a:t>Deportation.</a:t>
            </a:r>
            <a:r>
              <a:rPr lang="en-US" sz="1600" b="1">
                <a:solidFill>
                  <a:srgbClr val="FFFF00"/>
                </a:solidFill>
              </a:rPr>
              <a:t>Status_two</a:t>
            </a:r>
            <a:r>
              <a:rPr lang="en-US" sz="1600"/>
              <a:t> = FixedStatus.Status_R111	// R111</a:t>
            </a:r>
          </a:p>
          <a:p>
            <a:r>
              <a:rPr lang="fr-FR" sz="1600"/>
              <a:t>Deportation.</a:t>
            </a:r>
            <a:r>
              <a:rPr lang="fr-FR" sz="1600" b="1">
                <a:solidFill>
                  <a:srgbClr val="FFFF00"/>
                </a:solidFill>
              </a:rPr>
              <a:t>Type_code</a:t>
            </a:r>
            <a:r>
              <a:rPr lang="fr-FR" sz="1600"/>
              <a:t> = </a:t>
            </a:r>
            <a:r>
              <a:rPr lang="en-US" sz="1600"/>
              <a:t>FundingDataVM.status</a:t>
            </a:r>
            <a:r>
              <a:rPr lang="fr-FR" sz="1600"/>
              <a:t> == 1 ? Product.Type_code : Deportation.Type_code;</a:t>
            </a:r>
            <a:endParaRPr lang="en-US" sz="1600"/>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1600"/>
              <a:t>Date_creation_request</a:t>
            </a:r>
          </a:p>
          <a:p>
            <a:r>
              <a:rPr lang="en-US" sz="1600"/>
              <a:t>Customer_ID_C</a:t>
            </a:r>
          </a:p>
          <a:p>
            <a:r>
              <a:rPr lang="en-US" sz="1600"/>
              <a:t>Cust_QID</a:t>
            </a:r>
          </a:p>
          <a:p>
            <a:r>
              <a:rPr lang="en-US" sz="1600"/>
              <a:t>Cust_Full_name</a:t>
            </a:r>
          </a:p>
          <a:p>
            <a:r>
              <a:rPr lang="en-US" sz="1600"/>
              <a:t>Enterprise_ID</a:t>
            </a:r>
          </a:p>
          <a:p>
            <a:r>
              <a:rPr lang="en-US" sz="1600"/>
              <a:t>Product_id</a:t>
            </a:r>
          </a:p>
          <a:p>
            <a:r>
              <a:rPr lang="en-US" sz="1600"/>
              <a:t>Product_name</a:t>
            </a:r>
          </a:p>
          <a:p>
            <a:r>
              <a:rPr lang="en-US" sz="1600"/>
              <a:t>Code_action: null</a:t>
            </a:r>
          </a:p>
          <a:p>
            <a:r>
              <a:rPr lang="en-US" sz="1600"/>
              <a:t>Date_Assigned: null</a:t>
            </a:r>
          </a:p>
          <a:p>
            <a:endParaRPr lang="en-US" sz="1600"/>
          </a:p>
        </p:txBody>
      </p:sp>
    </p:spTree>
    <p:extLst>
      <p:ext uri="{BB962C8B-B14F-4D97-AF65-F5344CB8AC3E}">
        <p14:creationId xmlns:p14="http://schemas.microsoft.com/office/powerpoint/2010/main" val="17315017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[cont.5]</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2400" b="1">
                <a:solidFill>
                  <a:srgbClr val="FFFF00"/>
                </a:solidFill>
              </a:rPr>
              <a:t>Flow_Requests_Log</a:t>
            </a:r>
            <a:endParaRPr lang="en-US" b="1">
              <a:solidFill>
                <a:srgbClr val="FFFF00"/>
              </a:solidFill>
            </a:endParaRPr>
          </a:p>
          <a:p>
            <a:r>
              <a:rPr lang="en-US" sz="1800"/>
              <a:t>FRL_ID: PK</a:t>
            </a:r>
          </a:p>
          <a:p>
            <a:r>
              <a:rPr lang="en-US" sz="1800"/>
              <a:t>FRD_ID: FK from request_deportation</a:t>
            </a:r>
          </a:p>
          <a:p>
            <a:r>
              <a:rPr lang="en-US" sz="1800"/>
              <a:t>Date_Creation:</a:t>
            </a:r>
          </a:p>
          <a:p>
            <a:r>
              <a:rPr lang="en-US" sz="1800"/>
              <a:t>Daily_date: </a:t>
            </a:r>
          </a:p>
          <a:p>
            <a:r>
              <a:rPr lang="en-US" sz="1800"/>
              <a:t>Step_name: </a:t>
            </a:r>
            <a:r>
              <a:rPr lang="ar-EG" sz="1800"/>
              <a:t>طلب التمويل</a:t>
            </a:r>
          </a:p>
          <a:p>
            <a:r>
              <a:rPr lang="en-US" sz="1800"/>
              <a:t>Definition_number: </a:t>
            </a:r>
            <a:r>
              <a:rPr lang="en-US" sz="1800" b="1">
                <a:solidFill>
                  <a:srgbClr val="FFFF00"/>
                </a:solidFill>
              </a:rPr>
              <a:t>R111</a:t>
            </a:r>
          </a:p>
          <a:p>
            <a:r>
              <a:rPr lang="en-US" sz="1800"/>
              <a:t>ActionFlag: null;</a:t>
            </a:r>
          </a:p>
        </p:txBody>
      </p:sp>
    </p:spTree>
    <p:extLst>
      <p:ext uri="{BB962C8B-B14F-4D97-AF65-F5344CB8AC3E}">
        <p14:creationId xmlns:p14="http://schemas.microsoft.com/office/powerpoint/2010/main" val="5006571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165574"/>
          </a:xfrm>
        </p:spPr>
        <p:txBody>
          <a:bodyPr>
            <a:normAutofit fontScale="92500" lnSpcReduction="10000"/>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pPr lvl="1"/>
            <a:r>
              <a:rPr lang="en-US" sz="1600" b="1">
                <a:solidFill>
                  <a:srgbClr val="FFFF00"/>
                </a:solidFill>
              </a:rPr>
              <a:t>Funding_request</a:t>
            </a:r>
            <a:r>
              <a:rPr lang="en-US" sz="1600"/>
              <a:t>.</a:t>
            </a:r>
            <a:r>
              <a:rPr lang="en-US" sz="1600" b="1">
                <a:solidFill>
                  <a:srgbClr val="FFC000"/>
                </a:solidFill>
              </a:rPr>
              <a:t>APP_FEE</a:t>
            </a:r>
            <a:r>
              <a:rPr lang="en-US" sz="1600"/>
              <a:t> = IsNew==true ? Product.</a:t>
            </a:r>
            <a:r>
              <a:rPr lang="en-US" sz="1600" b="1">
                <a:solidFill>
                  <a:srgbClr val="00B0F0"/>
                </a:solidFill>
              </a:rPr>
              <a:t>Com_submit_new_app</a:t>
            </a:r>
            <a:r>
              <a:rPr lang="en-US" sz="1600"/>
              <a:t> : Product.</a:t>
            </a:r>
            <a:r>
              <a:rPr lang="en-US" sz="1600" b="1">
                <a:solidFill>
                  <a:srgbClr val="00B0F0"/>
                </a:solidFill>
              </a:rPr>
              <a:t>Com_submit_renew_app</a:t>
            </a:r>
            <a:r>
              <a:rPr lang="en-US" sz="1600"/>
              <a:t>;</a:t>
            </a:r>
          </a:p>
          <a:p>
            <a:pPr lvl="1"/>
            <a:r>
              <a:rPr lang="en-US" sz="1600" b="1">
                <a:solidFill>
                  <a:srgbClr val="FFFF00"/>
                </a:solidFill>
              </a:rPr>
              <a:t>Funding_request</a:t>
            </a:r>
            <a:r>
              <a:rPr lang="en-US" sz="1600"/>
              <a:t>.</a:t>
            </a:r>
            <a:r>
              <a:rPr lang="en-US" sz="1600" b="1">
                <a:solidFill>
                  <a:srgbClr val="FFC000"/>
                </a:solidFill>
              </a:rPr>
              <a:t>RATE</a:t>
            </a:r>
            <a:r>
              <a:rPr lang="en-US" sz="1600"/>
              <a:t> = IsNew == true ? Product.</a:t>
            </a:r>
            <a:r>
              <a:rPr lang="en-US" sz="1600" b="1">
                <a:solidFill>
                  <a:srgbClr val="00B0F0"/>
                </a:solidFill>
              </a:rPr>
              <a:t>Fixed_return_new</a:t>
            </a:r>
            <a:r>
              <a:rPr lang="en-US" sz="1600"/>
              <a:t> : Product.</a:t>
            </a:r>
            <a:r>
              <a:rPr lang="en-US" sz="1600" b="1">
                <a:solidFill>
                  <a:srgbClr val="00B0F0"/>
                </a:solidFill>
              </a:rPr>
              <a:t>Fixed_return_renew;</a:t>
            </a:r>
            <a:endParaRPr lang="en-US"/>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r>
              <a:rPr lang="en-US"/>
              <a:t>After CO final reject the funding_request</a:t>
            </a:r>
          </a:p>
          <a:p>
            <a:pPr lvl="1"/>
            <a:r>
              <a:rPr lang="en-US" b="1">
                <a:solidFill>
                  <a:srgbClr val="FFFF00"/>
                </a:solidFill>
              </a:rPr>
              <a:t>status_code: 19 </a:t>
            </a:r>
            <a:r>
              <a:rPr lang="ar-EG" b="1">
                <a:solidFill>
                  <a:srgbClr val="FFFF00"/>
                </a:solidFill>
              </a:rPr>
              <a:t>:</a:t>
            </a:r>
            <a:r>
              <a:rPr lang="en-US" b="1">
                <a:solidFill>
                  <a:srgbClr val="FFFF00"/>
                </a:solidFill>
              </a:rPr>
              <a:t> </a:t>
            </a:r>
            <a:r>
              <a:rPr lang="ar-EG" b="1">
                <a:solidFill>
                  <a:srgbClr val="FFFF00"/>
                </a:solidFill>
              </a:rPr>
              <a:t>الطلب تم رفضه نهائي من قبل المسئول الاول</a:t>
            </a:r>
            <a:endParaRPr lang="ar-EG"/>
          </a:p>
          <a:p>
            <a:r>
              <a:rPr lang="en-US"/>
              <a:t>After request is passed from Field visit to Credit analysis via CO first time</a:t>
            </a:r>
          </a:p>
          <a:p>
            <a:pPr lvl="1"/>
            <a:r>
              <a:rPr lang="en-US"/>
              <a:t>Primium_value: 17270.00 // For example</a:t>
            </a:r>
          </a:p>
          <a:p>
            <a:pPr lvl="1"/>
            <a:r>
              <a:rPr lang="en-US"/>
              <a:t>Approv_value: 264000.00</a:t>
            </a:r>
          </a:p>
          <a:p>
            <a:pPr lvl="1"/>
            <a:r>
              <a:rPr lang="en-US"/>
              <a:t>Approved_amount: 250000.00</a:t>
            </a:r>
          </a:p>
          <a:p>
            <a:pPr lvl="1"/>
            <a:r>
              <a:rPr lang="en-US"/>
              <a:t>Total amount: 414480.00</a:t>
            </a:r>
          </a:p>
          <a:p>
            <a:pPr lvl="1"/>
            <a:r>
              <a:rPr lang="en-US"/>
              <a:t>NO_Months: 24</a:t>
            </a:r>
          </a:p>
          <a:p>
            <a:endParaRPr lang="en-US"/>
          </a:p>
        </p:txBody>
      </p:sp>
    </p:spTree>
    <p:extLst>
      <p:ext uri="{BB962C8B-B14F-4D97-AF65-F5344CB8AC3E}">
        <p14:creationId xmlns:p14="http://schemas.microsoft.com/office/powerpoint/2010/main" val="26058029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591C4-701B-E2AA-605C-167B6CBC8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EA01E-D788-2BB5-2009-41ABDFEAD4BD}"/>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3C6BFC5E-7008-241C-5D9E-CD63D37D9C25}"/>
              </a:ext>
            </a:extLst>
          </p:cNvPr>
          <p:cNvSpPr>
            <a:spLocks noGrp="1"/>
          </p:cNvSpPr>
          <p:nvPr>
            <p:ph idx="1"/>
          </p:nvPr>
        </p:nvSpPr>
        <p:spPr>
          <a:xfrm>
            <a:off x="198783" y="692426"/>
            <a:ext cx="11837504" cy="6076121"/>
          </a:xfrm>
        </p:spPr>
        <p:txBody>
          <a:bodyPr/>
          <a:lstStyle/>
          <a:p>
            <a:r>
              <a:rPr lang="en-US"/>
              <a:t>After funding request is passed from Field visit via CO first time</a:t>
            </a:r>
          </a:p>
          <a:p>
            <a:endParaRPr lang="en-US"/>
          </a:p>
          <a:p>
            <a:endParaRPr lang="en-US"/>
          </a:p>
          <a:p>
            <a:endParaRPr lang="en-US"/>
          </a:p>
        </p:txBody>
      </p:sp>
    </p:spTree>
    <p:extLst>
      <p:ext uri="{BB962C8B-B14F-4D97-AF65-F5344CB8AC3E}">
        <p14:creationId xmlns:p14="http://schemas.microsoft.com/office/powerpoint/2010/main" val="36471092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0" y="648928"/>
            <a:ext cx="12064181" cy="6209071"/>
          </a:xfrm>
        </p:spPr>
        <p:txBody>
          <a:bodyPr numCol="2">
            <a:normAutofit/>
          </a:bodyPr>
          <a:lstStyle/>
          <a:p>
            <a:r>
              <a:rPr lang="en-US" sz="1800"/>
              <a:t>Status_one</a:t>
            </a:r>
          </a:p>
          <a:p>
            <a:pPr lvl="1"/>
            <a:r>
              <a:rPr lang="en-US" sz="1600" b="1">
                <a:solidFill>
                  <a:srgbClr val="00B0F0"/>
                </a:solidFill>
              </a:rPr>
              <a:t>Inprocess</a:t>
            </a:r>
            <a:r>
              <a:rPr lang="en-US" sz="1600"/>
              <a:t> // LO just create the Request  </a:t>
            </a:r>
            <a:r>
              <a:rPr lang="ar-EG" b="1">
                <a:solidFill>
                  <a:srgbClr val="92D050"/>
                </a:solidFill>
              </a:rPr>
              <a:t>طلبات غير مرسلة</a:t>
            </a:r>
            <a:endParaRPr lang="en-US" sz="1600" b="1">
              <a:solidFill>
                <a:srgbClr val="92D050"/>
              </a:solidFill>
            </a:endParaRPr>
          </a:p>
          <a:p>
            <a:pPr lvl="1"/>
            <a:r>
              <a:rPr lang="en-US" sz="1600" b="1">
                <a:solidFill>
                  <a:srgbClr val="00B0F0"/>
                </a:solidFill>
              </a:rPr>
              <a:t>Approved</a:t>
            </a:r>
            <a:r>
              <a:rPr lang="en-US" sz="1600"/>
              <a:t> // REQUEST IS Approved </a:t>
            </a:r>
            <a:r>
              <a:rPr lang="ar-EG" sz="1600"/>
              <a:t>قبول_حقول</a:t>
            </a:r>
            <a:endParaRPr lang="en-US" sz="1600"/>
          </a:p>
          <a:p>
            <a:pPr lvl="1"/>
            <a:r>
              <a:rPr lang="en-US" sz="1600" b="1">
                <a:solidFill>
                  <a:srgbClr val="00B0F0"/>
                </a:solidFill>
              </a:rPr>
              <a:t>Failed Iscore Customer // </a:t>
            </a:r>
          </a:p>
          <a:p>
            <a:pPr lvl="1"/>
            <a:r>
              <a:rPr lang="en-US" sz="1600" b="1">
                <a:solidFill>
                  <a:srgbClr val="00B0F0"/>
                </a:solidFill>
              </a:rPr>
              <a:t>Failed Iscore Guarantor</a:t>
            </a:r>
          </a:p>
          <a:p>
            <a:pPr lvl="1"/>
            <a:r>
              <a:rPr lang="en-US" sz="1600" b="1">
                <a:solidFill>
                  <a:srgbClr val="00B0F0"/>
                </a:solidFill>
              </a:rPr>
              <a:t>Final Reject // </a:t>
            </a:r>
            <a:r>
              <a:rPr lang="ar-EG"/>
              <a:t>طلبات مرفوضة نهائى</a:t>
            </a:r>
            <a:endParaRPr lang="en-US" sz="1600" b="1">
              <a:solidFill>
                <a:srgbClr val="00B0F0"/>
              </a:solidFill>
            </a:endParaRPr>
          </a:p>
          <a:p>
            <a:pPr lvl="1"/>
            <a:r>
              <a:rPr lang="en-US" sz="1600" b="1">
                <a:solidFill>
                  <a:srgbClr val="00B0F0"/>
                </a:solidFill>
              </a:rPr>
              <a:t>Final Reject Guarantor</a:t>
            </a:r>
          </a:p>
          <a:p>
            <a:pPr lvl="1"/>
            <a:r>
              <a:rPr lang="en-US" sz="1600" b="1">
                <a:solidFill>
                  <a:srgbClr val="00B0F0"/>
                </a:solidFill>
              </a:rPr>
              <a:t>Reject</a:t>
            </a:r>
            <a:r>
              <a:rPr lang="en-US" sz="1600"/>
              <a:t> // rejected by CO</a:t>
            </a:r>
          </a:p>
          <a:p>
            <a:pPr lvl="1"/>
            <a:r>
              <a:rPr lang="en-US" sz="1600" b="1">
                <a:solidFill>
                  <a:srgbClr val="00B0F0"/>
                </a:solidFill>
              </a:rPr>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b="1">
                <a:solidFill>
                  <a:srgbClr val="FFFF00"/>
                </a:solidFill>
              </a:rPr>
              <a:t>R111: </a:t>
            </a:r>
            <a:r>
              <a:rPr lang="ar-EG" b="1">
                <a:solidFill>
                  <a:srgbClr val="FFFF00"/>
                </a:solidFill>
              </a:rPr>
              <a:t>طلب التمويل</a:t>
            </a:r>
            <a:r>
              <a:rPr lang="en-US" b="1">
                <a:solidFill>
                  <a:srgbClr val="FFFF00"/>
                </a:solidFill>
              </a:rPr>
              <a:t> : </a:t>
            </a:r>
            <a:r>
              <a:rPr lang="en-US" b="1">
                <a:solidFill>
                  <a:srgbClr val="00B0F0"/>
                </a:solidFill>
              </a:rPr>
              <a:t>Funding Request</a:t>
            </a:r>
            <a:endParaRPr lang="ar-EG" b="1">
              <a:solidFill>
                <a:srgbClr val="00B0F0"/>
              </a:solidFill>
            </a:endParaRPr>
          </a:p>
          <a:p>
            <a:pPr lvl="1"/>
            <a:r>
              <a:rPr lang="en-US" b="1">
                <a:solidFill>
                  <a:srgbClr val="FFFF00"/>
                </a:solidFill>
              </a:rPr>
              <a:t>CO1010: </a:t>
            </a:r>
            <a:r>
              <a:rPr lang="ar-EG" b="1">
                <a:solidFill>
                  <a:srgbClr val="FFFF00"/>
                </a:solidFill>
              </a:rPr>
              <a:t>مراجعة اولية</a:t>
            </a:r>
            <a:r>
              <a:rPr lang="en-US" b="1">
                <a:solidFill>
                  <a:srgbClr val="FFFF00"/>
                </a:solidFill>
              </a:rPr>
              <a:t> : </a:t>
            </a:r>
            <a:r>
              <a:rPr lang="en-US" b="1">
                <a:solidFill>
                  <a:srgbClr val="00B0F0"/>
                </a:solidFill>
              </a:rPr>
              <a:t>Initial Review</a:t>
            </a:r>
          </a:p>
          <a:p>
            <a:pPr lvl="1"/>
            <a:r>
              <a:rPr lang="en-US" b="1">
                <a:solidFill>
                  <a:srgbClr val="FFFF00"/>
                </a:solidFill>
              </a:rPr>
              <a:t>CO1311: </a:t>
            </a:r>
            <a:r>
              <a:rPr lang="ar-EG" b="1">
                <a:solidFill>
                  <a:srgbClr val="FFFF00"/>
                </a:solidFill>
              </a:rPr>
              <a:t>زيارة ميدانية</a:t>
            </a:r>
            <a:r>
              <a:rPr lang="en-US" b="1">
                <a:solidFill>
                  <a:srgbClr val="FFFF00"/>
                </a:solidFill>
              </a:rPr>
              <a:t> : </a:t>
            </a:r>
            <a:r>
              <a:rPr lang="en-US" b="1">
                <a:solidFill>
                  <a:srgbClr val="00B0F0"/>
                </a:solidFill>
              </a:rPr>
              <a:t>Field visit</a:t>
            </a:r>
          </a:p>
          <a:p>
            <a:pPr lvl="1"/>
            <a:r>
              <a:rPr lang="en-US" b="1">
                <a:solidFill>
                  <a:srgbClr val="FFFF00"/>
                </a:solidFill>
              </a:rPr>
              <a:t>CA1211: </a:t>
            </a:r>
            <a:r>
              <a:rPr lang="ar-EG" b="1">
                <a:solidFill>
                  <a:srgbClr val="FFFF00"/>
                </a:solidFill>
              </a:rPr>
              <a:t>تحليل ائتماني</a:t>
            </a:r>
            <a:r>
              <a:rPr lang="en-US" b="1">
                <a:solidFill>
                  <a:srgbClr val="FFFF00"/>
                </a:solidFill>
              </a:rPr>
              <a:t> : </a:t>
            </a:r>
            <a:r>
              <a:rPr lang="en-US" b="1">
                <a:solidFill>
                  <a:srgbClr val="00B0F0"/>
                </a:solidFill>
              </a:rPr>
              <a:t>Critical analysis</a:t>
            </a:r>
          </a:p>
          <a:p>
            <a:pPr lvl="1"/>
            <a:r>
              <a:rPr lang="en-US" b="1">
                <a:solidFill>
                  <a:srgbClr val="FFFF00"/>
                </a:solidFill>
              </a:rPr>
              <a:t>DU77: </a:t>
            </a:r>
            <a:r>
              <a:rPr lang="ar-EG" b="1">
                <a:solidFill>
                  <a:srgbClr val="FFFF00"/>
                </a:solidFill>
              </a:rPr>
              <a:t>تحميل مستندات</a:t>
            </a:r>
            <a:r>
              <a:rPr lang="en-US" b="1">
                <a:solidFill>
                  <a:srgbClr val="FFFF00"/>
                </a:solidFill>
              </a:rPr>
              <a:t> : </a:t>
            </a:r>
            <a:r>
              <a:rPr lang="en-US" b="1">
                <a:solidFill>
                  <a:srgbClr val="00B0F0"/>
                </a:solidFill>
              </a:rPr>
              <a:t>UploadingDocumenta</a:t>
            </a:r>
          </a:p>
          <a:p>
            <a:pPr lvl="1"/>
            <a:r>
              <a:rPr lang="en-US" b="1">
                <a:solidFill>
                  <a:srgbClr val="FFFF00"/>
                </a:solidFill>
              </a:rPr>
              <a:t>LR55: </a:t>
            </a:r>
            <a:r>
              <a:rPr lang="ar-EG" b="1">
                <a:solidFill>
                  <a:srgbClr val="FFFF00"/>
                </a:solidFill>
              </a:rPr>
              <a:t>مراجعة مركزية</a:t>
            </a:r>
            <a:r>
              <a:rPr lang="en-US" b="1">
                <a:solidFill>
                  <a:srgbClr val="FFFF00"/>
                </a:solidFill>
              </a:rPr>
              <a:t> : </a:t>
            </a:r>
            <a:r>
              <a:rPr lang="en-US" b="1">
                <a:solidFill>
                  <a:srgbClr val="00B0F0"/>
                </a:solidFill>
              </a:rPr>
              <a:t>Central Review</a:t>
            </a:r>
          </a:p>
          <a:p>
            <a:pPr lvl="1"/>
            <a:r>
              <a:rPr lang="en-US" b="1">
                <a:solidFill>
                  <a:srgbClr val="FFFF00"/>
                </a:solidFill>
              </a:rPr>
              <a:t>CMR: </a:t>
            </a:r>
            <a:r>
              <a:rPr lang="ar-EG" b="1">
                <a:solidFill>
                  <a:srgbClr val="FFFF00"/>
                </a:solidFill>
              </a:rPr>
              <a:t>لجنة مركزية</a:t>
            </a:r>
            <a:r>
              <a:rPr lang="en-US" b="1">
                <a:solidFill>
                  <a:srgbClr val="FFFF00"/>
                </a:solidFill>
              </a:rPr>
              <a:t> : </a:t>
            </a:r>
            <a:r>
              <a:rPr lang="en-US" b="1">
                <a:solidFill>
                  <a:srgbClr val="00B0F0"/>
                </a:solidFill>
              </a:rPr>
              <a:t>Central committee</a:t>
            </a:r>
          </a:p>
          <a:p>
            <a:pPr lvl="1"/>
            <a:r>
              <a:rPr lang="en-US" b="1">
                <a:solidFill>
                  <a:srgbClr val="FFFF00"/>
                </a:solidFill>
              </a:rPr>
              <a:t>BMSC66: </a:t>
            </a:r>
            <a:r>
              <a:rPr lang="ar-EG" b="1">
                <a:solidFill>
                  <a:srgbClr val="FFFF00"/>
                </a:solidFill>
              </a:rPr>
              <a:t>إتمام توقيع</a:t>
            </a:r>
            <a:r>
              <a:rPr lang="en-US" b="1">
                <a:solidFill>
                  <a:srgbClr val="FFFF00"/>
                </a:solidFill>
              </a:rPr>
              <a:t> : </a:t>
            </a:r>
            <a:r>
              <a:rPr lang="en-US" b="1">
                <a:solidFill>
                  <a:srgbClr val="00B0F0"/>
                </a:solidFill>
              </a:rPr>
              <a:t>Signature</a:t>
            </a:r>
          </a:p>
          <a:p>
            <a:pPr lvl="1"/>
            <a:endParaRPr lang="en-US"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normAutofit/>
          </a:bodyPr>
          <a:lstStyle/>
          <a:p>
            <a:r>
              <a:rPr lang="en-US" sz="3600" b="1">
                <a:solidFill>
                  <a:srgbClr val="FFFF00"/>
                </a:solidFill>
              </a:rPr>
              <a:t>TDWF.</a:t>
            </a:r>
            <a:r>
              <a:rPr lang="en-US" sz="3600" b="1">
                <a:solidFill>
                  <a:srgbClr val="FF0000"/>
                </a:solidFill>
              </a:rPr>
              <a:t>Flow_Request_Deportation [cont. 4]</a:t>
            </a:r>
            <a:endParaRPr lang="en-US" sz="3600"/>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D162FB-B1B4-8807-C47D-A98FA74C0AD2}"/>
              </a:ext>
            </a:extLst>
          </p:cNvPr>
          <p:cNvSpPr>
            <a:spLocks noGrp="1"/>
          </p:cNvSpPr>
          <p:nvPr>
            <p:ph type="title"/>
          </p:nvPr>
        </p:nvSpPr>
        <p:spPr>
          <a:xfrm>
            <a:off x="913795" y="0"/>
            <a:ext cx="10353762" cy="688258"/>
          </a:xfrm>
        </p:spPr>
        <p:txBody>
          <a:bodyPr>
            <a:normAutofit/>
          </a:bodyPr>
          <a:lstStyle/>
          <a:p>
            <a:r>
              <a:rPr lang="en-US" sz="3200" b="1">
                <a:solidFill>
                  <a:srgbClr val="FFFF00"/>
                </a:solidFill>
              </a:rPr>
              <a:t>TDWF.</a:t>
            </a:r>
            <a:r>
              <a:rPr lang="en-US" sz="3200" b="1">
                <a:solidFill>
                  <a:srgbClr val="FF0000"/>
                </a:solidFill>
              </a:rPr>
              <a:t>Flow_Request_Deportation [cont. 5]</a:t>
            </a:r>
            <a:endParaRPr lang="en-US" sz="3200"/>
          </a:p>
        </p:txBody>
      </p:sp>
      <p:sp>
        <p:nvSpPr>
          <p:cNvPr id="3" name="Content Placeholder 2">
            <a:extLst>
              <a:ext uri="{FF2B5EF4-FFF2-40B4-BE49-F238E27FC236}">
                <a16:creationId xmlns:a16="http://schemas.microsoft.com/office/drawing/2014/main" id="{4317B5F5-622C-D6E2-6BDC-41103F4591AF}"/>
              </a:ext>
            </a:extLst>
          </p:cNvPr>
          <p:cNvSpPr>
            <a:spLocks noGrp="1"/>
          </p:cNvSpPr>
          <p:nvPr>
            <p:ph idx="1"/>
          </p:nvPr>
        </p:nvSpPr>
        <p:spPr>
          <a:xfrm>
            <a:off x="216310" y="688258"/>
            <a:ext cx="11828205" cy="6096000"/>
          </a:xfrm>
        </p:spPr>
        <p:txBody>
          <a:bodyPr/>
          <a:lstStyle/>
          <a:p>
            <a:r>
              <a:rPr lang="en-US"/>
              <a:t>After funding request is </a:t>
            </a:r>
            <a:r>
              <a:rPr lang="en-US" b="1">
                <a:solidFill>
                  <a:srgbClr val="FF0000"/>
                </a:solidFill>
              </a:rPr>
              <a:t>Final Rejected</a:t>
            </a:r>
            <a:r>
              <a:rPr lang="en-US"/>
              <a:t> VIA CO </a:t>
            </a:r>
            <a:r>
              <a:rPr lang="ar-EG" b="1">
                <a:solidFill>
                  <a:srgbClr val="FF0000"/>
                </a:solidFill>
              </a:rPr>
              <a:t>رفض نهائي</a:t>
            </a:r>
          </a:p>
          <a:p>
            <a:pPr lvl="1"/>
            <a:r>
              <a:rPr lang="en-US">
                <a:highlight>
                  <a:srgbClr val="FFFF00"/>
                </a:highlight>
              </a:rPr>
              <a:t>UserId_from= 14154  // the CO Id</a:t>
            </a:r>
          </a:p>
          <a:p>
            <a:pPr lvl="1"/>
            <a:r>
              <a:rPr lang="en-US"/>
              <a:t>UserId_to = NULL    //</a:t>
            </a:r>
          </a:p>
          <a:p>
            <a:pPr lvl="1"/>
            <a:r>
              <a:rPr lang="en-US">
                <a:highlight>
                  <a:srgbClr val="FFFF00"/>
                </a:highlight>
              </a:rPr>
              <a:t>Name_step_from  : </a:t>
            </a:r>
            <a:r>
              <a:rPr lang="ar-EG">
                <a:highlight>
                  <a:srgbClr val="FFFF00"/>
                </a:highlight>
              </a:rPr>
              <a:t>مراجعة أولية</a:t>
            </a:r>
          </a:p>
          <a:p>
            <a:pPr lvl="1"/>
            <a:r>
              <a:rPr lang="en-US"/>
              <a:t>Name_step_to:	 </a:t>
            </a:r>
          </a:p>
          <a:p>
            <a:pPr lvl="1"/>
            <a:r>
              <a:rPr lang="en-US"/>
              <a:t>Code_action (from: Flow_Actions): </a:t>
            </a:r>
            <a:r>
              <a:rPr lang="en-US" sz="2000" b="1">
                <a:solidFill>
                  <a:srgbClr val="FFFF00"/>
                </a:solidFill>
              </a:rPr>
              <a:t>Null</a:t>
            </a:r>
            <a:endParaRPr lang="en-US"/>
          </a:p>
          <a:p>
            <a:pPr lvl="1"/>
            <a:r>
              <a:rPr lang="en-US"/>
              <a:t>Status_one: </a:t>
            </a:r>
            <a:r>
              <a:rPr lang="en-US" b="1">
                <a:solidFill>
                  <a:srgbClr val="00B0F0"/>
                </a:solidFill>
              </a:rPr>
              <a:t>Final</a:t>
            </a:r>
            <a:r>
              <a:rPr lang="en-US"/>
              <a:t> </a:t>
            </a:r>
            <a:r>
              <a:rPr lang="en-US" b="1">
                <a:solidFill>
                  <a:srgbClr val="00B0F0"/>
                </a:solidFill>
              </a:rPr>
              <a:t>Reject</a:t>
            </a:r>
            <a:r>
              <a:rPr lang="en-US"/>
              <a:t> // means the Name_step_from  : </a:t>
            </a:r>
            <a:r>
              <a:rPr lang="ar-EG"/>
              <a:t>مراجعة أولية</a:t>
            </a:r>
            <a:r>
              <a:rPr lang="en-US"/>
              <a:t> is final rejected</a:t>
            </a:r>
          </a:p>
          <a:p>
            <a:pPr lvl="1"/>
            <a:r>
              <a:rPr lang="en-US"/>
              <a:t>Status_two: </a:t>
            </a:r>
            <a:endParaRPr lang="ar-EG"/>
          </a:p>
          <a:p>
            <a:endParaRPr lang="en-US"/>
          </a:p>
          <a:p>
            <a:endParaRPr lang="en-US"/>
          </a:p>
        </p:txBody>
      </p:sp>
    </p:spTree>
    <p:extLst>
      <p:ext uri="{BB962C8B-B14F-4D97-AF65-F5344CB8AC3E}">
        <p14:creationId xmlns:p14="http://schemas.microsoft.com/office/powerpoint/2010/main" val="8476258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3D80F-7320-26AF-69A9-DAFD737BE2E6}"/>
              </a:ext>
            </a:extLst>
          </p:cNvPr>
          <p:cNvSpPr>
            <a:spLocks noGrp="1"/>
          </p:cNvSpPr>
          <p:nvPr>
            <p:ph type="title"/>
          </p:nvPr>
        </p:nvSpPr>
        <p:spPr>
          <a:xfrm>
            <a:off x="913795" y="0"/>
            <a:ext cx="10353762" cy="678426"/>
          </a:xfrm>
        </p:spPr>
        <p:txBody>
          <a:bodyPr>
            <a:normAutofit/>
          </a:bodyPr>
          <a:lstStyle/>
          <a:p>
            <a:r>
              <a:rPr lang="en-US" sz="3200" b="1">
                <a:solidFill>
                  <a:srgbClr val="FFFF00"/>
                </a:solidFill>
              </a:rPr>
              <a:t>TDWF.</a:t>
            </a:r>
            <a:r>
              <a:rPr lang="en-US" sz="3200" b="1">
                <a:solidFill>
                  <a:srgbClr val="FF0000"/>
                </a:solidFill>
              </a:rPr>
              <a:t>Flow_Request_Deportation [cont. 6]</a:t>
            </a:r>
            <a:endParaRPr lang="en-US" sz="3200"/>
          </a:p>
        </p:txBody>
      </p:sp>
      <p:sp>
        <p:nvSpPr>
          <p:cNvPr id="3" name="Content Placeholder 2">
            <a:extLst>
              <a:ext uri="{FF2B5EF4-FFF2-40B4-BE49-F238E27FC236}">
                <a16:creationId xmlns:a16="http://schemas.microsoft.com/office/drawing/2014/main" id="{F400C10F-897D-F727-1B86-A376F407B1A6}"/>
              </a:ext>
            </a:extLst>
          </p:cNvPr>
          <p:cNvSpPr>
            <a:spLocks noGrp="1"/>
          </p:cNvSpPr>
          <p:nvPr>
            <p:ph idx="1"/>
          </p:nvPr>
        </p:nvSpPr>
        <p:spPr>
          <a:xfrm>
            <a:off x="167148" y="678426"/>
            <a:ext cx="11887200" cy="6017341"/>
          </a:xfrm>
        </p:spPr>
        <p:txBody>
          <a:bodyPr/>
          <a:lstStyle/>
          <a:p>
            <a:r>
              <a:rPr lang="en-US"/>
              <a:t>After CO at  deport the request from Field visit to Credit analysis</a:t>
            </a:r>
            <a:endParaRPr lang="ar-EG"/>
          </a:p>
          <a:p>
            <a:pPr lvl="1"/>
            <a:r>
              <a:rPr lang="en-US"/>
              <a:t>UserId_from= 14154  // the CO Id</a:t>
            </a:r>
            <a:endParaRPr lang="ar-EG"/>
          </a:p>
          <a:p>
            <a:pPr lvl="1"/>
            <a:r>
              <a:rPr lang="en-US"/>
              <a:t>UserId_to = 14154    // the CO</a:t>
            </a:r>
            <a:endParaRPr lang="ar-EG"/>
          </a:p>
          <a:p>
            <a:pPr lvl="1"/>
            <a:r>
              <a:rPr lang="en-US"/>
              <a:t>Name_step_from  : </a:t>
            </a:r>
            <a:r>
              <a:rPr lang="ar-EG"/>
              <a:t>زيارة ميدانية</a:t>
            </a:r>
          </a:p>
          <a:p>
            <a:pPr lvl="1"/>
            <a:r>
              <a:rPr lang="en-US"/>
              <a:t>Name_step_to:	 </a:t>
            </a:r>
            <a:r>
              <a:rPr lang="ar-EG"/>
              <a:t>تحليل ائتماني</a:t>
            </a:r>
            <a:endParaRPr lang="en-US"/>
          </a:p>
          <a:p>
            <a:pPr lvl="1"/>
            <a:r>
              <a:rPr lang="en-US"/>
              <a:t>Code_action (from: Flow_Actions): </a:t>
            </a:r>
            <a:r>
              <a:rPr lang="ar-EG" sz="2000" b="1">
                <a:solidFill>
                  <a:srgbClr val="FFFF00"/>
                </a:solidFill>
              </a:rPr>
              <a:t>10</a:t>
            </a:r>
            <a:endParaRPr lang="en-US"/>
          </a:p>
          <a:p>
            <a:pPr lvl="1"/>
            <a:r>
              <a:rPr lang="en-US"/>
              <a:t>Status_one: </a:t>
            </a:r>
            <a:r>
              <a:rPr lang="en-US" b="1">
                <a:solidFill>
                  <a:srgbClr val="00B0F0"/>
                </a:solidFill>
              </a:rPr>
              <a:t>Approved </a:t>
            </a:r>
            <a:r>
              <a:rPr lang="en-US"/>
              <a:t>// means the Name_step_from  : </a:t>
            </a:r>
            <a:r>
              <a:rPr lang="ar-EG"/>
              <a:t>زيارة ميدانية</a:t>
            </a:r>
            <a:r>
              <a:rPr lang="en-US"/>
              <a:t> is approved</a:t>
            </a:r>
          </a:p>
          <a:p>
            <a:pPr lvl="1"/>
            <a:r>
              <a:rPr lang="en-US"/>
              <a:t>Status_two: </a:t>
            </a:r>
            <a:r>
              <a:rPr lang="en-US" b="1">
                <a:solidFill>
                  <a:srgbClr val="00B0F0"/>
                </a:solidFill>
              </a:rPr>
              <a:t>BMFR1</a:t>
            </a:r>
            <a:endParaRPr lang="ar-EG" b="1">
              <a:solidFill>
                <a:srgbClr val="00B0F0"/>
              </a:solidFill>
            </a:endParaRPr>
          </a:p>
          <a:p>
            <a:endParaRPr lang="en-US"/>
          </a:p>
          <a:p>
            <a:endParaRPr lang="en-US"/>
          </a:p>
        </p:txBody>
      </p:sp>
    </p:spTree>
    <p:extLst>
      <p:ext uri="{BB962C8B-B14F-4D97-AF65-F5344CB8AC3E}">
        <p14:creationId xmlns:p14="http://schemas.microsoft.com/office/powerpoint/2010/main" val="4259227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4FBF-F0BB-774C-FD4E-6A182D98FC28}"/>
              </a:ext>
            </a:extLst>
          </p:cNvPr>
          <p:cNvSpPr>
            <a:spLocks noGrp="1"/>
          </p:cNvSpPr>
          <p:nvPr>
            <p:ph type="title"/>
          </p:nvPr>
        </p:nvSpPr>
        <p:spPr>
          <a:xfrm>
            <a:off x="913795" y="0"/>
            <a:ext cx="10353762" cy="619432"/>
          </a:xfrm>
        </p:spPr>
        <p:txBody>
          <a:bodyPr>
            <a:normAutofit fontScale="90000"/>
          </a:bodyPr>
          <a:lstStyle/>
          <a:p>
            <a:r>
              <a:rPr lang="en-US" b="1">
                <a:solidFill>
                  <a:srgbClr val="FFFF00"/>
                </a:solidFill>
              </a:rPr>
              <a:t>TDWF</a:t>
            </a:r>
            <a:r>
              <a:rPr lang="en-US"/>
              <a:t>.</a:t>
            </a:r>
            <a:r>
              <a:rPr lang="en-US" b="1">
                <a:solidFill>
                  <a:srgbClr val="FF0000"/>
                </a:solidFill>
              </a:rPr>
              <a:t>Flow_Rejections_main</a:t>
            </a:r>
          </a:p>
        </p:txBody>
      </p:sp>
      <p:sp>
        <p:nvSpPr>
          <p:cNvPr id="3" name="Content Placeholder 2">
            <a:extLst>
              <a:ext uri="{FF2B5EF4-FFF2-40B4-BE49-F238E27FC236}">
                <a16:creationId xmlns:a16="http://schemas.microsoft.com/office/drawing/2014/main" id="{36DA3D8E-EFB8-1022-10D0-BA8027151160}"/>
              </a:ext>
            </a:extLst>
          </p:cNvPr>
          <p:cNvSpPr>
            <a:spLocks noGrp="1"/>
          </p:cNvSpPr>
          <p:nvPr>
            <p:ph idx="1"/>
          </p:nvPr>
        </p:nvSpPr>
        <p:spPr>
          <a:xfrm>
            <a:off x="24172" y="619432"/>
            <a:ext cx="12167828" cy="5928851"/>
          </a:xfrm>
        </p:spPr>
        <p:txBody>
          <a:bodyPr/>
          <a:lstStyle/>
          <a:p>
            <a:r>
              <a:rPr lang="en-US" sz="2400" b="1">
                <a:solidFill>
                  <a:srgbClr val="FF0000"/>
                </a:solidFill>
              </a:rPr>
              <a:t>After request is rejected via CO </a:t>
            </a:r>
            <a:r>
              <a:rPr lang="ar-EG" sz="2400" b="1">
                <a:solidFill>
                  <a:srgbClr val="FF0000"/>
                </a:solidFill>
              </a:rPr>
              <a:t>رفض</a:t>
            </a:r>
            <a:endParaRPr lang="en-US" sz="2400"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4288288308"/>
              </p:ext>
            </p:extLst>
          </p:nvPr>
        </p:nvGraphicFramePr>
        <p:xfrm>
          <a:off x="6743700" y="1238864"/>
          <a:ext cx="5252830" cy="1483360"/>
        </p:xfrm>
        <a:graphic>
          <a:graphicData uri="http://schemas.openxmlformats.org/drawingml/2006/table">
            <a:tbl>
              <a:tblPr firstRow="1" bandRow="1">
                <a:tableStyleId>{5C22544A-7EE6-4342-B048-85BDC9FD1C3A}</a:tableStyleId>
              </a:tblPr>
              <a:tblGrid>
                <a:gridCol w="872836">
                  <a:extLst>
                    <a:ext uri="{9D8B030D-6E8A-4147-A177-3AD203B41FA5}">
                      <a16:colId xmlns:a16="http://schemas.microsoft.com/office/drawing/2014/main" val="953148366"/>
                    </a:ext>
                  </a:extLst>
                </a:gridCol>
                <a:gridCol w="4379994">
                  <a:extLst>
                    <a:ext uri="{9D8B030D-6E8A-4147-A177-3AD203B41FA5}">
                      <a16:colId xmlns:a16="http://schemas.microsoft.com/office/drawing/2014/main" val="1910439298"/>
                    </a:ext>
                  </a:extLst>
                </a:gridCol>
              </a:tblGrid>
              <a:tr h="37084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70840">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70840">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70840">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graphicFrame>
        <p:nvGraphicFramePr>
          <p:cNvPr id="5" name="Table 4">
            <a:extLst>
              <a:ext uri="{FF2B5EF4-FFF2-40B4-BE49-F238E27FC236}">
                <a16:creationId xmlns:a16="http://schemas.microsoft.com/office/drawing/2014/main" id="{406FBB2F-FC2B-611E-BCA7-6481DF9C3673}"/>
              </a:ext>
            </a:extLst>
          </p:cNvPr>
          <p:cNvGraphicFramePr>
            <a:graphicFrameLocks noGrp="1"/>
          </p:cNvGraphicFramePr>
          <p:nvPr>
            <p:extLst>
              <p:ext uri="{D42A27DB-BD31-4B8C-83A1-F6EECF244321}">
                <p14:modId xmlns:p14="http://schemas.microsoft.com/office/powerpoint/2010/main" val="637988134"/>
              </p:ext>
            </p:extLst>
          </p:nvPr>
        </p:nvGraphicFramePr>
        <p:xfrm>
          <a:off x="193574" y="2970816"/>
          <a:ext cx="11794203" cy="741680"/>
        </p:xfrm>
        <a:graphic>
          <a:graphicData uri="http://schemas.openxmlformats.org/drawingml/2006/table">
            <a:tbl>
              <a:tblPr firstRow="1" bandRow="1">
                <a:tableStyleId>{5C22544A-7EE6-4342-B048-85BDC9FD1C3A}</a:tableStyleId>
              </a:tblPr>
              <a:tblGrid>
                <a:gridCol w="1651099">
                  <a:extLst>
                    <a:ext uri="{9D8B030D-6E8A-4147-A177-3AD203B41FA5}">
                      <a16:colId xmlns:a16="http://schemas.microsoft.com/office/drawing/2014/main" val="2510266671"/>
                    </a:ext>
                  </a:extLst>
                </a:gridCol>
                <a:gridCol w="1964600">
                  <a:extLst>
                    <a:ext uri="{9D8B030D-6E8A-4147-A177-3AD203B41FA5}">
                      <a16:colId xmlns:a16="http://schemas.microsoft.com/office/drawing/2014/main" val="3238377372"/>
                    </a:ext>
                  </a:extLst>
                </a:gridCol>
                <a:gridCol w="1421199">
                  <a:extLst>
                    <a:ext uri="{9D8B030D-6E8A-4147-A177-3AD203B41FA5}">
                      <a16:colId xmlns:a16="http://schemas.microsoft.com/office/drawing/2014/main" val="1594916714"/>
                    </a:ext>
                  </a:extLst>
                </a:gridCol>
                <a:gridCol w="2851334">
                  <a:extLst>
                    <a:ext uri="{9D8B030D-6E8A-4147-A177-3AD203B41FA5}">
                      <a16:colId xmlns:a16="http://schemas.microsoft.com/office/drawing/2014/main" val="396291970"/>
                    </a:ext>
                  </a:extLst>
                </a:gridCol>
                <a:gridCol w="2091512">
                  <a:extLst>
                    <a:ext uri="{9D8B030D-6E8A-4147-A177-3AD203B41FA5}">
                      <a16:colId xmlns:a16="http://schemas.microsoft.com/office/drawing/2014/main" val="2006853344"/>
                    </a:ext>
                  </a:extLst>
                </a:gridCol>
                <a:gridCol w="1814459">
                  <a:extLst>
                    <a:ext uri="{9D8B030D-6E8A-4147-A177-3AD203B41FA5}">
                      <a16:colId xmlns:a16="http://schemas.microsoft.com/office/drawing/2014/main" val="2181801146"/>
                    </a:ext>
                  </a:extLst>
                </a:gridCol>
              </a:tblGrid>
              <a:tr h="370840">
                <a:tc>
                  <a:txBody>
                    <a:bodyPr/>
                    <a:lstStyle/>
                    <a:p>
                      <a:pPr algn="ctr"/>
                      <a:r>
                        <a:rPr lang="en-US"/>
                        <a:t>UserId</a:t>
                      </a:r>
                    </a:p>
                  </a:txBody>
                  <a:tcPr/>
                </a:tc>
                <a:tc>
                  <a:txBody>
                    <a:bodyPr/>
                    <a:lstStyle/>
                    <a:p>
                      <a:pPr algn="ctr"/>
                      <a:r>
                        <a:rPr lang="en-US"/>
                        <a:t>Reject_by_phase</a:t>
                      </a:r>
                    </a:p>
                  </a:txBody>
                  <a:tcPr/>
                </a:tc>
                <a:tc>
                  <a:txBody>
                    <a:bodyPr/>
                    <a:lstStyle/>
                    <a:p>
                      <a:pPr algn="ctr"/>
                      <a:r>
                        <a:rPr lang="en-US"/>
                        <a:t>Request_id</a:t>
                      </a:r>
                    </a:p>
                  </a:txBody>
                  <a:tcPr/>
                </a:tc>
                <a:tc>
                  <a:txBody>
                    <a:bodyPr/>
                    <a:lstStyle/>
                    <a:p>
                      <a:pPr algn="ctr"/>
                      <a:r>
                        <a:rPr lang="en-US"/>
                        <a:t>Remarks</a:t>
                      </a:r>
                    </a:p>
                  </a:txBody>
                  <a:tcPr/>
                </a:tc>
                <a:tc>
                  <a:txBody>
                    <a:bodyPr/>
                    <a:lstStyle/>
                    <a:p>
                      <a:pPr algn="ctr"/>
                      <a:r>
                        <a:rPr lang="en-US"/>
                        <a:t>InsertDate</a:t>
                      </a:r>
                    </a:p>
                  </a:txBody>
                  <a:tcPr/>
                </a:tc>
                <a:tc>
                  <a:txBody>
                    <a:bodyPr/>
                    <a:lstStyle/>
                    <a:p>
                      <a:pPr algn="ctr"/>
                      <a:r>
                        <a:rPr lang="en-US"/>
                        <a:t>Rejection_flag</a:t>
                      </a:r>
                    </a:p>
                  </a:txBody>
                  <a:tcPr/>
                </a:tc>
                <a:extLst>
                  <a:ext uri="{0D108BD9-81ED-4DB2-BD59-A6C34878D82A}">
                    <a16:rowId xmlns:a16="http://schemas.microsoft.com/office/drawing/2014/main" val="2813072921"/>
                  </a:ext>
                </a:extLst>
              </a:tr>
              <a:tr h="370840">
                <a:tc>
                  <a:txBody>
                    <a:bodyPr/>
                    <a:lstStyle/>
                    <a:p>
                      <a:pPr algn="ctr"/>
                      <a:r>
                        <a:rPr lang="en-US" b="0"/>
                        <a:t>1152  [ CO ]</a:t>
                      </a:r>
                    </a:p>
                  </a:txBody>
                  <a:tcPr/>
                </a:tc>
                <a:tc>
                  <a:txBody>
                    <a:bodyPr/>
                    <a:lstStyle/>
                    <a:p>
                      <a:pPr algn="ctr"/>
                      <a:r>
                        <a:rPr lang="en-US" b="0"/>
                        <a:t>CO1010</a:t>
                      </a:r>
                    </a:p>
                  </a:txBody>
                  <a:tcPr/>
                </a:tc>
                <a:tc>
                  <a:txBody>
                    <a:bodyPr/>
                    <a:lstStyle/>
                    <a:p>
                      <a:pPr algn="ctr"/>
                      <a:r>
                        <a:rPr lang="en-US" b="0"/>
                        <a:t>1565295</a:t>
                      </a:r>
                    </a:p>
                  </a:txBody>
                  <a:tcPr/>
                </a:tc>
                <a:tc>
                  <a:txBody>
                    <a:bodyPr/>
                    <a:lstStyle/>
                    <a:p>
                      <a:pPr algn="ctr"/>
                      <a:r>
                        <a:rPr lang="ar-EG" sz="1600" b="0"/>
                        <a:t>تم الرفض من مرحلة المراجعة الأولية</a:t>
                      </a:r>
                      <a:endParaRPr lang="en-US" sz="1600" b="0"/>
                    </a:p>
                  </a:txBody>
                  <a:tcPr/>
                </a:tc>
                <a:tc>
                  <a:txBody>
                    <a:bodyPr/>
                    <a:lstStyle/>
                    <a:p>
                      <a:pPr algn="ctr"/>
                      <a:r>
                        <a:rPr lang="en-US" sz="1600" b="0"/>
                        <a:t>2026-02-25 11:15:07</a:t>
                      </a:r>
                    </a:p>
                  </a:txBody>
                  <a:tcPr/>
                </a:tc>
                <a:tc>
                  <a:txBody>
                    <a:bodyPr/>
                    <a:lstStyle/>
                    <a:p>
                      <a:pPr algn="ctr"/>
                      <a:r>
                        <a:rPr lang="ar-EG" b="0"/>
                        <a:t>2</a:t>
                      </a:r>
                      <a:endParaRPr lang="en-US" b="0"/>
                    </a:p>
                  </a:txBody>
                  <a:tcPr/>
                </a:tc>
                <a:extLst>
                  <a:ext uri="{0D108BD9-81ED-4DB2-BD59-A6C34878D82A}">
                    <a16:rowId xmlns:a16="http://schemas.microsoft.com/office/drawing/2014/main" val="2372472528"/>
                  </a:ext>
                </a:extLst>
              </a:tr>
            </a:tbl>
          </a:graphicData>
        </a:graphic>
      </p:graphicFrame>
    </p:spTree>
    <p:extLst>
      <p:ext uri="{BB962C8B-B14F-4D97-AF65-F5344CB8AC3E}">
        <p14:creationId xmlns:p14="http://schemas.microsoft.com/office/powerpoint/2010/main" val="4147338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3AF15-2900-BCCD-BE8F-E2D58873E262}"/>
              </a:ext>
            </a:extLst>
          </p:cNvPr>
          <p:cNvSpPr>
            <a:spLocks noGrp="1"/>
          </p:cNvSpPr>
          <p:nvPr>
            <p:ph type="title"/>
          </p:nvPr>
        </p:nvSpPr>
        <p:spPr>
          <a:xfrm>
            <a:off x="913795" y="0"/>
            <a:ext cx="10353762" cy="648929"/>
          </a:xfrm>
        </p:spPr>
        <p:txBody>
          <a:bodyPr>
            <a:normAutofit/>
          </a:bodyPr>
          <a:lstStyle/>
          <a:p>
            <a:r>
              <a:rPr lang="en-US" sz="3200" b="1">
                <a:solidFill>
                  <a:srgbClr val="FFFF00"/>
                </a:solidFill>
              </a:rPr>
              <a:t>TDWF</a:t>
            </a:r>
            <a:r>
              <a:rPr lang="en-US" sz="3200"/>
              <a:t>.</a:t>
            </a:r>
            <a:r>
              <a:rPr lang="en-US" sz="3200" b="1">
                <a:solidFill>
                  <a:srgbClr val="FF0000"/>
                </a:solidFill>
              </a:rPr>
              <a:t>Flow_Rejections_SubOne</a:t>
            </a:r>
          </a:p>
        </p:txBody>
      </p:sp>
      <p:sp>
        <p:nvSpPr>
          <p:cNvPr id="3" name="Content Placeholder 2">
            <a:extLst>
              <a:ext uri="{FF2B5EF4-FFF2-40B4-BE49-F238E27FC236}">
                <a16:creationId xmlns:a16="http://schemas.microsoft.com/office/drawing/2014/main" id="{C8CE30A4-CBA1-C28D-BA06-F2D2F5A3F8D1}"/>
              </a:ext>
            </a:extLst>
          </p:cNvPr>
          <p:cNvSpPr>
            <a:spLocks noGrp="1"/>
          </p:cNvSpPr>
          <p:nvPr>
            <p:ph idx="1"/>
          </p:nvPr>
        </p:nvSpPr>
        <p:spPr>
          <a:xfrm>
            <a:off x="275302" y="648929"/>
            <a:ext cx="11690555" cy="6105832"/>
          </a:xfrm>
        </p:spPr>
        <p:txBody>
          <a:bodyPr/>
          <a:lstStyle/>
          <a:p>
            <a:r>
              <a:rPr lang="en-US"/>
              <a:t>FRSO_ID [PK]</a:t>
            </a:r>
          </a:p>
          <a:p>
            <a:r>
              <a:rPr lang="en-US"/>
              <a:t>tabs_code [FK] </a:t>
            </a:r>
            <a:r>
              <a:rPr lang="en-US" b="1">
                <a:solidFill>
                  <a:srgbClr val="FFFF00"/>
                </a:solidFill>
              </a:rPr>
              <a:t>from Flow_Tabs</a:t>
            </a:r>
          </a:p>
          <a:p>
            <a:r>
              <a:rPr lang="en-US"/>
              <a:t>Field_name</a:t>
            </a:r>
          </a:p>
          <a:p>
            <a:r>
              <a:rPr lang="en-US"/>
              <a:t>Field_code</a:t>
            </a:r>
          </a:p>
          <a:p>
            <a:r>
              <a:rPr lang="en-US"/>
              <a:t>UserId: the User who will receive the rejection</a:t>
            </a:r>
          </a:p>
          <a:p>
            <a:r>
              <a:rPr lang="en-US"/>
              <a:t>Phase_back_to: string </a:t>
            </a:r>
          </a:p>
          <a:p>
            <a:r>
              <a:rPr lang="en-US"/>
              <a:t>Comment: string</a:t>
            </a:r>
          </a:p>
          <a:p>
            <a:r>
              <a:rPr lang="en-US"/>
              <a:t>FRM_ID </a:t>
            </a:r>
            <a:r>
              <a:rPr lang="en-US" b="1">
                <a:solidFill>
                  <a:srgbClr val="FFFF00"/>
                </a:solidFill>
              </a:rPr>
              <a:t>[FK] from Flow_Rejection_Main</a:t>
            </a:r>
          </a:p>
        </p:txBody>
      </p:sp>
    </p:spTree>
    <p:extLst>
      <p:ext uri="{BB962C8B-B14F-4D97-AF65-F5344CB8AC3E}">
        <p14:creationId xmlns:p14="http://schemas.microsoft.com/office/powerpoint/2010/main" val="25945814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C371A-EF07-CBCD-1233-CFDD455359D4}"/>
              </a:ext>
            </a:extLst>
          </p:cNvPr>
          <p:cNvSpPr>
            <a:spLocks noGrp="1"/>
          </p:cNvSpPr>
          <p:nvPr>
            <p:ph type="title"/>
          </p:nvPr>
        </p:nvSpPr>
        <p:spPr>
          <a:xfrm>
            <a:off x="913795" y="0"/>
            <a:ext cx="10353762" cy="970450"/>
          </a:xfrm>
        </p:spPr>
        <p:txBody>
          <a:bodyPr/>
          <a:lstStyle/>
          <a:p>
            <a:r>
              <a:rPr lang="en-US" b="1">
                <a:solidFill>
                  <a:srgbClr val="FFFF00"/>
                </a:solidFill>
              </a:rPr>
              <a:t>TDWF</a:t>
            </a:r>
            <a:r>
              <a:rPr lang="en-US"/>
              <a:t>.</a:t>
            </a:r>
            <a:r>
              <a:rPr lang="en-US" b="1">
                <a:solidFill>
                  <a:srgbClr val="FF0000"/>
                </a:solidFill>
              </a:rPr>
              <a:t>Flow_Rejections_SubOne [cont.1]</a:t>
            </a:r>
            <a:endParaRPr lang="en-US"/>
          </a:p>
        </p:txBody>
      </p:sp>
      <p:sp>
        <p:nvSpPr>
          <p:cNvPr id="3" name="Content Placeholder 2">
            <a:extLst>
              <a:ext uri="{FF2B5EF4-FFF2-40B4-BE49-F238E27FC236}">
                <a16:creationId xmlns:a16="http://schemas.microsoft.com/office/drawing/2014/main" id="{0B200E3E-059A-C3FB-2BFA-B1B945F5D940}"/>
              </a:ext>
            </a:extLst>
          </p:cNvPr>
          <p:cNvSpPr>
            <a:spLocks noGrp="1"/>
          </p:cNvSpPr>
          <p:nvPr>
            <p:ph idx="1"/>
          </p:nvPr>
        </p:nvSpPr>
        <p:spPr>
          <a:xfrm>
            <a:off x="176980" y="970451"/>
            <a:ext cx="12929419" cy="5705652"/>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pPr lvl="1"/>
            <a:r>
              <a:rPr lang="en-US" b="1">
                <a:solidFill>
                  <a:schemeClr val="tx1"/>
                </a:solidFill>
              </a:rPr>
              <a:t>The CO rejected at screen [ </a:t>
            </a:r>
            <a:r>
              <a:rPr lang="ar-EG" b="1">
                <a:solidFill>
                  <a:schemeClr val="tx1"/>
                </a:solidFill>
              </a:rPr>
              <a:t>: طلب قرض</a:t>
            </a:r>
            <a:r>
              <a:rPr lang="en-US" b="1">
                <a:solidFill>
                  <a:schemeClr val="tx1"/>
                </a:solidFill>
              </a:rPr>
              <a:t> </a:t>
            </a:r>
            <a:r>
              <a:rPr lang="ar-EG" b="1">
                <a:solidFill>
                  <a:schemeClr val="tx1"/>
                </a:solidFill>
              </a:rPr>
              <a:t>2</a:t>
            </a:r>
            <a:r>
              <a:rPr lang="en-US" b="1">
                <a:solidFill>
                  <a:schemeClr val="tx1"/>
                </a:solidFill>
              </a:rPr>
              <a:t>] </a:t>
            </a:r>
            <a:r>
              <a:rPr lang="ar-EG" b="1">
                <a:solidFill>
                  <a:schemeClr val="tx1"/>
                </a:solidFill>
              </a:rPr>
              <a:t>صله العميل بالضامن</a:t>
            </a:r>
            <a:endParaRPr lang="en-US" b="1">
              <a:solidFill>
                <a:schemeClr val="tx1"/>
              </a:solidFill>
            </a:endParaRPr>
          </a:p>
          <a:p>
            <a:pPr lvl="1"/>
            <a:r>
              <a:rPr lang="en-US" b="1">
                <a:solidFill>
                  <a:schemeClr val="tx1"/>
                </a:solidFill>
              </a:rPr>
              <a:t>The CO rejected </a:t>
            </a:r>
            <a:r>
              <a:rPr lang="ar-EG" b="1">
                <a:solidFill>
                  <a:schemeClr val="tx1"/>
                </a:solidFill>
              </a:rPr>
              <a:t>الاسم الاول</a:t>
            </a:r>
            <a:endParaRPr lang="en-US" b="1">
              <a:solidFill>
                <a:schemeClr val="tx1"/>
              </a:solidFill>
            </a:endParaRPr>
          </a:p>
          <a:p>
            <a:pPr lvl="1"/>
            <a:r>
              <a:rPr lang="en-US" b="1">
                <a:solidFill>
                  <a:schemeClr val="tx1"/>
                </a:solidFill>
              </a:rPr>
              <a:t>The CO rejected </a:t>
            </a:r>
            <a:r>
              <a:rPr lang="ar-EG" b="1">
                <a:solidFill>
                  <a:schemeClr val="tx1"/>
                </a:solidFill>
              </a:rPr>
              <a:t>اسم الشخص</a:t>
            </a:r>
            <a:endParaRPr lang="en-US" b="1">
              <a:solidFill>
                <a:schemeClr val="tx1"/>
              </a:solidFill>
            </a:endParaRPr>
          </a:p>
          <a:p>
            <a:endParaRPr lang="en-US"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87413163-944C-737B-8975-BCC4417383FE}"/>
              </a:ext>
            </a:extLst>
          </p:cNvPr>
          <p:cNvGraphicFramePr>
            <a:graphicFrameLocks noGrp="1"/>
          </p:cNvGraphicFramePr>
          <p:nvPr>
            <p:extLst>
              <p:ext uri="{D42A27DB-BD31-4B8C-83A1-F6EECF244321}">
                <p14:modId xmlns:p14="http://schemas.microsoft.com/office/powerpoint/2010/main" val="863933099"/>
              </p:ext>
            </p:extLst>
          </p:nvPr>
        </p:nvGraphicFramePr>
        <p:xfrm>
          <a:off x="442452" y="2931924"/>
          <a:ext cx="11425085" cy="148336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1232553221"/>
                    </a:ext>
                  </a:extLst>
                </a:gridCol>
                <a:gridCol w="1897626">
                  <a:extLst>
                    <a:ext uri="{9D8B030D-6E8A-4147-A177-3AD203B41FA5}">
                      <a16:colId xmlns:a16="http://schemas.microsoft.com/office/drawing/2014/main" val="753264519"/>
                    </a:ext>
                  </a:extLst>
                </a:gridCol>
                <a:gridCol w="1425678">
                  <a:extLst>
                    <a:ext uri="{9D8B030D-6E8A-4147-A177-3AD203B41FA5}">
                      <a16:colId xmlns:a16="http://schemas.microsoft.com/office/drawing/2014/main" val="1508910083"/>
                    </a:ext>
                  </a:extLst>
                </a:gridCol>
                <a:gridCol w="1291078">
                  <a:extLst>
                    <a:ext uri="{9D8B030D-6E8A-4147-A177-3AD203B41FA5}">
                      <a16:colId xmlns:a16="http://schemas.microsoft.com/office/drawing/2014/main" val="1295832117"/>
                    </a:ext>
                  </a:extLst>
                </a:gridCol>
                <a:gridCol w="1973232">
                  <a:extLst>
                    <a:ext uri="{9D8B030D-6E8A-4147-A177-3AD203B41FA5}">
                      <a16:colId xmlns:a16="http://schemas.microsoft.com/office/drawing/2014/main" val="3577669660"/>
                    </a:ext>
                  </a:extLst>
                </a:gridCol>
                <a:gridCol w="1632155">
                  <a:extLst>
                    <a:ext uri="{9D8B030D-6E8A-4147-A177-3AD203B41FA5}">
                      <a16:colId xmlns:a16="http://schemas.microsoft.com/office/drawing/2014/main" val="3223476129"/>
                    </a:ext>
                  </a:extLst>
                </a:gridCol>
                <a:gridCol w="1632155">
                  <a:extLst>
                    <a:ext uri="{9D8B030D-6E8A-4147-A177-3AD203B41FA5}">
                      <a16:colId xmlns:a16="http://schemas.microsoft.com/office/drawing/2014/main" val="488725321"/>
                    </a:ext>
                  </a:extLst>
                </a:gridCol>
              </a:tblGrid>
              <a:tr h="370840">
                <a:tc>
                  <a:txBody>
                    <a:bodyPr/>
                    <a:lstStyle/>
                    <a:p>
                      <a:pPr algn="ctr"/>
                      <a:r>
                        <a:rPr lang="en-US" b="1"/>
                        <a:t>Tabs code</a:t>
                      </a:r>
                    </a:p>
                  </a:txBody>
                  <a:tcPr/>
                </a:tc>
                <a:tc>
                  <a:txBody>
                    <a:bodyPr/>
                    <a:lstStyle/>
                    <a:p>
                      <a:pPr algn="ctr"/>
                      <a:r>
                        <a:rPr lang="en-US" b="1"/>
                        <a:t>Field_name</a:t>
                      </a:r>
                    </a:p>
                  </a:txBody>
                  <a:tcPr/>
                </a:tc>
                <a:tc>
                  <a:txBody>
                    <a:bodyPr/>
                    <a:lstStyle/>
                    <a:p>
                      <a:pPr algn="ctr"/>
                      <a:r>
                        <a:rPr lang="en-US" b="1"/>
                        <a:t>Field_code</a:t>
                      </a:r>
                    </a:p>
                  </a:txBody>
                  <a:tcPr/>
                </a:tc>
                <a:tc>
                  <a:txBody>
                    <a:bodyPr/>
                    <a:lstStyle/>
                    <a:p>
                      <a:pPr algn="ctr"/>
                      <a:r>
                        <a:rPr lang="en-US" b="1"/>
                        <a:t>UserId</a:t>
                      </a:r>
                    </a:p>
                  </a:txBody>
                  <a:tcPr/>
                </a:tc>
                <a:tc>
                  <a:txBody>
                    <a:bodyPr/>
                    <a:lstStyle/>
                    <a:p>
                      <a:pPr algn="ctr"/>
                      <a:r>
                        <a:rPr lang="en-US" b="1"/>
                        <a:t>Phase_back_to</a:t>
                      </a:r>
                    </a:p>
                  </a:txBody>
                  <a:tcPr/>
                </a:tc>
                <a:tc>
                  <a:txBody>
                    <a:bodyPr/>
                    <a:lstStyle/>
                    <a:p>
                      <a:pPr algn="ctr"/>
                      <a:r>
                        <a:rPr lang="en-US" b="1"/>
                        <a:t>Comment</a:t>
                      </a:r>
                    </a:p>
                  </a:txBody>
                  <a:tcPr/>
                </a:tc>
                <a:tc>
                  <a:txBody>
                    <a:bodyPr/>
                    <a:lstStyle/>
                    <a:p>
                      <a:pPr algn="ctr"/>
                      <a:r>
                        <a:rPr lang="en-US" b="1"/>
                        <a:t>FRM_ID</a:t>
                      </a:r>
                    </a:p>
                  </a:txBody>
                  <a:tcPr/>
                </a:tc>
                <a:extLst>
                  <a:ext uri="{0D108BD9-81ED-4DB2-BD59-A6C34878D82A}">
                    <a16:rowId xmlns:a16="http://schemas.microsoft.com/office/drawing/2014/main" val="2212852566"/>
                  </a:ext>
                </a:extLst>
              </a:tr>
              <a:tr h="370840">
                <a:tc>
                  <a:txBody>
                    <a:bodyPr/>
                    <a:lstStyle/>
                    <a:p>
                      <a:pPr algn="ctr"/>
                      <a:r>
                        <a:rPr lang="en-US" b="1"/>
                        <a:t>2 [flow_tab]</a:t>
                      </a:r>
                    </a:p>
                  </a:txBody>
                  <a:tcPr/>
                </a:tc>
                <a:tc>
                  <a:txBody>
                    <a:bodyPr/>
                    <a:lstStyle/>
                    <a:p>
                      <a:pPr algn="ctr"/>
                      <a:r>
                        <a:rPr lang="ar-EG" b="1"/>
                        <a:t>صله العميل بالضامن</a:t>
                      </a:r>
                      <a:endParaRPr lang="en-US" b="1"/>
                    </a:p>
                  </a:txBody>
                  <a:tcPr/>
                </a:tc>
                <a:tc>
                  <a:txBody>
                    <a:bodyPr/>
                    <a:lstStyle/>
                    <a:p>
                      <a:pPr algn="ctr"/>
                      <a:r>
                        <a:rPr lang="en-US" b="1"/>
                        <a:t>1</a:t>
                      </a:r>
                    </a:p>
                  </a:txBody>
                  <a:tcPr/>
                </a:tc>
                <a:tc>
                  <a:txBody>
                    <a:bodyPr/>
                    <a:lstStyle/>
                    <a:p>
                      <a:pPr algn="ct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2950472985"/>
                  </a:ext>
                </a:extLst>
              </a:tr>
              <a:tr h="370840">
                <a:tc>
                  <a:txBody>
                    <a:bodyPr/>
                    <a:lstStyle/>
                    <a:p>
                      <a:pPr algn="ctr"/>
                      <a:r>
                        <a:rPr lang="en-US" b="1"/>
                        <a:t>3</a:t>
                      </a:r>
                    </a:p>
                  </a:txBody>
                  <a:tcPr/>
                </a:tc>
                <a:tc>
                  <a:txBody>
                    <a:bodyPr/>
                    <a:lstStyle/>
                    <a:p>
                      <a:pPr algn="ctr"/>
                      <a:r>
                        <a:rPr lang="ar-EG" b="1"/>
                        <a:t>الاسم الاول</a:t>
                      </a:r>
                      <a:endParaRPr lang="en-US" b="1"/>
                    </a:p>
                  </a:txBody>
                  <a:tcPr/>
                </a:tc>
                <a:tc>
                  <a:txBody>
                    <a:bodyPr/>
                    <a:lstStyle/>
                    <a:p>
                      <a:pPr algn="ctr"/>
                      <a:r>
                        <a:rPr lang="en-US" b="1"/>
                        <a:t>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81440603"/>
                  </a:ext>
                </a:extLst>
              </a:tr>
              <a:tr h="370840">
                <a:tc>
                  <a:txBody>
                    <a:bodyPr/>
                    <a:lstStyle/>
                    <a:p>
                      <a:pPr algn="ctr"/>
                      <a:r>
                        <a:rPr lang="en-US" b="1"/>
                        <a:t>1</a:t>
                      </a:r>
                    </a:p>
                  </a:txBody>
                  <a:tcPr/>
                </a:tc>
                <a:tc>
                  <a:txBody>
                    <a:bodyPr/>
                    <a:lstStyle/>
                    <a:p>
                      <a:pPr algn="ctr"/>
                      <a:r>
                        <a:rPr lang="ar-EG" b="1"/>
                        <a:t>اسم الشخص</a:t>
                      </a:r>
                      <a:endParaRPr lang="en-US" b="1"/>
                    </a:p>
                  </a:txBody>
                  <a:tcPr/>
                </a:tc>
                <a:tc>
                  <a:txBody>
                    <a:bodyPr/>
                    <a:lstStyle/>
                    <a:p>
                      <a:pPr algn="ctr"/>
                      <a:r>
                        <a:rPr lang="en-US" b="1"/>
                        <a:t>11</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36126872"/>
                  </a:ext>
                </a:extLst>
              </a:tr>
            </a:tbl>
          </a:graphicData>
        </a:graphic>
      </p:graphicFrame>
    </p:spTree>
    <p:extLst>
      <p:ext uri="{BB962C8B-B14F-4D97-AF65-F5344CB8AC3E}">
        <p14:creationId xmlns:p14="http://schemas.microsoft.com/office/powerpoint/2010/main" val="1958758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D9EC3-54AC-A34D-B2AB-577F638FA025}"/>
              </a:ext>
            </a:extLst>
          </p:cNvPr>
          <p:cNvSpPr>
            <a:spLocks noGrp="1"/>
          </p:cNvSpPr>
          <p:nvPr>
            <p:ph type="title"/>
          </p:nvPr>
        </p:nvSpPr>
        <p:spPr>
          <a:xfrm>
            <a:off x="697485" y="2192592"/>
            <a:ext cx="10560450" cy="1710813"/>
          </a:xfrm>
        </p:spPr>
        <p:txBody>
          <a:bodyPr>
            <a:normAutofit/>
          </a:bodyPr>
          <a:lstStyle/>
          <a:p>
            <a:r>
              <a:rPr lang="en-US" sz="6000" b="1">
                <a:solidFill>
                  <a:srgbClr val="FF0000"/>
                </a:solidFill>
              </a:rPr>
              <a:t>Field Visit</a:t>
            </a:r>
          </a:p>
        </p:txBody>
      </p:sp>
    </p:spTree>
    <p:extLst>
      <p:ext uri="{BB962C8B-B14F-4D97-AF65-F5344CB8AC3E}">
        <p14:creationId xmlns:p14="http://schemas.microsoft.com/office/powerpoint/2010/main" val="39683165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818560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a:t>
            </a:r>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70"/>
            <a:ext cx="5535562" cy="43163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a:t>RecommendedAmount</a:t>
            </a:r>
          </a:p>
          <a:p>
            <a:pPr marL="914400" lvl="1" indent="-457200">
              <a:buFont typeface="Arial" panose="020B0604020202020204" pitchFamily="34" charset="0"/>
              <a:buChar char="•"/>
            </a:pPr>
            <a:r>
              <a:rPr lang="en-US" sz="2000"/>
              <a:t>recommend_num_months</a:t>
            </a:r>
          </a:p>
          <a:p>
            <a:pPr marL="914400" lvl="1" indent="-457200">
              <a:buFont typeface="Arial" panose="020B0604020202020204" pitchFamily="34" charset="0"/>
              <a:buChar char="•"/>
            </a:pPr>
            <a:r>
              <a:rPr lang="en-US" sz="2000"/>
              <a:t>recommended_funding</a:t>
            </a:r>
          </a:p>
          <a:p>
            <a:pPr marL="914400" lvl="1" indent="-457200">
              <a:buFont typeface="Arial" panose="020B0604020202020204" pitchFamily="34" charset="0"/>
              <a:buChar char="•"/>
            </a:pPr>
            <a:r>
              <a:rPr lang="en-US" sz="2000"/>
              <a:t>premium_amount</a:t>
            </a:r>
          </a:p>
          <a:p>
            <a:pPr marL="914400" lvl="1" indent="-457200">
              <a:buFont typeface="Arial" panose="020B0604020202020204" pitchFamily="34" charset="0"/>
              <a:buChar char="•"/>
            </a:pPr>
            <a:r>
              <a:rPr lang="en-US" sz="2000"/>
              <a:t>CO_Recommendation</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7424721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8E618-24B7-7516-347D-AD9E19426B9C}"/>
              </a:ext>
            </a:extLst>
          </p:cNvPr>
          <p:cNvSpPr>
            <a:spLocks noGrp="1"/>
          </p:cNvSpPr>
          <p:nvPr>
            <p:ph type="title"/>
          </p:nvPr>
        </p:nvSpPr>
        <p:spPr>
          <a:xfrm>
            <a:off x="913795" y="0"/>
            <a:ext cx="10353762" cy="619432"/>
          </a:xfrm>
        </p:spPr>
        <p:txBody>
          <a:bodyPr>
            <a:normAutofit fontScale="90000"/>
          </a:bodyPr>
          <a:lstStyle/>
          <a:p>
            <a:r>
              <a:rPr lang="en-US" sz="3600" b="1">
                <a:solidFill>
                  <a:srgbClr val="FFFF00"/>
                </a:solidFill>
              </a:rPr>
              <a:t>TDWF</a:t>
            </a:r>
            <a:r>
              <a:rPr lang="en-US" sz="3600"/>
              <a:t>.</a:t>
            </a:r>
            <a:r>
              <a:rPr lang="en-US" sz="3600" b="1">
                <a:solidFill>
                  <a:srgbClr val="FF0000"/>
                </a:solidFill>
              </a:rPr>
              <a:t>Flow_FieldVisits_Organization</a:t>
            </a:r>
          </a:p>
        </p:txBody>
      </p:sp>
      <p:sp>
        <p:nvSpPr>
          <p:cNvPr id="3" name="Content Placeholder 2">
            <a:extLst>
              <a:ext uri="{FF2B5EF4-FFF2-40B4-BE49-F238E27FC236}">
                <a16:creationId xmlns:a16="http://schemas.microsoft.com/office/drawing/2014/main" id="{DECBC9C4-8640-2904-C224-4A5A8CBE068C}"/>
              </a:ext>
            </a:extLst>
          </p:cNvPr>
          <p:cNvSpPr>
            <a:spLocks noGrp="1"/>
          </p:cNvSpPr>
          <p:nvPr>
            <p:ph idx="1"/>
          </p:nvPr>
        </p:nvSpPr>
        <p:spPr>
          <a:xfrm>
            <a:off x="235974" y="727587"/>
            <a:ext cx="11759381" cy="5820696"/>
          </a:xfrm>
        </p:spPr>
        <p:txBody>
          <a:bodyPr/>
          <a:lstStyle/>
          <a:p>
            <a:r>
              <a:rPr lang="en-US"/>
              <a:t>int FVORG_ID [ PK ]</a:t>
            </a:r>
          </a:p>
          <a:p>
            <a:r>
              <a:rPr lang="en-US"/>
              <a:t>string OrgSignID { get; set; }</a:t>
            </a:r>
            <a:endParaRPr lang="ar-EG"/>
          </a:p>
          <a:p>
            <a:pPr lvl="1"/>
            <a:r>
              <a:rPr lang="en-US"/>
              <a:t>StaticList In Front contains [ </a:t>
            </a:r>
            <a:r>
              <a:rPr lang="ar-EG"/>
              <a:t>يوجد , لايوجد</a:t>
            </a:r>
            <a:r>
              <a:rPr lang="en-US"/>
              <a:t>]</a:t>
            </a:r>
          </a:p>
          <a:p>
            <a:r>
              <a:rPr lang="en-US"/>
              <a:t>int WorkerCountPermanent</a:t>
            </a:r>
          </a:p>
          <a:p>
            <a:r>
              <a:rPr lang="en-US"/>
              <a:t>int WorkerCountTemporary </a:t>
            </a:r>
          </a:p>
          <a:p>
            <a:r>
              <a:rPr lang="en-US"/>
              <a:t>string Residence_Type</a:t>
            </a:r>
          </a:p>
          <a:p>
            <a:pPr lvl="1"/>
            <a:r>
              <a:rPr lang="ar-EG"/>
              <a:t>تمليك</a:t>
            </a:r>
          </a:p>
          <a:p>
            <a:pPr lvl="1"/>
            <a:r>
              <a:rPr lang="ar-EG"/>
              <a:t>ايجار جديد</a:t>
            </a:r>
          </a:p>
          <a:p>
            <a:pPr lvl="1"/>
            <a:r>
              <a:rPr lang="ar-EG"/>
              <a:t>ايجار قديم</a:t>
            </a:r>
            <a:endParaRPr lang="en-US"/>
          </a:p>
          <a:p>
            <a:r>
              <a:rPr lang="en-US"/>
              <a:t>string OrgRate</a:t>
            </a:r>
          </a:p>
          <a:p>
            <a:r>
              <a:rPr lang="en-US"/>
              <a:t>string GPSAddress</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p:txBody>
      </p:sp>
      <p:pic>
        <p:nvPicPr>
          <p:cNvPr id="5" name="Picture 4">
            <a:extLst>
              <a:ext uri="{FF2B5EF4-FFF2-40B4-BE49-F238E27FC236}">
                <a16:creationId xmlns:a16="http://schemas.microsoft.com/office/drawing/2014/main" id="{9886995A-FAA9-850F-11A2-1D4C6E84B282}"/>
              </a:ext>
            </a:extLst>
          </p:cNvPr>
          <p:cNvPicPr>
            <a:picLocks noChangeAspect="1"/>
          </p:cNvPicPr>
          <p:nvPr/>
        </p:nvPicPr>
        <p:blipFill>
          <a:blip r:embed="rId2"/>
          <a:stretch>
            <a:fillRect/>
          </a:stretch>
        </p:blipFill>
        <p:spPr>
          <a:xfrm>
            <a:off x="3628103" y="3583857"/>
            <a:ext cx="8563897" cy="505395"/>
          </a:xfrm>
          <a:prstGeom prst="rect">
            <a:avLst/>
          </a:prstGeom>
        </p:spPr>
      </p:pic>
      <p:sp>
        <p:nvSpPr>
          <p:cNvPr id="6" name="TextBox 5">
            <a:extLst>
              <a:ext uri="{FF2B5EF4-FFF2-40B4-BE49-F238E27FC236}">
                <a16:creationId xmlns:a16="http://schemas.microsoft.com/office/drawing/2014/main" id="{12D08005-EDE7-6D82-2D84-7DDF9889A442}"/>
              </a:ext>
            </a:extLst>
          </p:cNvPr>
          <p:cNvSpPr txBox="1"/>
          <p:nvPr/>
        </p:nvSpPr>
        <p:spPr>
          <a:xfrm>
            <a:off x="8170606" y="3146805"/>
            <a:ext cx="3382297" cy="369332"/>
          </a:xfrm>
          <a:prstGeom prst="rect">
            <a:avLst/>
          </a:prstGeom>
          <a:noFill/>
        </p:spPr>
        <p:txBody>
          <a:bodyPr wrap="square" rtlCol="0">
            <a:spAutoFit/>
          </a:bodyPr>
          <a:lstStyle/>
          <a:p>
            <a:pPr algn="r" rtl="1"/>
            <a:r>
              <a:rPr lang="ar-EG"/>
              <a:t>بيانات المنشأة / تفاصيل الزيارة</a:t>
            </a:r>
          </a:p>
        </p:txBody>
      </p:sp>
    </p:spTree>
    <p:extLst>
      <p:ext uri="{BB962C8B-B14F-4D97-AF65-F5344CB8AC3E}">
        <p14:creationId xmlns:p14="http://schemas.microsoft.com/office/powerpoint/2010/main" val="9624851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25045532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en-US" b="1">
                <a:solidFill>
                  <a:srgbClr val="FFFF00"/>
                </a:solidFill>
              </a:rPr>
              <a:t>TDWF</a:t>
            </a:r>
            <a:r>
              <a:rPr lang="en-US"/>
              <a:t>.</a:t>
            </a:r>
            <a:r>
              <a:rPr lang="en-US" b="1">
                <a:solidFill>
                  <a:srgbClr val="FF0000"/>
                </a:solidFill>
              </a:rPr>
              <a:t>Flow_FieldVisits_Guarantor</a:t>
            </a: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1"/>
            <a:ext cx="11129905" cy="5742038"/>
          </a:xfrm>
        </p:spPr>
        <p:txBody>
          <a:bodyPr>
            <a:normAutofit/>
          </a:bodyPr>
          <a:lstStyle/>
          <a:p>
            <a:r>
              <a:rPr lang="en-US"/>
              <a:t>int FVG_ID</a:t>
            </a:r>
          </a:p>
          <a:p>
            <a:r>
              <a:rPr lang="en-US"/>
              <a:t>DateTime? Guarantor_visit_date </a:t>
            </a:r>
          </a:p>
          <a:p>
            <a:r>
              <a:rPr lang="en-US"/>
              <a:t>public string Residence_Type  //StaticList In Front contains Only (1,2,3)</a:t>
            </a:r>
          </a:p>
          <a:p>
            <a:r>
              <a:rPr lang="en-US"/>
              <a:t>string Address_guarantor </a:t>
            </a:r>
          </a:p>
          <a:p>
            <a:r>
              <a:rPr lang="en-US"/>
              <a:t>string Job </a:t>
            </a:r>
          </a:p>
          <a:p>
            <a:r>
              <a:rPr lang="en-US"/>
              <a:t>string WorkDestination </a:t>
            </a:r>
          </a:p>
          <a:p>
            <a:r>
              <a:rPr lang="en-US"/>
              <a:t>string SalarySource </a:t>
            </a:r>
          </a:p>
          <a:p>
            <a:r>
              <a:rPr lang="en-US"/>
              <a:t>decimal NetSalary </a:t>
            </a:r>
          </a:p>
          <a:p>
            <a:r>
              <a:rPr lang="en-US"/>
              <a:t>string CO_Recommendation </a:t>
            </a:r>
          </a:p>
          <a:p>
            <a:r>
              <a:rPr lang="en-US"/>
              <a:t>decimal? FVM_ID [FK]</a:t>
            </a:r>
          </a:p>
        </p:txBody>
      </p:sp>
      <p:pic>
        <p:nvPicPr>
          <p:cNvPr id="5" name="Picture 4">
            <a:extLst>
              <a:ext uri="{FF2B5EF4-FFF2-40B4-BE49-F238E27FC236}">
                <a16:creationId xmlns:a16="http://schemas.microsoft.com/office/drawing/2014/main" id="{AEFF8E35-7E85-AC32-B3FF-25C857161294}"/>
              </a:ext>
            </a:extLst>
          </p:cNvPr>
          <p:cNvPicPr>
            <a:picLocks noChangeAspect="1"/>
          </p:cNvPicPr>
          <p:nvPr/>
        </p:nvPicPr>
        <p:blipFill>
          <a:blip r:embed="rId2"/>
          <a:stretch>
            <a:fillRect/>
          </a:stretch>
        </p:blipFill>
        <p:spPr>
          <a:xfrm>
            <a:off x="3615900" y="5126276"/>
            <a:ext cx="8438447" cy="498137"/>
          </a:xfrm>
          <a:prstGeom prst="rect">
            <a:avLst/>
          </a:prstGeom>
        </p:spPr>
      </p:pic>
    </p:spTree>
    <p:extLst>
      <p:ext uri="{BB962C8B-B14F-4D97-AF65-F5344CB8AC3E}">
        <p14:creationId xmlns:p14="http://schemas.microsoft.com/office/powerpoint/2010/main" val="37564733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5" name="Picture 4">
            <a:extLst>
              <a:ext uri="{FF2B5EF4-FFF2-40B4-BE49-F238E27FC236}">
                <a16:creationId xmlns:a16="http://schemas.microsoft.com/office/drawing/2014/main" id="{D436D572-C0E1-A8B1-490F-E2AEF4864485}"/>
              </a:ext>
            </a:extLst>
          </p:cNvPr>
          <p:cNvPicPr>
            <a:picLocks noChangeAspect="1"/>
          </p:cNvPicPr>
          <p:nvPr/>
        </p:nvPicPr>
        <p:blipFill>
          <a:blip r:embed="rId2"/>
          <a:stretch>
            <a:fillRect/>
          </a:stretch>
        </p:blipFill>
        <p:spPr>
          <a:xfrm>
            <a:off x="1887900" y="5067523"/>
            <a:ext cx="10196209" cy="880994"/>
          </a:xfrm>
          <a:prstGeom prst="rect">
            <a:avLst/>
          </a:prstGeom>
        </p:spPr>
      </p:pic>
    </p:spTree>
    <p:extLst>
      <p:ext uri="{BB962C8B-B14F-4D97-AF65-F5344CB8AC3E}">
        <p14:creationId xmlns:p14="http://schemas.microsoft.com/office/powerpoint/2010/main" val="1480361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550606" y="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648929"/>
            <a:ext cx="12123173" cy="6096000"/>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41108283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285135" y="2369574"/>
            <a:ext cx="11257936" cy="1199536"/>
          </a:xfrm>
        </p:spPr>
        <p:txBody>
          <a:bodyPr>
            <a:normAutofit/>
          </a:bodyPr>
          <a:lstStyle/>
          <a:p>
            <a:r>
              <a:rPr lang="en-US" sz="5400" b="1">
                <a:solidFill>
                  <a:srgbClr val="FF0000"/>
                </a:solidFill>
              </a:rPr>
              <a:t>Credit Analysis</a:t>
            </a:r>
          </a:p>
        </p:txBody>
      </p:sp>
    </p:spTree>
    <p:extLst>
      <p:ext uri="{BB962C8B-B14F-4D97-AF65-F5344CB8AC3E}">
        <p14:creationId xmlns:p14="http://schemas.microsoft.com/office/powerpoint/2010/main" val="3804190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13046048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15DC-A378-43C5-7736-87BCDC41F169}"/>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Documents Uploading DU77</a:t>
            </a:r>
          </a:p>
        </p:txBody>
      </p:sp>
    </p:spTree>
    <p:extLst>
      <p:ext uri="{BB962C8B-B14F-4D97-AF65-F5344CB8AC3E}">
        <p14:creationId xmlns:p14="http://schemas.microsoft.com/office/powerpoint/2010/main" val="352037051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0F145-271F-919D-9C5A-F40940631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D0375-9AEE-9DB4-567B-5972C75B241D}"/>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End Documents Uploading </a:t>
            </a:r>
            <a:r>
              <a:rPr lang="en-US" sz="4400" b="1">
                <a:solidFill>
                  <a:srgbClr val="00B0F0"/>
                </a:solidFill>
              </a:rPr>
              <a:t>DU77</a:t>
            </a:r>
          </a:p>
        </p:txBody>
      </p:sp>
    </p:spTree>
    <p:extLst>
      <p:ext uri="{BB962C8B-B14F-4D97-AF65-F5344CB8AC3E}">
        <p14:creationId xmlns:p14="http://schemas.microsoft.com/office/powerpoint/2010/main" val="24492405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a:t>Flow_Actions: contains options that could be applied into each stage</a:t>
            </a:r>
          </a:p>
          <a:p>
            <a:r>
              <a:rPr lang="en-US"/>
              <a:t>Flow_Action_workflow: specify the </a:t>
            </a:r>
            <a:r>
              <a:rPr lang="en-US" b="1">
                <a:solidFill>
                  <a:srgbClr val="FFFF00"/>
                </a:solidFill>
              </a:rPr>
              <a:t>NextStep</a:t>
            </a:r>
            <a:r>
              <a:rPr lang="en-US"/>
              <a:t> </a:t>
            </a:r>
            <a:r>
              <a:rPr lang="en-US" b="1">
                <a:solidFill>
                  <a:srgbClr val="FFC000"/>
                </a:solidFill>
              </a:rPr>
              <a:t>(Code_FA_to)</a:t>
            </a:r>
            <a:r>
              <a:rPr lang="en-US"/>
              <a:t> based on current step (</a:t>
            </a:r>
            <a:r>
              <a:rPr lang="en-US" b="1">
                <a:solidFill>
                  <a:srgbClr val="FFC000"/>
                </a:solidFill>
              </a:rPr>
              <a:t>Code_FA_from</a:t>
            </a:r>
            <a:r>
              <a:rPr lang="en-US"/>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93518" y="963562"/>
            <a:ext cx="8001000"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81555" y="963562"/>
            <a:ext cx="3816927"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18C14-53A9-8B80-D9C3-8225DBC82697}"/>
              </a:ext>
            </a:extLst>
          </p:cNvPr>
          <p:cNvSpPr>
            <a:spLocks noGrp="1"/>
          </p:cNvSpPr>
          <p:nvPr>
            <p:ph type="title"/>
          </p:nvPr>
        </p:nvSpPr>
        <p:spPr>
          <a:xfrm>
            <a:off x="913795" y="0"/>
            <a:ext cx="10353762" cy="970450"/>
          </a:xfrm>
        </p:spPr>
        <p:txBody>
          <a:bodyPr/>
          <a:lstStyle/>
          <a:p>
            <a:r>
              <a:rPr lang="en-US" b="1">
                <a:solidFill>
                  <a:srgbClr val="FFFF00"/>
                </a:solidFill>
              </a:rPr>
              <a:t>TWF.</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58D67C24-9DBD-9031-91FB-1B207FBFE0E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363244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762000"/>
          </a:xfrm>
        </p:spPr>
        <p:txBody>
          <a:bodyPr/>
          <a:lstStyle/>
          <a:p>
            <a:r>
              <a:rPr lang="en-US" b="1">
                <a:solidFill>
                  <a:srgbClr val="FFFF00"/>
                </a:solidFill>
              </a:rPr>
              <a:t>Security</a:t>
            </a:r>
            <a:r>
              <a:rPr lang="en-US"/>
              <a:t>.</a:t>
            </a:r>
            <a:r>
              <a:rPr lang="en-US"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441921" y="1881733"/>
            <a:ext cx="4679227" cy="2846128"/>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a:p>
            <a:r>
              <a:rPr lang="en-US" b="1">
                <a:solidFill>
                  <a:srgbClr val="FFFF00"/>
                </a:solidFill>
              </a:rPr>
              <a:t>Flow_Tabs</a:t>
            </a:r>
            <a:r>
              <a:rPr lang="en-US"/>
              <a:t> </a:t>
            </a:r>
            <a:r>
              <a:rPr lang="en-US" b="1"/>
              <a:t>Flow_Tabs</a:t>
            </a:r>
            <a:r>
              <a:rPr lang="en-US"/>
              <a:t> { get; set; }</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endParaRPr lang="en-US"/>
          </a:p>
          <a:p>
            <a:r>
              <a:rPr lang="en-US"/>
              <a:t>Id_Down: </a:t>
            </a:r>
            <a:r>
              <a:rPr lang="en-US" b="1">
                <a:solidFill>
                  <a:srgbClr val="FFFF00"/>
                </a:solidFill>
              </a:rPr>
              <a:t>decimal</a:t>
            </a:r>
            <a:r>
              <a:rPr lang="en-US"/>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a:t>int Iscore_code [identity, PK ]</a:t>
            </a:r>
          </a:p>
          <a:p>
            <a:r>
              <a:rPr lang="en-US" sz="1800"/>
              <a:t>int product_Id [ PK ] </a:t>
            </a:r>
          </a:p>
          <a:p>
            <a:r>
              <a:rPr lang="en-US" sz="1800"/>
              <a:t>int RegionI</a:t>
            </a:r>
          </a:p>
          <a:p>
            <a:r>
              <a:rPr lang="en-US" sz="1800"/>
              <a:t>int days_query_validity</a:t>
            </a:r>
          </a:p>
          <a:p>
            <a:r>
              <a:rPr lang="en-US" sz="1800"/>
              <a:t>int No_loans_outstanding_cust</a:t>
            </a:r>
          </a:p>
          <a:p>
            <a:r>
              <a:rPr lang="en-US" sz="1800"/>
              <a:t>int Days_worked_customer </a:t>
            </a:r>
          </a:p>
          <a:p>
            <a:r>
              <a:rPr lang="en-US" sz="1800"/>
              <a:t>int Query_result</a:t>
            </a:r>
          </a:p>
          <a:p>
            <a:r>
              <a:rPr lang="en-US" sz="1800"/>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due to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600"/>
              <a:t>Usage: to store the failure results of inquiry [ status of request 11, 12 ]</a:t>
            </a:r>
          </a:p>
          <a:p>
            <a:r>
              <a:rPr lang="en-US" sz="1600"/>
              <a:t>ISCORE_CODE: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2470022431"/>
              </p:ext>
            </p:extLst>
          </p:nvPr>
        </p:nvGraphicFramePr>
        <p:xfrm>
          <a:off x="62822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99F25-69DD-0B59-E12E-FF349DBC35DE}"/>
              </a:ext>
            </a:extLst>
          </p:cNvPr>
          <p:cNvSpPr>
            <a:spLocks noGrp="1"/>
          </p:cNvSpPr>
          <p:nvPr>
            <p:ph type="title"/>
          </p:nvPr>
        </p:nvSpPr>
        <p:spPr>
          <a:xfrm>
            <a:off x="913795" y="0"/>
            <a:ext cx="10353762" cy="668594"/>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BE834885-BB5E-ED54-5976-BF14D866F797}"/>
              </a:ext>
            </a:extLst>
          </p:cNvPr>
          <p:cNvSpPr>
            <a:spLocks noGrp="1"/>
          </p:cNvSpPr>
          <p:nvPr>
            <p:ph idx="1"/>
          </p:nvPr>
        </p:nvSpPr>
        <p:spPr>
          <a:xfrm>
            <a:off x="88491" y="668594"/>
            <a:ext cx="12024852" cy="6017341"/>
          </a:xfrm>
        </p:spPr>
        <p:txBody>
          <a:bodyPr/>
          <a:lstStyle/>
          <a:p>
            <a:r>
              <a:rPr lang="ar-EG" b="1"/>
              <a:t>عندما يتم الضغط على عرض بيانات الطلب</a:t>
            </a:r>
          </a:p>
          <a:p>
            <a:pPr lvl="1"/>
            <a:r>
              <a:rPr lang="en-US" b="1"/>
              <a:t>FlowChart/Transactions_Deportations/</a:t>
            </a:r>
            <a:r>
              <a:rPr lang="en-US" b="1">
                <a:solidFill>
                  <a:srgbClr val="FFFF00"/>
                </a:solidFill>
              </a:rPr>
              <a:t>Flow_Funding_dataController</a:t>
            </a:r>
            <a:r>
              <a:rPr lang="en-US"/>
              <a:t>/</a:t>
            </a:r>
            <a:r>
              <a:rPr lang="en-US" b="1">
                <a:solidFill>
                  <a:srgbClr val="00B0F0"/>
                </a:solidFill>
              </a:rPr>
              <a:t>GetOne</a:t>
            </a:r>
            <a:r>
              <a:rPr lang="en-US" b="1"/>
              <a:t>/{Request_id}</a:t>
            </a:r>
          </a:p>
          <a:p>
            <a:pPr lvl="1"/>
            <a:r>
              <a:rPr lang="en-US" b="1">
                <a:solidFill>
                  <a:srgbClr val="FFC000"/>
                </a:solidFill>
              </a:rPr>
              <a:t>Flow_Funding_dataVM</a:t>
            </a:r>
            <a:r>
              <a:rPr lang="en-US"/>
              <a:t> </a:t>
            </a:r>
            <a:r>
              <a:rPr lang="en-US" b="1">
                <a:solidFill>
                  <a:srgbClr val="00B0F0"/>
                </a:solidFill>
              </a:rPr>
              <a:t>Flow_Funding_dataService</a:t>
            </a:r>
            <a:r>
              <a:rPr lang="en-US"/>
              <a:t>.</a:t>
            </a:r>
            <a:r>
              <a:rPr lang="en-US" b="1">
                <a:solidFill>
                  <a:srgbClr val="FFFF00"/>
                </a:solidFill>
              </a:rPr>
              <a:t>GetOne</a:t>
            </a:r>
            <a:r>
              <a:rPr lang="en-US"/>
              <a:t>(Request_id)</a:t>
            </a:r>
            <a:endParaRPr lang="ar-EG"/>
          </a:p>
          <a:p>
            <a:r>
              <a:rPr lang="en-US" b="1"/>
              <a:t>LO click : </a:t>
            </a:r>
            <a:r>
              <a:rPr lang="ar-EG" b="1"/>
              <a:t>حفظ وإرسال</a:t>
            </a:r>
          </a:p>
          <a:p>
            <a:pPr lvl="1"/>
            <a:r>
              <a:rPr lang="en-US"/>
              <a:t>FlowChart/Transactions/</a:t>
            </a:r>
            <a:r>
              <a:rPr lang="en-US" b="1">
                <a:solidFill>
                  <a:srgbClr val="FFFF00"/>
                </a:solidFill>
              </a:rPr>
              <a:t>Flow_Funding_requestController</a:t>
            </a:r>
            <a:r>
              <a:rPr lang="en-US"/>
              <a:t>/</a:t>
            </a:r>
            <a:r>
              <a:rPr lang="en-US" b="1">
                <a:solidFill>
                  <a:srgbClr val="00B0F0"/>
                </a:solidFill>
              </a:rPr>
              <a:t>InsertFunding</a:t>
            </a:r>
          </a:p>
          <a:p>
            <a:pPr lvl="1"/>
            <a:r>
              <a:rPr lang="en-US" b="1">
                <a:solidFill>
                  <a:srgbClr val="FFC000"/>
                </a:solidFill>
              </a:rPr>
              <a:t>FundindPageLoadVM</a:t>
            </a:r>
            <a:r>
              <a:rPr lang="en-US"/>
              <a:t> </a:t>
            </a:r>
            <a:r>
              <a:rPr lang="en-US" b="1">
                <a:solidFill>
                  <a:srgbClr val="00B0F0"/>
                </a:solidFill>
              </a:rPr>
              <a:t>Flow_Funding_requestService</a:t>
            </a:r>
            <a:r>
              <a:rPr lang="en-US"/>
              <a:t>.</a:t>
            </a:r>
            <a:r>
              <a:rPr lang="en-US" b="1">
                <a:solidFill>
                  <a:srgbClr val="FFFF00"/>
                </a:solidFill>
              </a:rPr>
              <a:t>InsertFunding( </a:t>
            </a:r>
            <a:r>
              <a:rPr lang="en-US" b="1"/>
              <a:t>FundingDataVM</a:t>
            </a:r>
            <a:r>
              <a:rPr lang="en-US" b="1">
                <a:solidFill>
                  <a:srgbClr val="FFFF00"/>
                </a:solidFill>
              </a:rPr>
              <a:t> )</a:t>
            </a:r>
          </a:p>
          <a:p>
            <a:r>
              <a:rPr lang="en-US" b="1"/>
              <a:t>When CO at click on : </a:t>
            </a:r>
            <a:r>
              <a:rPr lang="ar-EG" b="1"/>
              <a:t>الموافقة على الطلب اثناء المراجعة الأولية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Flow_Funding_dataService.</a:t>
            </a:r>
            <a:r>
              <a:rPr lang="en-US" b="1"/>
              <a:t>ExecuteApproved</a:t>
            </a:r>
            <a:r>
              <a:rPr lang="en-US"/>
              <a:t>( </a:t>
            </a:r>
            <a:r>
              <a:rPr lang="en-US" b="1"/>
              <a:t>DeportationVM</a:t>
            </a:r>
            <a:r>
              <a:rPr lang="en-US"/>
              <a:t> )</a:t>
            </a:r>
            <a:endParaRPr lang="en-US" b="1"/>
          </a:p>
          <a:p>
            <a:r>
              <a:rPr lang="en-US" b="1"/>
              <a:t>When click on any tab: </a:t>
            </a:r>
            <a:r>
              <a:rPr lang="ar-EG" b="1"/>
              <a:t> </a:t>
            </a:r>
            <a:r>
              <a:rPr lang="ar-EG" sz="1650" b="1">
                <a:solidFill>
                  <a:schemeClr val="accent3">
                    <a:lumMod val="60000"/>
                    <a:lumOff val="40000"/>
                  </a:schemeClr>
                </a:solidFill>
              </a:rPr>
              <a:t>مراجعة المسئول الاول أثناء المراجعة الأولية </a:t>
            </a:r>
            <a:r>
              <a:rPr lang="ar-EG" sz="1650" b="1"/>
              <a:t>أو </a:t>
            </a:r>
            <a:r>
              <a:rPr lang="ar-EG" sz="1650" b="1">
                <a:solidFill>
                  <a:srgbClr val="FFC000"/>
                </a:solidFill>
              </a:rPr>
              <a:t>الزيارة الميدانية اثناء الزيارة الميدانية</a:t>
            </a:r>
            <a:r>
              <a:rPr lang="ar-EG" sz="1650" b="1"/>
              <a:t> أو </a:t>
            </a:r>
            <a:r>
              <a:rPr lang="ar-EG" sz="1650" b="1">
                <a:solidFill>
                  <a:srgbClr val="92D050"/>
                </a:solidFill>
              </a:rPr>
              <a:t>التحليل الائتماني او تحميل المستندات</a:t>
            </a:r>
            <a:r>
              <a:rPr lang="en-US" sz="1650" b="1"/>
              <a:t> </a:t>
            </a:r>
          </a:p>
          <a:p>
            <a:pPr lvl="1"/>
            <a:r>
              <a:rPr lang="en-US" sz="1700" b="1"/>
              <a:t>FlowChart/Transactions_Deportations</a:t>
            </a:r>
            <a:r>
              <a:rPr lang="en-US" sz="1700"/>
              <a:t>/</a:t>
            </a:r>
            <a:r>
              <a:rPr lang="en-US" sz="1700" b="1">
                <a:solidFill>
                  <a:srgbClr val="FFFF00"/>
                </a:solidFill>
              </a:rPr>
              <a:t>Flow_Funding_dataController</a:t>
            </a:r>
            <a:r>
              <a:rPr lang="en-US" sz="1700"/>
              <a:t>/</a:t>
            </a:r>
            <a:r>
              <a:rPr lang="en-US" sz="1700" b="1">
                <a:solidFill>
                  <a:srgbClr val="00B0F0"/>
                </a:solidFill>
              </a:rPr>
              <a:t>PageLoad</a:t>
            </a:r>
            <a:r>
              <a:rPr lang="en-US" sz="1700"/>
              <a:t>/{Request_id}/{Scr_DefCode}</a:t>
            </a:r>
          </a:p>
          <a:p>
            <a:pPr lvl="1"/>
            <a:r>
              <a:rPr lang="en-US" b="1">
                <a:solidFill>
                  <a:srgbClr val="FFC000"/>
                </a:solidFill>
              </a:rPr>
              <a:t>PageLoadVM</a:t>
            </a:r>
            <a:r>
              <a:rPr lang="en-US"/>
              <a:t> </a:t>
            </a:r>
            <a:r>
              <a:rPr lang="en-US" b="1">
                <a:solidFill>
                  <a:srgbClr val="00B0F0"/>
                </a:solidFill>
              </a:rPr>
              <a:t>Flow_Funding_dataService.</a:t>
            </a:r>
            <a:r>
              <a:rPr lang="en-US" b="1">
                <a:solidFill>
                  <a:srgbClr val="FFFF00"/>
                </a:solidFill>
              </a:rPr>
              <a:t>PageLoad</a:t>
            </a:r>
            <a:r>
              <a:rPr lang="en-US"/>
              <a:t>(reqID, Scr_DefCode)</a:t>
            </a:r>
            <a:endParaRPr lang="en-US" b="1"/>
          </a:p>
          <a:p>
            <a:endParaRPr lang="en-US" b="1">
              <a:solidFill>
                <a:srgbClr val="00B0F0"/>
              </a:solidFill>
            </a:endParaRPr>
          </a:p>
        </p:txBody>
      </p:sp>
    </p:spTree>
    <p:extLst>
      <p:ext uri="{BB962C8B-B14F-4D97-AF65-F5344CB8AC3E}">
        <p14:creationId xmlns:p14="http://schemas.microsoft.com/office/powerpoint/2010/main" val="320439395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BD40C-A565-EFE3-7152-97F33C927423}"/>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37D92AED-13CB-8EFE-4597-BACFCD5386FD}"/>
              </a:ext>
            </a:extLst>
          </p:cNvPr>
          <p:cNvSpPr>
            <a:spLocks noGrp="1"/>
          </p:cNvSpPr>
          <p:nvPr>
            <p:ph idx="1"/>
          </p:nvPr>
        </p:nvSpPr>
        <p:spPr>
          <a:xfrm>
            <a:off x="0" y="589935"/>
            <a:ext cx="12192000" cy="6096000"/>
          </a:xfrm>
        </p:spPr>
        <p:txBody>
          <a:bodyPr/>
          <a:lstStyle/>
          <a:p>
            <a:r>
              <a:rPr lang="en-US"/>
              <a:t>CO / field visit click on </a:t>
            </a:r>
            <a:r>
              <a:rPr lang="ar-EG" b="1"/>
              <a:t>حفظ جميع بيانات الزيارة الميدانية للعميل</a:t>
            </a:r>
            <a:endParaRPr lang="en-US" b="1"/>
          </a:p>
          <a:p>
            <a:pPr lvl="1"/>
            <a:r>
              <a:rPr lang="en-US"/>
              <a:t>FlowChart/Transactions_Deportations/</a:t>
            </a:r>
            <a:r>
              <a:rPr lang="en-US" b="1">
                <a:solidFill>
                  <a:srgbClr val="FFFF00"/>
                </a:solidFill>
              </a:rPr>
              <a:t>Flow_FieldVisits_mainController</a:t>
            </a:r>
            <a:r>
              <a:rPr lang="en-US"/>
              <a:t>/</a:t>
            </a:r>
            <a:r>
              <a:rPr lang="en-US" b="1">
                <a:solidFill>
                  <a:srgbClr val="00B0F0"/>
                </a:solidFill>
              </a:rPr>
              <a:t>InsertOrUpdateFlow_FieldVisits_ClientsWithDocuments</a:t>
            </a:r>
            <a:endParaRPr lang="ar-EG" b="1">
              <a:solidFill>
                <a:srgbClr val="00B0F0"/>
              </a:solidFill>
            </a:endParaRPr>
          </a:p>
          <a:p>
            <a:pPr lvl="1"/>
            <a:r>
              <a:rPr lang="en-US" b="1">
                <a:solidFill>
                  <a:srgbClr val="FFC000"/>
                </a:solidFill>
              </a:rPr>
              <a:t>void</a:t>
            </a:r>
            <a:r>
              <a:rPr lang="en-US"/>
              <a:t> </a:t>
            </a:r>
            <a:r>
              <a:rPr lang="en-US" b="1">
                <a:solidFill>
                  <a:srgbClr val="00B0F0"/>
                </a:solidFill>
              </a:rPr>
              <a:t>Flow_FieldVisits_mainService</a:t>
            </a:r>
            <a:r>
              <a:rPr lang="en-US"/>
              <a:t>.</a:t>
            </a:r>
            <a:r>
              <a:rPr lang="en-US" b="1">
                <a:solidFill>
                  <a:srgbClr val="FFFF00"/>
                </a:solidFill>
              </a:rPr>
              <a:t>InsertFlow_FieldVisits_main </a:t>
            </a:r>
            <a:r>
              <a:rPr lang="en-US"/>
              <a:t>( </a:t>
            </a:r>
            <a:r>
              <a:rPr lang="en-US" b="1">
                <a:solidFill>
                  <a:schemeClr val="accent6"/>
                </a:solidFill>
              </a:rPr>
              <a:t>Flow_FieldVisits_main</a:t>
            </a:r>
            <a:r>
              <a:rPr lang="en-US"/>
              <a:t> )</a:t>
            </a:r>
          </a:p>
          <a:p>
            <a:r>
              <a:rPr lang="en-US"/>
              <a:t>CO field visit / </a:t>
            </a:r>
            <a:r>
              <a:rPr lang="ar-EG"/>
              <a:t>حفظ بيانات التحليل المالي</a:t>
            </a:r>
          </a:p>
          <a:p>
            <a:pPr lvl="1"/>
            <a:r>
              <a:rPr lang="en-US"/>
              <a:t>Transactions_Deportations/</a:t>
            </a:r>
            <a:r>
              <a:rPr lang="en-US" b="1">
                <a:solidFill>
                  <a:srgbClr val="FFFF00"/>
                </a:solidFill>
              </a:rPr>
              <a:t>Flow_FieldVisits_mainController</a:t>
            </a:r>
            <a:r>
              <a:rPr lang="en-US"/>
              <a:t>/</a:t>
            </a:r>
            <a:r>
              <a:rPr lang="en-US" b="1">
                <a:solidFill>
                  <a:srgbClr val="00B0F0"/>
                </a:solidFill>
              </a:rPr>
              <a:t>InserUpdateFlow_FieldVisits_FinancialAnalysis</a:t>
            </a:r>
          </a:p>
          <a:p>
            <a:pPr lvl="1"/>
            <a:r>
              <a:rPr lang="en-US" b="1">
                <a:solidFill>
                  <a:srgbClr val="FFC000"/>
                </a:solidFill>
              </a:rPr>
              <a:t>void</a:t>
            </a:r>
            <a:r>
              <a:rPr lang="en-US"/>
              <a:t> </a:t>
            </a:r>
            <a:r>
              <a:rPr lang="en-US" b="1">
                <a:solidFill>
                  <a:srgbClr val="00B0F0"/>
                </a:solidFill>
              </a:rPr>
              <a:t>Flow_FieldVisits_mainService</a:t>
            </a:r>
            <a:r>
              <a:rPr lang="en-US"/>
              <a:t>. </a:t>
            </a:r>
            <a:r>
              <a:rPr lang="en-US" b="1">
                <a:solidFill>
                  <a:srgbClr val="FFFF00"/>
                </a:solidFill>
              </a:rPr>
              <a:t>InserOrUpdateFlow_FieldVisits_FinancialAnalysis </a:t>
            </a:r>
            <a:r>
              <a:rPr lang="en-US" sz="1600"/>
              <a:t>(</a:t>
            </a:r>
            <a:r>
              <a:rPr lang="en-US" sz="1600" b="1">
                <a:solidFill>
                  <a:schemeClr val="accent6"/>
                </a:solidFill>
              </a:rPr>
              <a:t>Flow_FieldVisits_main</a:t>
            </a:r>
            <a:r>
              <a:rPr lang="en-US" sz="1600"/>
              <a:t>)</a:t>
            </a:r>
          </a:p>
          <a:p>
            <a:r>
              <a:rPr lang="en-US"/>
              <a:t>CO field visit , click on </a:t>
            </a:r>
            <a:r>
              <a:rPr lang="ar-EG"/>
              <a:t>حفظ بيانات الزيارة الميدانية للمنشأة</a:t>
            </a:r>
          </a:p>
          <a:p>
            <a:pPr lvl="1"/>
            <a:r>
              <a:rPr lang="en-US"/>
              <a:t>FlowChart/Transactions_Deportations/</a:t>
            </a:r>
            <a:r>
              <a:rPr lang="en-US" b="1">
                <a:solidFill>
                  <a:srgbClr val="FFFF00"/>
                </a:solidFill>
              </a:rPr>
              <a:t> Flow_FieldVisits_mainController</a:t>
            </a:r>
            <a:r>
              <a:rPr lang="en-US"/>
              <a:t>/InserUpdateFlow_FieldVisits_ORG</a:t>
            </a:r>
          </a:p>
          <a:p>
            <a:pPr lvl="1"/>
            <a:r>
              <a:rPr lang="en-US" b="1">
                <a:solidFill>
                  <a:srgbClr val="FFC000"/>
                </a:solidFill>
              </a:rPr>
              <a:t>void</a:t>
            </a:r>
            <a:r>
              <a:rPr lang="en-US"/>
              <a:t> </a:t>
            </a:r>
            <a:r>
              <a:rPr lang="en-US" b="1">
                <a:solidFill>
                  <a:srgbClr val="00B0F0"/>
                </a:solidFill>
              </a:rPr>
              <a:t>Flow_FieldVisits_mainService.</a:t>
            </a:r>
            <a:r>
              <a:rPr lang="en-US" b="1">
                <a:solidFill>
                  <a:srgbClr val="FFFF00"/>
                </a:solidFill>
              </a:rPr>
              <a:t>InserOrUpdateFlow_FieldVisits_Organization</a:t>
            </a:r>
            <a:r>
              <a:rPr lang="en-US"/>
              <a:t> ( </a:t>
            </a:r>
            <a:r>
              <a:rPr lang="en-US" sz="1600" b="1">
                <a:solidFill>
                  <a:schemeClr val="accent6"/>
                </a:solidFill>
              </a:rPr>
              <a:t>Flow_FieldVisits_main </a:t>
            </a:r>
            <a:r>
              <a:rPr lang="en-US"/>
              <a:t>)</a:t>
            </a:r>
          </a:p>
          <a:p>
            <a:r>
              <a:rPr lang="en-US" b="1"/>
              <a:t>When CO at field visit click on : </a:t>
            </a:r>
            <a:r>
              <a:rPr lang="ar-EG" b="1"/>
              <a:t>الموافقة على الطلب اثناء الزيارة الميدانية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Flow_Funding_requestService.</a:t>
            </a:r>
            <a:r>
              <a:rPr lang="en-US" b="1"/>
              <a:t>ExecuteApproved</a:t>
            </a:r>
            <a:r>
              <a:rPr lang="en-US"/>
              <a:t>( </a:t>
            </a:r>
            <a:r>
              <a:rPr lang="en-US" b="1"/>
              <a:t>DeportationVM</a:t>
            </a:r>
            <a:r>
              <a:rPr lang="en-US"/>
              <a:t> )</a:t>
            </a:r>
            <a:endParaRPr lang="en-US" b="1"/>
          </a:p>
          <a:p>
            <a:endParaRPr lang="en-US"/>
          </a:p>
        </p:txBody>
      </p:sp>
    </p:spTree>
    <p:extLst>
      <p:ext uri="{BB962C8B-B14F-4D97-AF65-F5344CB8AC3E}">
        <p14:creationId xmlns:p14="http://schemas.microsoft.com/office/powerpoint/2010/main" val="390750233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4C315-D5BB-9208-9A84-EBF647FD2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D54340-BEA4-D76D-A4B5-597015698F28}"/>
              </a:ext>
            </a:extLst>
          </p:cNvPr>
          <p:cNvSpPr>
            <a:spLocks noGrp="1"/>
          </p:cNvSpPr>
          <p:nvPr>
            <p:ph type="title"/>
          </p:nvPr>
        </p:nvSpPr>
        <p:spPr>
          <a:xfrm>
            <a:off x="919119" y="-1"/>
            <a:ext cx="10353762" cy="717755"/>
          </a:xfrm>
        </p:spPr>
        <p:txBody>
          <a:bodyPr>
            <a:normAutofit/>
          </a:bodyPr>
          <a:lstStyle/>
          <a:p>
            <a:r>
              <a:rPr lang="en-US" b="1">
                <a:solidFill>
                  <a:srgbClr val="FF0000"/>
                </a:solidFill>
              </a:rPr>
              <a:t>Places</a:t>
            </a:r>
            <a:endParaRPr lang="en-US"/>
          </a:p>
        </p:txBody>
      </p:sp>
      <p:sp>
        <p:nvSpPr>
          <p:cNvPr id="3" name="Content Placeholder 2">
            <a:extLst>
              <a:ext uri="{FF2B5EF4-FFF2-40B4-BE49-F238E27FC236}">
                <a16:creationId xmlns:a16="http://schemas.microsoft.com/office/drawing/2014/main" id="{AAC3A87D-D188-7028-2B78-CE813FB9E245}"/>
              </a:ext>
            </a:extLst>
          </p:cNvPr>
          <p:cNvSpPr>
            <a:spLocks noGrp="1"/>
          </p:cNvSpPr>
          <p:nvPr>
            <p:ph idx="1"/>
          </p:nvPr>
        </p:nvSpPr>
        <p:spPr>
          <a:xfrm>
            <a:off x="913795" y="717755"/>
            <a:ext cx="10353762" cy="5073446"/>
          </a:xfrm>
        </p:spPr>
        <p:txBody>
          <a:bodyPr/>
          <a:lstStyle/>
          <a:p>
            <a:r>
              <a:rPr lang="en-US"/>
              <a:t>When click on </a:t>
            </a:r>
            <a:r>
              <a:rPr lang="ar-EG"/>
              <a:t> حفظ المستندات</a:t>
            </a:r>
            <a:r>
              <a:rPr lang="en-US"/>
              <a:t>At Documents Uploading stage</a:t>
            </a:r>
          </a:p>
          <a:p>
            <a:pPr lvl="1"/>
            <a:r>
              <a:rPr lang="en-US"/>
              <a:t>FlowChart/Transactions/</a:t>
            </a:r>
            <a:r>
              <a:rPr lang="en-US" b="1">
                <a:solidFill>
                  <a:srgbClr val="FFFF00"/>
                </a:solidFill>
              </a:rPr>
              <a:t>Flow_Funding_requestController</a:t>
            </a:r>
            <a:r>
              <a:rPr lang="en-US"/>
              <a:t>/</a:t>
            </a:r>
            <a:r>
              <a:rPr lang="en-US" b="1">
                <a:solidFill>
                  <a:srgbClr val="00B0F0"/>
                </a:solidFill>
              </a:rPr>
              <a:t>UploadBranchManagerDocs</a:t>
            </a:r>
          </a:p>
          <a:p>
            <a:pPr lvl="1"/>
            <a:r>
              <a:rPr lang="en-US" b="1">
                <a:solidFill>
                  <a:srgbClr val="FFFF00"/>
                </a:solidFill>
              </a:rPr>
              <a:t>Flow_Funding_requestService</a:t>
            </a:r>
            <a:r>
              <a:rPr lang="en-US"/>
              <a:t>.</a:t>
            </a:r>
            <a:r>
              <a:rPr lang="en-US" b="1">
                <a:solidFill>
                  <a:srgbClr val="00B0F0"/>
                </a:solidFill>
              </a:rPr>
              <a:t>UploadBranchManagerDocs</a:t>
            </a:r>
            <a:r>
              <a:rPr lang="en-US"/>
              <a:t>(</a:t>
            </a:r>
            <a:r>
              <a:rPr lang="en-US" b="1">
                <a:solidFill>
                  <a:srgbClr val="FFC000"/>
                </a:solidFill>
              </a:rPr>
              <a:t>Flow_Funding_request</a:t>
            </a:r>
            <a:r>
              <a:rPr lang="en-US"/>
              <a:t>)</a:t>
            </a:r>
          </a:p>
          <a:p>
            <a:pPr marL="450000" lvl="1" indent="0">
              <a:buNone/>
            </a:pPr>
            <a:endParaRPr lang="en-US"/>
          </a:p>
          <a:p>
            <a:r>
              <a:rPr lang="en-US"/>
              <a:t>_Flow_Rejections_mainService.GetAllRejectionFieldsByRequest_id(Request_id)</a:t>
            </a:r>
          </a:p>
          <a:p>
            <a:endParaRPr lang="en-US"/>
          </a:p>
        </p:txBody>
      </p:sp>
    </p:spTree>
    <p:extLst>
      <p:ext uri="{BB962C8B-B14F-4D97-AF65-F5344CB8AC3E}">
        <p14:creationId xmlns:p14="http://schemas.microsoft.com/office/powerpoint/2010/main" val="25139270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a:t>رفض_عميل</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rgbClr val="FFC000"/>
                </a:solidFill>
              </a:rPr>
              <a:t>تم الصرف</a:t>
            </a:r>
            <a:endParaRPr lang="en-US" b="1">
              <a:solidFill>
                <a:srgbClr val="FFC000"/>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a:t>
            </a:r>
            <a:endParaRPr lang="en-US" b="1"/>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a:t>Flow_Requests_Log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B69CF-0430-C72F-E158-7D4576E1893D}"/>
              </a:ext>
            </a:extLst>
          </p:cNvPr>
          <p:cNvSpPr>
            <a:spLocks noGrp="1"/>
          </p:cNvSpPr>
          <p:nvPr>
            <p:ph type="title"/>
          </p:nvPr>
        </p:nvSpPr>
        <p:spPr>
          <a:xfrm>
            <a:off x="913795" y="46654"/>
            <a:ext cx="10353762" cy="659024"/>
          </a:xfrm>
        </p:spPr>
        <p:txBody>
          <a:bodyPr>
            <a:normAutofit fontScale="90000"/>
          </a:bodyPr>
          <a:lstStyle/>
          <a:p>
            <a:r>
              <a:rPr lang="en-US" b="1"/>
              <a:t>Micro Login Sequence</a:t>
            </a:r>
          </a:p>
        </p:txBody>
      </p:sp>
      <p:sp>
        <p:nvSpPr>
          <p:cNvPr id="3" name="Content Placeholder 2">
            <a:extLst>
              <a:ext uri="{FF2B5EF4-FFF2-40B4-BE49-F238E27FC236}">
                <a16:creationId xmlns:a16="http://schemas.microsoft.com/office/drawing/2014/main" id="{A7E639F0-DFFB-8A01-6FC5-695433537E24}"/>
              </a:ext>
            </a:extLst>
          </p:cNvPr>
          <p:cNvSpPr>
            <a:spLocks noGrp="1"/>
          </p:cNvSpPr>
          <p:nvPr>
            <p:ph idx="1"/>
          </p:nvPr>
        </p:nvSpPr>
        <p:spPr>
          <a:xfrm>
            <a:off x="258417" y="705678"/>
            <a:ext cx="11009140" cy="6033051"/>
          </a:xfrm>
        </p:spPr>
        <p:txBody>
          <a:bodyPr/>
          <a:lstStyle/>
          <a:p>
            <a:endParaRPr lang="en-US"/>
          </a:p>
          <a:p>
            <a:endParaRPr lang="en-US"/>
          </a:p>
          <a:p>
            <a:endParaRPr lang="en-US"/>
          </a:p>
          <a:p>
            <a:r>
              <a:rPr lang="en-US"/>
              <a:t>Then go to loginService</a:t>
            </a:r>
          </a:p>
          <a:p>
            <a:endParaRPr lang="en-US"/>
          </a:p>
        </p:txBody>
      </p:sp>
      <p:pic>
        <p:nvPicPr>
          <p:cNvPr id="7" name="Picture 6">
            <a:extLst>
              <a:ext uri="{FF2B5EF4-FFF2-40B4-BE49-F238E27FC236}">
                <a16:creationId xmlns:a16="http://schemas.microsoft.com/office/drawing/2014/main" id="{9949445F-5D8F-6554-A6F3-73F4D9DADB18}"/>
              </a:ext>
            </a:extLst>
          </p:cNvPr>
          <p:cNvPicPr>
            <a:picLocks noChangeAspect="1"/>
          </p:cNvPicPr>
          <p:nvPr/>
        </p:nvPicPr>
        <p:blipFill>
          <a:blip r:embed="rId2"/>
          <a:stretch>
            <a:fillRect/>
          </a:stretch>
        </p:blipFill>
        <p:spPr>
          <a:xfrm>
            <a:off x="195592" y="799824"/>
            <a:ext cx="5895084" cy="1129756"/>
          </a:xfrm>
          <a:prstGeom prst="rect">
            <a:avLst/>
          </a:prstGeom>
        </p:spPr>
      </p:pic>
      <p:pic>
        <p:nvPicPr>
          <p:cNvPr id="9" name="Picture 8">
            <a:extLst>
              <a:ext uri="{FF2B5EF4-FFF2-40B4-BE49-F238E27FC236}">
                <a16:creationId xmlns:a16="http://schemas.microsoft.com/office/drawing/2014/main" id="{7D96E95C-6FD8-AD7C-7E21-F0E9E7B05C9D}"/>
              </a:ext>
            </a:extLst>
          </p:cNvPr>
          <p:cNvPicPr>
            <a:picLocks noChangeAspect="1"/>
          </p:cNvPicPr>
          <p:nvPr/>
        </p:nvPicPr>
        <p:blipFill>
          <a:blip r:embed="rId3"/>
          <a:stretch>
            <a:fillRect/>
          </a:stretch>
        </p:blipFill>
        <p:spPr>
          <a:xfrm>
            <a:off x="3450237" y="2023726"/>
            <a:ext cx="4669377" cy="352850"/>
          </a:xfrm>
          <a:prstGeom prst="rect">
            <a:avLst/>
          </a:prstGeom>
        </p:spPr>
      </p:pic>
    </p:spTree>
    <p:extLst>
      <p:ext uri="{BB962C8B-B14F-4D97-AF65-F5344CB8AC3E}">
        <p14:creationId xmlns:p14="http://schemas.microsoft.com/office/powerpoint/2010/main" val="184294637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11068774" cy="6172198"/>
          </a:xfrm>
        </p:spPr>
        <p:txBody>
          <a:bodyPr/>
          <a:lstStyle/>
          <a:p>
            <a:r>
              <a:rPr lang="en-US"/>
              <a:t>At Tamweely.Infrastructure.Data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2E1F2-110E-60AD-D367-0D53F2BE0454}"/>
              </a:ext>
            </a:extLst>
          </p:cNvPr>
          <p:cNvSpPr>
            <a:spLocks noGrp="1"/>
          </p:cNvSpPr>
          <p:nvPr>
            <p:ph type="title"/>
          </p:nvPr>
        </p:nvSpPr>
        <p:spPr>
          <a:xfrm>
            <a:off x="913795" y="609599"/>
            <a:ext cx="10353762" cy="3933825"/>
          </a:xfrm>
        </p:spPr>
        <p:txBody>
          <a:bodyPr>
            <a:normAutofit/>
          </a:bodyPr>
          <a:lstStyle/>
          <a:p>
            <a:r>
              <a:rPr lang="en-US" sz="6000" b="1">
                <a:solidFill>
                  <a:srgbClr val="FF0000"/>
                </a:solidFill>
              </a:rPr>
              <a:t>Front-End</a:t>
            </a:r>
          </a:p>
        </p:txBody>
      </p:sp>
    </p:spTree>
    <p:extLst>
      <p:ext uri="{BB962C8B-B14F-4D97-AF65-F5344CB8AC3E}">
        <p14:creationId xmlns:p14="http://schemas.microsoft.com/office/powerpoint/2010/main" val="242053389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A0634-30E1-1C4D-27F1-1FC829995F07}"/>
              </a:ext>
            </a:extLst>
          </p:cNvPr>
          <p:cNvSpPr>
            <a:spLocks noGrp="1"/>
          </p:cNvSpPr>
          <p:nvPr>
            <p:ph type="title"/>
          </p:nvPr>
        </p:nvSpPr>
        <p:spPr/>
        <p:txBody>
          <a:bodyPr/>
          <a:lstStyle/>
          <a:p>
            <a:r>
              <a:rPr lang="en-US"/>
              <a:t>FrontEnd</a:t>
            </a:r>
          </a:p>
        </p:txBody>
      </p:sp>
      <p:sp>
        <p:nvSpPr>
          <p:cNvPr id="3" name="Content Placeholder 2">
            <a:extLst>
              <a:ext uri="{FF2B5EF4-FFF2-40B4-BE49-F238E27FC236}">
                <a16:creationId xmlns:a16="http://schemas.microsoft.com/office/drawing/2014/main" id="{A2FBEDC7-38C9-5F8E-13A7-1C6E12C5CA0F}"/>
              </a:ext>
            </a:extLst>
          </p:cNvPr>
          <p:cNvSpPr>
            <a:spLocks noGrp="1"/>
          </p:cNvSpPr>
          <p:nvPr>
            <p:ph idx="1"/>
          </p:nvPr>
        </p:nvSpPr>
        <p:spPr>
          <a:xfrm>
            <a:off x="238125" y="1732449"/>
            <a:ext cx="11715750" cy="4058751"/>
          </a:xfrm>
        </p:spPr>
        <p:txBody>
          <a:bodyPr/>
          <a:lstStyle/>
          <a:p>
            <a:r>
              <a:rPr lang="en-US">
                <a:effectLst/>
              </a:rPr>
              <a:t>currentJob = JSON.parse(BaseComponent.getData('currentJob’));</a:t>
            </a:r>
          </a:p>
          <a:p>
            <a:r>
              <a:rPr lang="en-US">
                <a:effectLst/>
              </a:rPr>
              <a:t>  currentJobCode = JSON.parse(BaseComponent.getData('UserJobCode'));</a:t>
            </a:r>
          </a:p>
          <a:p>
            <a:endParaRPr lang="en-US">
              <a:effectLst/>
            </a:endParaRPr>
          </a:p>
          <a:p>
            <a:endParaRPr lang="en-US"/>
          </a:p>
        </p:txBody>
      </p:sp>
    </p:spTree>
    <p:extLst>
      <p:ext uri="{BB962C8B-B14F-4D97-AF65-F5344CB8AC3E}">
        <p14:creationId xmlns:p14="http://schemas.microsoft.com/office/powerpoint/2010/main" val="373855038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57187</TotalTime>
  <Words>10224</Words>
  <Application>Microsoft Office PowerPoint</Application>
  <PresentationFormat>Widescreen</PresentationFormat>
  <Paragraphs>1399</Paragraphs>
  <Slides>163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163</vt:i4>
      </vt:variant>
    </vt:vector>
  </HeadingPairs>
  <TitlesOfParts>
    <vt:vector size="167" baseType="lpstr">
      <vt:lpstr>Arial</vt:lpstr>
      <vt:lpstr>Calisto MT</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Micro, Master, Core Flow Steps</vt:lpstr>
      <vt:lpstr>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PowerPoint Presentation</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[cont.4]</vt:lpstr>
      <vt:lpstr>When Saving Request for the first time VIA LO [cont.5]</vt:lpstr>
      <vt:lpstr>End Funding Request (R111)</vt:lpstr>
      <vt:lpstr>TWF. Flow_branch_product</vt:lpstr>
      <vt:lpstr>TWF.Flow_Emp_Product</vt:lpstr>
      <vt:lpstr>TWF.Flow_Contact_Us</vt:lpstr>
      <vt:lpstr>Trans.Trans_GPS_Tracking</vt:lpstr>
      <vt:lpstr>Lookup.Branch</vt:lpstr>
      <vt:lpstr>TWF.Flow_GeneralSettings</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TWF.Flow_Funding_request [cont.]</vt:lpstr>
      <vt:lpstr>TDWF.Flow_Request_Deportation</vt:lpstr>
      <vt:lpstr>TDWF.Flow_Request_Deportation [cont. 1]</vt:lpstr>
      <vt:lpstr>TDWF.Flow_Request_Deportation [cont. 2]</vt:lpstr>
      <vt:lpstr>TDWF.Flow_Request_Deportation [cont. 3]</vt:lpstr>
      <vt:lpstr>TDWF.Flow_Request_Deportation [cont. 4]</vt:lpstr>
      <vt:lpstr>TDWF.Flow_Request_Deportation [cont. 5]</vt:lpstr>
      <vt:lpstr>TDWF.Flow_Request_Deportation [cont. 6]</vt:lpstr>
      <vt:lpstr>TDWF.Flow_Request_Deportation [cont. 7]</vt:lpstr>
      <vt:lpstr>TDWF.Flow_Request_Deportation [cont. 8]</vt:lpstr>
      <vt:lpstr>TDWF.Flow_Requests_Log</vt:lpstr>
      <vt:lpstr>TDWF.Flow_Requests_Log (cont.1)</vt:lpstr>
      <vt:lpstr>TDWF.Flow_Requests_Log (cont.2)</vt:lpstr>
      <vt:lpstr>TDWF.Flow_Requests_Log (cont.2)</vt:lpstr>
      <vt:lpstr>TDWF.Flow_Rejections_main</vt:lpstr>
      <vt:lpstr>TDWF.Flow_Rejections_SubOne</vt:lpstr>
      <vt:lpstr>TDWF.Flow_Rejections_SubOne [cont.1]</vt:lpstr>
      <vt:lpstr>Field Visit</vt:lpstr>
      <vt:lpstr>TDWF.Flow_FieldVisits_main</vt:lpstr>
      <vt:lpstr>TDWF.Flow_FieldVisits_Client</vt:lpstr>
      <vt:lpstr>TDWF.Flow_FieldVisits_Organization</vt:lpstr>
      <vt:lpstr>TDWF.Flow_FieldVisits_StatisticsData</vt:lpstr>
      <vt:lpstr>TDWF.Flow_FieldVisits_Guarantor</vt:lpstr>
      <vt:lpstr>TDWF.Flow_FieldVisits_FieldInquiry</vt:lpstr>
      <vt:lpstr>TDWF.Flow_FieldVisits_FinancialAnalysis [التحليل المالي]</vt:lpstr>
      <vt:lpstr>Credit Analysis</vt:lpstr>
      <vt:lpstr>TDWF.Flow_Credit_Analysis</vt:lpstr>
      <vt:lpstr>Documents Uploading DU77</vt:lpstr>
      <vt:lpstr>End Documents Uploading DU77</vt:lpstr>
      <vt:lpstr>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vt:lpstr>
      <vt:lpstr>SWF.Flow_Sub_activities</vt:lpstr>
      <vt:lpstr>SWF.Flow_Relationships</vt:lpstr>
      <vt:lpstr>SWF.Flow_Customers_jobs</vt:lpstr>
      <vt:lpstr>SWF.Flow_districts</vt:lpstr>
      <vt:lpstr>SWF.Flow_Sections</vt:lpstr>
      <vt:lpstr>SWF.Flow_Identity_Expiry</vt:lpstr>
      <vt:lpstr>SWF.Flow_Exchange_Destinations</vt:lpstr>
      <vt:lpstr>End SWF setup work flow</vt:lpstr>
      <vt:lpstr>TWF.Flow_Transfer_Iscore</vt:lpstr>
      <vt:lpstr>TWT.Flow_Products</vt:lpstr>
      <vt:lpstr>TWT.Flow_Products [cont.]</vt:lpstr>
      <vt:lpstr>TWF.Flow_Exempted_Products</vt:lpstr>
      <vt:lpstr>TWF.Flow_Customers</vt:lpstr>
      <vt:lpstr>TWF.Flow_Enterprises</vt:lpstr>
      <vt:lpstr>Company entity</vt:lpstr>
      <vt:lpstr>Acc_Chart_Account entity</vt:lpstr>
      <vt:lpstr>Start Security</vt:lpstr>
      <vt:lpstr>Security.SEC_Action</vt:lpstr>
      <vt:lpstr>Security.Sec_APIs</vt:lpstr>
      <vt:lpstr>Security.SEC_Group</vt:lpstr>
      <vt:lpstr>Security.SEC_Menu</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Places</vt:lpstr>
      <vt:lpstr>Places</vt:lpstr>
      <vt:lpstr>Places</vt:lpstr>
      <vt:lpstr> Start Flags </vt:lpstr>
      <vt:lpstr>SWF. Flow_status: [ Table ]</vt:lpstr>
      <vt:lpstr>Request_status</vt:lpstr>
      <vt:lpstr>Action_Flag</vt:lpstr>
      <vt:lpstr> END Flags </vt:lpstr>
      <vt:lpstr>Micro Login Sequence</vt:lpstr>
      <vt:lpstr>View Models</vt:lpstr>
      <vt:lpstr>FlowActionsNameStepFromTo</vt:lpstr>
      <vt:lpstr>FundingData</vt:lpstr>
      <vt:lpstr>FundingDataVM</vt:lpstr>
      <vt:lpstr>ProdVM</vt:lpstr>
      <vt:lpstr>PowerPoint Presentation</vt:lpstr>
      <vt:lpstr>PowerPoint Presentation</vt:lpstr>
      <vt:lpstr>TransactionVM</vt:lpstr>
      <vt:lpstr>LoginVM</vt:lpstr>
      <vt:lpstr>PowerPoint Presentation</vt:lpstr>
      <vt:lpstr>To make migration</vt:lpstr>
      <vt:lpstr>Front-End</vt:lpstr>
      <vt:lpstr>FrontEnd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1369</cp:revision>
  <dcterms:created xsi:type="dcterms:W3CDTF">2026-02-01T18:13:26Z</dcterms:created>
  <dcterms:modified xsi:type="dcterms:W3CDTF">2026-04-14T14:28:32Z</dcterms:modified>
</cp:coreProperties>
</file>