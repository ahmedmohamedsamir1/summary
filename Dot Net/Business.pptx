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3" r:id="rId3"/>
    <p:sldId id="262" r:id="rId4"/>
    <p:sldId id="392" r:id="rId5"/>
    <p:sldId id="394" r:id="rId6"/>
    <p:sldId id="402" r:id="rId7"/>
    <p:sldId id="404" r:id="rId8"/>
    <p:sldId id="406" r:id="rId9"/>
    <p:sldId id="407" r:id="rId10"/>
    <p:sldId id="408" r:id="rId11"/>
    <p:sldId id="411" r:id="rId12"/>
    <p:sldId id="422" r:id="rId13"/>
    <p:sldId id="423" r:id="rId14"/>
    <p:sldId id="413" r:id="rId15"/>
    <p:sldId id="424" r:id="rId16"/>
    <p:sldId id="409" r:id="rId17"/>
    <p:sldId id="447" r:id="rId18"/>
    <p:sldId id="473" r:id="rId19"/>
    <p:sldId id="478" r:id="rId20"/>
    <p:sldId id="482" r:id="rId21"/>
    <p:sldId id="483" r:id="rId22"/>
    <p:sldId id="484" r:id="rId23"/>
    <p:sldId id="474" r:id="rId24"/>
    <p:sldId id="528" r:id="rId25"/>
    <p:sldId id="485" r:id="rId26"/>
    <p:sldId id="393" r:id="rId27"/>
    <p:sldId id="475" r:id="rId28"/>
    <p:sldId id="477" r:id="rId29"/>
    <p:sldId id="487" r:id="rId30"/>
    <p:sldId id="503" r:id="rId31"/>
    <p:sldId id="488" r:id="rId32"/>
    <p:sldId id="489" r:id="rId33"/>
    <p:sldId id="490" r:id="rId34"/>
    <p:sldId id="491" r:id="rId35"/>
    <p:sldId id="492" r:id="rId36"/>
    <p:sldId id="502" r:id="rId37"/>
    <p:sldId id="476" r:id="rId38"/>
    <p:sldId id="500" r:id="rId39"/>
    <p:sldId id="504" r:id="rId40"/>
    <p:sldId id="507" r:id="rId41"/>
    <p:sldId id="505" r:id="rId42"/>
    <p:sldId id="506" r:id="rId43"/>
    <p:sldId id="508" r:id="rId44"/>
    <p:sldId id="495" r:id="rId45"/>
    <p:sldId id="349" r:id="rId46"/>
    <p:sldId id="351" r:id="rId47"/>
    <p:sldId id="353" r:id="rId48"/>
    <p:sldId id="510" r:id="rId49"/>
    <p:sldId id="512" r:id="rId50"/>
    <p:sldId id="513" r:id="rId51"/>
    <p:sldId id="514" r:id="rId52"/>
    <p:sldId id="352" r:id="rId53"/>
    <p:sldId id="509" r:id="rId54"/>
    <p:sldId id="497" r:id="rId55"/>
    <p:sldId id="515" r:id="rId56"/>
    <p:sldId id="516" r:id="rId57"/>
    <p:sldId id="354" r:id="rId58"/>
    <p:sldId id="355" r:id="rId59"/>
    <p:sldId id="517" r:id="rId60"/>
    <p:sldId id="501" r:id="rId61"/>
    <p:sldId id="370" r:id="rId62"/>
    <p:sldId id="371" r:id="rId63"/>
    <p:sldId id="518" r:id="rId64"/>
    <p:sldId id="534" r:id="rId65"/>
    <p:sldId id="536" r:id="rId66"/>
    <p:sldId id="537" r:id="rId67"/>
    <p:sldId id="535" r:id="rId68"/>
    <p:sldId id="396" r:id="rId69"/>
    <p:sldId id="395" r:id="rId70"/>
    <p:sldId id="308" r:id="rId71"/>
    <p:sldId id="278" r:id="rId72"/>
    <p:sldId id="271" r:id="rId73"/>
    <p:sldId id="292" r:id="rId74"/>
    <p:sldId id="472" r:id="rId75"/>
    <p:sldId id="279" r:id="rId76"/>
    <p:sldId id="305" r:id="rId77"/>
    <p:sldId id="280" r:id="rId78"/>
    <p:sldId id="318" r:id="rId79"/>
    <p:sldId id="285" r:id="rId80"/>
    <p:sldId id="286" r:id="rId81"/>
    <p:sldId id="287" r:id="rId82"/>
    <p:sldId id="369" r:id="rId83"/>
    <p:sldId id="372" r:id="rId84"/>
    <p:sldId id="316" r:id="rId85"/>
    <p:sldId id="325" r:id="rId86"/>
    <p:sldId id="347" r:id="rId87"/>
    <p:sldId id="373" r:id="rId88"/>
    <p:sldId id="388" r:id="rId89"/>
    <p:sldId id="306" r:id="rId90"/>
    <p:sldId id="358" r:id="rId91"/>
    <p:sldId id="281" r:id="rId92"/>
    <p:sldId id="314" r:id="rId93"/>
    <p:sldId id="294" r:id="rId94"/>
    <p:sldId id="331" r:id="rId95"/>
    <p:sldId id="330" r:id="rId96"/>
    <p:sldId id="324" r:id="rId97"/>
    <p:sldId id="304" r:id="rId98"/>
    <p:sldId id="310" r:id="rId99"/>
    <p:sldId id="311" r:id="rId100"/>
    <p:sldId id="312" r:id="rId101"/>
    <p:sldId id="293" r:id="rId102"/>
    <p:sldId id="296" r:id="rId103"/>
    <p:sldId id="297" r:id="rId104"/>
    <p:sldId id="299" r:id="rId105"/>
    <p:sldId id="298" r:id="rId106"/>
    <p:sldId id="421" r:id="rId107"/>
    <p:sldId id="389" r:id="rId108"/>
    <p:sldId id="467" r:id="rId109"/>
    <p:sldId id="469" r:id="rId110"/>
    <p:sldId id="470" r:id="rId111"/>
    <p:sldId id="471" r:id="rId112"/>
    <p:sldId id="468" r:id="rId113"/>
    <p:sldId id="283" r:id="rId114"/>
    <p:sldId id="374" r:id="rId115"/>
    <p:sldId id="359" r:id="rId116"/>
    <p:sldId id="307" r:id="rId117"/>
    <p:sldId id="309" r:id="rId118"/>
    <p:sldId id="288" r:id="rId119"/>
    <p:sldId id="282" r:id="rId120"/>
    <p:sldId id="397" r:id="rId121"/>
    <p:sldId id="400" r:id="rId122"/>
    <p:sldId id="465" r:id="rId123"/>
    <p:sldId id="399" r:id="rId124"/>
    <p:sldId id="300" r:id="rId125"/>
    <p:sldId id="463" r:id="rId126"/>
    <p:sldId id="464" r:id="rId127"/>
    <p:sldId id="460" r:id="rId128"/>
    <p:sldId id="301" r:id="rId129"/>
    <p:sldId id="462" r:id="rId130"/>
    <p:sldId id="398" r:id="rId131"/>
    <p:sldId id="319" r:id="rId132"/>
    <p:sldId id="403" r:id="rId133"/>
    <p:sldId id="338" r:id="rId134"/>
    <p:sldId id="339" r:id="rId135"/>
    <p:sldId id="356" r:id="rId136"/>
    <p:sldId id="357" r:id="rId137"/>
    <p:sldId id="384" r:id="rId138"/>
    <p:sldId id="343" r:id="rId139"/>
    <p:sldId id="382" r:id="rId140"/>
    <p:sldId id="377" r:id="rId141"/>
    <p:sldId id="378" r:id="rId142"/>
    <p:sldId id="386" r:id="rId143"/>
    <p:sldId id="385" r:id="rId144"/>
    <p:sldId id="426" r:id="rId145"/>
    <p:sldId id="448" r:id="rId146"/>
    <p:sldId id="432" r:id="rId147"/>
    <p:sldId id="303" r:id="rId148"/>
    <p:sldId id="428" r:id="rId149"/>
    <p:sldId id="433" r:id="rId150"/>
    <p:sldId id="434" r:id="rId151"/>
    <p:sldId id="435" r:id="rId152"/>
    <p:sldId id="436" r:id="rId153"/>
    <p:sldId id="439" r:id="rId154"/>
    <p:sldId id="441" r:id="rId155"/>
    <p:sldId id="443" r:id="rId156"/>
    <p:sldId id="444" r:id="rId157"/>
    <p:sldId id="440" r:id="rId158"/>
    <p:sldId id="437" r:id="rId159"/>
    <p:sldId id="445" r:id="rId160"/>
    <p:sldId id="429" r:id="rId161"/>
    <p:sldId id="438" r:id="rId162"/>
    <p:sldId id="427" r:id="rId163"/>
    <p:sldId id="450" r:id="rId164"/>
    <p:sldId id="453" r:id="rId165"/>
    <p:sldId id="452" r:id="rId166"/>
    <p:sldId id="454" r:id="rId167"/>
    <p:sldId id="455" r:id="rId168"/>
    <p:sldId id="451" r:id="rId169"/>
    <p:sldId id="461" r:id="rId170"/>
    <p:sldId id="459" r:id="rId171"/>
    <p:sldId id="456" r:id="rId172"/>
    <p:sldId id="458" r:id="rId173"/>
    <p:sldId id="479" r:id="rId174"/>
    <p:sldId id="481" r:id="rId175"/>
    <p:sldId id="480" r:id="rId176"/>
    <p:sldId id="449" r:id="rId177"/>
    <p:sldId id="276" r:id="rId178"/>
    <p:sldId id="289" r:id="rId179"/>
    <p:sldId id="290" r:id="rId180"/>
    <p:sldId id="376" r:id="rId181"/>
    <p:sldId id="361" r:id="rId182"/>
    <p:sldId id="362" r:id="rId183"/>
    <p:sldId id="321" r:id="rId184"/>
    <p:sldId id="360" r:id="rId185"/>
    <p:sldId id="366" r:id="rId186"/>
    <p:sldId id="405" r:id="rId187"/>
    <p:sldId id="383" r:id="rId188"/>
    <p:sldId id="418" r:id="rId189"/>
    <p:sldId id="419" r:id="rId190"/>
    <p:sldId id="420" r:id="rId191"/>
    <p:sldId id="446" r:id="rId192"/>
    <p:sldId id="417" r:id="rId193"/>
    <p:sldId id="520" r:id="rId194"/>
    <p:sldId id="522" r:id="rId195"/>
    <p:sldId id="523" r:id="rId196"/>
    <p:sldId id="521" r:id="rId197"/>
    <p:sldId id="530" r:id="rId198"/>
    <p:sldId id="525" r:id="rId199"/>
    <p:sldId id="531" r:id="rId200"/>
    <p:sldId id="527" r:id="rId201"/>
    <p:sldId id="532" r:id="rId202"/>
    <p:sldId id="529" r:id="rId203"/>
    <p:sldId id="533" r:id="rId204"/>
    <p:sldId id="526" r:id="rId205"/>
    <p:sldId id="335" r:id="rId206"/>
    <p:sldId id="375" r:id="rId207"/>
    <p:sldId id="340" r:id="rId208"/>
    <p:sldId id="345" r:id="rId209"/>
    <p:sldId id="336" r:id="rId210"/>
    <p:sldId id="341" r:id="rId211"/>
    <p:sldId id="337" r:id="rId212"/>
    <p:sldId id="295" r:id="rId213"/>
    <p:sldId id="344" r:id="rId214"/>
    <p:sldId id="363" r:id="rId2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62" y="3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viewProps" Target="viewProp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theme" Target="theme/theme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219" Type="http://schemas.openxmlformats.org/officeDocument/2006/relationships/tableStyles" Target="tableStyles.xml"/><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4/28/2026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4/28/2026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4/28/2026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4/28/2026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4/28/2026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4/28/2026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coretest-uploadfile.tamweely.local:4154/api/UploadFile/UploadDocumen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image" Target="../media/image95.png"/><Relationship Id="rId7" Type="http://schemas.openxmlformats.org/officeDocument/2006/relationships/image" Target="../media/image99.png"/><Relationship Id="rId2"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2.xml"/><Relationship Id="rId4" Type="http://schemas.openxmlformats.org/officeDocument/2006/relationships/image" Target="../media/image103.png"/></Relationships>
</file>

<file path=ppt/slides/_rels/slide11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Micro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t>Operator: Credit,</a:t>
            </a:r>
            <a:r>
              <a:rPr lang="ar-EG" sz="1700" b="1"/>
              <a:t> </a:t>
            </a:r>
            <a:r>
              <a:rPr lang="en-US" sz="1700" b="1"/>
              <a:t>LR55</a:t>
            </a:r>
          </a:p>
          <a:p>
            <a:pPr marL="871200" lvl="1" indent="-457200">
              <a:buFont typeface="+mj-lt"/>
              <a:buAutoNum type="arabicPeriod"/>
            </a:pPr>
            <a:r>
              <a:rPr lang="ar-EG" sz="1700" b="1">
                <a:solidFill>
                  <a:srgbClr val="FF0000"/>
                </a:solidFill>
              </a:rPr>
              <a:t>إتمام توقيع</a:t>
            </a:r>
            <a:endParaRPr lang="en-US" sz="1700" b="1">
              <a:solidFill>
                <a:srgbClr val="FF0000"/>
              </a:solidFill>
            </a:endParaRPr>
          </a:p>
          <a:p>
            <a:pPr marL="871200" lvl="1" indent="-457200">
              <a:buFont typeface="+mj-lt"/>
              <a:buAutoNum type="arabicPeriod"/>
            </a:pPr>
            <a:r>
              <a:rPr lang="ar-EG" sz="1700" b="1">
                <a:solidFill>
                  <a:srgbClr val="FF0000"/>
                </a:solidFill>
              </a:rPr>
              <a:t>تم 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6192078" y="786890"/>
            <a:ext cx="5999922" cy="441376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إتمام توقيع</a:t>
            </a:r>
          </a:p>
          <a:p>
            <a:pPr marL="871200" lvl="1" indent="-457200">
              <a:lnSpc>
                <a:spcPct val="150000"/>
              </a:lnSpc>
              <a:buFont typeface="+mj-lt"/>
              <a:buAutoNum type="arabicPeriod"/>
            </a:pPr>
            <a:r>
              <a:rPr lang="ar-EG" sz="1600" b="1">
                <a:solidFill>
                  <a:srgbClr val="FF0000"/>
                </a:solidFill>
              </a:rPr>
              <a:t>تم 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68075"/>
            <a:ext cx="10353762" cy="970450"/>
          </a:xfrm>
        </p:spPr>
        <p:txBody>
          <a:bodyPr>
            <a:normAutofit/>
          </a:bodyPr>
          <a:lstStyle/>
          <a:p>
            <a:r>
              <a:rPr lang="en-US" sz="4400" b="1">
                <a:solidFill>
                  <a:srgbClr val="FF0000"/>
                </a:solidFill>
              </a:rPr>
              <a:t>Start Funding Request: R111</a:t>
            </a:r>
          </a:p>
        </p:txBody>
      </p:sp>
    </p:spTree>
    <p:extLst>
      <p:ext uri="{BB962C8B-B14F-4D97-AF65-F5344CB8AC3E}">
        <p14:creationId xmlns:p14="http://schemas.microsoft.com/office/powerpoint/2010/main" val="14722935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البيانات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5" name="Picture 4">
            <a:extLst>
              <a:ext uri="{FF2B5EF4-FFF2-40B4-BE49-F238E27FC236}">
                <a16:creationId xmlns:a16="http://schemas.microsoft.com/office/drawing/2014/main" id="{AE3AE4B7-632E-5BE5-1879-702F4C2520DA}"/>
              </a:ext>
            </a:extLst>
          </p:cNvPr>
          <p:cNvPicPr>
            <a:picLocks noChangeAspect="1"/>
          </p:cNvPicPr>
          <p:nvPr/>
        </p:nvPicPr>
        <p:blipFill>
          <a:blip r:embed="rId2"/>
          <a:stretch>
            <a:fillRect/>
          </a:stretch>
        </p:blipFill>
        <p:spPr>
          <a:xfrm>
            <a:off x="125897" y="4842163"/>
            <a:ext cx="5970103" cy="1932709"/>
          </a:xfrm>
          <a:prstGeom prst="rect">
            <a:avLst/>
          </a:prstGeom>
        </p:spPr>
      </p:pic>
      <p:pic>
        <p:nvPicPr>
          <p:cNvPr id="7" name="Picture 6">
            <a:extLst>
              <a:ext uri="{FF2B5EF4-FFF2-40B4-BE49-F238E27FC236}">
                <a16:creationId xmlns:a16="http://schemas.microsoft.com/office/drawing/2014/main" id="{0A94F07D-B157-DB50-0F40-D267A5FA5954}"/>
              </a:ext>
            </a:extLst>
          </p:cNvPr>
          <p:cNvPicPr>
            <a:picLocks noChangeAspect="1"/>
          </p:cNvPicPr>
          <p:nvPr/>
        </p:nvPicPr>
        <p:blipFill>
          <a:blip r:embed="rId3"/>
          <a:stretch>
            <a:fillRect/>
          </a:stretch>
        </p:blipFill>
        <p:spPr>
          <a:xfrm>
            <a:off x="125897" y="1926193"/>
            <a:ext cx="5970103" cy="2830133"/>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2DB6E-98E4-04D6-32A1-81DE6C3C3280}"/>
              </a:ext>
            </a:extLst>
          </p:cNvPr>
          <p:cNvSpPr>
            <a:spLocks noGrp="1"/>
          </p:cNvSpPr>
          <p:nvPr>
            <p:ph type="title"/>
          </p:nvPr>
        </p:nvSpPr>
        <p:spPr>
          <a:xfrm>
            <a:off x="913795" y="0"/>
            <a:ext cx="10353762" cy="654627"/>
          </a:xfrm>
        </p:spPr>
        <p:txBody>
          <a:bodyPr>
            <a:normAutofit fontScale="90000"/>
          </a:bodyPr>
          <a:lstStyle/>
          <a:p>
            <a:r>
              <a:rPr lang="en-US" b="1">
                <a:solidFill>
                  <a:srgbClr val="FF0000"/>
                </a:solidFill>
              </a:rPr>
              <a:t>LO Select Funding Type [ </a:t>
            </a:r>
            <a:r>
              <a:rPr lang="ar-EG" b="1">
                <a:solidFill>
                  <a:srgbClr val="FF0000"/>
                </a:solidFill>
              </a:rPr>
              <a:t>نوع التمويل</a:t>
            </a:r>
            <a:r>
              <a:rPr lang="en-US" b="1">
                <a:solidFill>
                  <a:srgbClr val="FF0000"/>
                </a:solidFill>
              </a:rPr>
              <a:t> ]</a:t>
            </a:r>
          </a:p>
        </p:txBody>
      </p:sp>
      <p:sp>
        <p:nvSpPr>
          <p:cNvPr id="3" name="Content Placeholder 2">
            <a:extLst>
              <a:ext uri="{FF2B5EF4-FFF2-40B4-BE49-F238E27FC236}">
                <a16:creationId xmlns:a16="http://schemas.microsoft.com/office/drawing/2014/main" id="{0E9EE910-A036-D8E1-199B-70594B8C7B8F}"/>
              </a:ext>
            </a:extLst>
          </p:cNvPr>
          <p:cNvSpPr>
            <a:spLocks noGrp="1"/>
          </p:cNvSpPr>
          <p:nvPr>
            <p:ph idx="1"/>
          </p:nvPr>
        </p:nvSpPr>
        <p:spPr>
          <a:xfrm>
            <a:off x="166254" y="654627"/>
            <a:ext cx="11940021" cy="6047509"/>
          </a:xfrm>
        </p:spPr>
        <p:txBody>
          <a:bodyPr/>
          <a:lstStyle/>
          <a:p>
            <a:r>
              <a:rPr lang="ar-EG"/>
              <a:t>بجيب كل البيانات الخاصة بالمنتج</a:t>
            </a:r>
            <a:endParaRPr lang="en-US"/>
          </a:p>
          <a:p>
            <a:r>
              <a:rPr lang="en-US"/>
              <a:t>Flow_Funding_requestController/</a:t>
            </a:r>
            <a:r>
              <a:rPr lang="en-US" b="1">
                <a:solidFill>
                  <a:srgbClr val="FFFF00"/>
                </a:solidFill>
              </a:rPr>
              <a:t>GetAllTypeDocuments</a:t>
            </a:r>
          </a:p>
          <a:p>
            <a:r>
              <a:rPr lang="en-US" b="1">
                <a:solidFill>
                  <a:srgbClr val="FFC000"/>
                </a:solidFill>
              </a:rPr>
              <a:t>TypeDocumentVM</a:t>
            </a:r>
            <a:r>
              <a:rPr lang="en-US"/>
              <a:t> </a:t>
            </a:r>
            <a:r>
              <a:rPr lang="en-US" b="1"/>
              <a:t>Flow_Funding_requestService.</a:t>
            </a:r>
            <a:r>
              <a:rPr lang="en-US" b="1">
                <a:solidFill>
                  <a:srgbClr val="00B0F0"/>
                </a:solidFill>
                <a:effectLst/>
              </a:rPr>
              <a:t>GetAllTypeDocuments</a:t>
            </a:r>
            <a:r>
              <a:rPr lang="en-US">
                <a:effectLst/>
              </a:rPr>
              <a:t> </a:t>
            </a:r>
            <a:r>
              <a:rPr lang="en-US" b="1">
                <a:effectLst/>
              </a:rPr>
              <a:t>(</a:t>
            </a:r>
            <a:r>
              <a:rPr lang="en-US" b="1"/>
              <a:t>[FromBody] </a:t>
            </a:r>
            <a:r>
              <a:rPr lang="en-US" b="1">
                <a:solidFill>
                  <a:srgbClr val="00B0F0"/>
                </a:solidFill>
              </a:rPr>
              <a:t>ProdcutData</a:t>
            </a:r>
            <a:r>
              <a:rPr lang="en-US" b="1"/>
              <a:t> entity)</a:t>
            </a:r>
          </a:p>
          <a:p>
            <a:endParaRPr lang="en-US"/>
          </a:p>
          <a:p>
            <a:endParaRPr lang="en-US"/>
          </a:p>
        </p:txBody>
      </p:sp>
      <p:pic>
        <p:nvPicPr>
          <p:cNvPr id="5" name="Picture 4">
            <a:extLst>
              <a:ext uri="{FF2B5EF4-FFF2-40B4-BE49-F238E27FC236}">
                <a16:creationId xmlns:a16="http://schemas.microsoft.com/office/drawing/2014/main" id="{854FA3C6-35E2-E50A-0BBE-06D6612ADC54}"/>
              </a:ext>
            </a:extLst>
          </p:cNvPr>
          <p:cNvPicPr>
            <a:picLocks noChangeAspect="1"/>
          </p:cNvPicPr>
          <p:nvPr/>
        </p:nvPicPr>
        <p:blipFill>
          <a:blip r:embed="rId2"/>
          <a:stretch>
            <a:fillRect/>
          </a:stretch>
        </p:blipFill>
        <p:spPr>
          <a:xfrm>
            <a:off x="292873" y="2425004"/>
            <a:ext cx="6024996" cy="3408300"/>
          </a:xfrm>
          <a:prstGeom prst="rect">
            <a:avLst/>
          </a:prstGeom>
        </p:spPr>
      </p:pic>
      <p:pic>
        <p:nvPicPr>
          <p:cNvPr id="6" name="Picture 5">
            <a:extLst>
              <a:ext uri="{FF2B5EF4-FFF2-40B4-BE49-F238E27FC236}">
                <a16:creationId xmlns:a16="http://schemas.microsoft.com/office/drawing/2014/main" id="{15AF2B9D-89A6-1D00-4423-E6634B600C23}"/>
              </a:ext>
            </a:extLst>
          </p:cNvPr>
          <p:cNvPicPr>
            <a:picLocks noChangeAspect="1"/>
          </p:cNvPicPr>
          <p:nvPr/>
        </p:nvPicPr>
        <p:blipFill>
          <a:blip r:embed="rId3"/>
          <a:stretch>
            <a:fillRect/>
          </a:stretch>
        </p:blipFill>
        <p:spPr>
          <a:xfrm>
            <a:off x="6444487" y="2425004"/>
            <a:ext cx="2941575" cy="1874682"/>
          </a:xfrm>
          <a:prstGeom prst="rect">
            <a:avLst/>
          </a:prstGeom>
        </p:spPr>
      </p:pic>
    </p:spTree>
    <p:extLst>
      <p:ext uri="{BB962C8B-B14F-4D97-AF65-F5344CB8AC3E}">
        <p14:creationId xmlns:p14="http://schemas.microsoft.com/office/powerpoint/2010/main" val="2828748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542CE-17C1-F04D-F144-2D6F30D0443F}"/>
              </a:ext>
            </a:extLst>
          </p:cNvPr>
          <p:cNvSpPr>
            <a:spLocks noGrp="1"/>
          </p:cNvSpPr>
          <p:nvPr>
            <p:ph type="title"/>
          </p:nvPr>
        </p:nvSpPr>
        <p:spPr>
          <a:xfrm>
            <a:off x="1007608" y="0"/>
            <a:ext cx="10353762" cy="501445"/>
          </a:xfrm>
        </p:spPr>
        <p:txBody>
          <a:bodyPr>
            <a:normAutofit fontScale="90000"/>
          </a:bodyPr>
          <a:lstStyle/>
          <a:p>
            <a:r>
              <a:rPr lang="en-US" b="1">
                <a:solidFill>
                  <a:srgbClr val="FF0000"/>
                </a:solidFill>
              </a:rPr>
              <a:t>When click on </a:t>
            </a:r>
            <a:r>
              <a:rPr lang="ar-EG" b="1">
                <a:solidFill>
                  <a:srgbClr val="FF0000"/>
                </a:solidFill>
              </a:rPr>
              <a:t>اسم العميل </a:t>
            </a:r>
            <a:r>
              <a:rPr lang="en-US" b="1">
                <a:solidFill>
                  <a:srgbClr val="FF0000"/>
                </a:solidFill>
              </a:rPr>
              <a:t> After write customer Id</a:t>
            </a:r>
          </a:p>
        </p:txBody>
      </p:sp>
      <p:sp>
        <p:nvSpPr>
          <p:cNvPr id="3" name="Content Placeholder 2">
            <a:extLst>
              <a:ext uri="{FF2B5EF4-FFF2-40B4-BE49-F238E27FC236}">
                <a16:creationId xmlns:a16="http://schemas.microsoft.com/office/drawing/2014/main" id="{84F5B264-3616-3D8F-D554-F0882EF8CDA5}"/>
              </a:ext>
            </a:extLst>
          </p:cNvPr>
          <p:cNvSpPr>
            <a:spLocks noGrp="1"/>
          </p:cNvSpPr>
          <p:nvPr>
            <p:ph idx="1"/>
          </p:nvPr>
        </p:nvSpPr>
        <p:spPr>
          <a:xfrm>
            <a:off x="245806" y="501445"/>
            <a:ext cx="11700387" cy="6096000"/>
          </a:xfrm>
        </p:spPr>
        <p:txBody>
          <a:bodyPr/>
          <a:lstStyle/>
          <a:p>
            <a:r>
              <a:rPr lang="en-US" b="1">
                <a:solidFill>
                  <a:srgbClr val="FFC000"/>
                </a:solidFill>
              </a:rPr>
              <a:t>Flow_Funding_requestController</a:t>
            </a:r>
            <a:r>
              <a:rPr lang="en-US"/>
              <a:t>/</a:t>
            </a:r>
            <a:r>
              <a:rPr lang="en-US" sz="1800" b="1">
                <a:solidFill>
                  <a:srgbClr val="00B0F0"/>
                </a:solidFill>
              </a:rPr>
              <a:t>Flow_Funding_requestController</a:t>
            </a:r>
            <a:r>
              <a:rPr lang="en-US"/>
              <a:t>/</a:t>
            </a:r>
            <a:r>
              <a:rPr lang="en-US" b="1">
                <a:solidFill>
                  <a:srgbClr val="FFFF00"/>
                </a:solidFill>
              </a:rPr>
              <a:t>CustomerData</a:t>
            </a:r>
            <a:r>
              <a:rPr lang="en-US"/>
              <a:t> // </a:t>
            </a:r>
            <a:r>
              <a:rPr lang="en-US" b="1">
                <a:solidFill>
                  <a:srgbClr val="92D050"/>
                </a:solidFill>
              </a:rPr>
              <a:t>POST</a:t>
            </a:r>
          </a:p>
          <a:p>
            <a:r>
              <a:rPr lang="en-US" b="1">
                <a:solidFill>
                  <a:srgbClr val="FFC000"/>
                </a:solidFill>
              </a:rPr>
              <a:t>CustomerData</a:t>
            </a:r>
            <a:r>
              <a:rPr lang="en-US"/>
              <a:t> </a:t>
            </a:r>
            <a:r>
              <a:rPr lang="en-US" b="1"/>
              <a:t>CustomerData</a:t>
            </a:r>
            <a:r>
              <a:rPr lang="en-US"/>
              <a:t>(</a:t>
            </a:r>
            <a:r>
              <a:rPr lang="en-US" b="1">
                <a:solidFill>
                  <a:srgbClr val="00B0F0"/>
                </a:solidFill>
              </a:rPr>
              <a:t>CustVM</a:t>
            </a:r>
            <a:r>
              <a:rPr lang="en-US"/>
              <a:t> entity)</a:t>
            </a:r>
          </a:p>
          <a:p>
            <a:endParaRPr lang="en-US"/>
          </a:p>
        </p:txBody>
      </p:sp>
      <p:pic>
        <p:nvPicPr>
          <p:cNvPr id="5" name="Picture 4">
            <a:extLst>
              <a:ext uri="{FF2B5EF4-FFF2-40B4-BE49-F238E27FC236}">
                <a16:creationId xmlns:a16="http://schemas.microsoft.com/office/drawing/2014/main" id="{DA78AC0E-02C3-ABA5-1F39-04A535A82B57}"/>
              </a:ext>
            </a:extLst>
          </p:cNvPr>
          <p:cNvPicPr>
            <a:picLocks noChangeAspect="1"/>
          </p:cNvPicPr>
          <p:nvPr/>
        </p:nvPicPr>
        <p:blipFill>
          <a:blip r:embed="rId2"/>
          <a:stretch>
            <a:fillRect/>
          </a:stretch>
        </p:blipFill>
        <p:spPr>
          <a:xfrm>
            <a:off x="245805" y="1488553"/>
            <a:ext cx="2844528" cy="2837913"/>
          </a:xfrm>
          <a:prstGeom prst="rect">
            <a:avLst/>
          </a:prstGeom>
        </p:spPr>
      </p:pic>
    </p:spTree>
    <p:extLst>
      <p:ext uri="{BB962C8B-B14F-4D97-AF65-F5344CB8AC3E}">
        <p14:creationId xmlns:p14="http://schemas.microsoft.com/office/powerpoint/2010/main" val="36873903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A38A9-93CC-20BE-DD83-AFEF1C083C0F}"/>
              </a:ext>
            </a:extLst>
          </p:cNvPr>
          <p:cNvSpPr>
            <a:spLocks noGrp="1"/>
          </p:cNvSpPr>
          <p:nvPr>
            <p:ph type="title"/>
          </p:nvPr>
        </p:nvSpPr>
        <p:spPr>
          <a:xfrm>
            <a:off x="913795" y="0"/>
            <a:ext cx="10353762" cy="491613"/>
          </a:xfrm>
        </p:spPr>
        <p:txBody>
          <a:bodyPr>
            <a:normAutofit fontScale="90000"/>
          </a:bodyPr>
          <a:lstStyle/>
          <a:p>
            <a:r>
              <a:rPr lang="en-US" b="1"/>
              <a:t>At customer, </a:t>
            </a:r>
            <a:r>
              <a:rPr lang="ar-EG" b="1"/>
              <a:t>بيانات الاتصال</a:t>
            </a:r>
            <a:endParaRPr lang="en-US" b="1"/>
          </a:p>
        </p:txBody>
      </p:sp>
      <p:sp>
        <p:nvSpPr>
          <p:cNvPr id="3" name="Content Placeholder 2">
            <a:extLst>
              <a:ext uri="{FF2B5EF4-FFF2-40B4-BE49-F238E27FC236}">
                <a16:creationId xmlns:a16="http://schemas.microsoft.com/office/drawing/2014/main" id="{B2975744-ADBD-F2FD-8991-FAE7F3B9F632}"/>
              </a:ext>
            </a:extLst>
          </p:cNvPr>
          <p:cNvSpPr>
            <a:spLocks noGrp="1"/>
          </p:cNvSpPr>
          <p:nvPr>
            <p:ph idx="1"/>
          </p:nvPr>
        </p:nvSpPr>
        <p:spPr>
          <a:xfrm>
            <a:off x="285135" y="884903"/>
            <a:ext cx="11808541" cy="5830529"/>
          </a:xfrm>
        </p:spPr>
        <p:txBody>
          <a:bodyPr/>
          <a:lstStyle/>
          <a:p>
            <a:r>
              <a:rPr lang="en-US"/>
              <a:t>When user enter </a:t>
            </a:r>
            <a:r>
              <a:rPr lang="ar-EG"/>
              <a:t>نوع الاتصال والرقم</a:t>
            </a:r>
          </a:p>
          <a:p>
            <a:r>
              <a:rPr lang="en-US">
                <a:effectLst/>
              </a:rPr>
              <a:t>Transactions/Flow_Contact_UsController/</a:t>
            </a:r>
            <a:r>
              <a:rPr lang="en-US" b="1">
                <a:solidFill>
                  <a:srgbClr val="00B0F0"/>
                </a:solidFill>
                <a:effectLst/>
              </a:rPr>
              <a:t>GetOne</a:t>
            </a:r>
            <a:r>
              <a:rPr lang="en-US">
                <a:effectLst/>
              </a:rPr>
              <a:t>/</a:t>
            </a:r>
            <a:r>
              <a:rPr lang="en-US"/>
              <a:t>{Mob_num}</a:t>
            </a:r>
          </a:p>
          <a:p>
            <a:r>
              <a:rPr lang="en-US" b="1">
                <a:solidFill>
                  <a:srgbClr val="00B0F0"/>
                </a:solidFill>
              </a:rPr>
              <a:t>Flow_Contact_Us</a:t>
            </a:r>
            <a:r>
              <a:rPr lang="en-US"/>
              <a:t> </a:t>
            </a:r>
            <a:r>
              <a:rPr lang="en-US" b="1"/>
              <a:t>GetOne </a:t>
            </a:r>
            <a:r>
              <a:rPr lang="en-US"/>
              <a:t>(</a:t>
            </a:r>
            <a:r>
              <a:rPr lang="en-US" b="1"/>
              <a:t>string</a:t>
            </a:r>
            <a:r>
              <a:rPr lang="en-US"/>
              <a:t> </a:t>
            </a:r>
            <a:r>
              <a:rPr lang="en-US" b="1">
                <a:solidFill>
                  <a:srgbClr val="FFC000"/>
                </a:solidFill>
              </a:rPr>
              <a:t>Mob_num</a:t>
            </a:r>
            <a:r>
              <a:rPr lang="en-US">
                <a:solidFill>
                  <a:srgbClr val="FFC000"/>
                </a:solidFill>
              </a:rPr>
              <a:t> </a:t>
            </a:r>
            <a:r>
              <a:rPr lang="en-US"/>
              <a:t>)</a:t>
            </a:r>
            <a:endParaRPr lang="en-US">
              <a:effectLst/>
            </a:endParaRPr>
          </a:p>
          <a:p>
            <a:endParaRPr lang="en-US">
              <a:effectLst/>
            </a:endParaRPr>
          </a:p>
          <a:p>
            <a:endParaRPr lang="en-US">
              <a:effectLst/>
            </a:endParaRPr>
          </a:p>
          <a:p>
            <a:endParaRPr lang="en-US"/>
          </a:p>
        </p:txBody>
      </p:sp>
    </p:spTree>
    <p:extLst>
      <p:ext uri="{BB962C8B-B14F-4D97-AF65-F5344CB8AC3E}">
        <p14:creationId xmlns:p14="http://schemas.microsoft.com/office/powerpoint/2010/main" val="23265010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DA3CE-DA2E-9430-1A3E-1F8540972CEC}"/>
              </a:ext>
            </a:extLst>
          </p:cNvPr>
          <p:cNvSpPr>
            <a:spLocks noGrp="1"/>
          </p:cNvSpPr>
          <p:nvPr>
            <p:ph type="title"/>
          </p:nvPr>
        </p:nvSpPr>
        <p:spPr>
          <a:xfrm>
            <a:off x="913795" y="0"/>
            <a:ext cx="10353762" cy="658761"/>
          </a:xfrm>
        </p:spPr>
        <p:txBody>
          <a:bodyPr>
            <a:normAutofit fontScale="90000"/>
          </a:bodyPr>
          <a:lstStyle/>
          <a:p>
            <a:r>
              <a:rPr lang="en-US" b="1"/>
              <a:t>After user fill all customer data and add it</a:t>
            </a:r>
          </a:p>
        </p:txBody>
      </p:sp>
      <p:sp>
        <p:nvSpPr>
          <p:cNvPr id="3" name="Content Placeholder 2">
            <a:extLst>
              <a:ext uri="{FF2B5EF4-FFF2-40B4-BE49-F238E27FC236}">
                <a16:creationId xmlns:a16="http://schemas.microsoft.com/office/drawing/2014/main" id="{108035D6-B5DC-7C81-6E83-2DB4477B0A57}"/>
              </a:ext>
            </a:extLst>
          </p:cNvPr>
          <p:cNvSpPr>
            <a:spLocks noGrp="1"/>
          </p:cNvSpPr>
          <p:nvPr>
            <p:ph idx="1"/>
          </p:nvPr>
        </p:nvSpPr>
        <p:spPr>
          <a:xfrm>
            <a:off x="265470" y="658761"/>
            <a:ext cx="11680723" cy="6037007"/>
          </a:xfrm>
        </p:spPr>
        <p:txBody>
          <a:bodyPr/>
          <a:lstStyle/>
          <a:p>
            <a:r>
              <a:rPr lang="en-US"/>
              <a:t>api/FlowChart/Transactions/</a:t>
            </a:r>
            <a:r>
              <a:rPr lang="en-US" b="1">
                <a:solidFill>
                  <a:srgbClr val="FFFF00"/>
                </a:solidFill>
              </a:rPr>
              <a:t>Flow_CustomersController</a:t>
            </a:r>
            <a:r>
              <a:rPr lang="en-US"/>
              <a:t>/</a:t>
            </a:r>
            <a:r>
              <a:rPr lang="en-US" b="1">
                <a:solidFill>
                  <a:srgbClr val="00B0F0"/>
                </a:solidFill>
              </a:rPr>
              <a:t>Post</a:t>
            </a:r>
          </a:p>
          <a:p>
            <a:r>
              <a:rPr lang="en-US" b="1">
                <a:solidFill>
                  <a:srgbClr val="00B0F0"/>
                </a:solidFill>
              </a:rPr>
              <a:t>Post </a:t>
            </a:r>
            <a:r>
              <a:rPr lang="en-US"/>
              <a:t>( [FromBody] </a:t>
            </a:r>
            <a:r>
              <a:rPr lang="en-US" b="1">
                <a:solidFill>
                  <a:srgbClr val="FFC000"/>
                </a:solidFill>
              </a:rPr>
              <a:t>Flow_Customers</a:t>
            </a:r>
            <a:r>
              <a:rPr lang="en-US"/>
              <a:t> entity)</a:t>
            </a:r>
          </a:p>
        </p:txBody>
      </p:sp>
    </p:spTree>
    <p:extLst>
      <p:ext uri="{BB962C8B-B14F-4D97-AF65-F5344CB8AC3E}">
        <p14:creationId xmlns:p14="http://schemas.microsoft.com/office/powerpoint/2010/main" val="2965316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1A4E5-1439-3252-8CC6-ED45F081ADBB}"/>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a:t>
            </a:r>
          </a:p>
        </p:txBody>
      </p:sp>
      <p:sp>
        <p:nvSpPr>
          <p:cNvPr id="3" name="Content Placeholder 2">
            <a:extLst>
              <a:ext uri="{FF2B5EF4-FFF2-40B4-BE49-F238E27FC236}">
                <a16:creationId xmlns:a16="http://schemas.microsoft.com/office/drawing/2014/main" id="{4A0CC8FF-23CB-0649-2B82-6F3D7DF74DCD}"/>
              </a:ext>
            </a:extLst>
          </p:cNvPr>
          <p:cNvSpPr>
            <a:spLocks noGrp="1"/>
          </p:cNvSpPr>
          <p:nvPr>
            <p:ph idx="1"/>
          </p:nvPr>
        </p:nvSpPr>
        <p:spPr>
          <a:xfrm>
            <a:off x="85724" y="589934"/>
            <a:ext cx="12106275" cy="6201391"/>
          </a:xfrm>
        </p:spPr>
        <p:txBody>
          <a:bodyPr>
            <a:normAutofit/>
          </a:bodyPr>
          <a:lstStyle/>
          <a:p>
            <a:r>
              <a:rPr lang="en-US"/>
              <a:t>Transactions/</a:t>
            </a:r>
            <a:r>
              <a:rPr lang="en-US" b="1">
                <a:solidFill>
                  <a:srgbClr val="92D050"/>
                </a:solidFill>
              </a:rPr>
              <a:t>Flow_Funding_requestController</a:t>
            </a:r>
            <a:r>
              <a:rPr lang="en-US"/>
              <a:t>/</a:t>
            </a:r>
            <a:r>
              <a:rPr lang="en-US" b="1">
                <a:solidFill>
                  <a:srgbClr val="FFFF00"/>
                </a:solidFill>
              </a:rPr>
              <a:t>InsertFunding</a:t>
            </a:r>
          </a:p>
          <a:p>
            <a:r>
              <a:rPr lang="en-US" b="1">
                <a:solidFill>
                  <a:srgbClr val="00B050"/>
                </a:solidFill>
              </a:rPr>
              <a:t>FundingVM</a:t>
            </a:r>
            <a:r>
              <a:rPr lang="en-US"/>
              <a:t>  </a:t>
            </a:r>
            <a:r>
              <a:rPr lang="en-US" b="1">
                <a:solidFill>
                  <a:srgbClr val="00B0F0"/>
                </a:solidFill>
              </a:rPr>
              <a:t>Flow_Funding_requestService</a:t>
            </a:r>
            <a:r>
              <a:rPr lang="en-US"/>
              <a:t>. </a:t>
            </a:r>
            <a:r>
              <a:rPr lang="en-US" b="1">
                <a:solidFill>
                  <a:srgbClr val="FFFF00"/>
                </a:solidFill>
              </a:rPr>
              <a:t>InsertFunding</a:t>
            </a:r>
            <a:r>
              <a:rPr lang="en-US"/>
              <a:t>( </a:t>
            </a:r>
            <a:r>
              <a:rPr lang="en-US" b="1"/>
              <a:t>[FromBody]</a:t>
            </a:r>
            <a:r>
              <a:rPr lang="en-US"/>
              <a:t> </a:t>
            </a:r>
            <a:r>
              <a:rPr lang="en-US" b="1">
                <a:solidFill>
                  <a:srgbClr val="FFC000"/>
                </a:solidFill>
              </a:rPr>
              <a:t>FundingDataVM</a:t>
            </a:r>
            <a:r>
              <a:rPr lang="en-US"/>
              <a:t> </a:t>
            </a:r>
            <a:r>
              <a:rPr lang="en-US" b="1"/>
              <a:t>entity</a:t>
            </a:r>
            <a:r>
              <a:rPr lang="en-US"/>
              <a:t> )</a:t>
            </a:r>
          </a:p>
          <a:p>
            <a:endParaRPr lang="en-US"/>
          </a:p>
          <a:p>
            <a:endParaRPr lang="en-US"/>
          </a:p>
          <a:p>
            <a:endParaRPr lang="en-US"/>
          </a:p>
          <a:p>
            <a:endParaRPr lang="en-US"/>
          </a:p>
          <a:p>
            <a:endParaRPr lang="en-US"/>
          </a:p>
          <a:p>
            <a:pPr marL="36900" indent="0">
              <a:buNone/>
            </a:pPr>
            <a:endParaRPr lang="en-US"/>
          </a:p>
          <a:p>
            <a:pPr marL="36900" indent="0">
              <a:buNone/>
            </a:pPr>
            <a:endParaRPr lang="en-US" sz="1800" b="1"/>
          </a:p>
          <a:p>
            <a:endParaRPr lang="en-US" sz="1800" b="1">
              <a:solidFill>
                <a:srgbClr val="FFFF00"/>
              </a:solidFill>
            </a:endParaRPr>
          </a:p>
          <a:p>
            <a:r>
              <a:rPr lang="en-US" sz="1800" b="1">
                <a:solidFill>
                  <a:srgbClr val="FFFF00"/>
                </a:solidFill>
              </a:rPr>
              <a:t>FundingVM.</a:t>
            </a:r>
            <a:r>
              <a:rPr lang="en-US" sz="1800" b="1">
                <a:solidFill>
                  <a:srgbClr val="FF0000"/>
                </a:solidFill>
              </a:rPr>
              <a:t>Flag = 5 // </a:t>
            </a:r>
            <a:r>
              <a:rPr lang="ar-EG" sz="1800" b="1"/>
              <a:t>لا يوجد مدير لهذا الفرع</a:t>
            </a:r>
            <a:r>
              <a:rPr lang="en-US" sz="1800" b="1">
                <a:solidFill>
                  <a:srgbClr val="FF0000"/>
                </a:solidFill>
              </a:rPr>
              <a:t> </a:t>
            </a:r>
            <a:endParaRPr lang="en-US" sz="1800" b="1">
              <a:solidFill>
                <a:srgbClr val="FFFF00"/>
              </a:solidFill>
            </a:endParaRPr>
          </a:p>
        </p:txBody>
      </p:sp>
      <p:pic>
        <p:nvPicPr>
          <p:cNvPr id="5" name="Picture 4">
            <a:extLst>
              <a:ext uri="{FF2B5EF4-FFF2-40B4-BE49-F238E27FC236}">
                <a16:creationId xmlns:a16="http://schemas.microsoft.com/office/drawing/2014/main" id="{5575F7A6-A8F9-09A0-6B4C-5AE0045CEA57}"/>
              </a:ext>
            </a:extLst>
          </p:cNvPr>
          <p:cNvPicPr>
            <a:picLocks noChangeAspect="1"/>
          </p:cNvPicPr>
          <p:nvPr/>
        </p:nvPicPr>
        <p:blipFill>
          <a:blip r:embed="rId2"/>
          <a:stretch>
            <a:fillRect/>
          </a:stretch>
        </p:blipFill>
        <p:spPr>
          <a:xfrm>
            <a:off x="6295474" y="1724652"/>
            <a:ext cx="5125001" cy="2651226"/>
          </a:xfrm>
          <a:prstGeom prst="rect">
            <a:avLst/>
          </a:prstGeom>
        </p:spPr>
      </p:pic>
      <p:pic>
        <p:nvPicPr>
          <p:cNvPr id="7" name="Picture 6">
            <a:extLst>
              <a:ext uri="{FF2B5EF4-FFF2-40B4-BE49-F238E27FC236}">
                <a16:creationId xmlns:a16="http://schemas.microsoft.com/office/drawing/2014/main" id="{9C329998-6CAF-F76A-BF51-662D6CBA3DA2}"/>
              </a:ext>
            </a:extLst>
          </p:cNvPr>
          <p:cNvPicPr>
            <a:picLocks noChangeAspect="1"/>
          </p:cNvPicPr>
          <p:nvPr/>
        </p:nvPicPr>
        <p:blipFill>
          <a:blip r:embed="rId3"/>
          <a:stretch>
            <a:fillRect/>
          </a:stretch>
        </p:blipFill>
        <p:spPr>
          <a:xfrm>
            <a:off x="4476750" y="5788434"/>
            <a:ext cx="7715249" cy="1002891"/>
          </a:xfrm>
          <a:prstGeom prst="rect">
            <a:avLst/>
          </a:prstGeom>
        </p:spPr>
      </p:pic>
      <p:pic>
        <p:nvPicPr>
          <p:cNvPr id="9" name="Picture 8">
            <a:extLst>
              <a:ext uri="{FF2B5EF4-FFF2-40B4-BE49-F238E27FC236}">
                <a16:creationId xmlns:a16="http://schemas.microsoft.com/office/drawing/2014/main" id="{33BDEECE-03BD-4804-0001-AF1F9A1671B1}"/>
              </a:ext>
            </a:extLst>
          </p:cNvPr>
          <p:cNvPicPr>
            <a:picLocks noChangeAspect="1"/>
          </p:cNvPicPr>
          <p:nvPr/>
        </p:nvPicPr>
        <p:blipFill>
          <a:blip r:embed="rId4"/>
          <a:stretch>
            <a:fillRect/>
          </a:stretch>
        </p:blipFill>
        <p:spPr>
          <a:xfrm>
            <a:off x="257034" y="1558370"/>
            <a:ext cx="5639492" cy="3239814"/>
          </a:xfrm>
          <a:prstGeom prst="rect">
            <a:avLst/>
          </a:prstGeom>
        </p:spPr>
      </p:pic>
      <p:sp>
        <p:nvSpPr>
          <p:cNvPr id="4" name="TextBox 3">
            <a:extLst>
              <a:ext uri="{FF2B5EF4-FFF2-40B4-BE49-F238E27FC236}">
                <a16:creationId xmlns:a16="http://schemas.microsoft.com/office/drawing/2014/main" id="{E16C5DF7-5662-A9FD-A7FB-CD9E6EDF8B96}"/>
              </a:ext>
            </a:extLst>
          </p:cNvPr>
          <p:cNvSpPr txBox="1"/>
          <p:nvPr/>
        </p:nvSpPr>
        <p:spPr>
          <a:xfrm>
            <a:off x="6295474" y="4446620"/>
            <a:ext cx="5639492" cy="1200329"/>
          </a:xfrm>
          <a:prstGeom prst="rect">
            <a:avLst/>
          </a:prstGeom>
          <a:noFill/>
        </p:spPr>
        <p:txBody>
          <a:bodyPr wrap="square" rtlCol="0">
            <a:spAutoFit/>
          </a:bodyPr>
          <a:lstStyle/>
          <a:p>
            <a:r>
              <a:rPr lang="en-US" b="1"/>
              <a:t>IsNew : true</a:t>
            </a:r>
          </a:p>
          <a:p>
            <a:r>
              <a:rPr lang="en-US" b="1"/>
              <a:t>status : 1 == </a:t>
            </a:r>
            <a:r>
              <a:rPr lang="en-US" b="1">
                <a:solidFill>
                  <a:srgbClr val="FFFF00"/>
                </a:solidFill>
              </a:rPr>
              <a:t>FixedStatus.Status_1_Is_Save </a:t>
            </a:r>
          </a:p>
          <a:p>
            <a:r>
              <a:rPr lang="en-US"/>
              <a:t>Flag : 0 </a:t>
            </a:r>
          </a:p>
          <a:p>
            <a:r>
              <a:rPr lang="en-US"/>
              <a:t>Trans_GPS_Tracking = null</a:t>
            </a:r>
          </a:p>
        </p:txBody>
      </p:sp>
    </p:spTree>
    <p:extLst>
      <p:ext uri="{BB962C8B-B14F-4D97-AF65-F5344CB8AC3E}">
        <p14:creationId xmlns:p14="http://schemas.microsoft.com/office/powerpoint/2010/main" val="2031890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2C3D9-9F06-AA65-15CE-E98FCAD22830}"/>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[cont.1]</a:t>
            </a:r>
            <a:endParaRPr lang="en-US" sz="3200"/>
          </a:p>
        </p:txBody>
      </p:sp>
      <p:sp>
        <p:nvSpPr>
          <p:cNvPr id="3" name="Content Placeholder 2">
            <a:extLst>
              <a:ext uri="{FF2B5EF4-FFF2-40B4-BE49-F238E27FC236}">
                <a16:creationId xmlns:a16="http://schemas.microsoft.com/office/drawing/2014/main" id="{0DC52855-C59B-9C76-5E2C-7AAC835F2585}"/>
              </a:ext>
            </a:extLst>
          </p:cNvPr>
          <p:cNvSpPr>
            <a:spLocks noGrp="1"/>
          </p:cNvSpPr>
          <p:nvPr>
            <p:ph idx="1"/>
          </p:nvPr>
        </p:nvSpPr>
        <p:spPr>
          <a:xfrm>
            <a:off x="0" y="782320"/>
            <a:ext cx="12115800" cy="5989955"/>
          </a:xfrm>
        </p:spPr>
        <p:txBody>
          <a:bodyPr>
            <a:normAutofit/>
          </a:bodyPr>
          <a:lstStyle/>
          <a:p>
            <a:r>
              <a:rPr lang="en-US" b="1" err="1"/>
              <a:t>Flow_Funding_</a:t>
            </a:r>
            <a:r>
              <a:rPr lang="en-US" b="1"/>
              <a:t>Request fields that will get a value</a:t>
            </a:r>
          </a:p>
          <a:p>
            <a:r>
              <a:rPr lang="en-US" sz="1700" b="1"/>
              <a:t>Open_date = _Trans_BusDate.Queryable().FirstOrDefault(ex =&gt; ex.BranchId == Funding_request.BranchId).</a:t>
            </a:r>
            <a:r>
              <a:rPr lang="en-US" sz="1700" b="1">
                <a:solidFill>
                  <a:srgbClr val="00B0F0"/>
                </a:solidFill>
              </a:rPr>
              <a:t>BusDate</a:t>
            </a:r>
            <a:r>
              <a:rPr lang="en-US" sz="1700" b="1"/>
              <a:t>;</a:t>
            </a:r>
          </a:p>
          <a:p>
            <a:r>
              <a:rPr lang="en-US" sz="1800" b="1">
                <a:solidFill>
                  <a:srgbClr val="FFFF00"/>
                </a:solidFill>
              </a:rPr>
              <a:t>FRC</a:t>
            </a:r>
            <a:r>
              <a:rPr lang="en-US" sz="1800" b="1" err="1">
                <a:solidFill>
                  <a:srgbClr val="FFFF00"/>
                </a:solidFill>
              </a:rPr>
              <a:t>_Id</a:t>
            </a:r>
            <a:r>
              <a:rPr lang="en-US" sz="1800"/>
              <a:t> = </a:t>
            </a:r>
            <a:r>
              <a:rPr lang="en-US" sz="1800" err="1"/>
              <a:t>Product.</a:t>
            </a:r>
            <a:r>
              <a:rPr lang="en-US" sz="1800" b="1" err="1">
                <a:solidFill>
                  <a:srgbClr val="FFFF00"/>
                </a:solidFill>
              </a:rPr>
              <a:t>FRC_ID</a:t>
            </a:r>
            <a:r>
              <a:rPr lang="en-US" sz="1800"/>
              <a:t>;</a:t>
            </a:r>
          </a:p>
          <a:p>
            <a:r>
              <a:rPr lang="en-US" sz="1800" b="1">
                <a:solidFill>
                  <a:srgbClr val="FFFF00"/>
                </a:solidFill>
              </a:rPr>
              <a:t>APP</a:t>
            </a:r>
            <a:r>
              <a:rPr lang="en-US" sz="1800" b="1" err="1">
                <a:solidFill>
                  <a:srgbClr val="FFFF00"/>
                </a:solidFill>
              </a:rPr>
              <a:t>_FEE</a:t>
            </a:r>
            <a:r>
              <a:rPr lang="en-US" sz="1800" b="1"/>
              <a:t> = </a:t>
            </a:r>
            <a:r>
              <a:rPr lang="en-US" sz="1800" b="1" err="1"/>
              <a:t>IsNew</a:t>
            </a:r>
            <a:r>
              <a:rPr lang="en-US" sz="1800" b="1"/>
              <a:t> == true ? </a:t>
            </a:r>
            <a:r>
              <a:rPr lang="en-US" sz="1800" b="1" err="1"/>
              <a:t>Product.</a:t>
            </a:r>
            <a:r>
              <a:rPr lang="en-US" sz="1800" b="1" err="1">
                <a:solidFill>
                  <a:srgbClr val="FFFF00"/>
                </a:solidFill>
              </a:rPr>
              <a:t>Com_submit_new_app</a:t>
            </a:r>
            <a:r>
              <a:rPr lang="en-US" sz="1800" b="1"/>
              <a:t> : </a:t>
            </a:r>
            <a:r>
              <a:rPr lang="en-US" sz="1800" b="1" err="1"/>
              <a:t>Product.</a:t>
            </a:r>
            <a:r>
              <a:rPr lang="en-US" sz="1800" b="1" err="1">
                <a:solidFill>
                  <a:srgbClr val="FFFF00"/>
                </a:solidFill>
              </a:rPr>
              <a:t>Com_submit_renew_app</a:t>
            </a:r>
            <a:r>
              <a:rPr lang="en-US" sz="1800" b="1"/>
              <a:t>;</a:t>
            </a:r>
          </a:p>
          <a:p>
            <a:r>
              <a:rPr lang="en-US" sz="1800" b="1">
                <a:solidFill>
                  <a:srgbClr val="FFFF00"/>
                </a:solidFill>
              </a:rPr>
              <a:t>RATE</a:t>
            </a:r>
            <a:r>
              <a:rPr lang="en-US" sz="1800" b="1"/>
              <a:t> = </a:t>
            </a:r>
            <a:r>
              <a:rPr lang="en-US" sz="1800" b="1" err="1"/>
              <a:t>IsNew</a:t>
            </a:r>
            <a:r>
              <a:rPr lang="en-US" sz="1800" b="1"/>
              <a:t> == true ? </a:t>
            </a:r>
            <a:r>
              <a:rPr lang="en-US" sz="1800" b="1" err="1"/>
              <a:t>Product.</a:t>
            </a:r>
            <a:r>
              <a:rPr lang="en-US" sz="1800" b="1" err="1">
                <a:solidFill>
                  <a:srgbClr val="FFFF00"/>
                </a:solidFill>
              </a:rPr>
              <a:t>Fixed_return_new</a:t>
            </a:r>
            <a:r>
              <a:rPr lang="en-US" sz="1800" b="1" err="1"/>
              <a:t>:Product.</a:t>
            </a:r>
            <a:r>
              <a:rPr lang="en-US" sz="1800" b="1" err="1">
                <a:solidFill>
                  <a:srgbClr val="FFFF00"/>
                </a:solidFill>
              </a:rPr>
              <a:t>Fixed_return_renew</a:t>
            </a:r>
            <a:r>
              <a:rPr lang="en-US" sz="1800" b="1"/>
              <a:t>;</a:t>
            </a:r>
          </a:p>
          <a:p>
            <a:r>
              <a:rPr lang="en-US" sz="1600" b="1">
                <a:solidFill>
                  <a:srgbClr val="FFFF00"/>
                </a:solidFill>
              </a:rPr>
              <a:t>DEBTNO</a:t>
            </a:r>
            <a:r>
              <a:rPr lang="en-US" sz="1600" b="1"/>
              <a:t>=</a:t>
            </a:r>
            <a:r>
              <a:rPr lang="en-US" sz="1600" b="1" err="1"/>
              <a:t>Flow_Funding_request.where</a:t>
            </a:r>
            <a:r>
              <a:rPr lang="en-US" sz="1600" b="1"/>
              <a:t>(c =&gt; </a:t>
            </a:r>
            <a:r>
              <a:rPr lang="en-US" sz="1600" b="1" err="1"/>
              <a:t>c.Customer_ID</a:t>
            </a:r>
            <a:r>
              <a:rPr lang="en-US" sz="1600" b="1"/>
              <a:t> == </a:t>
            </a:r>
            <a:r>
              <a:rPr lang="en-US" sz="1600" b="1" err="1"/>
              <a:t>entity.Funding_request.Customer_ID</a:t>
            </a:r>
            <a:r>
              <a:rPr lang="en-US" sz="1600" b="1"/>
              <a:t>).Count()+1</a:t>
            </a:r>
          </a:p>
          <a:p>
            <a:pPr lvl="1"/>
            <a:r>
              <a:rPr lang="en-US" sz="1600" b="1"/>
              <a:t>Where entity is </a:t>
            </a:r>
            <a:r>
              <a:rPr lang="en-US" sz="1600" b="1" err="1"/>
              <a:t>FundingDataVM</a:t>
            </a:r>
            <a:endParaRPr lang="en-US" sz="1600" b="1"/>
          </a:p>
          <a:p>
            <a:r>
              <a:rPr lang="en-US" sz="1800" b="1">
                <a:solidFill>
                  <a:srgbClr val="00B0F0"/>
                </a:solidFill>
              </a:rPr>
              <a:t>RequestId: identity</a:t>
            </a:r>
          </a:p>
          <a:p>
            <a:r>
              <a:rPr lang="en-US" sz="1800" b="1"/>
              <a:t>UserId: Lo Id</a:t>
            </a:r>
            <a:endParaRPr lang="en-US" sz="1800" b="1">
              <a:solidFill>
                <a:srgbClr val="00B0F0"/>
              </a:solidFill>
            </a:endParaRPr>
          </a:p>
          <a:p>
            <a:r>
              <a:rPr lang="en-US" sz="1800" b="1">
                <a:solidFill>
                  <a:srgbClr val="FFC000"/>
                </a:solidFill>
              </a:rPr>
              <a:t>BranchId: branch of LO</a:t>
            </a:r>
          </a:p>
          <a:p>
            <a:r>
              <a:rPr lang="en-US" sz="1800" b="1">
                <a:solidFill>
                  <a:srgbClr val="FF0000"/>
                </a:solidFill>
              </a:rPr>
              <a:t>ComId: </a:t>
            </a:r>
            <a:r>
              <a:rPr lang="en-US" sz="1800" b="1">
                <a:solidFill>
                  <a:srgbClr val="FFFF00"/>
                </a:solidFill>
              </a:rPr>
              <a:t>FK</a:t>
            </a:r>
            <a:r>
              <a:rPr lang="en-US" sz="1800" b="1">
                <a:solidFill>
                  <a:srgbClr val="FF0000"/>
                </a:solidFill>
              </a:rPr>
              <a:t> </a:t>
            </a:r>
            <a:r>
              <a:rPr lang="en-US" sz="1800" b="1">
                <a:solidFill>
                  <a:srgbClr val="FFFF00"/>
                </a:solidFill>
              </a:rPr>
              <a:t>from</a:t>
            </a:r>
            <a:r>
              <a:rPr lang="en-US" sz="1800" b="1">
                <a:solidFill>
                  <a:srgbClr val="FF0000"/>
                </a:solidFill>
              </a:rPr>
              <a:t> </a:t>
            </a:r>
            <a:r>
              <a:rPr lang="en-US" sz="1800" b="1">
                <a:solidFill>
                  <a:srgbClr val="FFFF00"/>
                </a:solidFill>
              </a:rPr>
              <a:t>Lookup</a:t>
            </a:r>
            <a:r>
              <a:rPr lang="en-US" sz="1800" b="1">
                <a:solidFill>
                  <a:srgbClr val="FF0000"/>
                </a:solidFill>
              </a:rPr>
              <a:t>.Company</a:t>
            </a:r>
          </a:p>
          <a:p>
            <a:r>
              <a:rPr lang="en-US" sz="1800" b="1">
                <a:solidFill>
                  <a:srgbClr val="00B0F0"/>
                </a:solidFill>
              </a:rPr>
              <a:t>ProductId: </a:t>
            </a:r>
            <a:r>
              <a:rPr lang="en-US" sz="1800" b="1">
                <a:solidFill>
                  <a:srgbClr val="FFFF00"/>
                </a:solidFill>
              </a:rPr>
              <a:t>FK</a:t>
            </a:r>
            <a:r>
              <a:rPr lang="en-US" sz="1800" b="1">
                <a:solidFill>
                  <a:srgbClr val="00B0F0"/>
                </a:solidFill>
              </a:rPr>
              <a:t> </a:t>
            </a:r>
            <a:r>
              <a:rPr lang="en-US" sz="1800" b="1">
                <a:solidFill>
                  <a:srgbClr val="FFFF00"/>
                </a:solidFill>
              </a:rPr>
              <a:t>from Product</a:t>
            </a:r>
          </a:p>
          <a:p>
            <a:r>
              <a:rPr lang="en-US" sz="1800" b="1">
                <a:solidFill>
                  <a:srgbClr val="FF0000"/>
                </a:solidFill>
              </a:rPr>
              <a:t>CustomerId: FK</a:t>
            </a:r>
            <a:endParaRPr lang="en-US" sz="1800" b="1"/>
          </a:p>
          <a:p>
            <a:r>
              <a:rPr lang="en-US" sz="1800" b="1">
                <a:solidFill>
                  <a:srgbClr val="00B0F0"/>
                </a:solidFill>
              </a:rPr>
              <a:t>EnterpriseId: FK</a:t>
            </a:r>
            <a:endParaRPr lang="en-US" sz="1800" b="1"/>
          </a:p>
        </p:txBody>
      </p:sp>
    </p:spTree>
    <p:extLst>
      <p:ext uri="{BB962C8B-B14F-4D97-AF65-F5344CB8AC3E}">
        <p14:creationId xmlns:p14="http://schemas.microsoft.com/office/powerpoint/2010/main" val="2895491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8819-EA0B-65C3-E69D-2B0CB4A3D82C}"/>
              </a:ext>
            </a:extLst>
          </p:cNvPr>
          <p:cNvSpPr>
            <a:spLocks noGrp="1"/>
          </p:cNvSpPr>
          <p:nvPr>
            <p:ph type="title"/>
          </p:nvPr>
        </p:nvSpPr>
        <p:spPr>
          <a:xfrm>
            <a:off x="1" y="1"/>
            <a:ext cx="12192000" cy="45720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[cont.2]</a:t>
            </a:r>
            <a:endParaRPr lang="en-US" sz="3200"/>
          </a:p>
        </p:txBody>
      </p:sp>
      <p:sp>
        <p:nvSpPr>
          <p:cNvPr id="3" name="Content Placeholder 2">
            <a:extLst>
              <a:ext uri="{FF2B5EF4-FFF2-40B4-BE49-F238E27FC236}">
                <a16:creationId xmlns:a16="http://schemas.microsoft.com/office/drawing/2014/main" id="{A65C00B7-4A95-E412-85DF-B956235438D4}"/>
              </a:ext>
            </a:extLst>
          </p:cNvPr>
          <p:cNvSpPr>
            <a:spLocks noGrp="1"/>
          </p:cNvSpPr>
          <p:nvPr>
            <p:ph idx="1"/>
          </p:nvPr>
        </p:nvSpPr>
        <p:spPr>
          <a:xfrm>
            <a:off x="194732" y="609599"/>
            <a:ext cx="11794067" cy="6028267"/>
          </a:xfrm>
        </p:spPr>
        <p:txBody>
          <a:bodyPr>
            <a:normAutofit/>
          </a:bodyPr>
          <a:lstStyle/>
          <a:p>
            <a:r>
              <a:rPr lang="en-US" sz="1800" b="1"/>
              <a:t>Flow_Funding_Request fields that will get a value</a:t>
            </a:r>
            <a:endParaRPr lang="en-US" sz="1800" b="1">
              <a:solidFill>
                <a:srgbClr val="FFC000"/>
              </a:solidFill>
            </a:endParaRPr>
          </a:p>
          <a:p>
            <a:r>
              <a:rPr lang="en-US" sz="1800" b="1">
                <a:solidFill>
                  <a:srgbClr val="FFC000"/>
                </a:solidFill>
              </a:rPr>
              <a:t>RequiredAmount</a:t>
            </a:r>
          </a:p>
          <a:p>
            <a:r>
              <a:rPr lang="en-US" sz="1800" b="1">
                <a:solidFill>
                  <a:srgbClr val="FFC000"/>
                </a:solidFill>
              </a:rPr>
              <a:t>FinancingAmount</a:t>
            </a:r>
          </a:p>
          <a:p>
            <a:r>
              <a:rPr lang="en-US" sz="1800" b="1">
                <a:solidFill>
                  <a:srgbClr val="FFC000"/>
                </a:solidFill>
              </a:rPr>
              <a:t>ActualFinancing</a:t>
            </a:r>
          </a:p>
          <a:p>
            <a:r>
              <a:rPr lang="en-US" sz="1800" b="1">
                <a:solidFill>
                  <a:srgbClr val="FFC000"/>
                </a:solidFill>
              </a:rPr>
              <a:t>RepaymentPeriod</a:t>
            </a:r>
          </a:p>
          <a:p>
            <a:r>
              <a:rPr lang="en-US" sz="1800" b="1">
                <a:solidFill>
                  <a:srgbClr val="FFC000"/>
                </a:solidFill>
              </a:rPr>
              <a:t>Request_Status</a:t>
            </a:r>
            <a:r>
              <a:rPr lang="en-US" sz="1800" b="1"/>
              <a:t>,</a:t>
            </a:r>
          </a:p>
          <a:p>
            <a:r>
              <a:rPr lang="en-US" sz="1800" b="1">
                <a:solidFill>
                  <a:srgbClr val="00B050"/>
                </a:solidFill>
              </a:rPr>
              <a:t>StatusCode: 0 , FK from Flow_Status // request at LO</a:t>
            </a:r>
            <a:endParaRPr lang="en-US" sz="1800" b="1"/>
          </a:p>
          <a:p>
            <a:r>
              <a:rPr lang="en-US" sz="1800" b="1"/>
              <a:t> </a:t>
            </a:r>
            <a:r>
              <a:rPr lang="en-US" sz="1800" b="1">
                <a:solidFill>
                  <a:schemeClr val="tx1"/>
                </a:solidFill>
              </a:rPr>
              <a:t>Layer_code [ from product ]</a:t>
            </a:r>
            <a:r>
              <a:rPr lang="en-US" sz="1800" b="1"/>
              <a:t>,</a:t>
            </a:r>
          </a:p>
          <a:p>
            <a:r>
              <a:rPr lang="en-US" sz="1800" b="1"/>
              <a:t> </a:t>
            </a:r>
            <a:r>
              <a:rPr lang="en-US" sz="1800" b="1">
                <a:solidFill>
                  <a:srgbClr val="00B0F0"/>
                </a:solidFill>
              </a:rPr>
              <a:t>LoanCode[ from product]</a:t>
            </a:r>
            <a:r>
              <a:rPr lang="en-US" sz="1800" b="1"/>
              <a:t>,</a:t>
            </a:r>
          </a:p>
          <a:p>
            <a:r>
              <a:rPr lang="en-US" sz="1800" b="1">
                <a:solidFill>
                  <a:srgbClr val="FFC000"/>
                </a:solidFill>
              </a:rPr>
              <a:t>Code_ED: FK from SWF.</a:t>
            </a:r>
            <a:r>
              <a:rPr lang="en-US" sz="1800" b="1">
                <a:solidFill>
                  <a:srgbClr val="FF0000"/>
                </a:solidFill>
              </a:rPr>
              <a:t>Flow_Exchange_Destinations</a:t>
            </a:r>
            <a:r>
              <a:rPr lang="en-US" sz="1800" b="1">
                <a:solidFill>
                  <a:srgbClr val="FFC000"/>
                </a:solidFill>
              </a:rPr>
              <a:t> [</a:t>
            </a:r>
            <a:r>
              <a:rPr lang="ar-EG" sz="1800" b="1">
                <a:solidFill>
                  <a:srgbClr val="FFC000"/>
                </a:solidFill>
              </a:rPr>
              <a:t>كود جهة الصرف</a:t>
            </a:r>
            <a:r>
              <a:rPr lang="en-US" sz="1800" b="1">
                <a:solidFill>
                  <a:srgbClr val="FFC000"/>
                </a:solidFill>
              </a:rPr>
              <a:t>]</a:t>
            </a:r>
            <a:r>
              <a:rPr lang="en-US" sz="1800" b="1"/>
              <a:t>,</a:t>
            </a:r>
          </a:p>
          <a:p>
            <a:r>
              <a:rPr lang="en-US" sz="1800" b="1">
                <a:solidFill>
                  <a:srgbClr val="FFFF00"/>
                </a:solidFill>
              </a:rPr>
              <a:t>Curr_code FK from [ Account.Acc_Currencie] , // 1 Egyptian Pound, 2 Dollar</a:t>
            </a:r>
          </a:p>
          <a:p>
            <a:r>
              <a:rPr lang="en-US" sz="1800" b="1"/>
              <a:t>purposeId,</a:t>
            </a:r>
          </a:p>
          <a:p>
            <a:r>
              <a:rPr lang="en-US" sz="1800" b="1"/>
              <a:t>CreationDate</a:t>
            </a:r>
          </a:p>
          <a:p>
            <a:endParaRPr lang="en-US" sz="1800" b="1"/>
          </a:p>
          <a:p>
            <a:endParaRPr lang="en-US" sz="1800" b="1"/>
          </a:p>
          <a:p>
            <a:endParaRPr lang="en-US" sz="1800"/>
          </a:p>
          <a:p>
            <a:endParaRPr lang="en-US" sz="1800"/>
          </a:p>
        </p:txBody>
      </p:sp>
    </p:spTree>
    <p:extLst>
      <p:ext uri="{BB962C8B-B14F-4D97-AF65-F5344CB8AC3E}">
        <p14:creationId xmlns:p14="http://schemas.microsoft.com/office/powerpoint/2010/main" val="22195984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BBE9-C26B-C693-218A-1D8D57EF2909}"/>
              </a:ext>
            </a:extLst>
          </p:cNvPr>
          <p:cNvSpPr>
            <a:spLocks noGrp="1"/>
          </p:cNvSpPr>
          <p:nvPr>
            <p:ph type="title"/>
          </p:nvPr>
        </p:nvSpPr>
        <p:spPr>
          <a:xfrm>
            <a:off x="919119" y="0"/>
            <a:ext cx="10353762" cy="541867"/>
          </a:xfrm>
        </p:spPr>
        <p:txBody>
          <a:bodyPr>
            <a:no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[cont.3]</a:t>
            </a:r>
            <a:endParaRPr lang="en-US" sz="3200"/>
          </a:p>
        </p:txBody>
      </p:sp>
      <p:sp>
        <p:nvSpPr>
          <p:cNvPr id="3" name="Content Placeholder 2">
            <a:extLst>
              <a:ext uri="{FF2B5EF4-FFF2-40B4-BE49-F238E27FC236}">
                <a16:creationId xmlns:a16="http://schemas.microsoft.com/office/drawing/2014/main" id="{7F278B08-83AD-784C-ADE8-D13C09451A40}"/>
              </a:ext>
            </a:extLst>
          </p:cNvPr>
          <p:cNvSpPr>
            <a:spLocks noGrp="1"/>
          </p:cNvSpPr>
          <p:nvPr>
            <p:ph idx="1"/>
          </p:nvPr>
        </p:nvSpPr>
        <p:spPr>
          <a:xfrm>
            <a:off x="160867" y="719667"/>
            <a:ext cx="11895666" cy="6062133"/>
          </a:xfrm>
        </p:spPr>
        <p:txBody>
          <a:bodyPr numCol="2">
            <a:normAutofit/>
          </a:bodyPr>
          <a:lstStyle/>
          <a:p>
            <a:r>
              <a:rPr lang="en-US" sz="1600" b="1"/>
              <a:t>Flag_History: bool, 1</a:t>
            </a:r>
          </a:p>
          <a:p>
            <a:r>
              <a:rPr lang="en-US" sz="1600" b="1"/>
              <a:t>PenaltyAmount: 0</a:t>
            </a:r>
          </a:p>
          <a:p>
            <a:r>
              <a:rPr lang="en-US" sz="1600" b="1"/>
              <a:t>Grant: bool, 0</a:t>
            </a:r>
          </a:p>
          <a:p>
            <a:r>
              <a:rPr lang="en-US" sz="1600" b="1"/>
              <a:t>Yield_periodicity: 0 // ?????</a:t>
            </a:r>
          </a:p>
          <a:p>
            <a:r>
              <a:rPr lang="en-US" sz="1600" b="1"/>
              <a:t>WriteOffFlag: 0</a:t>
            </a:r>
          </a:p>
          <a:p>
            <a:r>
              <a:rPr lang="en-US" sz="1600" b="1"/>
              <a:t>Securitization: 0</a:t>
            </a:r>
          </a:p>
          <a:p>
            <a:r>
              <a:rPr lang="en-US" sz="1600" b="1"/>
              <a:t>IsDisbursmented: 0</a:t>
            </a:r>
          </a:p>
          <a:p>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endParaRPr lang="en-US" sz="1600" b="1"/>
          </a:p>
          <a:p>
            <a:endParaRPr lang="en-US" sz="1600" b="1"/>
          </a:p>
          <a:p>
            <a:endParaRPr lang="en-US" sz="1600" b="1"/>
          </a:p>
          <a:p>
            <a:r>
              <a:rPr lang="en-US" sz="1500" b="1"/>
              <a:t>AccountCode: NULL</a:t>
            </a:r>
          </a:p>
          <a:p>
            <a:r>
              <a:rPr lang="en-US" sz="1500" b="1"/>
              <a:t>DEPT_VALUE: NULL</a:t>
            </a:r>
          </a:p>
          <a:p>
            <a:r>
              <a:rPr lang="en-US" sz="1500" b="1"/>
              <a:t>PRIMIUM_VALUE: NULL</a:t>
            </a:r>
          </a:p>
          <a:p>
            <a:r>
              <a:rPr lang="en-US" sz="1500" b="1"/>
              <a:t>F_PRIMIUM_DATE: NULL</a:t>
            </a:r>
          </a:p>
          <a:p>
            <a:r>
              <a:rPr lang="en-US" sz="1500" b="1"/>
              <a:t>L_PRIMIUM_DATE: NULL</a:t>
            </a:r>
          </a:p>
          <a:p>
            <a:r>
              <a:rPr lang="en-US" sz="1500" b="1"/>
              <a:t>BUSDATE: NULL // </a:t>
            </a:r>
            <a:r>
              <a:rPr lang="ar-EG" sz="1500" b="1"/>
              <a:t>تاريخ الصرف</a:t>
            </a:r>
            <a:endParaRPr lang="en-US" sz="1500" b="1"/>
          </a:p>
          <a:p>
            <a:r>
              <a:rPr lang="en-US" sz="1500" b="1"/>
              <a:t>EXPDATE: NULL</a:t>
            </a:r>
          </a:p>
          <a:p>
            <a:r>
              <a:rPr lang="en-US" sz="1500" b="1"/>
              <a:t>Com_RATE: NULL // assigned at disbursement </a:t>
            </a:r>
          </a:p>
          <a:p>
            <a:r>
              <a:rPr lang="en-US" sz="1500" b="1"/>
              <a:t>Bank_code: NULL</a:t>
            </a:r>
          </a:p>
          <a:p>
            <a:r>
              <a:rPr lang="en-US" sz="1500" b="1"/>
              <a:t>VisitCount: NULL</a:t>
            </a:r>
          </a:p>
          <a:p>
            <a:r>
              <a:rPr lang="en-US" sz="1500" b="1"/>
              <a:t>GuarVisitCount: NULL</a:t>
            </a:r>
          </a:p>
          <a:p>
            <a:endParaRPr lang="en-US" sz="1500" b="1"/>
          </a:p>
          <a:p>
            <a:r>
              <a:rPr lang="en-US" sz="1500" b="1">
                <a:solidFill>
                  <a:srgbClr val="FFFF00"/>
                </a:solidFill>
              </a:rPr>
              <a:t>Approv_value: NULL</a:t>
            </a:r>
          </a:p>
          <a:p>
            <a:r>
              <a:rPr lang="en-US" sz="1500" b="1">
                <a:solidFill>
                  <a:srgbClr val="FFFF00"/>
                </a:solidFill>
              </a:rPr>
              <a:t>Approved_Amount: NULL</a:t>
            </a:r>
          </a:p>
          <a:p>
            <a:r>
              <a:rPr lang="en-US" sz="1500" b="1">
                <a:solidFill>
                  <a:srgbClr val="FFFF00"/>
                </a:solidFill>
              </a:rPr>
              <a:t>TOTAL_AMOUNT: NULL</a:t>
            </a:r>
          </a:p>
          <a:p>
            <a:r>
              <a:rPr lang="en-US" sz="1500" b="1">
                <a:solidFill>
                  <a:srgbClr val="FFFF00"/>
                </a:solidFill>
              </a:rPr>
              <a:t>NO_Months: NULL</a:t>
            </a:r>
          </a:p>
          <a:p>
            <a:endParaRPr lang="en-US" sz="1600"/>
          </a:p>
        </p:txBody>
      </p:sp>
    </p:spTree>
    <p:extLst>
      <p:ext uri="{BB962C8B-B14F-4D97-AF65-F5344CB8AC3E}">
        <p14:creationId xmlns:p14="http://schemas.microsoft.com/office/powerpoint/2010/main" val="2145784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331D8-27AD-5C2C-63C0-7B11B9F38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DE566-8C0C-C337-CD4A-5046BF63C3A1}"/>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[cont.4]</a:t>
            </a:r>
            <a:endParaRPr lang="en-US" sz="3200"/>
          </a:p>
        </p:txBody>
      </p:sp>
      <p:sp>
        <p:nvSpPr>
          <p:cNvPr id="3" name="Content Placeholder 2">
            <a:extLst>
              <a:ext uri="{FF2B5EF4-FFF2-40B4-BE49-F238E27FC236}">
                <a16:creationId xmlns:a16="http://schemas.microsoft.com/office/drawing/2014/main" id="{464C7ACA-90EB-6B16-ECB8-BF31D3956B30}"/>
              </a:ext>
            </a:extLst>
          </p:cNvPr>
          <p:cNvSpPr>
            <a:spLocks noGrp="1"/>
          </p:cNvSpPr>
          <p:nvPr>
            <p:ph idx="1"/>
          </p:nvPr>
        </p:nvSpPr>
        <p:spPr>
          <a:xfrm>
            <a:off x="0" y="782320"/>
            <a:ext cx="12192000" cy="5872479"/>
          </a:xfrm>
        </p:spPr>
        <p:txBody>
          <a:bodyPr/>
          <a:lstStyle/>
          <a:p>
            <a:r>
              <a:rPr lang="en-US" b="1"/>
              <a:t>Deportation Fields that will have a value</a:t>
            </a:r>
          </a:p>
          <a:p>
            <a:r>
              <a:rPr lang="en-US" sz="1600" b="1"/>
              <a:t>FRD_ID</a:t>
            </a:r>
          </a:p>
          <a:p>
            <a:r>
              <a:rPr lang="en-US" sz="1600" b="1"/>
              <a:t>Request_id</a:t>
            </a:r>
          </a:p>
          <a:p>
            <a:r>
              <a:rPr lang="en-US" sz="1600" b="1">
                <a:solidFill>
                  <a:srgbClr val="FFFF00"/>
                </a:solidFill>
              </a:rPr>
              <a:t>UserId_from </a:t>
            </a:r>
            <a:r>
              <a:rPr lang="en-US" sz="1600" b="1"/>
              <a:t>= LO ID</a:t>
            </a:r>
          </a:p>
          <a:p>
            <a:r>
              <a:rPr lang="en-US" sz="1600" b="1">
                <a:solidFill>
                  <a:srgbClr val="FFFF00"/>
                </a:solidFill>
              </a:rPr>
              <a:t>UserId_TO</a:t>
            </a:r>
            <a:r>
              <a:rPr lang="en-US" sz="1600" b="1"/>
              <a:t> = LO ID</a:t>
            </a:r>
          </a:p>
          <a:p>
            <a:r>
              <a:rPr lang="en-US" sz="1600" b="1">
                <a:solidFill>
                  <a:srgbClr val="FFFF00"/>
                </a:solidFill>
              </a:rPr>
              <a:t>UserId_BM</a:t>
            </a:r>
            <a:r>
              <a:rPr lang="en-US" sz="1600" b="1"/>
              <a:t> = BranchManager.UserId</a:t>
            </a:r>
          </a:p>
          <a:p>
            <a:r>
              <a:rPr lang="en-US" sz="1600" b="1">
                <a:solidFill>
                  <a:srgbClr val="FFFF00"/>
                </a:solidFill>
              </a:rPr>
              <a:t>BranchId</a:t>
            </a:r>
          </a:p>
          <a:p>
            <a:r>
              <a:rPr lang="en-US" sz="1600" b="1">
                <a:solidFill>
                  <a:srgbClr val="FFFF00"/>
                </a:solidFill>
              </a:rPr>
              <a:t>JobId: 10: JobId of LO</a:t>
            </a:r>
          </a:p>
          <a:p>
            <a:r>
              <a:rPr lang="en-US" sz="1600" b="1"/>
              <a:t>Deportation.</a:t>
            </a:r>
            <a:r>
              <a:rPr lang="en-US" sz="1600" b="1">
                <a:solidFill>
                  <a:srgbClr val="FFFF00"/>
                </a:solidFill>
              </a:rPr>
              <a:t>Name_step_from</a:t>
            </a:r>
            <a:r>
              <a:rPr lang="en-US" sz="1600" b="1"/>
              <a:t> </a:t>
            </a:r>
            <a:r>
              <a:rPr lang="en-US" sz="1600"/>
              <a:t>= CurrentActionStep;</a:t>
            </a:r>
          </a:p>
          <a:p>
            <a:r>
              <a:rPr lang="en-US" sz="1600" b="1"/>
              <a:t>Deportation.</a:t>
            </a:r>
            <a:r>
              <a:rPr lang="en-US" sz="1600" b="1">
                <a:solidFill>
                  <a:srgbClr val="FFFF00"/>
                </a:solidFill>
              </a:rPr>
              <a:t>Name_step_to</a:t>
            </a:r>
            <a:r>
              <a:rPr lang="en-US" sz="1600"/>
              <a:t> = CurrentActionStep;</a:t>
            </a:r>
          </a:p>
          <a:p>
            <a:pPr lvl="1"/>
            <a:r>
              <a:rPr lang="en-US" sz="1600"/>
              <a:t>CurrentActionsForAllType = base.Queryable().Where(x =&gt; x.Definition_number == Definition_number);</a:t>
            </a:r>
          </a:p>
          <a:p>
            <a:pPr lvl="1"/>
            <a:r>
              <a:rPr lang="en-US" sz="1600"/>
              <a:t>CurrentActionStep = CurrentActionsForAllType.FirstOrDefault(x =&gt; x.Type_code= Product.Type_code).Name_stepAR;</a:t>
            </a:r>
          </a:p>
          <a:p>
            <a:r>
              <a:rPr lang="en-US" sz="1600" b="1"/>
              <a:t>Deportation.</a:t>
            </a:r>
            <a:r>
              <a:rPr lang="en-US" sz="1600" b="1">
                <a:solidFill>
                  <a:srgbClr val="FFFF00"/>
                </a:solidFill>
              </a:rPr>
              <a:t>Status_one</a:t>
            </a:r>
            <a:r>
              <a:rPr lang="en-US" sz="1600" b="1"/>
              <a:t> = FixedStatus.Status_One_Inprocess // “inporoccess”</a:t>
            </a:r>
          </a:p>
          <a:p>
            <a:r>
              <a:rPr lang="en-US" sz="1600" b="1"/>
              <a:t>Deportation.</a:t>
            </a:r>
            <a:r>
              <a:rPr lang="en-US" sz="1600" b="1">
                <a:solidFill>
                  <a:srgbClr val="FFFF00"/>
                </a:solidFill>
              </a:rPr>
              <a:t>Status_two</a:t>
            </a:r>
            <a:r>
              <a:rPr lang="en-US" sz="1600" b="1"/>
              <a:t> = FixedStatus.Status_R111	// R111</a:t>
            </a:r>
          </a:p>
          <a:p>
            <a:r>
              <a:rPr lang="fr-FR" sz="1600" b="1"/>
              <a:t>Deportation.</a:t>
            </a:r>
            <a:r>
              <a:rPr lang="fr-FR" sz="1600" b="1">
                <a:solidFill>
                  <a:srgbClr val="FFFF00"/>
                </a:solidFill>
              </a:rPr>
              <a:t>Type_code</a:t>
            </a:r>
            <a:r>
              <a:rPr lang="fr-FR" sz="1600" b="1"/>
              <a:t> = </a:t>
            </a:r>
            <a:r>
              <a:rPr lang="en-US" sz="1600" b="1"/>
              <a:t>FundingDataVM.status</a:t>
            </a:r>
            <a:r>
              <a:rPr lang="fr-FR" sz="1600" b="1"/>
              <a:t> == 1 ? Product.Type_code : Deportation.Type_code;</a:t>
            </a:r>
            <a:endParaRPr lang="en-US" sz="1600" b="1"/>
          </a:p>
          <a:p>
            <a:endParaRPr lang="fr-FR" sz="1600"/>
          </a:p>
        </p:txBody>
      </p:sp>
    </p:spTree>
    <p:extLst>
      <p:ext uri="{BB962C8B-B14F-4D97-AF65-F5344CB8AC3E}">
        <p14:creationId xmlns:p14="http://schemas.microsoft.com/office/powerpoint/2010/main" val="34237579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1F8F7-F572-0F53-2EB7-2D86D2AD441D}"/>
              </a:ext>
            </a:extLst>
          </p:cNvPr>
          <p:cNvSpPr>
            <a:spLocks noGrp="1"/>
          </p:cNvSpPr>
          <p:nvPr>
            <p:ph type="title"/>
          </p:nvPr>
        </p:nvSpPr>
        <p:spPr>
          <a:xfrm>
            <a:off x="0" y="0"/>
            <a:ext cx="12192000" cy="97045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[cont.5]</a:t>
            </a:r>
            <a:endParaRPr lang="en-US" sz="3200"/>
          </a:p>
        </p:txBody>
      </p:sp>
      <p:sp>
        <p:nvSpPr>
          <p:cNvPr id="3" name="Content Placeholder 2">
            <a:extLst>
              <a:ext uri="{FF2B5EF4-FFF2-40B4-BE49-F238E27FC236}">
                <a16:creationId xmlns:a16="http://schemas.microsoft.com/office/drawing/2014/main" id="{4750DADC-200A-7BA3-082A-C02E8D75769A}"/>
              </a:ext>
            </a:extLst>
          </p:cNvPr>
          <p:cNvSpPr>
            <a:spLocks noGrp="1"/>
          </p:cNvSpPr>
          <p:nvPr>
            <p:ph idx="1"/>
          </p:nvPr>
        </p:nvSpPr>
        <p:spPr>
          <a:xfrm>
            <a:off x="211667" y="970451"/>
            <a:ext cx="11870266" cy="5650482"/>
          </a:xfrm>
        </p:spPr>
        <p:txBody>
          <a:bodyPr>
            <a:normAutofit/>
          </a:bodyPr>
          <a:lstStyle/>
          <a:p>
            <a:r>
              <a:rPr lang="en-US" sz="2400" b="1">
                <a:solidFill>
                  <a:srgbClr val="FFFF00"/>
                </a:solidFill>
              </a:rPr>
              <a:t>Deportation Fields that will have a value</a:t>
            </a:r>
          </a:p>
          <a:p>
            <a:r>
              <a:rPr lang="en-US" sz="1800" b="1"/>
              <a:t>Date_creation_request</a:t>
            </a:r>
          </a:p>
          <a:p>
            <a:r>
              <a:rPr lang="en-US" sz="1800" b="1"/>
              <a:t>Customer_ID_C</a:t>
            </a:r>
          </a:p>
          <a:p>
            <a:r>
              <a:rPr lang="en-US" sz="1800" b="1"/>
              <a:t>Cust_QID</a:t>
            </a:r>
          </a:p>
          <a:p>
            <a:r>
              <a:rPr lang="en-US" sz="1800" b="1"/>
              <a:t>Cust_Full_name</a:t>
            </a:r>
          </a:p>
          <a:p>
            <a:r>
              <a:rPr lang="en-US" sz="1800" b="1"/>
              <a:t>Enterprise_ID</a:t>
            </a:r>
          </a:p>
          <a:p>
            <a:r>
              <a:rPr lang="en-US" sz="1800" b="1"/>
              <a:t>Product_id</a:t>
            </a:r>
          </a:p>
          <a:p>
            <a:r>
              <a:rPr lang="en-US" sz="1800" b="1"/>
              <a:t>Product_name</a:t>
            </a:r>
          </a:p>
          <a:p>
            <a:r>
              <a:rPr lang="en-US" sz="1800" b="1"/>
              <a:t>Code_action: null</a:t>
            </a:r>
          </a:p>
          <a:p>
            <a:r>
              <a:rPr lang="en-US" sz="1800" b="1"/>
              <a:t>Date_Assigned: null</a:t>
            </a:r>
          </a:p>
          <a:p>
            <a:endParaRPr lang="en-US" sz="1800" b="1"/>
          </a:p>
        </p:txBody>
      </p:sp>
    </p:spTree>
    <p:extLst>
      <p:ext uri="{BB962C8B-B14F-4D97-AF65-F5344CB8AC3E}">
        <p14:creationId xmlns:p14="http://schemas.microsoft.com/office/powerpoint/2010/main" val="17315017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2272-256B-EAEC-4613-699507FCF80D}"/>
              </a:ext>
            </a:extLst>
          </p:cNvPr>
          <p:cNvSpPr>
            <a:spLocks noGrp="1"/>
          </p:cNvSpPr>
          <p:nvPr>
            <p:ph type="title"/>
          </p:nvPr>
        </p:nvSpPr>
        <p:spPr>
          <a:xfrm>
            <a:off x="101600" y="0"/>
            <a:ext cx="11836400" cy="6096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[cont.6]</a:t>
            </a:r>
            <a:endParaRPr lang="en-US"/>
          </a:p>
        </p:txBody>
      </p:sp>
      <p:sp>
        <p:nvSpPr>
          <p:cNvPr id="3" name="Content Placeholder 2">
            <a:extLst>
              <a:ext uri="{FF2B5EF4-FFF2-40B4-BE49-F238E27FC236}">
                <a16:creationId xmlns:a16="http://schemas.microsoft.com/office/drawing/2014/main" id="{FC29389E-DC0D-9CA6-FC33-F9DC923F7EF5}"/>
              </a:ext>
            </a:extLst>
          </p:cNvPr>
          <p:cNvSpPr>
            <a:spLocks noGrp="1"/>
          </p:cNvSpPr>
          <p:nvPr>
            <p:ph idx="1"/>
          </p:nvPr>
        </p:nvSpPr>
        <p:spPr>
          <a:xfrm>
            <a:off x="101600" y="1056640"/>
            <a:ext cx="11988800" cy="5527039"/>
          </a:xfrm>
        </p:spPr>
        <p:txBody>
          <a:bodyPr>
            <a:normAutofit/>
          </a:bodyPr>
          <a:lstStyle/>
          <a:p>
            <a:r>
              <a:rPr lang="en-US" sz="2800" b="1">
                <a:solidFill>
                  <a:srgbClr val="FFFF00"/>
                </a:solidFill>
              </a:rPr>
              <a:t>Flow_Requests_Log</a:t>
            </a:r>
          </a:p>
          <a:p>
            <a:r>
              <a:rPr lang="en-US" sz="1800" b="1"/>
              <a:t>FRL_ID: PK</a:t>
            </a:r>
          </a:p>
          <a:p>
            <a:r>
              <a:rPr lang="en-US" sz="1800" b="1"/>
              <a:t>FRD_ID: FK from request_deportation</a:t>
            </a:r>
          </a:p>
          <a:p>
            <a:r>
              <a:rPr lang="en-US" sz="1800" b="1"/>
              <a:t>Date_Creation:</a:t>
            </a:r>
          </a:p>
          <a:p>
            <a:r>
              <a:rPr lang="en-US" sz="1800" b="1"/>
              <a:t>Daily_date: </a:t>
            </a:r>
          </a:p>
          <a:p>
            <a:r>
              <a:rPr lang="en-US" sz="1800" b="1"/>
              <a:t>Step_name: </a:t>
            </a:r>
            <a:r>
              <a:rPr lang="ar-EG" sz="1800" b="1"/>
              <a:t>طلب التمويل</a:t>
            </a:r>
          </a:p>
          <a:p>
            <a:r>
              <a:rPr lang="en-US" sz="1800" b="1"/>
              <a:t>Definition_number: </a:t>
            </a:r>
            <a:r>
              <a:rPr lang="en-US" sz="1800" b="1">
                <a:solidFill>
                  <a:srgbClr val="FFFF00"/>
                </a:solidFill>
              </a:rPr>
              <a:t>R111</a:t>
            </a:r>
          </a:p>
          <a:p>
            <a:r>
              <a:rPr lang="en-US" sz="1800" b="1"/>
              <a:t>ActionFlag: null;</a:t>
            </a:r>
          </a:p>
        </p:txBody>
      </p:sp>
    </p:spTree>
    <p:extLst>
      <p:ext uri="{BB962C8B-B14F-4D97-AF65-F5344CB8AC3E}">
        <p14:creationId xmlns:p14="http://schemas.microsoft.com/office/powerpoint/2010/main" val="5006571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F925A-1C6B-71FD-EFF0-729F6442B7D5}"/>
              </a:ext>
            </a:extLst>
          </p:cNvPr>
          <p:cNvSpPr>
            <a:spLocks noGrp="1"/>
          </p:cNvSpPr>
          <p:nvPr>
            <p:ph type="title"/>
          </p:nvPr>
        </p:nvSpPr>
        <p:spPr>
          <a:xfrm>
            <a:off x="-5324" y="0"/>
            <a:ext cx="12191999" cy="50482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[cont.7]</a:t>
            </a:r>
            <a:endParaRPr lang="en-US"/>
          </a:p>
        </p:txBody>
      </p:sp>
      <p:sp>
        <p:nvSpPr>
          <p:cNvPr id="3" name="Content Placeholder 2">
            <a:extLst>
              <a:ext uri="{FF2B5EF4-FFF2-40B4-BE49-F238E27FC236}">
                <a16:creationId xmlns:a16="http://schemas.microsoft.com/office/drawing/2014/main" id="{1C0ECF39-8ABD-698C-FEA9-498E5C3ABB85}"/>
              </a:ext>
            </a:extLst>
          </p:cNvPr>
          <p:cNvSpPr>
            <a:spLocks noGrp="1"/>
          </p:cNvSpPr>
          <p:nvPr>
            <p:ph idx="1"/>
          </p:nvPr>
        </p:nvSpPr>
        <p:spPr>
          <a:xfrm>
            <a:off x="104776" y="695325"/>
            <a:ext cx="11953874" cy="6057900"/>
          </a:xfrm>
        </p:spPr>
        <p:txBody>
          <a:bodyPr/>
          <a:lstStyle/>
          <a:p>
            <a:r>
              <a:rPr lang="en-US" b="1"/>
              <a:t>At </a:t>
            </a:r>
            <a:r>
              <a:rPr lang="en-US" b="1">
                <a:solidFill>
                  <a:srgbClr val="FF0000"/>
                </a:solidFill>
              </a:rPr>
              <a:t>TWF</a:t>
            </a:r>
            <a:r>
              <a:rPr lang="en-US" b="1"/>
              <a:t>.</a:t>
            </a:r>
            <a:r>
              <a:rPr lang="en-US" b="1">
                <a:solidFill>
                  <a:srgbClr val="FFFF00"/>
                </a:solidFill>
              </a:rPr>
              <a:t>Flow_ISCORE_Data </a:t>
            </a:r>
            <a:r>
              <a:rPr lang="en-US" b="1"/>
              <a:t>you will two records one for customer and one for guarantor</a:t>
            </a:r>
          </a:p>
          <a:p>
            <a:pPr lvl="1"/>
            <a:r>
              <a:rPr lang="en-US" b="1"/>
              <a:t>Cust_IDNO</a:t>
            </a:r>
          </a:p>
          <a:p>
            <a:pPr lvl="1"/>
            <a:r>
              <a:rPr lang="en-US" sz="1600" b="1"/>
              <a:t>Code_FID: PK</a:t>
            </a:r>
          </a:p>
          <a:p>
            <a:pPr lvl="1"/>
            <a:r>
              <a:rPr lang="en-US" sz="1600" b="1"/>
              <a:t>Inquiry_Date</a:t>
            </a:r>
          </a:p>
          <a:p>
            <a:pPr lvl="1"/>
            <a:r>
              <a:rPr lang="en-US" sz="1600" b="1"/>
              <a:t>Score</a:t>
            </a:r>
          </a:p>
          <a:p>
            <a:pPr lvl="1"/>
            <a:r>
              <a:rPr lang="en-US" sz="1600" b="1"/>
              <a:t>Open_Credits</a:t>
            </a:r>
          </a:p>
          <a:p>
            <a:pPr lvl="1"/>
            <a:r>
              <a:rPr lang="en-US" sz="1600" b="1"/>
              <a:t>Days_Due</a:t>
            </a:r>
          </a:p>
          <a:p>
            <a:pPr lvl="1"/>
            <a:r>
              <a:rPr lang="en-US" sz="1600" b="1"/>
              <a:t>No_Of_Inquiries</a:t>
            </a:r>
          </a:p>
          <a:p>
            <a:pPr lvl="1"/>
            <a:r>
              <a:rPr lang="en-US" sz="1600" b="1"/>
              <a:t>Request_id</a:t>
            </a:r>
          </a:p>
          <a:p>
            <a:pPr lvl="1"/>
            <a:r>
              <a:rPr lang="en-US" sz="1600" b="1"/>
              <a:t>Ref_NO</a:t>
            </a:r>
          </a:p>
          <a:p>
            <a:pPr lvl="1"/>
            <a:r>
              <a:rPr lang="en-US" sz="1600" b="1"/>
              <a:t>NotFound: 2</a:t>
            </a:r>
          </a:p>
          <a:p>
            <a:pPr lvl="1"/>
            <a:r>
              <a:rPr lang="en-US" sz="1600" b="1"/>
              <a:t>New_ISCORE: 1 [ always one ]</a:t>
            </a:r>
          </a:p>
          <a:p>
            <a:pPr lvl="1"/>
            <a:r>
              <a:rPr lang="en-US" sz="1600" b="1"/>
              <a:t>File Code: </a:t>
            </a:r>
            <a:r>
              <a:rPr lang="en-US" sz="1200" b="1"/>
              <a:t>Mjk4MDkzMDE0MTI4NzQoMzQzMjBhOTItNzVmOC00N2M1LWI1ZDYtMjk1M2RjZWRkMGM2KS5wZGY=</a:t>
            </a:r>
          </a:p>
          <a:p>
            <a:r>
              <a:rPr lang="en-US" sz="1900" b="1"/>
              <a:t>Note: you will find </a:t>
            </a:r>
            <a:r>
              <a:rPr lang="en-US" sz="1900" b="1">
                <a:solidFill>
                  <a:srgbClr val="FFFF00"/>
                </a:solidFill>
              </a:rPr>
              <a:t>FileCode</a:t>
            </a:r>
            <a:r>
              <a:rPr lang="en-US" sz="1900" b="1"/>
              <a:t> here is equal to </a:t>
            </a:r>
            <a:r>
              <a:rPr lang="en-US" b="1">
                <a:solidFill>
                  <a:srgbClr val="FF0000"/>
                </a:solidFill>
              </a:rPr>
              <a:t>TWF</a:t>
            </a:r>
            <a:r>
              <a:rPr lang="en-US" b="1">
                <a:solidFill>
                  <a:srgbClr val="FFFF00"/>
                </a:solidFill>
              </a:rPr>
              <a:t>.</a:t>
            </a:r>
            <a:r>
              <a:rPr lang="en-US" b="1">
                <a:solidFill>
                  <a:schemeClr val="tx1"/>
                </a:solidFill>
              </a:rPr>
              <a:t>TWF_Download</a:t>
            </a:r>
            <a:r>
              <a:rPr lang="en-US" b="1">
                <a:solidFill>
                  <a:srgbClr val="FFFF00"/>
                </a:solidFill>
              </a:rPr>
              <a:t>.Doc_id</a:t>
            </a:r>
            <a:endParaRPr lang="en-US" sz="1900" b="1">
              <a:solidFill>
                <a:srgbClr val="FFFF00"/>
              </a:solidFill>
            </a:endParaRPr>
          </a:p>
          <a:p>
            <a:endParaRPr lang="en-US"/>
          </a:p>
          <a:p>
            <a:endParaRPr lang="en-US"/>
          </a:p>
          <a:p>
            <a:endParaRPr lang="en-US"/>
          </a:p>
          <a:p>
            <a:endParaRPr lang="en-US"/>
          </a:p>
        </p:txBody>
      </p:sp>
    </p:spTree>
    <p:extLst>
      <p:ext uri="{BB962C8B-B14F-4D97-AF65-F5344CB8AC3E}">
        <p14:creationId xmlns:p14="http://schemas.microsoft.com/office/powerpoint/2010/main" val="3847782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242EC-EC85-C88C-52AE-7A449A3AC296}"/>
              </a:ext>
            </a:extLst>
          </p:cNvPr>
          <p:cNvSpPr>
            <a:spLocks noGrp="1"/>
          </p:cNvSpPr>
          <p:nvPr>
            <p:ph type="title"/>
          </p:nvPr>
        </p:nvSpPr>
        <p:spPr>
          <a:xfrm>
            <a:off x="0" y="0"/>
            <a:ext cx="12192000" cy="638175"/>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[cont.8]</a:t>
            </a:r>
            <a:endParaRPr lang="en-US" sz="3200"/>
          </a:p>
        </p:txBody>
      </p:sp>
      <p:sp>
        <p:nvSpPr>
          <p:cNvPr id="3" name="Content Placeholder 2">
            <a:extLst>
              <a:ext uri="{FF2B5EF4-FFF2-40B4-BE49-F238E27FC236}">
                <a16:creationId xmlns:a16="http://schemas.microsoft.com/office/drawing/2014/main" id="{73CBDAEA-FD6C-6F1E-7A7D-C5C4F18832EE}"/>
              </a:ext>
            </a:extLst>
          </p:cNvPr>
          <p:cNvSpPr>
            <a:spLocks noGrp="1"/>
          </p:cNvSpPr>
          <p:nvPr>
            <p:ph idx="1"/>
          </p:nvPr>
        </p:nvSpPr>
        <p:spPr>
          <a:xfrm>
            <a:off x="76200" y="638175"/>
            <a:ext cx="12049125" cy="6086475"/>
          </a:xfrm>
        </p:spPr>
        <p:txBody>
          <a:bodyPr>
            <a:normAutofit/>
          </a:bodyPr>
          <a:lstStyle/>
          <a:p>
            <a:r>
              <a:rPr lang="en-US" sz="2400" b="1">
                <a:solidFill>
                  <a:srgbClr val="00B0F0"/>
                </a:solidFill>
              </a:rPr>
              <a:t>TWF_Download: the table that represent the uploaded docs for request</a:t>
            </a:r>
          </a:p>
          <a:p>
            <a:r>
              <a:rPr lang="en-US" b="1">
                <a:solidFill>
                  <a:srgbClr val="FFFF00"/>
                </a:solidFill>
              </a:rPr>
              <a:t>You will have two records one for customer and one for guarantor these are docs related to iscore docs</a:t>
            </a:r>
          </a:p>
          <a:p>
            <a:pPr lvl="1"/>
            <a:r>
              <a:rPr lang="en-US" b="1">
                <a:solidFill>
                  <a:srgbClr val="FFFF00"/>
                </a:solidFill>
              </a:rPr>
              <a:t>Id_Down: PK, identity</a:t>
            </a:r>
          </a:p>
          <a:p>
            <a:pPr lvl="1"/>
            <a:r>
              <a:rPr lang="en-US" b="1">
                <a:solidFill>
                  <a:srgbClr val="FFFF00"/>
                </a:solidFill>
              </a:rPr>
              <a:t>Screen_name: C</a:t>
            </a:r>
          </a:p>
          <a:p>
            <a:pPr lvl="1"/>
            <a:r>
              <a:rPr lang="en-US" b="1">
                <a:solidFill>
                  <a:srgbClr val="FFFF00"/>
                </a:solidFill>
              </a:rPr>
              <a:t>Doc_id: string, </a:t>
            </a:r>
            <a:r>
              <a:rPr lang="en-US" sz="1400" b="1">
                <a:solidFill>
                  <a:srgbClr val="FFFF00"/>
                </a:solidFill>
              </a:rPr>
              <a:t>Mjk4MDkzMDE0MTI4NzQoMzQzMjBhOTItNzVmOC00N2M1LWI1ZDYtMjk1M2RjZWRkMGM2KS5wZGY=</a:t>
            </a:r>
            <a:endParaRPr lang="en-US" b="1">
              <a:solidFill>
                <a:srgbClr val="FFFF00"/>
              </a:solidFill>
            </a:endParaRPr>
          </a:p>
          <a:p>
            <a:pPr lvl="1"/>
            <a:r>
              <a:rPr lang="en-US" b="1">
                <a:solidFill>
                  <a:srgbClr val="FFFF00"/>
                </a:solidFill>
              </a:rPr>
              <a:t>RequestId: 1693427</a:t>
            </a:r>
          </a:p>
          <a:p>
            <a:pPr lvl="1"/>
            <a:r>
              <a:rPr lang="en-US" b="1">
                <a:solidFill>
                  <a:srgbClr val="FFFF00"/>
                </a:solidFill>
              </a:rPr>
              <a:t>Bus_Date</a:t>
            </a:r>
          </a:p>
          <a:p>
            <a:pPr lvl="1"/>
            <a:r>
              <a:rPr lang="en-US" b="1">
                <a:solidFill>
                  <a:srgbClr val="FFFF00"/>
                </a:solidFill>
              </a:rPr>
              <a:t>Uploaded_Date</a:t>
            </a:r>
          </a:p>
          <a:p>
            <a:pPr lvl="1"/>
            <a:r>
              <a:rPr lang="en-US" b="1">
                <a:solidFill>
                  <a:srgbClr val="FFFF00"/>
                </a:solidFill>
              </a:rPr>
              <a:t>Field_ID: null</a:t>
            </a:r>
          </a:p>
          <a:p>
            <a:endParaRPr lang="en-US" b="1">
              <a:solidFill>
                <a:srgbClr val="FFFF00"/>
              </a:solidFill>
            </a:endParaRPr>
          </a:p>
          <a:p>
            <a:endParaRPr lang="en-US" b="1">
              <a:solidFill>
                <a:srgbClr val="FFFF00"/>
              </a:solidFill>
            </a:endParaRPr>
          </a:p>
        </p:txBody>
      </p:sp>
      <p:pic>
        <p:nvPicPr>
          <p:cNvPr id="5" name="Picture 4">
            <a:extLst>
              <a:ext uri="{FF2B5EF4-FFF2-40B4-BE49-F238E27FC236}">
                <a16:creationId xmlns:a16="http://schemas.microsoft.com/office/drawing/2014/main" id="{1CF501E0-27A7-25BE-0D3E-58DEB0DF5CDE}"/>
              </a:ext>
            </a:extLst>
          </p:cNvPr>
          <p:cNvPicPr>
            <a:picLocks noChangeAspect="1"/>
          </p:cNvPicPr>
          <p:nvPr/>
        </p:nvPicPr>
        <p:blipFill>
          <a:blip r:embed="rId2"/>
          <a:stretch>
            <a:fillRect/>
          </a:stretch>
        </p:blipFill>
        <p:spPr>
          <a:xfrm>
            <a:off x="264389" y="5907378"/>
            <a:ext cx="9358171" cy="624894"/>
          </a:xfrm>
          <a:prstGeom prst="rect">
            <a:avLst/>
          </a:prstGeom>
        </p:spPr>
      </p:pic>
    </p:spTree>
    <p:extLst>
      <p:ext uri="{BB962C8B-B14F-4D97-AF65-F5344CB8AC3E}">
        <p14:creationId xmlns:p14="http://schemas.microsoft.com/office/powerpoint/2010/main" val="1316869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FDE5B-CE16-81BE-2438-76B88F9A6A1E}"/>
              </a:ext>
            </a:extLst>
          </p:cNvPr>
          <p:cNvSpPr>
            <a:spLocks noGrp="1"/>
          </p:cNvSpPr>
          <p:nvPr>
            <p:ph type="title"/>
          </p:nvPr>
        </p:nvSpPr>
        <p:spPr>
          <a:xfrm>
            <a:off x="37538" y="0"/>
            <a:ext cx="12106275" cy="4953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8B9CE791-0387-BC12-EE17-8265ED58A2D5}"/>
              </a:ext>
            </a:extLst>
          </p:cNvPr>
          <p:cNvSpPr>
            <a:spLocks noGrp="1"/>
          </p:cNvSpPr>
          <p:nvPr>
            <p:ph idx="1"/>
          </p:nvPr>
        </p:nvSpPr>
        <p:spPr>
          <a:xfrm>
            <a:off x="114300" y="609599"/>
            <a:ext cx="12029513" cy="6124575"/>
          </a:xfrm>
        </p:spPr>
        <p:txBody>
          <a:bodyPr/>
          <a:lstStyle/>
          <a:p>
            <a:r>
              <a:rPr lang="en-US" sz="1600" b="1"/>
              <a:t>IQueryable&lt;</a:t>
            </a:r>
            <a:r>
              <a:rPr lang="en-US" sz="1600" b="1">
                <a:solidFill>
                  <a:srgbClr val="FFFF00"/>
                </a:solidFill>
              </a:rPr>
              <a:t>JoinMandatoryDocAndTypeDocuments</a:t>
            </a:r>
            <a:r>
              <a:rPr lang="en-US" sz="1600" b="1"/>
              <a:t>&gt; </a:t>
            </a:r>
            <a:r>
              <a:rPr lang="en-US" sz="1600" b="1">
                <a:solidFill>
                  <a:srgbClr val="00B050"/>
                </a:solidFill>
              </a:rPr>
              <a:t>Flow_DownloadService.</a:t>
            </a:r>
            <a:r>
              <a:rPr lang="en-US" sz="1600" b="1">
                <a:solidFill>
                  <a:srgbClr val="00B0F0"/>
                </a:solidFill>
              </a:rPr>
              <a:t>GetAllDocumentsLo</a:t>
            </a:r>
            <a:r>
              <a:rPr lang="en-US" sz="1600" b="1"/>
              <a:t>( </a:t>
            </a:r>
            <a:r>
              <a:rPr lang="en-US" sz="1400" b="1"/>
              <a:t>product_Id</a:t>
            </a:r>
            <a:r>
              <a:rPr lang="en-US" sz="1200" b="1"/>
              <a:t>, </a:t>
            </a:r>
            <a:r>
              <a:rPr lang="en-US" sz="1400" b="1"/>
              <a:t>jobId</a:t>
            </a:r>
            <a:r>
              <a:rPr lang="en-US" sz="1200" b="1"/>
              <a:t>, </a:t>
            </a:r>
            <a:r>
              <a:rPr lang="en-US" sz="1400" b="1"/>
              <a:t>Request_id</a:t>
            </a:r>
            <a:r>
              <a:rPr lang="en-US" sz="1600" b="1"/>
              <a:t>)</a:t>
            </a:r>
          </a:p>
          <a:p>
            <a:r>
              <a:rPr lang="en-US" sz="1600" b="1"/>
              <a:t>It returns the uploaded docs + required docs</a:t>
            </a:r>
          </a:p>
        </p:txBody>
      </p:sp>
    </p:spTree>
    <p:extLst>
      <p:ext uri="{BB962C8B-B14F-4D97-AF65-F5344CB8AC3E}">
        <p14:creationId xmlns:p14="http://schemas.microsoft.com/office/powerpoint/2010/main" val="5401235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5670F-345F-4FE8-D56B-2FB2D0C1503F}"/>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04796D8E-5438-9382-9910-FDC233CF0311}"/>
              </a:ext>
            </a:extLst>
          </p:cNvPr>
          <p:cNvSpPr>
            <a:spLocks noGrp="1"/>
          </p:cNvSpPr>
          <p:nvPr>
            <p:ph idx="1"/>
          </p:nvPr>
        </p:nvSpPr>
        <p:spPr>
          <a:xfrm>
            <a:off x="85726" y="504824"/>
            <a:ext cx="12106274" cy="6353175"/>
          </a:xfrm>
        </p:spPr>
        <p:txBody>
          <a:bodyPr/>
          <a:lstStyle/>
          <a:p>
            <a:r>
              <a:rPr lang="en-US" b="1"/>
              <a:t>Documents tab [ </a:t>
            </a:r>
            <a:r>
              <a:rPr lang="ar-EG" b="1"/>
              <a:t>المستندات</a:t>
            </a:r>
            <a:r>
              <a:rPr lang="en-US" b="1"/>
              <a:t> ]</a:t>
            </a:r>
            <a:endParaRPr lang="ar-EG" b="1"/>
          </a:p>
          <a:p>
            <a:endParaRPr lang="ar-EG" b="1"/>
          </a:p>
          <a:p>
            <a:endParaRPr lang="ar-EG" b="1"/>
          </a:p>
          <a:p>
            <a:pPr marL="36900" indent="0">
              <a:buNone/>
            </a:pPr>
            <a:endParaRPr lang="ar-EG" b="1"/>
          </a:p>
          <a:p>
            <a:r>
              <a:rPr lang="en-US">
                <a:effectLst/>
              </a:rPr>
              <a:t>After click on </a:t>
            </a:r>
            <a:r>
              <a:rPr lang="ar-EG">
                <a:effectLst/>
              </a:rPr>
              <a:t>تحميل ملف </a:t>
            </a:r>
            <a:r>
              <a:rPr lang="en-US">
                <a:effectLst/>
              </a:rPr>
              <a:t> </a:t>
            </a:r>
          </a:p>
          <a:p>
            <a:pPr lvl="1"/>
            <a:r>
              <a:rPr lang="en-US">
                <a:solidFill>
                  <a:srgbClr val="E98052"/>
                </a:solidFill>
                <a:effectLst/>
                <a:hlinkClick r:id="rId2">
                  <a:extLst>
                    <a:ext uri="{A12FA001-AC4F-418D-AE19-62706E023703}">
                      <ahyp:hlinkClr xmlns:ahyp="http://schemas.microsoft.com/office/drawing/2018/hyperlinkcolor" val="tx"/>
                    </a:ext>
                  </a:extLst>
                </a:hlinkClick>
              </a:rPr>
              <a:t>https://coretest-uploadfile.tamweely.local:4154//api/UploadFile/</a:t>
            </a:r>
            <a:r>
              <a:rPr lang="en-US" b="1">
                <a:solidFill>
                  <a:srgbClr val="FFFF00"/>
                </a:solidFill>
                <a:effectLst/>
                <a:hlinkClick r:id="rId2">
                  <a:extLst>
                    <a:ext uri="{A12FA001-AC4F-418D-AE19-62706E023703}">
                      <ahyp:hlinkClr xmlns:ahyp="http://schemas.microsoft.com/office/drawing/2018/hyperlinkcolor" val="tx"/>
                    </a:ext>
                  </a:extLst>
                </a:hlinkClick>
              </a:rPr>
              <a:t>UploadDocument</a:t>
            </a:r>
            <a:endParaRPr lang="en-US" b="1">
              <a:solidFill>
                <a:srgbClr val="FFFF00"/>
              </a:solidFill>
              <a:effectLst/>
            </a:endParaRPr>
          </a:p>
          <a:p>
            <a:pPr lvl="1"/>
            <a:r>
              <a:rPr lang="en-US" b="1">
                <a:solidFill>
                  <a:srgbClr val="FFC000"/>
                </a:solidFill>
                <a:effectLst/>
              </a:rPr>
              <a:t>The </a:t>
            </a:r>
            <a:r>
              <a:rPr lang="en-US"/>
              <a:t>response</a:t>
            </a:r>
            <a:r>
              <a:rPr lang="en-US" b="1">
                <a:solidFill>
                  <a:srgbClr val="FFC000"/>
                </a:solidFill>
                <a:effectLst/>
              </a:rPr>
              <a:t> </a:t>
            </a:r>
            <a:r>
              <a:rPr lang="en-US" b="1">
                <a:solidFill>
                  <a:schemeClr val="tx1"/>
                </a:solidFill>
              </a:rPr>
              <a:t>{   </a:t>
            </a:r>
          </a:p>
          <a:p>
            <a:pPr marL="756000" lvl="2" indent="0">
              <a:buNone/>
            </a:pPr>
            <a:r>
              <a:rPr lang="en-US" b="1">
                <a:solidFill>
                  <a:schemeClr val="tx1"/>
                </a:solidFill>
              </a:rPr>
              <a:t> "success": true,  </a:t>
            </a:r>
          </a:p>
          <a:p>
            <a:pPr marL="756000" lvl="2" indent="0">
              <a:buNone/>
            </a:pPr>
            <a:r>
              <a:rPr lang="en-US" b="1">
                <a:solidFill>
                  <a:schemeClr val="tx1"/>
                </a:solidFill>
              </a:rPr>
              <a:t>  "FileID": </a:t>
            </a:r>
            <a:r>
              <a:rPr lang="en-US" sz="1400" b="1">
                <a:solidFill>
                  <a:schemeClr val="tx1"/>
                </a:solidFill>
              </a:rPr>
              <a:t>[  "TmF0aW9uYWxfSWQxKGZkMWQzYTg4LThmMWQtNGMwNi1iMTMzLWRmZmMzMzA5YTcwNCkuanBn"    ]</a:t>
            </a:r>
          </a:p>
          <a:p>
            <a:pPr marL="756000" lvl="2" indent="0">
              <a:buNone/>
            </a:pPr>
            <a:r>
              <a:rPr lang="en-US" b="1">
                <a:solidFill>
                  <a:schemeClr val="tx1"/>
                </a:solidFill>
              </a:rPr>
              <a:t>}</a:t>
            </a:r>
            <a:endParaRPr lang="en-US" sz="1600" b="1"/>
          </a:p>
          <a:p>
            <a:endParaRPr lang="en-US" sz="1600" b="1"/>
          </a:p>
          <a:p>
            <a:pPr marL="36900" indent="0">
              <a:buNone/>
            </a:pPr>
            <a:endParaRPr lang="en-US" sz="1600" b="1"/>
          </a:p>
        </p:txBody>
      </p:sp>
      <p:pic>
        <p:nvPicPr>
          <p:cNvPr id="5" name="Picture 4">
            <a:extLst>
              <a:ext uri="{FF2B5EF4-FFF2-40B4-BE49-F238E27FC236}">
                <a16:creationId xmlns:a16="http://schemas.microsoft.com/office/drawing/2014/main" id="{540959A6-3BAE-9DDC-9F16-D6E31FCA4792}"/>
              </a:ext>
            </a:extLst>
          </p:cNvPr>
          <p:cNvPicPr>
            <a:picLocks noChangeAspect="1"/>
          </p:cNvPicPr>
          <p:nvPr/>
        </p:nvPicPr>
        <p:blipFill>
          <a:blip r:embed="rId3"/>
          <a:stretch>
            <a:fillRect/>
          </a:stretch>
        </p:blipFill>
        <p:spPr>
          <a:xfrm>
            <a:off x="443569" y="876301"/>
            <a:ext cx="6014381" cy="1349208"/>
          </a:xfrm>
          <a:prstGeom prst="rect">
            <a:avLst/>
          </a:prstGeom>
        </p:spPr>
      </p:pic>
    </p:spTree>
    <p:extLst>
      <p:ext uri="{BB962C8B-B14F-4D97-AF65-F5344CB8AC3E}">
        <p14:creationId xmlns:p14="http://schemas.microsoft.com/office/powerpoint/2010/main" val="30103449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D604E-1F68-0808-3438-481338B84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84B2C-9797-1BE5-5602-03E855790B26}"/>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F7537EEE-FC8E-7CCB-DDC1-672EA7C4A0A0}"/>
              </a:ext>
            </a:extLst>
          </p:cNvPr>
          <p:cNvSpPr>
            <a:spLocks noGrp="1"/>
          </p:cNvSpPr>
          <p:nvPr>
            <p:ph idx="1"/>
          </p:nvPr>
        </p:nvSpPr>
        <p:spPr>
          <a:xfrm>
            <a:off x="85726" y="504824"/>
            <a:ext cx="12106274" cy="6353175"/>
          </a:xfrm>
        </p:spPr>
        <p:txBody>
          <a:bodyPr/>
          <a:lstStyle/>
          <a:p>
            <a:r>
              <a:rPr lang="en-US" sz="2400" b="1">
                <a:solidFill>
                  <a:srgbClr val="FFC000"/>
                </a:solidFill>
              </a:rPr>
              <a:t>AT Documents tab [ </a:t>
            </a:r>
            <a:r>
              <a:rPr lang="ar-EG" sz="2400" b="1">
                <a:solidFill>
                  <a:srgbClr val="FFC000"/>
                </a:solidFill>
              </a:rPr>
              <a:t>المستندات</a:t>
            </a:r>
            <a:r>
              <a:rPr lang="en-US" sz="2400" b="1">
                <a:solidFill>
                  <a:srgbClr val="FFC000"/>
                </a:solidFill>
              </a:rPr>
              <a:t> ]</a:t>
            </a:r>
            <a:endParaRPr lang="ar-EG" sz="2400" b="1">
              <a:solidFill>
                <a:srgbClr val="FFC000"/>
              </a:solidFill>
            </a:endParaRPr>
          </a:p>
          <a:p>
            <a:pPr marL="415800" indent="-342900"/>
            <a:r>
              <a:rPr lang="en-US" b="1">
                <a:solidFill>
                  <a:schemeClr val="tx1"/>
                </a:solidFill>
              </a:rPr>
              <a:t>After click on </a:t>
            </a:r>
            <a:r>
              <a:rPr lang="ar-EG" b="1">
                <a:solidFill>
                  <a:schemeClr val="tx1"/>
                </a:solidFill>
              </a:rPr>
              <a:t>تعديل</a:t>
            </a:r>
            <a:endParaRPr lang="ar-EG" b="1">
              <a:solidFill>
                <a:srgbClr val="FFFF00"/>
              </a:solidFill>
            </a:endParaRPr>
          </a:p>
          <a:p>
            <a:pPr lvl="1"/>
            <a:r>
              <a:rPr lang="en-US" sz="1400" b="1"/>
              <a:t>Flow_Funding_requestService.</a:t>
            </a:r>
            <a:r>
              <a:rPr lang="en-US" sz="1400" b="1">
                <a:solidFill>
                  <a:srgbClr val="FFFF00"/>
                </a:solidFill>
              </a:rPr>
              <a:t>InsertDocument</a:t>
            </a:r>
            <a:r>
              <a:rPr lang="en-US" sz="1400" b="1"/>
              <a:t> (List&lt;documentsFiles&gt; filesupload, decimal id, List&lt;Flow_Download&gt; OldDocs)</a:t>
            </a:r>
          </a:p>
          <a:p>
            <a:pPr lvl="1"/>
            <a:r>
              <a:rPr lang="en-US" sz="1600" b="1">
                <a:solidFill>
                  <a:schemeClr val="tx1"/>
                </a:solidFill>
              </a:rPr>
              <a:t>The uploaded docs will be  saved  on </a:t>
            </a:r>
            <a:r>
              <a:rPr lang="en-US" sz="1600" b="1">
                <a:solidFill>
                  <a:srgbClr val="FF0000"/>
                </a:solidFill>
              </a:rPr>
              <a:t>TWF</a:t>
            </a:r>
            <a:r>
              <a:rPr lang="en-US" sz="1600" b="1">
                <a:solidFill>
                  <a:schemeClr val="tx1"/>
                </a:solidFill>
              </a:rPr>
              <a:t>.</a:t>
            </a:r>
            <a:r>
              <a:rPr lang="en-US" sz="1600" b="1">
                <a:solidFill>
                  <a:srgbClr val="FFFF00"/>
                </a:solidFill>
              </a:rPr>
              <a:t>TWF_Download table</a:t>
            </a:r>
            <a:endParaRPr lang="en-US" sz="1600" b="1"/>
          </a:p>
          <a:p>
            <a:pPr lvl="1"/>
            <a:endParaRPr lang="en-US" sz="1400" b="1"/>
          </a:p>
          <a:p>
            <a:pPr lvl="1"/>
            <a:endParaRPr lang="en-US" sz="1400" b="1"/>
          </a:p>
          <a:p>
            <a:endParaRPr lang="en-US" sz="1800" b="1"/>
          </a:p>
          <a:p>
            <a:r>
              <a:rPr lang="en-US" sz="1800" b="1"/>
              <a:t>Screen_name</a:t>
            </a:r>
          </a:p>
          <a:p>
            <a:pPr lvl="1"/>
            <a:r>
              <a:rPr lang="en-US" sz="1600" b="1"/>
              <a:t>DG444 : </a:t>
            </a:r>
            <a:r>
              <a:rPr lang="ar-EG" sz="1600" b="1"/>
              <a:t>مستندات الضامن </a:t>
            </a:r>
            <a:r>
              <a:rPr lang="en-US" sz="1600" b="1"/>
              <a:t>	 // Scr_DefCode from </a:t>
            </a:r>
            <a:r>
              <a:rPr lang="en-US" sz="1600" b="1">
                <a:solidFill>
                  <a:srgbClr val="FFC000"/>
                </a:solidFill>
              </a:rPr>
              <a:t>flow_tabs</a:t>
            </a:r>
          </a:p>
          <a:p>
            <a:pPr lvl="1"/>
            <a:r>
              <a:rPr lang="en-US" sz="1600" b="1"/>
              <a:t>DG333 : </a:t>
            </a:r>
            <a:r>
              <a:rPr lang="ar-EG" sz="1600" b="1"/>
              <a:t>مستندات العميل</a:t>
            </a:r>
            <a:r>
              <a:rPr lang="en-US" sz="1600" b="1"/>
              <a:t>     // Scr_DefCode from </a:t>
            </a:r>
            <a:r>
              <a:rPr lang="en-US" sz="1600" b="1">
                <a:solidFill>
                  <a:srgbClr val="FFC000"/>
                </a:solidFill>
              </a:rPr>
              <a:t>flow_tabs</a:t>
            </a:r>
            <a:endParaRPr lang="en-US" sz="1600" b="1"/>
          </a:p>
          <a:p>
            <a:r>
              <a:rPr lang="en-US" sz="1800" b="1"/>
              <a:t>Field_ID</a:t>
            </a:r>
          </a:p>
          <a:p>
            <a:pPr lvl="1"/>
            <a:r>
              <a:rPr lang="en-US" sz="1600" b="1"/>
              <a:t>1000 : </a:t>
            </a:r>
            <a:r>
              <a:rPr lang="ar-EG" sz="1600" b="1"/>
              <a:t>بطاقة الرقم القومي-ضامن </a:t>
            </a:r>
            <a:r>
              <a:rPr lang="en-US" sz="1600" b="1"/>
              <a:t>  // docId  From </a:t>
            </a:r>
            <a:r>
              <a:rPr lang="en-US" sz="1600" b="1">
                <a:solidFill>
                  <a:srgbClr val="FFC000"/>
                </a:solidFill>
              </a:rPr>
              <a:t>types_documents</a:t>
            </a:r>
            <a:r>
              <a:rPr lang="en-US" sz="1600" b="1"/>
              <a:t> </a:t>
            </a:r>
          </a:p>
          <a:p>
            <a:pPr lvl="1"/>
            <a:r>
              <a:rPr lang="en-US" sz="1600" b="1"/>
              <a:t>1       : </a:t>
            </a:r>
            <a:r>
              <a:rPr lang="ar-EG" sz="1600" b="1"/>
              <a:t>بطاقة الرقم القومى</a:t>
            </a:r>
            <a:r>
              <a:rPr lang="en-US" sz="1600" b="1"/>
              <a:t>		// docId from </a:t>
            </a:r>
            <a:r>
              <a:rPr lang="en-US" sz="1600" b="1">
                <a:solidFill>
                  <a:srgbClr val="FFC000"/>
                </a:solidFill>
              </a:rPr>
              <a:t>types_documents </a:t>
            </a:r>
          </a:p>
        </p:txBody>
      </p:sp>
      <p:pic>
        <p:nvPicPr>
          <p:cNvPr id="6" name="Picture 5">
            <a:extLst>
              <a:ext uri="{FF2B5EF4-FFF2-40B4-BE49-F238E27FC236}">
                <a16:creationId xmlns:a16="http://schemas.microsoft.com/office/drawing/2014/main" id="{1C099926-3DEA-8114-7388-6AABB12140C2}"/>
              </a:ext>
            </a:extLst>
          </p:cNvPr>
          <p:cNvPicPr>
            <a:picLocks noChangeAspect="1"/>
          </p:cNvPicPr>
          <p:nvPr/>
        </p:nvPicPr>
        <p:blipFill>
          <a:blip r:embed="rId2"/>
          <a:stretch>
            <a:fillRect/>
          </a:stretch>
        </p:blipFill>
        <p:spPr>
          <a:xfrm>
            <a:off x="209550" y="2280060"/>
            <a:ext cx="10012871" cy="653225"/>
          </a:xfrm>
          <a:prstGeom prst="rect">
            <a:avLst/>
          </a:prstGeom>
        </p:spPr>
      </p:pic>
    </p:spTree>
    <p:extLst>
      <p:ext uri="{BB962C8B-B14F-4D97-AF65-F5344CB8AC3E}">
        <p14:creationId xmlns:p14="http://schemas.microsoft.com/office/powerpoint/2010/main" val="8186417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CC46B-DEF5-4455-CE0D-CBA5022A1FFD}"/>
              </a:ext>
            </a:extLst>
          </p:cNvPr>
          <p:cNvSpPr>
            <a:spLocks noGrp="1"/>
          </p:cNvSpPr>
          <p:nvPr>
            <p:ph type="title"/>
          </p:nvPr>
        </p:nvSpPr>
        <p:spPr>
          <a:xfrm>
            <a:off x="0" y="1"/>
            <a:ext cx="12192000" cy="584200"/>
          </a:xfrm>
        </p:spPr>
        <p:txBody>
          <a:bodyPr>
            <a:normAutofit fontScale="90000"/>
          </a:bodyPr>
          <a:lstStyle/>
          <a:p>
            <a:r>
              <a:rPr lang="en-US" sz="3600" b="1"/>
              <a:t>The uploaded files in this stage</a:t>
            </a:r>
          </a:p>
        </p:txBody>
      </p:sp>
      <p:pic>
        <p:nvPicPr>
          <p:cNvPr id="5" name="Content Placeholder 4">
            <a:extLst>
              <a:ext uri="{FF2B5EF4-FFF2-40B4-BE49-F238E27FC236}">
                <a16:creationId xmlns:a16="http://schemas.microsoft.com/office/drawing/2014/main" id="{D76CF295-7C23-9ED2-EAC9-6B9550CB4AB7}"/>
              </a:ext>
            </a:extLst>
          </p:cNvPr>
          <p:cNvPicPr>
            <a:picLocks noGrp="1" noChangeAspect="1"/>
          </p:cNvPicPr>
          <p:nvPr>
            <p:ph idx="1"/>
          </p:nvPr>
        </p:nvPicPr>
        <p:blipFill>
          <a:blip r:embed="rId2"/>
          <a:stretch>
            <a:fillRect/>
          </a:stretch>
        </p:blipFill>
        <p:spPr>
          <a:xfrm>
            <a:off x="1034509" y="584201"/>
            <a:ext cx="8771460" cy="105833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2303037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22B82-19C2-AF50-6606-C2065C475936}"/>
              </a:ext>
            </a:extLst>
          </p:cNvPr>
          <p:cNvSpPr>
            <a:spLocks noGrp="1"/>
          </p:cNvSpPr>
          <p:nvPr>
            <p:ph type="title"/>
          </p:nvPr>
        </p:nvSpPr>
        <p:spPr>
          <a:xfrm>
            <a:off x="-5324" y="0"/>
            <a:ext cx="12192000" cy="55245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[cont.9]</a:t>
            </a:r>
            <a:endParaRPr lang="en-US" sz="3200"/>
          </a:p>
        </p:txBody>
      </p:sp>
      <p:sp>
        <p:nvSpPr>
          <p:cNvPr id="3" name="Content Placeholder 2">
            <a:extLst>
              <a:ext uri="{FF2B5EF4-FFF2-40B4-BE49-F238E27FC236}">
                <a16:creationId xmlns:a16="http://schemas.microsoft.com/office/drawing/2014/main" id="{48D177F6-EE9F-EF64-46F3-5458301A62F0}"/>
              </a:ext>
            </a:extLst>
          </p:cNvPr>
          <p:cNvSpPr>
            <a:spLocks noGrp="1"/>
          </p:cNvSpPr>
          <p:nvPr>
            <p:ph idx="1"/>
          </p:nvPr>
        </p:nvSpPr>
        <p:spPr>
          <a:xfrm>
            <a:off x="85726" y="552451"/>
            <a:ext cx="12001500" cy="6048374"/>
          </a:xfrm>
        </p:spPr>
        <p:txBody>
          <a:bodyPr>
            <a:normAutofit/>
          </a:bodyPr>
          <a:lstStyle/>
          <a:p>
            <a:r>
              <a:rPr lang="en-US" sz="2600" b="1"/>
              <a:t>TWF.Flow_Customers</a:t>
            </a:r>
          </a:p>
          <a:p>
            <a:pPr lvl="1"/>
            <a:r>
              <a:rPr lang="en-US" sz="2000" b="1"/>
              <a:t>Csutomer fields are filled</a:t>
            </a:r>
          </a:p>
          <a:p>
            <a:pPr lvl="1"/>
            <a:endParaRPr lang="en-US" sz="2000" b="1"/>
          </a:p>
        </p:txBody>
      </p:sp>
    </p:spTree>
    <p:extLst>
      <p:ext uri="{BB962C8B-B14F-4D97-AF65-F5344CB8AC3E}">
        <p14:creationId xmlns:p14="http://schemas.microsoft.com/office/powerpoint/2010/main" val="20935354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6A4B-45E8-E054-30AA-41B509625B82}"/>
              </a:ext>
            </a:extLst>
          </p:cNvPr>
          <p:cNvSpPr>
            <a:spLocks noGrp="1"/>
          </p:cNvSpPr>
          <p:nvPr>
            <p:ph type="title"/>
          </p:nvPr>
        </p:nvSpPr>
        <p:spPr>
          <a:xfrm>
            <a:off x="0" y="0"/>
            <a:ext cx="12191999" cy="97045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CDA55EBE-A62D-458B-C36F-98673DF15EAF}"/>
              </a:ext>
            </a:extLst>
          </p:cNvPr>
          <p:cNvSpPr>
            <a:spLocks noGrp="1"/>
          </p:cNvSpPr>
          <p:nvPr>
            <p:ph idx="1"/>
          </p:nvPr>
        </p:nvSpPr>
        <p:spPr>
          <a:xfrm>
            <a:off x="419100" y="970451"/>
            <a:ext cx="11477625" cy="5382724"/>
          </a:xfrm>
        </p:spPr>
        <p:txBody>
          <a:bodyPr/>
          <a:lstStyle/>
          <a:p>
            <a:r>
              <a:rPr lang="en-US" b="1">
                <a:solidFill>
                  <a:srgbClr val="FFFF00"/>
                </a:solidFill>
              </a:rPr>
              <a:t>TWF</a:t>
            </a:r>
            <a:r>
              <a:rPr lang="en-US"/>
              <a:t>.</a:t>
            </a:r>
            <a:r>
              <a:rPr lang="en-US" b="1">
                <a:solidFill>
                  <a:srgbClr val="00B0F0"/>
                </a:solidFill>
              </a:rPr>
              <a:t>Flow_Funding_Guaranter</a:t>
            </a:r>
          </a:p>
          <a:p>
            <a:pPr lvl="1"/>
            <a:r>
              <a:rPr lang="en-US" b="1"/>
              <a:t>requestId : from request</a:t>
            </a:r>
          </a:p>
          <a:p>
            <a:pPr lvl="1"/>
            <a:r>
              <a:rPr lang="en-US" b="1"/>
              <a:t>guarantorId : from Flow_Customer</a:t>
            </a:r>
          </a:p>
          <a:p>
            <a:endParaRPr lang="en-US" b="1"/>
          </a:p>
          <a:p>
            <a:endParaRPr lang="en-US" b="1"/>
          </a:p>
          <a:p>
            <a:endParaRPr lang="en-US" b="1"/>
          </a:p>
          <a:p>
            <a:endParaRPr lang="en-US" b="1"/>
          </a:p>
        </p:txBody>
      </p:sp>
    </p:spTree>
    <p:extLst>
      <p:ext uri="{BB962C8B-B14F-4D97-AF65-F5344CB8AC3E}">
        <p14:creationId xmlns:p14="http://schemas.microsoft.com/office/powerpoint/2010/main" val="9632509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6253-F525-76C3-5D24-33CE0FAA73CD}"/>
              </a:ext>
            </a:extLst>
          </p:cNvPr>
          <p:cNvSpPr>
            <a:spLocks noGrp="1"/>
          </p:cNvSpPr>
          <p:nvPr>
            <p:ph type="title"/>
          </p:nvPr>
        </p:nvSpPr>
        <p:spPr>
          <a:xfrm>
            <a:off x="913795" y="0"/>
            <a:ext cx="10353762" cy="601133"/>
          </a:xfrm>
        </p:spPr>
        <p:txBody>
          <a:bodyPr>
            <a:normAutofit fontScale="90000"/>
          </a:bodyPr>
          <a:lstStyle/>
          <a:p>
            <a:r>
              <a:rPr lang="en-US"/>
              <a:t>After LO </a:t>
            </a:r>
            <a:r>
              <a:rPr lang="ar-EG"/>
              <a:t>حفظ وإرسال</a:t>
            </a:r>
            <a:endParaRPr lang="en-US"/>
          </a:p>
        </p:txBody>
      </p:sp>
      <p:sp>
        <p:nvSpPr>
          <p:cNvPr id="3" name="Content Placeholder 2">
            <a:extLst>
              <a:ext uri="{FF2B5EF4-FFF2-40B4-BE49-F238E27FC236}">
                <a16:creationId xmlns:a16="http://schemas.microsoft.com/office/drawing/2014/main" id="{06923255-3289-6E8E-D7D0-D69DA289740C}"/>
              </a:ext>
            </a:extLst>
          </p:cNvPr>
          <p:cNvSpPr>
            <a:spLocks noGrp="1"/>
          </p:cNvSpPr>
          <p:nvPr>
            <p:ph idx="1"/>
          </p:nvPr>
        </p:nvSpPr>
        <p:spPr>
          <a:xfrm>
            <a:off x="203200" y="601132"/>
            <a:ext cx="11895667" cy="6142567"/>
          </a:xfrm>
        </p:spPr>
        <p:txBody>
          <a:bodyPr>
            <a:normAutofit/>
          </a:bodyPr>
          <a:lstStyle/>
          <a:p>
            <a:r>
              <a:rPr lang="en-US" b="1">
                <a:solidFill>
                  <a:srgbClr val="FFFF00"/>
                </a:solidFill>
              </a:rPr>
              <a:t>The Funding_request</a:t>
            </a:r>
          </a:p>
          <a:p>
            <a:pPr lvl="1"/>
            <a:r>
              <a:rPr lang="en-US"/>
              <a:t>Status_code:  from </a:t>
            </a:r>
            <a:r>
              <a:rPr lang="en-US" b="1">
                <a:solidFill>
                  <a:srgbClr val="FFC000"/>
                </a:solidFill>
              </a:rPr>
              <a:t>0</a:t>
            </a:r>
            <a:r>
              <a:rPr lang="en-US"/>
              <a:t> [at LO] to </a:t>
            </a:r>
            <a:r>
              <a:rPr lang="en-US" b="1">
                <a:solidFill>
                  <a:srgbClr val="FFC000"/>
                </a:solidFill>
              </a:rPr>
              <a:t>56</a:t>
            </a:r>
            <a:r>
              <a:rPr lang="en-US"/>
              <a:t> // deported to CO</a:t>
            </a:r>
          </a:p>
          <a:p>
            <a:r>
              <a:rPr lang="en-US" b="1">
                <a:solidFill>
                  <a:srgbClr val="FFFF00"/>
                </a:solidFill>
              </a:rPr>
              <a:t>Request_Deportation</a:t>
            </a:r>
          </a:p>
          <a:p>
            <a:pPr lvl="1"/>
            <a:r>
              <a:rPr lang="en-US" b="1"/>
              <a:t>UserId_to = 5642    // from LO UserId to CO UserId</a:t>
            </a:r>
          </a:p>
          <a:p>
            <a:pPr lvl="1"/>
            <a:r>
              <a:rPr lang="en-US" b="1"/>
              <a:t>Name_step_to:	from</a:t>
            </a:r>
            <a:r>
              <a:rPr lang="ar-EG" b="1"/>
              <a:t> </a:t>
            </a:r>
            <a:r>
              <a:rPr lang="ar-EG" b="1">
                <a:solidFill>
                  <a:srgbClr val="FFC000"/>
                </a:solidFill>
              </a:rPr>
              <a:t>طلب تمويل</a:t>
            </a:r>
            <a:r>
              <a:rPr lang="ar-EG" b="1"/>
              <a:t> </a:t>
            </a:r>
            <a:r>
              <a:rPr lang="en-US" b="1"/>
              <a:t> TO</a:t>
            </a:r>
            <a:r>
              <a:rPr lang="ar-EG" b="1"/>
              <a:t> </a:t>
            </a:r>
            <a:r>
              <a:rPr lang="en-US" b="1"/>
              <a:t> </a:t>
            </a:r>
            <a:r>
              <a:rPr lang="ar-EG" b="1">
                <a:solidFill>
                  <a:srgbClr val="FFC000"/>
                </a:solidFill>
              </a:rPr>
              <a:t>مراجعة أولية</a:t>
            </a:r>
            <a:endParaRPr lang="en-US" b="1">
              <a:solidFill>
                <a:srgbClr val="FFC000"/>
              </a:solidFill>
            </a:endParaRPr>
          </a:p>
          <a:p>
            <a:pPr lvl="1"/>
            <a:r>
              <a:rPr lang="en-US" b="1"/>
              <a:t>Code_action (from: Flow_Actions): </a:t>
            </a:r>
            <a:r>
              <a:rPr lang="en-US" sz="2000" b="1"/>
              <a:t>from </a:t>
            </a:r>
            <a:r>
              <a:rPr lang="en-US" sz="2000" b="1">
                <a:solidFill>
                  <a:srgbClr val="FFC000"/>
                </a:solidFill>
              </a:rPr>
              <a:t>null</a:t>
            </a:r>
            <a:r>
              <a:rPr lang="en-US" sz="2000" b="1"/>
              <a:t> to </a:t>
            </a:r>
            <a:r>
              <a:rPr lang="en-US" sz="2000" b="1">
                <a:solidFill>
                  <a:srgbClr val="FFC000"/>
                </a:solidFill>
              </a:rPr>
              <a:t>1</a:t>
            </a:r>
            <a:r>
              <a:rPr lang="en-US" sz="2000" b="1"/>
              <a:t> </a:t>
            </a:r>
            <a:endParaRPr lang="en-US" b="1"/>
          </a:p>
          <a:p>
            <a:pPr lvl="1"/>
            <a:r>
              <a:rPr lang="en-US" b="1"/>
              <a:t>Status_one: from </a:t>
            </a:r>
            <a:r>
              <a:rPr lang="en-US" b="1">
                <a:solidFill>
                  <a:srgbClr val="FFFF00"/>
                </a:solidFill>
              </a:rPr>
              <a:t>Inprocess</a:t>
            </a:r>
            <a:r>
              <a:rPr lang="en-US" b="1"/>
              <a:t> to  </a:t>
            </a:r>
            <a:r>
              <a:rPr lang="en-US" b="1">
                <a:solidFill>
                  <a:srgbClr val="FFC000"/>
                </a:solidFill>
              </a:rPr>
              <a:t>Approved</a:t>
            </a:r>
            <a:r>
              <a:rPr lang="en-US" b="1"/>
              <a:t>  --- means the Name_step_from  : </a:t>
            </a:r>
            <a:r>
              <a:rPr lang="ar-EG" b="1"/>
              <a:t>طلب تمويل</a:t>
            </a:r>
            <a:r>
              <a:rPr lang="en-US" b="1"/>
              <a:t> is approved</a:t>
            </a:r>
          </a:p>
          <a:p>
            <a:pPr lvl="1"/>
            <a:r>
              <a:rPr lang="en-US" b="1"/>
              <a:t>Status_two: from </a:t>
            </a:r>
            <a:r>
              <a:rPr lang="en-US" b="1">
                <a:solidFill>
                  <a:srgbClr val="FFFF00"/>
                </a:solidFill>
              </a:rPr>
              <a:t>R111</a:t>
            </a:r>
            <a:r>
              <a:rPr lang="en-US" b="1"/>
              <a:t> to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en-US" b="1">
              <a:solidFill>
                <a:srgbClr val="FFFF00"/>
              </a:solidFill>
            </a:endParaRPr>
          </a:p>
          <a:p>
            <a:pPr lvl="1"/>
            <a:r>
              <a:rPr lang="en-US" b="1"/>
              <a:t>Date_Assigned: from </a:t>
            </a:r>
            <a:r>
              <a:rPr lang="en-US" b="1">
                <a:solidFill>
                  <a:srgbClr val="FFFF00"/>
                </a:solidFill>
              </a:rPr>
              <a:t>NULL</a:t>
            </a:r>
            <a:r>
              <a:rPr lang="en-US" b="1"/>
              <a:t> to </a:t>
            </a:r>
            <a:r>
              <a:rPr lang="en-US" b="1">
                <a:solidFill>
                  <a:srgbClr val="FFC000"/>
                </a:solidFill>
              </a:rPr>
              <a:t>current datetime</a:t>
            </a:r>
          </a:p>
          <a:p>
            <a:r>
              <a:rPr lang="en-US" b="1">
                <a:solidFill>
                  <a:srgbClr val="FFFF00"/>
                </a:solidFill>
              </a:rPr>
              <a:t>Requests_Log</a:t>
            </a:r>
          </a:p>
          <a:p>
            <a:endParaRPr lang="en-US"/>
          </a:p>
          <a:p>
            <a:pPr lvl="1"/>
            <a:endParaRPr lang="en-US" b="1"/>
          </a:p>
          <a:p>
            <a:pPr lvl="1"/>
            <a:r>
              <a:rPr lang="en-US" b="1"/>
              <a:t>Action_Flag : at first row from NULL to 5 [ </a:t>
            </a:r>
            <a:r>
              <a:rPr lang="ar-EG" b="1"/>
              <a:t>حفظ وإرسال</a:t>
            </a:r>
            <a:r>
              <a:rPr lang="en-US" b="1"/>
              <a:t> ]</a:t>
            </a:r>
          </a:p>
          <a:p>
            <a:pPr lvl="1"/>
            <a:r>
              <a:rPr lang="en-US" b="1"/>
              <a:t>Another record is added with UserId of CO</a:t>
            </a:r>
          </a:p>
        </p:txBody>
      </p:sp>
      <p:pic>
        <p:nvPicPr>
          <p:cNvPr id="5" name="Picture 4">
            <a:extLst>
              <a:ext uri="{FF2B5EF4-FFF2-40B4-BE49-F238E27FC236}">
                <a16:creationId xmlns:a16="http://schemas.microsoft.com/office/drawing/2014/main" id="{DFAD650E-9FED-64E5-83DC-37AED2A121DC}"/>
              </a:ext>
            </a:extLst>
          </p:cNvPr>
          <p:cNvPicPr>
            <a:picLocks noChangeAspect="1"/>
          </p:cNvPicPr>
          <p:nvPr/>
        </p:nvPicPr>
        <p:blipFill>
          <a:blip r:embed="rId2"/>
          <a:stretch>
            <a:fillRect/>
          </a:stretch>
        </p:blipFill>
        <p:spPr>
          <a:xfrm>
            <a:off x="913795" y="4850108"/>
            <a:ext cx="9097862" cy="769642"/>
          </a:xfrm>
          <a:prstGeom prst="rect">
            <a:avLst/>
          </a:prstGeom>
        </p:spPr>
      </p:pic>
    </p:spTree>
    <p:extLst>
      <p:ext uri="{BB962C8B-B14F-4D97-AF65-F5344CB8AC3E}">
        <p14:creationId xmlns:p14="http://schemas.microsoft.com/office/powerpoint/2010/main" val="2924704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p>
        </p:txBody>
      </p:sp>
    </p:spTree>
    <p:extLst>
      <p:ext uri="{BB962C8B-B14F-4D97-AF65-F5344CB8AC3E}">
        <p14:creationId xmlns:p14="http://schemas.microsoft.com/office/powerpoint/2010/main" val="30330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F341B-E257-736A-69A6-9CAC11F895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BF745D-A560-F65F-FFDC-8C72CAD6CD3F}"/>
              </a:ext>
            </a:extLst>
          </p:cNvPr>
          <p:cNvSpPr>
            <a:spLocks noGrp="1"/>
          </p:cNvSpPr>
          <p:nvPr>
            <p:ph type="title"/>
          </p:nvPr>
        </p:nvSpPr>
        <p:spPr>
          <a:xfrm>
            <a:off x="457200" y="2458550"/>
            <a:ext cx="11210925" cy="970450"/>
          </a:xfrm>
        </p:spPr>
        <p:txBody>
          <a:bodyPr>
            <a:normAutofit/>
          </a:bodyPr>
          <a:lstStyle/>
          <a:p>
            <a:r>
              <a:rPr lang="en-US" sz="4400" b="1">
                <a:solidFill>
                  <a:srgbClr val="FF0000"/>
                </a:solidFill>
              </a:rPr>
              <a:t>Start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1858778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2BB91-98CE-6A6A-A990-7656F7DC21F9}"/>
              </a:ext>
            </a:extLst>
          </p:cNvPr>
          <p:cNvSpPr>
            <a:spLocks noGrp="1"/>
          </p:cNvSpPr>
          <p:nvPr>
            <p:ph type="title"/>
          </p:nvPr>
        </p:nvSpPr>
        <p:spPr>
          <a:xfrm>
            <a:off x="913795" y="0"/>
            <a:ext cx="10353762" cy="497150"/>
          </a:xfrm>
        </p:spPr>
        <p:txBody>
          <a:bodyPr>
            <a:normAutofit fontScale="90000"/>
          </a:bodyPr>
          <a:lstStyle/>
          <a:p>
            <a:r>
              <a:rPr lang="en-US" b="1"/>
              <a:t>When CO Opens Funding Request</a:t>
            </a:r>
          </a:p>
        </p:txBody>
      </p:sp>
      <p:sp>
        <p:nvSpPr>
          <p:cNvPr id="3" name="Content Placeholder 2">
            <a:extLst>
              <a:ext uri="{FF2B5EF4-FFF2-40B4-BE49-F238E27FC236}">
                <a16:creationId xmlns:a16="http://schemas.microsoft.com/office/drawing/2014/main" id="{D9EE0995-A5DD-AC4E-353E-B1364B70A2EF}"/>
              </a:ext>
            </a:extLst>
          </p:cNvPr>
          <p:cNvSpPr>
            <a:spLocks noGrp="1"/>
          </p:cNvSpPr>
          <p:nvPr>
            <p:ph idx="1"/>
          </p:nvPr>
        </p:nvSpPr>
        <p:spPr>
          <a:xfrm>
            <a:off x="147484" y="497151"/>
            <a:ext cx="11838039" cy="6257610"/>
          </a:xfrm>
        </p:spPr>
        <p:txBody>
          <a:bodyPr/>
          <a:lstStyle/>
          <a:p>
            <a:endParaRPr lang="en-US"/>
          </a:p>
          <a:p>
            <a:r>
              <a:rPr lang="en-US"/>
              <a:t>Flow_Funding_dataController/GetOne</a:t>
            </a:r>
          </a:p>
          <a:p>
            <a:pPr lvl="1"/>
            <a:r>
              <a:rPr lang="en-US"/>
              <a:t>Flow_Funding_dataService. GetOne</a:t>
            </a:r>
          </a:p>
          <a:p>
            <a:endParaRPr lang="en-US"/>
          </a:p>
        </p:txBody>
      </p:sp>
    </p:spTree>
    <p:extLst>
      <p:ext uri="{BB962C8B-B14F-4D97-AF65-F5344CB8AC3E}">
        <p14:creationId xmlns:p14="http://schemas.microsoft.com/office/powerpoint/2010/main" val="32563299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90605-7D5A-E861-FE0C-BEEBF65E4208}"/>
              </a:ext>
            </a:extLst>
          </p:cNvPr>
          <p:cNvSpPr>
            <a:spLocks noGrp="1"/>
          </p:cNvSpPr>
          <p:nvPr>
            <p:ph type="title"/>
          </p:nvPr>
        </p:nvSpPr>
        <p:spPr>
          <a:xfrm>
            <a:off x="913795" y="1"/>
            <a:ext cx="10353762" cy="462116"/>
          </a:xfrm>
        </p:spPr>
        <p:txBody>
          <a:bodyPr>
            <a:normAutofit fontScale="90000"/>
          </a:bodyPr>
          <a:lstStyle/>
          <a:p>
            <a:r>
              <a:rPr lang="en-US" b="1"/>
              <a:t>When CO click on tab </a:t>
            </a:r>
            <a:r>
              <a:rPr lang="ar-EG" b="1"/>
              <a:t>مراجعة المسئول الأول</a:t>
            </a:r>
            <a:endParaRPr lang="en-US" b="1"/>
          </a:p>
        </p:txBody>
      </p:sp>
      <p:sp>
        <p:nvSpPr>
          <p:cNvPr id="3" name="Content Placeholder 2">
            <a:extLst>
              <a:ext uri="{FF2B5EF4-FFF2-40B4-BE49-F238E27FC236}">
                <a16:creationId xmlns:a16="http://schemas.microsoft.com/office/drawing/2014/main" id="{43A62BFF-3B5F-763E-6A94-66AC171FCDEB}"/>
              </a:ext>
            </a:extLst>
          </p:cNvPr>
          <p:cNvSpPr>
            <a:spLocks noGrp="1"/>
          </p:cNvSpPr>
          <p:nvPr>
            <p:ph idx="1"/>
          </p:nvPr>
        </p:nvSpPr>
        <p:spPr>
          <a:xfrm>
            <a:off x="88490" y="702732"/>
            <a:ext cx="11975691" cy="6061861"/>
          </a:xfrm>
        </p:spPr>
        <p:txBody>
          <a:bodyPr/>
          <a:lstStyle/>
          <a:p>
            <a:r>
              <a:rPr lang="en-US" sz="1800" b="1"/>
              <a:t>Flow_Funding_dataController/PageLoad/{</a:t>
            </a:r>
            <a:r>
              <a:rPr lang="en-US" sz="1800" b="1">
                <a:solidFill>
                  <a:srgbClr val="FFFF00"/>
                </a:solidFill>
              </a:rPr>
              <a:t>Request_id</a:t>
            </a:r>
            <a:r>
              <a:rPr lang="en-US" sz="1800" b="1"/>
              <a:t>}/{</a:t>
            </a:r>
            <a:r>
              <a:rPr lang="en-US" sz="1800" b="1">
                <a:solidFill>
                  <a:srgbClr val="FFFF00"/>
                </a:solidFill>
              </a:rPr>
              <a:t>Scr_DefCode</a:t>
            </a:r>
            <a:r>
              <a:rPr lang="en-US" sz="1800" b="1"/>
              <a:t>}</a:t>
            </a:r>
            <a:endParaRPr lang="ar-EG" sz="1800" b="1"/>
          </a:p>
          <a:p>
            <a:pPr lvl="1"/>
            <a:r>
              <a:rPr lang="en-US" b="1">
                <a:solidFill>
                  <a:srgbClr val="FFFF00"/>
                </a:solidFill>
              </a:rPr>
              <a:t>PageLoadVM Flow_Funding_dataService</a:t>
            </a:r>
            <a:r>
              <a:rPr lang="en-US"/>
              <a:t>.</a:t>
            </a:r>
            <a:r>
              <a:rPr lang="en-US" b="1">
                <a:solidFill>
                  <a:srgbClr val="00B0F0"/>
                </a:solidFill>
              </a:rPr>
              <a:t>PageLoad</a:t>
            </a:r>
            <a:r>
              <a:rPr lang="en-US" b="1"/>
              <a:t>(reqID, Scr_DefCode);</a:t>
            </a:r>
            <a:r>
              <a:rPr lang="ar-EG" b="1"/>
              <a:t> </a:t>
            </a:r>
          </a:p>
          <a:p>
            <a:pPr lvl="2"/>
            <a:r>
              <a:rPr lang="en-US" b="1"/>
              <a:t>Scr_DefCode = CO1010</a:t>
            </a:r>
            <a:endParaRPr lang="en-US"/>
          </a:p>
          <a:p>
            <a:pPr lvl="2"/>
            <a:r>
              <a:rPr lang="en-US" b="1">
                <a:solidFill>
                  <a:srgbClr val="FFFF00"/>
                </a:solidFill>
              </a:rPr>
              <a:t>PageLoadVM.</a:t>
            </a:r>
            <a:r>
              <a:rPr lang="en-US"/>
              <a:t>Tabs </a:t>
            </a:r>
          </a:p>
          <a:p>
            <a:pPr lvl="3"/>
            <a:r>
              <a:rPr lang="en-US" b="1"/>
              <a:t>GetOnlyThisTabs =  { "R111", "C333", "G444", "E555", "D222", "DC333", "DG444", "DE555" };</a:t>
            </a:r>
          </a:p>
          <a:p>
            <a:pPr lvl="3"/>
            <a:r>
              <a:rPr lang="en-US" b="1"/>
              <a:t>PreviousStepsForThisRequest = </a:t>
            </a:r>
            <a:r>
              <a:rPr lang="en-US" sz="1350" b="1"/>
              <a:t>from _</a:t>
            </a:r>
            <a:r>
              <a:rPr lang="en-US" sz="1350" b="1">
                <a:solidFill>
                  <a:srgbClr val="FFFF00"/>
                </a:solidFill>
              </a:rPr>
              <a:t>RequestLog get distict </a:t>
            </a:r>
            <a:r>
              <a:rPr lang="en-US" sz="1350" b="1"/>
              <a:t>Definition_number of the request and add then into GetOnlyThisTabs</a:t>
            </a:r>
            <a:endParaRPr lang="ar-EG" sz="1350" b="1"/>
          </a:p>
          <a:p>
            <a:r>
              <a:rPr lang="en-US"/>
              <a:t>When you select from select input </a:t>
            </a:r>
            <a:r>
              <a:rPr lang="ar-EG"/>
              <a:t>اختر الشاشة</a:t>
            </a:r>
            <a:endParaRPr lang="en-US"/>
          </a:p>
          <a:p>
            <a:pPr lvl="1"/>
            <a:r>
              <a:rPr lang="en-US" b="1">
                <a:solidFill>
                  <a:srgbClr val="FFFF00"/>
                </a:solidFill>
                <a:effectLst/>
              </a:rPr>
              <a:t>Flow_Link_Screen_componentsController</a:t>
            </a:r>
            <a:r>
              <a:rPr lang="en-US" b="1">
                <a:effectLst/>
              </a:rPr>
              <a:t>/GetFields</a:t>
            </a:r>
            <a:r>
              <a:rPr lang="en-US" b="1"/>
              <a:t>/{tabs_code}</a:t>
            </a:r>
          </a:p>
          <a:p>
            <a:pPr lvl="2"/>
            <a:r>
              <a:rPr lang="en-US" b="1">
                <a:solidFill>
                  <a:srgbClr val="00B0F0"/>
                </a:solidFill>
              </a:rPr>
              <a:t>IQueryable&lt;Flow_Screen_components&gt;</a:t>
            </a:r>
            <a:r>
              <a:rPr lang="en-US"/>
              <a:t> </a:t>
            </a:r>
            <a:r>
              <a:rPr lang="en-US" b="1"/>
              <a:t>Flow_Link_Screen_componentsService.GetFields()</a:t>
            </a:r>
            <a:endParaRPr lang="ar-EG" b="1"/>
          </a:p>
          <a:p>
            <a:endParaRPr lang="ar-EG" b="1"/>
          </a:p>
        </p:txBody>
      </p:sp>
    </p:spTree>
    <p:extLst>
      <p:ext uri="{BB962C8B-B14F-4D97-AF65-F5344CB8AC3E}">
        <p14:creationId xmlns:p14="http://schemas.microsoft.com/office/powerpoint/2010/main" val="3323580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6CFAF-AE31-355A-6EA3-FA0EC95AA236}"/>
              </a:ext>
            </a:extLst>
          </p:cNvPr>
          <p:cNvSpPr>
            <a:spLocks noGrp="1"/>
          </p:cNvSpPr>
          <p:nvPr>
            <p:ph type="title"/>
          </p:nvPr>
        </p:nvSpPr>
        <p:spPr>
          <a:xfrm>
            <a:off x="913795" y="0"/>
            <a:ext cx="10353762" cy="970450"/>
          </a:xfrm>
        </p:spPr>
        <p:txBody>
          <a:bodyPr/>
          <a:lstStyle/>
          <a:p>
            <a:r>
              <a:rPr lang="en-US" b="1"/>
              <a:t>When CO click on tab </a:t>
            </a:r>
            <a:r>
              <a:rPr lang="ar-EG" b="1"/>
              <a:t>المستندات</a:t>
            </a:r>
            <a:endParaRPr lang="en-US"/>
          </a:p>
        </p:txBody>
      </p:sp>
      <p:sp>
        <p:nvSpPr>
          <p:cNvPr id="3" name="Content Placeholder 2">
            <a:extLst>
              <a:ext uri="{FF2B5EF4-FFF2-40B4-BE49-F238E27FC236}">
                <a16:creationId xmlns:a16="http://schemas.microsoft.com/office/drawing/2014/main" id="{94CA1D14-49F2-BCD2-A368-E7289CD48278}"/>
              </a:ext>
            </a:extLst>
          </p:cNvPr>
          <p:cNvSpPr>
            <a:spLocks noGrp="1"/>
          </p:cNvSpPr>
          <p:nvPr>
            <p:ph idx="1"/>
          </p:nvPr>
        </p:nvSpPr>
        <p:spPr>
          <a:xfrm>
            <a:off x="142874" y="970450"/>
            <a:ext cx="11953875" cy="5754199"/>
          </a:xfrm>
        </p:spPr>
        <p:txBody>
          <a:bodyPr/>
          <a:lstStyle/>
          <a:p>
            <a:r>
              <a:rPr lang="en-US"/>
              <a:t>Flow_DownloadController/</a:t>
            </a:r>
            <a:r>
              <a:rPr lang="en-US" b="1">
                <a:solidFill>
                  <a:srgbClr val="FFFF00"/>
                </a:solidFill>
              </a:rPr>
              <a:t>GetAllDownloadDocumentsFunding</a:t>
            </a:r>
            <a:r>
              <a:rPr lang="en-US"/>
              <a:t>/{Request_id}</a:t>
            </a:r>
          </a:p>
          <a:p>
            <a:pPr lvl="1"/>
            <a:r>
              <a:rPr lang="en-US" b="1">
                <a:solidFill>
                  <a:srgbClr val="FFFF00"/>
                </a:solidFill>
              </a:rPr>
              <a:t>Flow_DownloadService</a:t>
            </a:r>
            <a:r>
              <a:rPr lang="en-US"/>
              <a:t>. </a:t>
            </a:r>
            <a:r>
              <a:rPr lang="en-US" b="1">
                <a:solidFill>
                  <a:srgbClr val="00B0F0"/>
                </a:solidFill>
              </a:rPr>
              <a:t>GetAllDownloadDocumentsFunding</a:t>
            </a:r>
            <a:r>
              <a:rPr lang="en-US"/>
              <a:t>( </a:t>
            </a:r>
            <a:r>
              <a:rPr lang="en-US" b="1"/>
              <a:t>Request_id </a:t>
            </a:r>
            <a:r>
              <a:rPr lang="en-US"/>
              <a:t>)</a:t>
            </a:r>
          </a:p>
          <a:p>
            <a:endParaRPr lang="en-US"/>
          </a:p>
          <a:p>
            <a:endParaRPr lang="en-US"/>
          </a:p>
          <a:p>
            <a:endParaRPr lang="en-US"/>
          </a:p>
          <a:p>
            <a:endParaRPr lang="en-US"/>
          </a:p>
        </p:txBody>
      </p:sp>
      <p:pic>
        <p:nvPicPr>
          <p:cNvPr id="5" name="Picture 4">
            <a:extLst>
              <a:ext uri="{FF2B5EF4-FFF2-40B4-BE49-F238E27FC236}">
                <a16:creationId xmlns:a16="http://schemas.microsoft.com/office/drawing/2014/main" id="{733157A1-8258-F50D-333D-4BD9DC6987F0}"/>
              </a:ext>
            </a:extLst>
          </p:cNvPr>
          <p:cNvPicPr>
            <a:picLocks noChangeAspect="1"/>
          </p:cNvPicPr>
          <p:nvPr/>
        </p:nvPicPr>
        <p:blipFill>
          <a:blip r:embed="rId2"/>
          <a:stretch>
            <a:fillRect/>
          </a:stretch>
        </p:blipFill>
        <p:spPr>
          <a:xfrm>
            <a:off x="353977" y="1940900"/>
            <a:ext cx="8131245" cy="1813717"/>
          </a:xfrm>
          <a:prstGeom prst="rect">
            <a:avLst/>
          </a:prstGeom>
        </p:spPr>
      </p:pic>
      <p:pic>
        <p:nvPicPr>
          <p:cNvPr id="7" name="Picture 6">
            <a:extLst>
              <a:ext uri="{FF2B5EF4-FFF2-40B4-BE49-F238E27FC236}">
                <a16:creationId xmlns:a16="http://schemas.microsoft.com/office/drawing/2014/main" id="{D7221DAF-456A-1D3F-2AA3-60C8526510B1}"/>
              </a:ext>
            </a:extLst>
          </p:cNvPr>
          <p:cNvPicPr>
            <a:picLocks noChangeAspect="1"/>
          </p:cNvPicPr>
          <p:nvPr/>
        </p:nvPicPr>
        <p:blipFill>
          <a:blip r:embed="rId3"/>
          <a:stretch>
            <a:fillRect/>
          </a:stretch>
        </p:blipFill>
        <p:spPr>
          <a:xfrm>
            <a:off x="353977" y="3847549"/>
            <a:ext cx="8131245" cy="1524132"/>
          </a:xfrm>
          <a:prstGeom prst="rect">
            <a:avLst/>
          </a:prstGeom>
        </p:spPr>
      </p:pic>
    </p:spTree>
    <p:extLst>
      <p:ext uri="{BB962C8B-B14F-4D97-AF65-F5344CB8AC3E}">
        <p14:creationId xmlns:p14="http://schemas.microsoft.com/office/powerpoint/2010/main" val="7705147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AA0FF-B4D8-69AA-F196-F0B4ADE51C93}"/>
              </a:ext>
            </a:extLst>
          </p:cNvPr>
          <p:cNvSpPr>
            <a:spLocks noGrp="1"/>
          </p:cNvSpPr>
          <p:nvPr>
            <p:ph type="title"/>
          </p:nvPr>
        </p:nvSpPr>
        <p:spPr>
          <a:xfrm>
            <a:off x="913795" y="0"/>
            <a:ext cx="10353762" cy="643467"/>
          </a:xfrm>
        </p:spPr>
        <p:txBody>
          <a:bodyPr>
            <a:normAutofit fontScale="90000"/>
          </a:bodyPr>
          <a:lstStyle/>
          <a:p>
            <a:r>
              <a:rPr lang="en-US"/>
              <a:t>When CO click on </a:t>
            </a:r>
            <a:r>
              <a:rPr lang="ar-EG"/>
              <a:t>أسباب الرفض</a:t>
            </a:r>
            <a:r>
              <a:rPr lang="en-US"/>
              <a:t> </a:t>
            </a:r>
          </a:p>
        </p:txBody>
      </p:sp>
      <p:sp>
        <p:nvSpPr>
          <p:cNvPr id="3" name="Content Placeholder 2">
            <a:extLst>
              <a:ext uri="{FF2B5EF4-FFF2-40B4-BE49-F238E27FC236}">
                <a16:creationId xmlns:a16="http://schemas.microsoft.com/office/drawing/2014/main" id="{F39ECB69-2E62-1D39-9EFD-A0C2C61AA525}"/>
              </a:ext>
            </a:extLst>
          </p:cNvPr>
          <p:cNvSpPr>
            <a:spLocks noGrp="1"/>
          </p:cNvSpPr>
          <p:nvPr>
            <p:ph idx="1"/>
          </p:nvPr>
        </p:nvSpPr>
        <p:spPr>
          <a:xfrm>
            <a:off x="118532" y="643467"/>
            <a:ext cx="11997267" cy="6155266"/>
          </a:xfrm>
        </p:spPr>
        <p:txBody>
          <a:bodyPr>
            <a:normAutofit/>
          </a:bodyPr>
          <a:lstStyle/>
          <a:p>
            <a:r>
              <a:rPr lang="en-US" sz="1400" b="1">
                <a:solidFill>
                  <a:srgbClr val="00B0F0"/>
                </a:solidFill>
              </a:rPr>
              <a:t>Flow_Rejections_mainController</a:t>
            </a:r>
            <a:r>
              <a:rPr lang="en-US" sz="1400"/>
              <a:t>/</a:t>
            </a:r>
            <a:r>
              <a:rPr lang="en-US" sz="1400" b="1">
                <a:solidFill>
                  <a:srgbClr val="FFFF00"/>
                </a:solidFill>
              </a:rPr>
              <a:t>GetAllReasonsRejectionByRequest_id</a:t>
            </a:r>
            <a:r>
              <a:rPr lang="en-US" sz="1400" b="1"/>
              <a:t>/{Request_id}</a:t>
            </a:r>
          </a:p>
          <a:p>
            <a:pPr lvl="1"/>
            <a:r>
              <a:rPr lang="en-US" sz="1400" b="1">
                <a:solidFill>
                  <a:srgbClr val="FFC000"/>
                </a:solidFill>
              </a:rPr>
              <a:t>IQueryable&lt;Flow_Rejections_mainFieldVM&gt; </a:t>
            </a:r>
            <a:r>
              <a:rPr lang="en-US" sz="1400" b="1">
                <a:solidFill>
                  <a:srgbClr val="00B050"/>
                </a:solidFill>
              </a:rPr>
              <a:t>Flow_Rejections_mainService</a:t>
            </a:r>
            <a:r>
              <a:rPr lang="en-US" sz="1400" b="1"/>
              <a:t>.</a:t>
            </a:r>
            <a:r>
              <a:rPr lang="en-US" sz="1400" b="1">
                <a:solidFill>
                  <a:srgbClr val="00B0F0"/>
                </a:solidFill>
              </a:rPr>
              <a:t>GetAllReasonsRejectionByRequest_id</a:t>
            </a:r>
            <a:r>
              <a:rPr lang="en-US" sz="1400" b="1"/>
              <a:t> ( Request_id )</a:t>
            </a:r>
          </a:p>
          <a:p>
            <a:endParaRPr lang="en-US" sz="1800" b="1"/>
          </a:p>
          <a:p>
            <a:endParaRPr lang="en-US" sz="1800" b="1"/>
          </a:p>
          <a:p>
            <a:endParaRPr lang="en-US" sz="1800" b="1"/>
          </a:p>
          <a:p>
            <a:endParaRPr lang="en-US" sz="1800" b="1"/>
          </a:p>
        </p:txBody>
      </p:sp>
      <p:pic>
        <p:nvPicPr>
          <p:cNvPr id="5" name="Picture 4">
            <a:extLst>
              <a:ext uri="{FF2B5EF4-FFF2-40B4-BE49-F238E27FC236}">
                <a16:creationId xmlns:a16="http://schemas.microsoft.com/office/drawing/2014/main" id="{B1FF9F35-A0E1-F95A-EBF3-A06247B0E78B}"/>
              </a:ext>
            </a:extLst>
          </p:cNvPr>
          <p:cNvPicPr>
            <a:picLocks noChangeAspect="1"/>
          </p:cNvPicPr>
          <p:nvPr/>
        </p:nvPicPr>
        <p:blipFill>
          <a:blip r:embed="rId2"/>
          <a:stretch>
            <a:fillRect/>
          </a:stretch>
        </p:blipFill>
        <p:spPr>
          <a:xfrm>
            <a:off x="632756" y="1594731"/>
            <a:ext cx="3168777" cy="3794302"/>
          </a:xfrm>
          <a:prstGeom prst="rect">
            <a:avLst/>
          </a:prstGeom>
        </p:spPr>
      </p:pic>
    </p:spTree>
    <p:extLst>
      <p:ext uri="{BB962C8B-B14F-4D97-AF65-F5344CB8AC3E}">
        <p14:creationId xmlns:p14="http://schemas.microsoft.com/office/powerpoint/2010/main" val="27488355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A6EC0-8C73-9F7F-970D-B1055F11CF04}"/>
              </a:ext>
            </a:extLst>
          </p:cNvPr>
          <p:cNvSpPr>
            <a:spLocks noGrp="1"/>
          </p:cNvSpPr>
          <p:nvPr>
            <p:ph type="title"/>
          </p:nvPr>
        </p:nvSpPr>
        <p:spPr>
          <a:xfrm>
            <a:off x="913795" y="0"/>
            <a:ext cx="10353762" cy="657225"/>
          </a:xfrm>
        </p:spPr>
        <p:txBody>
          <a:bodyPr>
            <a:normAutofit fontScale="90000"/>
          </a:bodyPr>
          <a:lstStyle/>
          <a:p>
            <a:r>
              <a:rPr lang="en-US" b="1"/>
              <a:t>When CO at tab </a:t>
            </a:r>
            <a:r>
              <a:rPr lang="ar-EG" b="1"/>
              <a:t>مراجعة المسئول الأول</a:t>
            </a:r>
            <a:r>
              <a:rPr lang="en-US" b="1"/>
              <a:t> </a:t>
            </a:r>
          </a:p>
        </p:txBody>
      </p:sp>
      <p:sp>
        <p:nvSpPr>
          <p:cNvPr id="3" name="Content Placeholder 2">
            <a:extLst>
              <a:ext uri="{FF2B5EF4-FFF2-40B4-BE49-F238E27FC236}">
                <a16:creationId xmlns:a16="http://schemas.microsoft.com/office/drawing/2014/main" id="{57F0992C-AEE0-8787-657D-00DC1BD86218}"/>
              </a:ext>
            </a:extLst>
          </p:cNvPr>
          <p:cNvSpPr>
            <a:spLocks noGrp="1"/>
          </p:cNvSpPr>
          <p:nvPr>
            <p:ph idx="1"/>
          </p:nvPr>
        </p:nvSpPr>
        <p:spPr>
          <a:xfrm>
            <a:off x="190500" y="657225"/>
            <a:ext cx="11887200" cy="6086475"/>
          </a:xfrm>
        </p:spPr>
        <p:txBody>
          <a:bodyPr/>
          <a:lstStyle/>
          <a:p>
            <a:endParaRPr lang="en-US"/>
          </a:p>
          <a:p>
            <a:endParaRPr lang="en-US"/>
          </a:p>
          <a:p>
            <a:endParaRPr lang="en-US"/>
          </a:p>
          <a:p>
            <a:endParaRPr lang="en-US"/>
          </a:p>
          <a:p>
            <a:endParaRPr lang="en-US"/>
          </a:p>
          <a:p>
            <a:endParaRPr lang="en-US"/>
          </a:p>
          <a:p>
            <a:endParaRPr lang="en-US"/>
          </a:p>
          <a:p>
            <a:r>
              <a:rPr lang="en-US"/>
              <a:t>When click on </a:t>
            </a:r>
            <a:r>
              <a:rPr lang="ar-EG"/>
              <a:t>رفض الطلب</a:t>
            </a:r>
            <a:endParaRPr lang="en-US"/>
          </a:p>
          <a:p>
            <a:pPr lvl="1"/>
            <a:r>
              <a:rPr lang="en-US" b="1">
                <a:effectLst/>
              </a:rPr>
              <a:t>Flow_Funding_requestController/ExecuteFieldsRejected</a:t>
            </a:r>
          </a:p>
          <a:p>
            <a:pPr lvl="1"/>
            <a:r>
              <a:rPr lang="en-US" b="1">
                <a:solidFill>
                  <a:srgbClr val="00B0F0"/>
                </a:solidFill>
              </a:rPr>
              <a:t>DeportationVM</a:t>
            </a:r>
            <a:r>
              <a:rPr lang="en-US"/>
              <a:t> </a:t>
            </a:r>
            <a:r>
              <a:rPr lang="en-US" b="1"/>
              <a:t>ExecuteFieldsRejected ( </a:t>
            </a:r>
            <a:r>
              <a:rPr lang="en-US" b="1">
                <a:solidFill>
                  <a:srgbClr val="00B0F0"/>
                </a:solidFill>
              </a:rPr>
              <a:t>DeportationVM</a:t>
            </a:r>
            <a:r>
              <a:rPr lang="en-US" b="1"/>
              <a:t> entity )</a:t>
            </a:r>
          </a:p>
          <a:p>
            <a:pPr lvl="1"/>
            <a:endParaRPr lang="en-US" b="1"/>
          </a:p>
        </p:txBody>
      </p:sp>
      <p:pic>
        <p:nvPicPr>
          <p:cNvPr id="5" name="Picture 4">
            <a:extLst>
              <a:ext uri="{FF2B5EF4-FFF2-40B4-BE49-F238E27FC236}">
                <a16:creationId xmlns:a16="http://schemas.microsoft.com/office/drawing/2014/main" id="{AF6998D9-8F8A-50FA-E797-00370AA12D6B}"/>
              </a:ext>
            </a:extLst>
          </p:cNvPr>
          <p:cNvPicPr>
            <a:picLocks noChangeAspect="1"/>
          </p:cNvPicPr>
          <p:nvPr/>
        </p:nvPicPr>
        <p:blipFill>
          <a:blip r:embed="rId2"/>
          <a:stretch>
            <a:fillRect/>
          </a:stretch>
        </p:blipFill>
        <p:spPr>
          <a:xfrm>
            <a:off x="190500" y="870346"/>
            <a:ext cx="7559695" cy="2758679"/>
          </a:xfrm>
          <a:prstGeom prst="rect">
            <a:avLst/>
          </a:prstGeom>
        </p:spPr>
      </p:pic>
      <p:pic>
        <p:nvPicPr>
          <p:cNvPr id="7" name="Picture 6">
            <a:extLst>
              <a:ext uri="{FF2B5EF4-FFF2-40B4-BE49-F238E27FC236}">
                <a16:creationId xmlns:a16="http://schemas.microsoft.com/office/drawing/2014/main" id="{7E0F4122-76DD-77C0-AB7C-1011DCEADC66}"/>
              </a:ext>
            </a:extLst>
          </p:cNvPr>
          <p:cNvPicPr>
            <a:picLocks noChangeAspect="1"/>
          </p:cNvPicPr>
          <p:nvPr/>
        </p:nvPicPr>
        <p:blipFill>
          <a:blip r:embed="rId3"/>
          <a:stretch>
            <a:fillRect/>
          </a:stretch>
        </p:blipFill>
        <p:spPr>
          <a:xfrm>
            <a:off x="7843077" y="3700462"/>
            <a:ext cx="4158423" cy="2990893"/>
          </a:xfrm>
          <a:prstGeom prst="rect">
            <a:avLst/>
          </a:prstGeom>
        </p:spPr>
      </p:pic>
    </p:spTree>
    <p:extLst>
      <p:ext uri="{BB962C8B-B14F-4D97-AF65-F5344CB8AC3E}">
        <p14:creationId xmlns:p14="http://schemas.microsoft.com/office/powerpoint/2010/main" val="1764680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51E6-84DA-A11C-7CA6-EFAA8318AE03}"/>
              </a:ext>
            </a:extLst>
          </p:cNvPr>
          <p:cNvSpPr>
            <a:spLocks noGrp="1"/>
          </p:cNvSpPr>
          <p:nvPr>
            <p:ph type="title"/>
          </p:nvPr>
        </p:nvSpPr>
        <p:spPr>
          <a:xfrm>
            <a:off x="919119" y="31242"/>
            <a:ext cx="10353762" cy="696891"/>
          </a:xfrm>
        </p:spPr>
        <p:txBody>
          <a:bodyPr>
            <a:normAutofit fontScale="90000"/>
          </a:bodyPr>
          <a:lstStyle/>
          <a:p>
            <a:r>
              <a:rPr lang="en-US" b="1"/>
              <a:t>When CO at tab </a:t>
            </a:r>
            <a:r>
              <a:rPr lang="ar-EG" b="1"/>
              <a:t>مراجعة المسئول الأول</a:t>
            </a:r>
            <a:r>
              <a:rPr lang="en-US" b="1"/>
              <a:t>  [ cont.]</a:t>
            </a:r>
          </a:p>
        </p:txBody>
      </p:sp>
      <p:sp>
        <p:nvSpPr>
          <p:cNvPr id="3" name="Content Placeholder 2">
            <a:extLst>
              <a:ext uri="{FF2B5EF4-FFF2-40B4-BE49-F238E27FC236}">
                <a16:creationId xmlns:a16="http://schemas.microsoft.com/office/drawing/2014/main" id="{226B7F0C-8BDF-D83C-0100-7A86ACE7A731}"/>
              </a:ext>
            </a:extLst>
          </p:cNvPr>
          <p:cNvSpPr>
            <a:spLocks noGrp="1"/>
          </p:cNvSpPr>
          <p:nvPr>
            <p:ph idx="1"/>
          </p:nvPr>
        </p:nvSpPr>
        <p:spPr>
          <a:xfrm>
            <a:off x="78926" y="728132"/>
            <a:ext cx="12113074" cy="5994401"/>
          </a:xfrm>
        </p:spPr>
        <p:txBody>
          <a:bodyPr>
            <a:normAutofit fontScale="92500" lnSpcReduction="20000"/>
          </a:bodyPr>
          <a:lstStyle/>
          <a:p>
            <a:r>
              <a:rPr lang="en-US" sz="2800" b="1">
                <a:solidFill>
                  <a:srgbClr val="FF0000"/>
                </a:solidFill>
              </a:rPr>
              <a:t>After request is rejected via CO </a:t>
            </a:r>
            <a:r>
              <a:rPr lang="ar-EG" sz="2800" b="1">
                <a:solidFill>
                  <a:srgbClr val="FF0000"/>
                </a:solidFill>
              </a:rPr>
              <a:t>رفض</a:t>
            </a:r>
            <a:endParaRPr lang="en-US" sz="2800" b="1">
              <a:solidFill>
                <a:srgbClr val="00B0F0"/>
              </a:solidFill>
            </a:endParaRPr>
          </a:p>
          <a:p>
            <a:r>
              <a:rPr lang="en-US" b="1">
                <a:solidFill>
                  <a:srgbClr val="FFFF00"/>
                </a:solidFill>
              </a:rPr>
              <a:t>TDWF</a:t>
            </a:r>
            <a:r>
              <a:rPr lang="en-US" b="1"/>
              <a:t>.</a:t>
            </a:r>
            <a:r>
              <a:rPr lang="en-US" b="1">
                <a:solidFill>
                  <a:srgbClr val="FFC000"/>
                </a:solidFill>
              </a:rPr>
              <a:t>Flow_Rejections_main</a:t>
            </a:r>
          </a:p>
          <a:p>
            <a:pPr lvl="1"/>
            <a:r>
              <a:rPr lang="en-US" b="1">
                <a:solidFill>
                  <a:srgbClr val="FFFF00"/>
                </a:solidFill>
              </a:rPr>
              <a:t>UserId</a:t>
            </a:r>
            <a:r>
              <a:rPr lang="en-US" b="1"/>
              <a:t>: the CO id who reject the request</a:t>
            </a:r>
          </a:p>
          <a:p>
            <a:pPr lvl="1"/>
            <a:r>
              <a:rPr lang="en-US" b="1">
                <a:solidFill>
                  <a:srgbClr val="FFFF00"/>
                </a:solidFill>
              </a:rPr>
              <a:t>Reject_by_phase</a:t>
            </a:r>
            <a:r>
              <a:rPr lang="en-US" b="1"/>
              <a:t>: CO1010 // The stage at which the request was rejected</a:t>
            </a:r>
            <a:endParaRPr lang="ar-EG" b="1"/>
          </a:p>
          <a:p>
            <a:pPr lvl="1"/>
            <a:r>
              <a:rPr lang="en-US" b="1">
                <a:solidFill>
                  <a:srgbClr val="FFFF00"/>
                </a:solidFill>
              </a:rPr>
              <a:t>RequestId</a:t>
            </a:r>
            <a:r>
              <a:rPr lang="en-US" b="1"/>
              <a:t>: the request </a:t>
            </a:r>
          </a:p>
          <a:p>
            <a:pPr lvl="1"/>
            <a:r>
              <a:rPr lang="en-US" b="1">
                <a:solidFill>
                  <a:srgbClr val="FFFF00"/>
                </a:solidFill>
              </a:rPr>
              <a:t>Remarks</a:t>
            </a:r>
            <a:r>
              <a:rPr lang="en-US" b="1"/>
              <a:t>: </a:t>
            </a:r>
            <a:r>
              <a:rPr lang="ar-EG" b="1"/>
              <a:t>تم الرفض من مرحلة المراجعة الأولية</a:t>
            </a:r>
            <a:endParaRPr lang="en-US" b="1"/>
          </a:p>
          <a:p>
            <a:pPr lvl="1"/>
            <a:r>
              <a:rPr lang="en-US" b="1">
                <a:solidFill>
                  <a:srgbClr val="FFFF00"/>
                </a:solidFill>
              </a:rPr>
              <a:t>InsertDate</a:t>
            </a:r>
            <a:r>
              <a:rPr lang="en-US" b="1"/>
              <a:t>: date</a:t>
            </a:r>
          </a:p>
          <a:p>
            <a:pPr lvl="1"/>
            <a:r>
              <a:rPr lang="en-US" b="1">
                <a:solidFill>
                  <a:srgbClr val="FFFF00"/>
                </a:solidFill>
              </a:rPr>
              <a:t>Rejection_flag</a:t>
            </a:r>
            <a:r>
              <a:rPr lang="en-US" b="1"/>
              <a:t>: 2 </a:t>
            </a:r>
          </a:p>
          <a:p>
            <a:r>
              <a:rPr lang="en-US" b="1">
                <a:solidFill>
                  <a:srgbClr val="FFFF00"/>
                </a:solidFill>
              </a:rPr>
              <a:t>TDWF</a:t>
            </a:r>
            <a:r>
              <a:rPr lang="en-US"/>
              <a:t>.</a:t>
            </a:r>
            <a:r>
              <a:rPr lang="en-US" sz="2200" b="1">
                <a:solidFill>
                  <a:srgbClr val="FFC000"/>
                </a:solidFill>
              </a:rPr>
              <a:t>Flow_Rejections_SubOne</a:t>
            </a:r>
          </a:p>
          <a:p>
            <a:pPr lvl="1"/>
            <a:r>
              <a:rPr lang="en-US" b="1">
                <a:solidFill>
                  <a:srgbClr val="FFFF00"/>
                </a:solidFill>
              </a:rPr>
              <a:t>FRSO_ID</a:t>
            </a:r>
            <a:r>
              <a:rPr lang="en-US"/>
              <a:t> </a:t>
            </a:r>
            <a:r>
              <a:rPr lang="en-US" b="1"/>
              <a:t>[PK]</a:t>
            </a:r>
          </a:p>
          <a:p>
            <a:pPr lvl="1"/>
            <a:r>
              <a:rPr lang="en-US" b="1">
                <a:solidFill>
                  <a:srgbClr val="FFFF00"/>
                </a:solidFill>
              </a:rPr>
              <a:t>tabs_code</a:t>
            </a:r>
            <a:r>
              <a:rPr lang="en-US" b="1"/>
              <a:t> [FK] </a:t>
            </a:r>
            <a:r>
              <a:rPr lang="en-US" b="1">
                <a:solidFill>
                  <a:srgbClr val="FFFF00"/>
                </a:solidFill>
              </a:rPr>
              <a:t>from Flow_Tabs</a:t>
            </a:r>
          </a:p>
          <a:p>
            <a:pPr lvl="1"/>
            <a:r>
              <a:rPr lang="en-US" b="1">
                <a:solidFill>
                  <a:srgbClr val="FFFF00"/>
                </a:solidFill>
              </a:rPr>
              <a:t>Field_name</a:t>
            </a:r>
          </a:p>
          <a:p>
            <a:pPr lvl="1"/>
            <a:r>
              <a:rPr lang="en-US" b="1">
                <a:solidFill>
                  <a:srgbClr val="FFFF00"/>
                </a:solidFill>
              </a:rPr>
              <a:t>Field_code</a:t>
            </a:r>
          </a:p>
          <a:p>
            <a:pPr lvl="1"/>
            <a:r>
              <a:rPr lang="en-US" b="1">
                <a:solidFill>
                  <a:srgbClr val="FFFF00"/>
                </a:solidFill>
              </a:rPr>
              <a:t>UserId</a:t>
            </a:r>
            <a:r>
              <a:rPr lang="en-US" b="1"/>
              <a:t>: LO User who will receive the rejection</a:t>
            </a:r>
          </a:p>
          <a:p>
            <a:pPr lvl="1"/>
            <a:r>
              <a:rPr lang="en-US" b="1">
                <a:solidFill>
                  <a:srgbClr val="FFFF00"/>
                </a:solidFill>
              </a:rPr>
              <a:t>Phase_back_to</a:t>
            </a:r>
            <a:r>
              <a:rPr lang="en-US" b="1"/>
              <a:t>: string </a:t>
            </a:r>
          </a:p>
          <a:p>
            <a:pPr lvl="1"/>
            <a:r>
              <a:rPr lang="en-US" b="1">
                <a:solidFill>
                  <a:srgbClr val="FFFF00"/>
                </a:solidFill>
              </a:rPr>
              <a:t>Comment</a:t>
            </a:r>
            <a:r>
              <a:rPr lang="en-US" b="1"/>
              <a:t>: string</a:t>
            </a:r>
          </a:p>
          <a:p>
            <a:pPr lvl="1"/>
            <a:r>
              <a:rPr lang="en-US" b="1">
                <a:solidFill>
                  <a:srgbClr val="00B0F0"/>
                </a:solidFill>
              </a:rPr>
              <a:t>FRM_ID</a:t>
            </a:r>
            <a:r>
              <a:rPr lang="en-US" b="1"/>
              <a:t> </a:t>
            </a:r>
            <a:r>
              <a:rPr lang="en-US" b="1">
                <a:solidFill>
                  <a:srgbClr val="FFFF00"/>
                </a:solidFill>
              </a:rPr>
              <a:t>[FK] from Flow_Rejection_Main</a:t>
            </a:r>
            <a:endParaRPr lang="en-US" b="1"/>
          </a:p>
          <a:p>
            <a:endParaRPr lang="en-US" b="1"/>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2977439263"/>
              </p:ext>
            </p:extLst>
          </p:nvPr>
        </p:nvGraphicFramePr>
        <p:xfrm>
          <a:off x="5857875" y="2262293"/>
          <a:ext cx="6255199" cy="1463040"/>
        </p:xfrm>
        <a:graphic>
          <a:graphicData uri="http://schemas.openxmlformats.org/drawingml/2006/table">
            <a:tbl>
              <a:tblPr firstRow="1" bandRow="1">
                <a:tableStyleId>{5C22544A-7EE6-4342-B048-85BDC9FD1C3A}</a:tableStyleId>
              </a:tblPr>
              <a:tblGrid>
                <a:gridCol w="794687">
                  <a:extLst>
                    <a:ext uri="{9D8B030D-6E8A-4147-A177-3AD203B41FA5}">
                      <a16:colId xmlns:a16="http://schemas.microsoft.com/office/drawing/2014/main" val="953148366"/>
                    </a:ext>
                  </a:extLst>
                </a:gridCol>
                <a:gridCol w="5460512">
                  <a:extLst>
                    <a:ext uri="{9D8B030D-6E8A-4147-A177-3AD203B41FA5}">
                      <a16:colId xmlns:a16="http://schemas.microsoft.com/office/drawing/2014/main" val="1910439298"/>
                    </a:ext>
                  </a:extLst>
                </a:gridCol>
              </a:tblGrid>
              <a:tr h="33002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22951">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22951">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22951">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pic>
        <p:nvPicPr>
          <p:cNvPr id="6" name="Picture 5">
            <a:extLst>
              <a:ext uri="{FF2B5EF4-FFF2-40B4-BE49-F238E27FC236}">
                <a16:creationId xmlns:a16="http://schemas.microsoft.com/office/drawing/2014/main" id="{E2734B91-4B27-4585-74E9-2E4BCAB5C100}"/>
              </a:ext>
            </a:extLst>
          </p:cNvPr>
          <p:cNvPicPr>
            <a:picLocks noChangeAspect="1"/>
          </p:cNvPicPr>
          <p:nvPr/>
        </p:nvPicPr>
        <p:blipFill>
          <a:blip r:embed="rId2"/>
          <a:stretch>
            <a:fillRect/>
          </a:stretch>
        </p:blipFill>
        <p:spPr>
          <a:xfrm>
            <a:off x="5857875" y="3881150"/>
            <a:ext cx="6255199" cy="744570"/>
          </a:xfrm>
          <a:prstGeom prst="rect">
            <a:avLst/>
          </a:prstGeom>
        </p:spPr>
      </p:pic>
    </p:spTree>
    <p:extLst>
      <p:ext uri="{BB962C8B-B14F-4D97-AF65-F5344CB8AC3E}">
        <p14:creationId xmlns:p14="http://schemas.microsoft.com/office/powerpoint/2010/main" val="16473759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4C9A5-ACA6-3F62-0E99-3199FEA9FE32}"/>
              </a:ext>
            </a:extLst>
          </p:cNvPr>
          <p:cNvSpPr>
            <a:spLocks noGrp="1"/>
          </p:cNvSpPr>
          <p:nvPr>
            <p:ph type="title"/>
          </p:nvPr>
        </p:nvSpPr>
        <p:spPr>
          <a:xfrm>
            <a:off x="161925" y="0"/>
            <a:ext cx="11811000" cy="714375"/>
          </a:xfrm>
        </p:spPr>
        <p:txBody>
          <a:bodyPr/>
          <a:lstStyle/>
          <a:p>
            <a:r>
              <a:rPr lang="en-US" b="1"/>
              <a:t>When CO at tab </a:t>
            </a:r>
            <a:r>
              <a:rPr lang="ar-EG" b="1"/>
              <a:t>مراجعة المسئول الأول</a:t>
            </a:r>
            <a:r>
              <a:rPr lang="en-US" b="1"/>
              <a:t>  [ cont.2]</a:t>
            </a:r>
            <a:endParaRPr lang="en-US"/>
          </a:p>
        </p:txBody>
      </p:sp>
      <p:sp>
        <p:nvSpPr>
          <p:cNvPr id="3" name="Content Placeholder 2">
            <a:extLst>
              <a:ext uri="{FF2B5EF4-FFF2-40B4-BE49-F238E27FC236}">
                <a16:creationId xmlns:a16="http://schemas.microsoft.com/office/drawing/2014/main" id="{0389F2EF-209D-DE21-1689-60751F70E51B}"/>
              </a:ext>
            </a:extLst>
          </p:cNvPr>
          <p:cNvSpPr>
            <a:spLocks noGrp="1"/>
          </p:cNvSpPr>
          <p:nvPr>
            <p:ph idx="1"/>
          </p:nvPr>
        </p:nvSpPr>
        <p:spPr>
          <a:xfrm>
            <a:off x="161924" y="714374"/>
            <a:ext cx="12030075" cy="6143625"/>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r>
              <a:rPr lang="en-US" b="1">
                <a:solidFill>
                  <a:srgbClr val="FF0000"/>
                </a:solidFill>
              </a:rPr>
              <a:t>Flow_Request</a:t>
            </a:r>
          </a:p>
          <a:p>
            <a:pPr lvl="1"/>
            <a:r>
              <a:rPr lang="en-US" sz="1600" b="1">
                <a:solidFill>
                  <a:srgbClr val="FFFF00"/>
                </a:solidFill>
              </a:rPr>
              <a:t>Status_code</a:t>
            </a:r>
            <a:r>
              <a:rPr lang="en-US" sz="1600" b="1">
                <a:solidFill>
                  <a:srgbClr val="FF0000"/>
                </a:solidFill>
              </a:rPr>
              <a:t>:</a:t>
            </a:r>
            <a:r>
              <a:rPr lang="en-US" b="1">
                <a:solidFill>
                  <a:srgbClr val="FF0000"/>
                </a:solidFill>
              </a:rPr>
              <a:t> 56 why it means it still deported at CO but it </a:t>
            </a: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طلب تمويل</a:t>
            </a:r>
          </a:p>
          <a:p>
            <a:pPr lvl="1"/>
            <a:r>
              <a:rPr lang="en-US" sz="1600" b="1">
                <a:solidFill>
                  <a:srgbClr val="FFFF00"/>
                </a:solidFill>
              </a:rPr>
              <a:t>UserIdTO</a:t>
            </a:r>
            <a:r>
              <a:rPr lang="en-US" sz="1600" b="1"/>
              <a:t>: LO </a:t>
            </a:r>
          </a:p>
          <a:p>
            <a:pPr lvl="1"/>
            <a:r>
              <a:rPr lang="en-US" sz="1600" b="1">
                <a:solidFill>
                  <a:srgbClr val="FFFF00"/>
                </a:solidFill>
              </a:rPr>
              <a:t>Status_</a:t>
            </a:r>
            <a:r>
              <a:rPr lang="en-US" sz="1600" b="1"/>
              <a:t>one: reject</a:t>
            </a:r>
          </a:p>
          <a:p>
            <a:pPr lvl="1"/>
            <a:r>
              <a:rPr lang="en-US" sz="1600" b="1">
                <a:solidFill>
                  <a:srgbClr val="FFFF00"/>
                </a:solidFill>
              </a:rPr>
              <a:t>Status_two</a:t>
            </a:r>
            <a:r>
              <a:rPr lang="en-US" sz="1600" b="1"/>
              <a:t>: R111</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0 [ </a:t>
            </a:r>
            <a:r>
              <a:rPr lang="ar-EG" sz="1400" b="1">
                <a:solidFill>
                  <a:srgbClr val="FFC000"/>
                </a:solidFill>
              </a:rPr>
              <a:t>رفض</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LO id</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9CA5A45B-26BE-A242-D303-DD3592A9E702}"/>
              </a:ext>
            </a:extLst>
          </p:cNvPr>
          <p:cNvPicPr>
            <a:picLocks noChangeAspect="1"/>
          </p:cNvPicPr>
          <p:nvPr/>
        </p:nvPicPr>
        <p:blipFill>
          <a:blip r:embed="rId2"/>
          <a:stretch>
            <a:fillRect/>
          </a:stretch>
        </p:blipFill>
        <p:spPr>
          <a:xfrm>
            <a:off x="3637238" y="5770214"/>
            <a:ext cx="8469037" cy="1002061"/>
          </a:xfrm>
          <a:prstGeom prst="rect">
            <a:avLst/>
          </a:prstGeom>
        </p:spPr>
      </p:pic>
    </p:spTree>
    <p:extLst>
      <p:ext uri="{BB962C8B-B14F-4D97-AF65-F5344CB8AC3E}">
        <p14:creationId xmlns:p14="http://schemas.microsoft.com/office/powerpoint/2010/main" val="2266598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1A8F1-ACCD-1998-99E3-BCFF261F6359}"/>
              </a:ext>
            </a:extLst>
          </p:cNvPr>
          <p:cNvSpPr>
            <a:spLocks noGrp="1"/>
          </p:cNvSpPr>
          <p:nvPr>
            <p:ph type="title"/>
          </p:nvPr>
        </p:nvSpPr>
        <p:spPr>
          <a:xfrm>
            <a:off x="913795" y="0"/>
            <a:ext cx="10353762" cy="638175"/>
          </a:xfrm>
        </p:spPr>
        <p:txBody>
          <a:bodyPr>
            <a:normAutofit fontScale="90000"/>
          </a:bodyPr>
          <a:lstStyle/>
          <a:p>
            <a:r>
              <a:rPr lang="en-US" b="1"/>
              <a:t>The Rejected requests at LO </a:t>
            </a:r>
          </a:p>
        </p:txBody>
      </p:sp>
      <p:sp>
        <p:nvSpPr>
          <p:cNvPr id="3" name="Content Placeholder 2">
            <a:extLst>
              <a:ext uri="{FF2B5EF4-FFF2-40B4-BE49-F238E27FC236}">
                <a16:creationId xmlns:a16="http://schemas.microsoft.com/office/drawing/2014/main" id="{1496237D-11BA-8175-2A82-5FFFA4BFB8D4}"/>
              </a:ext>
            </a:extLst>
          </p:cNvPr>
          <p:cNvSpPr>
            <a:spLocks noGrp="1"/>
          </p:cNvSpPr>
          <p:nvPr>
            <p:ph idx="1"/>
          </p:nvPr>
        </p:nvSpPr>
        <p:spPr>
          <a:xfrm>
            <a:off x="219074" y="638175"/>
            <a:ext cx="11839575" cy="6096000"/>
          </a:xfrm>
        </p:spPr>
        <p:txBody>
          <a:bodyPr/>
          <a:lstStyle/>
          <a:p>
            <a:r>
              <a:rPr lang="en-US"/>
              <a:t>When LO open a request from rejected requests</a:t>
            </a:r>
          </a:p>
          <a:p>
            <a:pPr lvl="1"/>
            <a:r>
              <a:rPr lang="en-US"/>
              <a:t>Flow_Funding_requestController/GetAllFundingLoadList/{BranchId}/{UserId}</a:t>
            </a:r>
          </a:p>
          <a:p>
            <a:pPr lvl="1"/>
            <a:r>
              <a:rPr lang="en-US"/>
              <a:t>Flow_Funding_requestController/GetOneFundingRequest/{Request_id}</a:t>
            </a:r>
          </a:p>
          <a:p>
            <a:r>
              <a:rPr lang="en-US"/>
              <a:t>When LO click on tab </a:t>
            </a:r>
            <a:r>
              <a:rPr lang="ar-EG"/>
              <a:t>اسباب الرفض</a:t>
            </a:r>
          </a:p>
          <a:p>
            <a:pPr lvl="1"/>
            <a:r>
              <a:rPr lang="en-US"/>
              <a:t>Flow_Rejections_mainController/</a:t>
            </a:r>
            <a:r>
              <a:rPr lang="en-US" b="1">
                <a:solidFill>
                  <a:srgbClr val="FFFF00"/>
                </a:solidFill>
              </a:rPr>
              <a:t>GetAllReasonsRejectionByRequest_id</a:t>
            </a:r>
            <a:r>
              <a:rPr lang="en-US"/>
              <a:t>/{Request_id}</a:t>
            </a:r>
          </a:p>
          <a:p>
            <a:pPr lvl="1"/>
            <a:endParaRPr lang="ar-EG"/>
          </a:p>
          <a:p>
            <a:endParaRPr lang="en-US"/>
          </a:p>
          <a:p>
            <a:r>
              <a:rPr lang="en-US"/>
              <a:t>When LO click on tab </a:t>
            </a:r>
            <a:r>
              <a:rPr lang="ar-EG"/>
              <a:t>التعليقات</a:t>
            </a:r>
            <a:endParaRPr lang="en-US"/>
          </a:p>
          <a:p>
            <a:pPr lvl="1"/>
            <a:r>
              <a:rPr lang="en-US"/>
              <a:t>Flow_Rejections_mainController/GetAllRejectionCommentsByRequest_id/{Request_id}</a:t>
            </a:r>
            <a:endParaRPr lang="ar-EG"/>
          </a:p>
          <a:p>
            <a:pPr lvl="1"/>
            <a:endParaRPr lang="ar-EG"/>
          </a:p>
          <a:p>
            <a:endParaRPr lang="ar-EG"/>
          </a:p>
          <a:p>
            <a:endParaRPr lang="en-US"/>
          </a:p>
          <a:p>
            <a:endParaRPr lang="en-US"/>
          </a:p>
        </p:txBody>
      </p:sp>
      <p:pic>
        <p:nvPicPr>
          <p:cNvPr id="11" name="Picture 10">
            <a:extLst>
              <a:ext uri="{FF2B5EF4-FFF2-40B4-BE49-F238E27FC236}">
                <a16:creationId xmlns:a16="http://schemas.microsoft.com/office/drawing/2014/main" id="{87E6C6CB-0612-6AF5-6A05-B2C996AF8ED7}"/>
              </a:ext>
            </a:extLst>
          </p:cNvPr>
          <p:cNvPicPr>
            <a:picLocks noChangeAspect="1"/>
          </p:cNvPicPr>
          <p:nvPr/>
        </p:nvPicPr>
        <p:blipFill>
          <a:blip r:embed="rId2"/>
          <a:stretch>
            <a:fillRect/>
          </a:stretch>
        </p:blipFill>
        <p:spPr>
          <a:xfrm>
            <a:off x="306771" y="2745069"/>
            <a:ext cx="9312447" cy="815411"/>
          </a:xfrm>
          <a:prstGeom prst="rect">
            <a:avLst/>
          </a:prstGeom>
        </p:spPr>
      </p:pic>
      <p:pic>
        <p:nvPicPr>
          <p:cNvPr id="13" name="Picture 12">
            <a:extLst>
              <a:ext uri="{FF2B5EF4-FFF2-40B4-BE49-F238E27FC236}">
                <a16:creationId xmlns:a16="http://schemas.microsoft.com/office/drawing/2014/main" id="{8206F191-0068-1FA8-8AB6-60DA7D0D9D54}"/>
              </a:ext>
            </a:extLst>
          </p:cNvPr>
          <p:cNvPicPr>
            <a:picLocks noChangeAspect="1"/>
          </p:cNvPicPr>
          <p:nvPr/>
        </p:nvPicPr>
        <p:blipFill>
          <a:blip r:embed="rId3"/>
          <a:stretch>
            <a:fillRect/>
          </a:stretch>
        </p:blipFill>
        <p:spPr>
          <a:xfrm>
            <a:off x="306771" y="4371000"/>
            <a:ext cx="9243861" cy="914479"/>
          </a:xfrm>
          <a:prstGeom prst="rect">
            <a:avLst/>
          </a:prstGeom>
        </p:spPr>
      </p:pic>
    </p:spTree>
    <p:extLst>
      <p:ext uri="{BB962C8B-B14F-4D97-AF65-F5344CB8AC3E}">
        <p14:creationId xmlns:p14="http://schemas.microsoft.com/office/powerpoint/2010/main" val="32181441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7D577-CA65-D019-B126-B4BC3F9A9259}"/>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36C0EB40-0CD3-EC17-FE17-63523088F6D2}"/>
              </a:ext>
            </a:extLst>
          </p:cNvPr>
          <p:cNvSpPr>
            <a:spLocks noGrp="1"/>
          </p:cNvSpPr>
          <p:nvPr>
            <p:ph idx="1"/>
          </p:nvPr>
        </p:nvSpPr>
        <p:spPr>
          <a:xfrm>
            <a:off x="133350" y="542925"/>
            <a:ext cx="11849100" cy="6134100"/>
          </a:xfrm>
        </p:spPr>
        <p:txBody>
          <a:bodyPr/>
          <a:lstStyle/>
          <a:p>
            <a:r>
              <a:rPr lang="en-US" b="1">
                <a:solidFill>
                  <a:srgbClr val="FF0000"/>
                </a:solidFill>
              </a:rPr>
              <a:t>Flow_Request</a:t>
            </a:r>
          </a:p>
          <a:p>
            <a:pPr lvl="1"/>
            <a:r>
              <a:rPr lang="en-US" sz="1600" b="1">
                <a:solidFill>
                  <a:srgbClr val="FFFF00"/>
                </a:solidFill>
              </a:rPr>
              <a:t>NO change</a:t>
            </a:r>
            <a:endParaRPr lang="en-US" b="1">
              <a:solidFill>
                <a:srgbClr val="FF0000"/>
              </a:solidFill>
            </a:endParaRP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زيارة ميدانية</a:t>
            </a:r>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CO1311 </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1 [</a:t>
            </a:r>
            <a:r>
              <a:rPr lang="ar-EG" sz="1400" b="1">
                <a:solidFill>
                  <a:srgbClr val="FFC000"/>
                </a:solidFill>
              </a:rPr>
              <a:t>قبول</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CO</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682853A9-BCED-1BDF-C973-F640B6F5D2BB}"/>
              </a:ext>
            </a:extLst>
          </p:cNvPr>
          <p:cNvPicPr>
            <a:picLocks noChangeAspect="1"/>
          </p:cNvPicPr>
          <p:nvPr/>
        </p:nvPicPr>
        <p:blipFill>
          <a:blip r:embed="rId2"/>
          <a:stretch>
            <a:fillRect/>
          </a:stretch>
        </p:blipFill>
        <p:spPr>
          <a:xfrm>
            <a:off x="4592696" y="4964385"/>
            <a:ext cx="6948615" cy="1217340"/>
          </a:xfrm>
          <a:prstGeom prst="rect">
            <a:avLst/>
          </a:prstGeom>
        </p:spPr>
      </p:pic>
    </p:spTree>
    <p:extLst>
      <p:ext uri="{BB962C8B-B14F-4D97-AF65-F5344CB8AC3E}">
        <p14:creationId xmlns:p14="http://schemas.microsoft.com/office/powerpoint/2010/main" val="31245144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A15FF-3061-D83A-8C31-44311D56CA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94C84-7B3C-DB38-FA1F-0A332A714585}"/>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918611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C5C0A-74B9-69D7-5583-20207D7ED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98F644-B176-F5D3-AF45-CBC79F9C4549}"/>
              </a:ext>
            </a:extLst>
          </p:cNvPr>
          <p:cNvSpPr>
            <a:spLocks noGrp="1"/>
          </p:cNvSpPr>
          <p:nvPr>
            <p:ph type="title"/>
          </p:nvPr>
        </p:nvSpPr>
        <p:spPr>
          <a:xfrm>
            <a:off x="1031782" y="2458550"/>
            <a:ext cx="10353762" cy="970450"/>
          </a:xfrm>
        </p:spPr>
        <p:txBody>
          <a:bodyPr>
            <a:normAutofit/>
          </a:bodyPr>
          <a:lstStyle/>
          <a:p>
            <a:r>
              <a:rPr lang="en-US" b="1">
                <a:solidFill>
                  <a:srgbClr val="FF0000"/>
                </a:solidFill>
              </a:rPr>
              <a:t>Start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34132856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A003-7456-A034-2C91-F2FC6D7582E4}"/>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للعميل</a:t>
            </a:r>
            <a:endParaRPr lang="en-US" b="1"/>
          </a:p>
        </p:txBody>
      </p:sp>
      <p:sp>
        <p:nvSpPr>
          <p:cNvPr id="3" name="Content Placeholder 2">
            <a:extLst>
              <a:ext uri="{FF2B5EF4-FFF2-40B4-BE49-F238E27FC236}">
                <a16:creationId xmlns:a16="http://schemas.microsoft.com/office/drawing/2014/main" id="{088A071D-B684-3367-DEB4-34388210BDD2}"/>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VisitCount from Null to 1</a:t>
            </a:r>
          </a:p>
          <a:p>
            <a:endParaRPr lang="ar-EG"/>
          </a:p>
          <a:p>
            <a:endParaRPr lang="en-US"/>
          </a:p>
          <a:p>
            <a:endParaRPr lang="en-US"/>
          </a:p>
          <a:p>
            <a:endParaRPr lang="en-US"/>
          </a:p>
          <a:p>
            <a:r>
              <a:rPr lang="en-US"/>
              <a:t>If </a:t>
            </a:r>
            <a:r>
              <a:rPr lang="en-US" b="1"/>
              <a:t>VisitCount reached to 3 the request will be </a:t>
            </a:r>
            <a:r>
              <a:rPr lang="ar-EG" b="1"/>
              <a:t>رفض نهائي</a:t>
            </a:r>
            <a:endParaRPr lang="en-US"/>
          </a:p>
        </p:txBody>
      </p:sp>
      <p:pic>
        <p:nvPicPr>
          <p:cNvPr id="5" name="Picture 4">
            <a:extLst>
              <a:ext uri="{FF2B5EF4-FFF2-40B4-BE49-F238E27FC236}">
                <a16:creationId xmlns:a16="http://schemas.microsoft.com/office/drawing/2014/main" id="{A8C37974-79C9-20A5-AC2D-838E62257979}"/>
              </a:ext>
            </a:extLst>
          </p:cNvPr>
          <p:cNvPicPr>
            <a:picLocks noChangeAspect="1"/>
          </p:cNvPicPr>
          <p:nvPr/>
        </p:nvPicPr>
        <p:blipFill>
          <a:blip r:embed="rId2"/>
          <a:stretch>
            <a:fillRect/>
          </a:stretch>
        </p:blipFill>
        <p:spPr>
          <a:xfrm>
            <a:off x="5250106" y="2428595"/>
            <a:ext cx="2872989" cy="1729890"/>
          </a:xfrm>
          <a:prstGeom prst="rect">
            <a:avLst/>
          </a:prstGeom>
        </p:spPr>
      </p:pic>
      <p:pic>
        <p:nvPicPr>
          <p:cNvPr id="7" name="Picture 6">
            <a:extLst>
              <a:ext uri="{FF2B5EF4-FFF2-40B4-BE49-F238E27FC236}">
                <a16:creationId xmlns:a16="http://schemas.microsoft.com/office/drawing/2014/main" id="{6FB33D3F-B23C-5EB8-A981-59FCC949E0F3}"/>
              </a:ext>
            </a:extLst>
          </p:cNvPr>
          <p:cNvPicPr>
            <a:picLocks noChangeAspect="1"/>
          </p:cNvPicPr>
          <p:nvPr/>
        </p:nvPicPr>
        <p:blipFill>
          <a:blip r:embed="rId3"/>
          <a:stretch>
            <a:fillRect/>
          </a:stretch>
        </p:blipFill>
        <p:spPr>
          <a:xfrm>
            <a:off x="161925" y="2976452"/>
            <a:ext cx="4054191" cy="1044030"/>
          </a:xfrm>
          <a:prstGeom prst="rect">
            <a:avLst/>
          </a:prstGeom>
        </p:spPr>
      </p:pic>
    </p:spTree>
    <p:extLst>
      <p:ext uri="{BB962C8B-B14F-4D97-AF65-F5344CB8AC3E}">
        <p14:creationId xmlns:p14="http://schemas.microsoft.com/office/powerpoint/2010/main" val="27357227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923897-C7C0-8F83-3B66-4B6FB3797FDB}"/>
              </a:ext>
            </a:extLst>
          </p:cNvPr>
          <p:cNvSpPr>
            <a:spLocks noGrp="1"/>
          </p:cNvSpPr>
          <p:nvPr>
            <p:ph type="title"/>
          </p:nvPr>
        </p:nvSpPr>
        <p:spPr>
          <a:xfrm>
            <a:off x="913795" y="96351"/>
            <a:ext cx="10353762" cy="513250"/>
          </a:xfrm>
        </p:spPr>
        <p:txBody>
          <a:bodyPr>
            <a:noAutofit/>
          </a:bodyPr>
          <a:lstStyle/>
          <a:p>
            <a:r>
              <a:rPr lang="ar-EG" b="1">
                <a:solidFill>
                  <a:srgbClr val="FFFF00"/>
                </a:solidFill>
              </a:rPr>
              <a:t>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C0A0EE21-933B-65E9-41A5-73C82D04B47D}"/>
              </a:ext>
            </a:extLst>
          </p:cNvPr>
          <p:cNvSpPr>
            <a:spLocks noGrp="1"/>
          </p:cNvSpPr>
          <p:nvPr>
            <p:ph idx="1"/>
          </p:nvPr>
        </p:nvSpPr>
        <p:spPr>
          <a:xfrm>
            <a:off x="85725" y="1152527"/>
            <a:ext cx="12020550" cy="5248274"/>
          </a:xfrm>
        </p:spPr>
        <p:txBody>
          <a:bodyPr/>
          <a:lstStyle/>
          <a:p>
            <a:pPr marL="36900" indent="0" algn="ctr">
              <a:buNone/>
            </a:pPr>
            <a:r>
              <a:rPr lang="ar-EG" sz="3200" b="1">
                <a:solidFill>
                  <a:srgbClr val="FFFF00"/>
                </a:solidFill>
              </a:rPr>
              <a:t>بيانات التمويل والعميل</a:t>
            </a:r>
          </a:p>
          <a:p>
            <a:r>
              <a:rPr lang="en-US" b="1"/>
              <a:t>When CO click on </a:t>
            </a:r>
            <a:r>
              <a:rPr lang="ar-EG" b="1"/>
              <a:t>لم يستدل عليه</a:t>
            </a:r>
            <a:r>
              <a:rPr lang="en-US" b="1"/>
              <a:t> </a:t>
            </a:r>
          </a:p>
          <a:p>
            <a:r>
              <a:rPr lang="ar-EG" b="1"/>
              <a:t>بيانات التمويل والعميل</a:t>
            </a:r>
            <a:endParaRPr lang="en-US" b="1"/>
          </a:p>
        </p:txBody>
      </p:sp>
      <p:pic>
        <p:nvPicPr>
          <p:cNvPr id="5" name="Picture 4">
            <a:extLst>
              <a:ext uri="{FF2B5EF4-FFF2-40B4-BE49-F238E27FC236}">
                <a16:creationId xmlns:a16="http://schemas.microsoft.com/office/drawing/2014/main" id="{BBDDE2B9-1B65-96BD-7303-0C3536FF51E4}"/>
              </a:ext>
            </a:extLst>
          </p:cNvPr>
          <p:cNvPicPr>
            <a:picLocks noChangeAspect="1"/>
          </p:cNvPicPr>
          <p:nvPr/>
        </p:nvPicPr>
        <p:blipFill>
          <a:blip r:embed="rId2"/>
          <a:stretch>
            <a:fillRect/>
          </a:stretch>
        </p:blipFill>
        <p:spPr>
          <a:xfrm>
            <a:off x="200024" y="3180684"/>
            <a:ext cx="8271009" cy="2743865"/>
          </a:xfrm>
          <a:prstGeom prst="rect">
            <a:avLst/>
          </a:prstGeom>
        </p:spPr>
      </p:pic>
    </p:spTree>
    <p:extLst>
      <p:ext uri="{BB962C8B-B14F-4D97-AF65-F5344CB8AC3E}">
        <p14:creationId xmlns:p14="http://schemas.microsoft.com/office/powerpoint/2010/main" val="39894065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6BF1C-E005-B043-6632-FB35E1BBF8DE}"/>
              </a:ext>
            </a:extLst>
          </p:cNvPr>
          <p:cNvSpPr>
            <a:spLocks noGrp="1"/>
          </p:cNvSpPr>
          <p:nvPr>
            <p:ph type="title"/>
          </p:nvPr>
        </p:nvSpPr>
        <p:spPr>
          <a:xfrm>
            <a:off x="913795" y="0"/>
            <a:ext cx="10353762" cy="590550"/>
          </a:xfrm>
        </p:spPr>
        <p:txBody>
          <a:bodyPr>
            <a:normAutofit fontScale="90000"/>
          </a:bodyPr>
          <a:lstStyle/>
          <a:p>
            <a:r>
              <a:rPr lang="ar-EG" b="1">
                <a:solidFill>
                  <a:srgbClr val="FFFF00"/>
                </a:solidFill>
              </a:rPr>
              <a:t>الزيارة الميدانية للعميل</a:t>
            </a:r>
            <a:endParaRPr lang="en-US" b="1"/>
          </a:p>
        </p:txBody>
      </p:sp>
      <p:sp>
        <p:nvSpPr>
          <p:cNvPr id="3" name="Content Placeholder 2">
            <a:extLst>
              <a:ext uri="{FF2B5EF4-FFF2-40B4-BE49-F238E27FC236}">
                <a16:creationId xmlns:a16="http://schemas.microsoft.com/office/drawing/2014/main" id="{F82B91BF-32FD-68EB-53DB-11A965D1D544}"/>
              </a:ext>
            </a:extLst>
          </p:cNvPr>
          <p:cNvSpPr>
            <a:spLocks noGrp="1"/>
          </p:cNvSpPr>
          <p:nvPr>
            <p:ph idx="1"/>
          </p:nvPr>
        </p:nvSpPr>
        <p:spPr>
          <a:xfrm>
            <a:off x="85725" y="590551"/>
            <a:ext cx="12001500" cy="6162674"/>
          </a:xfrm>
        </p:spPr>
        <p:txBody>
          <a:bodyPr/>
          <a:lstStyle/>
          <a:p>
            <a:pPr marL="36900" indent="0" algn="ctr">
              <a:buNone/>
            </a:pPr>
            <a:r>
              <a:rPr lang="ar-EG" sz="2800" b="1">
                <a:effectLst/>
              </a:rPr>
              <a:t>القرار الائتماني</a:t>
            </a:r>
            <a:endParaRPr lang="en-US" sz="2800" b="1">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r>
              <a:rPr lang="en-US" b="1">
                <a:effectLst/>
              </a:rPr>
              <a:t>After fill </a:t>
            </a:r>
            <a:r>
              <a:rPr lang="ar-EG" b="1">
                <a:effectLst/>
              </a:rPr>
              <a:t>المبلغ الموصي به و عدد الشهور</a:t>
            </a:r>
            <a:endParaRPr lang="en-US" b="1">
              <a:effectLst/>
            </a:endParaRPr>
          </a:p>
          <a:p>
            <a:pPr lvl="1"/>
            <a:r>
              <a:rPr lang="en-US" b="1">
                <a:effectLst/>
              </a:rPr>
              <a:t>Flow_repayment_cycleController/GetOne</a:t>
            </a:r>
            <a:r>
              <a:rPr lang="en-US" b="1"/>
              <a:t>/{FRC_Id}</a:t>
            </a:r>
            <a:endParaRPr lang="ar-EG" b="1"/>
          </a:p>
          <a:p>
            <a:pPr lvl="2"/>
            <a:r>
              <a:rPr lang="en-US" sz="1800" b="1"/>
              <a:t>IFlow_repayment_cycleService. GetOne(FRC_Id)</a:t>
            </a:r>
          </a:p>
          <a:p>
            <a:endParaRPr lang="ar-EG"/>
          </a:p>
          <a:p>
            <a:endParaRPr lang="ar-EG"/>
          </a:p>
        </p:txBody>
      </p:sp>
      <p:pic>
        <p:nvPicPr>
          <p:cNvPr id="7" name="Picture 6">
            <a:extLst>
              <a:ext uri="{FF2B5EF4-FFF2-40B4-BE49-F238E27FC236}">
                <a16:creationId xmlns:a16="http://schemas.microsoft.com/office/drawing/2014/main" id="{5B9FA8EC-156A-0903-C5B4-943914B7E1FC}"/>
              </a:ext>
            </a:extLst>
          </p:cNvPr>
          <p:cNvPicPr>
            <a:picLocks noChangeAspect="1"/>
          </p:cNvPicPr>
          <p:nvPr/>
        </p:nvPicPr>
        <p:blipFill>
          <a:blip r:embed="rId2"/>
          <a:stretch>
            <a:fillRect/>
          </a:stretch>
        </p:blipFill>
        <p:spPr>
          <a:xfrm>
            <a:off x="287398" y="1159580"/>
            <a:ext cx="6332769" cy="685859"/>
          </a:xfrm>
          <a:prstGeom prst="rect">
            <a:avLst/>
          </a:prstGeom>
        </p:spPr>
      </p:pic>
      <p:pic>
        <p:nvPicPr>
          <p:cNvPr id="9" name="Picture 8">
            <a:extLst>
              <a:ext uri="{FF2B5EF4-FFF2-40B4-BE49-F238E27FC236}">
                <a16:creationId xmlns:a16="http://schemas.microsoft.com/office/drawing/2014/main" id="{9FF1923D-8C61-D62B-C360-6DA2DA02EA49}"/>
              </a:ext>
            </a:extLst>
          </p:cNvPr>
          <p:cNvPicPr>
            <a:picLocks noChangeAspect="1"/>
          </p:cNvPicPr>
          <p:nvPr/>
        </p:nvPicPr>
        <p:blipFill>
          <a:blip r:embed="rId3"/>
          <a:stretch>
            <a:fillRect/>
          </a:stretch>
        </p:blipFill>
        <p:spPr>
          <a:xfrm>
            <a:off x="287398" y="1947705"/>
            <a:ext cx="6332769" cy="1828958"/>
          </a:xfrm>
          <a:prstGeom prst="rect">
            <a:avLst/>
          </a:prstGeom>
        </p:spPr>
      </p:pic>
    </p:spTree>
    <p:extLst>
      <p:ext uri="{BB962C8B-B14F-4D97-AF65-F5344CB8AC3E}">
        <p14:creationId xmlns:p14="http://schemas.microsoft.com/office/powerpoint/2010/main" val="3910669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B5036-2F64-0448-307E-A3C523E4DE1C}"/>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467F3233-199C-84C6-FA47-20D4F58CFCD3}"/>
              </a:ext>
            </a:extLst>
          </p:cNvPr>
          <p:cNvSpPr>
            <a:spLocks noGrp="1"/>
          </p:cNvSpPr>
          <p:nvPr>
            <p:ph idx="1"/>
          </p:nvPr>
        </p:nvSpPr>
        <p:spPr>
          <a:xfrm>
            <a:off x="152400" y="666751"/>
            <a:ext cx="11896725" cy="6105524"/>
          </a:xfrm>
        </p:spPr>
        <p:txBody>
          <a:bodyPr/>
          <a:lstStyle/>
          <a:p>
            <a:pPr marL="36900" indent="0" algn="ctr">
              <a:buNone/>
            </a:pPr>
            <a:r>
              <a:rPr lang="ar-EG" sz="3200" b="1">
                <a:solidFill>
                  <a:srgbClr val="FFFF00"/>
                </a:solidFill>
              </a:rPr>
              <a:t>المستندات</a:t>
            </a:r>
            <a:endParaRPr lang="ar-EG"/>
          </a:p>
          <a:p>
            <a:endParaRPr lang="en-US"/>
          </a:p>
        </p:txBody>
      </p:sp>
      <p:pic>
        <p:nvPicPr>
          <p:cNvPr id="5" name="Picture 4">
            <a:extLst>
              <a:ext uri="{FF2B5EF4-FFF2-40B4-BE49-F238E27FC236}">
                <a16:creationId xmlns:a16="http://schemas.microsoft.com/office/drawing/2014/main" id="{4115BA89-B3EC-804F-F921-521DCB7B2453}"/>
              </a:ext>
            </a:extLst>
          </p:cNvPr>
          <p:cNvPicPr>
            <a:picLocks noChangeAspect="1"/>
          </p:cNvPicPr>
          <p:nvPr/>
        </p:nvPicPr>
        <p:blipFill>
          <a:blip r:embed="rId2"/>
          <a:stretch>
            <a:fillRect/>
          </a:stretch>
        </p:blipFill>
        <p:spPr>
          <a:xfrm>
            <a:off x="913795" y="2195381"/>
            <a:ext cx="7734970" cy="1524132"/>
          </a:xfrm>
          <a:prstGeom prst="rect">
            <a:avLst/>
          </a:prstGeom>
        </p:spPr>
      </p:pic>
    </p:spTree>
    <p:extLst>
      <p:ext uri="{BB962C8B-B14F-4D97-AF65-F5344CB8AC3E}">
        <p14:creationId xmlns:p14="http://schemas.microsoft.com/office/powerpoint/2010/main" val="22668770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6C779-4736-AFF9-8D91-CF82D468E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325265-927C-6B28-217A-FD4D08CC320F}"/>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672EC321-3ADD-2486-FE3F-DCD8A4E5D930}"/>
              </a:ext>
            </a:extLst>
          </p:cNvPr>
          <p:cNvSpPr>
            <a:spLocks noGrp="1"/>
          </p:cNvSpPr>
          <p:nvPr>
            <p:ph idx="1"/>
          </p:nvPr>
        </p:nvSpPr>
        <p:spPr>
          <a:xfrm>
            <a:off x="152400" y="666751"/>
            <a:ext cx="11896725" cy="6105524"/>
          </a:xfrm>
        </p:spPr>
        <p:txBody>
          <a:bodyPr/>
          <a:lstStyle/>
          <a:p>
            <a:pPr marL="36900" indent="0" algn="ctr">
              <a:buNone/>
            </a:pPr>
            <a:r>
              <a:rPr lang="ar-EG" sz="2800" b="1">
                <a:solidFill>
                  <a:srgbClr val="FFFF00"/>
                </a:solidFill>
                <a:effectLst/>
              </a:rPr>
              <a:t>الإستعلام الميدانى للعميل</a:t>
            </a:r>
            <a:endParaRPr lang="ar-EG" sz="2800" b="1">
              <a:solidFill>
                <a:srgbClr val="FFFF00"/>
              </a:solidFill>
            </a:endParaRPr>
          </a:p>
          <a:p>
            <a:endParaRPr lang="en-US"/>
          </a:p>
        </p:txBody>
      </p:sp>
      <p:pic>
        <p:nvPicPr>
          <p:cNvPr id="6" name="Picture 5">
            <a:extLst>
              <a:ext uri="{FF2B5EF4-FFF2-40B4-BE49-F238E27FC236}">
                <a16:creationId xmlns:a16="http://schemas.microsoft.com/office/drawing/2014/main" id="{E4C70BA5-5F11-5566-2BF9-B71DDD258857}"/>
              </a:ext>
            </a:extLst>
          </p:cNvPr>
          <p:cNvPicPr>
            <a:picLocks noChangeAspect="1"/>
          </p:cNvPicPr>
          <p:nvPr/>
        </p:nvPicPr>
        <p:blipFill>
          <a:blip r:embed="rId2"/>
          <a:stretch>
            <a:fillRect/>
          </a:stretch>
        </p:blipFill>
        <p:spPr>
          <a:xfrm>
            <a:off x="1763696" y="1455204"/>
            <a:ext cx="7712108" cy="4976291"/>
          </a:xfrm>
          <a:prstGeom prst="rect">
            <a:avLst/>
          </a:prstGeom>
        </p:spPr>
      </p:pic>
    </p:spTree>
    <p:extLst>
      <p:ext uri="{BB962C8B-B14F-4D97-AF65-F5344CB8AC3E}">
        <p14:creationId xmlns:p14="http://schemas.microsoft.com/office/powerpoint/2010/main" val="12239377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B118E-BDBA-8351-5C9D-FF6B2FF0035C}"/>
              </a:ext>
            </a:extLst>
          </p:cNvPr>
          <p:cNvSpPr>
            <a:spLocks noGrp="1"/>
          </p:cNvSpPr>
          <p:nvPr>
            <p:ph type="title"/>
          </p:nvPr>
        </p:nvSpPr>
        <p:spPr>
          <a:xfrm>
            <a:off x="913795" y="0"/>
            <a:ext cx="10353762" cy="685800"/>
          </a:xfrm>
        </p:spPr>
        <p:txBody>
          <a:bodyPr>
            <a:normAutofit fontScale="90000"/>
          </a:bodyPr>
          <a:lstStyle/>
          <a:p>
            <a:r>
              <a:rPr lang="ar-EG" b="1">
                <a:solidFill>
                  <a:srgbClr val="FFFF00"/>
                </a:solidFill>
              </a:rPr>
              <a:t>حفظ جميع بيانات 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5F66CF50-A131-CA1B-8DDF-851740C2174C}"/>
              </a:ext>
            </a:extLst>
          </p:cNvPr>
          <p:cNvSpPr>
            <a:spLocks noGrp="1"/>
          </p:cNvSpPr>
          <p:nvPr>
            <p:ph idx="1"/>
          </p:nvPr>
        </p:nvSpPr>
        <p:spPr>
          <a:xfrm>
            <a:off x="133350" y="685801"/>
            <a:ext cx="11944350" cy="5915024"/>
          </a:xfrm>
        </p:spPr>
        <p:txBody>
          <a:bodyPr/>
          <a:lstStyle/>
          <a:p>
            <a:pPr latinLnBrk="1"/>
            <a:r>
              <a:rPr lang="en-US" b="1">
                <a:solidFill>
                  <a:srgbClr val="FFFF00"/>
                </a:solidFill>
                <a:effectLst/>
              </a:rPr>
              <a:t>Flow_FieldVisits_mainController</a:t>
            </a:r>
            <a:r>
              <a:rPr lang="en-US">
                <a:effectLst/>
              </a:rPr>
              <a:t>/</a:t>
            </a:r>
            <a:r>
              <a:rPr lang="en-US" b="1">
                <a:solidFill>
                  <a:srgbClr val="00B0F0"/>
                </a:solidFill>
                <a:effectLst/>
              </a:rPr>
              <a:t>InsertOrUpdateFlow_FieldVisits_ClientsWithDocuments</a:t>
            </a:r>
          </a:p>
          <a:p>
            <a:endParaRPr lang="en-US"/>
          </a:p>
          <a:p>
            <a:endParaRPr lang="en-US"/>
          </a:p>
          <a:p>
            <a:r>
              <a:rPr lang="en-US"/>
              <a:t>TWF.TWF_Download</a:t>
            </a:r>
          </a:p>
          <a:p>
            <a:pPr lvl="1"/>
            <a:r>
              <a:rPr lang="en-US" b="1"/>
              <a:t>These two records Due to : </a:t>
            </a:r>
            <a:r>
              <a:rPr lang="ar-EG" b="1"/>
              <a:t>الصورة الداخلية والخارجية للمنشأة</a:t>
            </a:r>
            <a:endParaRPr lang="en-US" b="1"/>
          </a:p>
          <a:p>
            <a:pPr lvl="1"/>
            <a:r>
              <a:rPr lang="en-US" b="1"/>
              <a:t>715:  </a:t>
            </a:r>
            <a:r>
              <a:rPr lang="ar-EG" b="1"/>
              <a:t>صورة خارجية للنشاط</a:t>
            </a:r>
            <a:r>
              <a:rPr lang="en-US" b="1"/>
              <a:t> FK from </a:t>
            </a:r>
            <a:r>
              <a:rPr lang="en-US" b="1">
                <a:solidFill>
                  <a:srgbClr val="00B0F0"/>
                </a:solidFill>
              </a:rPr>
              <a:t>Flow_Types_documents</a:t>
            </a:r>
          </a:p>
          <a:p>
            <a:pPr lvl="1"/>
            <a:r>
              <a:rPr lang="en-US" b="1">
                <a:solidFill>
                  <a:srgbClr val="00B0F0"/>
                </a:solidFill>
              </a:rPr>
              <a:t>716: </a:t>
            </a:r>
            <a:r>
              <a:rPr lang="ar-EG" b="1">
                <a:solidFill>
                  <a:srgbClr val="00B0F0"/>
                </a:solidFill>
              </a:rPr>
              <a:t>صورة داخلية للنشاط</a:t>
            </a:r>
          </a:p>
          <a:p>
            <a:pPr lvl="1"/>
            <a:endParaRPr lang="en-US" b="1">
              <a:solidFill>
                <a:srgbClr val="00B0F0"/>
              </a:solidFill>
            </a:endParaRPr>
          </a:p>
        </p:txBody>
      </p:sp>
      <p:pic>
        <p:nvPicPr>
          <p:cNvPr id="5" name="Picture 4">
            <a:extLst>
              <a:ext uri="{FF2B5EF4-FFF2-40B4-BE49-F238E27FC236}">
                <a16:creationId xmlns:a16="http://schemas.microsoft.com/office/drawing/2014/main" id="{C1EFA9A2-87AA-26E1-BD94-DFD7C332E161}"/>
              </a:ext>
            </a:extLst>
          </p:cNvPr>
          <p:cNvPicPr>
            <a:picLocks noChangeAspect="1"/>
          </p:cNvPicPr>
          <p:nvPr/>
        </p:nvPicPr>
        <p:blipFill>
          <a:blip r:embed="rId2"/>
          <a:stretch>
            <a:fillRect/>
          </a:stretch>
        </p:blipFill>
        <p:spPr>
          <a:xfrm>
            <a:off x="200025" y="3962400"/>
            <a:ext cx="10267754" cy="685823"/>
          </a:xfrm>
          <a:prstGeom prst="rect">
            <a:avLst/>
          </a:prstGeom>
        </p:spPr>
      </p:pic>
    </p:spTree>
    <p:extLst>
      <p:ext uri="{BB962C8B-B14F-4D97-AF65-F5344CB8AC3E}">
        <p14:creationId xmlns:p14="http://schemas.microsoft.com/office/powerpoint/2010/main" val="31011444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425531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 </a:t>
            </a:r>
            <a:r>
              <a:rPr lang="ar-EG"/>
              <a:t>نوع السكن</a:t>
            </a:r>
            <a:endParaRPr lang="en-US"/>
          </a:p>
          <a:p>
            <a:pPr lvl="1"/>
            <a:r>
              <a:rPr lang="ar-EG"/>
              <a:t>إيجار جديد, إيجار قديم, تمليك</a:t>
            </a:r>
            <a:endParaRPr lang="en-US"/>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69"/>
            <a:ext cx="5535562" cy="444940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b="1"/>
              <a:t>RecommendedAmount</a:t>
            </a:r>
          </a:p>
          <a:p>
            <a:pPr marL="914400" lvl="1" indent="-457200">
              <a:buFont typeface="Arial" panose="020B0604020202020204" pitchFamily="34" charset="0"/>
              <a:buChar char="•"/>
            </a:pPr>
            <a:r>
              <a:rPr lang="en-US" sz="2000" b="1"/>
              <a:t>Recommend_num_months</a:t>
            </a:r>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premium_amount</a:t>
            </a:r>
            <a:endParaRPr lang="ar-EG" sz="2000" b="1"/>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recommended_total_funding</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42244377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sz="2800" b="1"/>
              <a:t>This table represent </a:t>
            </a:r>
            <a:r>
              <a:rPr lang="ar-EG" sz="2800" b="1"/>
              <a:t>الاستعلام الميداني للعميل والضامن</a:t>
            </a:r>
            <a:endParaRPr lang="en-US" sz="2800" b="1"/>
          </a:p>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6" name="Picture 5">
            <a:extLst>
              <a:ext uri="{FF2B5EF4-FFF2-40B4-BE49-F238E27FC236}">
                <a16:creationId xmlns:a16="http://schemas.microsoft.com/office/drawing/2014/main" id="{96F8F141-4013-6030-5284-56F58F0B79AA}"/>
              </a:ext>
            </a:extLst>
          </p:cNvPr>
          <p:cNvPicPr>
            <a:picLocks noChangeAspect="1"/>
          </p:cNvPicPr>
          <p:nvPr/>
        </p:nvPicPr>
        <p:blipFill>
          <a:blip r:embed="rId2"/>
          <a:stretch>
            <a:fillRect/>
          </a:stretch>
        </p:blipFill>
        <p:spPr>
          <a:xfrm>
            <a:off x="245807" y="5307429"/>
            <a:ext cx="10026493" cy="822984"/>
          </a:xfrm>
          <a:prstGeom prst="rect">
            <a:avLst/>
          </a:prstGeom>
        </p:spPr>
      </p:pic>
    </p:spTree>
    <p:extLst>
      <p:ext uri="{BB962C8B-B14F-4D97-AF65-F5344CB8AC3E}">
        <p14:creationId xmlns:p14="http://schemas.microsoft.com/office/powerpoint/2010/main" val="17265605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9499-9D8D-93F7-BA1A-E4E727ED2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19DD3-4429-FAEA-96CD-BD8537559D55}"/>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4EB0A544-F9F7-64BE-0789-F4172FDF3E2A}"/>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GuarVisitCount from </a:t>
            </a:r>
            <a:r>
              <a:rPr lang="en-US" b="1">
                <a:solidFill>
                  <a:srgbClr val="00B0F0"/>
                </a:solidFill>
              </a:rPr>
              <a:t>Null</a:t>
            </a:r>
            <a:r>
              <a:rPr lang="en-US" b="1"/>
              <a:t> to </a:t>
            </a:r>
            <a:r>
              <a:rPr lang="en-US" b="1">
                <a:solidFill>
                  <a:srgbClr val="00B0F0"/>
                </a:solidFill>
              </a:rPr>
              <a:t>1</a:t>
            </a:r>
          </a:p>
          <a:p>
            <a:endParaRPr lang="ar-EG"/>
          </a:p>
          <a:p>
            <a:endParaRPr lang="en-US"/>
          </a:p>
        </p:txBody>
      </p:sp>
    </p:spTree>
    <p:extLst>
      <p:ext uri="{BB962C8B-B14F-4D97-AF65-F5344CB8AC3E}">
        <p14:creationId xmlns:p14="http://schemas.microsoft.com/office/powerpoint/2010/main" val="1135805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1EE4D-F4A0-478A-94EF-B235A3666B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F8EC7E-12CC-3F6F-81E2-9C8F96ED820F}"/>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ED56D370-78E7-1799-D367-E2034E8A39A3}"/>
              </a:ext>
            </a:extLst>
          </p:cNvPr>
          <p:cNvSpPr>
            <a:spLocks noGrp="1"/>
          </p:cNvSpPr>
          <p:nvPr>
            <p:ph idx="1"/>
          </p:nvPr>
        </p:nvSpPr>
        <p:spPr>
          <a:xfrm>
            <a:off x="95250" y="761999"/>
            <a:ext cx="11934825" cy="5819775"/>
          </a:xfrm>
        </p:spPr>
        <p:txBody>
          <a:bodyPr/>
          <a:lstStyle/>
          <a:p>
            <a:endParaRPr lang="ar-EG"/>
          </a:p>
          <a:p>
            <a:endParaRPr lang="en-US"/>
          </a:p>
        </p:txBody>
      </p:sp>
      <p:pic>
        <p:nvPicPr>
          <p:cNvPr id="5" name="Picture 4">
            <a:extLst>
              <a:ext uri="{FF2B5EF4-FFF2-40B4-BE49-F238E27FC236}">
                <a16:creationId xmlns:a16="http://schemas.microsoft.com/office/drawing/2014/main" id="{3990F507-DCB2-4746-7A00-F7F9632EE384}"/>
              </a:ext>
            </a:extLst>
          </p:cNvPr>
          <p:cNvPicPr>
            <a:picLocks noChangeAspect="1"/>
          </p:cNvPicPr>
          <p:nvPr/>
        </p:nvPicPr>
        <p:blipFill>
          <a:blip r:embed="rId2"/>
          <a:stretch>
            <a:fillRect/>
          </a:stretch>
        </p:blipFill>
        <p:spPr>
          <a:xfrm>
            <a:off x="95250" y="761999"/>
            <a:ext cx="7209145" cy="2766300"/>
          </a:xfrm>
          <a:prstGeom prst="rect">
            <a:avLst/>
          </a:prstGeom>
        </p:spPr>
      </p:pic>
    </p:spTree>
    <p:extLst>
      <p:ext uri="{BB962C8B-B14F-4D97-AF65-F5344CB8AC3E}">
        <p14:creationId xmlns:p14="http://schemas.microsoft.com/office/powerpoint/2010/main" val="16621563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E5B3D-441B-FBC6-1397-DD866A2DF4B5}"/>
              </a:ext>
            </a:extLst>
          </p:cNvPr>
          <p:cNvSpPr>
            <a:spLocks noGrp="1"/>
          </p:cNvSpPr>
          <p:nvPr>
            <p:ph type="title"/>
          </p:nvPr>
        </p:nvSpPr>
        <p:spPr>
          <a:xfrm>
            <a:off x="913795" y="0"/>
            <a:ext cx="10353762" cy="685800"/>
          </a:xfrm>
        </p:spPr>
        <p:txBody>
          <a:bodyPr>
            <a:normAutofit fontScale="90000"/>
          </a:bodyPr>
          <a:lstStyle/>
          <a:p>
            <a:r>
              <a:rPr lang="ar-EG" b="1"/>
              <a:t>الزيارة الميدانية للضامن</a:t>
            </a:r>
            <a:endParaRPr lang="en-US" b="1"/>
          </a:p>
        </p:txBody>
      </p:sp>
      <p:sp>
        <p:nvSpPr>
          <p:cNvPr id="11" name="Content Placeholder 10">
            <a:extLst>
              <a:ext uri="{FF2B5EF4-FFF2-40B4-BE49-F238E27FC236}">
                <a16:creationId xmlns:a16="http://schemas.microsoft.com/office/drawing/2014/main" id="{F3F67EA5-07F1-D2AA-AA16-8FA7DD50AD8E}"/>
              </a:ext>
            </a:extLst>
          </p:cNvPr>
          <p:cNvSpPr>
            <a:spLocks noGrp="1"/>
          </p:cNvSpPr>
          <p:nvPr>
            <p:ph idx="1"/>
          </p:nvPr>
        </p:nvSpPr>
        <p:spPr>
          <a:xfrm>
            <a:off x="913795" y="685801"/>
            <a:ext cx="10353762" cy="5105400"/>
          </a:xfrm>
        </p:spPr>
        <p:txBody>
          <a:bodyPr/>
          <a:lstStyle/>
          <a:p>
            <a:pPr marL="36900" indent="0" algn="ctr">
              <a:buNone/>
            </a:pPr>
            <a:r>
              <a:rPr lang="ar-EG" sz="2800" b="1">
                <a:solidFill>
                  <a:srgbClr val="00B0F0"/>
                </a:solidFill>
              </a:rPr>
              <a:t>الإستعلام الميدانى للضامن</a:t>
            </a:r>
          </a:p>
          <a:p>
            <a:endParaRPr lang="ar-EG" b="1"/>
          </a:p>
          <a:p>
            <a:endParaRPr lang="en-US"/>
          </a:p>
        </p:txBody>
      </p:sp>
      <p:pic>
        <p:nvPicPr>
          <p:cNvPr id="13" name="Picture 12">
            <a:extLst>
              <a:ext uri="{FF2B5EF4-FFF2-40B4-BE49-F238E27FC236}">
                <a16:creationId xmlns:a16="http://schemas.microsoft.com/office/drawing/2014/main" id="{1D96B283-7EA0-E6A2-8DDA-4A8A95C53749}"/>
              </a:ext>
            </a:extLst>
          </p:cNvPr>
          <p:cNvPicPr>
            <a:picLocks noChangeAspect="1"/>
          </p:cNvPicPr>
          <p:nvPr/>
        </p:nvPicPr>
        <p:blipFill>
          <a:blip r:embed="rId2"/>
          <a:stretch>
            <a:fillRect/>
          </a:stretch>
        </p:blipFill>
        <p:spPr>
          <a:xfrm>
            <a:off x="1471050" y="1339741"/>
            <a:ext cx="6606149" cy="4981774"/>
          </a:xfrm>
          <a:prstGeom prst="rect">
            <a:avLst/>
          </a:prstGeom>
        </p:spPr>
      </p:pic>
    </p:spTree>
    <p:extLst>
      <p:ext uri="{BB962C8B-B14F-4D97-AF65-F5344CB8AC3E}">
        <p14:creationId xmlns:p14="http://schemas.microsoft.com/office/powerpoint/2010/main" val="40966486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9B580-A839-92D7-5A02-F3E6200D268C}"/>
              </a:ext>
            </a:extLst>
          </p:cNvPr>
          <p:cNvSpPr>
            <a:spLocks noGrp="1"/>
          </p:cNvSpPr>
          <p:nvPr>
            <p:ph type="title"/>
          </p:nvPr>
        </p:nvSpPr>
        <p:spPr>
          <a:xfrm>
            <a:off x="913795" y="0"/>
            <a:ext cx="10353762" cy="970450"/>
          </a:xfrm>
        </p:spPr>
        <p:txBody>
          <a:bodyPr/>
          <a:lstStyle/>
          <a:p>
            <a:r>
              <a:rPr lang="ar-EG"/>
              <a:t>حفظ جميع بيانات </a:t>
            </a:r>
            <a:r>
              <a:rPr lang="ar-EG" b="1"/>
              <a:t>الزيارة الميدانية للضامن</a:t>
            </a:r>
            <a:endParaRPr lang="en-US"/>
          </a:p>
        </p:txBody>
      </p:sp>
      <p:sp>
        <p:nvSpPr>
          <p:cNvPr id="3" name="Content Placeholder 2">
            <a:extLst>
              <a:ext uri="{FF2B5EF4-FFF2-40B4-BE49-F238E27FC236}">
                <a16:creationId xmlns:a16="http://schemas.microsoft.com/office/drawing/2014/main" id="{4F18C9FC-8977-E3BF-B1E7-664DFC6C3B87}"/>
              </a:ext>
            </a:extLst>
          </p:cNvPr>
          <p:cNvSpPr>
            <a:spLocks noGrp="1"/>
          </p:cNvSpPr>
          <p:nvPr>
            <p:ph idx="1"/>
          </p:nvPr>
        </p:nvSpPr>
        <p:spPr>
          <a:xfrm>
            <a:off x="485775" y="970451"/>
            <a:ext cx="10781782" cy="5401774"/>
          </a:xfrm>
        </p:spPr>
        <p:txBody>
          <a:bodyPr/>
          <a:lstStyle/>
          <a:p>
            <a:r>
              <a:rPr lang="en-US" b="1">
                <a:effectLst/>
              </a:rPr>
              <a:t>Flow_FieldVisits_mainController</a:t>
            </a:r>
            <a:r>
              <a:rPr lang="ar-EG" b="1">
                <a:effectLst/>
              </a:rPr>
              <a:t> </a:t>
            </a:r>
            <a:r>
              <a:rPr lang="en-US" b="1">
                <a:effectLst/>
              </a:rPr>
              <a:t>.InsertOrUpdateFlow_FieldVisits_Guarantor</a:t>
            </a:r>
            <a:endParaRPr lang="en-US" b="1"/>
          </a:p>
        </p:txBody>
      </p:sp>
    </p:spTree>
    <p:extLst>
      <p:ext uri="{BB962C8B-B14F-4D97-AF65-F5344CB8AC3E}">
        <p14:creationId xmlns:p14="http://schemas.microsoft.com/office/powerpoint/2010/main" val="11413640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ar-EG"/>
              <a:t>حفظ جميع بيانات </a:t>
            </a:r>
            <a:r>
              <a:rPr lang="ar-EG" b="1"/>
              <a:t>الزيارة الميدانية للضامن</a:t>
            </a:r>
            <a:endParaRPr lang="en-US" b="1">
              <a:solidFill>
                <a:srgbClr val="FF0000"/>
              </a:solidFill>
            </a:endParaRP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0"/>
            <a:ext cx="11911473" cy="6071419"/>
          </a:xfrm>
        </p:spPr>
        <p:txBody>
          <a:bodyPr>
            <a:normAutofit/>
          </a:bodyPr>
          <a:lstStyle/>
          <a:p>
            <a:r>
              <a:rPr lang="en-US" sz="2800" b="1">
                <a:solidFill>
                  <a:srgbClr val="FFFF00"/>
                </a:solidFill>
              </a:rPr>
              <a:t>TDWF</a:t>
            </a:r>
            <a:r>
              <a:rPr lang="en-US" sz="2800"/>
              <a:t>.</a:t>
            </a:r>
            <a:r>
              <a:rPr lang="en-US" sz="2800" b="1">
                <a:solidFill>
                  <a:srgbClr val="FF0000"/>
                </a:solidFill>
              </a:rPr>
              <a:t>Flow_FieldVisits_Guarantor</a:t>
            </a:r>
            <a:endParaRPr lang="ar-EG" sz="2800">
              <a:solidFill>
                <a:srgbClr val="FF0000"/>
              </a:solidFill>
            </a:endParaRPr>
          </a:p>
          <a:p>
            <a:r>
              <a:rPr lang="en-US" b="1"/>
              <a:t>int FVG_ID</a:t>
            </a:r>
          </a:p>
          <a:p>
            <a:r>
              <a:rPr lang="en-US" b="1"/>
              <a:t>DateTime? Guarantor_visit_date </a:t>
            </a:r>
          </a:p>
          <a:p>
            <a:r>
              <a:rPr lang="en-US" b="1"/>
              <a:t>public string Residence_Type  //StaticList In Front contains Only (1,2,3)</a:t>
            </a:r>
          </a:p>
          <a:p>
            <a:r>
              <a:rPr lang="en-US" b="1"/>
              <a:t>string Address_guarantor </a:t>
            </a:r>
          </a:p>
          <a:p>
            <a:r>
              <a:rPr lang="en-US" b="1"/>
              <a:t>string Job </a:t>
            </a:r>
          </a:p>
          <a:p>
            <a:r>
              <a:rPr lang="en-US" b="1"/>
              <a:t>string WorkDestination </a:t>
            </a:r>
          </a:p>
          <a:p>
            <a:r>
              <a:rPr lang="en-US" b="1"/>
              <a:t>string SalarySource </a:t>
            </a:r>
          </a:p>
          <a:p>
            <a:r>
              <a:rPr lang="en-US" b="1"/>
              <a:t>decimal NetSalary </a:t>
            </a:r>
          </a:p>
          <a:p>
            <a:r>
              <a:rPr lang="en-US" b="1"/>
              <a:t>string CO_Recommendation </a:t>
            </a:r>
          </a:p>
          <a:p>
            <a:r>
              <a:rPr lang="en-US" b="1"/>
              <a:t>decimal? FVM_ID [FK]</a:t>
            </a:r>
          </a:p>
        </p:txBody>
      </p:sp>
      <p:pic>
        <p:nvPicPr>
          <p:cNvPr id="6" name="Picture 5">
            <a:extLst>
              <a:ext uri="{FF2B5EF4-FFF2-40B4-BE49-F238E27FC236}">
                <a16:creationId xmlns:a16="http://schemas.microsoft.com/office/drawing/2014/main" id="{3C4CBC55-2447-DC26-6EF0-4D8D1E52C316}"/>
              </a:ext>
            </a:extLst>
          </p:cNvPr>
          <p:cNvPicPr>
            <a:picLocks noChangeAspect="1"/>
          </p:cNvPicPr>
          <p:nvPr/>
        </p:nvPicPr>
        <p:blipFill>
          <a:blip r:embed="rId2"/>
          <a:stretch>
            <a:fillRect/>
          </a:stretch>
        </p:blipFill>
        <p:spPr>
          <a:xfrm>
            <a:off x="2677032" y="6103869"/>
            <a:ext cx="9372093" cy="502754"/>
          </a:xfrm>
          <a:prstGeom prst="rect">
            <a:avLst/>
          </a:prstGeom>
        </p:spPr>
      </p:pic>
    </p:spTree>
    <p:extLst>
      <p:ext uri="{BB962C8B-B14F-4D97-AF65-F5344CB8AC3E}">
        <p14:creationId xmlns:p14="http://schemas.microsoft.com/office/powerpoint/2010/main" val="12852123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6A6EA-75A1-3F18-82FE-A6AC5F435C84}"/>
              </a:ext>
            </a:extLst>
          </p:cNvPr>
          <p:cNvSpPr>
            <a:spLocks noGrp="1"/>
          </p:cNvSpPr>
          <p:nvPr>
            <p:ph type="title"/>
          </p:nvPr>
        </p:nvSpPr>
        <p:spPr>
          <a:xfrm>
            <a:off x="913795" y="0"/>
            <a:ext cx="10353762" cy="685800"/>
          </a:xfrm>
        </p:spPr>
        <p:txBody>
          <a:bodyPr>
            <a:normAutofit fontScale="90000"/>
          </a:bodyPr>
          <a:lstStyle/>
          <a:p>
            <a:r>
              <a:rPr lang="ar-EG"/>
              <a:t>حفظ جميع بيانات </a:t>
            </a:r>
            <a:r>
              <a:rPr lang="ar-EG" b="1"/>
              <a:t>الزيارة الميدانية للضامن</a:t>
            </a:r>
            <a:endParaRPr lang="en-US"/>
          </a:p>
        </p:txBody>
      </p:sp>
      <p:sp>
        <p:nvSpPr>
          <p:cNvPr id="7" name="Content Placeholder 6">
            <a:extLst>
              <a:ext uri="{FF2B5EF4-FFF2-40B4-BE49-F238E27FC236}">
                <a16:creationId xmlns:a16="http://schemas.microsoft.com/office/drawing/2014/main" id="{B37078BD-E8AA-CCD6-55E1-A59432160B7A}"/>
              </a:ext>
            </a:extLst>
          </p:cNvPr>
          <p:cNvSpPr>
            <a:spLocks noGrp="1"/>
          </p:cNvSpPr>
          <p:nvPr>
            <p:ph idx="1"/>
          </p:nvPr>
        </p:nvSpPr>
        <p:spPr>
          <a:xfrm>
            <a:off x="304800" y="685801"/>
            <a:ext cx="10962757" cy="5105400"/>
          </a:xfrm>
        </p:spPr>
        <p:txBody>
          <a:bodyPr/>
          <a:lstStyle/>
          <a:p>
            <a:r>
              <a:rPr lang="en-US"/>
              <a:t> TDWF.</a:t>
            </a:r>
            <a:r>
              <a:rPr lang="en-US" b="1">
                <a:solidFill>
                  <a:srgbClr val="FF0000"/>
                </a:solidFill>
              </a:rPr>
              <a:t>Flow_FieldVisits_FieldInquiry</a:t>
            </a:r>
            <a:endParaRPr lang="ar-EG" b="1">
              <a:solidFill>
                <a:srgbClr val="FF0000"/>
              </a:solidFill>
            </a:endParaRPr>
          </a:p>
          <a:p>
            <a:pPr lvl="1"/>
            <a:r>
              <a:rPr lang="en-US" b="1"/>
              <a:t>The table that carries the result of </a:t>
            </a:r>
            <a:r>
              <a:rPr lang="ar-EG" b="1"/>
              <a:t>الاستعلام الميداني للعميل والضامن</a:t>
            </a:r>
          </a:p>
          <a:p>
            <a:pPr lvl="1"/>
            <a:endParaRPr lang="ar-EG"/>
          </a:p>
          <a:p>
            <a:endParaRPr lang="en-US"/>
          </a:p>
        </p:txBody>
      </p:sp>
      <p:pic>
        <p:nvPicPr>
          <p:cNvPr id="8" name="Content Placeholder 4">
            <a:extLst>
              <a:ext uri="{FF2B5EF4-FFF2-40B4-BE49-F238E27FC236}">
                <a16:creationId xmlns:a16="http://schemas.microsoft.com/office/drawing/2014/main" id="{24C0D9C3-78C9-8002-3C10-54C0DED73982}"/>
              </a:ext>
            </a:extLst>
          </p:cNvPr>
          <p:cNvPicPr>
            <a:picLocks noChangeAspect="1"/>
          </p:cNvPicPr>
          <p:nvPr/>
        </p:nvPicPr>
        <p:blipFill>
          <a:blip r:embed="rId2"/>
          <a:stretch>
            <a:fillRect/>
          </a:stretch>
        </p:blipFill>
        <p:spPr>
          <a:xfrm>
            <a:off x="795261" y="2878930"/>
            <a:ext cx="9679894" cy="81994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708172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CC2C6-D201-AE0A-4B99-97045789B99B}"/>
              </a:ext>
            </a:extLst>
          </p:cNvPr>
          <p:cNvSpPr>
            <a:spLocks noGrp="1"/>
          </p:cNvSpPr>
          <p:nvPr>
            <p:ph type="title"/>
          </p:nvPr>
        </p:nvSpPr>
        <p:spPr>
          <a:xfrm>
            <a:off x="846062" y="0"/>
            <a:ext cx="10353762" cy="592667"/>
          </a:xfrm>
        </p:spPr>
        <p:txBody>
          <a:bodyPr>
            <a:normAutofit fontScale="90000"/>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E13E4B97-234F-2C54-325A-7AD9C39CB3FB}"/>
              </a:ext>
            </a:extLst>
          </p:cNvPr>
          <p:cNvSpPr>
            <a:spLocks noGrp="1"/>
          </p:cNvSpPr>
          <p:nvPr>
            <p:ph idx="1"/>
          </p:nvPr>
        </p:nvSpPr>
        <p:spPr>
          <a:xfrm>
            <a:off x="203200" y="592667"/>
            <a:ext cx="11658600" cy="5985933"/>
          </a:xfrm>
        </p:spPr>
        <p:txBody>
          <a:bodyPr/>
          <a:lstStyle/>
          <a:p>
            <a:pPr marL="36900" indent="0" algn="ctr">
              <a:buNone/>
            </a:pPr>
            <a:r>
              <a:rPr lang="ar-EG" sz="2400" b="1"/>
              <a:t>تفاصيل الزيارة</a:t>
            </a:r>
            <a:endParaRPr lang="en-US" sz="2400" b="1"/>
          </a:p>
          <a:p>
            <a:endParaRPr lang="en-US"/>
          </a:p>
          <a:p>
            <a:endParaRPr lang="en-US"/>
          </a:p>
          <a:p>
            <a:endParaRPr lang="en-US"/>
          </a:p>
          <a:p>
            <a:endParaRPr lang="en-US"/>
          </a:p>
          <a:p>
            <a:endParaRPr lang="en-US"/>
          </a:p>
          <a:p>
            <a:endParaRPr lang="en-US"/>
          </a:p>
          <a:p>
            <a:r>
              <a:rPr lang="en-US">
                <a:effectLst/>
              </a:rPr>
              <a:t>Flow_FieldVisits_mainController/InserUpdateFlow_FieldVisits_ORG</a:t>
            </a:r>
            <a:endParaRPr lang="en-US"/>
          </a:p>
        </p:txBody>
      </p:sp>
      <p:pic>
        <p:nvPicPr>
          <p:cNvPr id="5" name="Picture 4">
            <a:extLst>
              <a:ext uri="{FF2B5EF4-FFF2-40B4-BE49-F238E27FC236}">
                <a16:creationId xmlns:a16="http://schemas.microsoft.com/office/drawing/2014/main" id="{B68105FF-2AF3-6709-FF0B-371F6D1201A3}"/>
              </a:ext>
            </a:extLst>
          </p:cNvPr>
          <p:cNvPicPr>
            <a:picLocks noChangeAspect="1"/>
          </p:cNvPicPr>
          <p:nvPr/>
        </p:nvPicPr>
        <p:blipFill>
          <a:blip r:embed="rId2"/>
          <a:stretch>
            <a:fillRect/>
          </a:stretch>
        </p:blipFill>
        <p:spPr>
          <a:xfrm>
            <a:off x="704383" y="1057161"/>
            <a:ext cx="10783234" cy="2629128"/>
          </a:xfrm>
          <a:prstGeom prst="rect">
            <a:avLst/>
          </a:prstGeom>
        </p:spPr>
      </p:pic>
    </p:spTree>
    <p:extLst>
      <p:ext uri="{BB962C8B-B14F-4D97-AF65-F5344CB8AC3E}">
        <p14:creationId xmlns:p14="http://schemas.microsoft.com/office/powerpoint/2010/main" val="17250193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89B83-0D3D-2330-602A-2509C1453C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29A5A0-9187-6F61-2E22-B9FD3CD5608B}"/>
              </a:ext>
            </a:extLst>
          </p:cNvPr>
          <p:cNvSpPr>
            <a:spLocks noGrp="1"/>
          </p:cNvSpPr>
          <p:nvPr>
            <p:ph type="title"/>
          </p:nvPr>
        </p:nvSpPr>
        <p:spPr>
          <a:xfrm>
            <a:off x="846062" y="0"/>
            <a:ext cx="10353762" cy="592667"/>
          </a:xfrm>
        </p:spPr>
        <p:txBody>
          <a:bodyPr>
            <a:noAutofit/>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3FC798D1-6BD6-988B-FCB0-B61BCF304190}"/>
              </a:ext>
            </a:extLst>
          </p:cNvPr>
          <p:cNvSpPr>
            <a:spLocks noGrp="1"/>
          </p:cNvSpPr>
          <p:nvPr>
            <p:ph idx="1"/>
          </p:nvPr>
        </p:nvSpPr>
        <p:spPr>
          <a:xfrm>
            <a:off x="66675" y="592667"/>
            <a:ext cx="12125325" cy="6170083"/>
          </a:xfrm>
        </p:spPr>
        <p:txBody>
          <a:bodyPr>
            <a:normAutofit/>
          </a:bodyPr>
          <a:lstStyle/>
          <a:p>
            <a:pPr marL="36900" indent="0" algn="ctr">
              <a:buNone/>
            </a:pPr>
            <a:r>
              <a:rPr lang="ar-EG" sz="2800" b="1">
                <a:solidFill>
                  <a:srgbClr val="FFFF00"/>
                </a:solidFill>
              </a:rPr>
              <a:t>تفاصيل الزيارة</a:t>
            </a:r>
            <a:endParaRPr lang="en-US" sz="2800" b="1">
              <a:solidFill>
                <a:srgbClr val="FFFF00"/>
              </a:solidFill>
            </a:endParaRPr>
          </a:p>
          <a:p>
            <a:r>
              <a:rPr lang="en-US" sz="2400" b="1">
                <a:solidFill>
                  <a:srgbClr val="FFFF00"/>
                </a:solidFill>
              </a:rPr>
              <a:t>TDWF</a:t>
            </a:r>
            <a:r>
              <a:rPr lang="en-US" sz="2400" b="1"/>
              <a:t>.</a:t>
            </a:r>
            <a:r>
              <a:rPr lang="en-US" sz="2400" b="1">
                <a:solidFill>
                  <a:srgbClr val="FF0000"/>
                </a:solidFill>
              </a:rPr>
              <a:t>Flow_FieldVisits_Organization</a:t>
            </a:r>
            <a:endParaRPr lang="en-US" sz="2400" b="1"/>
          </a:p>
          <a:p>
            <a:r>
              <a:rPr lang="en-US" sz="1800" b="1"/>
              <a:t>int FVORG_ID [ PK ]</a:t>
            </a:r>
          </a:p>
          <a:p>
            <a:r>
              <a:rPr lang="en-US" sz="1800" b="1"/>
              <a:t>string OrgSignID { get; set; }</a:t>
            </a:r>
            <a:endParaRPr lang="ar-EG" sz="1800" b="1"/>
          </a:p>
          <a:p>
            <a:pPr lvl="1"/>
            <a:r>
              <a:rPr lang="en-US" b="1"/>
              <a:t>StaticList In Front contains [ </a:t>
            </a:r>
            <a:r>
              <a:rPr lang="ar-EG" b="1"/>
              <a:t>يوجد , لايوجد</a:t>
            </a:r>
            <a:r>
              <a:rPr lang="en-US" b="1"/>
              <a:t>]</a:t>
            </a:r>
          </a:p>
          <a:p>
            <a:r>
              <a:rPr lang="en-US" sz="1800" b="1"/>
              <a:t>int WorkerCountPermanent</a:t>
            </a:r>
          </a:p>
          <a:p>
            <a:r>
              <a:rPr lang="en-US" sz="1800" b="1"/>
              <a:t>int WorkerCountTemporary </a:t>
            </a:r>
          </a:p>
          <a:p>
            <a:r>
              <a:rPr lang="en-US" sz="1800" b="1"/>
              <a:t>string Residence_Type</a:t>
            </a:r>
          </a:p>
          <a:p>
            <a:pPr lvl="1"/>
            <a:r>
              <a:rPr lang="ar-EG" b="1"/>
              <a:t>تمليك</a:t>
            </a:r>
            <a:r>
              <a:rPr lang="en-US" b="1"/>
              <a:t>, </a:t>
            </a:r>
            <a:r>
              <a:rPr lang="ar-EG" b="1"/>
              <a:t>ايجار جديد</a:t>
            </a:r>
            <a:r>
              <a:rPr lang="en-US" b="1"/>
              <a:t>, </a:t>
            </a:r>
            <a:r>
              <a:rPr lang="ar-EG" b="1"/>
              <a:t>ايجار قديم</a:t>
            </a:r>
            <a:endParaRPr lang="en-US" b="1"/>
          </a:p>
          <a:p>
            <a:r>
              <a:rPr lang="en-US" sz="1800" b="1"/>
              <a:t>string OrgRate</a:t>
            </a:r>
          </a:p>
          <a:p>
            <a:r>
              <a:rPr lang="en-US" sz="1800" b="1"/>
              <a:t>string GPSAddress</a:t>
            </a:r>
          </a:p>
          <a:p>
            <a:r>
              <a:rPr lang="en-US" sz="1800" b="1"/>
              <a:t>decimal? FVM _ID [ </a:t>
            </a:r>
            <a:r>
              <a:rPr lang="en-US" sz="1800" b="1">
                <a:solidFill>
                  <a:srgbClr val="FFFF00"/>
                </a:solidFill>
              </a:rPr>
              <a:t>FK</a:t>
            </a:r>
            <a:r>
              <a:rPr lang="en-US" sz="1800" b="1"/>
              <a:t>, </a:t>
            </a:r>
            <a:r>
              <a:rPr lang="en-US" sz="1800" b="1">
                <a:solidFill>
                  <a:srgbClr val="FF0000"/>
                </a:solidFill>
              </a:rPr>
              <a:t>Flow_FieldVisits_main</a:t>
            </a:r>
            <a:r>
              <a:rPr lang="en-US" sz="1800" b="1"/>
              <a:t> ]</a:t>
            </a:r>
            <a:endParaRPr lang="en-US" sz="1600" b="1"/>
          </a:p>
        </p:txBody>
      </p:sp>
      <p:pic>
        <p:nvPicPr>
          <p:cNvPr id="6" name="Picture 5">
            <a:extLst>
              <a:ext uri="{FF2B5EF4-FFF2-40B4-BE49-F238E27FC236}">
                <a16:creationId xmlns:a16="http://schemas.microsoft.com/office/drawing/2014/main" id="{3E48BC03-ED51-C6CF-F9B1-FAD5CE47AB21}"/>
              </a:ext>
            </a:extLst>
          </p:cNvPr>
          <p:cNvPicPr>
            <a:picLocks noChangeAspect="1"/>
          </p:cNvPicPr>
          <p:nvPr/>
        </p:nvPicPr>
        <p:blipFill>
          <a:blip r:embed="rId2"/>
          <a:stretch>
            <a:fillRect/>
          </a:stretch>
        </p:blipFill>
        <p:spPr>
          <a:xfrm>
            <a:off x="3057525" y="4541502"/>
            <a:ext cx="9134475" cy="525797"/>
          </a:xfrm>
          <a:prstGeom prst="rect">
            <a:avLst/>
          </a:prstGeom>
        </p:spPr>
      </p:pic>
    </p:spTree>
    <p:extLst>
      <p:ext uri="{BB962C8B-B14F-4D97-AF65-F5344CB8AC3E}">
        <p14:creationId xmlns:p14="http://schemas.microsoft.com/office/powerpoint/2010/main" val="3413962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88B13-A7E7-6DC7-B80B-1F1CBFF8616F}"/>
              </a:ext>
            </a:extLst>
          </p:cNvPr>
          <p:cNvSpPr>
            <a:spLocks noGrp="1"/>
          </p:cNvSpPr>
          <p:nvPr>
            <p:ph type="title"/>
          </p:nvPr>
        </p:nvSpPr>
        <p:spPr>
          <a:xfrm>
            <a:off x="913795" y="0"/>
            <a:ext cx="10353762" cy="542925"/>
          </a:xfrm>
        </p:spPr>
        <p:txBody>
          <a:bodyPr>
            <a:normAutofit fontScale="90000"/>
          </a:bodyPr>
          <a:lstStyle/>
          <a:p>
            <a:r>
              <a:rPr lang="ar-EG" b="1"/>
              <a:t>التحليل المالي</a:t>
            </a:r>
            <a:endParaRPr lang="en-US" b="1"/>
          </a:p>
        </p:txBody>
      </p:sp>
      <p:sp>
        <p:nvSpPr>
          <p:cNvPr id="3" name="Content Placeholder 2">
            <a:extLst>
              <a:ext uri="{FF2B5EF4-FFF2-40B4-BE49-F238E27FC236}">
                <a16:creationId xmlns:a16="http://schemas.microsoft.com/office/drawing/2014/main" id="{D2DCB867-09A1-A4D5-CC6B-806878A74300}"/>
              </a:ext>
            </a:extLst>
          </p:cNvPr>
          <p:cNvSpPr>
            <a:spLocks noGrp="1"/>
          </p:cNvSpPr>
          <p:nvPr>
            <p:ph idx="1"/>
          </p:nvPr>
        </p:nvSpPr>
        <p:spPr>
          <a:xfrm>
            <a:off x="85724" y="542925"/>
            <a:ext cx="11953875" cy="6181725"/>
          </a:xfrm>
        </p:spPr>
        <p:txBody>
          <a:bodyPr>
            <a:normAutofit/>
          </a:bodyPr>
          <a:lstStyle/>
          <a:p>
            <a:pPr marL="36900" indent="0" algn="ctr">
              <a:buNone/>
            </a:pPr>
            <a:r>
              <a:rPr lang="ar-EG" sz="2400" b="1">
                <a:effectLst/>
              </a:rPr>
              <a:t>متوسط المصروفات / الايرادات الشهرية</a:t>
            </a: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pPr marL="36900" indent="0">
              <a:buNone/>
            </a:pPr>
            <a:endParaRPr lang="en-US">
              <a:effectLst/>
            </a:endParaRPr>
          </a:p>
          <a:p>
            <a:endParaRPr lang="en-US" b="1">
              <a:solidFill>
                <a:srgbClr val="FFFF00"/>
              </a:solidFill>
              <a:effectLst/>
            </a:endParaRPr>
          </a:p>
          <a:p>
            <a:r>
              <a:rPr lang="en-US" b="1">
                <a:solidFill>
                  <a:srgbClr val="FFFF00"/>
                </a:solidFill>
                <a:effectLst/>
              </a:rPr>
              <a:t>Flow_FieldVisits_mainController</a:t>
            </a:r>
            <a:r>
              <a:rPr lang="en-US">
                <a:effectLst/>
              </a:rPr>
              <a:t>/</a:t>
            </a:r>
            <a:r>
              <a:rPr lang="en-US" b="1">
                <a:solidFill>
                  <a:srgbClr val="00B0F0"/>
                </a:solidFill>
                <a:effectLst/>
              </a:rPr>
              <a:t>InserUpdateFlow_FieldVisits_FinancialAnalysis</a:t>
            </a:r>
            <a:endParaRPr lang="ar-EG" b="1">
              <a:solidFill>
                <a:srgbClr val="00B0F0"/>
              </a:solidFill>
              <a:effectLst/>
            </a:endParaRPr>
          </a:p>
          <a:p>
            <a:endParaRPr lang="en-US"/>
          </a:p>
        </p:txBody>
      </p:sp>
      <p:pic>
        <p:nvPicPr>
          <p:cNvPr id="5" name="Picture 4">
            <a:extLst>
              <a:ext uri="{FF2B5EF4-FFF2-40B4-BE49-F238E27FC236}">
                <a16:creationId xmlns:a16="http://schemas.microsoft.com/office/drawing/2014/main" id="{B5079BDA-0BCF-C3E0-90B7-5455A47C709D}"/>
              </a:ext>
            </a:extLst>
          </p:cNvPr>
          <p:cNvPicPr>
            <a:picLocks noChangeAspect="1"/>
          </p:cNvPicPr>
          <p:nvPr/>
        </p:nvPicPr>
        <p:blipFill>
          <a:blip r:embed="rId2"/>
          <a:stretch>
            <a:fillRect/>
          </a:stretch>
        </p:blipFill>
        <p:spPr>
          <a:xfrm>
            <a:off x="152401" y="1210203"/>
            <a:ext cx="7633717" cy="4437593"/>
          </a:xfrm>
          <a:prstGeom prst="rect">
            <a:avLst/>
          </a:prstGeom>
        </p:spPr>
      </p:pic>
    </p:spTree>
    <p:extLst>
      <p:ext uri="{BB962C8B-B14F-4D97-AF65-F5344CB8AC3E}">
        <p14:creationId xmlns:p14="http://schemas.microsoft.com/office/powerpoint/2010/main" val="30624387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462116" y="51435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1304925"/>
            <a:ext cx="12123173" cy="5440004"/>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12348044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129250118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C257F-AB0F-57B2-0B46-FEDD654C0C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C8F17-0CD1-E682-84EA-92939B96FA70}"/>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4D62D349-6C06-D19C-2158-FD07FB775536}"/>
              </a:ext>
            </a:extLst>
          </p:cNvPr>
          <p:cNvSpPr>
            <a:spLocks noGrp="1"/>
          </p:cNvSpPr>
          <p:nvPr>
            <p:ph idx="1"/>
          </p:nvPr>
        </p:nvSpPr>
        <p:spPr>
          <a:xfrm>
            <a:off x="133350" y="542924"/>
            <a:ext cx="12058650" cy="6315075"/>
          </a:xfrm>
        </p:spPr>
        <p:txBody>
          <a:bodyPr>
            <a:normAutofit fontScale="92500" lnSpcReduction="20000"/>
          </a:bodyPr>
          <a:lstStyle/>
          <a:p>
            <a:r>
              <a:rPr lang="en-US" b="1">
                <a:solidFill>
                  <a:srgbClr val="FF0000"/>
                </a:solidFill>
              </a:rPr>
              <a:t>Flow_Request</a:t>
            </a:r>
          </a:p>
          <a:p>
            <a:pPr lvl="1"/>
            <a:r>
              <a:rPr lang="en-US" b="1"/>
              <a:t>Approved_amount: from NULL to </a:t>
            </a:r>
            <a:r>
              <a:rPr lang="en-US" b="1">
                <a:solidFill>
                  <a:srgbClr val="00B0F0"/>
                </a:solidFill>
              </a:rPr>
              <a:t>80000</a:t>
            </a:r>
          </a:p>
          <a:p>
            <a:pPr lvl="1"/>
            <a:r>
              <a:rPr lang="en-US" b="1"/>
              <a:t>Approv_value: from NULL to </a:t>
            </a:r>
            <a:r>
              <a:rPr lang="en-US" b="1">
                <a:solidFill>
                  <a:srgbClr val="00B0F0"/>
                </a:solidFill>
              </a:rPr>
              <a:t>86000</a:t>
            </a:r>
          </a:p>
          <a:p>
            <a:pPr lvl="1"/>
            <a:r>
              <a:rPr lang="en-US" b="1"/>
              <a:t>Total amount: from NULL to </a:t>
            </a:r>
            <a:r>
              <a:rPr lang="en-US" b="1">
                <a:solidFill>
                  <a:srgbClr val="00B0F0"/>
                </a:solidFill>
              </a:rPr>
              <a:t>116640.00</a:t>
            </a:r>
          </a:p>
          <a:p>
            <a:pPr lvl="1"/>
            <a:r>
              <a:rPr lang="en-US" b="1"/>
              <a:t>NO_Months: from NULL to </a:t>
            </a:r>
            <a:r>
              <a:rPr lang="en-US" b="1">
                <a:solidFill>
                  <a:srgbClr val="00B0F0"/>
                </a:solidFill>
              </a:rPr>
              <a:t>15</a:t>
            </a:r>
          </a:p>
          <a:p>
            <a:pPr lvl="1"/>
            <a:r>
              <a:rPr lang="en-US" sz="1600" b="1"/>
              <a:t>Primium_value: from NULL to </a:t>
            </a:r>
            <a:r>
              <a:rPr lang="en-US" b="1">
                <a:solidFill>
                  <a:srgbClr val="00B0F0"/>
                </a:solidFill>
              </a:rPr>
              <a:t>7776.00</a:t>
            </a:r>
          </a:p>
          <a:p>
            <a:r>
              <a:rPr lang="en-US" b="1">
                <a:solidFill>
                  <a:srgbClr val="FFC000"/>
                </a:solidFill>
              </a:rPr>
              <a:t>Flow_Request_Deportation</a:t>
            </a:r>
          </a:p>
          <a:p>
            <a:pPr lvl="1"/>
            <a:r>
              <a:rPr lang="en-US" sz="1600" b="1">
                <a:solidFill>
                  <a:srgbClr val="FFFF00"/>
                </a:solidFill>
              </a:rPr>
              <a:t>Code_action</a:t>
            </a:r>
            <a:r>
              <a:rPr lang="en-US" sz="1600" b="1"/>
              <a:t>: 3  -- from flow_action, type code is 1</a:t>
            </a:r>
          </a:p>
          <a:p>
            <a:pPr lvl="1"/>
            <a:r>
              <a:rPr lang="en-US" sz="1600" b="1">
                <a:solidFill>
                  <a:srgbClr val="FFFF00"/>
                </a:solidFill>
              </a:rPr>
              <a:t>Name_step_from</a:t>
            </a:r>
            <a:r>
              <a:rPr lang="en-US" sz="1600" b="1"/>
              <a:t>: </a:t>
            </a:r>
            <a:r>
              <a:rPr lang="ar-EG" sz="1600" b="1"/>
              <a:t>زيارة ميدانية</a:t>
            </a:r>
          </a:p>
          <a:p>
            <a:pPr lvl="1"/>
            <a:r>
              <a:rPr lang="en-US" sz="1600" b="1">
                <a:solidFill>
                  <a:srgbClr val="FFFF00"/>
                </a:solidFill>
              </a:rPr>
              <a:t>Name_step_to</a:t>
            </a:r>
            <a:r>
              <a:rPr lang="en-US" sz="1600" b="1"/>
              <a:t>: </a:t>
            </a:r>
            <a:r>
              <a:rPr lang="ar-EG" sz="1600" b="1"/>
              <a:t>تحليل ائتماني </a:t>
            </a:r>
            <a:endParaRPr lang="en-US" sz="1600" b="1"/>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CA1211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CO</a:t>
            </a:r>
          </a:p>
          <a:p>
            <a:pPr lvl="2"/>
            <a:r>
              <a:rPr lang="en-US" sz="1700" b="1">
                <a:solidFill>
                  <a:srgbClr val="FFC000"/>
                </a:solidFill>
              </a:rPr>
              <a:t>Action</a:t>
            </a:r>
            <a:r>
              <a:rPr lang="ar-EG" sz="1700" b="1">
                <a:solidFill>
                  <a:srgbClr val="FFC000"/>
                </a:solidFill>
              </a:rPr>
              <a:t>_</a:t>
            </a:r>
            <a:r>
              <a:rPr lang="en-US" sz="1700" b="1">
                <a:solidFill>
                  <a:srgbClr val="FFC000"/>
                </a:solidFill>
              </a:rPr>
              <a:t>Flag: NULL</a:t>
            </a:r>
          </a:p>
          <a:p>
            <a:pPr lvl="2"/>
            <a:r>
              <a:rPr lang="en-US" sz="1700" b="1">
                <a:solidFill>
                  <a:srgbClr val="FFC000"/>
                </a:solidFill>
              </a:rPr>
              <a:t>Step_name: CA1211 // </a:t>
            </a:r>
            <a:r>
              <a:rPr lang="ar-EG" sz="1700" b="1">
                <a:solidFill>
                  <a:srgbClr val="FFC000"/>
                </a:solidFill>
              </a:rPr>
              <a:t>تحليل ائتماني</a:t>
            </a:r>
            <a:endParaRPr lang="en-US" sz="1700" b="1">
              <a:solidFill>
                <a:srgbClr val="FFC000"/>
              </a:solidFill>
            </a:endParaRPr>
          </a:p>
        </p:txBody>
      </p:sp>
      <p:pic>
        <p:nvPicPr>
          <p:cNvPr id="6" name="Picture 5">
            <a:extLst>
              <a:ext uri="{FF2B5EF4-FFF2-40B4-BE49-F238E27FC236}">
                <a16:creationId xmlns:a16="http://schemas.microsoft.com/office/drawing/2014/main" id="{11E1A882-4D31-1A15-D336-6F51B567F46E}"/>
              </a:ext>
            </a:extLst>
          </p:cNvPr>
          <p:cNvPicPr>
            <a:picLocks noChangeAspect="1"/>
          </p:cNvPicPr>
          <p:nvPr/>
        </p:nvPicPr>
        <p:blipFill>
          <a:blip r:embed="rId2"/>
          <a:stretch>
            <a:fillRect/>
          </a:stretch>
        </p:blipFill>
        <p:spPr>
          <a:xfrm>
            <a:off x="4906519" y="5294189"/>
            <a:ext cx="7285481" cy="1430462"/>
          </a:xfrm>
          <a:prstGeom prst="rect">
            <a:avLst/>
          </a:prstGeom>
        </p:spPr>
      </p:pic>
    </p:spTree>
    <p:extLst>
      <p:ext uri="{BB962C8B-B14F-4D97-AF65-F5344CB8AC3E}">
        <p14:creationId xmlns:p14="http://schemas.microsoft.com/office/powerpoint/2010/main" val="30790636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A3696-AB65-B5BB-758C-AE16F02CF2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B1D12-AE7C-E79B-8518-B5C7FA6070FD}"/>
              </a:ext>
            </a:extLst>
          </p:cNvPr>
          <p:cNvSpPr>
            <a:spLocks noGrp="1"/>
          </p:cNvSpPr>
          <p:nvPr>
            <p:ph type="title"/>
          </p:nvPr>
        </p:nvSpPr>
        <p:spPr>
          <a:xfrm>
            <a:off x="1031782" y="2458550"/>
            <a:ext cx="10353762" cy="970450"/>
          </a:xfrm>
        </p:spPr>
        <p:txBody>
          <a:bodyPr>
            <a:normAutofit/>
          </a:bodyPr>
          <a:lstStyle/>
          <a:p>
            <a:r>
              <a:rPr lang="en-US" b="1">
                <a:solidFill>
                  <a:srgbClr val="FF0000"/>
                </a:solidFill>
              </a:rPr>
              <a:t>End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2408633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0" y="2514598"/>
            <a:ext cx="12191999" cy="1143001"/>
          </a:xfrm>
        </p:spPr>
        <p:txBody>
          <a:bodyPr>
            <a:noAutofit/>
          </a:bodyPr>
          <a:lstStyle/>
          <a:p>
            <a:r>
              <a:rPr lang="en-US" sz="4400" b="1">
                <a:solidFill>
                  <a:srgbClr val="FF0000"/>
                </a:solidFill>
              </a:rPr>
              <a:t>Start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40884894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278778851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F7CE9-CF89-4344-8B02-6CB2C2B89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007B31-B017-BA05-3690-032102CB809B}"/>
              </a:ext>
            </a:extLst>
          </p:cNvPr>
          <p:cNvSpPr>
            <a:spLocks noGrp="1"/>
          </p:cNvSpPr>
          <p:nvPr>
            <p:ph type="title"/>
          </p:nvPr>
        </p:nvSpPr>
        <p:spPr>
          <a:xfrm>
            <a:off x="0" y="2514598"/>
            <a:ext cx="12191999" cy="1143001"/>
          </a:xfrm>
        </p:spPr>
        <p:txBody>
          <a:bodyPr>
            <a:noAutofit/>
          </a:bodyPr>
          <a:lstStyle/>
          <a:p>
            <a:r>
              <a:rPr lang="en-US" sz="4400" b="1">
                <a:solidFill>
                  <a:srgbClr val="FF0000"/>
                </a:solidFill>
              </a:rPr>
              <a:t>End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5452105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E0D7F-9887-F9D1-A428-D44E77D6A084}"/>
              </a:ext>
            </a:extLst>
          </p:cNvPr>
          <p:cNvSpPr>
            <a:spLocks noGrp="1"/>
          </p:cNvSpPr>
          <p:nvPr>
            <p:ph type="title"/>
          </p:nvPr>
        </p:nvSpPr>
        <p:spPr>
          <a:xfrm>
            <a:off x="438150" y="2581275"/>
            <a:ext cx="11258550" cy="970450"/>
          </a:xfrm>
        </p:spPr>
        <p:txBody>
          <a:bodyPr>
            <a:normAutofit fontScale="90000"/>
          </a:bodyPr>
          <a:lstStyle/>
          <a:p>
            <a:r>
              <a:rPr lang="en-US" b="1">
                <a:solidFill>
                  <a:srgbClr val="FF0000"/>
                </a:solidFill>
              </a:rPr>
              <a:t>Start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9116329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C30B3-9306-F08D-383A-BC1709B523B7}"/>
              </a:ext>
            </a:extLst>
          </p:cNvPr>
          <p:cNvSpPr>
            <a:spLocks noGrp="1"/>
          </p:cNvSpPr>
          <p:nvPr>
            <p:ph type="title"/>
          </p:nvPr>
        </p:nvSpPr>
        <p:spPr>
          <a:xfrm>
            <a:off x="913795" y="0"/>
            <a:ext cx="10353762" cy="752475"/>
          </a:xfrm>
        </p:spPr>
        <p:txBody>
          <a:bodyPr/>
          <a:lstStyle/>
          <a:p>
            <a:r>
              <a:rPr lang="en-US" b="1"/>
              <a:t>After </a:t>
            </a:r>
            <a:r>
              <a:rPr lang="ar-EG" b="1"/>
              <a:t>حفظ المستندات</a:t>
            </a:r>
            <a:endParaRPr lang="en-US" b="1"/>
          </a:p>
        </p:txBody>
      </p:sp>
      <p:sp>
        <p:nvSpPr>
          <p:cNvPr id="3" name="Content Placeholder 2">
            <a:extLst>
              <a:ext uri="{FF2B5EF4-FFF2-40B4-BE49-F238E27FC236}">
                <a16:creationId xmlns:a16="http://schemas.microsoft.com/office/drawing/2014/main" id="{51351372-44A0-EA98-27BD-33CC008AFFA2}"/>
              </a:ext>
            </a:extLst>
          </p:cNvPr>
          <p:cNvSpPr>
            <a:spLocks noGrp="1"/>
          </p:cNvSpPr>
          <p:nvPr>
            <p:ph idx="1"/>
          </p:nvPr>
        </p:nvSpPr>
        <p:spPr>
          <a:xfrm>
            <a:off x="314326" y="752475"/>
            <a:ext cx="11706224" cy="5924550"/>
          </a:xfrm>
        </p:spPr>
        <p:txBody>
          <a:bodyPr/>
          <a:lstStyle/>
          <a:p>
            <a:r>
              <a:rPr lang="en-US" b="1"/>
              <a:t>Flow_Funding_requestController/UploadBranchManagerDocs</a:t>
            </a:r>
          </a:p>
          <a:p>
            <a:endParaRPr lang="en-US"/>
          </a:p>
          <a:p>
            <a:r>
              <a:rPr lang="en-US" b="1">
                <a:solidFill>
                  <a:srgbClr val="FFFF00"/>
                </a:solidFill>
              </a:rPr>
              <a:t>TWF</a:t>
            </a:r>
            <a:r>
              <a:rPr lang="en-US" b="1"/>
              <a:t>.</a:t>
            </a:r>
            <a:r>
              <a:rPr lang="en-US" b="1">
                <a:solidFill>
                  <a:srgbClr val="00B0F0"/>
                </a:solidFill>
              </a:rPr>
              <a:t>TWF_Download</a:t>
            </a:r>
          </a:p>
          <a:p>
            <a:endParaRPr lang="en-US" b="1">
              <a:solidFill>
                <a:srgbClr val="00B0F0"/>
              </a:solidFill>
            </a:endParaRPr>
          </a:p>
          <a:p>
            <a:endParaRPr lang="en-US" b="1">
              <a:solidFill>
                <a:srgbClr val="00B0F0"/>
              </a:solidFill>
            </a:endParaRPr>
          </a:p>
          <a:p>
            <a:endParaRPr lang="en-US" b="1">
              <a:solidFill>
                <a:srgbClr val="00B0F0"/>
              </a:solidFill>
            </a:endParaRPr>
          </a:p>
        </p:txBody>
      </p:sp>
      <p:pic>
        <p:nvPicPr>
          <p:cNvPr id="5" name="Picture 4">
            <a:extLst>
              <a:ext uri="{FF2B5EF4-FFF2-40B4-BE49-F238E27FC236}">
                <a16:creationId xmlns:a16="http://schemas.microsoft.com/office/drawing/2014/main" id="{957AA0B4-9A25-FFED-19E7-3E912FCADE84}"/>
              </a:ext>
            </a:extLst>
          </p:cNvPr>
          <p:cNvPicPr>
            <a:picLocks noChangeAspect="1"/>
          </p:cNvPicPr>
          <p:nvPr/>
        </p:nvPicPr>
        <p:blipFill>
          <a:blip r:embed="rId2"/>
          <a:stretch>
            <a:fillRect/>
          </a:stretch>
        </p:blipFill>
        <p:spPr>
          <a:xfrm>
            <a:off x="581025" y="2211682"/>
            <a:ext cx="9298981" cy="607718"/>
          </a:xfrm>
          <a:prstGeom prst="rect">
            <a:avLst/>
          </a:prstGeom>
        </p:spPr>
      </p:pic>
    </p:spTree>
    <p:extLst>
      <p:ext uri="{BB962C8B-B14F-4D97-AF65-F5344CB8AC3E}">
        <p14:creationId xmlns:p14="http://schemas.microsoft.com/office/powerpoint/2010/main" val="47675449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9C5AB-A3A4-940C-9677-6292B1218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DF9F34-69F6-BDFF-B454-184D555E86C7}"/>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BM Accept the request</a:t>
            </a:r>
          </a:p>
        </p:txBody>
      </p:sp>
      <p:sp>
        <p:nvSpPr>
          <p:cNvPr id="3" name="Content Placeholder 2">
            <a:extLst>
              <a:ext uri="{FF2B5EF4-FFF2-40B4-BE49-F238E27FC236}">
                <a16:creationId xmlns:a16="http://schemas.microsoft.com/office/drawing/2014/main" id="{FD36925E-3B1D-5E78-60A3-682CCD627AAC}"/>
              </a:ext>
            </a:extLst>
          </p:cNvPr>
          <p:cNvSpPr>
            <a:spLocks noGrp="1"/>
          </p:cNvSpPr>
          <p:nvPr>
            <p:ph idx="1"/>
          </p:nvPr>
        </p:nvSpPr>
        <p:spPr>
          <a:xfrm>
            <a:off x="133350" y="542924"/>
            <a:ext cx="12058650" cy="6315075"/>
          </a:xfrm>
        </p:spPr>
        <p:txBody>
          <a:bodyPr>
            <a:normAutofit/>
          </a:bodyPr>
          <a:lstStyle/>
          <a:p>
            <a:r>
              <a:rPr lang="en-US" b="1">
                <a:solidFill>
                  <a:srgbClr val="FFC000"/>
                </a:solidFill>
              </a:rPr>
              <a:t>Flow_Request_Deportation</a:t>
            </a:r>
          </a:p>
          <a:p>
            <a:pPr lvl="1"/>
            <a:r>
              <a:rPr lang="en-US" sz="1600" b="1">
                <a:solidFill>
                  <a:srgbClr val="FFFF00"/>
                </a:solidFill>
              </a:rPr>
              <a:t>Code_action</a:t>
            </a:r>
            <a:r>
              <a:rPr lang="en-US" sz="1600" b="1"/>
              <a:t>: 5  -- from flow_action, type code is 1</a:t>
            </a:r>
          </a:p>
          <a:p>
            <a:pPr lvl="1"/>
            <a:r>
              <a:rPr lang="en-US" sz="1600" b="1">
                <a:solidFill>
                  <a:srgbClr val="FFFF00"/>
                </a:solidFill>
              </a:rPr>
              <a:t>Name_step_from</a:t>
            </a:r>
            <a:r>
              <a:rPr lang="en-US" sz="1600" b="1"/>
              <a:t>: </a:t>
            </a:r>
            <a:r>
              <a:rPr lang="ar-EG" sz="1600" b="1"/>
              <a:t>تحميل مستندات</a:t>
            </a:r>
          </a:p>
          <a:p>
            <a:pPr lvl="1"/>
            <a:r>
              <a:rPr lang="en-US" sz="1600" b="1">
                <a:solidFill>
                  <a:srgbClr val="FFFF00"/>
                </a:solidFill>
              </a:rPr>
              <a:t>Name_step_to</a:t>
            </a:r>
            <a:r>
              <a:rPr lang="en-US" sz="1600" b="1"/>
              <a:t>: </a:t>
            </a:r>
            <a:r>
              <a:rPr lang="ar-EG" sz="1600" b="1"/>
              <a:t>مراجعة مركزية </a:t>
            </a:r>
            <a:endParaRPr lang="en-US" sz="1600" b="1"/>
          </a:p>
          <a:p>
            <a:pPr lvl="1"/>
            <a:r>
              <a:rPr lang="en-US" sz="1600" b="1">
                <a:solidFill>
                  <a:srgbClr val="FFFF00"/>
                </a:solidFill>
              </a:rPr>
              <a:t>UserId_TO</a:t>
            </a:r>
            <a:r>
              <a:rPr lang="en-US" sz="1600" b="1"/>
              <a:t>: NULL</a:t>
            </a:r>
          </a:p>
          <a:p>
            <a:pPr lvl="1"/>
            <a:r>
              <a:rPr lang="en-US" sz="1600" b="1">
                <a:solidFill>
                  <a:srgbClr val="FFFF00"/>
                </a:solidFill>
              </a:rPr>
              <a:t>Status_two</a:t>
            </a:r>
            <a:r>
              <a:rPr lang="en-US" sz="1600" b="1"/>
              <a:t>: LR55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NULL</a:t>
            </a:r>
          </a:p>
          <a:p>
            <a:pPr lvl="2"/>
            <a:r>
              <a:rPr lang="en-US" sz="1700" b="1">
                <a:solidFill>
                  <a:srgbClr val="FFC000"/>
                </a:solidFill>
              </a:rPr>
              <a:t>Action</a:t>
            </a:r>
            <a:r>
              <a:rPr lang="ar-EG" sz="1700" b="1">
                <a:solidFill>
                  <a:srgbClr val="FFC000"/>
                </a:solidFill>
              </a:rPr>
              <a:t>_</a:t>
            </a:r>
            <a:r>
              <a:rPr lang="en-US" sz="1700" b="1">
                <a:solidFill>
                  <a:srgbClr val="FFC000"/>
                </a:solidFill>
              </a:rPr>
              <a:t>Flag: 1</a:t>
            </a:r>
          </a:p>
          <a:p>
            <a:pPr lvl="2"/>
            <a:r>
              <a:rPr lang="en-US" sz="1700" b="1">
                <a:solidFill>
                  <a:srgbClr val="FFC000"/>
                </a:solidFill>
              </a:rPr>
              <a:t>Step_name: LR55 // </a:t>
            </a:r>
            <a:r>
              <a:rPr lang="ar-EG" sz="1700" b="1">
                <a:solidFill>
                  <a:srgbClr val="FFC000"/>
                </a:solidFill>
              </a:rPr>
              <a:t>مراجعة مركزية</a:t>
            </a:r>
            <a:endParaRPr lang="en-US" sz="1700" b="1">
              <a:solidFill>
                <a:srgbClr val="FFC000"/>
              </a:solidFill>
            </a:endParaRPr>
          </a:p>
        </p:txBody>
      </p:sp>
      <p:pic>
        <p:nvPicPr>
          <p:cNvPr id="5" name="Picture 4">
            <a:extLst>
              <a:ext uri="{FF2B5EF4-FFF2-40B4-BE49-F238E27FC236}">
                <a16:creationId xmlns:a16="http://schemas.microsoft.com/office/drawing/2014/main" id="{6B139F87-11F0-6129-9273-0891E304FDD8}"/>
              </a:ext>
            </a:extLst>
          </p:cNvPr>
          <p:cNvPicPr>
            <a:picLocks noChangeAspect="1"/>
          </p:cNvPicPr>
          <p:nvPr/>
        </p:nvPicPr>
        <p:blipFill>
          <a:blip r:embed="rId2"/>
          <a:stretch>
            <a:fillRect/>
          </a:stretch>
        </p:blipFill>
        <p:spPr>
          <a:xfrm>
            <a:off x="5200459" y="5448300"/>
            <a:ext cx="6858191" cy="1323975"/>
          </a:xfrm>
          <a:prstGeom prst="rect">
            <a:avLst/>
          </a:prstGeom>
        </p:spPr>
      </p:pic>
    </p:spTree>
    <p:extLst>
      <p:ext uri="{BB962C8B-B14F-4D97-AF65-F5344CB8AC3E}">
        <p14:creationId xmlns:p14="http://schemas.microsoft.com/office/powerpoint/2010/main" val="11840378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86646-D55A-5527-CEBD-BB1DD6FB40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11351F-ADF1-CD3F-7578-CCBEB7A655D4}"/>
              </a:ext>
            </a:extLst>
          </p:cNvPr>
          <p:cNvSpPr>
            <a:spLocks noGrp="1"/>
          </p:cNvSpPr>
          <p:nvPr>
            <p:ph type="title"/>
          </p:nvPr>
        </p:nvSpPr>
        <p:spPr>
          <a:xfrm>
            <a:off x="276224" y="2581275"/>
            <a:ext cx="11572875" cy="970450"/>
          </a:xfrm>
        </p:spPr>
        <p:txBody>
          <a:bodyPr>
            <a:normAutofit fontScale="90000"/>
          </a:bodyPr>
          <a:lstStyle/>
          <a:p>
            <a:r>
              <a:rPr lang="en-US" b="1">
                <a:solidFill>
                  <a:srgbClr val="FF0000"/>
                </a:solidFill>
              </a:rPr>
              <a:t>End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4837192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pic>
        <p:nvPicPr>
          <p:cNvPr id="5" name="Picture 4">
            <a:extLst>
              <a:ext uri="{FF2B5EF4-FFF2-40B4-BE49-F238E27FC236}">
                <a16:creationId xmlns:a16="http://schemas.microsoft.com/office/drawing/2014/main" id="{FDCE9464-0661-9DD7-6515-DA41C025EAC7}"/>
              </a:ext>
            </a:extLst>
          </p:cNvPr>
          <p:cNvPicPr>
            <a:picLocks noChangeAspect="1"/>
          </p:cNvPicPr>
          <p:nvPr/>
        </p:nvPicPr>
        <p:blipFill>
          <a:blip r:embed="rId2"/>
          <a:stretch>
            <a:fillRect/>
          </a:stretch>
        </p:blipFill>
        <p:spPr>
          <a:xfrm>
            <a:off x="6312058" y="654627"/>
            <a:ext cx="3507350" cy="3415251"/>
          </a:xfrm>
          <a:prstGeom prst="rect">
            <a:avLst/>
          </a:prstGeom>
        </p:spPr>
      </p:pic>
    </p:spTree>
    <p:extLst>
      <p:ext uri="{BB962C8B-B14F-4D97-AF65-F5344CB8AC3E}">
        <p14:creationId xmlns:p14="http://schemas.microsoft.com/office/powerpoint/2010/main" val="296485137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a:t>
            </a:r>
            <a:r>
              <a:rPr lang="en-US" b="1">
                <a:solidFill>
                  <a:srgbClr val="FFFF00"/>
                </a:solidFill>
              </a:rPr>
              <a:t>identity</a:t>
            </a:r>
          </a:p>
          <a:p>
            <a:r>
              <a:rPr lang="en-US"/>
              <a:t>EP_code: </a:t>
            </a:r>
            <a:r>
              <a:rPr lang="en-US" b="1">
                <a:solidFill>
                  <a:srgbClr val="FFFF00"/>
                </a:solidFill>
              </a:rPr>
              <a:t>[ PK ]</a:t>
            </a:r>
          </a:p>
          <a:p>
            <a:r>
              <a:rPr lang="en-US"/>
              <a:t>product_Id,  </a:t>
            </a:r>
            <a:r>
              <a:rPr lang="en-US" b="1">
                <a:solidFill>
                  <a:srgbClr val="FFFF00"/>
                </a:solidFill>
              </a:rPr>
              <a:t>FK</a:t>
            </a:r>
          </a:p>
          <a:p>
            <a:r>
              <a:rPr lang="en-US"/>
              <a:t>BranchId: int, </a:t>
            </a:r>
            <a:r>
              <a:rPr lang="en-US" b="1">
                <a:solidFill>
                  <a:srgbClr val="FFFF00"/>
                </a:solidFill>
              </a:rPr>
              <a:t>FK</a:t>
            </a:r>
            <a:r>
              <a:rPr lang="en-US"/>
              <a:t> </a:t>
            </a:r>
          </a:p>
          <a:p>
            <a:r>
              <a:rPr lang="en-US"/>
              <a:t>UserId: int, </a:t>
            </a:r>
            <a:r>
              <a:rPr lang="en-US" b="1">
                <a:solidFill>
                  <a:srgbClr val="FFFF00"/>
                </a:solidFill>
              </a:rPr>
              <a:t>FK</a:t>
            </a:r>
          </a:p>
          <a:p>
            <a:r>
              <a:rPr lang="en-US"/>
              <a:t>Conditions_renew</a:t>
            </a:r>
          </a:p>
          <a:p>
            <a:pPr lvl="1"/>
            <a:r>
              <a:rPr lang="en-US"/>
              <a:t>1</a:t>
            </a:r>
          </a:p>
          <a:p>
            <a:pPr lvl="1"/>
            <a:r>
              <a:rPr lang="en-US"/>
              <a:t>2</a:t>
            </a:r>
          </a:p>
          <a:p>
            <a:pPr marL="36900" indent="0">
              <a:buNone/>
            </a:pPr>
            <a:endParaRPr lang="en-US"/>
          </a:p>
          <a:p>
            <a:endParaRPr lang="en-US"/>
          </a:p>
        </p:txBody>
      </p:sp>
      <p:pic>
        <p:nvPicPr>
          <p:cNvPr id="5" name="Picture 4">
            <a:extLst>
              <a:ext uri="{FF2B5EF4-FFF2-40B4-BE49-F238E27FC236}">
                <a16:creationId xmlns:a16="http://schemas.microsoft.com/office/drawing/2014/main" id="{44EA9D92-B14C-7E6A-E26E-C21B494D4136}"/>
              </a:ext>
            </a:extLst>
          </p:cNvPr>
          <p:cNvPicPr>
            <a:picLocks noChangeAspect="1"/>
          </p:cNvPicPr>
          <p:nvPr/>
        </p:nvPicPr>
        <p:blipFill>
          <a:blip r:embed="rId2"/>
          <a:stretch>
            <a:fillRect/>
          </a:stretch>
        </p:blipFill>
        <p:spPr>
          <a:xfrm>
            <a:off x="5938237" y="1111827"/>
            <a:ext cx="6121974" cy="2691245"/>
          </a:xfrm>
          <a:prstGeom prst="rect">
            <a:avLst/>
          </a:prstGeom>
        </p:spPr>
      </p:pic>
    </p:spTree>
    <p:extLst>
      <p:ext uri="{BB962C8B-B14F-4D97-AF65-F5344CB8AC3E}">
        <p14:creationId xmlns:p14="http://schemas.microsoft.com/office/powerpoint/2010/main" val="29833690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27317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solidFill>
                  <a:srgbClr val="FFFF00"/>
                </a:solidFill>
              </a:rPr>
              <a:t>Branch_code</a:t>
            </a:r>
            <a:endParaRPr lang="en-US" sz="1800" b="1">
              <a:solidFill>
                <a:srgbClr val="FFFF00"/>
              </a:solidFill>
            </a:endParaRPr>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5181600" y="3206250"/>
            <a:ext cx="7010399"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5181600" y="3775092"/>
            <a:ext cx="7040499"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5151500" y="4402983"/>
            <a:ext cx="704050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5151499" y="4997646"/>
            <a:ext cx="704050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5151498" y="5572490"/>
            <a:ext cx="7040501"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5143974" y="6199943"/>
            <a:ext cx="7048025"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111A6-E944-912A-48A8-7E38F61C0C6D}"/>
              </a:ext>
            </a:extLst>
          </p:cNvPr>
          <p:cNvSpPr>
            <a:spLocks noGrp="1"/>
          </p:cNvSpPr>
          <p:nvPr>
            <p:ph type="title"/>
          </p:nvPr>
        </p:nvSpPr>
        <p:spPr>
          <a:xfrm>
            <a:off x="913795" y="-95250"/>
            <a:ext cx="10353762" cy="970450"/>
          </a:xfrm>
        </p:spPr>
        <p:txBody>
          <a:bodyPr/>
          <a:lstStyle/>
          <a:p>
            <a:r>
              <a:rPr lang="en-US" b="1">
                <a:solidFill>
                  <a:srgbClr val="FFFF00"/>
                </a:solidFill>
              </a:rPr>
              <a:t>TWF</a:t>
            </a:r>
            <a:r>
              <a:rPr lang="en-US" b="1"/>
              <a:t>.</a:t>
            </a:r>
            <a:r>
              <a:rPr lang="en-US" b="1">
                <a:solidFill>
                  <a:srgbClr val="FF0000"/>
                </a:solidFill>
              </a:rPr>
              <a:t>Flow_Status_Funding_Request</a:t>
            </a:r>
          </a:p>
        </p:txBody>
      </p:sp>
      <p:sp>
        <p:nvSpPr>
          <p:cNvPr id="3" name="Content Placeholder 2">
            <a:extLst>
              <a:ext uri="{FF2B5EF4-FFF2-40B4-BE49-F238E27FC236}">
                <a16:creationId xmlns:a16="http://schemas.microsoft.com/office/drawing/2014/main" id="{9E3997AE-A927-C68E-BD03-9335F7BFBD78}"/>
              </a:ext>
            </a:extLst>
          </p:cNvPr>
          <p:cNvSpPr>
            <a:spLocks noGrp="1"/>
          </p:cNvSpPr>
          <p:nvPr>
            <p:ph idx="1"/>
          </p:nvPr>
        </p:nvSpPr>
        <p:spPr>
          <a:xfrm>
            <a:off x="913795" y="875201"/>
            <a:ext cx="10353762" cy="4916000"/>
          </a:xfrm>
        </p:spPr>
        <p:txBody>
          <a:bodyPr/>
          <a:lstStyle/>
          <a:p>
            <a:r>
              <a:rPr lang="en-US" b="1"/>
              <a:t>int SFR_code </a:t>
            </a:r>
          </a:p>
          <a:p>
            <a:r>
              <a:rPr lang="en-US" b="1"/>
              <a:t>int UserId</a:t>
            </a:r>
          </a:p>
          <a:p>
            <a:r>
              <a:rPr lang="en-US" b="1"/>
              <a:t>int product_Id</a:t>
            </a:r>
          </a:p>
          <a:p>
            <a:r>
              <a:rPr lang="en-US" b="1"/>
              <a:t>string Status</a:t>
            </a:r>
          </a:p>
          <a:p>
            <a:r>
              <a:rPr lang="en-US" b="1"/>
              <a:t>DateTime Creation_date</a:t>
            </a:r>
          </a:p>
        </p:txBody>
      </p:sp>
    </p:spTree>
    <p:extLst>
      <p:ext uri="{BB962C8B-B14F-4D97-AF65-F5344CB8AC3E}">
        <p14:creationId xmlns:p14="http://schemas.microsoft.com/office/powerpoint/2010/main" val="3513864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672489" y="3937260"/>
            <a:ext cx="8313035" cy="594100"/>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a:t>Yield</a:t>
            </a:r>
            <a:r>
              <a:rPr lang="en-US" sz="1800" err="1"/>
              <a:t>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1395586"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a:t>BusDate: </a:t>
            </a:r>
            <a:r>
              <a:rPr lang="ar-EG" sz="1800"/>
              <a:t>تاريخ الصرف</a:t>
            </a:r>
          </a:p>
          <a:p>
            <a:r>
              <a:rPr lang="en-US" sz="1800"/>
              <a:t>Open_date : </a:t>
            </a:r>
            <a:r>
              <a:rPr lang="en-US" sz="1800">
                <a:effectLst/>
              </a:rPr>
              <a:t>date of request based on the busdate</a:t>
            </a:r>
            <a:endParaRPr lang="en-US" sz="1800"/>
          </a:p>
          <a:p>
            <a:r>
              <a:rPr lang="en-US" sz="1800"/>
              <a:t>EXPDATE</a:t>
            </a:r>
            <a:r>
              <a:rPr lang="ar-EG" sz="1800"/>
              <a:t> </a:t>
            </a:r>
            <a:r>
              <a:rPr lang="en-US" sz="1800"/>
              <a:t> :  </a:t>
            </a:r>
            <a:r>
              <a:rPr lang="ar-EG" sz="1800"/>
              <a:t>تاريخ انتهاء القرض</a:t>
            </a:r>
            <a:endParaRPr lang="en-US" sz="1800"/>
          </a:p>
          <a:p>
            <a:endParaRPr lang="en-US" sz="1800"/>
          </a:p>
          <a:p>
            <a:endParaRPr lang="en-US" sz="1800"/>
          </a:p>
          <a:p>
            <a:r>
              <a:rPr lang="en-US" sz="1800"/>
              <a:t>Loan</a:t>
            </a:r>
            <a:r>
              <a:rPr lang="en-US" sz="1800" err="1"/>
              <a:t>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err="1">
                <a:solidFill>
                  <a:srgbClr val="FFFF00"/>
                </a:solidFill>
              </a:rPr>
              <a:t>TDWF</a:t>
            </a:r>
            <a:r>
              <a:rPr lang="en-US" sz="3600" err="1"/>
              <a:t>.</a:t>
            </a:r>
            <a:r>
              <a:rPr lang="en-US" sz="3600" b="1"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start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60909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b="1"/>
              <a:t>Flow_Actions: contains options that could be applied into each stage</a:t>
            </a:r>
          </a:p>
          <a:p>
            <a:r>
              <a:rPr lang="en-US" b="1"/>
              <a:t>Flow_Action_workflow: specify the </a:t>
            </a:r>
            <a:r>
              <a:rPr lang="en-US" b="1">
                <a:solidFill>
                  <a:srgbClr val="FFFF00"/>
                </a:solidFill>
              </a:rPr>
              <a:t>NextStep</a:t>
            </a:r>
            <a:r>
              <a:rPr lang="en-US" b="1"/>
              <a:t> </a:t>
            </a:r>
            <a:r>
              <a:rPr lang="en-US" b="1">
                <a:solidFill>
                  <a:srgbClr val="FFC000"/>
                </a:solidFill>
              </a:rPr>
              <a:t>(Code_FA_to)</a:t>
            </a:r>
            <a:r>
              <a:rPr lang="en-US" b="1"/>
              <a:t> based on current step (</a:t>
            </a:r>
            <a:r>
              <a:rPr lang="en-US" b="1">
                <a:solidFill>
                  <a:srgbClr val="FFC000"/>
                </a:solidFill>
              </a:rPr>
              <a:t>Code_FA_from</a:t>
            </a:r>
            <a:r>
              <a:rPr lang="en-US" b="1"/>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161059" y="963562"/>
            <a:ext cx="7945582"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67700" y="963562"/>
            <a:ext cx="3849832"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A8D5-0095-58D3-AF28-931CE4277534}"/>
              </a:ext>
            </a:extLst>
          </p:cNvPr>
          <p:cNvSpPr>
            <a:spLocks noGrp="1"/>
          </p:cNvSpPr>
          <p:nvPr>
            <p:ph type="title"/>
          </p:nvPr>
        </p:nvSpPr>
        <p:spPr>
          <a:xfrm>
            <a:off x="924443" y="0"/>
            <a:ext cx="10353762" cy="970450"/>
          </a:xfrm>
        </p:spPr>
        <p:txBody>
          <a:bodyPr/>
          <a:lstStyle/>
          <a:p>
            <a:r>
              <a:rPr lang="en-US" b="1">
                <a:solidFill>
                  <a:srgbClr val="FFFF00"/>
                </a:solidFill>
              </a:rPr>
              <a:t>SWF</a:t>
            </a:r>
            <a:r>
              <a:rPr lang="en-US" b="1"/>
              <a:t>.</a:t>
            </a:r>
            <a:r>
              <a:rPr lang="en-US" b="1">
                <a:solidFill>
                  <a:srgbClr val="FF0000"/>
                </a:solidFill>
              </a:rPr>
              <a:t>Flow_Exchange_Destinations</a:t>
            </a:r>
          </a:p>
        </p:txBody>
      </p:sp>
      <p:sp>
        <p:nvSpPr>
          <p:cNvPr id="3" name="Content Placeholder 2">
            <a:extLst>
              <a:ext uri="{FF2B5EF4-FFF2-40B4-BE49-F238E27FC236}">
                <a16:creationId xmlns:a16="http://schemas.microsoft.com/office/drawing/2014/main" id="{8A3EAED4-7D60-BC98-B34F-5EF080D5AEDB}"/>
              </a:ext>
            </a:extLst>
          </p:cNvPr>
          <p:cNvSpPr>
            <a:spLocks noGrp="1"/>
          </p:cNvSpPr>
          <p:nvPr>
            <p:ph idx="1"/>
          </p:nvPr>
        </p:nvSpPr>
        <p:spPr>
          <a:xfrm>
            <a:off x="913795" y="970451"/>
            <a:ext cx="10353762" cy="4820750"/>
          </a:xfrm>
        </p:spPr>
        <p:txBody>
          <a:bodyPr/>
          <a:lstStyle/>
          <a:p>
            <a:r>
              <a:rPr lang="en-US"/>
              <a:t>This table represent </a:t>
            </a:r>
            <a:r>
              <a:rPr lang="ar-EG"/>
              <a:t>جهة الصرف</a:t>
            </a:r>
            <a:endParaRPr lang="en-US"/>
          </a:p>
          <a:p>
            <a:r>
              <a:rPr lang="en-US"/>
              <a:t>Code_ED: PK</a:t>
            </a:r>
          </a:p>
          <a:p>
            <a:endParaRPr lang="en-US"/>
          </a:p>
          <a:p>
            <a:endParaRPr lang="en-US"/>
          </a:p>
        </p:txBody>
      </p:sp>
      <p:pic>
        <p:nvPicPr>
          <p:cNvPr id="5" name="Picture 4">
            <a:extLst>
              <a:ext uri="{FF2B5EF4-FFF2-40B4-BE49-F238E27FC236}">
                <a16:creationId xmlns:a16="http://schemas.microsoft.com/office/drawing/2014/main" id="{C8E4F71F-C2E2-1EEA-BA82-D694B54C2E0A}"/>
              </a:ext>
            </a:extLst>
          </p:cNvPr>
          <p:cNvPicPr>
            <a:picLocks noChangeAspect="1"/>
          </p:cNvPicPr>
          <p:nvPr/>
        </p:nvPicPr>
        <p:blipFill>
          <a:blip r:embed="rId2"/>
          <a:stretch>
            <a:fillRect/>
          </a:stretch>
        </p:blipFill>
        <p:spPr>
          <a:xfrm>
            <a:off x="6307909" y="2151079"/>
            <a:ext cx="4970296" cy="2555841"/>
          </a:xfrm>
          <a:prstGeom prst="rect">
            <a:avLst/>
          </a:prstGeom>
        </p:spPr>
      </p:pic>
    </p:spTree>
    <p:extLst>
      <p:ext uri="{BB962C8B-B14F-4D97-AF65-F5344CB8AC3E}">
        <p14:creationId xmlns:p14="http://schemas.microsoft.com/office/powerpoint/2010/main" val="397275113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85EB9-94E1-DC29-9E69-570B212D8362}"/>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Start Risk</a:t>
            </a:r>
          </a:p>
        </p:txBody>
      </p:sp>
    </p:spTree>
    <p:extLst>
      <p:ext uri="{BB962C8B-B14F-4D97-AF65-F5344CB8AC3E}">
        <p14:creationId xmlns:p14="http://schemas.microsoft.com/office/powerpoint/2010/main" val="41572447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456EB-ABEC-E3E4-AA51-27B89F9008AC}"/>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a:t>.</a:t>
            </a:r>
            <a:r>
              <a:rPr lang="en-US" b="1">
                <a:solidFill>
                  <a:srgbClr val="FF0000"/>
                </a:solidFill>
              </a:rPr>
              <a:t>Flow_Risk_Branch</a:t>
            </a:r>
          </a:p>
        </p:txBody>
      </p:sp>
      <p:sp>
        <p:nvSpPr>
          <p:cNvPr id="3" name="Content Placeholder 2">
            <a:extLst>
              <a:ext uri="{FF2B5EF4-FFF2-40B4-BE49-F238E27FC236}">
                <a16:creationId xmlns:a16="http://schemas.microsoft.com/office/drawing/2014/main" id="{CD70AFB6-9307-A912-862B-A698CD56D0AB}"/>
              </a:ext>
            </a:extLst>
          </p:cNvPr>
          <p:cNvSpPr>
            <a:spLocks noGrp="1"/>
          </p:cNvSpPr>
          <p:nvPr>
            <p:ph idx="1"/>
          </p:nvPr>
        </p:nvSpPr>
        <p:spPr>
          <a:xfrm>
            <a:off x="114300" y="571500"/>
            <a:ext cx="11972925" cy="6076949"/>
          </a:xfrm>
        </p:spPr>
        <p:txBody>
          <a:bodyPr/>
          <a:lstStyle/>
          <a:p>
            <a:r>
              <a:rPr lang="en-US" b="1"/>
              <a:t>Risk_Branch_code: int, PK , identity</a:t>
            </a:r>
          </a:p>
          <a:p>
            <a:r>
              <a:rPr lang="en-US" b="1"/>
              <a:t>product_Id: </a:t>
            </a:r>
            <a:r>
              <a:rPr lang="en-US" b="1">
                <a:solidFill>
                  <a:srgbClr val="FFFF00"/>
                </a:solidFill>
              </a:rPr>
              <a:t>int FK from Product</a:t>
            </a:r>
          </a:p>
          <a:p>
            <a:r>
              <a:rPr lang="en-US" b="1"/>
              <a:t>BranchId: </a:t>
            </a:r>
            <a:r>
              <a:rPr lang="en-US" b="1">
                <a:solidFill>
                  <a:srgbClr val="FFFF00"/>
                </a:solidFill>
              </a:rPr>
              <a:t>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161427192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894A-47F9-82DC-5913-0F9F27D995CE}"/>
              </a:ext>
            </a:extLst>
          </p:cNvPr>
          <p:cNvSpPr>
            <a:spLocks noGrp="1"/>
          </p:cNvSpPr>
          <p:nvPr>
            <p:ph type="title"/>
          </p:nvPr>
        </p:nvSpPr>
        <p:spPr>
          <a:xfrm>
            <a:off x="913795" y="0"/>
            <a:ext cx="10353762" cy="666750"/>
          </a:xfrm>
        </p:spPr>
        <p:txBody>
          <a:bodyPr>
            <a:normAutofit fontScale="90000"/>
          </a:bodyPr>
          <a:lstStyle/>
          <a:p>
            <a:r>
              <a:rPr lang="en-US" b="1">
                <a:solidFill>
                  <a:srgbClr val="FFFF00"/>
                </a:solidFill>
              </a:rPr>
              <a:t>TWF</a:t>
            </a:r>
            <a:r>
              <a:rPr lang="en-US"/>
              <a:t>.</a:t>
            </a:r>
            <a:r>
              <a:rPr lang="en-US" b="1">
                <a:solidFill>
                  <a:srgbClr val="FF0000"/>
                </a:solidFill>
              </a:rPr>
              <a:t>Flow_Risk_Responsible</a:t>
            </a:r>
          </a:p>
        </p:txBody>
      </p:sp>
      <p:sp>
        <p:nvSpPr>
          <p:cNvPr id="3" name="Content Placeholder 2">
            <a:extLst>
              <a:ext uri="{FF2B5EF4-FFF2-40B4-BE49-F238E27FC236}">
                <a16:creationId xmlns:a16="http://schemas.microsoft.com/office/drawing/2014/main" id="{A42D913F-1810-F50D-53E1-5D6E1D46F569}"/>
              </a:ext>
            </a:extLst>
          </p:cNvPr>
          <p:cNvSpPr>
            <a:spLocks noGrp="1"/>
          </p:cNvSpPr>
          <p:nvPr>
            <p:ph idx="1"/>
          </p:nvPr>
        </p:nvSpPr>
        <p:spPr>
          <a:xfrm>
            <a:off x="333375" y="666751"/>
            <a:ext cx="10934182" cy="5915024"/>
          </a:xfrm>
        </p:spPr>
        <p:txBody>
          <a:bodyPr/>
          <a:lstStyle/>
          <a:p>
            <a:r>
              <a:rPr lang="en-US" b="1"/>
              <a:t>Risk_Responsible_code: int</a:t>
            </a:r>
          </a:p>
          <a:p>
            <a:r>
              <a:rPr lang="en-US" b="1"/>
              <a:t>product_Id: int, FK from Product</a:t>
            </a:r>
          </a:p>
          <a:p>
            <a:r>
              <a:rPr lang="en-US" b="1"/>
              <a:t>UserId: int, FK from user</a:t>
            </a:r>
          </a:p>
          <a:p>
            <a:r>
              <a:rPr lang="en-US" b="1"/>
              <a:t>BranchId: 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382307906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7C4B9-9451-CB01-653B-38AD35D0954A}"/>
              </a:ext>
            </a:extLst>
          </p:cNvPr>
          <p:cNvSpPr>
            <a:spLocks noGrp="1"/>
          </p:cNvSpPr>
          <p:nvPr>
            <p:ph type="title"/>
          </p:nvPr>
        </p:nvSpPr>
        <p:spPr>
          <a:xfrm>
            <a:off x="913795" y="0"/>
            <a:ext cx="10353762" cy="542925"/>
          </a:xfrm>
        </p:spPr>
        <p:txBody>
          <a:bodyPr>
            <a:normAutofit fontScale="90000"/>
          </a:bodyPr>
          <a:lstStyle/>
          <a:p>
            <a:r>
              <a:rPr lang="en-US" b="1">
                <a:solidFill>
                  <a:srgbClr val="FFFF00"/>
                </a:solidFill>
              </a:rPr>
              <a:t>TWF</a:t>
            </a:r>
            <a:r>
              <a:rPr lang="en-US" b="1"/>
              <a:t>.</a:t>
            </a:r>
            <a:r>
              <a:rPr lang="en-US" b="1">
                <a:solidFill>
                  <a:srgbClr val="FF0000"/>
                </a:solidFill>
              </a:rPr>
              <a:t>Flow_identi_risks_admin</a:t>
            </a:r>
          </a:p>
        </p:txBody>
      </p:sp>
      <p:sp>
        <p:nvSpPr>
          <p:cNvPr id="3" name="Content Placeholder 2">
            <a:extLst>
              <a:ext uri="{FF2B5EF4-FFF2-40B4-BE49-F238E27FC236}">
                <a16:creationId xmlns:a16="http://schemas.microsoft.com/office/drawing/2014/main" id="{2F9ED29E-9605-F9D3-4AA9-D4F1088381DD}"/>
              </a:ext>
            </a:extLst>
          </p:cNvPr>
          <p:cNvSpPr>
            <a:spLocks noGrp="1"/>
          </p:cNvSpPr>
          <p:nvPr>
            <p:ph idx="1"/>
          </p:nvPr>
        </p:nvSpPr>
        <p:spPr>
          <a:xfrm>
            <a:off x="190500" y="542925"/>
            <a:ext cx="11820525" cy="6181725"/>
          </a:xfrm>
        </p:spPr>
        <p:txBody>
          <a:bodyPr/>
          <a:lstStyle/>
          <a:p>
            <a:r>
              <a:rPr lang="en-US" b="1"/>
              <a:t>R_code: int: PK</a:t>
            </a:r>
          </a:p>
          <a:p>
            <a:r>
              <a:rPr lang="en-US" b="1"/>
              <a:t>R_code_Identity: int, identity</a:t>
            </a:r>
          </a:p>
          <a:p>
            <a:r>
              <a:rPr lang="en-US" b="1"/>
              <a:t>product_Id: int, FK from Product</a:t>
            </a:r>
          </a:p>
          <a:p>
            <a:r>
              <a:rPr lang="en-US" b="1"/>
              <a:t>Number: int</a:t>
            </a:r>
          </a:p>
          <a:p>
            <a:r>
              <a:rPr lang="en-US" b="1"/>
              <a:t>AppointmentMonthsFrom: decimal</a:t>
            </a:r>
          </a:p>
          <a:p>
            <a:r>
              <a:rPr lang="en-US" b="1"/>
              <a:t>AppointmentMonthsTo: decimal</a:t>
            </a:r>
          </a:p>
          <a:p>
            <a:r>
              <a:rPr lang="en-US" b="1"/>
              <a:t>Max_loans: int</a:t>
            </a:r>
          </a:p>
        </p:txBody>
      </p:sp>
      <p:pic>
        <p:nvPicPr>
          <p:cNvPr id="5" name="Picture 4">
            <a:extLst>
              <a:ext uri="{FF2B5EF4-FFF2-40B4-BE49-F238E27FC236}">
                <a16:creationId xmlns:a16="http://schemas.microsoft.com/office/drawing/2014/main" id="{0D768565-F8F2-7D71-B68F-C5E9C8DCCC1F}"/>
              </a:ext>
            </a:extLst>
          </p:cNvPr>
          <p:cNvPicPr>
            <a:picLocks noChangeAspect="1"/>
          </p:cNvPicPr>
          <p:nvPr/>
        </p:nvPicPr>
        <p:blipFill>
          <a:blip r:embed="rId2"/>
          <a:stretch>
            <a:fillRect/>
          </a:stretch>
        </p:blipFill>
        <p:spPr>
          <a:xfrm>
            <a:off x="5124232" y="763844"/>
            <a:ext cx="6724868" cy="1854433"/>
          </a:xfrm>
          <a:prstGeom prst="rect">
            <a:avLst/>
          </a:prstGeom>
        </p:spPr>
      </p:pic>
    </p:spTree>
    <p:extLst>
      <p:ext uri="{BB962C8B-B14F-4D97-AF65-F5344CB8AC3E}">
        <p14:creationId xmlns:p14="http://schemas.microsoft.com/office/powerpoint/2010/main" val="152061109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32EBD-9B17-BE97-1E8B-8DCFCD0587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462BCB-7FE3-BB68-89F0-89A33631CA50}"/>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End Risk</a:t>
            </a:r>
          </a:p>
        </p:txBody>
      </p:sp>
    </p:spTree>
    <p:extLst>
      <p:ext uri="{BB962C8B-B14F-4D97-AF65-F5344CB8AC3E}">
        <p14:creationId xmlns:p14="http://schemas.microsoft.com/office/powerpoint/2010/main" val="129124802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fontScale="92500"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b="1"/>
              <a:t>Confirm_Score: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6774873" y="825937"/>
            <a:ext cx="5375752"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6774873" y="1602659"/>
            <a:ext cx="5417126"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6774873" y="2150209"/>
            <a:ext cx="5417126"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4611329" y="1548025"/>
            <a:ext cx="758067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4611329" y="2142876"/>
            <a:ext cx="758067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6639453" y="2737727"/>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22EA-960E-6291-8AC2-5FC637FC10AC}"/>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Security</a:t>
            </a:r>
            <a:r>
              <a:rPr lang="en-US"/>
              <a:t>.</a:t>
            </a:r>
            <a:r>
              <a:rPr lang="en-US" b="1">
                <a:solidFill>
                  <a:srgbClr val="FF0000"/>
                </a:solidFill>
              </a:rPr>
              <a:t>Sec_APIs</a:t>
            </a:r>
          </a:p>
        </p:txBody>
      </p:sp>
      <p:sp>
        <p:nvSpPr>
          <p:cNvPr id="3" name="Content Placeholder 2">
            <a:extLst>
              <a:ext uri="{FF2B5EF4-FFF2-40B4-BE49-F238E27FC236}">
                <a16:creationId xmlns:a16="http://schemas.microsoft.com/office/drawing/2014/main" id="{A5971EED-0FE0-775F-39CD-3C17D64BE8AC}"/>
              </a:ext>
            </a:extLst>
          </p:cNvPr>
          <p:cNvSpPr>
            <a:spLocks noGrp="1"/>
          </p:cNvSpPr>
          <p:nvPr>
            <p:ph idx="1"/>
          </p:nvPr>
        </p:nvSpPr>
        <p:spPr>
          <a:xfrm>
            <a:off x="249382" y="561109"/>
            <a:ext cx="11710554" cy="6047509"/>
          </a:xfrm>
        </p:spPr>
        <p:txBody>
          <a:bodyPr/>
          <a:lstStyle/>
          <a:p>
            <a:r>
              <a:rPr lang="en-US"/>
              <a:t>API_ID: </a:t>
            </a:r>
            <a:r>
              <a:rPr lang="en-US" b="1">
                <a:solidFill>
                  <a:srgbClr val="FFFF00"/>
                </a:solidFill>
              </a:rPr>
              <a:t>PK</a:t>
            </a:r>
            <a:r>
              <a:rPr lang="en-US"/>
              <a:t>, </a:t>
            </a:r>
          </a:p>
          <a:p>
            <a:r>
              <a:rPr lang="en-US" b="1"/>
              <a:t>ControllerName: string</a:t>
            </a:r>
          </a:p>
          <a:p>
            <a:r>
              <a:rPr lang="en-US" b="1"/>
              <a:t>ActionName: string</a:t>
            </a:r>
          </a:p>
        </p:txBody>
      </p:sp>
      <p:pic>
        <p:nvPicPr>
          <p:cNvPr id="5" name="Picture 4">
            <a:extLst>
              <a:ext uri="{FF2B5EF4-FFF2-40B4-BE49-F238E27FC236}">
                <a16:creationId xmlns:a16="http://schemas.microsoft.com/office/drawing/2014/main" id="{EC0DF08D-7B2A-55F4-7A73-0529F957AEEB}"/>
              </a:ext>
            </a:extLst>
          </p:cNvPr>
          <p:cNvPicPr>
            <a:picLocks noChangeAspect="1"/>
          </p:cNvPicPr>
          <p:nvPr/>
        </p:nvPicPr>
        <p:blipFill>
          <a:blip r:embed="rId2"/>
          <a:stretch>
            <a:fillRect/>
          </a:stretch>
        </p:blipFill>
        <p:spPr>
          <a:xfrm>
            <a:off x="5811726" y="644236"/>
            <a:ext cx="4436917" cy="2457189"/>
          </a:xfrm>
          <a:prstGeom prst="rect">
            <a:avLst/>
          </a:prstGeom>
        </p:spPr>
      </p:pic>
    </p:spTree>
    <p:extLst>
      <p:ext uri="{BB962C8B-B14F-4D97-AF65-F5344CB8AC3E}">
        <p14:creationId xmlns:p14="http://schemas.microsoft.com/office/powerpoint/2010/main" val="211636621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3BDCE-BF36-0D1C-751F-AB0C9200840C}"/>
              </a:ext>
            </a:extLst>
          </p:cNvPr>
          <p:cNvSpPr>
            <a:spLocks noGrp="1"/>
          </p:cNvSpPr>
          <p:nvPr>
            <p:ph type="title"/>
          </p:nvPr>
        </p:nvSpPr>
        <p:spPr>
          <a:xfrm>
            <a:off x="919119" y="0"/>
            <a:ext cx="10353762" cy="523875"/>
          </a:xfrm>
        </p:spPr>
        <p:txBody>
          <a:bodyPr>
            <a:normAutofit fontScale="90000"/>
          </a:bodyPr>
          <a:lstStyle/>
          <a:p>
            <a:r>
              <a:rPr lang="en-US" b="1">
                <a:solidFill>
                  <a:srgbClr val="FFFF00"/>
                </a:solidFill>
              </a:rPr>
              <a:t>Security</a:t>
            </a:r>
            <a:r>
              <a:rPr lang="en-US" b="1"/>
              <a:t>.</a:t>
            </a:r>
            <a:r>
              <a:rPr lang="en-US" b="1">
                <a:solidFill>
                  <a:srgbClr val="FF0000"/>
                </a:solidFill>
              </a:rPr>
              <a:t>Sec_Api_Pages</a:t>
            </a:r>
          </a:p>
        </p:txBody>
      </p:sp>
      <p:sp>
        <p:nvSpPr>
          <p:cNvPr id="3" name="Content Placeholder 2">
            <a:extLst>
              <a:ext uri="{FF2B5EF4-FFF2-40B4-BE49-F238E27FC236}">
                <a16:creationId xmlns:a16="http://schemas.microsoft.com/office/drawing/2014/main" id="{9C2C54FE-69AA-D409-8571-E0C1DB816B43}"/>
              </a:ext>
            </a:extLst>
          </p:cNvPr>
          <p:cNvSpPr>
            <a:spLocks noGrp="1"/>
          </p:cNvSpPr>
          <p:nvPr>
            <p:ph idx="1"/>
          </p:nvPr>
        </p:nvSpPr>
        <p:spPr>
          <a:xfrm>
            <a:off x="180975" y="742950"/>
            <a:ext cx="11925300" cy="5810249"/>
          </a:xfrm>
        </p:spPr>
        <p:txBody>
          <a:bodyPr>
            <a:normAutofit/>
          </a:bodyPr>
          <a:lstStyle/>
          <a:p>
            <a:endParaRPr lang="en-US" sz="1800" b="1"/>
          </a:p>
          <a:p>
            <a:endParaRPr lang="en-US" sz="1800" b="1"/>
          </a:p>
          <a:p>
            <a:r>
              <a:rPr lang="en-US" sz="1800" b="1"/>
              <a:t>API_PageID: int, identity</a:t>
            </a:r>
          </a:p>
          <a:p>
            <a:r>
              <a:rPr lang="en-US" sz="1800" b="1"/>
              <a:t>API_ID: FK from Sec_APIs</a:t>
            </a:r>
          </a:p>
          <a:p>
            <a:r>
              <a:rPr lang="en-US" sz="1800" b="1"/>
              <a:t>Menu_ID: FK from SEC_Menu</a:t>
            </a:r>
          </a:p>
          <a:p>
            <a:r>
              <a:rPr lang="en-US" sz="1800" b="1"/>
              <a:t>ActionType: FK from SEC_Action</a:t>
            </a:r>
          </a:p>
          <a:p>
            <a:endParaRPr lang="en-US" sz="1800" b="1"/>
          </a:p>
          <a:p>
            <a:r>
              <a:rPr lang="en-US" sz="1800" b="1"/>
              <a:t>HasKey(t =&gt; new { t.API_ID, t.Menu_ID, t.ActionType });</a:t>
            </a:r>
          </a:p>
        </p:txBody>
      </p:sp>
      <p:pic>
        <p:nvPicPr>
          <p:cNvPr id="5" name="Picture 4">
            <a:extLst>
              <a:ext uri="{FF2B5EF4-FFF2-40B4-BE49-F238E27FC236}">
                <a16:creationId xmlns:a16="http://schemas.microsoft.com/office/drawing/2014/main" id="{49C92708-B491-1FBE-15EB-DB7B65593829}"/>
              </a:ext>
            </a:extLst>
          </p:cNvPr>
          <p:cNvPicPr>
            <a:picLocks noChangeAspect="1"/>
          </p:cNvPicPr>
          <p:nvPr/>
        </p:nvPicPr>
        <p:blipFill>
          <a:blip r:embed="rId2"/>
          <a:stretch>
            <a:fillRect/>
          </a:stretch>
        </p:blipFill>
        <p:spPr>
          <a:xfrm>
            <a:off x="7116958" y="890888"/>
            <a:ext cx="3284341" cy="2137983"/>
          </a:xfrm>
          <a:prstGeom prst="rect">
            <a:avLst/>
          </a:prstGeom>
        </p:spPr>
      </p:pic>
    </p:spTree>
    <p:extLst>
      <p:ext uri="{BB962C8B-B14F-4D97-AF65-F5344CB8AC3E}">
        <p14:creationId xmlns:p14="http://schemas.microsoft.com/office/powerpoint/2010/main" val="250547248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472672"/>
          </a:xfrm>
        </p:spPr>
        <p:txBody>
          <a:bodyPr>
            <a:normAutofit fontScale="90000"/>
          </a:bodyPr>
          <a:lstStyle/>
          <a:p>
            <a:r>
              <a:rPr lang="en-US" sz="3600" b="1">
                <a:solidFill>
                  <a:srgbClr val="FFFF00"/>
                </a:solidFill>
              </a:rPr>
              <a:t>Security</a:t>
            </a:r>
            <a:r>
              <a:rPr lang="en-US" sz="3600"/>
              <a:t>.</a:t>
            </a:r>
            <a:r>
              <a:rPr lang="en-US" sz="3600"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a:t>
            </a:r>
          </a:p>
          <a:p>
            <a:r>
              <a:rPr lang="en-US"/>
              <a:t>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6682507" y="1881733"/>
            <a:ext cx="4438641" cy="2699792"/>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E1DD5-5F0F-CD86-65A3-F4089A446C78}"/>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Security.</a:t>
            </a:r>
            <a:r>
              <a:rPr lang="en-US" b="1">
                <a:solidFill>
                  <a:srgbClr val="FF0000"/>
                </a:solidFill>
              </a:rPr>
              <a:t>SEC_Group_Action</a:t>
            </a:r>
          </a:p>
        </p:txBody>
      </p:sp>
      <p:sp>
        <p:nvSpPr>
          <p:cNvPr id="3" name="Content Placeholder 2">
            <a:extLst>
              <a:ext uri="{FF2B5EF4-FFF2-40B4-BE49-F238E27FC236}">
                <a16:creationId xmlns:a16="http://schemas.microsoft.com/office/drawing/2014/main" id="{AEA0AD90-16DC-82F8-F534-87DDC02C8657}"/>
              </a:ext>
            </a:extLst>
          </p:cNvPr>
          <p:cNvSpPr>
            <a:spLocks noGrp="1"/>
          </p:cNvSpPr>
          <p:nvPr>
            <p:ph idx="1"/>
          </p:nvPr>
        </p:nvSpPr>
        <p:spPr>
          <a:xfrm>
            <a:off x="333374" y="628650"/>
            <a:ext cx="11420475" cy="6019799"/>
          </a:xfrm>
        </p:spPr>
        <p:txBody>
          <a:bodyPr/>
          <a:lstStyle/>
          <a:p>
            <a:r>
              <a:rPr lang="en-US" b="1"/>
              <a:t>Id_SJA: PK, </a:t>
            </a:r>
            <a:r>
              <a:rPr lang="en-US"/>
              <a:t>Identity</a:t>
            </a:r>
            <a:endParaRPr lang="en-US" b="1"/>
          </a:p>
          <a:p>
            <a:r>
              <a:rPr lang="en-US" b="1"/>
              <a:t>GroupId FK from </a:t>
            </a:r>
            <a:r>
              <a:rPr lang="en-US"/>
              <a:t>SEC_Group</a:t>
            </a:r>
            <a:endParaRPr lang="en-US" b="1"/>
          </a:p>
          <a:p>
            <a:r>
              <a:rPr lang="en-US" b="1"/>
              <a:t>Action_id: FK from </a:t>
            </a:r>
            <a:r>
              <a:rPr lang="en-US"/>
              <a:t>SEC_Action</a:t>
            </a:r>
            <a:endParaRPr lang="en-US" b="1"/>
          </a:p>
          <a:p>
            <a:endParaRPr lang="en-US" b="1"/>
          </a:p>
        </p:txBody>
      </p:sp>
      <p:pic>
        <p:nvPicPr>
          <p:cNvPr id="5" name="Picture 4">
            <a:extLst>
              <a:ext uri="{FF2B5EF4-FFF2-40B4-BE49-F238E27FC236}">
                <a16:creationId xmlns:a16="http://schemas.microsoft.com/office/drawing/2014/main" id="{DA843739-CAB4-16F6-BA53-0D0626DDA120}"/>
              </a:ext>
            </a:extLst>
          </p:cNvPr>
          <p:cNvPicPr>
            <a:picLocks noChangeAspect="1"/>
          </p:cNvPicPr>
          <p:nvPr/>
        </p:nvPicPr>
        <p:blipFill>
          <a:blip r:embed="rId2"/>
          <a:stretch>
            <a:fillRect/>
          </a:stretch>
        </p:blipFill>
        <p:spPr>
          <a:xfrm>
            <a:off x="7181850" y="628650"/>
            <a:ext cx="2562224" cy="2002175"/>
          </a:xfrm>
          <a:prstGeom prst="rect">
            <a:avLst/>
          </a:prstGeom>
        </p:spPr>
      </p:pic>
    </p:spTree>
    <p:extLst>
      <p:ext uri="{BB962C8B-B14F-4D97-AF65-F5344CB8AC3E}">
        <p14:creationId xmlns:p14="http://schemas.microsoft.com/office/powerpoint/2010/main" val="362544043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817A-D038-998F-C036-17D26D5CB3B6}"/>
              </a:ext>
            </a:extLst>
          </p:cNvPr>
          <p:cNvSpPr>
            <a:spLocks noGrp="1"/>
          </p:cNvSpPr>
          <p:nvPr>
            <p:ph type="title"/>
          </p:nvPr>
        </p:nvSpPr>
        <p:spPr>
          <a:xfrm>
            <a:off x="913795" y="0"/>
            <a:ext cx="10353762" cy="552450"/>
          </a:xfrm>
        </p:spPr>
        <p:txBody>
          <a:bodyPr>
            <a:normAutofit fontScale="90000"/>
          </a:bodyPr>
          <a:lstStyle/>
          <a:p>
            <a:r>
              <a:rPr lang="en-US" b="1">
                <a:solidFill>
                  <a:srgbClr val="FFFF00"/>
                </a:solidFill>
              </a:rPr>
              <a:t>Security</a:t>
            </a:r>
            <a:r>
              <a:rPr lang="en-US"/>
              <a:t>.</a:t>
            </a:r>
            <a:r>
              <a:rPr lang="en-US" b="1">
                <a:solidFill>
                  <a:srgbClr val="FF0000"/>
                </a:solidFill>
              </a:rPr>
              <a:t>SEC_User_Action</a:t>
            </a:r>
          </a:p>
        </p:txBody>
      </p:sp>
      <p:sp>
        <p:nvSpPr>
          <p:cNvPr id="3" name="Content Placeholder 2">
            <a:extLst>
              <a:ext uri="{FF2B5EF4-FFF2-40B4-BE49-F238E27FC236}">
                <a16:creationId xmlns:a16="http://schemas.microsoft.com/office/drawing/2014/main" id="{A498DE5A-2579-9127-5EB1-8EB2BD15F365}"/>
              </a:ext>
            </a:extLst>
          </p:cNvPr>
          <p:cNvSpPr>
            <a:spLocks noGrp="1"/>
          </p:cNvSpPr>
          <p:nvPr>
            <p:ph idx="1"/>
          </p:nvPr>
        </p:nvSpPr>
        <p:spPr>
          <a:xfrm>
            <a:off x="123824" y="552451"/>
            <a:ext cx="11934826" cy="6162674"/>
          </a:xfrm>
        </p:spPr>
        <p:txBody>
          <a:bodyPr/>
          <a:lstStyle/>
          <a:p>
            <a:endParaRPr lang="en-US"/>
          </a:p>
          <a:p>
            <a:r>
              <a:rPr lang="en-US" b="1"/>
              <a:t>Id_SUA: int, identity</a:t>
            </a:r>
          </a:p>
          <a:p>
            <a:r>
              <a:rPr lang="en-US"/>
              <a:t>UserId: int, FK from </a:t>
            </a:r>
            <a:r>
              <a:rPr lang="en-US" b="1">
                <a:solidFill>
                  <a:srgbClr val="00B0F0"/>
                </a:solidFill>
              </a:rPr>
              <a:t>User</a:t>
            </a:r>
          </a:p>
          <a:p>
            <a:r>
              <a:rPr lang="en-US"/>
              <a:t>Action_id: int</a:t>
            </a:r>
            <a:r>
              <a:rPr lang="en-US" b="1"/>
              <a:t>, FK from </a:t>
            </a:r>
            <a:r>
              <a:rPr lang="en-US" b="1">
                <a:solidFill>
                  <a:srgbClr val="00B0F0"/>
                </a:solidFill>
              </a:rPr>
              <a:t>SEC_Action</a:t>
            </a:r>
          </a:p>
          <a:p>
            <a:pPr marL="36900" indent="0">
              <a:buNone/>
            </a:pPr>
            <a:endParaRPr lang="en-US"/>
          </a:p>
          <a:p>
            <a:r>
              <a:rPr lang="en-US"/>
              <a:t>HasKey(t =&gt; new { t.</a:t>
            </a:r>
            <a:r>
              <a:rPr lang="en-US" b="1">
                <a:solidFill>
                  <a:srgbClr val="00B0F0"/>
                </a:solidFill>
              </a:rPr>
              <a:t>Id_SUA</a:t>
            </a:r>
            <a:r>
              <a:rPr lang="en-US"/>
              <a:t>, t.</a:t>
            </a:r>
            <a:r>
              <a:rPr lang="en-US" b="1">
                <a:solidFill>
                  <a:srgbClr val="00B0F0"/>
                </a:solidFill>
              </a:rPr>
              <a:t>UserId</a:t>
            </a:r>
            <a:r>
              <a:rPr lang="en-US"/>
              <a:t>, t.</a:t>
            </a:r>
            <a:r>
              <a:rPr lang="en-US" b="1">
                <a:solidFill>
                  <a:srgbClr val="00B0F0"/>
                </a:solidFill>
              </a:rPr>
              <a:t>Action_id</a:t>
            </a:r>
            <a:r>
              <a:rPr lang="en-US"/>
              <a:t> });</a:t>
            </a:r>
          </a:p>
        </p:txBody>
      </p:sp>
      <p:pic>
        <p:nvPicPr>
          <p:cNvPr id="5" name="Picture 4">
            <a:extLst>
              <a:ext uri="{FF2B5EF4-FFF2-40B4-BE49-F238E27FC236}">
                <a16:creationId xmlns:a16="http://schemas.microsoft.com/office/drawing/2014/main" id="{8523F525-26A7-9662-14E7-2A2014B682C0}"/>
              </a:ext>
            </a:extLst>
          </p:cNvPr>
          <p:cNvPicPr>
            <a:picLocks noChangeAspect="1"/>
          </p:cNvPicPr>
          <p:nvPr/>
        </p:nvPicPr>
        <p:blipFill>
          <a:blip r:embed="rId2"/>
          <a:stretch>
            <a:fillRect/>
          </a:stretch>
        </p:blipFill>
        <p:spPr>
          <a:xfrm>
            <a:off x="8863374" y="807659"/>
            <a:ext cx="2404183" cy="1990794"/>
          </a:xfrm>
          <a:prstGeom prst="rect">
            <a:avLst/>
          </a:prstGeom>
        </p:spPr>
      </p:pic>
    </p:spTree>
    <p:extLst>
      <p:ext uri="{BB962C8B-B14F-4D97-AF65-F5344CB8AC3E}">
        <p14:creationId xmlns:p14="http://schemas.microsoft.com/office/powerpoint/2010/main" val="195700379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B16D4-6D40-10AE-1446-930D81EC2D53}"/>
              </a:ext>
            </a:extLst>
          </p:cNvPr>
          <p:cNvSpPr>
            <a:spLocks noGrp="1"/>
          </p:cNvSpPr>
          <p:nvPr>
            <p:ph type="title"/>
          </p:nvPr>
        </p:nvSpPr>
        <p:spPr>
          <a:xfrm>
            <a:off x="913795" y="-1"/>
            <a:ext cx="10353762" cy="592667"/>
          </a:xfrm>
        </p:spPr>
        <p:txBody>
          <a:bodyPr>
            <a:normAutofit fontScale="90000"/>
          </a:bodyPr>
          <a:lstStyle/>
          <a:p>
            <a:r>
              <a:rPr lang="en-US" b="1">
                <a:solidFill>
                  <a:srgbClr val="FFFF00"/>
                </a:solidFill>
              </a:rPr>
              <a:t>Security</a:t>
            </a:r>
            <a:r>
              <a:rPr lang="en-US"/>
              <a:t>.</a:t>
            </a:r>
            <a:r>
              <a:rPr lang="en-US" b="1">
                <a:solidFill>
                  <a:srgbClr val="FF0000"/>
                </a:solidFill>
              </a:rPr>
              <a:t>SEC_User_gruop</a:t>
            </a:r>
          </a:p>
        </p:txBody>
      </p:sp>
      <p:sp>
        <p:nvSpPr>
          <p:cNvPr id="3" name="Content Placeholder 2">
            <a:extLst>
              <a:ext uri="{FF2B5EF4-FFF2-40B4-BE49-F238E27FC236}">
                <a16:creationId xmlns:a16="http://schemas.microsoft.com/office/drawing/2014/main" id="{49CE8432-A968-7AB2-66FC-99DBAD218107}"/>
              </a:ext>
            </a:extLst>
          </p:cNvPr>
          <p:cNvSpPr>
            <a:spLocks noGrp="1"/>
          </p:cNvSpPr>
          <p:nvPr>
            <p:ph idx="1"/>
          </p:nvPr>
        </p:nvSpPr>
        <p:spPr>
          <a:xfrm>
            <a:off x="84666" y="668867"/>
            <a:ext cx="12005733" cy="5931957"/>
          </a:xfrm>
        </p:spPr>
        <p:txBody>
          <a:bodyPr/>
          <a:lstStyle/>
          <a:p>
            <a:r>
              <a:rPr lang="en-US"/>
              <a:t>UserId: </a:t>
            </a:r>
            <a:r>
              <a:rPr lang="en-US" b="1">
                <a:solidFill>
                  <a:srgbClr val="FFFF00"/>
                </a:solidFill>
              </a:rPr>
              <a:t>FK</a:t>
            </a:r>
            <a:r>
              <a:rPr lang="en-US"/>
              <a:t> from User</a:t>
            </a:r>
          </a:p>
          <a:p>
            <a:r>
              <a:rPr lang="en-US"/>
              <a:t>Role_id: from </a:t>
            </a:r>
            <a:r>
              <a:rPr lang="en-US" b="1">
                <a:solidFill>
                  <a:srgbClr val="FFFF00"/>
                </a:solidFill>
              </a:rPr>
              <a:t>SEC_Group // </a:t>
            </a:r>
          </a:p>
          <a:p>
            <a:r>
              <a:rPr lang="en-US"/>
              <a:t>UG_id: identity</a:t>
            </a:r>
          </a:p>
          <a:p>
            <a:r>
              <a:rPr lang="en-US"/>
              <a:t>HasKey(t =&gt; new { t.UserId, t.Role_id, t.UG_id });</a:t>
            </a:r>
            <a:endParaRPr lang="ar-EG"/>
          </a:p>
          <a:p>
            <a:endParaRPr lang="ar-EG"/>
          </a:p>
          <a:p>
            <a:endParaRPr lang="ar-EG"/>
          </a:p>
          <a:p>
            <a:endParaRPr lang="ar-EG"/>
          </a:p>
          <a:p>
            <a:r>
              <a:rPr lang="en-US"/>
              <a:t>Note : this table to holds the roles of the users</a:t>
            </a:r>
          </a:p>
          <a:p>
            <a:endParaRPr lang="en-US"/>
          </a:p>
        </p:txBody>
      </p:sp>
      <p:pic>
        <p:nvPicPr>
          <p:cNvPr id="5" name="Picture 4">
            <a:extLst>
              <a:ext uri="{FF2B5EF4-FFF2-40B4-BE49-F238E27FC236}">
                <a16:creationId xmlns:a16="http://schemas.microsoft.com/office/drawing/2014/main" id="{9EB3B60A-1F4B-8E2A-E56C-2791ABFA1ACE}"/>
              </a:ext>
            </a:extLst>
          </p:cNvPr>
          <p:cNvPicPr>
            <a:picLocks noChangeAspect="1"/>
          </p:cNvPicPr>
          <p:nvPr/>
        </p:nvPicPr>
        <p:blipFill>
          <a:blip r:embed="rId2"/>
          <a:stretch>
            <a:fillRect/>
          </a:stretch>
        </p:blipFill>
        <p:spPr>
          <a:xfrm>
            <a:off x="7789335" y="592666"/>
            <a:ext cx="2980266" cy="3841338"/>
          </a:xfrm>
          <a:prstGeom prst="rect">
            <a:avLst/>
          </a:prstGeom>
        </p:spPr>
      </p:pic>
    </p:spTree>
    <p:extLst>
      <p:ext uri="{BB962C8B-B14F-4D97-AF65-F5344CB8AC3E}">
        <p14:creationId xmlns:p14="http://schemas.microsoft.com/office/powerpoint/2010/main" val="60184742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550719"/>
            <a:ext cx="11994572" cy="6120246"/>
          </a:xfrm>
        </p:spPr>
        <p:txBody>
          <a:bodyPr/>
          <a:lstStyle/>
          <a:p>
            <a:r>
              <a:rPr lang="en-US"/>
              <a:t>Menu_id: PK, identity</a:t>
            </a:r>
          </a:p>
          <a:p>
            <a:r>
              <a:rPr lang="en-US"/>
              <a:t>M_nameAr</a:t>
            </a:r>
          </a:p>
          <a:p>
            <a:pPr lvl="1"/>
            <a:r>
              <a:rPr lang="ar-EG" b="1"/>
              <a:t>معاملات الفروع</a:t>
            </a:r>
            <a:endParaRPr lang="en-US" b="1"/>
          </a:p>
          <a:p>
            <a:pPr lvl="1"/>
            <a:r>
              <a:rPr lang="ar-EG" b="1"/>
              <a:t>صرف تمويل</a:t>
            </a:r>
            <a:endParaRPr lang="en-US" b="1"/>
          </a:p>
          <a:p>
            <a:r>
              <a:rPr lang="en-US"/>
              <a:t>M_Parent_id: int , recursive to </a:t>
            </a:r>
            <a:r>
              <a:rPr lang="en-US" b="1">
                <a:solidFill>
                  <a:srgbClr val="FFFF00"/>
                </a:solidFill>
              </a:rPr>
              <a:t>Menu_id</a:t>
            </a:r>
          </a:p>
          <a:p>
            <a:r>
              <a:rPr lang="en-US" b="1"/>
              <a:t>Type</a:t>
            </a:r>
          </a:p>
          <a:p>
            <a:pPr lvl="1"/>
            <a:r>
              <a:rPr lang="en-US" b="1"/>
              <a:t>1: </a:t>
            </a:r>
            <a:r>
              <a:rPr lang="ar-EG" b="1"/>
              <a:t>رئيسية</a:t>
            </a:r>
            <a:endParaRPr lang="en-US" b="1"/>
          </a:p>
          <a:p>
            <a:pPr lvl="1"/>
            <a:r>
              <a:rPr lang="en-US" b="1"/>
              <a:t>2: </a:t>
            </a:r>
            <a:r>
              <a:rPr lang="ar-EG" b="1"/>
              <a:t>فرعية</a:t>
            </a:r>
            <a:endParaRPr lang="en-US" b="1"/>
          </a:p>
          <a:p>
            <a:pPr lvl="1"/>
            <a:r>
              <a:rPr lang="en-US" b="1"/>
              <a:t>3: </a:t>
            </a:r>
            <a:r>
              <a:rPr lang="ar-EG" b="1"/>
              <a:t>صفحة</a:t>
            </a:r>
            <a:endParaRPr lang="en-US" b="1"/>
          </a:p>
          <a:p>
            <a:r>
              <a:rPr lang="en-US" b="1"/>
              <a:t>M_Status</a:t>
            </a:r>
          </a:p>
          <a:p>
            <a:pPr lvl="1"/>
            <a:r>
              <a:rPr lang="en-US" b="1"/>
              <a:t>0: </a:t>
            </a:r>
            <a:r>
              <a:rPr lang="ar-EG" b="1"/>
              <a:t>غير مفعل</a:t>
            </a:r>
            <a:endParaRPr lang="en-US" b="1"/>
          </a:p>
          <a:p>
            <a:pPr lvl="1"/>
            <a:r>
              <a:rPr lang="en-US" b="1"/>
              <a:t>1: </a:t>
            </a:r>
            <a:r>
              <a:rPr lang="ar-EG" b="1"/>
              <a:t>مفعل</a:t>
            </a:r>
            <a:endParaRPr lang="en-US" b="1"/>
          </a:p>
          <a:p>
            <a:pPr lvl="1"/>
            <a:endParaRPr lang="en-US" b="1"/>
          </a:p>
          <a:p>
            <a:r>
              <a:rPr lang="en-US" b="1"/>
              <a:t>We could say this table represent where each page in the system </a:t>
            </a:r>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687237" y="737755"/>
            <a:ext cx="6386999" cy="245998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AF8D0-EC7A-C506-8880-EC389DF9E669}"/>
              </a:ext>
            </a:extLst>
          </p:cNvPr>
          <p:cNvSpPr>
            <a:spLocks noGrp="1"/>
          </p:cNvSpPr>
          <p:nvPr>
            <p:ph type="title"/>
          </p:nvPr>
        </p:nvSpPr>
        <p:spPr>
          <a:xfrm>
            <a:off x="913795" y="0"/>
            <a:ext cx="10353762" cy="695325"/>
          </a:xfrm>
        </p:spPr>
        <p:txBody>
          <a:bodyPr>
            <a:normAutofit fontScale="90000"/>
          </a:bodyPr>
          <a:lstStyle/>
          <a:p>
            <a:r>
              <a:rPr lang="en-US" b="1">
                <a:solidFill>
                  <a:srgbClr val="FFFF00"/>
                </a:solidFill>
              </a:rPr>
              <a:t>Security.</a:t>
            </a:r>
            <a:r>
              <a:rPr lang="en-US" b="1">
                <a:solidFill>
                  <a:srgbClr val="FF0000"/>
                </a:solidFill>
              </a:rPr>
              <a:t>SEC_User_Role_MenuAction</a:t>
            </a:r>
          </a:p>
        </p:txBody>
      </p:sp>
      <p:sp>
        <p:nvSpPr>
          <p:cNvPr id="3" name="Content Placeholder 2">
            <a:extLst>
              <a:ext uri="{FF2B5EF4-FFF2-40B4-BE49-F238E27FC236}">
                <a16:creationId xmlns:a16="http://schemas.microsoft.com/office/drawing/2014/main" id="{52B6BD6F-9EA4-6890-BF23-BD45D017129A}"/>
              </a:ext>
            </a:extLst>
          </p:cNvPr>
          <p:cNvSpPr>
            <a:spLocks noGrp="1"/>
          </p:cNvSpPr>
          <p:nvPr>
            <p:ph idx="1"/>
          </p:nvPr>
        </p:nvSpPr>
        <p:spPr>
          <a:xfrm>
            <a:off x="180974" y="695325"/>
            <a:ext cx="11782425" cy="6019800"/>
          </a:xfrm>
        </p:spPr>
        <p:txBody>
          <a:bodyPr/>
          <a:lstStyle/>
          <a:p>
            <a:r>
              <a:rPr lang="en-US"/>
              <a:t>URMA_id: int</a:t>
            </a:r>
          </a:p>
          <a:p>
            <a:r>
              <a:rPr lang="en-US"/>
              <a:t>Role_id: int FK from </a:t>
            </a:r>
            <a:r>
              <a:rPr lang="en-US" b="1">
                <a:solidFill>
                  <a:srgbClr val="FF0000"/>
                </a:solidFill>
              </a:rPr>
              <a:t>SEC_Group</a:t>
            </a:r>
          </a:p>
          <a:p>
            <a:r>
              <a:rPr lang="en-US"/>
              <a:t>Parent_Id: int FK from </a:t>
            </a:r>
            <a:r>
              <a:rPr lang="en-US" b="1">
                <a:solidFill>
                  <a:srgbClr val="FF0000"/>
                </a:solidFill>
              </a:rPr>
              <a:t>SEC_Menu</a:t>
            </a:r>
          </a:p>
          <a:p>
            <a:r>
              <a:rPr lang="en-US"/>
              <a:t>Child_Id: int FK from </a:t>
            </a:r>
            <a:r>
              <a:rPr lang="en-US" b="1">
                <a:solidFill>
                  <a:srgbClr val="FF0000"/>
                </a:solidFill>
              </a:rPr>
              <a:t>SEC_Menu</a:t>
            </a:r>
            <a:endParaRPr lang="en-US"/>
          </a:p>
          <a:p>
            <a:r>
              <a:rPr lang="en-US"/>
              <a:t>Paging_Id: int, FK from </a:t>
            </a:r>
            <a:r>
              <a:rPr lang="en-US" b="1">
                <a:solidFill>
                  <a:srgbClr val="FF0000"/>
                </a:solidFill>
              </a:rPr>
              <a:t>SEC_Menu</a:t>
            </a:r>
            <a:endParaRPr lang="en-US"/>
          </a:p>
          <a:p>
            <a:r>
              <a:rPr lang="en-US"/>
              <a:t>HasKey(t =&gt; new { t.</a:t>
            </a:r>
            <a:r>
              <a:rPr lang="en-US" b="1">
                <a:solidFill>
                  <a:srgbClr val="00B0F0"/>
                </a:solidFill>
              </a:rPr>
              <a:t>URMA_id</a:t>
            </a:r>
            <a:r>
              <a:rPr lang="en-US"/>
              <a:t>, t.</a:t>
            </a:r>
            <a:r>
              <a:rPr lang="en-US" b="1">
                <a:solidFill>
                  <a:srgbClr val="00B0F0"/>
                </a:solidFill>
              </a:rPr>
              <a:t>Role_id</a:t>
            </a:r>
            <a:r>
              <a:rPr lang="en-US"/>
              <a:t>, t.</a:t>
            </a:r>
            <a:r>
              <a:rPr lang="en-US" b="1">
                <a:solidFill>
                  <a:srgbClr val="00B0F0"/>
                </a:solidFill>
              </a:rPr>
              <a:t>Parent_Id</a:t>
            </a:r>
            <a:r>
              <a:rPr lang="en-US"/>
              <a:t>, t.</a:t>
            </a:r>
            <a:r>
              <a:rPr lang="en-US" b="1">
                <a:solidFill>
                  <a:srgbClr val="00B0F0"/>
                </a:solidFill>
              </a:rPr>
              <a:t>Child_Id</a:t>
            </a:r>
            <a:r>
              <a:rPr lang="en-US"/>
              <a:t>, t.</a:t>
            </a:r>
            <a:r>
              <a:rPr lang="en-US" b="1">
                <a:solidFill>
                  <a:srgbClr val="00B0F0"/>
                </a:solidFill>
              </a:rPr>
              <a:t>Paging_Id</a:t>
            </a:r>
            <a:r>
              <a:rPr lang="en-US"/>
              <a:t> })</a:t>
            </a:r>
          </a:p>
          <a:p>
            <a:endParaRPr lang="en-US"/>
          </a:p>
          <a:p>
            <a:r>
              <a:rPr lang="en-US" b="1"/>
              <a:t>Defines which role can access the menu/page for example</a:t>
            </a:r>
          </a:p>
          <a:p>
            <a:endParaRPr lang="en-US" b="1"/>
          </a:p>
          <a:p>
            <a:r>
              <a:rPr lang="en-US" b="1"/>
              <a:t>Pagin_Id: </a:t>
            </a:r>
            <a:r>
              <a:rPr lang="ar-EG" b="1"/>
              <a:t>تعديل اسم العميل</a:t>
            </a:r>
          </a:p>
          <a:p>
            <a:r>
              <a:rPr lang="en-US" b="1"/>
              <a:t>Child_id: </a:t>
            </a:r>
            <a:r>
              <a:rPr lang="ar-EG" b="1"/>
              <a:t>معاملات الفروع</a:t>
            </a:r>
          </a:p>
          <a:p>
            <a:r>
              <a:rPr lang="en-US" b="1"/>
              <a:t>Parent_id: </a:t>
            </a:r>
            <a:r>
              <a:rPr lang="ar-EG" b="1"/>
              <a:t>لوحة المعلومات</a:t>
            </a:r>
          </a:p>
          <a:p>
            <a:r>
              <a:rPr lang="en-US" b="1"/>
              <a:t>Role_id: </a:t>
            </a:r>
            <a:r>
              <a:rPr lang="ar-EG" b="1"/>
              <a:t>مدير النظام</a:t>
            </a:r>
            <a:endParaRPr lang="en-US" b="1"/>
          </a:p>
          <a:p>
            <a:endParaRPr lang="en-US"/>
          </a:p>
        </p:txBody>
      </p:sp>
      <p:pic>
        <p:nvPicPr>
          <p:cNvPr id="5" name="Picture 4">
            <a:extLst>
              <a:ext uri="{FF2B5EF4-FFF2-40B4-BE49-F238E27FC236}">
                <a16:creationId xmlns:a16="http://schemas.microsoft.com/office/drawing/2014/main" id="{E680EEB8-630A-1B44-3D3F-E19C61AC0740}"/>
              </a:ext>
            </a:extLst>
          </p:cNvPr>
          <p:cNvPicPr>
            <a:picLocks noChangeAspect="1"/>
          </p:cNvPicPr>
          <p:nvPr/>
        </p:nvPicPr>
        <p:blipFill>
          <a:blip r:embed="rId2"/>
          <a:stretch>
            <a:fillRect/>
          </a:stretch>
        </p:blipFill>
        <p:spPr>
          <a:xfrm>
            <a:off x="7230404" y="3634721"/>
            <a:ext cx="4037153" cy="651529"/>
          </a:xfrm>
          <a:prstGeom prst="rect">
            <a:avLst/>
          </a:prstGeom>
        </p:spPr>
      </p:pic>
    </p:spTree>
    <p:extLst>
      <p:ext uri="{BB962C8B-B14F-4D97-AF65-F5344CB8AC3E}">
        <p14:creationId xmlns:p14="http://schemas.microsoft.com/office/powerpoint/2010/main" val="220801867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a:p>
            <a:endParaRPr lang="en-US"/>
          </a:p>
          <a:p>
            <a:r>
              <a:rPr lang="en-US"/>
              <a:t>Flag</a:t>
            </a:r>
          </a:p>
          <a:p>
            <a:pPr lvl="1"/>
            <a:r>
              <a:rPr lang="en-US"/>
              <a:t>0: </a:t>
            </a:r>
            <a:r>
              <a:rPr lang="ar-EG"/>
              <a:t>اليومية مقفولة</a:t>
            </a:r>
          </a:p>
          <a:p>
            <a:pPr lvl="1"/>
            <a:r>
              <a:rPr lang="en-US"/>
              <a:t>1: </a:t>
            </a:r>
            <a:r>
              <a:rPr lang="ar-EG"/>
              <a:t>اليومية مفتوحة</a:t>
            </a:r>
          </a:p>
          <a:p>
            <a:endParaRPr lang="en-US"/>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6FAB-EDBE-3C25-0E8B-4EE70DC77483}"/>
              </a:ext>
            </a:extLst>
          </p:cNvPr>
          <p:cNvSpPr>
            <a:spLocks noGrp="1"/>
          </p:cNvSpPr>
          <p:nvPr>
            <p:ph type="title"/>
          </p:nvPr>
        </p:nvSpPr>
        <p:spPr/>
        <p:txBody>
          <a:bodyPr/>
          <a:lstStyle/>
          <a:p>
            <a:r>
              <a:rPr lang="en-US"/>
              <a:t>TWF.Flow_ISCORE</a:t>
            </a:r>
          </a:p>
        </p:txBody>
      </p:sp>
      <p:sp>
        <p:nvSpPr>
          <p:cNvPr id="3" name="Content Placeholder 2">
            <a:extLst>
              <a:ext uri="{FF2B5EF4-FFF2-40B4-BE49-F238E27FC236}">
                <a16:creationId xmlns:a16="http://schemas.microsoft.com/office/drawing/2014/main" id="{198332D1-66F4-3C5F-14B5-8788C0C89BC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8379302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Start DOCS</a:t>
            </a:r>
          </a:p>
        </p:txBody>
      </p:sp>
    </p:spTree>
    <p:extLst>
      <p:ext uri="{BB962C8B-B14F-4D97-AF65-F5344CB8AC3E}">
        <p14:creationId xmlns:p14="http://schemas.microsoft.com/office/powerpoint/2010/main" val="47032368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 PK</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r>
              <a:rPr lang="en-US" sz="2400" b="1">
                <a:solidFill>
                  <a:srgbClr val="00B0F0"/>
                </a:solidFill>
              </a:rPr>
              <a:t>This table represent the uploaded files for request</a:t>
            </a:r>
          </a:p>
          <a:p>
            <a:r>
              <a:rPr lang="en-US" b="1"/>
              <a:t>Id_Down: </a:t>
            </a:r>
            <a:r>
              <a:rPr lang="en-US" b="1">
                <a:solidFill>
                  <a:srgbClr val="FFFF00"/>
                </a:solidFill>
              </a:rPr>
              <a:t>decimal</a:t>
            </a:r>
            <a:r>
              <a:rPr lang="en-US" b="1"/>
              <a:t>, [ PK, identity ] </a:t>
            </a:r>
          </a:p>
          <a:p>
            <a:r>
              <a:rPr lang="en-US"/>
              <a:t>Screen_name: string</a:t>
            </a:r>
          </a:p>
          <a:p>
            <a:r>
              <a:rPr lang="en-US"/>
              <a:t>Doc_id: string</a:t>
            </a:r>
          </a:p>
          <a:p>
            <a:r>
              <a:rPr lang="en-US"/>
              <a:t>RequestID: string </a:t>
            </a:r>
          </a:p>
          <a:p>
            <a:r>
              <a:rPr lang="en-US"/>
              <a:t>Field_ID: int? [ </a:t>
            </a:r>
            <a:r>
              <a:rPr lang="en-US" b="1">
                <a:solidFill>
                  <a:srgbClr val="FF0000"/>
                </a:solidFill>
              </a:rPr>
              <a:t>NOT FK</a:t>
            </a:r>
            <a:r>
              <a:rPr lang="en-US"/>
              <a:t> ] from </a:t>
            </a:r>
            <a:r>
              <a:rPr lang="en-US" b="1">
                <a:solidFill>
                  <a:srgbClr val="FFFF00"/>
                </a:solidFill>
              </a:rPr>
              <a:t>SWF</a:t>
            </a:r>
            <a:r>
              <a:rPr lang="en-US"/>
              <a:t>.Flow_Types_documents.</a:t>
            </a:r>
            <a:r>
              <a:rPr lang="en-US" b="1">
                <a:solidFill>
                  <a:srgbClr val="FF0000"/>
                </a:solidFill>
              </a:rPr>
              <a:t>Document_Id</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F7499-7CE4-E854-F82D-70FD53730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2A142F-2736-73B3-D05B-D61387433C8B}"/>
              </a:ext>
            </a:extLst>
          </p:cNvPr>
          <p:cNvSpPr>
            <a:spLocks noGrp="1"/>
          </p:cNvSpPr>
          <p:nvPr>
            <p:ph type="title"/>
          </p:nvPr>
        </p:nvSpPr>
        <p:spPr>
          <a:xfrm>
            <a:off x="913795" y="609599"/>
            <a:ext cx="10353762" cy="3460955"/>
          </a:xfrm>
        </p:spPr>
        <p:txBody>
          <a:bodyPr/>
          <a:lstStyle/>
          <a:p>
            <a:r>
              <a:rPr lang="en-US" b="1">
                <a:solidFill>
                  <a:srgbClr val="FF0000"/>
                </a:solidFill>
              </a:rPr>
              <a:t>Start IScore</a:t>
            </a:r>
          </a:p>
        </p:txBody>
      </p:sp>
    </p:spTree>
    <p:extLst>
      <p:ext uri="{BB962C8B-B14F-4D97-AF65-F5344CB8AC3E}">
        <p14:creationId xmlns:p14="http://schemas.microsoft.com/office/powerpoint/2010/main" val="239762408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AD3B8-6629-1AA8-A315-E16D6228C2F2}"/>
              </a:ext>
            </a:extLst>
          </p:cNvPr>
          <p:cNvSpPr>
            <a:spLocks noGrp="1"/>
          </p:cNvSpPr>
          <p:nvPr>
            <p:ph type="title"/>
          </p:nvPr>
        </p:nvSpPr>
        <p:spPr>
          <a:xfrm>
            <a:off x="913795" y="0"/>
            <a:ext cx="10353762" cy="567267"/>
          </a:xfrm>
        </p:spPr>
        <p:txBody>
          <a:bodyPr>
            <a:normAutofit fontScale="90000"/>
          </a:bodyPr>
          <a:lstStyle/>
          <a:p>
            <a:r>
              <a:rPr lang="en-US" b="1">
                <a:solidFill>
                  <a:srgbClr val="FFFF00"/>
                </a:solidFill>
              </a:rPr>
              <a:t>TWF</a:t>
            </a:r>
            <a:r>
              <a:rPr lang="en-US" b="1"/>
              <a:t>.</a:t>
            </a:r>
            <a:r>
              <a:rPr lang="en-US" b="1">
                <a:solidFill>
                  <a:srgbClr val="FF0000"/>
                </a:solidFill>
              </a:rPr>
              <a:t>IScore_Degree</a:t>
            </a:r>
          </a:p>
        </p:txBody>
      </p:sp>
      <p:sp>
        <p:nvSpPr>
          <p:cNvPr id="3" name="Content Placeholder 2">
            <a:extLst>
              <a:ext uri="{FF2B5EF4-FFF2-40B4-BE49-F238E27FC236}">
                <a16:creationId xmlns:a16="http://schemas.microsoft.com/office/drawing/2014/main" id="{3ED2CF3A-4FC7-5CC5-2D88-3A4EA194308A}"/>
              </a:ext>
            </a:extLst>
          </p:cNvPr>
          <p:cNvSpPr>
            <a:spLocks noGrp="1"/>
          </p:cNvSpPr>
          <p:nvPr>
            <p:ph idx="1"/>
          </p:nvPr>
        </p:nvSpPr>
        <p:spPr>
          <a:xfrm>
            <a:off x="152400" y="567267"/>
            <a:ext cx="11912600" cy="6206066"/>
          </a:xfrm>
        </p:spPr>
        <p:txBody>
          <a:bodyPr/>
          <a:lstStyle/>
          <a:p>
            <a:r>
              <a:rPr lang="en-US" sz="2400"/>
              <a:t>ISD: PK</a:t>
            </a:r>
          </a:p>
          <a:p>
            <a:r>
              <a:rPr lang="en-US" sz="2400"/>
              <a:t>From_Score</a:t>
            </a:r>
          </a:p>
          <a:p>
            <a:r>
              <a:rPr lang="en-US" sz="2400"/>
              <a:t>To_Score</a:t>
            </a:r>
          </a:p>
          <a:p>
            <a:r>
              <a:rPr lang="en-US" sz="2400"/>
              <a:t>Description</a:t>
            </a:r>
          </a:p>
          <a:p>
            <a:endParaRPr lang="en-US"/>
          </a:p>
        </p:txBody>
      </p:sp>
      <p:pic>
        <p:nvPicPr>
          <p:cNvPr id="5" name="Picture 4">
            <a:extLst>
              <a:ext uri="{FF2B5EF4-FFF2-40B4-BE49-F238E27FC236}">
                <a16:creationId xmlns:a16="http://schemas.microsoft.com/office/drawing/2014/main" id="{3243DCF8-EA04-E5B9-F390-F331BCBFB678}"/>
              </a:ext>
            </a:extLst>
          </p:cNvPr>
          <p:cNvPicPr>
            <a:picLocks noChangeAspect="1"/>
          </p:cNvPicPr>
          <p:nvPr/>
        </p:nvPicPr>
        <p:blipFill>
          <a:blip r:embed="rId2"/>
          <a:stretch>
            <a:fillRect/>
          </a:stretch>
        </p:blipFill>
        <p:spPr>
          <a:xfrm>
            <a:off x="4166333" y="881326"/>
            <a:ext cx="3352066" cy="1587821"/>
          </a:xfrm>
          <a:prstGeom prst="rect">
            <a:avLst/>
          </a:prstGeom>
        </p:spPr>
      </p:pic>
    </p:spTree>
    <p:extLst>
      <p:ext uri="{BB962C8B-B14F-4D97-AF65-F5344CB8AC3E}">
        <p14:creationId xmlns:p14="http://schemas.microsoft.com/office/powerpoint/2010/main" val="32463791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92E27-E3E6-0CB8-5A56-F7BB6AD4CD96}"/>
              </a:ext>
            </a:extLst>
          </p:cNvPr>
          <p:cNvSpPr>
            <a:spLocks noGrp="1"/>
          </p:cNvSpPr>
          <p:nvPr>
            <p:ph type="title"/>
          </p:nvPr>
        </p:nvSpPr>
        <p:spPr>
          <a:xfrm>
            <a:off x="913795" y="0"/>
            <a:ext cx="10353762" cy="619125"/>
          </a:xfrm>
        </p:spPr>
        <p:txBody>
          <a:bodyPr>
            <a:normAutofit fontScale="90000"/>
          </a:bodyPr>
          <a:lstStyle/>
          <a:p>
            <a:r>
              <a:rPr lang="en-US" b="1">
                <a:solidFill>
                  <a:srgbClr val="FFFF00"/>
                </a:solidFill>
              </a:rPr>
              <a:t>TWF</a:t>
            </a:r>
            <a:r>
              <a:rPr lang="en-US"/>
              <a:t>.</a:t>
            </a:r>
            <a:r>
              <a:rPr lang="en-US" b="1">
                <a:solidFill>
                  <a:srgbClr val="FF0000"/>
                </a:solidFill>
              </a:rPr>
              <a:t>Flow_ISCORE</a:t>
            </a:r>
          </a:p>
        </p:txBody>
      </p:sp>
      <p:sp>
        <p:nvSpPr>
          <p:cNvPr id="3" name="Content Placeholder 2">
            <a:extLst>
              <a:ext uri="{FF2B5EF4-FFF2-40B4-BE49-F238E27FC236}">
                <a16:creationId xmlns:a16="http://schemas.microsoft.com/office/drawing/2014/main" id="{5290EFCF-A9DD-6107-C4D2-C40ECC08AB6C}"/>
              </a:ext>
            </a:extLst>
          </p:cNvPr>
          <p:cNvSpPr>
            <a:spLocks noGrp="1"/>
          </p:cNvSpPr>
          <p:nvPr>
            <p:ph idx="1"/>
          </p:nvPr>
        </p:nvSpPr>
        <p:spPr>
          <a:xfrm>
            <a:off x="133350" y="619125"/>
            <a:ext cx="11849100" cy="6105525"/>
          </a:xfrm>
        </p:spPr>
        <p:txBody>
          <a:bodyPr>
            <a:normAutofit/>
          </a:bodyPr>
          <a:lstStyle/>
          <a:p>
            <a:r>
              <a:rPr lang="en-US" sz="1800" b="1"/>
              <a:t>int Iscore_code [identity, </a:t>
            </a:r>
            <a:r>
              <a:rPr lang="en-US" sz="1800" b="1">
                <a:solidFill>
                  <a:srgbClr val="FFFF00"/>
                </a:solidFill>
              </a:rPr>
              <a:t>PK</a:t>
            </a:r>
            <a:r>
              <a:rPr lang="en-US" sz="1800" b="1"/>
              <a:t> ]</a:t>
            </a:r>
          </a:p>
          <a:p>
            <a:r>
              <a:rPr lang="en-US" sz="1800" b="1"/>
              <a:t>int product_Id [ </a:t>
            </a:r>
            <a:r>
              <a:rPr lang="en-US" sz="1800" b="1">
                <a:solidFill>
                  <a:srgbClr val="FFFF00"/>
                </a:solidFill>
              </a:rPr>
              <a:t>PK</a:t>
            </a:r>
            <a:r>
              <a:rPr lang="en-US" sz="1800" b="1"/>
              <a:t> ] </a:t>
            </a:r>
          </a:p>
          <a:p>
            <a:r>
              <a:rPr lang="en-US" sz="1800" b="1"/>
              <a:t>int RegionId  [ FK from Region ]</a:t>
            </a:r>
          </a:p>
          <a:p>
            <a:r>
              <a:rPr lang="en-US" sz="1800" b="1"/>
              <a:t>int days_query_validity</a:t>
            </a:r>
          </a:p>
          <a:p>
            <a:r>
              <a:rPr lang="en-US" sz="1800" b="1"/>
              <a:t>int No_loans_outstanding_cust</a:t>
            </a:r>
          </a:p>
          <a:p>
            <a:r>
              <a:rPr lang="en-US" sz="1800" b="1"/>
              <a:t>int Days_worked_customer </a:t>
            </a:r>
          </a:p>
          <a:p>
            <a:r>
              <a:rPr lang="en-US" sz="1800" b="1"/>
              <a:t>int Query_result</a:t>
            </a:r>
          </a:p>
          <a:p>
            <a:r>
              <a:rPr lang="en-US" sz="1800" b="1"/>
              <a:t>int Loan_Code</a:t>
            </a:r>
          </a:p>
        </p:txBody>
      </p:sp>
      <p:pic>
        <p:nvPicPr>
          <p:cNvPr id="5" name="Picture 4">
            <a:extLst>
              <a:ext uri="{FF2B5EF4-FFF2-40B4-BE49-F238E27FC236}">
                <a16:creationId xmlns:a16="http://schemas.microsoft.com/office/drawing/2014/main" id="{DB54485E-678F-ECE8-9F48-C9E4FB6A5B60}"/>
              </a:ext>
            </a:extLst>
          </p:cNvPr>
          <p:cNvPicPr>
            <a:picLocks noChangeAspect="1"/>
          </p:cNvPicPr>
          <p:nvPr/>
        </p:nvPicPr>
        <p:blipFill>
          <a:blip r:embed="rId2"/>
          <a:stretch>
            <a:fillRect/>
          </a:stretch>
        </p:blipFill>
        <p:spPr>
          <a:xfrm>
            <a:off x="3510640" y="4381458"/>
            <a:ext cx="8042195" cy="1209717"/>
          </a:xfrm>
          <a:prstGeom prst="rect">
            <a:avLst/>
          </a:prstGeom>
        </p:spPr>
      </p:pic>
    </p:spTree>
    <p:extLst>
      <p:ext uri="{BB962C8B-B14F-4D97-AF65-F5344CB8AC3E}">
        <p14:creationId xmlns:p14="http://schemas.microsoft.com/office/powerpoint/2010/main" val="357502030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a:bodyPr>
          <a:lstStyle/>
          <a:p>
            <a:r>
              <a:rPr lang="en-US" sz="1600" b="1"/>
              <a:t>Usage: this table to store the </a:t>
            </a:r>
            <a:r>
              <a:rPr lang="en-US" sz="1800" b="1">
                <a:solidFill>
                  <a:srgbClr val="FF0000"/>
                </a:solidFill>
              </a:rPr>
              <a:t>RESULT</a:t>
            </a:r>
            <a:r>
              <a:rPr lang="en-US" sz="1600" b="1"/>
              <a:t> OF INQUIRY ABOUT PERSON which fetched from XML</a:t>
            </a:r>
          </a:p>
          <a:p>
            <a:r>
              <a:rPr lang="en-US" sz="1600" b="1"/>
              <a:t>int Code_FID</a:t>
            </a:r>
            <a:r>
              <a:rPr lang="en-US" sz="1600"/>
              <a:t>  </a:t>
            </a:r>
            <a:r>
              <a:rPr lang="en-US" sz="1600" b="1"/>
              <a:t>[PK]</a:t>
            </a:r>
          </a:p>
          <a:p>
            <a:r>
              <a:rPr lang="en-US" sz="1600" b="1">
                <a:effectLst/>
              </a:rPr>
              <a:t>Cust_IDNO: string // </a:t>
            </a:r>
            <a:r>
              <a:rPr lang="ar-EG" sz="1600" b="1">
                <a:effectLst/>
              </a:rPr>
              <a:t>الرقم القومى الذى تم الاستعلام عنه</a:t>
            </a:r>
            <a:endParaRPr lang="en-US" sz="1600" b="1">
              <a:effectLst/>
            </a:endParaRPr>
          </a:p>
          <a:p>
            <a:r>
              <a:rPr lang="en-US" sz="1600" b="1"/>
              <a:t>Inquiry_Date: DateTime</a:t>
            </a:r>
            <a:r>
              <a:rPr lang="en-US" sz="1600"/>
              <a:t> // </a:t>
            </a:r>
            <a:r>
              <a:rPr lang="ar-EG" sz="1600"/>
              <a:t>تاربخ الاستعلام </a:t>
            </a:r>
            <a:endParaRPr lang="en-US" sz="1600"/>
          </a:p>
          <a:p>
            <a:r>
              <a:rPr lang="en-US" sz="1600" b="1">
                <a:effectLst/>
              </a:rPr>
              <a:t>Score: int   	// </a:t>
            </a:r>
            <a:r>
              <a:rPr lang="ar-EG" sz="1600">
                <a:effectLst/>
              </a:rPr>
              <a:t>هو رقم يعبر عن مدى التزام العميل</a:t>
            </a:r>
          </a:p>
          <a:p>
            <a:r>
              <a:rPr lang="en-US" sz="1600" b="1">
                <a:effectLst/>
              </a:rPr>
              <a:t>Open_credits</a:t>
            </a:r>
            <a:r>
              <a:rPr lang="en-US" sz="1600">
                <a:effectLst/>
              </a:rPr>
              <a:t>  [Active loans] </a:t>
            </a:r>
            <a:r>
              <a:rPr lang="ar-EG" sz="1600">
                <a:effectLst/>
              </a:rPr>
              <a:t>عدد التسهيلات السارية</a:t>
            </a:r>
            <a:r>
              <a:rPr lang="en-US" sz="1600">
                <a:effectLst/>
              </a:rPr>
              <a:t> // </a:t>
            </a:r>
            <a:r>
              <a:rPr lang="ar-EG" sz="1600">
                <a:effectLst/>
              </a:rPr>
              <a:t>أي عدد القروض أو البطاقات الائتمانية التي يستخدمها العميل حالياً ولم يغلقها.</a:t>
            </a:r>
            <a:endParaRPr lang="en-US" sz="1600">
              <a:effectLst/>
            </a:endParaRPr>
          </a:p>
          <a:p>
            <a:r>
              <a:rPr lang="en-US" sz="1600" b="1"/>
              <a:t>Days_Due</a:t>
            </a:r>
            <a:r>
              <a:rPr lang="en-US" sz="1600"/>
              <a:t>: int </a:t>
            </a:r>
            <a:r>
              <a:rPr lang="ar-EG" sz="1600"/>
              <a:t>أيام التأخير؛ ويقصد بها عدد الأيام التي تأخر فيها العميل عن سداد الأقساط المستحقة عليه (مؤشر خطر إذا كان الرقم كبيراً).</a:t>
            </a:r>
            <a:endParaRPr lang="en-US" sz="1600"/>
          </a:p>
          <a:p>
            <a:r>
              <a:rPr lang="en-US" sz="1600" b="1"/>
              <a:t>NO_OF_INQUIRES</a:t>
            </a:r>
            <a:r>
              <a:rPr lang="en-US" sz="1600"/>
              <a:t>: </a:t>
            </a:r>
            <a:r>
              <a:rPr lang="ar-EG" sz="1600"/>
              <a:t>عدد المرات التى تم فيها الاستعلام عن هذا الرقم</a:t>
            </a:r>
            <a:endParaRPr lang="en-US" sz="1600"/>
          </a:p>
          <a:p>
            <a:r>
              <a:rPr lang="en-US" sz="1600" b="1"/>
              <a:t>Request_id: FK</a:t>
            </a:r>
          </a:p>
          <a:p>
            <a:r>
              <a:rPr lang="en-US" sz="1600" b="1"/>
              <a:t>REF_NO</a:t>
            </a:r>
            <a:r>
              <a:rPr lang="en-US" sz="1600"/>
              <a:t> [Ticket Number] : string , </a:t>
            </a:r>
            <a:r>
              <a:rPr lang="en-US" sz="1600" b="1"/>
              <a:t>unique tracking ID</a:t>
            </a:r>
            <a:r>
              <a:rPr lang="en-US" sz="1600"/>
              <a:t> assigned to a specific inquiry or request.</a:t>
            </a:r>
          </a:p>
          <a:p>
            <a:r>
              <a:rPr lang="en-US" sz="1600" b="1"/>
              <a:t>NotFound</a:t>
            </a:r>
            <a:r>
              <a:rPr lang="en-US" sz="1600"/>
              <a:t> , int : </a:t>
            </a:r>
            <a:r>
              <a:rPr lang="ar-EG" sz="1600"/>
              <a:t>حالة العميل</a:t>
            </a:r>
          </a:p>
          <a:p>
            <a:pPr lvl="1"/>
            <a:r>
              <a:rPr lang="en-US" sz="1600"/>
              <a:t>0 : </a:t>
            </a:r>
            <a:r>
              <a:rPr lang="ar-EG" sz="1600"/>
              <a:t>يوجد للعميل هذا بيانات فى الأيزكور</a:t>
            </a:r>
          </a:p>
          <a:p>
            <a:pPr lvl="1"/>
            <a:r>
              <a:rPr lang="en-US" sz="1600"/>
              <a:t>1 : </a:t>
            </a:r>
            <a:r>
              <a:rPr lang="ar-EG" sz="1600"/>
              <a:t>العميل هذا لا توجد له بيانات فى الايزكور لأنه لم يأخذ قروض من اى بنك او اى جهة من قبل </a:t>
            </a:r>
          </a:p>
          <a:p>
            <a:pPr lvl="1"/>
            <a:r>
              <a:rPr lang="en-US" sz="1600"/>
              <a:t>2 :</a:t>
            </a:r>
            <a:r>
              <a:rPr lang="ar-EG" sz="1600"/>
              <a:t> </a:t>
            </a:r>
            <a:r>
              <a:rPr lang="en-US" sz="1600"/>
              <a:t> </a:t>
            </a:r>
            <a:r>
              <a:rPr lang="ar-EG" sz="1600"/>
              <a:t>  يوجد مشكلة في الاتصال او اى مشكله أخرى لم تمكننى من الاستعلام عنه وبالتالي لايتم ترحيل الطلب الا اذا تم التحميل</a:t>
            </a:r>
            <a:r>
              <a:rPr lang="en-US" sz="1600"/>
              <a:t> </a:t>
            </a:r>
          </a:p>
          <a:p>
            <a:r>
              <a:rPr lang="en-US" sz="1600" b="1"/>
              <a:t>New_ISCORE: int // all of them is 1 </a:t>
            </a:r>
          </a:p>
          <a:p>
            <a:r>
              <a:rPr lang="en-US" sz="1600" b="1"/>
              <a:t>File_Code</a:t>
            </a:r>
            <a:r>
              <a:rPr lang="en-US" sz="1600"/>
              <a:t>: string coming from </a:t>
            </a:r>
            <a:r>
              <a:rPr lang="en-US" sz="1600" b="1"/>
              <a:t>uploadPdf(uploadfile)</a:t>
            </a:r>
          </a:p>
        </p:txBody>
      </p:sp>
    </p:spTree>
    <p:extLst>
      <p:ext uri="{BB962C8B-B14F-4D97-AF65-F5344CB8AC3E}">
        <p14:creationId xmlns:p14="http://schemas.microsoft.com/office/powerpoint/2010/main" val="209667365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72B3-EC75-E838-F8AD-2ADD511D4526}"/>
              </a:ext>
            </a:extLst>
          </p:cNvPr>
          <p:cNvSpPr>
            <a:spLocks noGrp="1"/>
          </p:cNvSpPr>
          <p:nvPr>
            <p:ph type="title"/>
          </p:nvPr>
        </p:nvSpPr>
        <p:spPr>
          <a:xfrm>
            <a:off x="913795" y="0"/>
            <a:ext cx="10353762" cy="590550"/>
          </a:xfrm>
        </p:spPr>
        <p:txBody>
          <a:bodyPr>
            <a:normAutofit fontScale="90000"/>
          </a:bodyPr>
          <a:lstStyle/>
          <a:p>
            <a:r>
              <a:rPr lang="en-US" b="1">
                <a:solidFill>
                  <a:srgbClr val="FFFF00"/>
                </a:solidFill>
              </a:rPr>
              <a:t>TWF</a:t>
            </a:r>
            <a:r>
              <a:rPr lang="en-US"/>
              <a:t>.</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AEB06B57-41D3-EFB8-32E4-D040C4AEDABF}"/>
              </a:ext>
            </a:extLst>
          </p:cNvPr>
          <p:cNvSpPr>
            <a:spLocks noGrp="1"/>
          </p:cNvSpPr>
          <p:nvPr>
            <p:ph idx="1"/>
          </p:nvPr>
        </p:nvSpPr>
        <p:spPr>
          <a:xfrm>
            <a:off x="247650" y="590551"/>
            <a:ext cx="11944350" cy="6048374"/>
          </a:xfrm>
        </p:spPr>
        <p:txBody>
          <a:bodyPr>
            <a:noAutofit/>
          </a:bodyPr>
          <a:lstStyle/>
          <a:p>
            <a:r>
              <a:rPr lang="en-US" sz="1800" b="1"/>
              <a:t>Usage: to store the failure results of inquiry [ status of request 11, 12 ]</a:t>
            </a:r>
          </a:p>
          <a:p>
            <a:r>
              <a:rPr lang="en-US" sz="1600" b="1"/>
              <a:t>ISCORE_CODE:</a:t>
            </a:r>
            <a:r>
              <a:rPr lang="en-US" sz="1600"/>
              <a:t> </a:t>
            </a:r>
            <a:r>
              <a:rPr lang="en-US" sz="1600" b="1">
                <a:solidFill>
                  <a:srgbClr val="FFFF00"/>
                </a:solidFill>
              </a:rPr>
              <a:t>int PK, identity</a:t>
            </a:r>
          </a:p>
          <a:p>
            <a:r>
              <a:rPr lang="en-US" sz="1600"/>
              <a:t>IDNO: string, national Id</a:t>
            </a:r>
          </a:p>
          <a:p>
            <a:r>
              <a:rPr lang="en-US" sz="1600"/>
              <a:t>Request_Id: FK: decimal</a:t>
            </a:r>
          </a:p>
          <a:p>
            <a:r>
              <a:rPr lang="en-US" sz="1600"/>
              <a:t>FLAG_ISCORE: int  -----</a:t>
            </a:r>
          </a:p>
          <a:p>
            <a:r>
              <a:rPr lang="en-US" sz="1600"/>
              <a:t>AMT: int , the Actual_financing field</a:t>
            </a:r>
          </a:p>
          <a:p>
            <a:r>
              <a:rPr lang="en-US" sz="1600"/>
              <a:t>LOAN_TYPE: int</a:t>
            </a:r>
          </a:p>
          <a:p>
            <a:r>
              <a:rPr lang="en-US" sz="1600"/>
              <a:t>USRNO: int</a:t>
            </a:r>
          </a:p>
          <a:p>
            <a:r>
              <a:rPr lang="en-US" sz="1600"/>
              <a:t>CUST_TYPE: string  -- C for customer, G for guarantor</a:t>
            </a:r>
          </a:p>
          <a:p>
            <a:r>
              <a:rPr lang="en-US" sz="1600"/>
              <a:t>BranchId: int FK from branch</a:t>
            </a:r>
          </a:p>
          <a:p>
            <a:r>
              <a:rPr lang="en-US" sz="1600"/>
              <a:t>BIRTHDATE: DateTime</a:t>
            </a:r>
          </a:p>
          <a:p>
            <a:r>
              <a:rPr lang="en-US" sz="1600"/>
              <a:t>Gender: int</a:t>
            </a:r>
          </a:p>
          <a:p>
            <a:r>
              <a:rPr lang="en-US" sz="1600"/>
              <a:t>FIRST_NAME</a:t>
            </a:r>
          </a:p>
          <a:p>
            <a:r>
              <a:rPr lang="en-US" sz="1600"/>
              <a:t>MIDDEL_NAME</a:t>
            </a:r>
          </a:p>
          <a:p>
            <a:r>
              <a:rPr lang="en-US" sz="1600"/>
              <a:t>LAST_NAME</a:t>
            </a:r>
          </a:p>
          <a:p>
            <a:r>
              <a:rPr lang="en-US" sz="1600"/>
              <a:t>CREATION_DATE: datatime</a:t>
            </a:r>
          </a:p>
          <a:p>
            <a:endParaRPr lang="en-US" sz="1600"/>
          </a:p>
        </p:txBody>
      </p:sp>
      <p:pic>
        <p:nvPicPr>
          <p:cNvPr id="5" name="Picture 4">
            <a:extLst>
              <a:ext uri="{FF2B5EF4-FFF2-40B4-BE49-F238E27FC236}">
                <a16:creationId xmlns:a16="http://schemas.microsoft.com/office/drawing/2014/main" id="{32A3ECE5-C2F9-8341-4D3E-B44F9C33552D}"/>
              </a:ext>
            </a:extLst>
          </p:cNvPr>
          <p:cNvPicPr>
            <a:picLocks noChangeAspect="1"/>
          </p:cNvPicPr>
          <p:nvPr/>
        </p:nvPicPr>
        <p:blipFill>
          <a:blip r:embed="rId2"/>
          <a:stretch>
            <a:fillRect/>
          </a:stretch>
        </p:blipFill>
        <p:spPr>
          <a:xfrm>
            <a:off x="2888968" y="4663555"/>
            <a:ext cx="9293507" cy="678912"/>
          </a:xfrm>
          <a:prstGeom prst="rect">
            <a:avLst/>
          </a:prstGeom>
        </p:spPr>
      </p:pic>
    </p:spTree>
    <p:extLst>
      <p:ext uri="{BB962C8B-B14F-4D97-AF65-F5344CB8AC3E}">
        <p14:creationId xmlns:p14="http://schemas.microsoft.com/office/powerpoint/2010/main" val="161343430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CC5FC-D30C-BC9B-F677-C69F89618190}"/>
              </a:ext>
            </a:extLst>
          </p:cNvPr>
          <p:cNvSpPr>
            <a:spLocks noGrp="1"/>
          </p:cNvSpPr>
          <p:nvPr>
            <p:ph type="title"/>
          </p:nvPr>
        </p:nvSpPr>
        <p:spPr>
          <a:xfrm>
            <a:off x="980470" y="0"/>
            <a:ext cx="10353762" cy="609600"/>
          </a:xfrm>
        </p:spPr>
        <p:txBody>
          <a:bodyPr>
            <a:normAutofit fontScale="90000"/>
          </a:bodyPr>
          <a:lstStyle/>
          <a:p>
            <a:r>
              <a:rPr lang="en-US" b="1">
                <a:solidFill>
                  <a:srgbClr val="FFFF00"/>
                </a:solidFill>
              </a:rPr>
              <a:t>TWF.</a:t>
            </a:r>
            <a:r>
              <a:rPr lang="en-US" b="1">
                <a:solidFill>
                  <a:srgbClr val="FF0000"/>
                </a:solidFill>
              </a:rPr>
              <a:t>Flow_log_Iscore_Test</a:t>
            </a:r>
          </a:p>
        </p:txBody>
      </p:sp>
      <p:sp>
        <p:nvSpPr>
          <p:cNvPr id="3" name="Content Placeholder 2">
            <a:extLst>
              <a:ext uri="{FF2B5EF4-FFF2-40B4-BE49-F238E27FC236}">
                <a16:creationId xmlns:a16="http://schemas.microsoft.com/office/drawing/2014/main" id="{9728F21B-FEBB-A8D2-28E8-3FC7BA4F3B31}"/>
              </a:ext>
            </a:extLst>
          </p:cNvPr>
          <p:cNvSpPr>
            <a:spLocks noGrp="1"/>
          </p:cNvSpPr>
          <p:nvPr>
            <p:ph idx="1"/>
          </p:nvPr>
        </p:nvSpPr>
        <p:spPr>
          <a:xfrm>
            <a:off x="142874" y="609601"/>
            <a:ext cx="11934825" cy="6105524"/>
          </a:xfrm>
        </p:spPr>
        <p:txBody>
          <a:bodyPr/>
          <a:lstStyle/>
          <a:p>
            <a:r>
              <a:rPr lang="en-US" b="1"/>
              <a:t>int LIT_ID, </a:t>
            </a:r>
            <a:r>
              <a:rPr lang="en-US" b="1">
                <a:solidFill>
                  <a:srgbClr val="FFFF00"/>
                </a:solidFill>
              </a:rPr>
              <a:t>PK</a:t>
            </a:r>
          </a:p>
          <a:p>
            <a:r>
              <a:rPr lang="en-US" b="1"/>
              <a:t>string TYPE</a:t>
            </a:r>
          </a:p>
          <a:p>
            <a:r>
              <a:rPr lang="en-US" b="1"/>
              <a:t>string IDNO</a:t>
            </a:r>
          </a:p>
          <a:p>
            <a:r>
              <a:rPr lang="en-US" b="1"/>
              <a:t>DateTime DATETIME</a:t>
            </a:r>
          </a:p>
          <a:p>
            <a:r>
              <a:rPr lang="en-US" b="1"/>
              <a:t>int STATUS</a:t>
            </a:r>
          </a:p>
          <a:p>
            <a:r>
              <a:rPr lang="en-US" b="1"/>
              <a:t>decimal Request_Id</a:t>
            </a:r>
          </a:p>
        </p:txBody>
      </p:sp>
      <p:pic>
        <p:nvPicPr>
          <p:cNvPr id="5" name="Picture 4">
            <a:extLst>
              <a:ext uri="{FF2B5EF4-FFF2-40B4-BE49-F238E27FC236}">
                <a16:creationId xmlns:a16="http://schemas.microsoft.com/office/drawing/2014/main" id="{D2CA3B5F-0D16-02C5-75D4-8C317DCE3589}"/>
              </a:ext>
            </a:extLst>
          </p:cNvPr>
          <p:cNvPicPr>
            <a:picLocks noChangeAspect="1"/>
          </p:cNvPicPr>
          <p:nvPr/>
        </p:nvPicPr>
        <p:blipFill>
          <a:blip r:embed="rId2"/>
          <a:stretch>
            <a:fillRect/>
          </a:stretch>
        </p:blipFill>
        <p:spPr>
          <a:xfrm>
            <a:off x="5230947" y="796235"/>
            <a:ext cx="5627553" cy="1692344"/>
          </a:xfrm>
          <a:prstGeom prst="rect">
            <a:avLst/>
          </a:prstGeom>
        </p:spPr>
      </p:pic>
    </p:spTree>
    <p:extLst>
      <p:ext uri="{BB962C8B-B14F-4D97-AF65-F5344CB8AC3E}">
        <p14:creationId xmlns:p14="http://schemas.microsoft.com/office/powerpoint/2010/main" val="345115001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C12AF-E36F-D033-0A24-4B25736D1EC6}"/>
              </a:ext>
            </a:extLst>
          </p:cNvPr>
          <p:cNvSpPr>
            <a:spLocks noGrp="1"/>
          </p:cNvSpPr>
          <p:nvPr>
            <p:ph type="title"/>
          </p:nvPr>
        </p:nvSpPr>
        <p:spPr>
          <a:xfrm>
            <a:off x="913795" y="0"/>
            <a:ext cx="10353762" cy="476250"/>
          </a:xfrm>
        </p:spPr>
        <p:txBody>
          <a:bodyPr>
            <a:normAutofit fontScale="90000"/>
          </a:bodyPr>
          <a:lstStyle/>
          <a:p>
            <a:r>
              <a:rPr lang="en-US" b="1">
                <a:solidFill>
                  <a:srgbClr val="FFFF00"/>
                </a:solidFill>
              </a:rPr>
              <a:t>TWF</a:t>
            </a:r>
            <a:r>
              <a:rPr lang="en-US"/>
              <a:t>.</a:t>
            </a:r>
            <a:r>
              <a:rPr lang="en-US" b="1">
                <a:solidFill>
                  <a:srgbClr val="FF0000"/>
                </a:solidFill>
              </a:rPr>
              <a:t>Flow_Iscore_Param</a:t>
            </a:r>
          </a:p>
        </p:txBody>
      </p:sp>
      <p:sp>
        <p:nvSpPr>
          <p:cNvPr id="3" name="Content Placeholder 2">
            <a:extLst>
              <a:ext uri="{FF2B5EF4-FFF2-40B4-BE49-F238E27FC236}">
                <a16:creationId xmlns:a16="http://schemas.microsoft.com/office/drawing/2014/main" id="{6E7AB11B-096B-BA88-EFC4-4EEF871E76AA}"/>
              </a:ext>
            </a:extLst>
          </p:cNvPr>
          <p:cNvSpPr>
            <a:spLocks noGrp="1"/>
          </p:cNvSpPr>
          <p:nvPr>
            <p:ph idx="1"/>
          </p:nvPr>
        </p:nvSpPr>
        <p:spPr>
          <a:xfrm>
            <a:off x="247650" y="476250"/>
            <a:ext cx="11706225" cy="6191249"/>
          </a:xfrm>
        </p:spPr>
        <p:txBody>
          <a:bodyPr/>
          <a:lstStyle/>
          <a:p>
            <a:r>
              <a:rPr lang="en-US"/>
              <a:t>ID: int,  PK , identity</a:t>
            </a:r>
          </a:p>
          <a:p>
            <a:r>
              <a:rPr lang="en-US"/>
              <a:t>USRNAME</a:t>
            </a:r>
          </a:p>
          <a:p>
            <a:r>
              <a:rPr lang="en-US"/>
              <a:t>PW: string</a:t>
            </a:r>
          </a:p>
          <a:p>
            <a:r>
              <a:rPr lang="en-US"/>
              <a:t>Date_of_Password: datetime</a:t>
            </a:r>
          </a:p>
          <a:p>
            <a:r>
              <a:rPr lang="en-US"/>
              <a:t>PassExpDate: datetime</a:t>
            </a:r>
          </a:p>
          <a:p>
            <a:r>
              <a:rPr lang="en-US"/>
              <a:t>NoExpDate: int</a:t>
            </a:r>
          </a:p>
          <a:p>
            <a:endParaRPr lang="en-US"/>
          </a:p>
          <a:p>
            <a:r>
              <a:rPr lang="en-US"/>
              <a:t>Code_IQT: FK from </a:t>
            </a:r>
            <a:r>
              <a:rPr lang="en-US" b="1">
                <a:solidFill>
                  <a:srgbClr val="FFC000"/>
                </a:solidFill>
              </a:rPr>
              <a:t>Flow_IScore_Query_Type</a:t>
            </a:r>
          </a:p>
        </p:txBody>
      </p:sp>
      <p:pic>
        <p:nvPicPr>
          <p:cNvPr id="5" name="Picture 4">
            <a:extLst>
              <a:ext uri="{FF2B5EF4-FFF2-40B4-BE49-F238E27FC236}">
                <a16:creationId xmlns:a16="http://schemas.microsoft.com/office/drawing/2014/main" id="{CB231384-5B71-3B0B-E9E8-98CAE8120E47}"/>
              </a:ext>
            </a:extLst>
          </p:cNvPr>
          <p:cNvPicPr>
            <a:picLocks noChangeAspect="1"/>
          </p:cNvPicPr>
          <p:nvPr/>
        </p:nvPicPr>
        <p:blipFill>
          <a:blip r:embed="rId2"/>
          <a:stretch>
            <a:fillRect/>
          </a:stretch>
        </p:blipFill>
        <p:spPr>
          <a:xfrm>
            <a:off x="4345017" y="1053431"/>
            <a:ext cx="7681100" cy="889669"/>
          </a:xfrm>
          <a:prstGeom prst="rect">
            <a:avLst/>
          </a:prstGeom>
        </p:spPr>
      </p:pic>
      <p:pic>
        <p:nvPicPr>
          <p:cNvPr id="7" name="Picture 6">
            <a:extLst>
              <a:ext uri="{FF2B5EF4-FFF2-40B4-BE49-F238E27FC236}">
                <a16:creationId xmlns:a16="http://schemas.microsoft.com/office/drawing/2014/main" id="{F43B9099-E02A-81BD-371F-3F0455C623F8}"/>
              </a:ext>
            </a:extLst>
          </p:cNvPr>
          <p:cNvPicPr>
            <a:picLocks noChangeAspect="1"/>
          </p:cNvPicPr>
          <p:nvPr/>
        </p:nvPicPr>
        <p:blipFill>
          <a:blip r:embed="rId3"/>
          <a:stretch>
            <a:fillRect/>
          </a:stretch>
        </p:blipFill>
        <p:spPr>
          <a:xfrm>
            <a:off x="8650550" y="5141586"/>
            <a:ext cx="1272650" cy="213378"/>
          </a:xfrm>
          <a:prstGeom prst="rect">
            <a:avLst/>
          </a:prstGeom>
        </p:spPr>
      </p:pic>
    </p:spTree>
    <p:extLst>
      <p:ext uri="{BB962C8B-B14F-4D97-AF65-F5344CB8AC3E}">
        <p14:creationId xmlns:p14="http://schemas.microsoft.com/office/powerpoint/2010/main" val="270696021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AB348-6F80-0B53-A2F4-628523F2199F}"/>
              </a:ext>
            </a:extLst>
          </p:cNvPr>
          <p:cNvSpPr>
            <a:spLocks noGrp="1"/>
          </p:cNvSpPr>
          <p:nvPr>
            <p:ph type="title"/>
          </p:nvPr>
        </p:nvSpPr>
        <p:spPr>
          <a:xfrm>
            <a:off x="913795" y="0"/>
            <a:ext cx="10353762" cy="581025"/>
          </a:xfrm>
        </p:spPr>
        <p:txBody>
          <a:bodyPr>
            <a:normAutofit fontScale="90000"/>
          </a:bodyPr>
          <a:lstStyle/>
          <a:p>
            <a:r>
              <a:rPr lang="en-US" b="1">
                <a:solidFill>
                  <a:srgbClr val="FFFF00"/>
                </a:solidFill>
              </a:rPr>
              <a:t>SWF</a:t>
            </a:r>
            <a:r>
              <a:rPr lang="en-US" b="1"/>
              <a:t>.</a:t>
            </a:r>
            <a:r>
              <a:rPr lang="en-US" b="1">
                <a:solidFill>
                  <a:srgbClr val="FF0000"/>
                </a:solidFill>
              </a:rPr>
              <a:t>Flow_IScore_Query_Type</a:t>
            </a:r>
          </a:p>
        </p:txBody>
      </p:sp>
      <p:sp>
        <p:nvSpPr>
          <p:cNvPr id="3" name="Content Placeholder 2">
            <a:extLst>
              <a:ext uri="{FF2B5EF4-FFF2-40B4-BE49-F238E27FC236}">
                <a16:creationId xmlns:a16="http://schemas.microsoft.com/office/drawing/2014/main" id="{C406376E-004B-9DEC-2526-13CDB6CDC5EE}"/>
              </a:ext>
            </a:extLst>
          </p:cNvPr>
          <p:cNvSpPr>
            <a:spLocks noGrp="1"/>
          </p:cNvSpPr>
          <p:nvPr>
            <p:ph idx="1"/>
          </p:nvPr>
        </p:nvSpPr>
        <p:spPr>
          <a:xfrm>
            <a:off x="180975" y="581025"/>
            <a:ext cx="11086582" cy="5210175"/>
          </a:xfrm>
        </p:spPr>
        <p:txBody>
          <a:bodyPr/>
          <a:lstStyle/>
          <a:p>
            <a:r>
              <a:rPr lang="en-US"/>
              <a:t>int Code_IQT </a:t>
            </a:r>
          </a:p>
          <a:p>
            <a:r>
              <a:rPr lang="en-US"/>
              <a:t>string DescriptionAr </a:t>
            </a:r>
          </a:p>
          <a:p>
            <a:r>
              <a:rPr lang="en-US"/>
              <a:t>string DescriptionEn</a:t>
            </a:r>
          </a:p>
          <a:p>
            <a:endParaRPr lang="en-US"/>
          </a:p>
          <a:p>
            <a:endParaRPr lang="en-US"/>
          </a:p>
        </p:txBody>
      </p:sp>
      <p:pic>
        <p:nvPicPr>
          <p:cNvPr id="5" name="Picture 4">
            <a:extLst>
              <a:ext uri="{FF2B5EF4-FFF2-40B4-BE49-F238E27FC236}">
                <a16:creationId xmlns:a16="http://schemas.microsoft.com/office/drawing/2014/main" id="{2DBC7D8E-FCE5-20C6-EBDA-A2DF75BBD019}"/>
              </a:ext>
            </a:extLst>
          </p:cNvPr>
          <p:cNvPicPr>
            <a:picLocks noChangeAspect="1"/>
          </p:cNvPicPr>
          <p:nvPr/>
        </p:nvPicPr>
        <p:blipFill>
          <a:blip r:embed="rId2"/>
          <a:stretch>
            <a:fillRect/>
          </a:stretch>
        </p:blipFill>
        <p:spPr>
          <a:xfrm>
            <a:off x="6221850" y="920898"/>
            <a:ext cx="4772116" cy="1527077"/>
          </a:xfrm>
          <a:prstGeom prst="rect">
            <a:avLst/>
          </a:prstGeom>
        </p:spPr>
      </p:pic>
    </p:spTree>
    <p:extLst>
      <p:ext uri="{BB962C8B-B14F-4D97-AF65-F5344CB8AC3E}">
        <p14:creationId xmlns:p14="http://schemas.microsoft.com/office/powerpoint/2010/main" val="84631435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57818-3891-49C0-FEBE-172051DF8D6B}"/>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b="1"/>
              <a:t>.</a:t>
            </a:r>
            <a:r>
              <a:rPr lang="en-US" b="1">
                <a:solidFill>
                  <a:srgbClr val="FF0000"/>
                </a:solidFill>
              </a:rPr>
              <a:t>Flow_Iscore_Param_Notifi</a:t>
            </a:r>
          </a:p>
        </p:txBody>
      </p:sp>
      <p:sp>
        <p:nvSpPr>
          <p:cNvPr id="3" name="Content Placeholder 2">
            <a:extLst>
              <a:ext uri="{FF2B5EF4-FFF2-40B4-BE49-F238E27FC236}">
                <a16:creationId xmlns:a16="http://schemas.microsoft.com/office/drawing/2014/main" id="{55A5B44B-1976-DC68-10F0-C17026BDFAB3}"/>
              </a:ext>
            </a:extLst>
          </p:cNvPr>
          <p:cNvSpPr>
            <a:spLocks noGrp="1"/>
          </p:cNvSpPr>
          <p:nvPr>
            <p:ph idx="1"/>
          </p:nvPr>
        </p:nvSpPr>
        <p:spPr>
          <a:xfrm>
            <a:off x="171450" y="571501"/>
            <a:ext cx="11953875" cy="6162674"/>
          </a:xfrm>
        </p:spPr>
        <p:txBody>
          <a:bodyPr/>
          <a:lstStyle/>
          <a:p>
            <a:r>
              <a:rPr lang="en-US"/>
              <a:t>FIPN_Id: PK. Identity</a:t>
            </a:r>
          </a:p>
          <a:p>
            <a:r>
              <a:rPr lang="en-US"/>
              <a:t>string Email { get; set; }</a:t>
            </a:r>
          </a:p>
          <a:p>
            <a:r>
              <a:rPr lang="en-US"/>
              <a:t>DateTime Creation_Date { get; set; }</a:t>
            </a:r>
          </a:p>
          <a:p>
            <a:r>
              <a:rPr lang="en-US"/>
              <a:t>ID: </a:t>
            </a:r>
            <a:r>
              <a:rPr lang="en-US" b="1">
                <a:solidFill>
                  <a:srgbClr val="FFFF00"/>
                </a:solidFill>
              </a:rPr>
              <a:t>FK fom Flow_Iscore_Param</a:t>
            </a:r>
          </a:p>
        </p:txBody>
      </p:sp>
    </p:spTree>
    <p:extLst>
      <p:ext uri="{BB962C8B-B14F-4D97-AF65-F5344CB8AC3E}">
        <p14:creationId xmlns:p14="http://schemas.microsoft.com/office/powerpoint/2010/main" val="293902406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E9B3F-FFFF-A81E-4C1F-FA7C3EE4814E}"/>
              </a:ext>
            </a:extLst>
          </p:cNvPr>
          <p:cNvSpPr>
            <a:spLocks noGrp="1"/>
          </p:cNvSpPr>
          <p:nvPr>
            <p:ph type="title"/>
          </p:nvPr>
        </p:nvSpPr>
        <p:spPr>
          <a:xfrm>
            <a:off x="1009045" y="0"/>
            <a:ext cx="10353762" cy="600075"/>
          </a:xfrm>
        </p:spPr>
        <p:txBody>
          <a:bodyPr>
            <a:normAutofit fontScale="90000"/>
          </a:bodyPr>
          <a:lstStyle/>
          <a:p>
            <a:r>
              <a:rPr lang="ar-EG" b="1">
                <a:solidFill>
                  <a:srgbClr val="FF0000"/>
                </a:solidFill>
              </a:rPr>
              <a:t>شاشة اعادة تحميل الأي سكور</a:t>
            </a:r>
            <a:endParaRPr lang="en-US" b="1">
              <a:solidFill>
                <a:srgbClr val="FF0000"/>
              </a:solidFill>
            </a:endParaRPr>
          </a:p>
        </p:txBody>
      </p:sp>
      <p:sp>
        <p:nvSpPr>
          <p:cNvPr id="3" name="Content Placeholder 2">
            <a:extLst>
              <a:ext uri="{FF2B5EF4-FFF2-40B4-BE49-F238E27FC236}">
                <a16:creationId xmlns:a16="http://schemas.microsoft.com/office/drawing/2014/main" id="{5DDD4A7F-4873-B0D3-0607-3AFF364C1820}"/>
              </a:ext>
            </a:extLst>
          </p:cNvPr>
          <p:cNvSpPr>
            <a:spLocks noGrp="1"/>
          </p:cNvSpPr>
          <p:nvPr>
            <p:ph idx="1"/>
          </p:nvPr>
        </p:nvSpPr>
        <p:spPr>
          <a:xfrm>
            <a:off x="180975" y="600075"/>
            <a:ext cx="11849100" cy="6105525"/>
          </a:xfrm>
        </p:spPr>
        <p:txBody>
          <a:bodyPr/>
          <a:lstStyle/>
          <a:p>
            <a:r>
              <a:rPr lang="en-US"/>
              <a:t>At </a:t>
            </a:r>
            <a:r>
              <a:rPr lang="en-US" b="1">
                <a:solidFill>
                  <a:srgbClr val="FFFF00"/>
                </a:solidFill>
              </a:rPr>
              <a:t>ReloadIScoreController</a:t>
            </a:r>
          </a:p>
          <a:p>
            <a:pPr lvl="1"/>
            <a:r>
              <a:rPr lang="en-US" b="1">
                <a:solidFill>
                  <a:srgbClr val="FFC000"/>
                </a:solidFill>
              </a:rPr>
              <a:t>ReloadIScoreAllVM</a:t>
            </a:r>
            <a:r>
              <a:rPr lang="en-US"/>
              <a:t>  GetAll()</a:t>
            </a:r>
          </a:p>
          <a:p>
            <a:pPr lvl="1"/>
            <a:r>
              <a:rPr lang="en-US" b="1"/>
              <a:t>Fetches funding requests with status 11 or 12</a:t>
            </a:r>
          </a:p>
          <a:p>
            <a:pPr lvl="2"/>
            <a:r>
              <a:rPr lang="en-US" b="1"/>
              <a:t>ReloadIScore : records with status 11</a:t>
            </a:r>
          </a:p>
          <a:p>
            <a:pPr lvl="2"/>
            <a:r>
              <a:rPr lang="en-US" b="1"/>
              <a:t>ReloadIScoreDev :  records with status 12</a:t>
            </a:r>
          </a:p>
          <a:p>
            <a:pPr lvl="1"/>
            <a:r>
              <a:rPr lang="en-US"/>
              <a:t>Returns both lists inside </a:t>
            </a:r>
            <a:r>
              <a:rPr lang="en-US" b="1">
                <a:solidFill>
                  <a:srgbClr val="00B0F0"/>
                </a:solidFill>
              </a:rPr>
              <a:t>ReloadIScoreAllVM</a:t>
            </a:r>
            <a:r>
              <a:rPr lang="en-US"/>
              <a:t> </a:t>
            </a:r>
          </a:p>
        </p:txBody>
      </p:sp>
    </p:spTree>
    <p:extLst>
      <p:ext uri="{BB962C8B-B14F-4D97-AF65-F5344CB8AC3E}">
        <p14:creationId xmlns:p14="http://schemas.microsoft.com/office/powerpoint/2010/main" val="373253912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1F0CA-5CFA-54A8-C506-C488768A386F}"/>
              </a:ext>
            </a:extLst>
          </p:cNvPr>
          <p:cNvSpPr>
            <a:spLocks noGrp="1"/>
          </p:cNvSpPr>
          <p:nvPr>
            <p:ph type="title"/>
          </p:nvPr>
        </p:nvSpPr>
        <p:spPr>
          <a:xfrm>
            <a:off x="913795" y="0"/>
            <a:ext cx="10353762" cy="601133"/>
          </a:xfrm>
        </p:spPr>
        <p:txBody>
          <a:bodyPr>
            <a:normAutofit fontScale="90000"/>
          </a:bodyPr>
          <a:lstStyle/>
          <a:p>
            <a:r>
              <a:rPr lang="en-US" sz="3600" b="1">
                <a:solidFill>
                  <a:srgbClr val="FF0000"/>
                </a:solidFill>
              </a:rPr>
              <a:t>When choosing requests and reload them</a:t>
            </a:r>
          </a:p>
        </p:txBody>
      </p:sp>
      <p:sp>
        <p:nvSpPr>
          <p:cNvPr id="3" name="Content Placeholder 2">
            <a:extLst>
              <a:ext uri="{FF2B5EF4-FFF2-40B4-BE49-F238E27FC236}">
                <a16:creationId xmlns:a16="http://schemas.microsoft.com/office/drawing/2014/main" id="{70EA0F8A-7721-6F74-2AF8-1E30A5119FB0}"/>
              </a:ext>
            </a:extLst>
          </p:cNvPr>
          <p:cNvSpPr>
            <a:spLocks noGrp="1"/>
          </p:cNvSpPr>
          <p:nvPr>
            <p:ph idx="1"/>
          </p:nvPr>
        </p:nvSpPr>
        <p:spPr>
          <a:xfrm>
            <a:off x="93133" y="601133"/>
            <a:ext cx="11980334" cy="6129867"/>
          </a:xfrm>
        </p:spPr>
        <p:txBody>
          <a:bodyPr>
            <a:normAutofit/>
          </a:bodyPr>
          <a:lstStyle/>
          <a:p>
            <a:r>
              <a:rPr lang="en-US" sz="1800" b="1">
                <a:solidFill>
                  <a:srgbClr val="FFFF00"/>
                </a:solidFill>
              </a:rPr>
              <a:t>ReloadIScoreController </a:t>
            </a:r>
            <a:r>
              <a:rPr lang="en-US" sz="1800" b="1">
                <a:solidFill>
                  <a:srgbClr val="00B0F0"/>
                </a:solidFill>
              </a:rPr>
              <a:t>BulkReloadIScore</a:t>
            </a:r>
            <a:r>
              <a:rPr lang="en-US" sz="1800" b="1"/>
              <a:t> </a:t>
            </a:r>
            <a:r>
              <a:rPr lang="en-US" sz="1800"/>
              <a:t>([FromBody] List&lt;ReloadIScoreVM&gt; entity)</a:t>
            </a:r>
          </a:p>
          <a:p>
            <a:r>
              <a:rPr lang="en-US" sz="1800"/>
              <a:t>It calls </a:t>
            </a:r>
            <a:r>
              <a:rPr lang="en-US" sz="1800" b="1">
                <a:solidFill>
                  <a:srgbClr val="FFFF00"/>
                </a:solidFill>
              </a:rPr>
              <a:t>BulkReloadIScore</a:t>
            </a:r>
            <a:r>
              <a:rPr lang="en-US" sz="1800"/>
              <a:t> which calls </a:t>
            </a:r>
            <a:r>
              <a:rPr lang="en-US" b="1">
                <a:solidFill>
                  <a:srgbClr val="FFC000"/>
                </a:solidFill>
              </a:rPr>
              <a:t>PostIScore</a:t>
            </a:r>
            <a:r>
              <a:rPr lang="en-US"/>
              <a:t> (List&lt;ReloadIScoreVM&gt; entity)</a:t>
            </a:r>
            <a:endParaRPr lang="en-US" sz="1800"/>
          </a:p>
          <a:p>
            <a:pPr lvl="1"/>
            <a:r>
              <a:rPr lang="en-US" sz="1600" b="1"/>
              <a:t>For each </a:t>
            </a:r>
            <a:r>
              <a:rPr lang="en-US" sz="1600"/>
              <a:t>ReloadIScoreVM </a:t>
            </a:r>
            <a:r>
              <a:rPr lang="en-US" sz="1600" b="1">
                <a:solidFill>
                  <a:srgbClr val="FFFF00"/>
                </a:solidFill>
              </a:rPr>
              <a:t>item</a:t>
            </a:r>
          </a:p>
          <a:p>
            <a:pPr lvl="2"/>
            <a:r>
              <a:rPr lang="en-US" b="1"/>
              <a:t>Get all Flow_Transfer_Iscore Where(x =&gt; x.Request_Id == item.RequestId)</a:t>
            </a:r>
          </a:p>
          <a:p>
            <a:pPr lvl="2"/>
            <a:r>
              <a:rPr lang="en-US" b="1"/>
              <a:t>For each Flow_Transfer_Iscore row</a:t>
            </a:r>
          </a:p>
          <a:p>
            <a:pPr lvl="3"/>
            <a:r>
              <a:rPr lang="en-US" b="1"/>
              <a:t>Get the Request =  Flow_Funding_request. FirstOrDefault(x =&gt; x.Request_id == item.RequestId);</a:t>
            </a:r>
          </a:p>
          <a:p>
            <a:pPr lvl="3"/>
            <a:r>
              <a:rPr lang="en-US" b="1">
                <a:solidFill>
                  <a:srgbClr val="FFC000"/>
                </a:solidFill>
              </a:rPr>
              <a:t>IscoreFlag</a:t>
            </a:r>
            <a:r>
              <a:rPr lang="en-US"/>
              <a:t>  =</a:t>
            </a:r>
            <a:r>
              <a:rPr lang="en-US" b="1"/>
              <a:t> callTransferIscore ( Flow_Transfer_Iscore  row,   </a:t>
            </a:r>
            <a:r>
              <a:rPr lang="en-US" b="1">
                <a:solidFill>
                  <a:srgbClr val="FFFF00"/>
                </a:solidFill>
              </a:rPr>
              <a:t>item.Loan_Code</a:t>
            </a:r>
            <a:r>
              <a:rPr lang="en-US" b="1"/>
              <a:t> ,  </a:t>
            </a:r>
            <a:r>
              <a:rPr lang="en-US" b="1">
                <a:solidFill>
                  <a:srgbClr val="FFFF00"/>
                </a:solidFill>
              </a:rPr>
              <a:t>request.Creation_Data</a:t>
            </a:r>
            <a:r>
              <a:rPr lang="en-US" b="1"/>
              <a:t> )</a:t>
            </a:r>
          </a:p>
          <a:p>
            <a:pPr lvl="3"/>
            <a:r>
              <a:rPr lang="en-US" sz="1500" b="1"/>
              <a:t>if (Request.status_code == Status_code_11_FialedIScore &amp;&amp; (IscoreFlag == 93 || IscoreFlag == -1 || IscoreFlag == 0))</a:t>
            </a:r>
          </a:p>
          <a:p>
            <a:pPr lvl="4"/>
            <a:r>
              <a:rPr lang="en-US"/>
              <a:t>UpdateRequest(Request, Status_code_12_FailedReloadIScore);</a:t>
            </a:r>
          </a:p>
          <a:p>
            <a:pPr lvl="4"/>
            <a:r>
              <a:rPr lang="en-US"/>
              <a:t>if (IscoreFlag == 93)  IscoreFlagG = 93;</a:t>
            </a:r>
          </a:p>
          <a:p>
            <a:pPr lvl="3"/>
            <a:r>
              <a:rPr lang="en-US" b="1"/>
              <a:t>Else </a:t>
            </a:r>
            <a:r>
              <a:rPr lang="en-US"/>
              <a:t>if (Request.status_code == 0 &amp;&amp; (IscoreFlag == 0))</a:t>
            </a:r>
          </a:p>
          <a:p>
            <a:pPr lvl="4"/>
            <a:r>
              <a:rPr lang="en-US"/>
              <a:t>UpdateRequest(Request, Status_code_0_);</a:t>
            </a:r>
          </a:p>
          <a:p>
            <a:pPr lvl="3"/>
            <a:r>
              <a:rPr lang="en-US" b="1"/>
              <a:t>else if (IscoreFlag == -2) </a:t>
            </a:r>
            <a:r>
              <a:rPr lang="en-US"/>
              <a:t>IscoreFlagG = -2;</a:t>
            </a:r>
            <a:endParaRPr lang="en-US" b="1"/>
          </a:p>
          <a:p>
            <a:pPr lvl="1"/>
            <a:r>
              <a:rPr lang="en-US"/>
              <a:t>Return IscoreFlagG</a:t>
            </a:r>
            <a:endParaRPr lang="en-US" sz="1600" b="1"/>
          </a:p>
          <a:p>
            <a:pPr lvl="1"/>
            <a:endParaRPr lang="en-US" sz="1600" b="1"/>
          </a:p>
          <a:p>
            <a:endParaRPr lang="en-US" sz="1800" b="1"/>
          </a:p>
        </p:txBody>
      </p:sp>
    </p:spTree>
    <p:extLst>
      <p:ext uri="{BB962C8B-B14F-4D97-AF65-F5344CB8AC3E}">
        <p14:creationId xmlns:p14="http://schemas.microsoft.com/office/powerpoint/2010/main" val="338038536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82FD7-138E-88B5-BF2B-CA6232509386}"/>
              </a:ext>
            </a:extLst>
          </p:cNvPr>
          <p:cNvSpPr>
            <a:spLocks noGrp="1"/>
          </p:cNvSpPr>
          <p:nvPr>
            <p:ph type="title"/>
          </p:nvPr>
        </p:nvSpPr>
        <p:spPr>
          <a:xfrm>
            <a:off x="220132" y="0"/>
            <a:ext cx="11641667" cy="635000"/>
          </a:xfrm>
        </p:spPr>
        <p:txBody>
          <a:bodyPr>
            <a:noAutofit/>
          </a:bodyPr>
          <a:lstStyle/>
          <a:p>
            <a:r>
              <a:rPr lang="en-US" sz="2800" b="1">
                <a:solidFill>
                  <a:srgbClr val="FFFF00"/>
                </a:solidFill>
              </a:rPr>
              <a:t>String IscoreEnquery (Flow_Transfer_Iscore, Request.CreationDate)</a:t>
            </a:r>
          </a:p>
        </p:txBody>
      </p:sp>
      <p:sp>
        <p:nvSpPr>
          <p:cNvPr id="3" name="Content Placeholder 2">
            <a:extLst>
              <a:ext uri="{FF2B5EF4-FFF2-40B4-BE49-F238E27FC236}">
                <a16:creationId xmlns:a16="http://schemas.microsoft.com/office/drawing/2014/main" id="{0497F1D1-5034-28B5-0EB6-BFF90EAE19C5}"/>
              </a:ext>
            </a:extLst>
          </p:cNvPr>
          <p:cNvSpPr>
            <a:spLocks noGrp="1"/>
          </p:cNvSpPr>
          <p:nvPr>
            <p:ph idx="1"/>
          </p:nvPr>
        </p:nvSpPr>
        <p:spPr>
          <a:xfrm>
            <a:off x="0" y="635000"/>
            <a:ext cx="12191999" cy="6223000"/>
          </a:xfrm>
        </p:spPr>
        <p:txBody>
          <a:bodyPr>
            <a:normAutofit lnSpcReduction="10000"/>
          </a:bodyPr>
          <a:lstStyle/>
          <a:p>
            <a:r>
              <a:rPr lang="en-US" sz="1600" b="1">
                <a:solidFill>
                  <a:srgbClr val="FFFF00"/>
                </a:solidFill>
              </a:rPr>
              <a:t>path</a:t>
            </a:r>
            <a:r>
              <a:rPr lang="en-US" sz="1600"/>
              <a:t> = ConfigurationManager.AppSettings["UploadXMLLogs"]; 	  //  </a:t>
            </a:r>
            <a:r>
              <a:rPr lang="en-US" sz="1400" b="1"/>
              <a:t>D:\Master\IscoreManual\Files\IScore_Log\Json_Log\</a:t>
            </a:r>
          </a:p>
          <a:p>
            <a:r>
              <a:rPr lang="en-US" sz="1400" b="1">
                <a:solidFill>
                  <a:srgbClr val="FFFF00"/>
                </a:solidFill>
              </a:rPr>
              <a:t>xmlFleIscore</a:t>
            </a:r>
            <a:r>
              <a:rPr lang="en-US" sz="1400" b="1"/>
              <a:t> = ConfigurationManager.AppSettings["UploadXMLFileIscore"]</a:t>
            </a:r>
            <a:r>
              <a:rPr lang="en-US" sz="1400"/>
              <a:t>   // </a:t>
            </a:r>
            <a:r>
              <a:rPr lang="en-US" sz="1400" b="1"/>
              <a:t>D:\Master\IscoreManual\Files\IScore_Log\Xml_Log\</a:t>
            </a:r>
          </a:p>
          <a:p>
            <a:r>
              <a:rPr lang="en-US" sz="1600"/>
              <a:t>_log_Iscore_TestService.Add_LogIscorTest("B", </a:t>
            </a:r>
            <a:r>
              <a:rPr lang="en-US" sz="1600" b="1">
                <a:solidFill>
                  <a:srgbClr val="FFFF00"/>
                </a:solidFill>
              </a:rPr>
              <a:t>Flow_Transfer_Iscore</a:t>
            </a:r>
            <a:r>
              <a:rPr lang="en-US" sz="1600"/>
              <a:t>.IDNO, 0, </a:t>
            </a:r>
            <a:r>
              <a:rPr lang="en-US" sz="1600" b="1">
                <a:solidFill>
                  <a:srgbClr val="FFFF00"/>
                </a:solidFill>
              </a:rPr>
              <a:t>Flow_Transfer_Iscore</a:t>
            </a:r>
            <a:r>
              <a:rPr lang="en-US" sz="1600"/>
              <a:t>.Request_Id);</a:t>
            </a:r>
          </a:p>
          <a:p>
            <a:r>
              <a:rPr lang="en-US" sz="1600"/>
              <a:t> IscoreParam = _Iscore_Param.Queryable().FirstOrDefault(x =&gt; x.Code_IQT == 1); // </a:t>
            </a:r>
          </a:p>
          <a:p>
            <a:r>
              <a:rPr lang="en-US" sz="1500" b="1">
                <a:solidFill>
                  <a:srgbClr val="FFFF00"/>
                </a:solidFill>
              </a:rPr>
              <a:t>PRODUCT_ID</a:t>
            </a:r>
            <a:r>
              <a:rPr lang="en-US" sz="1500"/>
              <a:t> = ConfigurationManager.AppSettings["PRODUCT_ID"];</a:t>
            </a:r>
            <a:r>
              <a:rPr lang="en-US" sz="1500" b="1"/>
              <a:t> // </a:t>
            </a:r>
            <a:r>
              <a:rPr lang="en-US" sz="1500"/>
              <a:t>140033</a:t>
            </a:r>
          </a:p>
          <a:p>
            <a:r>
              <a:rPr lang="en-US" sz="1500" b="1"/>
              <a:t>APPLICATION_DATE</a:t>
            </a:r>
            <a:r>
              <a:rPr lang="en-US" sz="1500"/>
              <a:t> = Request.CreationDate // used in xmlMessage</a:t>
            </a:r>
            <a:endParaRPr lang="en-US" sz="1500" b="1"/>
          </a:p>
          <a:p>
            <a:r>
              <a:rPr lang="en-US" sz="1600"/>
              <a:t>xmlMessage = ……  // </a:t>
            </a:r>
          </a:p>
          <a:p>
            <a:r>
              <a:rPr lang="en-US" sz="1600"/>
              <a:t>url = ConfigurationManager.AppSettings["IscoreURL"]    // </a:t>
            </a:r>
            <a:r>
              <a:rPr lang="en-US" sz="1400" b="1"/>
              <a:t>https://uat.i-score.com.eg/SbxLiveRequest/api/LiveRequest/</a:t>
            </a:r>
            <a:endParaRPr lang="en-US" sz="1600" b="1"/>
          </a:p>
          <a:p>
            <a:r>
              <a:rPr lang="en-US" sz="1600" b="1">
                <a:solidFill>
                  <a:srgbClr val="FFFF00"/>
                </a:solidFill>
              </a:rPr>
              <a:t>IscoreApiKey</a:t>
            </a:r>
            <a:r>
              <a:rPr lang="en-US" sz="1600" b="1"/>
              <a:t> = ConfigurationManager.AppSettings["APIKey"]</a:t>
            </a:r>
            <a:r>
              <a:rPr lang="en-US" sz="1600"/>
              <a:t>   </a:t>
            </a:r>
            <a:r>
              <a:rPr lang="en-US" sz="1400" b="1"/>
              <a:t>// </a:t>
            </a:r>
            <a:r>
              <a:rPr lang="en-US" sz="1500" b="1"/>
              <a:t>sxpUhKRCJc6t06h0GMznol1SSfJELnjffKgFJtMy_1</a:t>
            </a:r>
          </a:p>
          <a:p>
            <a:r>
              <a:rPr lang="en-US" sz="1600"/>
              <a:t>HttpClient client = new HttpClient(); </a:t>
            </a:r>
            <a:r>
              <a:rPr lang="en-US" sz="1200"/>
              <a:t>C</a:t>
            </a:r>
            <a:r>
              <a:rPr lang="en-US" sz="1600"/>
              <a:t>lient.DefaultRequestHeaders.Add("</a:t>
            </a:r>
            <a:r>
              <a:rPr lang="en-US" sz="1600" b="1"/>
              <a:t>api_key</a:t>
            </a:r>
            <a:r>
              <a:rPr lang="en-US" sz="1600"/>
              <a:t>", </a:t>
            </a:r>
            <a:r>
              <a:rPr lang="en-US" sz="1600" b="1"/>
              <a:t>IscoreApiKey</a:t>
            </a:r>
            <a:r>
              <a:rPr lang="en-US" sz="1600"/>
              <a:t> );</a:t>
            </a:r>
          </a:p>
          <a:p>
            <a:r>
              <a:rPr lang="en-US" sz="1600"/>
              <a:t>responseMessage = client.SendAsync(request).Result;</a:t>
            </a:r>
          </a:p>
          <a:p>
            <a:r>
              <a:rPr lang="en-US" sz="1600"/>
              <a:t>vResult = responseMessage.Content.ReadAsStringAsync().Result; // look at the next page to see the Iscore Result</a:t>
            </a:r>
          </a:p>
          <a:p>
            <a:r>
              <a:rPr lang="en-US" sz="1600"/>
              <a:t>_log_Iscore_TestService.Add_LogIscorTest("A", </a:t>
            </a:r>
            <a:r>
              <a:rPr lang="en-US" sz="1600" b="1">
                <a:solidFill>
                  <a:srgbClr val="FFFF00"/>
                </a:solidFill>
              </a:rPr>
              <a:t>Flow_Transfer_Iscore</a:t>
            </a:r>
            <a:r>
              <a:rPr lang="en-US" sz="1600"/>
              <a:t>.IDNO, 1, </a:t>
            </a:r>
            <a:r>
              <a:rPr lang="en-US" sz="1600" b="1">
                <a:solidFill>
                  <a:srgbClr val="FFFF00"/>
                </a:solidFill>
              </a:rPr>
              <a:t>Flow_Transfer_Iscore</a:t>
            </a:r>
            <a:r>
              <a:rPr lang="en-US" sz="1600"/>
              <a:t>.Request_Id);</a:t>
            </a:r>
            <a:endParaRPr lang="en-US" sz="1050"/>
          </a:p>
          <a:p>
            <a:r>
              <a:rPr lang="en-US" sz="1600"/>
              <a:t>path = </a:t>
            </a:r>
            <a:r>
              <a:rPr lang="en-US" sz="1400"/>
              <a:t>path + Data.IDNO + "_JSON_" + DateTime.Parse(DateTime.Now.ToString()).ToString("dd_MM_yyyy", CultureInfo.InvariantCulture) +".text";</a:t>
            </a:r>
          </a:p>
          <a:p>
            <a:pPr lvl="1"/>
            <a:r>
              <a:rPr lang="en-US" sz="1200" b="1"/>
              <a:t>Path = D:\\Master\\IscoreManual\\Files\\IScore_Log\\Json_Log\\29811252100222_JSON_14_04_2026.text</a:t>
            </a:r>
          </a:p>
          <a:p>
            <a:r>
              <a:rPr lang="en-US" sz="1600"/>
              <a:t>File.WriteAllText(path, vResult); // </a:t>
            </a:r>
            <a:r>
              <a:rPr lang="en-US" sz="1600" b="1">
                <a:solidFill>
                  <a:srgbClr val="FFFF00"/>
                </a:solidFill>
              </a:rPr>
              <a:t>save the vResult as text</a:t>
            </a:r>
          </a:p>
          <a:p>
            <a:r>
              <a:rPr lang="en-US" sz="1600"/>
              <a:t>Step to save the result as XML too </a:t>
            </a:r>
          </a:p>
          <a:p>
            <a:r>
              <a:rPr lang="en-US" sz="1600"/>
              <a:t>Return the </a:t>
            </a:r>
            <a:r>
              <a:rPr lang="en-US" sz="1600" b="1">
                <a:solidFill>
                  <a:srgbClr val="FFFF00"/>
                </a:solidFill>
              </a:rPr>
              <a:t>vResult</a:t>
            </a:r>
          </a:p>
        </p:txBody>
      </p:sp>
      <p:pic>
        <p:nvPicPr>
          <p:cNvPr id="5" name="Picture 4">
            <a:extLst>
              <a:ext uri="{FF2B5EF4-FFF2-40B4-BE49-F238E27FC236}">
                <a16:creationId xmlns:a16="http://schemas.microsoft.com/office/drawing/2014/main" id="{C0FDEBC3-D0F7-6317-C35C-CFBCECCCC8C4}"/>
              </a:ext>
            </a:extLst>
          </p:cNvPr>
          <p:cNvPicPr>
            <a:picLocks noChangeAspect="1"/>
          </p:cNvPicPr>
          <p:nvPr/>
        </p:nvPicPr>
        <p:blipFill>
          <a:blip r:embed="rId2"/>
          <a:stretch>
            <a:fillRect/>
          </a:stretch>
        </p:blipFill>
        <p:spPr>
          <a:xfrm>
            <a:off x="8225237" y="1711099"/>
            <a:ext cx="2349629" cy="320068"/>
          </a:xfrm>
          <a:prstGeom prst="rect">
            <a:avLst/>
          </a:prstGeom>
        </p:spPr>
      </p:pic>
    </p:spTree>
    <p:extLst>
      <p:ext uri="{BB962C8B-B14F-4D97-AF65-F5344CB8AC3E}">
        <p14:creationId xmlns:p14="http://schemas.microsoft.com/office/powerpoint/2010/main" val="34298138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5CB840F-8E41-4CA5-B79B-25CC80AD23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451B5B-E9EB-D61B-397E-1021214ADA5B}"/>
              </a:ext>
            </a:extLst>
          </p:cNvPr>
          <p:cNvSpPr>
            <a:spLocks noGrp="1"/>
          </p:cNvSpPr>
          <p:nvPr>
            <p:ph type="title"/>
          </p:nvPr>
        </p:nvSpPr>
        <p:spPr>
          <a:xfrm>
            <a:off x="499533" y="609600"/>
            <a:ext cx="4622800" cy="970450"/>
          </a:xfrm>
        </p:spPr>
        <p:txBody>
          <a:bodyPr anchor="b">
            <a:normAutofit/>
          </a:bodyPr>
          <a:lstStyle/>
          <a:p>
            <a:r>
              <a:rPr lang="en-US" sz="3200">
                <a:ln>
                  <a:solidFill>
                    <a:srgbClr val="404040">
                      <a:alpha val="10000"/>
                    </a:srgbClr>
                  </a:solidFill>
                </a:ln>
                <a:solidFill>
                  <a:srgbClr val="FFFF00"/>
                </a:solidFill>
              </a:rPr>
              <a:t>IsCore Enquiry Result</a:t>
            </a:r>
          </a:p>
        </p:txBody>
      </p:sp>
      <p:sp>
        <p:nvSpPr>
          <p:cNvPr id="3" name="Content Placeholder 2">
            <a:extLst>
              <a:ext uri="{FF2B5EF4-FFF2-40B4-BE49-F238E27FC236}">
                <a16:creationId xmlns:a16="http://schemas.microsoft.com/office/drawing/2014/main" id="{4E8DF96D-90C5-2450-6265-22DD10BE481C}"/>
              </a:ext>
            </a:extLst>
          </p:cNvPr>
          <p:cNvSpPr>
            <a:spLocks noGrp="1"/>
          </p:cNvSpPr>
          <p:nvPr>
            <p:ph idx="1"/>
          </p:nvPr>
        </p:nvSpPr>
        <p:spPr>
          <a:xfrm>
            <a:off x="118533" y="1732449"/>
            <a:ext cx="4936067" cy="4482084"/>
          </a:xfrm>
        </p:spPr>
        <p:txBody>
          <a:bodyPr anchor="t">
            <a:normAutofit/>
          </a:bodyPr>
          <a:lstStyle/>
          <a:p>
            <a:r>
              <a:rPr lang="en-US" sz="1600">
                <a:ln>
                  <a:solidFill>
                    <a:srgbClr val="404040">
                      <a:alpha val="10000"/>
                    </a:srgbClr>
                  </a:solidFill>
                </a:ln>
                <a:solidFill>
                  <a:srgbClr val="DADADA"/>
                </a:solidFill>
              </a:rPr>
              <a:t>This is the vResult in the IscoreEnquery</a:t>
            </a:r>
          </a:p>
          <a:p>
            <a:endParaRPr lang="en-US" sz="1600">
              <a:ln>
                <a:solidFill>
                  <a:srgbClr val="404040">
                    <a:alpha val="10000"/>
                  </a:srgbClr>
                </a:solidFill>
              </a:ln>
              <a:solidFill>
                <a:srgbClr val="DADADA"/>
              </a:solidFill>
            </a:endParaRPr>
          </a:p>
          <a:p>
            <a:r>
              <a:rPr lang="en-US" sz="1600" b="1">
                <a:ln>
                  <a:solidFill>
                    <a:srgbClr val="404040">
                      <a:alpha val="10000"/>
                    </a:srgbClr>
                  </a:solidFill>
                </a:ln>
                <a:solidFill>
                  <a:srgbClr val="DADADA"/>
                </a:solidFill>
              </a:rPr>
              <a:t>IsNoHit = true</a:t>
            </a:r>
            <a:r>
              <a:rPr lang="en-US" sz="1600">
                <a:ln>
                  <a:solidFill>
                    <a:srgbClr val="404040">
                      <a:alpha val="10000"/>
                    </a:srgbClr>
                  </a:solidFill>
                </a:ln>
                <a:solidFill>
                  <a:srgbClr val="DADADA"/>
                </a:solidFill>
              </a:rPr>
              <a:t> : user  </a:t>
            </a:r>
            <a:r>
              <a:rPr lang="en-US" sz="1600" b="1">
                <a:ln>
                  <a:solidFill>
                    <a:srgbClr val="404040">
                      <a:alpha val="10000"/>
                    </a:srgbClr>
                  </a:solidFill>
                </a:ln>
                <a:solidFill>
                  <a:srgbClr val="DADADA"/>
                </a:solidFill>
              </a:rPr>
              <a:t>not found in iscore</a:t>
            </a:r>
          </a:p>
        </p:txBody>
      </p:sp>
      <p:pic>
        <p:nvPicPr>
          <p:cNvPr id="7" name="Picture 6">
            <a:extLst>
              <a:ext uri="{FF2B5EF4-FFF2-40B4-BE49-F238E27FC236}">
                <a16:creationId xmlns:a16="http://schemas.microsoft.com/office/drawing/2014/main" id="{05563235-720E-B1DB-44E1-498871B886E5}"/>
              </a:ext>
            </a:extLst>
          </p:cNvPr>
          <p:cNvPicPr>
            <a:picLocks noChangeAspect="1"/>
          </p:cNvPicPr>
          <p:nvPr/>
        </p:nvPicPr>
        <p:blipFill>
          <a:blip r:embed="rId2"/>
          <a:stretch>
            <a:fillRect/>
          </a:stretch>
        </p:blipFill>
        <p:spPr>
          <a:xfrm>
            <a:off x="7865534" y="224513"/>
            <a:ext cx="4326466" cy="6633487"/>
          </a:xfrm>
          <a:prstGeom prst="rect">
            <a:avLst/>
          </a:prstGeom>
        </p:spPr>
      </p:pic>
      <p:pic>
        <p:nvPicPr>
          <p:cNvPr id="12" name="Picture 11">
            <a:extLst>
              <a:ext uri="{FF2B5EF4-FFF2-40B4-BE49-F238E27FC236}">
                <a16:creationId xmlns:a16="http://schemas.microsoft.com/office/drawing/2014/main" id="{23B35A93-0152-D352-DE24-A3B439AD523A}"/>
              </a:ext>
            </a:extLst>
          </p:cNvPr>
          <p:cNvPicPr>
            <a:picLocks noChangeAspect="1"/>
          </p:cNvPicPr>
          <p:nvPr/>
        </p:nvPicPr>
        <p:blipFill>
          <a:blip r:embed="rId3"/>
          <a:stretch>
            <a:fillRect/>
          </a:stretch>
        </p:blipFill>
        <p:spPr>
          <a:xfrm>
            <a:off x="4910551" y="249278"/>
            <a:ext cx="2887250" cy="6583956"/>
          </a:xfrm>
          <a:prstGeom prst="rect">
            <a:avLst/>
          </a:prstGeom>
        </p:spPr>
      </p:pic>
    </p:spTree>
    <p:extLst>
      <p:ext uri="{BB962C8B-B14F-4D97-AF65-F5344CB8AC3E}">
        <p14:creationId xmlns:p14="http://schemas.microsoft.com/office/powerpoint/2010/main" val="3587433874"/>
      </p:ext>
    </p:extLst>
  </p:cSld>
  <p:clrMapOvr>
    <a:overrideClrMapping bg1="lt1" tx1="dk1" bg2="lt2" tx2="dk2" accent1="accent1" accent2="accent2" accent3="accent3" accent4="accent4" accent5="accent5" accent6="accent6" hlink="hlink" folHlink="folHlink"/>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54850-CBFA-A282-01AC-336D99D07AD8}"/>
              </a:ext>
            </a:extLst>
          </p:cNvPr>
          <p:cNvSpPr>
            <a:spLocks noGrp="1"/>
          </p:cNvSpPr>
          <p:nvPr>
            <p:ph type="title"/>
          </p:nvPr>
        </p:nvSpPr>
        <p:spPr>
          <a:xfrm>
            <a:off x="913795" y="0"/>
            <a:ext cx="10353762" cy="524933"/>
          </a:xfrm>
        </p:spPr>
        <p:txBody>
          <a:bodyPr>
            <a:normAutofit fontScale="90000"/>
          </a:bodyPr>
          <a:lstStyle/>
          <a:p>
            <a:r>
              <a:rPr lang="en-US" b="1"/>
              <a:t>What </a:t>
            </a:r>
            <a:r>
              <a:rPr lang="en-US" b="1">
                <a:solidFill>
                  <a:srgbClr val="FF0000"/>
                </a:solidFill>
              </a:rPr>
              <a:t>IscoreDataFound</a:t>
            </a:r>
            <a:r>
              <a:rPr lang="en-US" b="1"/>
              <a:t> method do</a:t>
            </a:r>
            <a:endParaRPr lang="en-US"/>
          </a:p>
        </p:txBody>
      </p:sp>
      <p:sp>
        <p:nvSpPr>
          <p:cNvPr id="3" name="Content Placeholder 2">
            <a:extLst>
              <a:ext uri="{FF2B5EF4-FFF2-40B4-BE49-F238E27FC236}">
                <a16:creationId xmlns:a16="http://schemas.microsoft.com/office/drawing/2014/main" id="{058981ED-1A75-7810-4073-BA16418F8279}"/>
              </a:ext>
            </a:extLst>
          </p:cNvPr>
          <p:cNvSpPr>
            <a:spLocks noGrp="1"/>
          </p:cNvSpPr>
          <p:nvPr>
            <p:ph idx="1"/>
          </p:nvPr>
        </p:nvSpPr>
        <p:spPr>
          <a:xfrm>
            <a:off x="262467" y="524933"/>
            <a:ext cx="11005090" cy="5621867"/>
          </a:xfrm>
        </p:spPr>
        <p:txBody>
          <a:bodyPr/>
          <a:lstStyle/>
          <a:p>
            <a:r>
              <a:rPr lang="en-US" b="1">
                <a:solidFill>
                  <a:srgbClr val="FF0000"/>
                </a:solidFill>
              </a:rPr>
              <a:t>Flow_ISCORE_Data</a:t>
            </a:r>
            <a:r>
              <a:rPr lang="en-US"/>
              <a:t> </a:t>
            </a:r>
            <a:r>
              <a:rPr lang="en-US" b="1"/>
              <a:t>IscoreDataFound</a:t>
            </a:r>
            <a:r>
              <a:rPr lang="en-US"/>
              <a:t>(string IDNO)</a:t>
            </a:r>
          </a:p>
          <a:p>
            <a:r>
              <a:rPr lang="en-US"/>
              <a:t>Return the result of the last inquiry of the person</a:t>
            </a:r>
          </a:p>
          <a:p>
            <a:r>
              <a:rPr lang="en-US" sz="1800"/>
              <a:t>Where(x =&gt; x.Cust_IDNO == IDNO).OrderByDescending(x =&gt; x.</a:t>
            </a:r>
            <a:r>
              <a:rPr lang="en-US" sz="1800" b="1">
                <a:solidFill>
                  <a:srgbClr val="FF0000"/>
                </a:solidFill>
              </a:rPr>
              <a:t>Inquiry_Date</a:t>
            </a:r>
            <a:r>
              <a:rPr lang="en-US" sz="1800"/>
              <a:t>).FirstOrDefault()</a:t>
            </a:r>
          </a:p>
        </p:txBody>
      </p:sp>
    </p:spTree>
    <p:extLst>
      <p:ext uri="{BB962C8B-B14F-4D97-AF65-F5344CB8AC3E}">
        <p14:creationId xmlns:p14="http://schemas.microsoft.com/office/powerpoint/2010/main" val="97371481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BBBF6-695A-7005-97D4-8081DE708681}"/>
              </a:ext>
            </a:extLst>
          </p:cNvPr>
          <p:cNvSpPr>
            <a:spLocks noGrp="1"/>
          </p:cNvSpPr>
          <p:nvPr>
            <p:ph type="title"/>
          </p:nvPr>
        </p:nvSpPr>
        <p:spPr>
          <a:xfrm>
            <a:off x="67733" y="0"/>
            <a:ext cx="12124266" cy="651933"/>
          </a:xfrm>
        </p:spPr>
        <p:txBody>
          <a:bodyPr>
            <a:noAutofit/>
          </a:bodyPr>
          <a:lstStyle/>
          <a:p>
            <a:r>
              <a:rPr lang="en-US" sz="2400" b="1"/>
              <a:t>What </a:t>
            </a:r>
            <a:r>
              <a:rPr lang="en-US" sz="2400" b="1">
                <a:solidFill>
                  <a:srgbClr val="FF0000"/>
                </a:solidFill>
              </a:rPr>
              <a:t>callTransferIscore( </a:t>
            </a:r>
            <a:r>
              <a:rPr lang="en-US" sz="1600" b="1"/>
              <a:t>Flow_Transfer_Iscore  row,   </a:t>
            </a:r>
            <a:r>
              <a:rPr lang="en-US" sz="1600" b="1">
                <a:solidFill>
                  <a:srgbClr val="FFFF00"/>
                </a:solidFill>
              </a:rPr>
              <a:t>item.Loan_Code</a:t>
            </a:r>
            <a:r>
              <a:rPr lang="en-US" sz="1600" b="1"/>
              <a:t> ,  </a:t>
            </a:r>
            <a:r>
              <a:rPr lang="en-US" sz="1600" b="1">
                <a:solidFill>
                  <a:srgbClr val="FFFF00"/>
                </a:solidFill>
              </a:rPr>
              <a:t>request.Creation_Data ) </a:t>
            </a:r>
            <a:r>
              <a:rPr lang="en-US" sz="2400" b="1"/>
              <a:t>method do</a:t>
            </a:r>
          </a:p>
        </p:txBody>
      </p:sp>
      <p:sp>
        <p:nvSpPr>
          <p:cNvPr id="3" name="Content Placeholder 2">
            <a:extLst>
              <a:ext uri="{FF2B5EF4-FFF2-40B4-BE49-F238E27FC236}">
                <a16:creationId xmlns:a16="http://schemas.microsoft.com/office/drawing/2014/main" id="{28F9EF09-560E-7F76-4EA5-F34E1FD924FB}"/>
              </a:ext>
            </a:extLst>
          </p:cNvPr>
          <p:cNvSpPr>
            <a:spLocks noGrp="1"/>
          </p:cNvSpPr>
          <p:nvPr>
            <p:ph idx="1"/>
          </p:nvPr>
        </p:nvSpPr>
        <p:spPr>
          <a:xfrm>
            <a:off x="127000" y="651932"/>
            <a:ext cx="12064999" cy="6206067"/>
          </a:xfrm>
        </p:spPr>
        <p:txBody>
          <a:bodyPr>
            <a:normAutofit/>
          </a:bodyPr>
          <a:lstStyle/>
          <a:p>
            <a:r>
              <a:rPr lang="en-US" sz="1400" b="1"/>
              <a:t>ISCORE_DATA  =</a:t>
            </a:r>
            <a:r>
              <a:rPr lang="en-US" sz="1400" b="1">
                <a:solidFill>
                  <a:srgbClr val="FFFF00"/>
                </a:solidFill>
              </a:rPr>
              <a:t>_ISCORE_DataService</a:t>
            </a:r>
            <a:r>
              <a:rPr lang="en-US" sz="1400" b="1"/>
              <a:t>.</a:t>
            </a:r>
            <a:r>
              <a:rPr lang="en-US" sz="1400" b="1">
                <a:solidFill>
                  <a:srgbClr val="FF0000"/>
                </a:solidFill>
              </a:rPr>
              <a:t>IscoreDataFound</a:t>
            </a:r>
            <a:r>
              <a:rPr lang="en-US" sz="1400" b="1"/>
              <a:t>(Data.IDNO) – </a:t>
            </a:r>
            <a:r>
              <a:rPr lang="ar-EG" sz="1400" b="1">
                <a:solidFill>
                  <a:srgbClr val="FF0000"/>
                </a:solidFill>
              </a:rPr>
              <a:t>بيرجع اخر استعلام عن العميل </a:t>
            </a:r>
            <a:endParaRPr lang="en-US" sz="1400" b="1">
              <a:solidFill>
                <a:srgbClr val="FF0000"/>
              </a:solidFill>
            </a:endParaRPr>
          </a:p>
          <a:p>
            <a:r>
              <a:rPr lang="en-US" sz="1400" b="1"/>
              <a:t>Branch = _BranchService.GetCurrentBranch(Data.BranchId);</a:t>
            </a:r>
          </a:p>
          <a:p>
            <a:r>
              <a:rPr lang="en-US" sz="1400" b="1"/>
              <a:t>BusDate = _BusDateService.GetBusDateBrach(Branch.BranchId); // get branch bus date</a:t>
            </a:r>
          </a:p>
          <a:p>
            <a:r>
              <a:rPr lang="en-US" sz="1600" b="1"/>
              <a:t>IscoreParamVaid = _ISCOREService.GetIscore( loan_Code, Branch.RegionId ); // get Flow_Iscore</a:t>
            </a:r>
            <a:endParaRPr lang="ar-EG" sz="1600" b="1"/>
          </a:p>
          <a:p>
            <a:r>
              <a:rPr lang="en-US" sz="1600"/>
              <a:t>var IscoreParamVaid = _</a:t>
            </a:r>
            <a:r>
              <a:rPr lang="en-US" sz="1600" b="1">
                <a:solidFill>
                  <a:srgbClr val="FFFF00"/>
                </a:solidFill>
              </a:rPr>
              <a:t>ISCOREService</a:t>
            </a:r>
            <a:r>
              <a:rPr lang="en-US" sz="1600"/>
              <a:t>.</a:t>
            </a:r>
            <a:r>
              <a:rPr lang="en-US" sz="1600" b="1">
                <a:solidFill>
                  <a:srgbClr val="FF0000"/>
                </a:solidFill>
              </a:rPr>
              <a:t>GetIscore</a:t>
            </a:r>
            <a:r>
              <a:rPr lang="en-US" sz="1600"/>
              <a:t>(loan_Code, Branch.RegionId); -- </a:t>
            </a:r>
            <a:r>
              <a:rPr lang="ar-EG" sz="1600"/>
              <a:t>نجيب شروط الشركة</a:t>
            </a:r>
            <a:endParaRPr lang="en-US" sz="1600"/>
          </a:p>
          <a:p>
            <a:r>
              <a:rPr lang="en-US" sz="1600"/>
              <a:t>[numberOfDays] </a:t>
            </a:r>
            <a:r>
              <a:rPr lang="ar-EG" sz="1600"/>
              <a:t>بنجيب عدد الايام من أخر استعلام </a:t>
            </a:r>
            <a:r>
              <a:rPr lang="en-US" sz="1600"/>
              <a:t> </a:t>
            </a:r>
          </a:p>
          <a:p>
            <a:r>
              <a:rPr lang="en-US" sz="1600"/>
              <a:t>numberOfDays &gt; NO_EXP_DATE </a:t>
            </a:r>
            <a:r>
              <a:rPr lang="ar-EG" sz="1600" b="1"/>
              <a:t>لو حالة البيانات قديمة </a:t>
            </a:r>
            <a:r>
              <a:rPr lang="en-US" sz="1600" b="1"/>
              <a:t> </a:t>
            </a:r>
          </a:p>
          <a:p>
            <a:pPr lvl="1"/>
            <a:r>
              <a:rPr lang="en-US" sz="1600" b="1"/>
              <a:t>bool notfound = (bool)jsonObject["IsNoHit"]; // true means not found in iscore</a:t>
            </a:r>
            <a:endParaRPr lang="en-US" sz="1200" b="1"/>
          </a:p>
          <a:p>
            <a:pPr lvl="1"/>
            <a:r>
              <a:rPr lang="en-US" sz="1500" b="1">
                <a:solidFill>
                  <a:srgbClr val="FFFF00"/>
                </a:solidFill>
              </a:rPr>
              <a:t>String </a:t>
            </a:r>
            <a:r>
              <a:rPr lang="en-US" sz="1500" b="1"/>
              <a:t>IscoreJson</a:t>
            </a:r>
            <a:r>
              <a:rPr lang="en-US" sz="1500"/>
              <a:t> = </a:t>
            </a:r>
            <a:r>
              <a:rPr lang="en-US" sz="1500" b="1">
                <a:solidFill>
                  <a:srgbClr val="FFFF00"/>
                </a:solidFill>
              </a:rPr>
              <a:t>IscoreEnquery</a:t>
            </a:r>
            <a:r>
              <a:rPr lang="en-US" sz="1500"/>
              <a:t>(Flow_Transfer_Iscore row ,</a:t>
            </a:r>
            <a:r>
              <a:rPr lang="en-US" sz="1500" b="1">
                <a:solidFill>
                  <a:srgbClr val="FFFF00"/>
                </a:solidFill>
              </a:rPr>
              <a:t> request.Creation_Data</a:t>
            </a:r>
            <a:r>
              <a:rPr lang="en-US" sz="1500"/>
              <a:t>) : </a:t>
            </a:r>
            <a:r>
              <a:rPr lang="ar-EG" sz="1500"/>
              <a:t>يعمل استعلام جديد</a:t>
            </a:r>
            <a:endParaRPr lang="en-US" sz="1500"/>
          </a:p>
          <a:p>
            <a:pPr lvl="1"/>
            <a:r>
              <a:rPr lang="en-US" sz="1600"/>
              <a:t>if no error occurs when consuming the isCore</a:t>
            </a:r>
          </a:p>
          <a:p>
            <a:pPr lvl="1"/>
            <a:r>
              <a:rPr lang="en-US" sz="1400"/>
              <a:t>string vPDFStream = (string)jsonObject["Response"]["PDFStream"]; //</a:t>
            </a:r>
          </a:p>
          <a:p>
            <a:pPr lvl="1"/>
            <a:r>
              <a:rPr lang="en-US" sz="1400" b="1">
                <a:solidFill>
                  <a:srgbClr val="00B0F0"/>
                </a:solidFill>
              </a:rPr>
              <a:t>uploadfile</a:t>
            </a:r>
            <a:r>
              <a:rPr lang="en-US" sz="1400"/>
              <a:t>.file = vPDFStream; 	uploadfile.FileName = Data.IDNO + ".pdf";</a:t>
            </a:r>
            <a:endParaRPr lang="en-US" sz="1600"/>
          </a:p>
          <a:p>
            <a:pPr lvl="1"/>
            <a:r>
              <a:rPr lang="en-US" sz="1400"/>
              <a:t>uploadfile.nameProject = "Master"; 	uploadfile.Request_id = Data.Request_Id.ToString();</a:t>
            </a:r>
          </a:p>
          <a:p>
            <a:pPr lvl="1"/>
            <a:r>
              <a:rPr lang="en-US" sz="1400"/>
              <a:t>uploadfile.Request_id = Data.Request_Id.ToString();</a:t>
            </a:r>
          </a:p>
          <a:p>
            <a:pPr lvl="1"/>
            <a:r>
              <a:rPr lang="en-US" sz="1400" b="1"/>
              <a:t>var</a:t>
            </a:r>
            <a:r>
              <a:rPr lang="en-US" sz="1400"/>
              <a:t> </a:t>
            </a:r>
            <a:r>
              <a:rPr lang="en-US" sz="1400" b="1"/>
              <a:t>fileId</a:t>
            </a:r>
            <a:r>
              <a:rPr lang="en-US" sz="1400"/>
              <a:t> = </a:t>
            </a:r>
            <a:r>
              <a:rPr lang="en-US" sz="1400" b="1"/>
              <a:t>uploadPdf </a:t>
            </a:r>
            <a:r>
              <a:rPr lang="en-US" sz="1400"/>
              <a:t>( </a:t>
            </a:r>
            <a:r>
              <a:rPr lang="en-US" sz="1400" b="1">
                <a:solidFill>
                  <a:srgbClr val="FFFF00"/>
                </a:solidFill>
              </a:rPr>
              <a:t>uploadfile</a:t>
            </a:r>
            <a:r>
              <a:rPr lang="en-US" sz="1400"/>
              <a:t> ); // </a:t>
            </a:r>
            <a:r>
              <a:rPr lang="en-US" sz="900" b="1"/>
              <a:t>Mjk4MTEyNTIxMDAyMjIoN2FjMjEwYWItNWM5NS00MWQ3LTk3OWYtNDRlOTc3MjYzNjI5KS5wZGY=</a:t>
            </a:r>
            <a:endParaRPr lang="en-US" sz="1000" b="1"/>
          </a:p>
          <a:p>
            <a:pPr lvl="1"/>
            <a:r>
              <a:rPr lang="en-US" sz="1500"/>
              <a:t>InsertDocument (documentsFiles, </a:t>
            </a:r>
            <a:r>
              <a:rPr lang="en-US" sz="1500" b="1">
                <a:solidFill>
                  <a:srgbClr val="FFFF00"/>
                </a:solidFill>
              </a:rPr>
              <a:t>Flow_Transfer_Iscore</a:t>
            </a:r>
            <a:r>
              <a:rPr lang="en-US" sz="1500" b="1"/>
              <a:t>.RequestId )</a:t>
            </a:r>
          </a:p>
          <a:p>
            <a:pPr lvl="2"/>
            <a:r>
              <a:rPr lang="en-US" b="1"/>
              <a:t>Flow_Download row is added</a:t>
            </a:r>
            <a:endParaRPr lang="en-US" sz="1300" b="1"/>
          </a:p>
          <a:p>
            <a:pPr lvl="2"/>
            <a:endParaRPr lang="en-US" sz="1300"/>
          </a:p>
          <a:p>
            <a:pPr lvl="2"/>
            <a:endParaRPr lang="en-US" sz="1300"/>
          </a:p>
        </p:txBody>
      </p:sp>
      <p:pic>
        <p:nvPicPr>
          <p:cNvPr id="5" name="Picture 4">
            <a:extLst>
              <a:ext uri="{FF2B5EF4-FFF2-40B4-BE49-F238E27FC236}">
                <a16:creationId xmlns:a16="http://schemas.microsoft.com/office/drawing/2014/main" id="{02AB112D-D229-E650-7358-3C625A2B17DD}"/>
              </a:ext>
            </a:extLst>
          </p:cNvPr>
          <p:cNvPicPr>
            <a:picLocks noChangeAspect="1"/>
          </p:cNvPicPr>
          <p:nvPr/>
        </p:nvPicPr>
        <p:blipFill>
          <a:blip r:embed="rId2"/>
          <a:stretch>
            <a:fillRect/>
          </a:stretch>
        </p:blipFill>
        <p:spPr>
          <a:xfrm>
            <a:off x="10058401" y="1596191"/>
            <a:ext cx="2133599" cy="2072820"/>
          </a:xfrm>
          <a:prstGeom prst="rect">
            <a:avLst/>
          </a:prstGeom>
        </p:spPr>
      </p:pic>
      <p:pic>
        <p:nvPicPr>
          <p:cNvPr id="9" name="Picture 8">
            <a:extLst>
              <a:ext uri="{FF2B5EF4-FFF2-40B4-BE49-F238E27FC236}">
                <a16:creationId xmlns:a16="http://schemas.microsoft.com/office/drawing/2014/main" id="{6F0197E0-BD23-1F3D-98DC-EB64E9BFD2A6}"/>
              </a:ext>
            </a:extLst>
          </p:cNvPr>
          <p:cNvPicPr>
            <a:picLocks noChangeAspect="1"/>
          </p:cNvPicPr>
          <p:nvPr/>
        </p:nvPicPr>
        <p:blipFill>
          <a:blip r:embed="rId3"/>
          <a:stretch>
            <a:fillRect/>
          </a:stretch>
        </p:blipFill>
        <p:spPr>
          <a:xfrm>
            <a:off x="9974027" y="3823450"/>
            <a:ext cx="2217972" cy="2225233"/>
          </a:xfrm>
          <a:prstGeom prst="rect">
            <a:avLst/>
          </a:prstGeom>
        </p:spPr>
      </p:pic>
    </p:spTree>
    <p:extLst>
      <p:ext uri="{BB962C8B-B14F-4D97-AF65-F5344CB8AC3E}">
        <p14:creationId xmlns:p14="http://schemas.microsoft.com/office/powerpoint/2010/main" val="328006064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7E4FE-B614-C7B5-BDF0-3E24BD1B7BB9}"/>
              </a:ext>
            </a:extLst>
          </p:cNvPr>
          <p:cNvSpPr>
            <a:spLocks noGrp="1"/>
          </p:cNvSpPr>
          <p:nvPr>
            <p:ph type="title"/>
          </p:nvPr>
        </p:nvSpPr>
        <p:spPr>
          <a:xfrm>
            <a:off x="913795" y="0"/>
            <a:ext cx="10353762" cy="457200"/>
          </a:xfrm>
        </p:spPr>
        <p:txBody>
          <a:bodyPr>
            <a:noAutofit/>
          </a:bodyPr>
          <a:lstStyle/>
          <a:p>
            <a:r>
              <a:rPr lang="en-US" sz="3200" b="1"/>
              <a:t>What </a:t>
            </a:r>
            <a:r>
              <a:rPr lang="en-US" sz="3200" b="1">
                <a:solidFill>
                  <a:srgbClr val="FF0000"/>
                </a:solidFill>
              </a:rPr>
              <a:t>callTransferIscore do [cont.]</a:t>
            </a:r>
            <a:endParaRPr lang="en-US" sz="3200"/>
          </a:p>
        </p:txBody>
      </p:sp>
      <p:sp>
        <p:nvSpPr>
          <p:cNvPr id="3" name="Content Placeholder 2">
            <a:extLst>
              <a:ext uri="{FF2B5EF4-FFF2-40B4-BE49-F238E27FC236}">
                <a16:creationId xmlns:a16="http://schemas.microsoft.com/office/drawing/2014/main" id="{1CF30BB6-9E01-25D1-0D3D-C41F429E7C71}"/>
              </a:ext>
            </a:extLst>
          </p:cNvPr>
          <p:cNvSpPr>
            <a:spLocks noGrp="1"/>
          </p:cNvSpPr>
          <p:nvPr>
            <p:ph idx="1"/>
          </p:nvPr>
        </p:nvSpPr>
        <p:spPr>
          <a:xfrm>
            <a:off x="143933" y="457199"/>
            <a:ext cx="11954934" cy="6334125"/>
          </a:xfrm>
        </p:spPr>
        <p:txBody>
          <a:bodyPr>
            <a:normAutofit/>
          </a:bodyPr>
          <a:lstStyle/>
          <a:p>
            <a:r>
              <a:rPr lang="en-US" sz="1600"/>
              <a:t>numberOfDays &gt; NO_EXP_DATE </a:t>
            </a:r>
            <a:r>
              <a:rPr lang="ar-EG" sz="1600" b="1"/>
              <a:t>لو حالة البيانات قديمة </a:t>
            </a:r>
            <a:r>
              <a:rPr lang="en-US" sz="1600" b="1"/>
              <a:t> // complete from the previous</a:t>
            </a:r>
          </a:p>
          <a:p>
            <a:r>
              <a:rPr lang="en-US" sz="1800" b="1"/>
              <a:t>If </a:t>
            </a:r>
            <a:r>
              <a:rPr lang="en-US" sz="1800"/>
              <a:t>(bool)jsonObject["IsNoHit"] == true  // no found in iscore</a:t>
            </a:r>
            <a:endParaRPr lang="en-US" sz="1800" b="1"/>
          </a:p>
          <a:p>
            <a:pPr lvl="1"/>
            <a:r>
              <a:rPr lang="en-US" sz="1500"/>
              <a:t>_ISCORE_DataService. </a:t>
            </a:r>
            <a:r>
              <a:rPr lang="en-US" sz="1500" b="1">
                <a:solidFill>
                  <a:srgbClr val="FFFF00"/>
                </a:solidFill>
              </a:rPr>
              <a:t>InsertIscoreData</a:t>
            </a:r>
            <a:r>
              <a:rPr lang="en-US" sz="1500"/>
              <a:t>( </a:t>
            </a:r>
            <a:r>
              <a:rPr lang="en-US" sz="1500" b="1">
                <a:solidFill>
                  <a:srgbClr val="FFFF00"/>
                </a:solidFill>
              </a:rPr>
              <a:t>Flow_Transfer_Iscore.</a:t>
            </a:r>
            <a:r>
              <a:rPr lang="en-US" sz="1500"/>
              <a:t>IDNO, </a:t>
            </a:r>
            <a:r>
              <a:rPr lang="en-US" sz="1500" b="1"/>
              <a:t>fileId</a:t>
            </a:r>
            <a:r>
              <a:rPr lang="en-US" sz="1500"/>
              <a:t>, </a:t>
            </a:r>
            <a:r>
              <a:rPr lang="en-US" sz="1500" b="1">
                <a:solidFill>
                  <a:srgbClr val="FFFF00"/>
                </a:solidFill>
              </a:rPr>
              <a:t>Flow_Transfer_Iscore.</a:t>
            </a:r>
            <a:r>
              <a:rPr lang="en-US" sz="1500"/>
              <a:t>Request_Id, </a:t>
            </a:r>
            <a:r>
              <a:rPr lang="en-US" sz="1500" b="1"/>
              <a:t>REF_NO, 0,0, 0</a:t>
            </a:r>
            <a:r>
              <a:rPr lang="en-US" sz="1500"/>
              <a:t>)</a:t>
            </a:r>
          </a:p>
          <a:p>
            <a:pPr lvl="2"/>
            <a:r>
              <a:rPr lang="en-US" sz="1400" b="1">
                <a:solidFill>
                  <a:srgbClr val="FFFF00"/>
                </a:solidFill>
              </a:rPr>
              <a:t>- fileId is coming from </a:t>
            </a:r>
            <a:r>
              <a:rPr lang="en-US" sz="1400" b="1"/>
              <a:t>uploadPdf method</a:t>
            </a:r>
          </a:p>
          <a:p>
            <a:pPr lvl="2"/>
            <a:r>
              <a:rPr lang="en-US" sz="1400" b="1"/>
              <a:t>InsertIscoreData</a:t>
            </a:r>
            <a:r>
              <a:rPr lang="en-US" sz="1400"/>
              <a:t>(string IDNO, string fileId, decimal Request_id, string REF_NO, int </a:t>
            </a:r>
            <a:r>
              <a:rPr lang="en-US" b="1">
                <a:solidFill>
                  <a:srgbClr val="FFFF00"/>
                </a:solidFill>
              </a:rPr>
              <a:t>score</a:t>
            </a:r>
            <a:r>
              <a:rPr lang="en-US" sz="1400"/>
              <a:t>, int </a:t>
            </a:r>
            <a:r>
              <a:rPr lang="en-US" sz="1400" b="1">
                <a:solidFill>
                  <a:srgbClr val="FFFF00"/>
                </a:solidFill>
              </a:rPr>
              <a:t>ACTIVE_LOANS</a:t>
            </a:r>
            <a:r>
              <a:rPr lang="en-US" sz="1400"/>
              <a:t>, </a:t>
            </a:r>
            <a:r>
              <a:rPr lang="en-US" sz="1400" b="1">
                <a:solidFill>
                  <a:srgbClr val="FFFF00"/>
                </a:solidFill>
              </a:rPr>
              <a:t>NO_OF_INQUIRIES</a:t>
            </a:r>
            <a:r>
              <a:rPr lang="en-US" sz="1400" b="1"/>
              <a:t> </a:t>
            </a:r>
            <a:r>
              <a:rPr lang="en-US" sz="1400"/>
              <a:t>)</a:t>
            </a:r>
            <a:endParaRPr lang="en-US" sz="1200" b="1">
              <a:solidFill>
                <a:srgbClr val="FFFF00"/>
              </a:solidFill>
            </a:endParaRPr>
          </a:p>
          <a:p>
            <a:pPr lvl="1"/>
            <a:r>
              <a:rPr lang="en-US" sz="1500" b="1"/>
              <a:t>UpdateFlagTo0 (Data.Request_Id);  </a:t>
            </a:r>
            <a:r>
              <a:rPr lang="en-US" sz="1500"/>
              <a:t>// </a:t>
            </a:r>
            <a:r>
              <a:rPr lang="en-US" sz="1500" b="1"/>
              <a:t>update status code of request to 0</a:t>
            </a:r>
          </a:p>
          <a:p>
            <a:r>
              <a:rPr lang="en-US" sz="1600" b="1"/>
              <a:t>If founed in iscore</a:t>
            </a:r>
          </a:p>
          <a:p>
            <a:pPr lvl="1"/>
            <a:r>
              <a:rPr lang="en-US" sz="1400" b="1"/>
              <a:t>Get Score, NO_OF_INQUIRIES, ACTIVE_LOANS from IsCore Reslt [ vResult ]</a:t>
            </a:r>
          </a:p>
          <a:p>
            <a:pPr lvl="1"/>
            <a:r>
              <a:rPr lang="en-US" sz="1400"/>
              <a:t>ISCORE_DataService. </a:t>
            </a:r>
            <a:r>
              <a:rPr lang="en-US" sz="1400" b="1">
                <a:solidFill>
                  <a:srgbClr val="FFFF00"/>
                </a:solidFill>
              </a:rPr>
              <a:t>InsertIscoreData</a:t>
            </a:r>
            <a:r>
              <a:rPr lang="en-US" sz="1400"/>
              <a:t>( </a:t>
            </a:r>
            <a:r>
              <a:rPr lang="en-US" sz="1400" b="1">
                <a:solidFill>
                  <a:srgbClr val="FFFF00"/>
                </a:solidFill>
              </a:rPr>
              <a:t>Flow_Transfer_Iscore.</a:t>
            </a:r>
            <a:r>
              <a:rPr lang="en-US" sz="1400"/>
              <a:t>IDNO, </a:t>
            </a:r>
            <a:r>
              <a:rPr lang="en-US" sz="1400" b="1"/>
              <a:t>fileId</a:t>
            </a:r>
            <a:r>
              <a:rPr lang="en-US" sz="1400"/>
              <a:t>, </a:t>
            </a:r>
            <a:r>
              <a:rPr lang="en-US" sz="1400" b="1">
                <a:solidFill>
                  <a:srgbClr val="FFFF00"/>
                </a:solidFill>
              </a:rPr>
              <a:t>Flow_Transfer_Iscore.</a:t>
            </a:r>
            <a:r>
              <a:rPr lang="en-US" sz="1400"/>
              <a:t>Request_Id, </a:t>
            </a:r>
            <a:r>
              <a:rPr lang="en-US" sz="1400" b="1"/>
              <a:t>REF_NO, </a:t>
            </a:r>
            <a:r>
              <a:rPr lang="en-US" sz="1400" b="1">
                <a:solidFill>
                  <a:srgbClr val="FFFF00"/>
                </a:solidFill>
              </a:rPr>
              <a:t>score</a:t>
            </a:r>
            <a:r>
              <a:rPr lang="en-US" sz="1400" b="1"/>
              <a:t>, </a:t>
            </a:r>
            <a:r>
              <a:rPr lang="en-US" sz="1400" b="1">
                <a:solidFill>
                  <a:srgbClr val="FFFF00"/>
                </a:solidFill>
              </a:rPr>
              <a:t>ACTIVE_LOANS</a:t>
            </a:r>
            <a:r>
              <a:rPr lang="en-US" sz="1400"/>
              <a:t>,</a:t>
            </a:r>
            <a:r>
              <a:rPr lang="en-US" sz="1400" b="1"/>
              <a:t> NO_OF_INQUIRIES</a:t>
            </a:r>
            <a:r>
              <a:rPr lang="en-US" sz="1400"/>
              <a:t>)</a:t>
            </a:r>
          </a:p>
          <a:p>
            <a:pPr lvl="1"/>
            <a:r>
              <a:rPr lang="en-US" sz="1500"/>
              <a:t>if ((score &gt;= SCORE || score == 0) &amp;&amp; (ACTIVE_LOANS &lt;= NO_CURR_LOAN || ACTIVE_LOANS == 0))</a:t>
            </a:r>
          </a:p>
          <a:p>
            <a:pPr lvl="2"/>
            <a:r>
              <a:rPr lang="en-US" sz="1300" b="1"/>
              <a:t>The UpperCase SCORE is from Query Result of Flow_ISCORE</a:t>
            </a:r>
          </a:p>
          <a:p>
            <a:pPr lvl="1"/>
            <a:r>
              <a:rPr lang="en-US" sz="1500"/>
              <a:t>UpdateFlagTo0(Data.Request_Id);</a:t>
            </a:r>
          </a:p>
          <a:p>
            <a:pPr lvl="2"/>
            <a:r>
              <a:rPr lang="en-US" sz="1300" b="1"/>
              <a:t>Else : </a:t>
            </a:r>
          </a:p>
          <a:p>
            <a:pPr lvl="2"/>
            <a:r>
              <a:rPr lang="en-US" sz="1400"/>
              <a:t>Data.CUST_TYPE == "C“ ? </a:t>
            </a:r>
            <a:r>
              <a:rPr lang="en-US" sz="1400" b="1">
                <a:solidFill>
                  <a:srgbClr val="FFC000"/>
                </a:solidFill>
              </a:rPr>
              <a:t>UpdateFaildIscoreCustomer</a:t>
            </a:r>
            <a:r>
              <a:rPr lang="en-US" sz="1400"/>
              <a:t>(Data.Request_Id): </a:t>
            </a:r>
            <a:r>
              <a:rPr lang="en-US" sz="1400" b="1">
                <a:solidFill>
                  <a:srgbClr val="FFC000"/>
                </a:solidFill>
              </a:rPr>
              <a:t>UpdateFaildIscoreGuarnter</a:t>
            </a:r>
            <a:r>
              <a:rPr lang="en-US" sz="1400"/>
              <a:t>(Data.Request_Id); </a:t>
            </a:r>
          </a:p>
          <a:p>
            <a:pPr lvl="1"/>
            <a:r>
              <a:rPr lang="en-US" sz="1600"/>
              <a:t>_Rej_GuarService.AddRej_Guar(Data.IDNO, Data.Request_Id);</a:t>
            </a:r>
          </a:p>
          <a:p>
            <a:pPr lvl="1"/>
            <a:endParaRPr lang="en-US" sz="1600" b="1"/>
          </a:p>
        </p:txBody>
      </p:sp>
    </p:spTree>
    <p:extLst>
      <p:ext uri="{BB962C8B-B14F-4D97-AF65-F5344CB8AC3E}">
        <p14:creationId xmlns:p14="http://schemas.microsoft.com/office/powerpoint/2010/main" val="44793758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C5E1B-4784-13A7-77BF-B6FEA6A15418}"/>
              </a:ext>
            </a:extLst>
          </p:cNvPr>
          <p:cNvSpPr>
            <a:spLocks noGrp="1"/>
          </p:cNvSpPr>
          <p:nvPr>
            <p:ph type="title"/>
          </p:nvPr>
        </p:nvSpPr>
        <p:spPr>
          <a:xfrm>
            <a:off x="323245" y="266700"/>
            <a:ext cx="10353762" cy="970450"/>
          </a:xfrm>
        </p:spPr>
        <p:txBody>
          <a:bodyPr/>
          <a:lstStyle/>
          <a:p>
            <a:endParaRPr lang="en-US"/>
          </a:p>
        </p:txBody>
      </p:sp>
      <p:pic>
        <p:nvPicPr>
          <p:cNvPr id="5" name="Content Placeholder 4">
            <a:extLst>
              <a:ext uri="{FF2B5EF4-FFF2-40B4-BE49-F238E27FC236}">
                <a16:creationId xmlns:a16="http://schemas.microsoft.com/office/drawing/2014/main" id="{CA186CE4-B8B8-7E07-CE2F-BF047412FB3A}"/>
              </a:ext>
            </a:extLst>
          </p:cNvPr>
          <p:cNvPicPr>
            <a:picLocks noGrp="1" noChangeAspect="1"/>
          </p:cNvPicPr>
          <p:nvPr>
            <p:ph idx="1"/>
          </p:nvPr>
        </p:nvPicPr>
        <p:blipFill>
          <a:blip r:embed="rId2"/>
          <a:stretch>
            <a:fillRect/>
          </a:stretch>
        </p:blipFill>
        <p:spPr>
          <a:xfrm>
            <a:off x="323245" y="1474788"/>
            <a:ext cx="3572480" cy="528531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0FA3DF0-4A54-0F44-FA7B-4807FD57ED67}"/>
              </a:ext>
            </a:extLst>
          </p:cNvPr>
          <p:cNvPicPr>
            <a:picLocks noChangeAspect="1"/>
          </p:cNvPicPr>
          <p:nvPr/>
        </p:nvPicPr>
        <p:blipFill>
          <a:blip r:embed="rId3"/>
          <a:stretch>
            <a:fillRect/>
          </a:stretch>
        </p:blipFill>
        <p:spPr>
          <a:xfrm>
            <a:off x="4579488" y="2891743"/>
            <a:ext cx="4900843" cy="1736228"/>
          </a:xfrm>
          <a:prstGeom prst="rect">
            <a:avLst/>
          </a:prstGeom>
        </p:spPr>
      </p:pic>
    </p:spTree>
    <p:extLst>
      <p:ext uri="{BB962C8B-B14F-4D97-AF65-F5344CB8AC3E}">
        <p14:creationId xmlns:p14="http://schemas.microsoft.com/office/powerpoint/2010/main" val="128159286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EB1E7-95DA-5D6B-43CB-316466CCF194}"/>
              </a:ext>
            </a:extLst>
          </p:cNvPr>
          <p:cNvSpPr>
            <a:spLocks noGrp="1"/>
          </p:cNvSpPr>
          <p:nvPr>
            <p:ph type="title"/>
          </p:nvPr>
        </p:nvSpPr>
        <p:spPr/>
        <p:txBody>
          <a:bodyPr/>
          <a:lstStyle/>
          <a:p>
            <a:r>
              <a:rPr lang="en-US"/>
              <a:t>Host</a:t>
            </a:r>
          </a:p>
        </p:txBody>
      </p:sp>
      <p:sp>
        <p:nvSpPr>
          <p:cNvPr id="3" name="Content Placeholder 2">
            <a:extLst>
              <a:ext uri="{FF2B5EF4-FFF2-40B4-BE49-F238E27FC236}">
                <a16:creationId xmlns:a16="http://schemas.microsoft.com/office/drawing/2014/main" id="{95A1A903-9048-B662-A0EF-D7E80606D1D8}"/>
              </a:ext>
            </a:extLst>
          </p:cNvPr>
          <p:cNvSpPr>
            <a:spLocks noGrp="1"/>
          </p:cNvSpPr>
          <p:nvPr>
            <p:ph idx="1"/>
          </p:nvPr>
        </p:nvSpPr>
        <p:spPr/>
        <p:txBody>
          <a:bodyPr/>
          <a:lstStyle/>
          <a:p>
            <a:r>
              <a:rPr lang="nb-NO"/>
              <a:t>To test IScore</a:t>
            </a:r>
          </a:p>
          <a:p>
            <a:pPr lvl="1"/>
            <a:r>
              <a:rPr lang="nb-NO"/>
              <a:t>C:\Windows\System32\drivers\etc</a:t>
            </a:r>
          </a:p>
          <a:p>
            <a:pPr lvl="1"/>
            <a:r>
              <a:rPr lang="nb-NO"/>
              <a:t>At this to you hosts file</a:t>
            </a:r>
            <a:endParaRPr lang="en-US"/>
          </a:p>
          <a:p>
            <a:pPr lvl="1"/>
            <a:r>
              <a:rPr lang="en-US"/>
              <a:t>10.1.2.10 uat.i-score.com.eg    // by Mustafa zidan</a:t>
            </a:r>
          </a:p>
        </p:txBody>
      </p:sp>
    </p:spTree>
    <p:extLst>
      <p:ext uri="{BB962C8B-B14F-4D97-AF65-F5344CB8AC3E}">
        <p14:creationId xmlns:p14="http://schemas.microsoft.com/office/powerpoint/2010/main" val="179792311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0DC4B-F015-5FC7-4680-75C091CD7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BF7111-4E17-6992-351D-E32498D1B0B4}"/>
              </a:ext>
            </a:extLst>
          </p:cNvPr>
          <p:cNvSpPr>
            <a:spLocks noGrp="1"/>
          </p:cNvSpPr>
          <p:nvPr>
            <p:ph type="title"/>
          </p:nvPr>
        </p:nvSpPr>
        <p:spPr>
          <a:xfrm>
            <a:off x="913795" y="609599"/>
            <a:ext cx="10353762" cy="3460955"/>
          </a:xfrm>
        </p:spPr>
        <p:txBody>
          <a:bodyPr/>
          <a:lstStyle/>
          <a:p>
            <a:r>
              <a:rPr lang="en-US" b="1">
                <a:solidFill>
                  <a:srgbClr val="FF0000"/>
                </a:solidFill>
              </a:rPr>
              <a:t>END IScore</a:t>
            </a:r>
          </a:p>
        </p:txBody>
      </p:sp>
    </p:spTree>
    <p:extLst>
      <p:ext uri="{BB962C8B-B14F-4D97-AF65-F5344CB8AC3E}">
        <p14:creationId xmlns:p14="http://schemas.microsoft.com/office/powerpoint/2010/main" val="178556385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51A06-185C-2259-7749-2C1AB46F258E}"/>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Start Forget Password</a:t>
            </a:r>
          </a:p>
        </p:txBody>
      </p:sp>
    </p:spTree>
    <p:extLst>
      <p:ext uri="{BB962C8B-B14F-4D97-AF65-F5344CB8AC3E}">
        <p14:creationId xmlns:p14="http://schemas.microsoft.com/office/powerpoint/2010/main" val="377392907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76432-52AF-6B50-DBE7-C6DCA285D49E}"/>
              </a:ext>
            </a:extLst>
          </p:cNvPr>
          <p:cNvSpPr>
            <a:spLocks noGrp="1"/>
          </p:cNvSpPr>
          <p:nvPr>
            <p:ph type="title"/>
          </p:nvPr>
        </p:nvSpPr>
        <p:spPr>
          <a:xfrm>
            <a:off x="913795" y="0"/>
            <a:ext cx="10353762" cy="609600"/>
          </a:xfrm>
        </p:spPr>
        <p:txBody>
          <a:bodyPr>
            <a:normAutofit fontScale="90000"/>
          </a:bodyPr>
          <a:lstStyle/>
          <a:p>
            <a:r>
              <a:rPr lang="en-US" b="1">
                <a:solidFill>
                  <a:srgbClr val="FFFF00"/>
                </a:solidFill>
              </a:rPr>
              <a:t>Lookup</a:t>
            </a:r>
            <a:r>
              <a:rPr lang="en-US" b="1"/>
              <a:t>.</a:t>
            </a:r>
            <a:r>
              <a:rPr lang="en-US" b="1">
                <a:solidFill>
                  <a:srgbClr val="FF0000"/>
                </a:solidFill>
              </a:rPr>
              <a:t>ForgetPasswordOTP</a:t>
            </a:r>
          </a:p>
        </p:txBody>
      </p:sp>
      <p:sp>
        <p:nvSpPr>
          <p:cNvPr id="3" name="Content Placeholder 2">
            <a:extLst>
              <a:ext uri="{FF2B5EF4-FFF2-40B4-BE49-F238E27FC236}">
                <a16:creationId xmlns:a16="http://schemas.microsoft.com/office/drawing/2014/main" id="{19DAA090-D701-7D6D-A078-A5CB6FE9A5F2}"/>
              </a:ext>
            </a:extLst>
          </p:cNvPr>
          <p:cNvSpPr>
            <a:spLocks noGrp="1"/>
          </p:cNvSpPr>
          <p:nvPr>
            <p:ph idx="1"/>
          </p:nvPr>
        </p:nvSpPr>
        <p:spPr>
          <a:xfrm>
            <a:off x="99674" y="609600"/>
            <a:ext cx="11992652" cy="5867399"/>
          </a:xfrm>
        </p:spPr>
        <p:txBody>
          <a:bodyPr>
            <a:normAutofit/>
          </a:bodyPr>
          <a:lstStyle/>
          <a:p>
            <a:r>
              <a:rPr lang="en-US" sz="1800" b="1"/>
              <a:t>OTP_ID: int , key</a:t>
            </a:r>
          </a:p>
          <a:p>
            <a:r>
              <a:rPr lang="en-US" sz="1800" b="1"/>
              <a:t>string UserCode</a:t>
            </a:r>
          </a:p>
          <a:p>
            <a:r>
              <a:rPr lang="en-US" sz="1800" b="1"/>
              <a:t>string UserEmail carries email [ local or eg or mobile ]</a:t>
            </a:r>
          </a:p>
          <a:p>
            <a:r>
              <a:rPr lang="en-US" sz="1800" b="1"/>
              <a:t>string ActiveCode</a:t>
            </a:r>
          </a:p>
          <a:p>
            <a:r>
              <a:rPr lang="en-US" sz="1800" b="1"/>
              <a:t>DateTime ExpireDate</a:t>
            </a:r>
          </a:p>
          <a:p>
            <a:endParaRPr lang="en-US" sz="1800" b="1"/>
          </a:p>
          <a:p>
            <a:r>
              <a:rPr lang="en-US" sz="1800" b="1"/>
              <a:t>Notes</a:t>
            </a:r>
          </a:p>
          <a:p>
            <a:pPr lvl="1"/>
            <a:r>
              <a:rPr lang="en-US" sz="1600" b="1"/>
              <a:t>User has only 3 times Generate password OTP per day and determined based on General_setting.</a:t>
            </a:r>
            <a:r>
              <a:rPr lang="en-US" sz="1600" b="1">
                <a:solidFill>
                  <a:srgbClr val="FFC000"/>
                </a:solidFill>
              </a:rPr>
              <a:t>Exchange_Code</a:t>
            </a:r>
          </a:p>
          <a:p>
            <a:pPr lvl="1"/>
            <a:r>
              <a:rPr lang="en-US" b="1"/>
              <a:t>If </a:t>
            </a:r>
            <a:r>
              <a:rPr lang="en-US" b="1">
                <a:solidFill>
                  <a:srgbClr val="FFC000"/>
                </a:solidFill>
              </a:rPr>
              <a:t>Exchange_Code = 1 then no.of passwordOTP per day is 3 else no.of passwordOTP per day is 5</a:t>
            </a:r>
            <a:endParaRPr lang="en-US" b="1"/>
          </a:p>
          <a:p>
            <a:pPr lvl="1"/>
            <a:endParaRPr lang="en-US" b="1"/>
          </a:p>
          <a:p>
            <a:pPr lvl="1"/>
            <a:endParaRPr lang="en-US" sz="1600" b="1"/>
          </a:p>
        </p:txBody>
      </p:sp>
      <p:pic>
        <p:nvPicPr>
          <p:cNvPr id="5" name="Picture 4">
            <a:extLst>
              <a:ext uri="{FF2B5EF4-FFF2-40B4-BE49-F238E27FC236}">
                <a16:creationId xmlns:a16="http://schemas.microsoft.com/office/drawing/2014/main" id="{C45F0BFA-A8C4-981C-04F4-35FFD1A80A0D}"/>
              </a:ext>
            </a:extLst>
          </p:cNvPr>
          <p:cNvPicPr>
            <a:picLocks noChangeAspect="1"/>
          </p:cNvPicPr>
          <p:nvPr/>
        </p:nvPicPr>
        <p:blipFill>
          <a:blip r:embed="rId2"/>
          <a:stretch>
            <a:fillRect/>
          </a:stretch>
        </p:blipFill>
        <p:spPr>
          <a:xfrm>
            <a:off x="6590209" y="609600"/>
            <a:ext cx="5502117" cy="937341"/>
          </a:xfrm>
          <a:prstGeom prst="rect">
            <a:avLst/>
          </a:prstGeom>
        </p:spPr>
      </p:pic>
    </p:spTree>
    <p:extLst>
      <p:ext uri="{BB962C8B-B14F-4D97-AF65-F5344CB8AC3E}">
        <p14:creationId xmlns:p14="http://schemas.microsoft.com/office/powerpoint/2010/main" val="190250304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7226C-81BD-9B14-15DD-2403A5146F14}"/>
              </a:ext>
            </a:extLst>
          </p:cNvPr>
          <p:cNvSpPr>
            <a:spLocks noGrp="1"/>
          </p:cNvSpPr>
          <p:nvPr>
            <p:ph type="title"/>
          </p:nvPr>
        </p:nvSpPr>
        <p:spPr>
          <a:xfrm>
            <a:off x="913795" y="0"/>
            <a:ext cx="10353762" cy="561975"/>
          </a:xfrm>
        </p:spPr>
        <p:txBody>
          <a:bodyPr>
            <a:normAutofit fontScale="90000"/>
          </a:bodyPr>
          <a:lstStyle/>
          <a:p>
            <a:r>
              <a:rPr lang="en-US" b="1"/>
              <a:t>Forget password</a:t>
            </a:r>
          </a:p>
        </p:txBody>
      </p:sp>
      <p:sp>
        <p:nvSpPr>
          <p:cNvPr id="3" name="Content Placeholder 2">
            <a:extLst>
              <a:ext uri="{FF2B5EF4-FFF2-40B4-BE49-F238E27FC236}">
                <a16:creationId xmlns:a16="http://schemas.microsoft.com/office/drawing/2014/main" id="{C488E506-29D1-F32A-24E7-9FBF75762BD9}"/>
              </a:ext>
            </a:extLst>
          </p:cNvPr>
          <p:cNvSpPr>
            <a:spLocks noGrp="1"/>
          </p:cNvSpPr>
          <p:nvPr>
            <p:ph idx="1"/>
          </p:nvPr>
        </p:nvSpPr>
        <p:spPr>
          <a:xfrm>
            <a:off x="0" y="561975"/>
            <a:ext cx="12192000" cy="6086475"/>
          </a:xfrm>
        </p:spPr>
        <p:txBody>
          <a:bodyPr/>
          <a:lstStyle/>
          <a:p>
            <a:r>
              <a:rPr lang="en-US"/>
              <a:t>api/Security/LoginController/ForgetPassword</a:t>
            </a:r>
          </a:p>
          <a:p>
            <a:r>
              <a:rPr lang="en-US" b="1">
                <a:solidFill>
                  <a:srgbClr val="00B0F0"/>
                </a:solidFill>
              </a:rPr>
              <a:t>String</a:t>
            </a:r>
            <a:r>
              <a:rPr lang="en-US"/>
              <a:t> LoginService.</a:t>
            </a:r>
            <a:r>
              <a:rPr lang="en-US">
                <a:solidFill>
                  <a:srgbClr val="00B0F0"/>
                </a:solidFill>
              </a:rPr>
              <a:t>ForgetPassword</a:t>
            </a:r>
            <a:r>
              <a:rPr lang="en-US"/>
              <a:t>([FromBody] </a:t>
            </a:r>
            <a:r>
              <a:rPr lang="en-US" b="1">
                <a:solidFill>
                  <a:srgbClr val="FFC000"/>
                </a:solidFill>
              </a:rPr>
              <a:t>ForgetPasswordVM</a:t>
            </a:r>
            <a:r>
              <a:rPr lang="en-US"/>
              <a:t> )</a:t>
            </a:r>
          </a:p>
          <a:p>
            <a:endParaRPr lang="en-US"/>
          </a:p>
          <a:p>
            <a:endParaRPr lang="en-US"/>
          </a:p>
        </p:txBody>
      </p:sp>
      <p:pic>
        <p:nvPicPr>
          <p:cNvPr id="5" name="Picture 4">
            <a:extLst>
              <a:ext uri="{FF2B5EF4-FFF2-40B4-BE49-F238E27FC236}">
                <a16:creationId xmlns:a16="http://schemas.microsoft.com/office/drawing/2014/main" id="{AFBDFD36-5BB4-0C29-9BAF-1950FE674771}"/>
              </a:ext>
            </a:extLst>
          </p:cNvPr>
          <p:cNvPicPr>
            <a:picLocks noChangeAspect="1"/>
          </p:cNvPicPr>
          <p:nvPr/>
        </p:nvPicPr>
        <p:blipFill>
          <a:blip r:embed="rId2"/>
          <a:stretch>
            <a:fillRect/>
          </a:stretch>
        </p:blipFill>
        <p:spPr>
          <a:xfrm>
            <a:off x="8601075" y="449518"/>
            <a:ext cx="3580277" cy="1641840"/>
          </a:xfrm>
          <a:prstGeom prst="rect">
            <a:avLst/>
          </a:prstGeom>
        </p:spPr>
      </p:pic>
    </p:spTree>
    <p:extLst>
      <p:ext uri="{BB962C8B-B14F-4D97-AF65-F5344CB8AC3E}">
        <p14:creationId xmlns:p14="http://schemas.microsoft.com/office/powerpoint/2010/main" val="3519628650"/>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FBFEE-17C1-ED34-0D7A-AD8B245695F0}"/>
              </a:ext>
            </a:extLst>
          </p:cNvPr>
          <p:cNvSpPr>
            <a:spLocks noGrp="1"/>
          </p:cNvSpPr>
          <p:nvPr>
            <p:ph type="title"/>
          </p:nvPr>
        </p:nvSpPr>
        <p:spPr>
          <a:xfrm>
            <a:off x="913795" y="0"/>
            <a:ext cx="10353762" cy="609600"/>
          </a:xfrm>
        </p:spPr>
        <p:txBody>
          <a:bodyPr>
            <a:normAutofit fontScale="90000"/>
          </a:bodyPr>
          <a:lstStyle/>
          <a:p>
            <a:r>
              <a:rPr lang="en-US" b="1"/>
              <a:t>steps</a:t>
            </a:r>
            <a:endParaRPr lang="en-US"/>
          </a:p>
        </p:txBody>
      </p:sp>
      <p:sp>
        <p:nvSpPr>
          <p:cNvPr id="3" name="Content Placeholder 2">
            <a:extLst>
              <a:ext uri="{FF2B5EF4-FFF2-40B4-BE49-F238E27FC236}">
                <a16:creationId xmlns:a16="http://schemas.microsoft.com/office/drawing/2014/main" id="{6A64C3B3-11C7-BFB0-DE8D-502C03D4AC6F}"/>
              </a:ext>
            </a:extLst>
          </p:cNvPr>
          <p:cNvSpPr>
            <a:spLocks noGrp="1"/>
          </p:cNvSpPr>
          <p:nvPr>
            <p:ph idx="1"/>
          </p:nvPr>
        </p:nvSpPr>
        <p:spPr>
          <a:xfrm>
            <a:off x="0" y="609600"/>
            <a:ext cx="12192000" cy="6248400"/>
          </a:xfrm>
        </p:spPr>
        <p:txBody>
          <a:bodyPr>
            <a:normAutofit/>
          </a:bodyPr>
          <a:lstStyle/>
          <a:p>
            <a:r>
              <a:rPr lang="en-US" sz="1500" b="1"/>
              <a:t>GET user by UserCode (include MobileNumbers)</a:t>
            </a:r>
          </a:p>
          <a:p>
            <a:r>
              <a:rPr lang="en-US" sz="1500" b="1"/>
              <a:t>IF user is in MAIN branch (BranchId == 1) AND Email is empty</a:t>
            </a:r>
          </a:p>
          <a:p>
            <a:pPr lvl="1"/>
            <a:r>
              <a:rPr lang="en-US" sz="1500" b="1"/>
              <a:t>RETURN "selectYourRightBranch" // main branch requires email</a:t>
            </a:r>
          </a:p>
          <a:p>
            <a:r>
              <a:rPr lang="en-US" sz="1500" b="1"/>
              <a:t>ELSE IF user is NOT in main branch (BranchId != 1) AND MobilePhone is empty</a:t>
            </a:r>
          </a:p>
          <a:p>
            <a:pPr lvl="1"/>
            <a:r>
              <a:rPr lang="en-US" sz="1500" b="1"/>
              <a:t>return "selectYourRightBranch";</a:t>
            </a:r>
          </a:p>
          <a:p>
            <a:r>
              <a:rPr lang="en-US" sz="1500" b="1"/>
              <a:t>GET system setting </a:t>
            </a:r>
            <a:r>
              <a:rPr lang="en-US" sz="1500" b="1">
                <a:solidFill>
                  <a:srgbClr val="FFC000"/>
                </a:solidFill>
              </a:rPr>
              <a:t>Exchange_Code and assign it to</a:t>
            </a:r>
            <a:r>
              <a:rPr lang="en-US" sz="1500" b="1"/>
              <a:t> (</a:t>
            </a:r>
            <a:r>
              <a:rPr lang="en-US" sz="1500" b="1">
                <a:solidFill>
                  <a:srgbClr val="FFC000"/>
                </a:solidFill>
              </a:rPr>
              <a:t>codeUnified</a:t>
            </a:r>
            <a:r>
              <a:rPr lang="en-US" sz="1500" b="1"/>
              <a:t>)</a:t>
            </a:r>
          </a:p>
          <a:p>
            <a:r>
              <a:rPr lang="en-US" sz="1500" b="1"/>
              <a:t>GET userMobile matching input.MobilePhone</a:t>
            </a:r>
          </a:p>
          <a:p>
            <a:r>
              <a:rPr lang="en-US" sz="1500" b="1"/>
              <a:t>IF user exists , note if not exit </a:t>
            </a:r>
            <a:r>
              <a:rPr lang="en-US" sz="1400" b="1"/>
              <a:t>RETURN "2“</a:t>
            </a:r>
            <a:endParaRPr lang="en-US" sz="1500" b="1"/>
          </a:p>
          <a:p>
            <a:pPr lvl="1"/>
            <a:r>
              <a:rPr lang="en-US" sz="1500" b="1"/>
              <a:t>if (!user.BlockFlag || user.FUS_Id != 1) return "9"</a:t>
            </a:r>
          </a:p>
          <a:p>
            <a:pPr lvl="1"/>
            <a:r>
              <a:rPr lang="en-US" sz="1500" b="1"/>
              <a:t>IF Email provided AND does NOT match user's email  RETURN "1“</a:t>
            </a:r>
          </a:p>
          <a:p>
            <a:pPr lvl="1"/>
            <a:r>
              <a:rPr lang="en-US" sz="1500" b="1"/>
              <a:t>IF Mobile provided</a:t>
            </a:r>
          </a:p>
          <a:p>
            <a:pPr lvl="2"/>
            <a:r>
              <a:rPr lang="en-US" sz="1500" b="1"/>
              <a:t>IF no matching mobile found RETURN "22“</a:t>
            </a:r>
          </a:p>
          <a:p>
            <a:pPr lvl="2"/>
            <a:r>
              <a:rPr lang="en-US" sz="1500" b="1"/>
              <a:t>IF mobile does NOT match RETURN "11“</a:t>
            </a:r>
          </a:p>
          <a:p>
            <a:pPr lvl="1"/>
            <a:r>
              <a:rPr lang="en-US" sz="1600" b="1"/>
              <a:t>GET count of OTP sent today</a:t>
            </a:r>
          </a:p>
          <a:p>
            <a:pPr lvl="1"/>
            <a:r>
              <a:rPr lang="en-US" sz="1600" b="1"/>
              <a:t>SET maxPerDay = (codeUnified == 1 ? 5 : 3)</a:t>
            </a:r>
          </a:p>
          <a:p>
            <a:pPr lvl="1"/>
            <a:r>
              <a:rPr lang="en-US" sz="1600" b="1"/>
              <a:t>IF count &lt; maxPerDay</a:t>
            </a:r>
          </a:p>
          <a:p>
            <a:pPr lvl="1"/>
            <a:r>
              <a:rPr lang="en-US" sz="1600" b="1"/>
              <a:t>------------- &gt;&gt;&gt;&gt;&gt;</a:t>
            </a:r>
            <a:endParaRPr lang="en-US" sz="1700" b="1"/>
          </a:p>
        </p:txBody>
      </p:sp>
    </p:spTree>
    <p:extLst>
      <p:ext uri="{BB962C8B-B14F-4D97-AF65-F5344CB8AC3E}">
        <p14:creationId xmlns:p14="http://schemas.microsoft.com/office/powerpoint/2010/main" val="230490663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966D3-3BC2-31EA-04F6-53E988606A25}"/>
              </a:ext>
            </a:extLst>
          </p:cNvPr>
          <p:cNvSpPr>
            <a:spLocks noGrp="1"/>
          </p:cNvSpPr>
          <p:nvPr>
            <p:ph type="title"/>
          </p:nvPr>
        </p:nvSpPr>
        <p:spPr>
          <a:xfrm>
            <a:off x="1028095" y="0"/>
            <a:ext cx="10353762" cy="533400"/>
          </a:xfrm>
        </p:spPr>
        <p:txBody>
          <a:bodyPr>
            <a:normAutofit fontScale="90000"/>
          </a:bodyPr>
          <a:lstStyle/>
          <a:p>
            <a:r>
              <a:rPr lang="en-US" b="1"/>
              <a:t>Steps [ cont .] </a:t>
            </a:r>
            <a:endParaRPr lang="en-US"/>
          </a:p>
        </p:txBody>
      </p:sp>
      <p:sp>
        <p:nvSpPr>
          <p:cNvPr id="3" name="Content Placeholder 2">
            <a:extLst>
              <a:ext uri="{FF2B5EF4-FFF2-40B4-BE49-F238E27FC236}">
                <a16:creationId xmlns:a16="http://schemas.microsoft.com/office/drawing/2014/main" id="{8DA100C7-5ADB-E4E7-B137-F8F0EC90B557}"/>
              </a:ext>
            </a:extLst>
          </p:cNvPr>
          <p:cNvSpPr>
            <a:spLocks noGrp="1"/>
          </p:cNvSpPr>
          <p:nvPr>
            <p:ph idx="1"/>
          </p:nvPr>
        </p:nvSpPr>
        <p:spPr>
          <a:xfrm>
            <a:off x="381000" y="666750"/>
            <a:ext cx="11525250" cy="6067425"/>
          </a:xfrm>
        </p:spPr>
        <p:txBody>
          <a:bodyPr numCol="2">
            <a:normAutofit/>
          </a:bodyPr>
          <a:lstStyle/>
          <a:p>
            <a:r>
              <a:rPr lang="en-US" sz="1600" b="1"/>
              <a:t>IF count &lt; maxPerDay</a:t>
            </a:r>
          </a:p>
          <a:p>
            <a:pPr lvl="1"/>
            <a:r>
              <a:rPr lang="en-US" sz="1600" b="1"/>
              <a:t>GENERATE OTP code</a:t>
            </a:r>
          </a:p>
          <a:p>
            <a:pPr lvl="1"/>
            <a:r>
              <a:rPr lang="en-US" sz="1600" b="1"/>
              <a:t>CREATE new OTP entity</a:t>
            </a:r>
          </a:p>
          <a:p>
            <a:pPr lvl="2"/>
            <a:r>
              <a:rPr lang="en-US" b="1"/>
              <a:t>UserCode</a:t>
            </a:r>
            <a:br>
              <a:rPr lang="en-US" b="1"/>
            </a:br>
            <a:r>
              <a:rPr lang="en-US" b="1"/>
              <a:t>- ActiveCode</a:t>
            </a:r>
            <a:br>
              <a:rPr lang="en-US" b="1"/>
            </a:br>
            <a:r>
              <a:rPr lang="en-US" b="1"/>
              <a:t>- CreationDate = now</a:t>
            </a:r>
            <a:br>
              <a:rPr lang="en-US" b="1"/>
            </a:br>
            <a:r>
              <a:rPr lang="en-US" b="1"/>
              <a:t>- ExpireDate = now + 5 minutes</a:t>
            </a:r>
            <a:br>
              <a:rPr lang="en-US" b="1"/>
            </a:br>
            <a:r>
              <a:rPr lang="en-US" b="1"/>
              <a:t>- Contact = (Email OR Mobile)</a:t>
            </a:r>
          </a:p>
          <a:p>
            <a:r>
              <a:rPr lang="en-US" sz="1600" b="1"/>
              <a:t>MAIN branch → Email flow</a:t>
            </a:r>
          </a:p>
          <a:p>
            <a:r>
              <a:rPr lang="en-US" sz="1600" b="1"/>
              <a:t>IF Email provided</a:t>
            </a:r>
          </a:p>
          <a:p>
            <a:pPr lvl="1"/>
            <a:r>
              <a:rPr lang="en-US" sz="1400" b="1"/>
              <a:t>IF email domain is "tamweely.local“</a:t>
            </a:r>
          </a:p>
          <a:p>
            <a:pPr lvl="2"/>
            <a:r>
              <a:rPr lang="en-US" sz="1400" b="1"/>
              <a:t>SEND local email</a:t>
            </a:r>
            <a:br>
              <a:rPr lang="en-US" sz="1400" b="1"/>
            </a:br>
            <a:r>
              <a:rPr lang="en-US" sz="1400" b="1"/>
              <a:t>IF success ==“0” → save OTP</a:t>
            </a:r>
            <a:br>
              <a:rPr lang="en-US" sz="1400" b="1"/>
            </a:br>
            <a:r>
              <a:rPr lang="en-US" sz="1400" b="1"/>
              <a:t>RETURN result</a:t>
            </a:r>
          </a:p>
          <a:p>
            <a:pPr lvl="1"/>
            <a:r>
              <a:rPr lang="en-US" sz="1400" b="1"/>
              <a:t>ELSE IF email domain is "tamweely.com.eg“</a:t>
            </a:r>
          </a:p>
          <a:p>
            <a:pPr lvl="2"/>
            <a:r>
              <a:rPr lang="en-US" sz="1400" b="1"/>
              <a:t>SEND normal email</a:t>
            </a:r>
            <a:br>
              <a:rPr lang="en-US" sz="1400" b="1"/>
            </a:br>
            <a:r>
              <a:rPr lang="en-US" sz="1400" b="1"/>
              <a:t>IF success==“0” → save OTP</a:t>
            </a:r>
            <a:br>
              <a:rPr lang="en-US" sz="1400" b="1"/>
            </a:br>
            <a:r>
              <a:rPr lang="en-US" sz="1400" b="1"/>
              <a:t>RETURN result</a:t>
            </a:r>
          </a:p>
          <a:p>
            <a:pPr lvl="1"/>
            <a:r>
              <a:rPr lang="en-US" sz="1400" b="1"/>
              <a:t>Else</a:t>
            </a:r>
          </a:p>
          <a:p>
            <a:pPr lvl="2"/>
            <a:r>
              <a:rPr lang="en-US" sz="1400" b="1"/>
              <a:t>RETURN "11"</a:t>
            </a:r>
          </a:p>
          <a:p>
            <a:r>
              <a:rPr lang="en-US" sz="1600" b="1"/>
              <a:t>ELSE IF Mobile provided</a:t>
            </a:r>
          </a:p>
          <a:p>
            <a:pPr lvl="1"/>
            <a:r>
              <a:rPr lang="en-US" sz="1400" b="1"/>
              <a:t>IF codeUnified == 1</a:t>
            </a:r>
          </a:p>
          <a:p>
            <a:pPr lvl="2"/>
            <a:r>
              <a:rPr lang="en-US" sz="1400" b="1"/>
              <a:t>SET expire = 30 minutes</a:t>
            </a:r>
          </a:p>
          <a:p>
            <a:pPr lvl="2"/>
            <a:r>
              <a:rPr lang="en-US" sz="1400" b="1"/>
              <a:t>SET OTP = first 6 digits of national ID</a:t>
            </a:r>
          </a:p>
          <a:p>
            <a:pPr lvl="2"/>
            <a:r>
              <a:rPr lang="en-US" sz="1400" b="1"/>
              <a:t>SAVE OTP</a:t>
            </a:r>
          </a:p>
          <a:p>
            <a:pPr lvl="2"/>
            <a:r>
              <a:rPr lang="en-US" sz="1400" b="1"/>
              <a:t>RETURN "01"</a:t>
            </a:r>
          </a:p>
          <a:p>
            <a:pPr lvl="1"/>
            <a:r>
              <a:rPr lang="en-US" sz="1400" b="1"/>
              <a:t>SEND SMS</a:t>
            </a:r>
          </a:p>
          <a:p>
            <a:pPr lvl="2"/>
            <a:r>
              <a:rPr lang="en-US" sz="1400" b="1"/>
              <a:t>IF success → save OTP</a:t>
            </a:r>
          </a:p>
          <a:p>
            <a:pPr lvl="2"/>
            <a:r>
              <a:rPr lang="en-US" sz="1400" b="1"/>
              <a:t>RETURN result</a:t>
            </a:r>
          </a:p>
          <a:p>
            <a:pPr marL="36900" indent="0">
              <a:buNone/>
            </a:pPr>
            <a:endParaRPr lang="en-US" sz="1400" b="1"/>
          </a:p>
          <a:p>
            <a:r>
              <a:rPr lang="en-US" sz="1600" b="1"/>
              <a:t>Else of count &lt; maxPerDay</a:t>
            </a:r>
          </a:p>
          <a:p>
            <a:pPr lvl="1"/>
            <a:r>
              <a:rPr lang="en-US" sz="1400" b="1"/>
              <a:t>RETURN "3" // exceeded daily limit</a:t>
            </a:r>
          </a:p>
          <a:p>
            <a:r>
              <a:rPr lang="en-US" sz="1600"/>
              <a:t> </a:t>
            </a:r>
            <a:endParaRPr lang="en-US" sz="1600" b="1"/>
          </a:p>
          <a:p>
            <a:endParaRPr lang="en-US" sz="1600" b="1"/>
          </a:p>
        </p:txBody>
      </p:sp>
    </p:spTree>
    <p:extLst>
      <p:ext uri="{BB962C8B-B14F-4D97-AF65-F5344CB8AC3E}">
        <p14:creationId xmlns:p14="http://schemas.microsoft.com/office/powerpoint/2010/main" val="75062259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FCFA-17A2-FAD7-4D6E-28D7DB5C6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59317E-4032-3F74-ED6A-C01B9CED271C}"/>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End Forget Password</a:t>
            </a:r>
          </a:p>
        </p:txBody>
      </p:sp>
    </p:spTree>
    <p:extLst>
      <p:ext uri="{BB962C8B-B14F-4D97-AF65-F5344CB8AC3E}">
        <p14:creationId xmlns:p14="http://schemas.microsoft.com/office/powerpoint/2010/main" val="145050201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BB052-AF52-E419-461D-B3F4000E2A11}"/>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MenuRoleForLoginVM</a:t>
            </a:r>
          </a:p>
        </p:txBody>
      </p:sp>
      <p:sp>
        <p:nvSpPr>
          <p:cNvPr id="3" name="Content Placeholder 2">
            <a:extLst>
              <a:ext uri="{FF2B5EF4-FFF2-40B4-BE49-F238E27FC236}">
                <a16:creationId xmlns:a16="http://schemas.microsoft.com/office/drawing/2014/main" id="{D04CDEA0-BFE7-96D2-1443-17C0CD8D2C7D}"/>
              </a:ext>
            </a:extLst>
          </p:cNvPr>
          <p:cNvSpPr>
            <a:spLocks noGrp="1"/>
          </p:cNvSpPr>
          <p:nvPr>
            <p:ph idx="1"/>
          </p:nvPr>
        </p:nvSpPr>
        <p:spPr>
          <a:xfrm>
            <a:off x="171450" y="695325"/>
            <a:ext cx="11791950" cy="6019800"/>
          </a:xfrm>
        </p:spPr>
        <p:txBody>
          <a:bodyPr numCol="2">
            <a:normAutofit/>
          </a:bodyPr>
          <a:lstStyle/>
          <a:p>
            <a:r>
              <a:rPr lang="en-US" sz="1600" b="1"/>
              <a:t>Menu_id</a:t>
            </a:r>
          </a:p>
          <a:p>
            <a:r>
              <a:rPr lang="en-US" sz="1600" b="1"/>
              <a:t>M_nameParent_AR</a:t>
            </a:r>
          </a:p>
          <a:p>
            <a:r>
              <a:rPr lang="en-US" sz="1600" b="1"/>
              <a:t>M_nameParent_Eng  // </a:t>
            </a:r>
            <a:r>
              <a:rPr lang="en-US" sz="1600"/>
              <a:t>Main menu name</a:t>
            </a:r>
            <a:endParaRPr lang="en-US" sz="1600" b="1"/>
          </a:p>
          <a:p>
            <a:r>
              <a:rPr lang="en-US" sz="1600" b="1"/>
              <a:t>M_nameChild_AR</a:t>
            </a:r>
          </a:p>
          <a:p>
            <a:r>
              <a:rPr lang="en-US" sz="1600" b="1"/>
              <a:t>M_nameChild_Eng // </a:t>
            </a:r>
            <a:r>
              <a:rPr lang="en-US" sz="1600"/>
              <a:t>Submenu name</a:t>
            </a:r>
            <a:endParaRPr lang="en-US" sz="1600" b="1"/>
          </a:p>
          <a:p>
            <a:r>
              <a:rPr lang="en-US" sz="1600" b="1"/>
              <a:t>M_namePage_AR</a:t>
            </a:r>
          </a:p>
          <a:p>
            <a:r>
              <a:rPr lang="en-US" sz="1600" b="1"/>
              <a:t>M_namePage_Eng // </a:t>
            </a:r>
            <a:r>
              <a:rPr lang="en-US" sz="1600"/>
              <a:t>Page name</a:t>
            </a:r>
            <a:endParaRPr lang="en-US" sz="1600" b="1"/>
          </a:p>
          <a:p>
            <a:r>
              <a:rPr lang="en-US" sz="1600" b="1"/>
              <a:t>M_Parent_id	   </a:t>
            </a:r>
          </a:p>
          <a:p>
            <a:r>
              <a:rPr lang="en-US" sz="1600" b="1"/>
              <a:t>M_URL</a:t>
            </a:r>
          </a:p>
          <a:p>
            <a:r>
              <a:rPr lang="en-US" sz="1600" b="1"/>
              <a:t>M_URLParent</a:t>
            </a:r>
          </a:p>
          <a:p>
            <a:r>
              <a:rPr lang="en-US" sz="1600" b="1"/>
              <a:t>M_URLChild</a:t>
            </a:r>
          </a:p>
          <a:p>
            <a:r>
              <a:rPr lang="en-US" sz="1600" b="1"/>
              <a:t>M_URLPage</a:t>
            </a:r>
          </a:p>
          <a:p>
            <a:r>
              <a:rPr lang="en-US" sz="1600" b="1"/>
              <a:t>M_Icon</a:t>
            </a:r>
          </a:p>
          <a:p>
            <a:r>
              <a:rPr lang="en-US" sz="1600" b="1"/>
              <a:t>Role_id</a:t>
            </a:r>
          </a:p>
          <a:p>
            <a:r>
              <a:rPr lang="en-US" sz="1600" b="1"/>
              <a:t>Parent_Id</a:t>
            </a:r>
          </a:p>
          <a:p>
            <a:r>
              <a:rPr lang="en-US" sz="1600" b="1"/>
              <a:t>Child_Id</a:t>
            </a:r>
          </a:p>
          <a:p>
            <a:r>
              <a:rPr lang="en-US" sz="1600" b="1"/>
              <a:t>Paging_Id</a:t>
            </a:r>
          </a:p>
          <a:p>
            <a:r>
              <a:rPr lang="en-US" sz="1600" b="1"/>
              <a:t>M_Status</a:t>
            </a:r>
          </a:p>
          <a:p>
            <a:r>
              <a:rPr lang="en-US" sz="1600" b="1"/>
              <a:t>Type</a:t>
            </a:r>
          </a:p>
          <a:p>
            <a:r>
              <a:rPr lang="en-US" sz="1600" b="1"/>
              <a:t>TypeName</a:t>
            </a:r>
          </a:p>
          <a:p>
            <a:r>
              <a:rPr lang="en-US" sz="1600" b="1"/>
              <a:t>MenuItem</a:t>
            </a:r>
          </a:p>
          <a:p>
            <a:pPr lvl="1"/>
            <a:r>
              <a:rPr lang="en-US" sz="1600" b="1"/>
              <a:t>URMA_id</a:t>
            </a:r>
          </a:p>
          <a:p>
            <a:pPr lvl="1"/>
            <a:r>
              <a:rPr lang="en-US" sz="1600" b="1"/>
              <a:t>Role_id</a:t>
            </a:r>
          </a:p>
          <a:p>
            <a:pPr lvl="1"/>
            <a:r>
              <a:rPr lang="en-US" sz="1600" b="1"/>
              <a:t>Parent_Id</a:t>
            </a:r>
          </a:p>
          <a:p>
            <a:pPr lvl="1"/>
            <a:r>
              <a:rPr lang="en-US" sz="1600" b="1"/>
              <a:t>Child_Id</a:t>
            </a:r>
          </a:p>
          <a:p>
            <a:pPr lvl="1"/>
            <a:r>
              <a:rPr lang="en-US" sz="1600" b="1"/>
              <a:t>Paging_Id</a:t>
            </a:r>
          </a:p>
          <a:p>
            <a:endParaRPr lang="en-US" sz="1600" b="1"/>
          </a:p>
        </p:txBody>
      </p:sp>
    </p:spTree>
    <p:extLst>
      <p:ext uri="{BB962C8B-B14F-4D97-AF65-F5344CB8AC3E}">
        <p14:creationId xmlns:p14="http://schemas.microsoft.com/office/powerpoint/2010/main" val="103666033"/>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CB5F5-8C73-E46E-5CC4-606D57CCF32B}"/>
              </a:ext>
            </a:extLst>
          </p:cNvPr>
          <p:cNvSpPr>
            <a:spLocks noGrp="1"/>
          </p:cNvSpPr>
          <p:nvPr>
            <p:ph type="title"/>
          </p:nvPr>
        </p:nvSpPr>
        <p:spPr>
          <a:xfrm>
            <a:off x="913795" y="0"/>
            <a:ext cx="10353762" cy="685800"/>
          </a:xfrm>
        </p:spPr>
        <p:txBody>
          <a:bodyPr>
            <a:normAutofit fontScale="90000"/>
          </a:bodyPr>
          <a:lstStyle/>
          <a:p>
            <a:r>
              <a:rPr lang="en-US" b="1"/>
              <a:t>Get User group</a:t>
            </a:r>
          </a:p>
        </p:txBody>
      </p:sp>
      <p:sp>
        <p:nvSpPr>
          <p:cNvPr id="3" name="Content Placeholder 2">
            <a:extLst>
              <a:ext uri="{FF2B5EF4-FFF2-40B4-BE49-F238E27FC236}">
                <a16:creationId xmlns:a16="http://schemas.microsoft.com/office/drawing/2014/main" id="{B9449A90-2321-C115-9402-64E1227F5C8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4728098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B26E2-D2D9-FB1B-E36D-5B64B57D3D88}"/>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Start login</a:t>
            </a:r>
          </a:p>
        </p:txBody>
      </p:sp>
    </p:spTree>
    <p:extLst>
      <p:ext uri="{BB962C8B-B14F-4D97-AF65-F5344CB8AC3E}">
        <p14:creationId xmlns:p14="http://schemas.microsoft.com/office/powerpoint/2010/main" val="330276664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FCAB-635E-B943-1399-1636BEB153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85D5D-A103-9289-CAD1-A16969C3A084}"/>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login</a:t>
            </a:r>
          </a:p>
        </p:txBody>
      </p:sp>
    </p:spTree>
    <p:extLst>
      <p:ext uri="{BB962C8B-B14F-4D97-AF65-F5344CB8AC3E}">
        <p14:creationId xmlns:p14="http://schemas.microsoft.com/office/powerpoint/2010/main" val="2479785786"/>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F4C31-63E6-F9A5-F419-E597FD4E5A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12491-772C-EE68-EFC4-4CCF25A6B13D}"/>
              </a:ext>
            </a:extLst>
          </p:cNvPr>
          <p:cNvSpPr>
            <a:spLocks noGrp="1"/>
          </p:cNvSpPr>
          <p:nvPr>
            <p:ph type="title"/>
          </p:nvPr>
        </p:nvSpPr>
        <p:spPr>
          <a:xfrm>
            <a:off x="913795" y="609599"/>
            <a:ext cx="10353762" cy="5457825"/>
          </a:xfrm>
        </p:spPr>
        <p:txBody>
          <a:bodyPr>
            <a:normAutofit/>
          </a:bodyPr>
          <a:lstStyle/>
          <a:p>
            <a:r>
              <a:rPr lang="en-US" sz="6600" b="1">
                <a:solidFill>
                  <a:srgbClr val="FF0000"/>
                </a:solidFill>
              </a:rPr>
              <a:t>Start Users page</a:t>
            </a:r>
            <a:br>
              <a:rPr lang="en-US" sz="6600" b="1">
                <a:solidFill>
                  <a:srgbClr val="FF0000"/>
                </a:solidFill>
              </a:rPr>
            </a:br>
            <a:r>
              <a:rPr lang="ar-EG" sz="6600" b="1">
                <a:solidFill>
                  <a:srgbClr val="FF0000"/>
                </a:solidFill>
              </a:rPr>
              <a:t>مستخدمي النظام</a:t>
            </a:r>
            <a:endParaRPr lang="en-US" sz="6600" b="1">
              <a:solidFill>
                <a:srgbClr val="FF0000"/>
              </a:solidFill>
            </a:endParaRPr>
          </a:p>
        </p:txBody>
      </p:sp>
    </p:spTree>
    <p:extLst>
      <p:ext uri="{BB962C8B-B14F-4D97-AF65-F5344CB8AC3E}">
        <p14:creationId xmlns:p14="http://schemas.microsoft.com/office/powerpoint/2010/main" val="242098396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04A7B-5C35-013C-5139-6DFBA5786B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1DF0889-35AF-9EA8-3D29-DF4D0A53C21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3458369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E41DB-E7C5-DCF8-D6B3-45E65FFB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2EAE1-5630-5E19-564A-D654745C5D70}"/>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Users page</a:t>
            </a:r>
            <a:br>
              <a:rPr lang="en-US" sz="8000" b="1">
                <a:solidFill>
                  <a:srgbClr val="FF0000"/>
                </a:solidFill>
              </a:rPr>
            </a:br>
            <a:r>
              <a:rPr lang="ar-EG" sz="8000" b="1">
                <a:solidFill>
                  <a:srgbClr val="FF0000"/>
                </a:solidFill>
              </a:rPr>
              <a:t>مستخدمي النظام</a:t>
            </a:r>
            <a:endParaRPr lang="en-US" sz="8000" b="1">
              <a:solidFill>
                <a:srgbClr val="FF0000"/>
              </a:solidFill>
            </a:endParaRPr>
          </a:p>
        </p:txBody>
      </p:sp>
    </p:spTree>
    <p:extLst>
      <p:ext uri="{BB962C8B-B14F-4D97-AF65-F5344CB8AC3E}">
        <p14:creationId xmlns:p14="http://schemas.microsoft.com/office/powerpoint/2010/main" val="170724675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2D34B-8D0D-D3C6-CAC6-3EB03144D0C2}"/>
              </a:ext>
            </a:extLst>
          </p:cNvPr>
          <p:cNvSpPr>
            <a:spLocks noGrp="1"/>
          </p:cNvSpPr>
          <p:nvPr>
            <p:ph type="title"/>
          </p:nvPr>
        </p:nvSpPr>
        <p:spPr>
          <a:xfrm>
            <a:off x="989995" y="0"/>
            <a:ext cx="10353762" cy="552450"/>
          </a:xfrm>
        </p:spPr>
        <p:txBody>
          <a:bodyPr>
            <a:normAutofit fontScale="90000"/>
          </a:bodyPr>
          <a:lstStyle/>
          <a:p>
            <a:r>
              <a:rPr lang="en-US" b="1">
                <a:solidFill>
                  <a:srgbClr val="FFFF00"/>
                </a:solidFill>
              </a:rPr>
              <a:t>Lookup</a:t>
            </a:r>
            <a:r>
              <a:rPr lang="en-US" b="1"/>
              <a:t>. </a:t>
            </a:r>
            <a:r>
              <a:rPr lang="en-US" b="1">
                <a:solidFill>
                  <a:srgbClr val="FF0000"/>
                </a:solidFill>
              </a:rPr>
              <a:t>Mobile_Numbers</a:t>
            </a:r>
          </a:p>
        </p:txBody>
      </p:sp>
      <p:sp>
        <p:nvSpPr>
          <p:cNvPr id="3" name="Content Placeholder 2">
            <a:extLst>
              <a:ext uri="{FF2B5EF4-FFF2-40B4-BE49-F238E27FC236}">
                <a16:creationId xmlns:a16="http://schemas.microsoft.com/office/drawing/2014/main" id="{54CE7160-220E-A203-F781-D490AF4984B0}"/>
              </a:ext>
            </a:extLst>
          </p:cNvPr>
          <p:cNvSpPr>
            <a:spLocks noGrp="1"/>
          </p:cNvSpPr>
          <p:nvPr>
            <p:ph idx="1"/>
          </p:nvPr>
        </p:nvSpPr>
        <p:spPr>
          <a:xfrm>
            <a:off x="0" y="552450"/>
            <a:ext cx="12192000" cy="6019799"/>
          </a:xfrm>
        </p:spPr>
        <p:txBody>
          <a:bodyPr/>
          <a:lstStyle/>
          <a:p>
            <a:r>
              <a:rPr lang="en-US" b="1"/>
              <a:t>MN_ID: int , PK</a:t>
            </a:r>
          </a:p>
          <a:p>
            <a:r>
              <a:rPr lang="en-US" b="1"/>
              <a:t>Mobile: string</a:t>
            </a:r>
          </a:p>
          <a:p>
            <a:r>
              <a:rPr lang="en-US" b="1"/>
              <a:t>UserID: int , FK from User</a:t>
            </a:r>
          </a:p>
        </p:txBody>
      </p:sp>
      <p:pic>
        <p:nvPicPr>
          <p:cNvPr id="5" name="Picture 4">
            <a:extLst>
              <a:ext uri="{FF2B5EF4-FFF2-40B4-BE49-F238E27FC236}">
                <a16:creationId xmlns:a16="http://schemas.microsoft.com/office/drawing/2014/main" id="{D86D0096-1DE2-F95E-B476-4B6586BF8621}"/>
              </a:ext>
            </a:extLst>
          </p:cNvPr>
          <p:cNvPicPr>
            <a:picLocks noChangeAspect="1"/>
          </p:cNvPicPr>
          <p:nvPr/>
        </p:nvPicPr>
        <p:blipFill>
          <a:blip r:embed="rId2"/>
          <a:stretch>
            <a:fillRect/>
          </a:stretch>
        </p:blipFill>
        <p:spPr>
          <a:xfrm>
            <a:off x="7139999" y="1104900"/>
            <a:ext cx="3372352" cy="2952750"/>
          </a:xfrm>
          <a:prstGeom prst="rect">
            <a:avLst/>
          </a:prstGeom>
        </p:spPr>
      </p:pic>
    </p:spTree>
    <p:extLst>
      <p:ext uri="{BB962C8B-B14F-4D97-AF65-F5344CB8AC3E}">
        <p14:creationId xmlns:p14="http://schemas.microsoft.com/office/powerpoint/2010/main" val="119297638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257175" y="511277"/>
            <a:ext cx="11610360" cy="6154994"/>
          </a:xfrm>
        </p:spPr>
        <p:txBody>
          <a:bodyPr/>
          <a:lstStyle/>
          <a:p>
            <a:endParaRPr lang="en-US"/>
          </a:p>
          <a:p>
            <a:endParaRPr lang="en-US"/>
          </a:p>
          <a:p>
            <a:endParaRPr lang="en-US"/>
          </a:p>
          <a:p>
            <a:endParaRPr lang="en-US"/>
          </a:p>
          <a:p>
            <a:endParaRPr lang="en-US"/>
          </a:p>
          <a:p>
            <a:endParaRPr lang="en-US"/>
          </a:p>
          <a:p>
            <a:endParaRPr lang="en-US"/>
          </a:p>
          <a:p>
            <a:r>
              <a:rPr lang="en-US"/>
              <a:t>Loan officer login: 10100 , P@ssw0rd </a:t>
            </a:r>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4057323808"/>
              </p:ext>
            </p:extLst>
          </p:nvPr>
        </p:nvGraphicFramePr>
        <p:xfrm>
          <a:off x="418672" y="679654"/>
          <a:ext cx="8127999" cy="259588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r h="370840">
                <a:tc>
                  <a:txBody>
                    <a:bodyPr/>
                    <a:lstStyle/>
                    <a:p>
                      <a:pPr algn="ctr"/>
                      <a:r>
                        <a:rPr lang="en-US" b="1"/>
                        <a:t>Software developer [</a:t>
                      </a:r>
                      <a:r>
                        <a:rPr lang="ar-EG" b="1"/>
                        <a:t>مطور برمجيات</a:t>
                      </a:r>
                      <a:r>
                        <a:rPr lang="en-US" b="1"/>
                        <a:t>]</a:t>
                      </a:r>
                    </a:p>
                  </a:txBody>
                  <a:tcPr/>
                </a:tc>
                <a:tc>
                  <a:txBody>
                    <a:bodyPr/>
                    <a:lstStyle/>
                    <a:p>
                      <a:pPr algn="ctr"/>
                      <a:r>
                        <a:rPr lang="en-US" b="1"/>
                        <a:t>1288</a:t>
                      </a:r>
                    </a:p>
                  </a:txBody>
                  <a:tcPr/>
                </a:tc>
                <a:tc>
                  <a:txBody>
                    <a:bodyPr/>
                    <a:lstStyle/>
                    <a:p>
                      <a:pPr algn="ctr"/>
                      <a:r>
                        <a:rPr lang="en-US" b="1"/>
                        <a:t>1288</a:t>
                      </a:r>
                    </a:p>
                  </a:txBody>
                  <a:tcPr/>
                </a:tc>
                <a:extLst>
                  <a:ext uri="{0D108BD9-81ED-4DB2-BD59-A6C34878D82A}">
                    <a16:rowId xmlns:a16="http://schemas.microsoft.com/office/drawing/2014/main" val="923327973"/>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0A5DC-37F6-18CE-E519-9585EBC31C45}"/>
              </a:ext>
            </a:extLst>
          </p:cNvPr>
          <p:cNvSpPr>
            <a:spLocks noGrp="1"/>
          </p:cNvSpPr>
          <p:nvPr>
            <p:ph type="title"/>
          </p:nvPr>
        </p:nvSpPr>
        <p:spPr>
          <a:xfrm>
            <a:off x="919119" y="0"/>
            <a:ext cx="10353762" cy="599768"/>
          </a:xfrm>
        </p:spPr>
        <p:txBody>
          <a:bodyPr>
            <a:normAutofit fontScale="90000"/>
          </a:bodyPr>
          <a:lstStyle/>
          <a:p>
            <a:r>
              <a:rPr lang="en-US" b="1">
                <a:solidFill>
                  <a:srgbClr val="FF0000"/>
                </a:solidFill>
              </a:rPr>
              <a:t>Male &amp; Female from QID</a:t>
            </a:r>
          </a:p>
        </p:txBody>
      </p:sp>
      <p:sp>
        <p:nvSpPr>
          <p:cNvPr id="7" name="Content Placeholder 6">
            <a:extLst>
              <a:ext uri="{FF2B5EF4-FFF2-40B4-BE49-F238E27FC236}">
                <a16:creationId xmlns:a16="http://schemas.microsoft.com/office/drawing/2014/main" id="{F066DC1C-C3EB-B727-4729-29E550FCCB6D}"/>
              </a:ext>
            </a:extLst>
          </p:cNvPr>
          <p:cNvSpPr>
            <a:spLocks noGrp="1"/>
          </p:cNvSpPr>
          <p:nvPr>
            <p:ph idx="1"/>
          </p:nvPr>
        </p:nvSpPr>
        <p:spPr>
          <a:xfrm>
            <a:off x="501445" y="1199535"/>
            <a:ext cx="10766112" cy="4591665"/>
          </a:xfrm>
        </p:spPr>
        <p:txBody>
          <a:bodyPr/>
          <a:lstStyle/>
          <a:p>
            <a:r>
              <a:rPr lang="en-US"/>
              <a:t>code</a:t>
            </a:r>
          </a:p>
        </p:txBody>
      </p:sp>
      <p:pic>
        <p:nvPicPr>
          <p:cNvPr id="8" name="Content Placeholder 4">
            <a:extLst>
              <a:ext uri="{FF2B5EF4-FFF2-40B4-BE49-F238E27FC236}">
                <a16:creationId xmlns:a16="http://schemas.microsoft.com/office/drawing/2014/main" id="{05B531EB-B3F9-857F-7BBA-2C27EC286905}"/>
              </a:ext>
            </a:extLst>
          </p:cNvPr>
          <p:cNvPicPr>
            <a:picLocks noChangeAspect="1"/>
          </p:cNvPicPr>
          <p:nvPr/>
        </p:nvPicPr>
        <p:blipFill>
          <a:blip r:embed="rId2"/>
          <a:stretch>
            <a:fillRect/>
          </a:stretch>
        </p:blipFill>
        <p:spPr>
          <a:xfrm>
            <a:off x="1025761" y="1820790"/>
            <a:ext cx="7682297" cy="77492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21106852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Flags </a:t>
            </a:r>
          </a:p>
        </p:txBody>
      </p:sp>
    </p:spTree>
    <p:extLst>
      <p:ext uri="{BB962C8B-B14F-4D97-AF65-F5344CB8AC3E}">
        <p14:creationId xmlns:p14="http://schemas.microsoft.com/office/powerpoint/2010/main" val="84737100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FB2D7-03BA-2D61-9B8C-33B7C013C249}"/>
              </a:ext>
            </a:extLst>
          </p:cNvPr>
          <p:cNvSpPr>
            <a:spLocks noGrp="1"/>
          </p:cNvSpPr>
          <p:nvPr>
            <p:ph type="title"/>
          </p:nvPr>
        </p:nvSpPr>
        <p:spPr>
          <a:xfrm>
            <a:off x="913795" y="0"/>
            <a:ext cx="10353762" cy="670560"/>
          </a:xfrm>
        </p:spPr>
        <p:txBody>
          <a:bodyPr>
            <a:normAutofit fontScale="90000"/>
          </a:bodyPr>
          <a:lstStyle/>
          <a:p>
            <a:r>
              <a:rPr lang="en-US" b="1">
                <a:solidFill>
                  <a:srgbClr val="FFFF00"/>
                </a:solidFill>
              </a:rPr>
              <a:t>SWF. </a:t>
            </a:r>
            <a:r>
              <a:rPr lang="en-US" b="1">
                <a:solidFill>
                  <a:srgbClr val="FF0000"/>
                </a:solidFill>
              </a:rPr>
              <a:t>Flow_status: [ Table ]</a:t>
            </a:r>
          </a:p>
        </p:txBody>
      </p:sp>
      <p:sp>
        <p:nvSpPr>
          <p:cNvPr id="3" name="Content Placeholder 2">
            <a:extLst>
              <a:ext uri="{FF2B5EF4-FFF2-40B4-BE49-F238E27FC236}">
                <a16:creationId xmlns:a16="http://schemas.microsoft.com/office/drawing/2014/main" id="{F9041307-80B3-BFC1-F603-ECEB0566C279}"/>
              </a:ext>
            </a:extLst>
          </p:cNvPr>
          <p:cNvSpPr>
            <a:spLocks noGrp="1"/>
          </p:cNvSpPr>
          <p:nvPr>
            <p:ph idx="1"/>
          </p:nvPr>
        </p:nvSpPr>
        <p:spPr>
          <a:xfrm>
            <a:off x="223520" y="670560"/>
            <a:ext cx="11724640" cy="5994400"/>
          </a:xfrm>
        </p:spPr>
        <p:txBody>
          <a:bodyPr/>
          <a:lstStyle/>
          <a:p>
            <a:r>
              <a:rPr lang="en-US"/>
              <a:t>FK : in </a:t>
            </a:r>
            <a:r>
              <a:rPr lang="en-US" b="1" err="1">
                <a:solidFill>
                  <a:srgbClr val="FFFF00"/>
                </a:solidFill>
              </a:rPr>
              <a:t>Flow_Funding_request</a:t>
            </a:r>
            <a:r>
              <a:rPr lang="en-US"/>
              <a:t> as </a:t>
            </a:r>
            <a:r>
              <a:rPr lang="en-US" sz="2400" b="1" err="1">
                <a:solidFill>
                  <a:srgbClr val="00B0F0"/>
                </a:solidFill>
              </a:rPr>
              <a:t>status_code</a:t>
            </a:r>
            <a:endParaRPr lang="en-US" b="1">
              <a:solidFill>
                <a:srgbClr val="00B0F0"/>
              </a:solidFill>
            </a:endParaRPr>
          </a:p>
          <a:p>
            <a:pPr lvl="1"/>
            <a:r>
              <a:rPr lang="en-US" b="1"/>
              <a:t>11 :</a:t>
            </a:r>
            <a:r>
              <a:rPr lang="ar-EG" b="1"/>
              <a:t> </a:t>
            </a:r>
            <a:r>
              <a:rPr lang="en-US" b="1">
                <a:solidFill>
                  <a:srgbClr val="00B0F0"/>
                </a:solidFill>
              </a:rPr>
              <a:t>FixedStatus.</a:t>
            </a:r>
            <a:r>
              <a:rPr lang="fr-FR" b="1">
                <a:solidFill>
                  <a:srgbClr val="FFC000"/>
                </a:solidFill>
              </a:rPr>
              <a:t>Status_code_11_Fail_Connct_Iscore</a:t>
            </a:r>
            <a:r>
              <a:rPr lang="en-US" b="1"/>
              <a:t> </a:t>
            </a:r>
            <a:r>
              <a:rPr lang="ar-EG" b="1"/>
              <a:t>فشل في تحميل أي سكور</a:t>
            </a:r>
            <a:endParaRPr lang="en-US" b="1"/>
          </a:p>
          <a:p>
            <a:pPr lvl="1"/>
            <a:r>
              <a:rPr lang="en-US" b="1"/>
              <a:t>12: </a:t>
            </a:r>
            <a:r>
              <a:rPr lang="ar-EG" b="1"/>
              <a:t>فشل فى إعادة تحميل الأي سكور </a:t>
            </a:r>
            <a:endParaRPr lang="en-US" b="1"/>
          </a:p>
          <a:p>
            <a:pPr lvl="1"/>
            <a:r>
              <a:rPr lang="en-US" b="1"/>
              <a:t> 0  : </a:t>
            </a:r>
            <a:r>
              <a:rPr lang="en-US" b="1">
                <a:solidFill>
                  <a:srgbClr val="00B0F0"/>
                </a:solidFill>
              </a:rPr>
              <a:t>FixedStatus.</a:t>
            </a:r>
            <a:r>
              <a:rPr lang="en-US" b="1">
                <a:solidFill>
                  <a:srgbClr val="FFC000"/>
                </a:solidFill>
              </a:rPr>
              <a:t>Status_code_0_Saved_LO</a:t>
            </a:r>
            <a:r>
              <a:rPr lang="en-US" b="1"/>
              <a:t> </a:t>
            </a:r>
            <a:r>
              <a:rPr lang="ar-EG" b="1"/>
              <a:t> الطلب تم حفظه عند مسئول التمويل</a:t>
            </a:r>
            <a:endParaRPr lang="en-US" b="1"/>
          </a:p>
          <a:p>
            <a:pPr lvl="1"/>
            <a:r>
              <a:rPr lang="en-US" b="1"/>
              <a:t>56 : </a:t>
            </a:r>
            <a:r>
              <a:rPr lang="en-US" b="1">
                <a:solidFill>
                  <a:srgbClr val="00B0F0"/>
                </a:solidFill>
              </a:rPr>
              <a:t>FixedStatus.</a:t>
            </a:r>
            <a:r>
              <a:rPr lang="en-US" b="1">
                <a:solidFill>
                  <a:srgbClr val="FFC000"/>
                </a:solidFill>
              </a:rPr>
              <a:t>Status_code_56_Send_To_CO</a:t>
            </a:r>
            <a:r>
              <a:rPr lang="en-US" b="1"/>
              <a:t> </a:t>
            </a:r>
            <a:r>
              <a:rPr lang="ar-EG" b="1"/>
              <a:t>الطلب تم ترحيله إلى المسؤول الأول </a:t>
            </a:r>
            <a:r>
              <a:rPr lang="en-US" b="1"/>
              <a:t> </a:t>
            </a:r>
          </a:p>
          <a:p>
            <a:pPr lvl="1"/>
            <a:r>
              <a:rPr lang="en-US" b="1"/>
              <a:t>19 </a:t>
            </a:r>
            <a:r>
              <a:rPr lang="ar-EG" b="1"/>
              <a:t>:</a:t>
            </a:r>
            <a:r>
              <a:rPr lang="en-US" b="1"/>
              <a:t> </a:t>
            </a:r>
            <a:r>
              <a:rPr lang="en-US" b="1">
                <a:solidFill>
                  <a:srgbClr val="00B0F0"/>
                </a:solidFill>
              </a:rPr>
              <a:t>FixedStatus.</a:t>
            </a:r>
            <a:r>
              <a:rPr lang="en-US" b="1">
                <a:solidFill>
                  <a:srgbClr val="FFC000"/>
                </a:solidFill>
              </a:rPr>
              <a:t>Status_code_19_finaleReject</a:t>
            </a:r>
            <a:r>
              <a:rPr lang="en-US" b="1"/>
              <a:t> </a:t>
            </a:r>
            <a:r>
              <a:rPr lang="ar-EG" b="1"/>
              <a:t>الطلب تم رفضه نهائي من قبل المسئول الاول</a:t>
            </a:r>
          </a:p>
          <a:p>
            <a:pPr lvl="1"/>
            <a:r>
              <a:rPr lang="en-US" b="1"/>
              <a:t>18</a:t>
            </a:r>
            <a:r>
              <a:rPr lang="en-US"/>
              <a:t> </a:t>
            </a:r>
            <a:r>
              <a:rPr lang="en-US" b="1"/>
              <a:t>:</a:t>
            </a:r>
            <a:r>
              <a:rPr lang="en-US"/>
              <a:t> </a:t>
            </a:r>
            <a:r>
              <a:rPr lang="en-US" b="1">
                <a:solidFill>
                  <a:srgbClr val="00B0F0"/>
                </a:solidFill>
              </a:rPr>
              <a:t>FixedStatus.</a:t>
            </a:r>
            <a:r>
              <a:rPr lang="en-US" b="1">
                <a:solidFill>
                  <a:srgbClr val="FFC000"/>
                </a:solidFill>
              </a:rPr>
              <a:t>Status_code_18_CustomerReject </a:t>
            </a:r>
            <a:r>
              <a:rPr lang="ar-EG" b="1"/>
              <a:t>رفض_عميل من الأى سكور</a:t>
            </a:r>
            <a:endParaRPr lang="en-US" b="1"/>
          </a:p>
          <a:p>
            <a:pPr lvl="1"/>
            <a:r>
              <a:rPr lang="en-US" b="1"/>
              <a:t>1</a:t>
            </a:r>
            <a:r>
              <a:rPr lang="ar-EG" b="1"/>
              <a:t>9</a:t>
            </a:r>
            <a:r>
              <a:rPr lang="en-US" b="1"/>
              <a:t> : </a:t>
            </a:r>
            <a:r>
              <a:rPr lang="en-US" b="1">
                <a:solidFill>
                  <a:srgbClr val="00B0F0"/>
                </a:solidFill>
              </a:rPr>
              <a:t>FixedStatus.</a:t>
            </a:r>
            <a:r>
              <a:rPr lang="en-US" b="1">
                <a:solidFill>
                  <a:srgbClr val="FFC000"/>
                </a:solidFill>
              </a:rPr>
              <a:t>Status_code_19_finaleReject</a:t>
            </a:r>
            <a:r>
              <a:rPr lang="en-US" b="1"/>
              <a:t>  </a:t>
            </a:r>
            <a:r>
              <a:rPr lang="ar-EG" b="1"/>
              <a:t>رفض نهائي</a:t>
            </a:r>
          </a:p>
          <a:p>
            <a:pPr lvl="1"/>
            <a:r>
              <a:rPr lang="en-US" b="1"/>
              <a:t>8</a:t>
            </a:r>
            <a:r>
              <a:rPr lang="en-US"/>
              <a:t>   </a:t>
            </a:r>
            <a:r>
              <a:rPr lang="en-US" b="1"/>
              <a:t>:</a:t>
            </a:r>
            <a:r>
              <a:rPr lang="en-US"/>
              <a:t> </a:t>
            </a:r>
            <a:r>
              <a:rPr lang="en-US" b="1">
                <a:solidFill>
                  <a:srgbClr val="00B0F0"/>
                </a:solidFill>
              </a:rPr>
              <a:t>FixedStatus.</a:t>
            </a:r>
            <a:r>
              <a:rPr lang="en-US" b="1">
                <a:solidFill>
                  <a:srgbClr val="FFC000"/>
                </a:solidFill>
              </a:rPr>
              <a:t>Status_code_8_Ready_To_Disbursment</a:t>
            </a:r>
            <a:r>
              <a:rPr lang="en-US" b="1">
                <a:solidFill>
                  <a:srgbClr val="00B0F0"/>
                </a:solidFill>
              </a:rPr>
              <a:t> </a:t>
            </a:r>
            <a:r>
              <a:rPr lang="ar-EG" b="1"/>
              <a:t>جاهز للصرف </a:t>
            </a:r>
            <a:endParaRPr lang="en-US" b="1"/>
          </a:p>
          <a:p>
            <a:pPr lvl="1"/>
            <a:r>
              <a:rPr lang="en-US"/>
              <a:t>9   </a:t>
            </a:r>
            <a:r>
              <a:rPr lang="en-US" b="1"/>
              <a:t>:</a:t>
            </a:r>
            <a:r>
              <a:rPr lang="en-US"/>
              <a:t> </a:t>
            </a:r>
            <a:r>
              <a:rPr lang="en-US" b="1">
                <a:solidFill>
                  <a:srgbClr val="00B0F0"/>
                </a:solidFill>
              </a:rPr>
              <a:t>FixedStatus.</a:t>
            </a:r>
            <a:r>
              <a:rPr lang="en-US" b="1">
                <a:solidFill>
                  <a:srgbClr val="FFC000"/>
                </a:solidFill>
              </a:rPr>
              <a:t>Status_code_9_Disbursment </a:t>
            </a:r>
            <a:r>
              <a:rPr lang="ar-EG" b="1">
                <a:solidFill>
                  <a:schemeClr val="tx1"/>
                </a:solidFill>
              </a:rPr>
              <a:t>تم الصرف</a:t>
            </a:r>
            <a:endParaRPr lang="en-US" b="1">
              <a:solidFill>
                <a:schemeClr val="tx1"/>
              </a:solidFill>
            </a:endParaRPr>
          </a:p>
          <a:p>
            <a:pPr lvl="1"/>
            <a:r>
              <a:rPr lang="en-US" b="1"/>
              <a:t>53 : </a:t>
            </a:r>
            <a:r>
              <a:rPr lang="en-US" b="1">
                <a:solidFill>
                  <a:srgbClr val="00B0F0"/>
                </a:solidFill>
              </a:rPr>
              <a:t>FixedStatus</a:t>
            </a:r>
            <a:r>
              <a:rPr lang="en-US" b="1"/>
              <a:t>.</a:t>
            </a:r>
            <a:r>
              <a:rPr lang="en-US" b="1">
                <a:solidFill>
                  <a:srgbClr val="FFC000"/>
                </a:solidFill>
              </a:rPr>
              <a:t>Status_code_53_GurantorReject</a:t>
            </a:r>
            <a:r>
              <a:rPr lang="en-US" b="1"/>
              <a:t> </a:t>
            </a:r>
            <a:r>
              <a:rPr lang="ar-EG" b="1"/>
              <a:t>رفض ضامن من الأي سكور أو من الزيارة الميدانية</a:t>
            </a:r>
            <a:endParaRPr lang="en-US" b="1"/>
          </a:p>
          <a:p>
            <a:pPr lvl="1"/>
            <a:r>
              <a:rPr lang="en-US"/>
              <a:t>50: </a:t>
            </a:r>
            <a:r>
              <a:rPr lang="ar-EG"/>
              <a:t>إغلاق تمويل</a:t>
            </a:r>
          </a:p>
          <a:p>
            <a:pPr lvl="1"/>
            <a:r>
              <a:rPr lang="en-US"/>
              <a:t>13: </a:t>
            </a:r>
            <a:r>
              <a:rPr lang="ar-EG"/>
              <a:t>سداد معجل</a:t>
            </a:r>
          </a:p>
          <a:p>
            <a:pPr lvl="1"/>
            <a:endParaRPr lang="en-US"/>
          </a:p>
        </p:txBody>
      </p:sp>
    </p:spTree>
    <p:extLst>
      <p:ext uri="{BB962C8B-B14F-4D97-AF65-F5344CB8AC3E}">
        <p14:creationId xmlns:p14="http://schemas.microsoft.com/office/powerpoint/2010/main" val="60889632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A154E-473C-24DA-3498-71069B572508}"/>
              </a:ext>
            </a:extLst>
          </p:cNvPr>
          <p:cNvSpPr>
            <a:spLocks noGrp="1"/>
          </p:cNvSpPr>
          <p:nvPr>
            <p:ph type="title"/>
          </p:nvPr>
        </p:nvSpPr>
        <p:spPr>
          <a:xfrm>
            <a:off x="913795" y="0"/>
            <a:ext cx="10353762" cy="822960"/>
          </a:xfrm>
        </p:spPr>
        <p:txBody>
          <a:bodyPr/>
          <a:lstStyle/>
          <a:p>
            <a:r>
              <a:rPr lang="en-US" b="1">
                <a:solidFill>
                  <a:srgbClr val="FF0000"/>
                </a:solidFill>
              </a:rPr>
              <a:t>Request_status</a:t>
            </a:r>
          </a:p>
        </p:txBody>
      </p:sp>
      <p:sp>
        <p:nvSpPr>
          <p:cNvPr id="3" name="Content Placeholder 2">
            <a:extLst>
              <a:ext uri="{FF2B5EF4-FFF2-40B4-BE49-F238E27FC236}">
                <a16:creationId xmlns:a16="http://schemas.microsoft.com/office/drawing/2014/main" id="{512C350C-EB70-704E-F39B-AD42DE6A819A}"/>
              </a:ext>
            </a:extLst>
          </p:cNvPr>
          <p:cNvSpPr>
            <a:spLocks noGrp="1"/>
          </p:cNvSpPr>
          <p:nvPr>
            <p:ph idx="1"/>
          </p:nvPr>
        </p:nvSpPr>
        <p:spPr>
          <a:xfrm>
            <a:off x="913795" y="822960"/>
            <a:ext cx="10353762" cy="5740399"/>
          </a:xfrm>
        </p:spPr>
        <p:txBody>
          <a:bodyPr/>
          <a:lstStyle/>
          <a:p>
            <a:r>
              <a:rPr lang="en-US"/>
              <a:t>Column at Flow_Funding_Request</a:t>
            </a:r>
          </a:p>
          <a:p>
            <a:pPr lvl="1"/>
            <a:r>
              <a:rPr lang="en-US"/>
              <a:t>bool Request_status (IsNew) [1 new , 0 renew ]</a:t>
            </a:r>
            <a:endParaRPr lang="ar-EG"/>
          </a:p>
          <a:p>
            <a:endParaRPr lang="en-US"/>
          </a:p>
        </p:txBody>
      </p:sp>
    </p:spTree>
    <p:extLst>
      <p:ext uri="{BB962C8B-B14F-4D97-AF65-F5344CB8AC3E}">
        <p14:creationId xmlns:p14="http://schemas.microsoft.com/office/powerpoint/2010/main" val="146565017"/>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D6833-77FA-A2BE-28AA-4D076010094C}"/>
              </a:ext>
            </a:extLst>
          </p:cNvPr>
          <p:cNvSpPr>
            <a:spLocks noGrp="1"/>
          </p:cNvSpPr>
          <p:nvPr>
            <p:ph type="title"/>
          </p:nvPr>
        </p:nvSpPr>
        <p:spPr>
          <a:xfrm>
            <a:off x="213360" y="0"/>
            <a:ext cx="11765280" cy="970450"/>
          </a:xfrm>
        </p:spPr>
        <p:txBody>
          <a:bodyPr/>
          <a:lstStyle/>
          <a:p>
            <a:r>
              <a:rPr lang="en-US"/>
              <a:t>Action_Flag</a:t>
            </a:r>
          </a:p>
        </p:txBody>
      </p:sp>
      <p:sp>
        <p:nvSpPr>
          <p:cNvPr id="3" name="Content Placeholder 2">
            <a:extLst>
              <a:ext uri="{FF2B5EF4-FFF2-40B4-BE49-F238E27FC236}">
                <a16:creationId xmlns:a16="http://schemas.microsoft.com/office/drawing/2014/main" id="{6BC2E0CB-5741-5165-F259-B35E7E2D7721}"/>
              </a:ext>
            </a:extLst>
          </p:cNvPr>
          <p:cNvSpPr>
            <a:spLocks noGrp="1"/>
          </p:cNvSpPr>
          <p:nvPr>
            <p:ph idx="1"/>
          </p:nvPr>
        </p:nvSpPr>
        <p:spPr>
          <a:xfrm>
            <a:off x="213360" y="970451"/>
            <a:ext cx="11765280" cy="5755470"/>
          </a:xfrm>
        </p:spPr>
        <p:txBody>
          <a:bodyPr/>
          <a:lstStyle/>
          <a:p>
            <a:r>
              <a:rPr lang="en-US" sz="1800"/>
              <a:t>Column in </a:t>
            </a:r>
            <a:r>
              <a:rPr lang="en-US" b="1">
                <a:solidFill>
                  <a:srgbClr val="00B0F0"/>
                </a:solidFill>
              </a:rPr>
              <a:t>Flow_Requests_Log</a:t>
            </a:r>
            <a:r>
              <a:rPr lang="en-US"/>
              <a:t> not </a:t>
            </a:r>
            <a:r>
              <a:rPr lang="en-US" b="1">
                <a:solidFill>
                  <a:srgbClr val="FF0000"/>
                </a:solidFill>
              </a:rPr>
              <a:t>FK</a:t>
            </a:r>
            <a:endParaRPr lang="en-US" sz="1800" b="1">
              <a:solidFill>
                <a:srgbClr val="FF0000"/>
              </a:solidFill>
            </a:endParaRPr>
          </a:p>
          <a:p>
            <a:r>
              <a:rPr lang="en-US"/>
              <a:t>Nullable&lt;int&gt; Action_Flag { get; set; }</a:t>
            </a:r>
          </a:p>
          <a:p>
            <a:pPr lvl="1"/>
            <a:r>
              <a:rPr lang="en-US" b="1"/>
              <a:t>0 : </a:t>
            </a:r>
            <a:r>
              <a:rPr lang="ar-EG" b="1"/>
              <a:t>رفض</a:t>
            </a:r>
            <a:endParaRPr lang="en-US" b="1"/>
          </a:p>
          <a:p>
            <a:pPr lvl="1"/>
            <a:r>
              <a:rPr lang="en-US" b="1"/>
              <a:t>1 : </a:t>
            </a:r>
            <a:r>
              <a:rPr lang="ar-EG" b="1"/>
              <a:t>قبول</a:t>
            </a:r>
            <a:endParaRPr lang="en-US" b="1"/>
          </a:p>
          <a:p>
            <a:pPr lvl="1"/>
            <a:r>
              <a:rPr lang="en-US" b="1"/>
              <a:t>2 : </a:t>
            </a:r>
            <a:r>
              <a:rPr lang="ar-EG" b="1"/>
              <a:t>رفض نهائي</a:t>
            </a:r>
            <a:endParaRPr lang="en-US" b="1"/>
          </a:p>
          <a:p>
            <a:pPr lvl="1"/>
            <a:r>
              <a:rPr lang="en-US" b="1"/>
              <a:t>3 : </a:t>
            </a:r>
            <a:r>
              <a:rPr lang="ar-EG" b="1"/>
              <a:t>رفض ضامن</a:t>
            </a:r>
            <a:endParaRPr lang="en-US" b="1"/>
          </a:p>
          <a:p>
            <a:pPr lvl="1"/>
            <a:r>
              <a:rPr lang="en-US" b="1"/>
              <a:t>4 : </a:t>
            </a:r>
            <a:r>
              <a:rPr lang="ar-EG" b="1"/>
              <a:t>حفظ</a:t>
            </a:r>
            <a:endParaRPr lang="en-US" b="1"/>
          </a:p>
          <a:p>
            <a:pPr lvl="1"/>
            <a:r>
              <a:rPr lang="en-US" b="1"/>
              <a:t>5 : </a:t>
            </a:r>
            <a:r>
              <a:rPr lang="ar-EG" b="1"/>
              <a:t>حفظ وإرسال</a:t>
            </a:r>
            <a:endParaRPr lang="en-US" b="1"/>
          </a:p>
          <a:p>
            <a:endParaRPr lang="en-US"/>
          </a:p>
        </p:txBody>
      </p:sp>
    </p:spTree>
    <p:extLst>
      <p:ext uri="{BB962C8B-B14F-4D97-AF65-F5344CB8AC3E}">
        <p14:creationId xmlns:p14="http://schemas.microsoft.com/office/powerpoint/2010/main" val="186457911"/>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A252D-E8F3-8644-D657-E3DA33D8905C}"/>
              </a:ext>
            </a:extLst>
          </p:cNvPr>
          <p:cNvSpPr>
            <a:spLocks noGrp="1"/>
          </p:cNvSpPr>
          <p:nvPr>
            <p:ph type="title"/>
          </p:nvPr>
        </p:nvSpPr>
        <p:spPr>
          <a:xfrm>
            <a:off x="913795" y="0"/>
            <a:ext cx="10353762" cy="581025"/>
          </a:xfrm>
        </p:spPr>
        <p:txBody>
          <a:bodyPr>
            <a:normAutofit fontScale="90000"/>
          </a:bodyPr>
          <a:lstStyle/>
          <a:p>
            <a:r>
              <a:rPr lang="en-US" b="1"/>
              <a:t>SWF.Flow_User_Status</a:t>
            </a:r>
          </a:p>
        </p:txBody>
      </p:sp>
      <p:sp>
        <p:nvSpPr>
          <p:cNvPr id="3" name="Content Placeholder 2">
            <a:extLst>
              <a:ext uri="{FF2B5EF4-FFF2-40B4-BE49-F238E27FC236}">
                <a16:creationId xmlns:a16="http://schemas.microsoft.com/office/drawing/2014/main" id="{4BE7F07A-4043-19B3-AA6D-CA1B77DBDBF7}"/>
              </a:ext>
            </a:extLst>
          </p:cNvPr>
          <p:cNvSpPr>
            <a:spLocks noGrp="1"/>
          </p:cNvSpPr>
          <p:nvPr>
            <p:ph idx="1"/>
          </p:nvPr>
        </p:nvSpPr>
        <p:spPr>
          <a:xfrm>
            <a:off x="123824" y="581025"/>
            <a:ext cx="11953875" cy="6153150"/>
          </a:xfrm>
        </p:spPr>
        <p:txBody>
          <a:bodyPr/>
          <a:lstStyle/>
          <a:p>
            <a:r>
              <a:rPr lang="en-US" b="1"/>
              <a:t>FUS_Id: 1: </a:t>
            </a:r>
            <a:r>
              <a:rPr lang="ar-EG" b="1"/>
              <a:t>يعمل</a:t>
            </a:r>
            <a:endParaRPr lang="en-US" b="1"/>
          </a:p>
          <a:p>
            <a:r>
              <a:rPr lang="en-US" b="1"/>
              <a:t>FUS_Id: 2: </a:t>
            </a:r>
            <a:r>
              <a:rPr lang="ar-EG" b="1"/>
              <a:t>مستقيل</a:t>
            </a:r>
            <a:endParaRPr lang="en-US" b="1"/>
          </a:p>
          <a:p>
            <a:r>
              <a:rPr lang="en-US" b="1"/>
              <a:t>FUS_Id: 3 </a:t>
            </a:r>
            <a:r>
              <a:rPr lang="ar-EG" b="1"/>
              <a:t>منقطع</a:t>
            </a:r>
          </a:p>
          <a:p>
            <a:r>
              <a:rPr lang="en-US" b="1"/>
              <a:t>FUS_Id: 206 </a:t>
            </a:r>
            <a:r>
              <a:rPr lang="ar-EG" b="1"/>
              <a:t>مستخدم دفع الكترونى</a:t>
            </a:r>
            <a:endParaRPr lang="en-US" b="1"/>
          </a:p>
        </p:txBody>
      </p:sp>
    </p:spTree>
    <p:extLst>
      <p:ext uri="{BB962C8B-B14F-4D97-AF65-F5344CB8AC3E}">
        <p14:creationId xmlns:p14="http://schemas.microsoft.com/office/powerpoint/2010/main" val="305005152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C0ADE-DBDF-0792-964A-2C7BEF59C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B9F850-71BA-B902-B075-654D3DAB110F}"/>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Flags </a:t>
            </a:r>
          </a:p>
        </p:txBody>
      </p:sp>
    </p:spTree>
    <p:extLst>
      <p:ext uri="{BB962C8B-B14F-4D97-AF65-F5344CB8AC3E}">
        <p14:creationId xmlns:p14="http://schemas.microsoft.com/office/powerpoint/2010/main" val="2955497129"/>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A3F1E-2965-B4D0-3E11-7593FC393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6805B7-E12F-774A-0198-AE4A3508B445}"/>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Business </a:t>
            </a:r>
          </a:p>
        </p:txBody>
      </p:sp>
    </p:spTree>
    <p:extLst>
      <p:ext uri="{BB962C8B-B14F-4D97-AF65-F5344CB8AC3E}">
        <p14:creationId xmlns:p14="http://schemas.microsoft.com/office/powerpoint/2010/main" val="2094224132"/>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E1AB8-79AE-79E8-551A-E7F5C95C9D1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E89A587-8646-37C5-15B3-CF433F977873}"/>
              </a:ext>
            </a:extLst>
          </p:cNvPr>
          <p:cNvSpPr>
            <a:spLocks noGrp="1"/>
          </p:cNvSpPr>
          <p:nvPr>
            <p:ph idx="1"/>
          </p:nvPr>
        </p:nvSpPr>
        <p:spPr>
          <a:xfrm>
            <a:off x="118532" y="1732449"/>
            <a:ext cx="11988801" cy="4058751"/>
          </a:xfrm>
        </p:spPr>
        <p:txBody>
          <a:bodyPr/>
          <a:lstStyle/>
          <a:p>
            <a:pPr algn="r" rtl="1"/>
            <a:r>
              <a:rPr lang="ar-EG"/>
              <a:t>نتحدث الأن عن الطلب: </a:t>
            </a:r>
          </a:p>
          <a:p>
            <a:pPr lvl="1" algn="r" rtl="1"/>
            <a:r>
              <a:rPr lang="ar-EG"/>
              <a:t>الطلب يرفض نهائي اذا الضامن الأول تم رفضه وقام العميل بجلب ضامن ثاني وتم رفضه أيضا وقام العميل بجلب ضامن ثالث وتم رفضه أيضا</a:t>
            </a:r>
          </a:p>
          <a:p>
            <a:pPr lvl="1" algn="r" rtl="1"/>
            <a:r>
              <a:rPr lang="ar-EG"/>
              <a:t>عدد الضامنين الذي تم رفضهم هم 3 وهذا يتسبب برفض نهائي للطلب </a:t>
            </a:r>
          </a:p>
          <a:p>
            <a:pPr lvl="1" algn="r" rtl="1"/>
            <a:r>
              <a:rPr lang="ar-EG" sz="1750"/>
              <a:t>من أين قمنا بتحديد ان عدد الضامنين الذي يجب رفضهم حتى يؤدي الى الرفض النهائي للطلب </a:t>
            </a:r>
            <a:r>
              <a:rPr lang="en-US" sz="1750"/>
              <a:t>[ GeneralSetting. MaxGuarantorsPerRequest ]</a:t>
            </a:r>
          </a:p>
        </p:txBody>
      </p:sp>
    </p:spTree>
    <p:extLst>
      <p:ext uri="{BB962C8B-B14F-4D97-AF65-F5344CB8AC3E}">
        <p14:creationId xmlns:p14="http://schemas.microsoft.com/office/powerpoint/2010/main" val="2091502202"/>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3DED6-22F4-15CA-2A6A-9D91BD5D3488}"/>
              </a:ext>
            </a:extLst>
          </p:cNvPr>
          <p:cNvSpPr>
            <a:spLocks noGrp="1"/>
          </p:cNvSpPr>
          <p:nvPr>
            <p:ph type="title"/>
          </p:nvPr>
        </p:nvSpPr>
        <p:spPr>
          <a:xfrm>
            <a:off x="919119" y="0"/>
            <a:ext cx="10353762" cy="638175"/>
          </a:xfrm>
        </p:spPr>
        <p:txBody>
          <a:bodyPr>
            <a:normAutofit fontScale="90000"/>
          </a:bodyPr>
          <a:lstStyle/>
          <a:p>
            <a:r>
              <a:rPr lang="ar-EG" b="1"/>
              <a:t>كود الصرف</a:t>
            </a:r>
            <a:endParaRPr lang="en-US" b="1"/>
          </a:p>
        </p:txBody>
      </p:sp>
      <p:sp>
        <p:nvSpPr>
          <p:cNvPr id="3" name="Content Placeholder 2">
            <a:extLst>
              <a:ext uri="{FF2B5EF4-FFF2-40B4-BE49-F238E27FC236}">
                <a16:creationId xmlns:a16="http://schemas.microsoft.com/office/drawing/2014/main" id="{1BDC2FFF-A4D8-FFB0-91AA-2878DCABA0BE}"/>
              </a:ext>
            </a:extLst>
          </p:cNvPr>
          <p:cNvSpPr>
            <a:spLocks noGrp="1"/>
          </p:cNvSpPr>
          <p:nvPr>
            <p:ph idx="1"/>
          </p:nvPr>
        </p:nvSpPr>
        <p:spPr>
          <a:xfrm>
            <a:off x="161925" y="781050"/>
            <a:ext cx="11896726" cy="5829300"/>
          </a:xfrm>
        </p:spPr>
        <p:txBody>
          <a:bodyPr/>
          <a:lstStyle/>
          <a:p>
            <a:pPr algn="r" rtl="1"/>
            <a:r>
              <a:rPr lang="ar-EG" sz="1800" b="1"/>
              <a:t>هناك حد أقصى من المرات لارسال كود الصرف, يتم تحديده داخل جدول الاعدادات العامة , </a:t>
            </a:r>
            <a:r>
              <a:rPr lang="en-US" sz="1800" b="1"/>
              <a:t>GeneralSetting.</a:t>
            </a:r>
            <a:r>
              <a:rPr lang="en-US" sz="1800" b="1">
                <a:solidFill>
                  <a:srgbClr val="00B0F0"/>
                </a:solidFill>
              </a:rPr>
              <a:t>MaxDisbursementCode</a:t>
            </a:r>
            <a:endParaRPr lang="ar-EG" sz="1800" b="1">
              <a:solidFill>
                <a:srgbClr val="00B0F0"/>
              </a:solidFill>
            </a:endParaRPr>
          </a:p>
          <a:p>
            <a:pPr algn="r" rtl="1"/>
            <a:endParaRPr lang="en-US"/>
          </a:p>
          <a:p>
            <a:pPr algn="r" rtl="1"/>
            <a:endParaRPr lang="en-US"/>
          </a:p>
          <a:p>
            <a:pPr algn="r" rtl="1"/>
            <a:endParaRPr lang="en-US"/>
          </a:p>
          <a:p>
            <a:pPr algn="r" rtl="1"/>
            <a:endParaRPr lang="en-US"/>
          </a:p>
          <a:p>
            <a:pPr algn="r" rtl="1"/>
            <a:endParaRPr lang="en-US"/>
          </a:p>
        </p:txBody>
      </p:sp>
    </p:spTree>
    <p:extLst>
      <p:ext uri="{BB962C8B-B14F-4D97-AF65-F5344CB8AC3E}">
        <p14:creationId xmlns:p14="http://schemas.microsoft.com/office/powerpoint/2010/main" val="875382961"/>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122C-ACD3-997A-85C4-6A7393075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A881A-ECB8-051A-0A23-D8C5050AACC1}"/>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Business </a:t>
            </a:r>
          </a:p>
        </p:txBody>
      </p:sp>
    </p:spTree>
    <p:extLst>
      <p:ext uri="{BB962C8B-B14F-4D97-AF65-F5344CB8AC3E}">
        <p14:creationId xmlns:p14="http://schemas.microsoft.com/office/powerpoint/2010/main" val="2467773385"/>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B9A59-9617-2A4F-E00B-3E815ED2E44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CC29CDC-CF46-8F95-E72B-FF5FBD15CF5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61074647"/>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08B3F-BBCE-4B06-6F6B-2A0362ABB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F2E43-0929-0B68-9DE6-93FDEB438C3B}"/>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Start Rescheduling </a:t>
            </a:r>
            <a:endParaRPr lang="en-US" sz="7200" b="1">
              <a:solidFill>
                <a:srgbClr val="FF0000"/>
              </a:solidFill>
            </a:endParaRPr>
          </a:p>
        </p:txBody>
      </p:sp>
    </p:spTree>
    <p:extLst>
      <p:ext uri="{BB962C8B-B14F-4D97-AF65-F5344CB8AC3E}">
        <p14:creationId xmlns:p14="http://schemas.microsoft.com/office/powerpoint/2010/main" val="12840316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04AEA6-0C13-CCC6-F36F-B507BB1198CF}"/>
              </a:ext>
            </a:extLst>
          </p:cNvPr>
          <p:cNvSpPr>
            <a:spLocks noGrp="1"/>
          </p:cNvSpPr>
          <p:nvPr>
            <p:ph type="title"/>
          </p:nvPr>
        </p:nvSpPr>
        <p:spPr>
          <a:xfrm>
            <a:off x="457200" y="0"/>
            <a:ext cx="11382375" cy="970450"/>
          </a:xfrm>
        </p:spPr>
        <p:txBody>
          <a:bodyPr/>
          <a:lstStyle/>
          <a:p>
            <a:endParaRPr lang="en-US"/>
          </a:p>
        </p:txBody>
      </p:sp>
      <p:sp>
        <p:nvSpPr>
          <p:cNvPr id="3" name="Content Placeholder 2">
            <a:extLst>
              <a:ext uri="{FF2B5EF4-FFF2-40B4-BE49-F238E27FC236}">
                <a16:creationId xmlns:a16="http://schemas.microsoft.com/office/drawing/2014/main" id="{927182DD-FA97-662E-7C11-C3C1DC61CDF1}"/>
              </a:ext>
            </a:extLst>
          </p:cNvPr>
          <p:cNvSpPr>
            <a:spLocks noGrp="1"/>
          </p:cNvSpPr>
          <p:nvPr>
            <p:ph idx="1"/>
          </p:nvPr>
        </p:nvSpPr>
        <p:spPr>
          <a:xfrm>
            <a:off x="219075" y="970451"/>
            <a:ext cx="11525250" cy="5506550"/>
          </a:xfrm>
        </p:spPr>
        <p:txBody>
          <a:bodyPr>
            <a:normAutofit/>
          </a:bodyPr>
          <a:lstStyle/>
          <a:p>
            <a:r>
              <a:rPr lang="en-US" sz="2400" b="1">
                <a:solidFill>
                  <a:srgbClr val="FFFF00"/>
                </a:solidFill>
              </a:rPr>
              <a:t>RSC</a:t>
            </a:r>
            <a:r>
              <a:rPr lang="en-US" sz="2400" b="1"/>
              <a:t>.</a:t>
            </a:r>
            <a:r>
              <a:rPr lang="en-US" sz="2400" b="1">
                <a:solidFill>
                  <a:srgbClr val="FF0000"/>
                </a:solidFill>
              </a:rPr>
              <a:t>ReschedulingStatus</a:t>
            </a:r>
          </a:p>
          <a:p>
            <a:endParaRPr lang="en-US" sz="2400"/>
          </a:p>
          <a:p>
            <a:endParaRPr lang="en-US" sz="2400"/>
          </a:p>
        </p:txBody>
      </p:sp>
      <p:pic>
        <p:nvPicPr>
          <p:cNvPr id="5" name="Picture 4">
            <a:extLst>
              <a:ext uri="{FF2B5EF4-FFF2-40B4-BE49-F238E27FC236}">
                <a16:creationId xmlns:a16="http://schemas.microsoft.com/office/drawing/2014/main" id="{97EBD739-CC2B-BA65-8073-18F721CE8BE1}"/>
              </a:ext>
            </a:extLst>
          </p:cNvPr>
          <p:cNvPicPr>
            <a:picLocks noChangeAspect="1"/>
          </p:cNvPicPr>
          <p:nvPr/>
        </p:nvPicPr>
        <p:blipFill>
          <a:blip r:embed="rId2"/>
          <a:stretch>
            <a:fillRect/>
          </a:stretch>
        </p:blipFill>
        <p:spPr>
          <a:xfrm>
            <a:off x="4015585" y="1954468"/>
            <a:ext cx="5810754" cy="2331782"/>
          </a:xfrm>
          <a:prstGeom prst="rect">
            <a:avLst/>
          </a:prstGeom>
        </p:spPr>
      </p:pic>
    </p:spTree>
    <p:extLst>
      <p:ext uri="{BB962C8B-B14F-4D97-AF65-F5344CB8AC3E}">
        <p14:creationId xmlns:p14="http://schemas.microsoft.com/office/powerpoint/2010/main" val="59465009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D23B9-E8C5-304B-F154-AFBB3424B28C}"/>
              </a:ext>
            </a:extLst>
          </p:cNvPr>
          <p:cNvSpPr>
            <a:spLocks noGrp="1"/>
          </p:cNvSpPr>
          <p:nvPr>
            <p:ph type="title"/>
          </p:nvPr>
        </p:nvSpPr>
        <p:spPr>
          <a:xfrm>
            <a:off x="913795" y="0"/>
            <a:ext cx="10353762" cy="723900"/>
          </a:xfrm>
        </p:spPr>
        <p:txBody>
          <a:bodyPr/>
          <a:lstStyle/>
          <a:p>
            <a:r>
              <a:rPr lang="en-US" b="1"/>
              <a:t>RSC.ReschedulingCustomers</a:t>
            </a:r>
          </a:p>
        </p:txBody>
      </p:sp>
      <p:sp>
        <p:nvSpPr>
          <p:cNvPr id="3" name="Content Placeholder 2">
            <a:extLst>
              <a:ext uri="{FF2B5EF4-FFF2-40B4-BE49-F238E27FC236}">
                <a16:creationId xmlns:a16="http://schemas.microsoft.com/office/drawing/2014/main" id="{E347DC07-390D-DBA0-BAD0-F9BB4515BCD6}"/>
              </a:ext>
            </a:extLst>
          </p:cNvPr>
          <p:cNvSpPr>
            <a:spLocks noGrp="1"/>
          </p:cNvSpPr>
          <p:nvPr>
            <p:ph idx="1"/>
          </p:nvPr>
        </p:nvSpPr>
        <p:spPr>
          <a:xfrm>
            <a:off x="104775" y="723901"/>
            <a:ext cx="11944350" cy="5991224"/>
          </a:xfrm>
        </p:spPr>
        <p:txBody>
          <a:bodyPr/>
          <a:lstStyle/>
          <a:p>
            <a:r>
              <a:rPr lang="en-US" b="1"/>
              <a:t>RC_ID: PK</a:t>
            </a:r>
          </a:p>
          <a:p>
            <a:r>
              <a:rPr lang="en-US" b="1"/>
              <a:t>RequestId: FK from Request</a:t>
            </a:r>
          </a:p>
        </p:txBody>
      </p:sp>
    </p:spTree>
    <p:extLst>
      <p:ext uri="{BB962C8B-B14F-4D97-AF65-F5344CB8AC3E}">
        <p14:creationId xmlns:p14="http://schemas.microsoft.com/office/powerpoint/2010/main" val="1228773398"/>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D69E1-8549-3945-3074-ADD9ECC48C5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16D4400-9700-CA84-906A-997ACEC7AA59}"/>
              </a:ext>
            </a:extLst>
          </p:cNvPr>
          <p:cNvSpPr>
            <a:spLocks noGrp="1"/>
          </p:cNvSpPr>
          <p:nvPr>
            <p:ph idx="1"/>
          </p:nvPr>
        </p:nvSpPr>
        <p:spPr/>
        <p:txBody>
          <a:bodyPr/>
          <a:lstStyle/>
          <a:p>
            <a:r>
              <a:rPr lang="en-US"/>
              <a:t>We have customer and guarantor rescheduling</a:t>
            </a:r>
          </a:p>
          <a:p>
            <a:endParaRPr lang="en-US"/>
          </a:p>
        </p:txBody>
      </p:sp>
    </p:spTree>
    <p:extLst>
      <p:ext uri="{BB962C8B-B14F-4D97-AF65-F5344CB8AC3E}">
        <p14:creationId xmlns:p14="http://schemas.microsoft.com/office/powerpoint/2010/main" val="155838339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95E24-384E-0743-3718-89B3183842D0}"/>
              </a:ext>
            </a:extLst>
          </p:cNvPr>
          <p:cNvSpPr>
            <a:spLocks noGrp="1"/>
          </p:cNvSpPr>
          <p:nvPr>
            <p:ph type="title"/>
          </p:nvPr>
        </p:nvSpPr>
        <p:spPr>
          <a:xfrm>
            <a:off x="919119" y="1"/>
            <a:ext cx="10353762" cy="609600"/>
          </a:xfrm>
        </p:spPr>
        <p:txBody>
          <a:bodyPr>
            <a:normAutofit fontScale="90000"/>
          </a:bodyPr>
          <a:lstStyle/>
          <a:p>
            <a:endParaRPr lang="en-US"/>
          </a:p>
        </p:txBody>
      </p:sp>
      <p:sp>
        <p:nvSpPr>
          <p:cNvPr id="3" name="Content Placeholder 2">
            <a:extLst>
              <a:ext uri="{FF2B5EF4-FFF2-40B4-BE49-F238E27FC236}">
                <a16:creationId xmlns:a16="http://schemas.microsoft.com/office/drawing/2014/main" id="{5F4DE71E-CAC6-3368-A7B0-C765AC618938}"/>
              </a:ext>
            </a:extLst>
          </p:cNvPr>
          <p:cNvSpPr>
            <a:spLocks noGrp="1"/>
          </p:cNvSpPr>
          <p:nvPr>
            <p:ph idx="1"/>
          </p:nvPr>
        </p:nvSpPr>
        <p:spPr>
          <a:xfrm>
            <a:off x="913795" y="857250"/>
            <a:ext cx="10353762" cy="5791199"/>
          </a:xfrm>
        </p:spPr>
        <p:txBody>
          <a:bodyPr/>
          <a:lstStyle/>
          <a:p>
            <a:r>
              <a:rPr lang="en-US" sz="2200" b="1">
                <a:solidFill>
                  <a:srgbClr val="FFFF00"/>
                </a:solidFill>
              </a:rPr>
              <a:t>RSC</a:t>
            </a:r>
            <a:r>
              <a:rPr lang="en-US" sz="2200"/>
              <a:t>.</a:t>
            </a:r>
            <a:r>
              <a:rPr lang="en-US" sz="2200" b="1">
                <a:solidFill>
                  <a:srgbClr val="00B0F0"/>
                </a:solidFill>
              </a:rPr>
              <a:t>ReschedulingCustomers</a:t>
            </a:r>
          </a:p>
          <a:p>
            <a:r>
              <a:rPr lang="en-US"/>
              <a:t>cust_guar:</a:t>
            </a:r>
          </a:p>
          <a:p>
            <a:pPr lvl="1"/>
            <a:r>
              <a:rPr lang="en-US" b="1"/>
              <a:t>1 [ </a:t>
            </a:r>
            <a:r>
              <a:rPr lang="ar-EG" b="1"/>
              <a:t>عميل</a:t>
            </a:r>
            <a:r>
              <a:rPr lang="en-US" b="1"/>
              <a:t> ]</a:t>
            </a:r>
            <a:endParaRPr lang="ar-EG" b="1"/>
          </a:p>
          <a:p>
            <a:pPr lvl="1"/>
            <a:r>
              <a:rPr lang="en-US" b="1"/>
              <a:t>2 [ </a:t>
            </a:r>
            <a:r>
              <a:rPr lang="ar-EG" b="1"/>
              <a:t>ضامن</a:t>
            </a:r>
            <a:r>
              <a:rPr lang="en-US" b="1"/>
              <a:t> ]</a:t>
            </a:r>
          </a:p>
          <a:p>
            <a:endParaRPr lang="en-US"/>
          </a:p>
          <a:p>
            <a:endParaRPr lang="en-US"/>
          </a:p>
          <a:p>
            <a:endParaRPr lang="en-US"/>
          </a:p>
          <a:p>
            <a:endParaRPr lang="en-US"/>
          </a:p>
        </p:txBody>
      </p:sp>
    </p:spTree>
    <p:extLst>
      <p:ext uri="{BB962C8B-B14F-4D97-AF65-F5344CB8AC3E}">
        <p14:creationId xmlns:p14="http://schemas.microsoft.com/office/powerpoint/2010/main" val="2951473903"/>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3F17D-684B-4848-F94F-3638FEDFF5C7}"/>
              </a:ext>
            </a:extLst>
          </p:cNvPr>
          <p:cNvSpPr>
            <a:spLocks noGrp="1"/>
          </p:cNvSpPr>
          <p:nvPr>
            <p:ph type="title"/>
          </p:nvPr>
        </p:nvSpPr>
        <p:spPr>
          <a:xfrm>
            <a:off x="237067" y="609600"/>
            <a:ext cx="11030490" cy="970450"/>
          </a:xfrm>
        </p:spPr>
        <p:txBody>
          <a:bodyPr/>
          <a:lstStyle/>
          <a:p>
            <a:endParaRPr lang="en-US"/>
          </a:p>
        </p:txBody>
      </p:sp>
      <p:sp>
        <p:nvSpPr>
          <p:cNvPr id="3" name="Content Placeholder 2">
            <a:extLst>
              <a:ext uri="{FF2B5EF4-FFF2-40B4-BE49-F238E27FC236}">
                <a16:creationId xmlns:a16="http://schemas.microsoft.com/office/drawing/2014/main" id="{8CAEAFE6-ECA7-118B-D10E-08E459816E6D}"/>
              </a:ext>
            </a:extLst>
          </p:cNvPr>
          <p:cNvSpPr>
            <a:spLocks noGrp="1"/>
          </p:cNvSpPr>
          <p:nvPr>
            <p:ph idx="1"/>
          </p:nvPr>
        </p:nvSpPr>
        <p:spPr>
          <a:xfrm>
            <a:off x="0" y="1732449"/>
            <a:ext cx="12191999" cy="4944576"/>
          </a:xfrm>
        </p:spPr>
        <p:txBody>
          <a:bodyPr/>
          <a:lstStyle/>
          <a:p>
            <a:r>
              <a:rPr lang="en-US"/>
              <a:t>To calc </a:t>
            </a:r>
            <a:r>
              <a:rPr lang="ar-EG"/>
              <a:t>إجمالي المديونية المستحقة</a:t>
            </a:r>
          </a:p>
          <a:p>
            <a:pPr lvl="1"/>
            <a:r>
              <a:rPr lang="en-US" sz="1600" b="1"/>
              <a:t>From Trans.</a:t>
            </a:r>
            <a:r>
              <a:rPr lang="en-US" sz="1600" b="1">
                <a:solidFill>
                  <a:srgbClr val="00B0F0"/>
                </a:solidFill>
              </a:rPr>
              <a:t>Trans_Premiums </a:t>
            </a:r>
            <a:r>
              <a:rPr lang="en-US" sz="1600" b="1"/>
              <a:t>get</a:t>
            </a:r>
            <a:r>
              <a:rPr lang="en-US" sz="1600" b="1">
                <a:solidFill>
                  <a:srgbClr val="00B0F0"/>
                </a:solidFill>
              </a:rPr>
              <a:t> </a:t>
            </a:r>
            <a:r>
              <a:rPr lang="en-US" sz="1600" b="1"/>
              <a:t>Sum (</a:t>
            </a:r>
            <a:r>
              <a:rPr lang="en-US" sz="1600" b="1">
                <a:solidFill>
                  <a:srgbClr val="FFFF00"/>
                </a:solidFill>
              </a:rPr>
              <a:t>Primium_Value</a:t>
            </a:r>
            <a:r>
              <a:rPr lang="en-US" sz="1600" b="1"/>
              <a:t> - </a:t>
            </a:r>
            <a:r>
              <a:rPr lang="en-US" sz="1600" b="1">
                <a:solidFill>
                  <a:srgbClr val="FFFF00"/>
                </a:solidFill>
              </a:rPr>
              <a:t>Settlement_Value</a:t>
            </a:r>
            <a:r>
              <a:rPr lang="en-US" sz="1600" b="1"/>
              <a:t>)</a:t>
            </a:r>
            <a:r>
              <a:rPr lang="en-US" sz="1600"/>
              <a:t>  where requestId = requestId + Req.</a:t>
            </a:r>
            <a:r>
              <a:rPr lang="en-US" sz="1600" b="1">
                <a:solidFill>
                  <a:srgbClr val="FFFF00"/>
                </a:solidFill>
              </a:rPr>
              <a:t>PenaltyAmount</a:t>
            </a:r>
          </a:p>
          <a:p>
            <a:pPr lvl="1"/>
            <a:endParaRPr lang="en-US" sz="1600"/>
          </a:p>
        </p:txBody>
      </p:sp>
    </p:spTree>
    <p:extLst>
      <p:ext uri="{BB962C8B-B14F-4D97-AF65-F5344CB8AC3E}">
        <p14:creationId xmlns:p14="http://schemas.microsoft.com/office/powerpoint/2010/main" val="301319652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F696A-F985-C178-7BF6-6971A7F22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87C496-F81E-F51C-56CC-F894FC24802D}"/>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End Rescheduling </a:t>
            </a:r>
            <a:endParaRPr lang="en-US" sz="7200" b="1">
              <a:solidFill>
                <a:srgbClr val="FF0000"/>
              </a:solidFill>
            </a:endParaRPr>
          </a:p>
        </p:txBody>
      </p:sp>
    </p:spTree>
    <p:extLst>
      <p:ext uri="{BB962C8B-B14F-4D97-AF65-F5344CB8AC3E}">
        <p14:creationId xmlns:p14="http://schemas.microsoft.com/office/powerpoint/2010/main" val="446180233"/>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6373467" cy="6172198"/>
          </a:xfrm>
        </p:spPr>
        <p:txBody>
          <a:bodyPr/>
          <a:lstStyle/>
          <a:p>
            <a:r>
              <a:rPr lang="en-US"/>
              <a:t>At Tamweely.Infrastructure.Data / migrations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90679</TotalTime>
  <Words>11577</Words>
  <Application>Microsoft Office PowerPoint</Application>
  <PresentationFormat>Widescreen</PresentationFormat>
  <Paragraphs>1657</Paragraphs>
  <Slides>214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214</vt:i4>
      </vt:variant>
    </vt:vector>
  </HeadingPairs>
  <TitlesOfParts>
    <vt:vector size="218" baseType="lpstr">
      <vt:lpstr>Arial</vt:lpstr>
      <vt:lpstr>Calisto MT</vt:lpstr>
      <vt:lpstr>Wingdings 2</vt:lpstr>
      <vt:lpstr>Slate</vt:lpstr>
      <vt:lpstr>Micro Business </vt:lpstr>
      <vt:lpstr>MICRO, Core, Master</vt:lpstr>
      <vt:lpstr>Micro, Master, Core Flow Steps</vt:lpstr>
      <vt:lpstr>Start Funding Request: R111</vt:lpstr>
      <vt:lpstr>LO click on طلب جديد</vt:lpstr>
      <vt:lpstr>LO Select Funding Type [ نوع التمويل ]</vt:lpstr>
      <vt:lpstr>When click on اسم العميل  After write customer Id</vt:lpstr>
      <vt:lpstr>At customer, بيانات الاتصال</vt:lpstr>
      <vt:lpstr>After user fill all customer data and add it</vt:lpstr>
      <vt:lpstr>When Saving Request for the first time VIA LO</vt:lpstr>
      <vt:lpstr>When Saving Request for the first time VIA LO [cont.1]</vt:lpstr>
      <vt:lpstr>When Saving Request for the first time VIA LO [cont.2]</vt:lpstr>
      <vt:lpstr>When Saving Request for the first time VIA LO [cont.3]</vt:lpstr>
      <vt:lpstr>When Saving Request for the first time VIA LO [cont.4]</vt:lpstr>
      <vt:lpstr>When Saving Request for the first time VIA LO [cont.5]</vt:lpstr>
      <vt:lpstr>When Saving Request for the first time VIA LO [cont.6]</vt:lpstr>
      <vt:lpstr>When Saving Request for the first time VIA LO [cont.7]</vt:lpstr>
      <vt:lpstr>When Saving Request for the first time VIA LO [cont.8]</vt:lpstr>
      <vt:lpstr>When Saving Request for the first time VIA LO [cont.9]</vt:lpstr>
      <vt:lpstr>When Saving Request for the first time VIA LO [cont.10]</vt:lpstr>
      <vt:lpstr>When Saving Request for the first time VIA LO [cont.10]</vt:lpstr>
      <vt:lpstr>The uploaded files in this stage</vt:lpstr>
      <vt:lpstr>When Saving Request for the first time VIA LO [cont.9]</vt:lpstr>
      <vt:lpstr>When Saving Request for the first time VIA LO [cont.9]</vt:lpstr>
      <vt:lpstr>After LO حفظ وإرسال</vt:lpstr>
      <vt:lpstr>End Funding Request (R111)</vt:lpstr>
      <vt:lpstr>Start Initial Review مراجعة أولية (CO1010)</vt:lpstr>
      <vt:lpstr>When CO Opens Funding Request</vt:lpstr>
      <vt:lpstr>When CO click on tab مراجعة المسئول الأول</vt:lpstr>
      <vt:lpstr>When CO click on tab المستندات</vt:lpstr>
      <vt:lpstr>When CO click on أسباب الرفض </vt:lpstr>
      <vt:lpstr>When CO at tab مراجعة المسئول الأول </vt:lpstr>
      <vt:lpstr>When CO at tab مراجعة المسئول الأول  [ cont.]</vt:lpstr>
      <vt:lpstr>When CO at tab مراجعة المسئول الأول  [ cont.2]</vt:lpstr>
      <vt:lpstr>The Rejected requests at LO </vt:lpstr>
      <vt:lpstr>After CO Accept the request</vt:lpstr>
      <vt:lpstr>End Initial Review مراجعة أولية (CO1010)</vt:lpstr>
      <vt:lpstr>Start Field visit: زيارة ميدانية, CO1311, CO</vt:lpstr>
      <vt:lpstr>الزيارة الميدانية للعميل</vt:lpstr>
      <vt:lpstr>الزيارة الميدانية للعميل</vt:lpstr>
      <vt:lpstr>الزيارة الميدانية للعميل</vt:lpstr>
      <vt:lpstr>الزيارة الميدانية للعميل</vt:lpstr>
      <vt:lpstr>الزيارة الميدانية للعميل</vt:lpstr>
      <vt:lpstr>حفظ جميع بيانات الزيارة الميدانية للعميل</vt:lpstr>
      <vt:lpstr>TDWF.Flow_FieldVisits_main</vt:lpstr>
      <vt:lpstr>TDWF.Flow_FieldVisits_Client</vt:lpstr>
      <vt:lpstr>TDWF.Flow_FieldVisits_FieldInquiry</vt:lpstr>
      <vt:lpstr>الزيارة الميدانية للضامن</vt:lpstr>
      <vt:lpstr>الزيارة الميدانية للضامن</vt:lpstr>
      <vt:lpstr>الزيارة الميدانية للضامن</vt:lpstr>
      <vt:lpstr>حفظ جميع بيانات الزيارة الميدانية للضامن</vt:lpstr>
      <vt:lpstr>حفظ جميع بيانات الزيارة الميدانية للضامن</vt:lpstr>
      <vt:lpstr>حفظ جميع بيانات الزيارة الميدانية للضامن</vt:lpstr>
      <vt:lpstr>بيانات المنشأة</vt:lpstr>
      <vt:lpstr>بيانات المنشأة</vt:lpstr>
      <vt:lpstr>التحليل المالي</vt:lpstr>
      <vt:lpstr>TDWF.Flow_FieldVisits_FinancialAnalysis [التحليل المالي]</vt:lpstr>
      <vt:lpstr>TDWF.Flow_FieldVisits_StatisticsData</vt:lpstr>
      <vt:lpstr>After CO Accept the request</vt:lpstr>
      <vt:lpstr>End Field visit: زيارة ميدانية, CO1311, CO</vt:lpstr>
      <vt:lpstr>Start Credit Analysis, CA1211, [ تحليل ائتماني ]</vt:lpstr>
      <vt:lpstr>TDWF.Flow_Credit_Analysis</vt:lpstr>
      <vt:lpstr>End Credit Analysis, CA1211, [ تحليل ائتماني ]</vt:lpstr>
      <vt:lpstr>Start Uploading Documents: تحميل المستندات, BM, DU77</vt:lpstr>
      <vt:lpstr>After حفظ المستندات</vt:lpstr>
      <vt:lpstr>After BM Accept the request</vt:lpstr>
      <vt:lpstr>End Uploading Documents: تحميل المستندات, BM, DU77</vt:lpstr>
      <vt:lpstr>TWF. Flow_branch_product</vt:lpstr>
      <vt:lpstr>TWF.Flow_Emp_Product</vt:lpstr>
      <vt:lpstr>TWF.Flow_Contact_Us</vt:lpstr>
      <vt:lpstr>Trans.Trans_GPS_Tracking</vt:lpstr>
      <vt:lpstr>Lookup.Branch</vt:lpstr>
      <vt:lpstr>TWF.Flow_GeneralSettings</vt:lpstr>
      <vt:lpstr>TWF.Flow_Status_Funding_Request</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TDWF.Flow_Request_Deportation [cont. 7]</vt:lpstr>
      <vt:lpstr>TDWF.Flow_Request_Deportation [cont. 8]</vt:lpstr>
      <vt:lpstr>TDWF.Flow_Requests_Log</vt:lpstr>
      <vt:lpstr>TDWF.Flow_Requests_Log (cont.1)</vt:lpstr>
      <vt:lpstr>TDWF.Flow_Requests_Log (cont.2)</vt:lpstr>
      <vt:lpstr>TDWF.Flow_Requests_Log (cont.2)</vt:lpstr>
      <vt:lpstr>start 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vt:lpstr>
      <vt:lpstr>SWF.Flow_Main_activity</vt:lpstr>
      <vt:lpstr>SWF.Flow_Sub_activities</vt:lpstr>
      <vt:lpstr>SWF.Flow_Relationships</vt:lpstr>
      <vt:lpstr>SWF.Flow_Customers_jobs</vt:lpstr>
      <vt:lpstr>SWF.Flow_districts</vt:lpstr>
      <vt:lpstr>SWF.Flow_Sections</vt:lpstr>
      <vt:lpstr>SWF.Flow_Identity_Expiry</vt:lpstr>
      <vt:lpstr>SWF.Flow_Exchange_Destinations</vt:lpstr>
      <vt:lpstr>End SWF setup work flow</vt:lpstr>
      <vt:lpstr>Start Risk</vt:lpstr>
      <vt:lpstr>TWF.Flow_Risk_Branch</vt:lpstr>
      <vt:lpstr>TWF.Flow_Risk_Responsible</vt:lpstr>
      <vt:lpstr>TWF.Flow_identi_risks_admin</vt:lpstr>
      <vt:lpstr>End Risk</vt:lpstr>
      <vt:lpstr>TWT.Flow_Products</vt:lpstr>
      <vt:lpstr>TWT.Flow_Products [cont.]</vt:lpstr>
      <vt:lpstr>TWF.Flow_Exempted_Products</vt:lpstr>
      <vt:lpstr>TWF.Flow_Customers</vt:lpstr>
      <vt:lpstr>TWF.Flow_Enterprises</vt:lpstr>
      <vt:lpstr>Company entity</vt:lpstr>
      <vt:lpstr>Acc_Chart_Account entity</vt:lpstr>
      <vt:lpstr>Start Security</vt:lpstr>
      <vt:lpstr>Security.Sec_APIs</vt:lpstr>
      <vt:lpstr>Security.Sec_Api_Pages</vt:lpstr>
      <vt:lpstr>Security.SEC_Action</vt:lpstr>
      <vt:lpstr>Security.SEC_Group</vt:lpstr>
      <vt:lpstr>Security.SEC_Group_Action</vt:lpstr>
      <vt:lpstr>Security.SEC_User_Action</vt:lpstr>
      <vt:lpstr>Security.SEC_User_gruop</vt:lpstr>
      <vt:lpstr>Security.SEC_Menu</vt:lpstr>
      <vt:lpstr>Security.SEC_User_Role_MenuAction</vt:lpstr>
      <vt:lpstr>End Security</vt:lpstr>
      <vt:lpstr>Trans.Trans_BusDate [ تاريخ اليومية ] </vt:lpstr>
      <vt:lpstr>TWF.Flow_ISCORE</vt:lpstr>
      <vt:lpstr>TWF. Flow_Risks</vt:lpstr>
      <vt:lpstr>Security. SEC_Access_tokens</vt:lpstr>
      <vt:lpstr>SWF.Flow_definition_expenditure</vt:lpstr>
      <vt:lpstr>TWF.Flow_select_definitioExp</vt:lpstr>
      <vt:lpstr>Start DOCS</vt:lpstr>
      <vt:lpstr>SWF.Flow_Types_documents</vt:lpstr>
      <vt:lpstr>TWF.Flow_MandatoryDoc</vt:lpstr>
      <vt:lpstr>TWF.TWF_Download DB table,  Flow_Download class</vt:lpstr>
      <vt:lpstr>documentsFiles</vt:lpstr>
      <vt:lpstr>to know how to GET request docs</vt:lpstr>
      <vt:lpstr>END DOCS</vt:lpstr>
      <vt:lpstr>Start IScore</vt:lpstr>
      <vt:lpstr>TWF.IScore_Degree</vt:lpstr>
      <vt:lpstr>TWF.Flow_ISCORE</vt:lpstr>
      <vt:lpstr>TWF.Flow_ISCORE_Data</vt:lpstr>
      <vt:lpstr>TWF.Flow_Transfer_Iscore</vt:lpstr>
      <vt:lpstr>TWF.Flow_log_Iscore_Test</vt:lpstr>
      <vt:lpstr>TWF.Flow_Iscore_Param</vt:lpstr>
      <vt:lpstr>SWF.Flow_IScore_Query_Type</vt:lpstr>
      <vt:lpstr>TWF.Flow_Iscore_Param_Notifi</vt:lpstr>
      <vt:lpstr>شاشة اعادة تحميل الأي سكور</vt:lpstr>
      <vt:lpstr>When choosing requests and reload them</vt:lpstr>
      <vt:lpstr>String IscoreEnquery (Flow_Transfer_Iscore, Request.CreationDate)</vt:lpstr>
      <vt:lpstr>IsCore Enquiry Result</vt:lpstr>
      <vt:lpstr>What IscoreDataFound method do</vt:lpstr>
      <vt:lpstr>What callTransferIscore( Flow_Transfer_Iscore  row,   item.Loan_Code ,  request.Creation_Data ) method do</vt:lpstr>
      <vt:lpstr>What callTransferIscore do [cont.]</vt:lpstr>
      <vt:lpstr>PowerPoint Presentation</vt:lpstr>
      <vt:lpstr>Host</vt:lpstr>
      <vt:lpstr>END IScore</vt:lpstr>
      <vt:lpstr>Start Forget Password</vt:lpstr>
      <vt:lpstr>Lookup.ForgetPasswordOTP</vt:lpstr>
      <vt:lpstr>Forget password</vt:lpstr>
      <vt:lpstr>steps</vt:lpstr>
      <vt:lpstr>Steps [ cont .] </vt:lpstr>
      <vt:lpstr>End Forget Password</vt:lpstr>
      <vt:lpstr>MenuRoleForLoginVM</vt:lpstr>
      <vt:lpstr>Get User group</vt:lpstr>
      <vt:lpstr>Start login</vt:lpstr>
      <vt:lpstr>End login</vt:lpstr>
      <vt:lpstr>Start Users page مستخدمي النظام</vt:lpstr>
      <vt:lpstr>PowerPoint Presentation</vt:lpstr>
      <vt:lpstr>End Users page مستخدمي النظام</vt:lpstr>
      <vt:lpstr>Lookup. Mobile_Numbers</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Male &amp; Female from QID</vt:lpstr>
      <vt:lpstr> Start Flags </vt:lpstr>
      <vt:lpstr>SWF. Flow_status: [ Table ]</vt:lpstr>
      <vt:lpstr>Request_status</vt:lpstr>
      <vt:lpstr>Action_Flag</vt:lpstr>
      <vt:lpstr>SWF.Flow_User_Status</vt:lpstr>
      <vt:lpstr> END Flags </vt:lpstr>
      <vt:lpstr> Start Business </vt:lpstr>
      <vt:lpstr>PowerPoint Presentation</vt:lpstr>
      <vt:lpstr>كود الصرف</vt:lpstr>
      <vt:lpstr> End Business </vt:lpstr>
      <vt:lpstr>PowerPoint Presentation</vt:lpstr>
      <vt:lpstr> Start Rescheduling </vt:lpstr>
      <vt:lpstr>PowerPoint Presentation</vt:lpstr>
      <vt:lpstr>RSC.ReschedulingCustomers</vt:lpstr>
      <vt:lpstr>PowerPoint Presentation</vt:lpstr>
      <vt:lpstr>PowerPoint Presentation</vt:lpstr>
      <vt:lpstr>PowerPoint Presentation</vt:lpstr>
      <vt:lpstr> End Rescheduling </vt:lpstr>
      <vt:lpstr>View Models</vt:lpstr>
      <vt:lpstr>FlowActionsNameStepFromTo</vt:lpstr>
      <vt:lpstr>FundingData</vt:lpstr>
      <vt:lpstr>FundingDataVM</vt:lpstr>
      <vt:lpstr>ProdVM</vt:lpstr>
      <vt:lpstr>PowerPoint Presentation</vt:lpstr>
      <vt:lpstr>PowerPoint Presentation</vt:lpstr>
      <vt:lpstr>TransactionVM</vt:lpstr>
      <vt:lpstr>PowerPoint Presentation</vt:lpstr>
      <vt:lpstr>To make migration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Ahmed  Mohamed Samir</cp:lastModifiedBy>
  <cp:revision>1734</cp:revision>
  <dcterms:created xsi:type="dcterms:W3CDTF">2026-02-01T18:13:26Z</dcterms:created>
  <dcterms:modified xsi:type="dcterms:W3CDTF">2026-05-12T08:39:35Z</dcterms:modified>
</cp:coreProperties>
</file>