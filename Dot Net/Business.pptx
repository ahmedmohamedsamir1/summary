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3" r:id="rId3"/>
    <p:sldId id="262" r:id="rId4"/>
    <p:sldId id="392" r:id="rId5"/>
    <p:sldId id="394" r:id="rId6"/>
    <p:sldId id="402" r:id="rId7"/>
    <p:sldId id="404" r:id="rId8"/>
    <p:sldId id="406" r:id="rId9"/>
    <p:sldId id="407" r:id="rId10"/>
    <p:sldId id="408" r:id="rId11"/>
    <p:sldId id="411" r:id="rId12"/>
    <p:sldId id="422" r:id="rId13"/>
    <p:sldId id="423" r:id="rId14"/>
    <p:sldId id="413" r:id="rId15"/>
    <p:sldId id="424" r:id="rId16"/>
    <p:sldId id="409" r:id="rId17"/>
    <p:sldId id="447" r:id="rId18"/>
    <p:sldId id="473" r:id="rId19"/>
    <p:sldId id="478" r:id="rId20"/>
    <p:sldId id="482" r:id="rId21"/>
    <p:sldId id="483" r:id="rId22"/>
    <p:sldId id="484" r:id="rId23"/>
    <p:sldId id="474" r:id="rId24"/>
    <p:sldId id="528" r:id="rId25"/>
    <p:sldId id="485" r:id="rId26"/>
    <p:sldId id="393" r:id="rId27"/>
    <p:sldId id="475" r:id="rId28"/>
    <p:sldId id="477" r:id="rId29"/>
    <p:sldId id="487" r:id="rId30"/>
    <p:sldId id="503" r:id="rId31"/>
    <p:sldId id="488" r:id="rId32"/>
    <p:sldId id="489" r:id="rId33"/>
    <p:sldId id="490" r:id="rId34"/>
    <p:sldId id="491" r:id="rId35"/>
    <p:sldId id="492" r:id="rId36"/>
    <p:sldId id="502" r:id="rId37"/>
    <p:sldId id="476" r:id="rId38"/>
    <p:sldId id="500" r:id="rId39"/>
    <p:sldId id="504" r:id="rId40"/>
    <p:sldId id="507" r:id="rId41"/>
    <p:sldId id="505" r:id="rId42"/>
    <p:sldId id="506" r:id="rId43"/>
    <p:sldId id="508" r:id="rId44"/>
    <p:sldId id="495" r:id="rId45"/>
    <p:sldId id="349" r:id="rId46"/>
    <p:sldId id="351" r:id="rId47"/>
    <p:sldId id="353" r:id="rId48"/>
    <p:sldId id="510" r:id="rId49"/>
    <p:sldId id="512" r:id="rId50"/>
    <p:sldId id="513" r:id="rId51"/>
    <p:sldId id="514" r:id="rId52"/>
    <p:sldId id="352" r:id="rId53"/>
    <p:sldId id="509" r:id="rId54"/>
    <p:sldId id="497" r:id="rId55"/>
    <p:sldId id="515" r:id="rId56"/>
    <p:sldId id="516" r:id="rId57"/>
    <p:sldId id="354" r:id="rId58"/>
    <p:sldId id="355" r:id="rId59"/>
    <p:sldId id="517" r:id="rId60"/>
    <p:sldId id="501" r:id="rId61"/>
    <p:sldId id="370" r:id="rId62"/>
    <p:sldId id="371" r:id="rId63"/>
    <p:sldId id="518" r:id="rId64"/>
    <p:sldId id="534" r:id="rId65"/>
    <p:sldId id="536" r:id="rId66"/>
    <p:sldId id="537" r:id="rId67"/>
    <p:sldId id="535" r:id="rId68"/>
    <p:sldId id="396" r:id="rId69"/>
    <p:sldId id="395" r:id="rId70"/>
    <p:sldId id="308" r:id="rId71"/>
    <p:sldId id="278" r:id="rId72"/>
    <p:sldId id="271" r:id="rId73"/>
    <p:sldId id="292" r:id="rId74"/>
    <p:sldId id="472" r:id="rId75"/>
    <p:sldId id="279" r:id="rId76"/>
    <p:sldId id="305" r:id="rId77"/>
    <p:sldId id="280" r:id="rId78"/>
    <p:sldId id="318" r:id="rId79"/>
    <p:sldId id="285" r:id="rId80"/>
    <p:sldId id="286" r:id="rId81"/>
    <p:sldId id="287" r:id="rId82"/>
    <p:sldId id="369" r:id="rId83"/>
    <p:sldId id="372" r:id="rId84"/>
    <p:sldId id="316" r:id="rId85"/>
    <p:sldId id="325" r:id="rId86"/>
    <p:sldId id="347" r:id="rId87"/>
    <p:sldId id="373" r:id="rId88"/>
    <p:sldId id="388" r:id="rId89"/>
    <p:sldId id="306" r:id="rId90"/>
    <p:sldId id="358" r:id="rId91"/>
    <p:sldId id="281" r:id="rId92"/>
    <p:sldId id="314" r:id="rId93"/>
    <p:sldId id="294" r:id="rId94"/>
    <p:sldId id="331" r:id="rId95"/>
    <p:sldId id="330" r:id="rId96"/>
    <p:sldId id="324" r:id="rId97"/>
    <p:sldId id="304" r:id="rId98"/>
    <p:sldId id="310" r:id="rId99"/>
    <p:sldId id="311" r:id="rId100"/>
    <p:sldId id="312" r:id="rId101"/>
    <p:sldId id="293" r:id="rId102"/>
    <p:sldId id="296" r:id="rId103"/>
    <p:sldId id="297" r:id="rId104"/>
    <p:sldId id="299" r:id="rId105"/>
    <p:sldId id="298" r:id="rId106"/>
    <p:sldId id="421" r:id="rId107"/>
    <p:sldId id="389" r:id="rId108"/>
    <p:sldId id="467" r:id="rId109"/>
    <p:sldId id="469" r:id="rId110"/>
    <p:sldId id="470" r:id="rId111"/>
    <p:sldId id="471" r:id="rId112"/>
    <p:sldId id="468" r:id="rId113"/>
    <p:sldId id="283" r:id="rId114"/>
    <p:sldId id="374" r:id="rId115"/>
    <p:sldId id="359" r:id="rId116"/>
    <p:sldId id="307" r:id="rId117"/>
    <p:sldId id="309" r:id="rId118"/>
    <p:sldId id="288" r:id="rId119"/>
    <p:sldId id="282" r:id="rId120"/>
    <p:sldId id="397" r:id="rId121"/>
    <p:sldId id="400" r:id="rId122"/>
    <p:sldId id="465" r:id="rId123"/>
    <p:sldId id="399" r:id="rId124"/>
    <p:sldId id="300" r:id="rId125"/>
    <p:sldId id="463" r:id="rId126"/>
    <p:sldId id="464" r:id="rId127"/>
    <p:sldId id="460" r:id="rId128"/>
    <p:sldId id="301" r:id="rId129"/>
    <p:sldId id="462" r:id="rId130"/>
    <p:sldId id="542" r:id="rId131"/>
    <p:sldId id="398" r:id="rId132"/>
    <p:sldId id="319" r:id="rId133"/>
    <p:sldId id="403" r:id="rId134"/>
    <p:sldId id="338" r:id="rId135"/>
    <p:sldId id="339" r:id="rId136"/>
    <p:sldId id="356" r:id="rId137"/>
    <p:sldId id="357" r:id="rId138"/>
    <p:sldId id="384" r:id="rId139"/>
    <p:sldId id="343" r:id="rId140"/>
    <p:sldId id="382" r:id="rId141"/>
    <p:sldId id="377" r:id="rId142"/>
    <p:sldId id="378" r:id="rId143"/>
    <p:sldId id="386" r:id="rId144"/>
    <p:sldId id="385" r:id="rId145"/>
    <p:sldId id="426" r:id="rId146"/>
    <p:sldId id="448" r:id="rId147"/>
    <p:sldId id="432" r:id="rId148"/>
    <p:sldId id="303" r:id="rId149"/>
    <p:sldId id="428" r:id="rId150"/>
    <p:sldId id="433" r:id="rId151"/>
    <p:sldId id="434" r:id="rId152"/>
    <p:sldId id="435" r:id="rId153"/>
    <p:sldId id="436" r:id="rId154"/>
    <p:sldId id="439" r:id="rId155"/>
    <p:sldId id="441" r:id="rId156"/>
    <p:sldId id="443" r:id="rId157"/>
    <p:sldId id="444" r:id="rId158"/>
    <p:sldId id="440" r:id="rId159"/>
    <p:sldId id="437" r:id="rId160"/>
    <p:sldId id="445" r:id="rId161"/>
    <p:sldId id="429" r:id="rId162"/>
    <p:sldId id="438" r:id="rId163"/>
    <p:sldId id="427" r:id="rId164"/>
    <p:sldId id="450" r:id="rId165"/>
    <p:sldId id="453" r:id="rId166"/>
    <p:sldId id="452" r:id="rId167"/>
    <p:sldId id="454" r:id="rId168"/>
    <p:sldId id="455" r:id="rId169"/>
    <p:sldId id="451" r:id="rId170"/>
    <p:sldId id="461" r:id="rId171"/>
    <p:sldId id="459" r:id="rId172"/>
    <p:sldId id="456" r:id="rId173"/>
    <p:sldId id="458" r:id="rId174"/>
    <p:sldId id="479" r:id="rId175"/>
    <p:sldId id="481" r:id="rId176"/>
    <p:sldId id="480" r:id="rId177"/>
    <p:sldId id="449" r:id="rId178"/>
    <p:sldId id="276" r:id="rId179"/>
    <p:sldId id="289" r:id="rId180"/>
    <p:sldId id="290" r:id="rId181"/>
    <p:sldId id="376" r:id="rId182"/>
    <p:sldId id="361" r:id="rId183"/>
    <p:sldId id="362" r:id="rId184"/>
    <p:sldId id="321" r:id="rId185"/>
    <p:sldId id="360" r:id="rId186"/>
    <p:sldId id="366" r:id="rId187"/>
    <p:sldId id="405" r:id="rId188"/>
    <p:sldId id="383" r:id="rId189"/>
    <p:sldId id="418" r:id="rId190"/>
    <p:sldId id="419" r:id="rId191"/>
    <p:sldId id="420" r:id="rId192"/>
    <p:sldId id="446" r:id="rId193"/>
    <p:sldId id="417" r:id="rId194"/>
    <p:sldId id="520" r:id="rId195"/>
    <p:sldId id="522" r:id="rId196"/>
    <p:sldId id="523" r:id="rId197"/>
    <p:sldId id="521" r:id="rId198"/>
    <p:sldId id="530" r:id="rId199"/>
    <p:sldId id="525" r:id="rId200"/>
    <p:sldId id="531" r:id="rId201"/>
    <p:sldId id="544" r:id="rId202"/>
    <p:sldId id="543" r:id="rId203"/>
    <p:sldId id="527" r:id="rId204"/>
    <p:sldId id="532" r:id="rId205"/>
    <p:sldId id="529" r:id="rId206"/>
    <p:sldId id="533" r:id="rId207"/>
    <p:sldId id="526" r:id="rId208"/>
    <p:sldId id="539" r:id="rId209"/>
    <p:sldId id="538" r:id="rId210"/>
    <p:sldId id="541" r:id="rId211"/>
    <p:sldId id="540" r:id="rId212"/>
    <p:sldId id="335" r:id="rId213"/>
    <p:sldId id="375" r:id="rId214"/>
    <p:sldId id="340" r:id="rId215"/>
    <p:sldId id="345" r:id="rId216"/>
    <p:sldId id="336" r:id="rId217"/>
    <p:sldId id="341" r:id="rId218"/>
    <p:sldId id="337" r:id="rId219"/>
    <p:sldId id="295" r:id="rId220"/>
    <p:sldId id="344" r:id="rId221"/>
    <p:sldId id="363" r:id="rId2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presProps" Target="pres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6/4/2026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6/4/2026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oretest-uploadfile.tamweely.local:4154/api/UploadFile/UploadDocumen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1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t>Operator: Credit,</a:t>
            </a:r>
            <a:r>
              <a:rPr lang="ar-EG" sz="1700" b="1"/>
              <a:t> </a:t>
            </a:r>
            <a:r>
              <a:rPr lang="en-US" sz="1700" b="1"/>
              <a:t>LR55</a:t>
            </a:r>
          </a:p>
          <a:p>
            <a:pPr marL="871200" lvl="1" indent="-457200">
              <a:buFont typeface="+mj-lt"/>
              <a:buAutoNum type="arabicPeriod"/>
            </a:pPr>
            <a:r>
              <a:rPr lang="ar-EG" sz="1700" b="1">
                <a:solidFill>
                  <a:srgbClr val="FF0000"/>
                </a:solidFill>
              </a:rPr>
              <a:t>إتمام توقيع</a:t>
            </a:r>
            <a:endParaRPr lang="en-US" sz="1700" b="1">
              <a:solidFill>
                <a:srgbClr val="FF0000"/>
              </a:solidFill>
            </a:endParaRPr>
          </a:p>
          <a:p>
            <a:pPr marL="871200" lvl="1" indent="-457200">
              <a:buFont typeface="+mj-lt"/>
              <a:buAutoNum type="arabicPeriod"/>
            </a:pPr>
            <a:r>
              <a:rPr lang="ar-EG" sz="1700" b="1">
                <a:solidFill>
                  <a:srgbClr val="FF0000"/>
                </a:solidFill>
              </a:rPr>
              <a:t>تم 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6192078" y="786890"/>
            <a:ext cx="5999922" cy="4413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إتمام توقيع</a:t>
            </a:r>
          </a:p>
          <a:p>
            <a:pPr marL="871200" lvl="1" indent="-457200">
              <a:lnSpc>
                <a:spcPct val="150000"/>
              </a:lnSpc>
              <a:buFont typeface="+mj-lt"/>
              <a:buAutoNum type="arabicPeriod"/>
            </a:pPr>
            <a:r>
              <a:rPr lang="ar-EG" sz="1600" b="1">
                <a:solidFill>
                  <a:srgbClr val="FF0000"/>
                </a:solidFill>
              </a:rPr>
              <a:t>تم 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68075"/>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940021" cy="6047509"/>
          </a:xfrm>
        </p:spPr>
        <p:txBody>
          <a:bodyPr/>
          <a:lstStyle/>
          <a:p>
            <a:r>
              <a:rPr lang="ar-EG"/>
              <a:t>بجيب كل البيانات الخاصة بالمنتج</a:t>
            </a:r>
            <a:endParaRPr lang="en-US"/>
          </a:p>
          <a:p>
            <a:r>
              <a:rPr lang="en-US"/>
              <a:t>Flow_Funding_requestController/</a:t>
            </a:r>
            <a:r>
              <a:rPr lang="en-US" b="1">
                <a:solidFill>
                  <a:srgbClr val="FFFF00"/>
                </a:solidFill>
              </a:rPr>
              <a:t>GetAllTypeDocuments</a:t>
            </a:r>
          </a:p>
          <a:p>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b="1">
                <a:effectLst/>
              </a:rPr>
              <a:t>(</a:t>
            </a:r>
            <a:r>
              <a:rPr lang="en-US" b="1"/>
              <a:t>[FromBody] </a:t>
            </a:r>
            <a:r>
              <a:rPr lang="en-US" b="1">
                <a:solidFill>
                  <a:srgbClr val="00B0F0"/>
                </a:solidFill>
              </a:rPr>
              <a:t>ProdcutData</a:t>
            </a:r>
            <a:r>
              <a:rPr lang="en-US" b="1"/>
              <a:t> entity)</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292873" y="2425004"/>
            <a:ext cx="6024996" cy="3408300"/>
          </a:xfrm>
          <a:prstGeom prst="rect">
            <a:avLst/>
          </a:prstGeom>
        </p:spPr>
      </p:pic>
      <p:pic>
        <p:nvPicPr>
          <p:cNvPr id="6" name="Picture 5">
            <a:extLst>
              <a:ext uri="{FF2B5EF4-FFF2-40B4-BE49-F238E27FC236}">
                <a16:creationId xmlns:a16="http://schemas.microsoft.com/office/drawing/2014/main" id="{15AF2B9D-89A6-1D00-4423-E6634B600C23}"/>
              </a:ext>
            </a:extLst>
          </p:cNvPr>
          <p:cNvPicPr>
            <a:picLocks noChangeAspect="1"/>
          </p:cNvPicPr>
          <p:nvPr/>
        </p:nvPicPr>
        <p:blipFill>
          <a:blip r:embed="rId3"/>
          <a:stretch>
            <a:fillRect/>
          </a:stretch>
        </p:blipFill>
        <p:spPr>
          <a:xfrm>
            <a:off x="6444487" y="2425004"/>
            <a:ext cx="2941575" cy="1874682"/>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a:t>
            </a:r>
            <a:r>
              <a:rPr lang="en-US" b="1"/>
              <a:t>CustomerData</a:t>
            </a:r>
            <a:r>
              <a:rPr lang="en-US"/>
              <a:t>(</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a:t>
            </a:r>
            <a:r>
              <a:rPr lang="en-US" b="1">
                <a:solidFill>
                  <a:srgbClr val="00B0F0"/>
                </a:solidFill>
                <a:effectLst/>
              </a:rPr>
              <a:t>GetOne</a:t>
            </a:r>
            <a:r>
              <a:rPr lang="en-US">
                <a:effectLst/>
              </a:rPr>
              <a:t>/</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85724" y="589934"/>
            <a:ext cx="12106275" cy="62013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pPr marL="36900" indent="0">
              <a:buNone/>
            </a:pPr>
            <a:endParaRPr lang="en-US" sz="1800" b="1"/>
          </a:p>
          <a:p>
            <a:endParaRPr lang="en-US" sz="1800" b="1">
              <a:solidFill>
                <a:srgbClr val="FFFF00"/>
              </a:solidFill>
            </a:endParaRPr>
          </a:p>
          <a:p>
            <a:r>
              <a:rPr lang="en-US" sz="1800" b="1">
                <a:solidFill>
                  <a:srgbClr val="FFFF00"/>
                </a:solidFill>
              </a:rPr>
              <a:t>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6295474" y="1724652"/>
            <a:ext cx="5125001" cy="2651226"/>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476750" y="5788434"/>
            <a:ext cx="7715249"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257034" y="1558370"/>
            <a:ext cx="5639492" cy="3239814"/>
          </a:xfrm>
          <a:prstGeom prst="rect">
            <a:avLst/>
          </a:prstGeom>
        </p:spPr>
      </p:pic>
      <p:sp>
        <p:nvSpPr>
          <p:cNvPr id="4" name="TextBox 3">
            <a:extLst>
              <a:ext uri="{FF2B5EF4-FFF2-40B4-BE49-F238E27FC236}">
                <a16:creationId xmlns:a16="http://schemas.microsoft.com/office/drawing/2014/main" id="{E16C5DF7-5662-A9FD-A7FB-CD9E6EDF8B96}"/>
              </a:ext>
            </a:extLst>
          </p:cNvPr>
          <p:cNvSpPr txBox="1"/>
          <p:nvPr/>
        </p:nvSpPr>
        <p:spPr>
          <a:xfrm>
            <a:off x="6295474" y="4446620"/>
            <a:ext cx="5639492" cy="1200329"/>
          </a:xfrm>
          <a:prstGeom prst="rect">
            <a:avLst/>
          </a:prstGeom>
          <a:noFill/>
        </p:spPr>
        <p:txBody>
          <a:bodyPr wrap="square" rtlCol="0">
            <a:spAutoFit/>
          </a:bodyPr>
          <a:lstStyle/>
          <a:p>
            <a:r>
              <a:rPr lang="en-US" b="1"/>
              <a:t>IsNew : true</a:t>
            </a:r>
          </a:p>
          <a:p>
            <a:r>
              <a:rPr lang="en-US" b="1"/>
              <a:t>status : 1 == </a:t>
            </a:r>
            <a:r>
              <a:rPr lang="en-US" b="1">
                <a:solidFill>
                  <a:srgbClr val="FFFF00"/>
                </a:solidFill>
              </a:rPr>
              <a:t>FixedStatus.Status_1_Is_Save </a:t>
            </a:r>
          </a:p>
          <a:p>
            <a:r>
              <a:rPr lang="en-US"/>
              <a:t>Flag : 0 </a:t>
            </a:r>
          </a:p>
          <a:p>
            <a:r>
              <a:rPr lang="en-US"/>
              <a:t>Trans_GPS_Tracking = null</a:t>
            </a:r>
          </a:p>
        </p:txBody>
      </p:sp>
    </p:spTree>
    <p:extLst>
      <p:ext uri="{BB962C8B-B14F-4D97-AF65-F5344CB8AC3E}">
        <p14:creationId xmlns:p14="http://schemas.microsoft.com/office/powerpoint/2010/main" val="2031890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15800" cy="5989955"/>
          </a:xfrm>
        </p:spPr>
        <p:txBody>
          <a:bodyPr>
            <a:normAutofit/>
          </a:bodyPr>
          <a:lstStyle/>
          <a:p>
            <a:r>
              <a:rPr lang="en-US" b="1" err="1"/>
              <a:t>Flow_Funding_</a:t>
            </a:r>
            <a:r>
              <a:rPr lang="en-US" b="1"/>
              <a:t>Request fields that will get a value</a:t>
            </a:r>
          </a:p>
          <a:p>
            <a:r>
              <a:rPr lang="en-US" sz="1700" b="1"/>
              <a:t>Open_date = _Trans_BusDate.Queryable().FirstOrDefault(ex =&gt; ex.BranchId == Funding_request.BranchId).</a:t>
            </a:r>
            <a:r>
              <a:rPr lang="en-US" sz="1700" b="1">
                <a:solidFill>
                  <a:srgbClr val="00B0F0"/>
                </a:solidFill>
              </a:rPr>
              <a:t>BusDate</a:t>
            </a:r>
            <a:r>
              <a:rPr lang="en-US" sz="17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b="1"/>
              <a:t> = </a:t>
            </a:r>
            <a:r>
              <a:rPr lang="en-US" sz="1800" b="1" err="1"/>
              <a:t>IsNew</a:t>
            </a:r>
            <a:r>
              <a:rPr lang="en-US" sz="1800" b="1"/>
              <a:t> == true ? </a:t>
            </a:r>
            <a:r>
              <a:rPr lang="en-US" sz="1800" b="1" err="1"/>
              <a:t>Product.</a:t>
            </a:r>
            <a:r>
              <a:rPr lang="en-US" sz="1800" b="1" err="1">
                <a:solidFill>
                  <a:srgbClr val="FFFF00"/>
                </a:solidFill>
              </a:rPr>
              <a:t>Fixed_return_new</a:t>
            </a:r>
            <a:r>
              <a:rPr lang="en-US" sz="1800" b="1" err="1"/>
              <a:t>:Product.</a:t>
            </a:r>
            <a:r>
              <a:rPr lang="en-US" sz="1800" b="1" err="1">
                <a:solidFill>
                  <a:srgbClr val="FFFF00"/>
                </a:solidFill>
              </a:rPr>
              <a:t>Fixed_return_renew</a:t>
            </a:r>
            <a:r>
              <a:rPr lang="en-US" sz="1800" b="1"/>
              <a:t>;</a:t>
            </a:r>
          </a:p>
          <a:p>
            <a:r>
              <a:rPr lang="en-US" sz="1600" b="1">
                <a:solidFill>
                  <a:srgbClr val="FFFF00"/>
                </a:solidFill>
              </a:rPr>
              <a:t>DEBTNO</a:t>
            </a:r>
            <a:r>
              <a:rPr lang="en-US" sz="1600" b="1"/>
              <a:t>=</a:t>
            </a:r>
            <a:r>
              <a:rPr lang="en-US" sz="1600" b="1" err="1"/>
              <a:t>Flow_Funding_request.where</a:t>
            </a:r>
            <a:r>
              <a:rPr lang="en-US" sz="1600" b="1"/>
              <a:t>(c =&gt; </a:t>
            </a:r>
            <a:r>
              <a:rPr lang="en-US" sz="1600" b="1" err="1"/>
              <a:t>c.Customer_ID</a:t>
            </a:r>
            <a:r>
              <a:rPr lang="en-US" sz="1600" b="1"/>
              <a:t> == </a:t>
            </a:r>
            <a:r>
              <a:rPr lang="en-US" sz="1600" b="1" err="1"/>
              <a:t>entity.Funding_request.Customer_ID</a:t>
            </a:r>
            <a:r>
              <a:rPr lang="en-US" sz="1600" b="1"/>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 // </a:t>
            </a:r>
            <a:r>
              <a:rPr lang="ar-EG" sz="1500" b="1"/>
              <a:t>تاريخ الصرف</a:t>
            </a:r>
            <a:endParaRPr lang="en-US" sz="1500" b="1"/>
          </a:p>
          <a:p>
            <a:r>
              <a:rPr lang="en-US" sz="1500" b="1"/>
              <a:t>EXPDATE: NULL</a:t>
            </a:r>
          </a:p>
          <a:p>
            <a:r>
              <a:rPr lang="en-US" sz="1500" b="1"/>
              <a:t>Com_RATE: NULL // assigned at disbursement </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[cont.5]</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2400" b="1">
                <a:solidFill>
                  <a:srgbClr val="FFFF00"/>
                </a:solidFill>
              </a:rPr>
              <a:t>Deportation Fields that will have a value</a:t>
            </a:r>
          </a:p>
          <a:p>
            <a:r>
              <a:rPr lang="en-US" sz="1800" b="1"/>
              <a:t>Date_creation_request</a:t>
            </a:r>
          </a:p>
          <a:p>
            <a:r>
              <a:rPr lang="en-US" sz="1800" b="1"/>
              <a:t>Customer_ID_C</a:t>
            </a:r>
          </a:p>
          <a:p>
            <a:r>
              <a:rPr lang="en-US" sz="1800" b="1"/>
              <a:t>Cust_QID</a:t>
            </a:r>
          </a:p>
          <a:p>
            <a:r>
              <a:rPr lang="en-US" sz="1800" b="1"/>
              <a:t>Cust_Full_name</a:t>
            </a:r>
          </a:p>
          <a:p>
            <a:r>
              <a:rPr lang="en-US" sz="1800" b="1"/>
              <a:t>Enterprise_ID</a:t>
            </a:r>
          </a:p>
          <a:p>
            <a:r>
              <a:rPr lang="en-US" sz="1800" b="1"/>
              <a:t>Product_id</a:t>
            </a:r>
          </a:p>
          <a:p>
            <a:r>
              <a:rPr lang="en-US" sz="1800" b="1"/>
              <a:t>Product_name</a:t>
            </a:r>
          </a:p>
          <a:p>
            <a:r>
              <a:rPr lang="en-US" sz="1800" b="1"/>
              <a:t>Code_action: null</a:t>
            </a:r>
          </a:p>
          <a:p>
            <a:r>
              <a:rPr lang="en-US" sz="1800" b="1"/>
              <a:t>Date_Assigned: null</a:t>
            </a:r>
          </a:p>
          <a:p>
            <a:endParaRPr lang="en-US" sz="1800" b="1"/>
          </a:p>
        </p:txBody>
      </p:sp>
    </p:spTree>
    <p:extLst>
      <p:ext uri="{BB962C8B-B14F-4D97-AF65-F5344CB8AC3E}">
        <p14:creationId xmlns:p14="http://schemas.microsoft.com/office/powerpoint/2010/main" val="1731501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[cont.6]</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800" b="1">
                <a:solidFill>
                  <a:srgbClr val="FFFF00"/>
                </a:solidFill>
              </a:rPr>
              <a:t>Flow_Requests_Log</a:t>
            </a:r>
          </a:p>
          <a:p>
            <a:r>
              <a:rPr lang="en-US" sz="1800" b="1"/>
              <a:t>FRL_ID: PK</a:t>
            </a:r>
          </a:p>
          <a:p>
            <a:r>
              <a:rPr lang="en-US" sz="1800" b="1"/>
              <a:t>FRD_ID: FK from request_deportation</a:t>
            </a:r>
          </a:p>
          <a:p>
            <a:r>
              <a:rPr lang="en-US" sz="1800" b="1"/>
              <a:t>Date_Creation:</a:t>
            </a:r>
          </a:p>
          <a:p>
            <a:r>
              <a:rPr lang="en-US" sz="1800" b="1"/>
              <a:t>Daily_date: </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a:xfrm>
            <a:off x="-5324" y="0"/>
            <a:ext cx="12191999" cy="50482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[cont.7]</a:t>
            </a:r>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a:xfrm>
            <a:off x="104776" y="695325"/>
            <a:ext cx="11953874" cy="6057900"/>
          </a:xfrm>
        </p:spPr>
        <p:txBody>
          <a:bodyPr/>
          <a:lstStyle/>
          <a:p>
            <a:r>
              <a:rPr lang="en-US" b="1"/>
              <a:t>At </a:t>
            </a:r>
            <a:r>
              <a:rPr lang="en-US" b="1">
                <a:solidFill>
                  <a:srgbClr val="FF0000"/>
                </a:solidFill>
              </a:rPr>
              <a:t>TWF</a:t>
            </a:r>
            <a:r>
              <a:rPr lang="en-US" b="1"/>
              <a:t>.</a:t>
            </a:r>
            <a:r>
              <a:rPr lang="en-US" b="1">
                <a:solidFill>
                  <a:srgbClr val="FFFF00"/>
                </a:solidFill>
              </a:rPr>
              <a:t>Flow_ISCORE_Data </a:t>
            </a:r>
            <a:r>
              <a:rPr lang="en-US" b="1"/>
              <a:t>you will two records one for customer and one for guarantor</a:t>
            </a:r>
          </a:p>
          <a:p>
            <a:pPr lvl="1"/>
            <a:r>
              <a:rPr lang="en-US" b="1"/>
              <a:t>Cust_IDNO</a:t>
            </a:r>
          </a:p>
          <a:p>
            <a:pPr lvl="1"/>
            <a:r>
              <a:rPr lang="en-US" sz="1600" b="1"/>
              <a:t>Code_FID: PK</a:t>
            </a:r>
          </a:p>
          <a:p>
            <a:pPr lvl="1"/>
            <a:r>
              <a:rPr lang="en-US" sz="1600" b="1"/>
              <a:t>Inquiry_Date</a:t>
            </a:r>
          </a:p>
          <a:p>
            <a:pPr lvl="1"/>
            <a:r>
              <a:rPr lang="en-US" sz="1600" b="1"/>
              <a:t>Score</a:t>
            </a:r>
          </a:p>
          <a:p>
            <a:pPr lvl="1"/>
            <a:r>
              <a:rPr lang="en-US" sz="1600" b="1"/>
              <a:t>Open_Credits</a:t>
            </a:r>
          </a:p>
          <a:p>
            <a:pPr lvl="1"/>
            <a:r>
              <a:rPr lang="en-US" sz="1600" b="1"/>
              <a:t>Days_Due</a:t>
            </a:r>
          </a:p>
          <a:p>
            <a:pPr lvl="1"/>
            <a:r>
              <a:rPr lang="en-US" sz="1600" b="1"/>
              <a:t>No_Of_Inquiries</a:t>
            </a:r>
          </a:p>
          <a:p>
            <a:pPr lvl="1"/>
            <a:r>
              <a:rPr lang="en-US" sz="1600" b="1"/>
              <a:t>Request_id</a:t>
            </a:r>
          </a:p>
          <a:p>
            <a:pPr lvl="1"/>
            <a:r>
              <a:rPr lang="en-US" sz="1600" b="1"/>
              <a:t>Ref_NO</a:t>
            </a:r>
          </a:p>
          <a:p>
            <a:pPr lvl="1"/>
            <a:r>
              <a:rPr lang="en-US" sz="1600" b="1"/>
              <a:t>NotFound: 2</a:t>
            </a:r>
          </a:p>
          <a:p>
            <a:pPr lvl="1"/>
            <a:r>
              <a:rPr lang="en-US" sz="1600" b="1"/>
              <a:t>New_ISCORE: 1 [ always one ]</a:t>
            </a:r>
          </a:p>
          <a:p>
            <a:pPr lvl="1"/>
            <a:r>
              <a:rPr lang="en-US" sz="1600" b="1"/>
              <a:t>File Code: </a:t>
            </a:r>
            <a:r>
              <a:rPr lang="en-US" sz="1200" b="1"/>
              <a:t>Mjk4MDkzMDE0MTI4NzQoMzQzMjBhOTItNzVmOC00N2M1LWI1ZDYtMjk1M2RjZWRkMGM2KS5wZGY=</a:t>
            </a:r>
          </a:p>
          <a:p>
            <a:r>
              <a:rPr lang="en-US" sz="1900" b="1"/>
              <a:t>Note: you will find </a:t>
            </a:r>
            <a:r>
              <a:rPr lang="en-US" sz="1900" b="1">
                <a:solidFill>
                  <a:srgbClr val="FFFF00"/>
                </a:solidFill>
              </a:rPr>
              <a:t>FileCode</a:t>
            </a:r>
            <a:r>
              <a:rPr lang="en-US" sz="1900" b="1"/>
              <a:t> here is equal to </a:t>
            </a:r>
            <a:r>
              <a:rPr lang="en-US" b="1">
                <a:solidFill>
                  <a:srgbClr val="FF0000"/>
                </a:solidFill>
              </a:rPr>
              <a:t>TWF</a:t>
            </a:r>
            <a:r>
              <a:rPr lang="en-US" b="1">
                <a:solidFill>
                  <a:srgbClr val="FFFF00"/>
                </a:solidFill>
              </a:rPr>
              <a:t>.</a:t>
            </a:r>
            <a:r>
              <a:rPr lang="en-US" b="1">
                <a:solidFill>
                  <a:schemeClr val="tx1"/>
                </a:solidFill>
              </a:rPr>
              <a:t>TWF_Download</a:t>
            </a:r>
            <a:r>
              <a:rPr lang="en-US" b="1">
                <a:solidFill>
                  <a:srgbClr val="FFFF00"/>
                </a:solidFill>
              </a:rPr>
              <a:t>.Doc_id</a:t>
            </a:r>
            <a:endParaRPr lang="en-US" sz="1900" b="1">
              <a:solidFill>
                <a:srgbClr val="FFFF00"/>
              </a:solidFill>
            </a:endParaRPr>
          </a:p>
          <a:p>
            <a:endParaRPr lang="en-US"/>
          </a:p>
          <a:p>
            <a:endParaRPr lang="en-US"/>
          </a:p>
          <a:p>
            <a:endParaRPr lang="en-US"/>
          </a:p>
          <a:p>
            <a:endParaRPr lang="en-US"/>
          </a:p>
        </p:txBody>
      </p:sp>
    </p:spTree>
    <p:extLst>
      <p:ext uri="{BB962C8B-B14F-4D97-AF65-F5344CB8AC3E}">
        <p14:creationId xmlns:p14="http://schemas.microsoft.com/office/powerpoint/2010/main" val="3847782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42EC-EC85-C88C-52AE-7A449A3AC296}"/>
              </a:ext>
            </a:extLst>
          </p:cNvPr>
          <p:cNvSpPr>
            <a:spLocks noGrp="1"/>
          </p:cNvSpPr>
          <p:nvPr>
            <p:ph type="title"/>
          </p:nvPr>
        </p:nvSpPr>
        <p:spPr>
          <a:xfrm>
            <a:off x="0" y="0"/>
            <a:ext cx="12192000" cy="638175"/>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[cont.8]</a:t>
            </a:r>
            <a:endParaRPr lang="en-US" sz="3200"/>
          </a:p>
        </p:txBody>
      </p:sp>
      <p:sp>
        <p:nvSpPr>
          <p:cNvPr id="3" name="Content Placeholder 2">
            <a:extLst>
              <a:ext uri="{FF2B5EF4-FFF2-40B4-BE49-F238E27FC236}">
                <a16:creationId xmlns:a16="http://schemas.microsoft.com/office/drawing/2014/main" id="{73CBDAEA-FD6C-6F1E-7A7D-C5C4F18832EE}"/>
              </a:ext>
            </a:extLst>
          </p:cNvPr>
          <p:cNvSpPr>
            <a:spLocks noGrp="1"/>
          </p:cNvSpPr>
          <p:nvPr>
            <p:ph idx="1"/>
          </p:nvPr>
        </p:nvSpPr>
        <p:spPr>
          <a:xfrm>
            <a:off x="76200" y="638175"/>
            <a:ext cx="12049125" cy="6086475"/>
          </a:xfrm>
        </p:spPr>
        <p:txBody>
          <a:bodyPr>
            <a:normAutofit/>
          </a:bodyPr>
          <a:lstStyle/>
          <a:p>
            <a:r>
              <a:rPr lang="en-US" sz="2400" b="1">
                <a:solidFill>
                  <a:srgbClr val="00B0F0"/>
                </a:solidFill>
              </a:rPr>
              <a:t>TWF_Download: the table that represent the uploaded docs for request</a:t>
            </a:r>
          </a:p>
          <a:p>
            <a:r>
              <a:rPr lang="en-US" b="1">
                <a:solidFill>
                  <a:srgbClr val="FFFF00"/>
                </a:solidFill>
              </a:rPr>
              <a:t>You will have two records one for customer and one for guarantor these are docs related to iscore docs</a:t>
            </a:r>
          </a:p>
          <a:p>
            <a:pPr lvl="1"/>
            <a:r>
              <a:rPr lang="en-US" b="1">
                <a:solidFill>
                  <a:srgbClr val="FFFF00"/>
                </a:solidFill>
              </a:rPr>
              <a:t>Id_Down: PK, identity</a:t>
            </a:r>
          </a:p>
          <a:p>
            <a:pPr lvl="1"/>
            <a:r>
              <a:rPr lang="en-US" b="1">
                <a:solidFill>
                  <a:srgbClr val="FFFF00"/>
                </a:solidFill>
              </a:rPr>
              <a:t>Screen_name: C</a:t>
            </a:r>
          </a:p>
          <a:p>
            <a:pPr lvl="1"/>
            <a:r>
              <a:rPr lang="en-US" b="1">
                <a:solidFill>
                  <a:srgbClr val="FFFF00"/>
                </a:solidFill>
              </a:rPr>
              <a:t>Doc_id: string, </a:t>
            </a:r>
            <a:r>
              <a:rPr lang="en-US" sz="1400" b="1">
                <a:solidFill>
                  <a:srgbClr val="FFFF00"/>
                </a:solidFill>
              </a:rPr>
              <a:t>Mjk4MDkzMDE0MTI4NzQoMzQzMjBhOTItNzVmOC00N2M1LWI1ZDYtMjk1M2RjZWRkMGM2KS5wZGY=</a:t>
            </a:r>
            <a:endParaRPr lang="en-US" b="1">
              <a:solidFill>
                <a:srgbClr val="FFFF00"/>
              </a:solidFill>
            </a:endParaRPr>
          </a:p>
          <a:p>
            <a:pPr lvl="1"/>
            <a:r>
              <a:rPr lang="en-US" b="1">
                <a:solidFill>
                  <a:srgbClr val="FFFF00"/>
                </a:solidFill>
              </a:rPr>
              <a:t>RequestId: 1693427</a:t>
            </a:r>
          </a:p>
          <a:p>
            <a:pPr lvl="1"/>
            <a:r>
              <a:rPr lang="en-US" b="1">
                <a:solidFill>
                  <a:srgbClr val="FFFF00"/>
                </a:solidFill>
              </a:rPr>
              <a:t>Bus_Date</a:t>
            </a:r>
          </a:p>
          <a:p>
            <a:pPr lvl="1"/>
            <a:r>
              <a:rPr lang="en-US" b="1">
                <a:solidFill>
                  <a:srgbClr val="FFFF00"/>
                </a:solidFill>
              </a:rPr>
              <a:t>Uploaded_Date</a:t>
            </a:r>
          </a:p>
          <a:p>
            <a:pPr lvl="1"/>
            <a:r>
              <a:rPr lang="en-US" b="1">
                <a:solidFill>
                  <a:srgbClr val="FFFF00"/>
                </a:solidFill>
              </a:rPr>
              <a:t>Field_ID: null</a:t>
            </a:r>
          </a:p>
          <a:p>
            <a:endParaRPr lang="en-US" b="1">
              <a:solidFill>
                <a:srgbClr val="FFFF00"/>
              </a:solidFill>
            </a:endParaRPr>
          </a:p>
          <a:p>
            <a:endParaRPr lang="en-US" b="1">
              <a:solidFill>
                <a:srgbClr val="FFFF00"/>
              </a:solidFill>
            </a:endParaRPr>
          </a:p>
        </p:txBody>
      </p:sp>
      <p:pic>
        <p:nvPicPr>
          <p:cNvPr id="5" name="Picture 4">
            <a:extLst>
              <a:ext uri="{FF2B5EF4-FFF2-40B4-BE49-F238E27FC236}">
                <a16:creationId xmlns:a16="http://schemas.microsoft.com/office/drawing/2014/main" id="{1CF501E0-27A7-25BE-0D3E-58DEB0DF5CDE}"/>
              </a:ext>
            </a:extLst>
          </p:cNvPr>
          <p:cNvPicPr>
            <a:picLocks noChangeAspect="1"/>
          </p:cNvPicPr>
          <p:nvPr/>
        </p:nvPicPr>
        <p:blipFill>
          <a:blip r:embed="rId2"/>
          <a:stretch>
            <a:fillRect/>
          </a:stretch>
        </p:blipFill>
        <p:spPr>
          <a:xfrm>
            <a:off x="264389" y="5907378"/>
            <a:ext cx="9358171" cy="624894"/>
          </a:xfrm>
          <a:prstGeom prst="rect">
            <a:avLst/>
          </a:prstGeom>
        </p:spPr>
      </p:pic>
    </p:spTree>
    <p:extLst>
      <p:ext uri="{BB962C8B-B14F-4D97-AF65-F5344CB8AC3E}">
        <p14:creationId xmlns:p14="http://schemas.microsoft.com/office/powerpoint/2010/main" val="131686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DE5B-CE16-81BE-2438-76B88F9A6A1E}"/>
              </a:ext>
            </a:extLst>
          </p:cNvPr>
          <p:cNvSpPr>
            <a:spLocks noGrp="1"/>
          </p:cNvSpPr>
          <p:nvPr>
            <p:ph type="title"/>
          </p:nvPr>
        </p:nvSpPr>
        <p:spPr>
          <a:xfrm>
            <a:off x="37538" y="0"/>
            <a:ext cx="12106275" cy="4953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8B9CE791-0387-BC12-EE17-8265ED58A2D5}"/>
              </a:ext>
            </a:extLst>
          </p:cNvPr>
          <p:cNvSpPr>
            <a:spLocks noGrp="1"/>
          </p:cNvSpPr>
          <p:nvPr>
            <p:ph idx="1"/>
          </p:nvPr>
        </p:nvSpPr>
        <p:spPr>
          <a:xfrm>
            <a:off x="114300" y="609599"/>
            <a:ext cx="12029513" cy="6124575"/>
          </a:xfrm>
        </p:spPr>
        <p:txBody>
          <a:bodyPr/>
          <a:lstStyle/>
          <a:p>
            <a:r>
              <a:rPr lang="en-US" sz="1600" b="1"/>
              <a:t>IQueryable&lt;</a:t>
            </a:r>
            <a:r>
              <a:rPr lang="en-US" sz="1600" b="1">
                <a:solidFill>
                  <a:srgbClr val="FFFF00"/>
                </a:solidFill>
              </a:rPr>
              <a:t>JoinMandatoryDocAndTypeDocuments</a:t>
            </a:r>
            <a:r>
              <a:rPr lang="en-US" sz="1600" b="1"/>
              <a:t>&gt; </a:t>
            </a:r>
            <a:r>
              <a:rPr lang="en-US" sz="1600" b="1">
                <a:solidFill>
                  <a:srgbClr val="00B050"/>
                </a:solidFill>
              </a:rPr>
              <a:t>Flow_DownloadService.</a:t>
            </a:r>
            <a:r>
              <a:rPr lang="en-US" sz="1600" b="1">
                <a:solidFill>
                  <a:srgbClr val="00B0F0"/>
                </a:solidFill>
              </a:rPr>
              <a:t>GetAllDocumentsLo</a:t>
            </a:r>
            <a:r>
              <a:rPr lang="en-US" sz="1600" b="1"/>
              <a:t>( </a:t>
            </a:r>
            <a:r>
              <a:rPr lang="en-US" sz="1400" b="1"/>
              <a:t>product_Id</a:t>
            </a:r>
            <a:r>
              <a:rPr lang="en-US" sz="1200" b="1"/>
              <a:t>, </a:t>
            </a:r>
            <a:r>
              <a:rPr lang="en-US" sz="1400" b="1"/>
              <a:t>jobId</a:t>
            </a:r>
            <a:r>
              <a:rPr lang="en-US" sz="1200" b="1"/>
              <a:t>, </a:t>
            </a:r>
            <a:r>
              <a:rPr lang="en-US" sz="1400" b="1"/>
              <a:t>Request_id</a:t>
            </a:r>
            <a:r>
              <a:rPr lang="en-US" sz="1600" b="1"/>
              <a:t>)</a:t>
            </a:r>
          </a:p>
          <a:p>
            <a:r>
              <a:rPr lang="en-US" sz="1600" b="1"/>
              <a:t>It returns the uploaded docs + required docs</a:t>
            </a:r>
          </a:p>
        </p:txBody>
      </p:sp>
    </p:spTree>
    <p:extLst>
      <p:ext uri="{BB962C8B-B14F-4D97-AF65-F5344CB8AC3E}">
        <p14:creationId xmlns:p14="http://schemas.microsoft.com/office/powerpoint/2010/main" val="540123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5670F-345F-4FE8-D56B-2FB2D0C1503F}"/>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04796D8E-5438-9382-9910-FDC233CF0311}"/>
              </a:ext>
            </a:extLst>
          </p:cNvPr>
          <p:cNvSpPr>
            <a:spLocks noGrp="1"/>
          </p:cNvSpPr>
          <p:nvPr>
            <p:ph idx="1"/>
          </p:nvPr>
        </p:nvSpPr>
        <p:spPr>
          <a:xfrm>
            <a:off x="85726" y="504824"/>
            <a:ext cx="12106274" cy="6353175"/>
          </a:xfrm>
        </p:spPr>
        <p:txBody>
          <a:bodyPr/>
          <a:lstStyle/>
          <a:p>
            <a:r>
              <a:rPr lang="en-US" b="1"/>
              <a:t>Documents tab [ </a:t>
            </a:r>
            <a:r>
              <a:rPr lang="ar-EG" b="1"/>
              <a:t>المستندات</a:t>
            </a:r>
            <a:r>
              <a:rPr lang="en-US" b="1"/>
              <a:t> ]</a:t>
            </a:r>
            <a:endParaRPr lang="ar-EG" b="1"/>
          </a:p>
          <a:p>
            <a:endParaRPr lang="ar-EG" b="1"/>
          </a:p>
          <a:p>
            <a:endParaRPr lang="ar-EG" b="1"/>
          </a:p>
          <a:p>
            <a:pPr marL="36900" indent="0">
              <a:buNone/>
            </a:pPr>
            <a:endParaRPr lang="ar-EG" b="1"/>
          </a:p>
          <a:p>
            <a:r>
              <a:rPr lang="en-US">
                <a:effectLst/>
              </a:rPr>
              <a:t>After click on </a:t>
            </a:r>
            <a:r>
              <a:rPr lang="ar-EG">
                <a:effectLst/>
              </a:rPr>
              <a:t>تحميل ملف </a:t>
            </a:r>
            <a:r>
              <a:rPr lang="en-US">
                <a:effectLst/>
              </a:rPr>
              <a:t> </a:t>
            </a:r>
          </a:p>
          <a:p>
            <a:pPr lvl="1"/>
            <a:r>
              <a:rPr lang="en-US">
                <a:solidFill>
                  <a:srgbClr val="E98052"/>
                </a:solidFill>
                <a:effectLst/>
                <a:hlinkClick r:id="rId2">
                  <a:extLst>
                    <a:ext uri="{A12FA001-AC4F-418D-AE19-62706E023703}">
                      <ahyp:hlinkClr xmlns:ahyp="http://schemas.microsoft.com/office/drawing/2018/hyperlinkcolor" val="tx"/>
                    </a:ext>
                  </a:extLst>
                </a:hlinkClick>
              </a:rPr>
              <a:t>https://coretest-uploadfile.tamweely.local:4154//api/UploadFile/</a:t>
            </a:r>
            <a:r>
              <a:rPr lang="en-US" b="1">
                <a:solidFill>
                  <a:srgbClr val="FFFF00"/>
                </a:solidFill>
                <a:effectLst/>
                <a:hlinkClick r:id="rId2">
                  <a:extLst>
                    <a:ext uri="{A12FA001-AC4F-418D-AE19-62706E023703}">
                      <ahyp:hlinkClr xmlns:ahyp="http://schemas.microsoft.com/office/drawing/2018/hyperlinkcolor" val="tx"/>
                    </a:ext>
                  </a:extLst>
                </a:hlinkClick>
              </a:rPr>
              <a:t>UploadDocument</a:t>
            </a:r>
            <a:endParaRPr lang="en-US" b="1">
              <a:solidFill>
                <a:srgbClr val="FFFF00"/>
              </a:solidFill>
              <a:effectLst/>
            </a:endParaRPr>
          </a:p>
          <a:p>
            <a:pPr lvl="1"/>
            <a:r>
              <a:rPr lang="en-US" b="1">
                <a:solidFill>
                  <a:srgbClr val="FFC000"/>
                </a:solidFill>
                <a:effectLst/>
              </a:rPr>
              <a:t>The </a:t>
            </a:r>
            <a:r>
              <a:rPr lang="en-US"/>
              <a:t>response</a:t>
            </a:r>
            <a:r>
              <a:rPr lang="en-US" b="1">
                <a:solidFill>
                  <a:srgbClr val="FFC000"/>
                </a:solidFill>
                <a:effectLst/>
              </a:rPr>
              <a:t> </a:t>
            </a:r>
            <a:r>
              <a:rPr lang="en-US" b="1">
                <a:solidFill>
                  <a:schemeClr val="tx1"/>
                </a:solidFill>
              </a:rPr>
              <a:t>{   </a:t>
            </a:r>
          </a:p>
          <a:p>
            <a:pPr marL="756000" lvl="2" indent="0">
              <a:buNone/>
            </a:pPr>
            <a:r>
              <a:rPr lang="en-US" b="1">
                <a:solidFill>
                  <a:schemeClr val="tx1"/>
                </a:solidFill>
              </a:rPr>
              <a:t> "success": true,  </a:t>
            </a:r>
          </a:p>
          <a:p>
            <a:pPr marL="756000" lvl="2" indent="0">
              <a:buNone/>
            </a:pPr>
            <a:r>
              <a:rPr lang="en-US" b="1">
                <a:solidFill>
                  <a:schemeClr val="tx1"/>
                </a:solidFill>
              </a:rPr>
              <a:t>  "FileID": </a:t>
            </a:r>
            <a:r>
              <a:rPr lang="en-US" sz="1400" b="1">
                <a:solidFill>
                  <a:schemeClr val="tx1"/>
                </a:solidFill>
              </a:rPr>
              <a:t>[  "TmF0aW9uYWxfSWQxKGZkMWQzYTg4LThmMWQtNGMwNi1iMTMzLWRmZmMzMzA5YTcwNCkuanBn"    ]</a:t>
            </a:r>
          </a:p>
          <a:p>
            <a:pPr marL="756000" lvl="2" indent="0">
              <a:buNone/>
            </a:pPr>
            <a:r>
              <a:rPr lang="en-US" b="1">
                <a:solidFill>
                  <a:schemeClr val="tx1"/>
                </a:solidFill>
              </a:rPr>
              <a:t>}</a:t>
            </a:r>
            <a:endParaRPr lang="en-US" sz="1600" b="1"/>
          </a:p>
          <a:p>
            <a:endParaRPr lang="en-US" sz="1600" b="1"/>
          </a:p>
          <a:p>
            <a:pPr marL="36900" indent="0">
              <a:buNone/>
            </a:pPr>
            <a:endParaRPr lang="en-US" sz="1600" b="1"/>
          </a:p>
        </p:txBody>
      </p:sp>
      <p:pic>
        <p:nvPicPr>
          <p:cNvPr id="5" name="Picture 4">
            <a:extLst>
              <a:ext uri="{FF2B5EF4-FFF2-40B4-BE49-F238E27FC236}">
                <a16:creationId xmlns:a16="http://schemas.microsoft.com/office/drawing/2014/main" id="{540959A6-3BAE-9DDC-9F16-D6E31FCA4792}"/>
              </a:ext>
            </a:extLst>
          </p:cNvPr>
          <p:cNvPicPr>
            <a:picLocks noChangeAspect="1"/>
          </p:cNvPicPr>
          <p:nvPr/>
        </p:nvPicPr>
        <p:blipFill>
          <a:blip r:embed="rId3"/>
          <a:stretch>
            <a:fillRect/>
          </a:stretch>
        </p:blipFill>
        <p:spPr>
          <a:xfrm>
            <a:off x="443569" y="876301"/>
            <a:ext cx="6014381" cy="1349208"/>
          </a:xfrm>
          <a:prstGeom prst="rect">
            <a:avLst/>
          </a:prstGeom>
        </p:spPr>
      </p:pic>
    </p:spTree>
    <p:extLst>
      <p:ext uri="{BB962C8B-B14F-4D97-AF65-F5344CB8AC3E}">
        <p14:creationId xmlns:p14="http://schemas.microsoft.com/office/powerpoint/2010/main" val="30103449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604E-1F68-0808-3438-481338B84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84B2C-9797-1BE5-5602-03E855790B26}"/>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F7537EEE-FC8E-7CCB-DDC1-672EA7C4A0A0}"/>
              </a:ext>
            </a:extLst>
          </p:cNvPr>
          <p:cNvSpPr>
            <a:spLocks noGrp="1"/>
          </p:cNvSpPr>
          <p:nvPr>
            <p:ph idx="1"/>
          </p:nvPr>
        </p:nvSpPr>
        <p:spPr>
          <a:xfrm>
            <a:off x="85726" y="504824"/>
            <a:ext cx="12106274" cy="6353175"/>
          </a:xfrm>
        </p:spPr>
        <p:txBody>
          <a:bodyPr/>
          <a:lstStyle/>
          <a:p>
            <a:r>
              <a:rPr lang="en-US" sz="2400" b="1">
                <a:solidFill>
                  <a:srgbClr val="FFC000"/>
                </a:solidFill>
              </a:rPr>
              <a:t>AT Documents tab [ </a:t>
            </a:r>
            <a:r>
              <a:rPr lang="ar-EG" sz="2400" b="1">
                <a:solidFill>
                  <a:srgbClr val="FFC000"/>
                </a:solidFill>
              </a:rPr>
              <a:t>المستندات</a:t>
            </a:r>
            <a:r>
              <a:rPr lang="en-US" sz="2400" b="1">
                <a:solidFill>
                  <a:srgbClr val="FFC000"/>
                </a:solidFill>
              </a:rPr>
              <a:t> ]</a:t>
            </a:r>
            <a:endParaRPr lang="ar-EG" sz="2400" b="1">
              <a:solidFill>
                <a:srgbClr val="FFC000"/>
              </a:solidFill>
            </a:endParaRPr>
          </a:p>
          <a:p>
            <a:pPr marL="415800" indent="-342900"/>
            <a:r>
              <a:rPr lang="en-US" b="1">
                <a:solidFill>
                  <a:schemeClr val="tx1"/>
                </a:solidFill>
              </a:rPr>
              <a:t>After click on </a:t>
            </a:r>
            <a:r>
              <a:rPr lang="ar-EG" b="1">
                <a:solidFill>
                  <a:schemeClr val="tx1"/>
                </a:solidFill>
              </a:rPr>
              <a:t>تعديل</a:t>
            </a:r>
            <a:endParaRPr lang="ar-EG" b="1">
              <a:solidFill>
                <a:srgbClr val="FFFF00"/>
              </a:solidFill>
            </a:endParaRPr>
          </a:p>
          <a:p>
            <a:pPr lvl="1"/>
            <a:r>
              <a:rPr lang="en-US" sz="1400" b="1"/>
              <a:t>Flow_Funding_requestService.</a:t>
            </a:r>
            <a:r>
              <a:rPr lang="en-US" sz="1400" b="1">
                <a:solidFill>
                  <a:srgbClr val="FFFF00"/>
                </a:solidFill>
              </a:rPr>
              <a:t>InsertDocument</a:t>
            </a:r>
            <a:r>
              <a:rPr lang="en-US" sz="1400" b="1"/>
              <a:t> (List&lt;documentsFiles&gt; filesupload, decimal id, List&lt;Flow_Download&gt; OldDocs)</a:t>
            </a:r>
          </a:p>
          <a:p>
            <a:pPr lvl="1"/>
            <a:r>
              <a:rPr lang="en-US" sz="1600" b="1">
                <a:solidFill>
                  <a:schemeClr val="tx1"/>
                </a:solidFill>
              </a:rPr>
              <a:t>The uploaded docs will be  saved  on </a:t>
            </a:r>
            <a:r>
              <a:rPr lang="en-US" sz="1600" b="1">
                <a:solidFill>
                  <a:srgbClr val="FF0000"/>
                </a:solidFill>
              </a:rPr>
              <a:t>TWF</a:t>
            </a:r>
            <a:r>
              <a:rPr lang="en-US" sz="1600" b="1">
                <a:solidFill>
                  <a:schemeClr val="tx1"/>
                </a:solidFill>
              </a:rPr>
              <a:t>.</a:t>
            </a:r>
            <a:r>
              <a:rPr lang="en-US" sz="1600" b="1">
                <a:solidFill>
                  <a:srgbClr val="FFFF00"/>
                </a:solidFill>
              </a:rPr>
              <a:t>TWF_Download table</a:t>
            </a:r>
            <a:endParaRPr lang="en-US" sz="1600" b="1"/>
          </a:p>
          <a:p>
            <a:pPr lvl="1"/>
            <a:endParaRPr lang="en-US" sz="1400" b="1"/>
          </a:p>
          <a:p>
            <a:pPr lvl="1"/>
            <a:endParaRPr lang="en-US" sz="1400" b="1"/>
          </a:p>
          <a:p>
            <a:endParaRPr lang="en-US" sz="1800" b="1"/>
          </a:p>
          <a:p>
            <a:r>
              <a:rPr lang="en-US" sz="1800" b="1"/>
              <a:t>Screen_name</a:t>
            </a:r>
          </a:p>
          <a:p>
            <a:pPr lvl="1"/>
            <a:r>
              <a:rPr lang="en-US" sz="1600" b="1"/>
              <a:t>DG444 : </a:t>
            </a:r>
            <a:r>
              <a:rPr lang="ar-EG" sz="1600" b="1"/>
              <a:t>مستندات الضامن </a:t>
            </a:r>
            <a:r>
              <a:rPr lang="en-US" sz="1600" b="1"/>
              <a:t>	 // Scr_DefCode from </a:t>
            </a:r>
            <a:r>
              <a:rPr lang="en-US" sz="1600" b="1">
                <a:solidFill>
                  <a:srgbClr val="FFC000"/>
                </a:solidFill>
              </a:rPr>
              <a:t>flow_tabs</a:t>
            </a:r>
          </a:p>
          <a:p>
            <a:pPr lvl="1"/>
            <a:r>
              <a:rPr lang="en-US" sz="1600" b="1"/>
              <a:t>DG333 : </a:t>
            </a:r>
            <a:r>
              <a:rPr lang="ar-EG" sz="1600" b="1"/>
              <a:t>مستندات العميل</a:t>
            </a:r>
            <a:r>
              <a:rPr lang="en-US" sz="1600" b="1"/>
              <a:t>     // Scr_DefCode from </a:t>
            </a:r>
            <a:r>
              <a:rPr lang="en-US" sz="1600" b="1">
                <a:solidFill>
                  <a:srgbClr val="FFC000"/>
                </a:solidFill>
              </a:rPr>
              <a:t>flow_tabs</a:t>
            </a:r>
            <a:endParaRPr lang="en-US" sz="1600" b="1"/>
          </a:p>
          <a:p>
            <a:r>
              <a:rPr lang="en-US" sz="1800" b="1"/>
              <a:t>Field_ID</a:t>
            </a:r>
          </a:p>
          <a:p>
            <a:pPr lvl="1"/>
            <a:r>
              <a:rPr lang="en-US" sz="1600" b="1"/>
              <a:t>1000 : </a:t>
            </a:r>
            <a:r>
              <a:rPr lang="ar-EG" sz="1600" b="1"/>
              <a:t>بطاقة الرقم القومي-ضامن </a:t>
            </a:r>
            <a:r>
              <a:rPr lang="en-US" sz="1600" b="1"/>
              <a:t>  // docId  From </a:t>
            </a:r>
            <a:r>
              <a:rPr lang="en-US" sz="1600" b="1">
                <a:solidFill>
                  <a:srgbClr val="FFC000"/>
                </a:solidFill>
              </a:rPr>
              <a:t>types_documents</a:t>
            </a:r>
            <a:r>
              <a:rPr lang="en-US" sz="1600" b="1"/>
              <a:t> </a:t>
            </a:r>
          </a:p>
          <a:p>
            <a:pPr lvl="1"/>
            <a:r>
              <a:rPr lang="en-US" sz="1600" b="1"/>
              <a:t>1       : </a:t>
            </a:r>
            <a:r>
              <a:rPr lang="ar-EG" sz="1600" b="1"/>
              <a:t>بطاقة الرقم القومى</a:t>
            </a:r>
            <a:r>
              <a:rPr lang="en-US" sz="1600" b="1"/>
              <a:t>		// docId from </a:t>
            </a:r>
            <a:r>
              <a:rPr lang="en-US" sz="1600" b="1">
                <a:solidFill>
                  <a:srgbClr val="FFC000"/>
                </a:solidFill>
              </a:rPr>
              <a:t>types_documents </a:t>
            </a:r>
          </a:p>
        </p:txBody>
      </p:sp>
      <p:pic>
        <p:nvPicPr>
          <p:cNvPr id="6" name="Picture 5">
            <a:extLst>
              <a:ext uri="{FF2B5EF4-FFF2-40B4-BE49-F238E27FC236}">
                <a16:creationId xmlns:a16="http://schemas.microsoft.com/office/drawing/2014/main" id="{1C099926-3DEA-8114-7388-6AABB12140C2}"/>
              </a:ext>
            </a:extLst>
          </p:cNvPr>
          <p:cNvPicPr>
            <a:picLocks noChangeAspect="1"/>
          </p:cNvPicPr>
          <p:nvPr/>
        </p:nvPicPr>
        <p:blipFill>
          <a:blip r:embed="rId2"/>
          <a:stretch>
            <a:fillRect/>
          </a:stretch>
        </p:blipFill>
        <p:spPr>
          <a:xfrm>
            <a:off x="209550" y="2280060"/>
            <a:ext cx="10012871" cy="653225"/>
          </a:xfrm>
          <a:prstGeom prst="rect">
            <a:avLst/>
          </a:prstGeom>
        </p:spPr>
      </p:pic>
    </p:spTree>
    <p:extLst>
      <p:ext uri="{BB962C8B-B14F-4D97-AF65-F5344CB8AC3E}">
        <p14:creationId xmlns:p14="http://schemas.microsoft.com/office/powerpoint/2010/main" val="81864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CC46B-DEF5-4455-CE0D-CBA5022A1FFD}"/>
              </a:ext>
            </a:extLst>
          </p:cNvPr>
          <p:cNvSpPr>
            <a:spLocks noGrp="1"/>
          </p:cNvSpPr>
          <p:nvPr>
            <p:ph type="title"/>
          </p:nvPr>
        </p:nvSpPr>
        <p:spPr>
          <a:xfrm>
            <a:off x="0" y="1"/>
            <a:ext cx="12192000" cy="584200"/>
          </a:xfrm>
        </p:spPr>
        <p:txBody>
          <a:bodyPr>
            <a:normAutofit fontScale="90000"/>
          </a:bodyPr>
          <a:lstStyle/>
          <a:p>
            <a:r>
              <a:rPr lang="en-US" sz="3600" b="1"/>
              <a:t>The uploaded files in this stage</a:t>
            </a:r>
          </a:p>
        </p:txBody>
      </p:sp>
      <p:pic>
        <p:nvPicPr>
          <p:cNvPr id="5" name="Content Placeholder 4">
            <a:extLst>
              <a:ext uri="{FF2B5EF4-FFF2-40B4-BE49-F238E27FC236}">
                <a16:creationId xmlns:a16="http://schemas.microsoft.com/office/drawing/2014/main" id="{D76CF295-7C23-9ED2-EAC9-6B9550CB4AB7}"/>
              </a:ext>
            </a:extLst>
          </p:cNvPr>
          <p:cNvPicPr>
            <a:picLocks noGrp="1" noChangeAspect="1"/>
          </p:cNvPicPr>
          <p:nvPr>
            <p:ph idx="1"/>
          </p:nvPr>
        </p:nvPicPr>
        <p:blipFill>
          <a:blip r:embed="rId2"/>
          <a:stretch>
            <a:fillRect/>
          </a:stretch>
        </p:blipFill>
        <p:spPr>
          <a:xfrm>
            <a:off x="1034509" y="584201"/>
            <a:ext cx="8771460" cy="105833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303037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2B82-19C2-AF50-6606-C2065C475936}"/>
              </a:ext>
            </a:extLst>
          </p:cNvPr>
          <p:cNvSpPr>
            <a:spLocks noGrp="1"/>
          </p:cNvSpPr>
          <p:nvPr>
            <p:ph type="title"/>
          </p:nvPr>
        </p:nvSpPr>
        <p:spPr>
          <a:xfrm>
            <a:off x="-5324" y="0"/>
            <a:ext cx="12192000" cy="55245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[cont.9]</a:t>
            </a:r>
            <a:endParaRPr lang="en-US" sz="3200"/>
          </a:p>
        </p:txBody>
      </p:sp>
      <p:sp>
        <p:nvSpPr>
          <p:cNvPr id="3" name="Content Placeholder 2">
            <a:extLst>
              <a:ext uri="{FF2B5EF4-FFF2-40B4-BE49-F238E27FC236}">
                <a16:creationId xmlns:a16="http://schemas.microsoft.com/office/drawing/2014/main" id="{48D177F6-EE9F-EF64-46F3-5458301A62F0}"/>
              </a:ext>
            </a:extLst>
          </p:cNvPr>
          <p:cNvSpPr>
            <a:spLocks noGrp="1"/>
          </p:cNvSpPr>
          <p:nvPr>
            <p:ph idx="1"/>
          </p:nvPr>
        </p:nvSpPr>
        <p:spPr>
          <a:xfrm>
            <a:off x="85726" y="552451"/>
            <a:ext cx="12001500" cy="6048374"/>
          </a:xfrm>
        </p:spPr>
        <p:txBody>
          <a:bodyPr>
            <a:normAutofit/>
          </a:bodyPr>
          <a:lstStyle/>
          <a:p>
            <a:r>
              <a:rPr lang="en-US" sz="2600" b="1"/>
              <a:t>TWF.Flow_Customers</a:t>
            </a:r>
          </a:p>
          <a:p>
            <a:pPr lvl="1"/>
            <a:r>
              <a:rPr lang="en-US" sz="2000" b="1"/>
              <a:t>Csutomer fields are filled</a:t>
            </a:r>
          </a:p>
          <a:p>
            <a:pPr lvl="1"/>
            <a:endParaRPr lang="en-US" sz="2000" b="1"/>
          </a:p>
        </p:txBody>
      </p:sp>
    </p:spTree>
    <p:extLst>
      <p:ext uri="{BB962C8B-B14F-4D97-AF65-F5344CB8AC3E}">
        <p14:creationId xmlns:p14="http://schemas.microsoft.com/office/powerpoint/2010/main" val="2093535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6A4B-45E8-E054-30AA-41B509625B82}"/>
              </a:ext>
            </a:extLst>
          </p:cNvPr>
          <p:cNvSpPr>
            <a:spLocks noGrp="1"/>
          </p:cNvSpPr>
          <p:nvPr>
            <p:ph type="title"/>
          </p:nvPr>
        </p:nvSpPr>
        <p:spPr>
          <a:xfrm>
            <a:off x="0" y="0"/>
            <a:ext cx="12191999"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CDA55EBE-A62D-458B-C36F-98673DF15EAF}"/>
              </a:ext>
            </a:extLst>
          </p:cNvPr>
          <p:cNvSpPr>
            <a:spLocks noGrp="1"/>
          </p:cNvSpPr>
          <p:nvPr>
            <p:ph idx="1"/>
          </p:nvPr>
        </p:nvSpPr>
        <p:spPr>
          <a:xfrm>
            <a:off x="419100" y="970451"/>
            <a:ext cx="11477625" cy="5382724"/>
          </a:xfrm>
        </p:spPr>
        <p:txBody>
          <a:bodyPr/>
          <a:lstStyle/>
          <a:p>
            <a:r>
              <a:rPr lang="en-US" b="1">
                <a:solidFill>
                  <a:srgbClr val="FFFF00"/>
                </a:solidFill>
              </a:rPr>
              <a:t>TWF</a:t>
            </a:r>
            <a:r>
              <a:rPr lang="en-US"/>
              <a:t>.</a:t>
            </a:r>
            <a:r>
              <a:rPr lang="en-US" b="1">
                <a:solidFill>
                  <a:srgbClr val="00B0F0"/>
                </a:solidFill>
              </a:rPr>
              <a:t>Flow_Funding_Guaranter</a:t>
            </a:r>
          </a:p>
          <a:p>
            <a:pPr lvl="1"/>
            <a:r>
              <a:rPr lang="en-US" b="1"/>
              <a:t>requestId : from request</a:t>
            </a:r>
          </a:p>
          <a:p>
            <a:pPr lvl="1"/>
            <a:r>
              <a:rPr lang="en-US" b="1"/>
              <a:t>guarantorId : from Flow_Customer</a:t>
            </a:r>
          </a:p>
          <a:p>
            <a:endParaRPr lang="en-US" b="1"/>
          </a:p>
          <a:p>
            <a:endParaRPr lang="en-US" b="1"/>
          </a:p>
          <a:p>
            <a:endParaRPr lang="en-US" b="1"/>
          </a:p>
          <a:p>
            <a:endParaRPr lang="en-US" b="1"/>
          </a:p>
        </p:txBody>
      </p:sp>
    </p:spTree>
    <p:extLst>
      <p:ext uri="{BB962C8B-B14F-4D97-AF65-F5344CB8AC3E}">
        <p14:creationId xmlns:p14="http://schemas.microsoft.com/office/powerpoint/2010/main" val="9632509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6253-F525-76C3-5D24-33CE0FAA73CD}"/>
              </a:ext>
            </a:extLst>
          </p:cNvPr>
          <p:cNvSpPr>
            <a:spLocks noGrp="1"/>
          </p:cNvSpPr>
          <p:nvPr>
            <p:ph type="title"/>
          </p:nvPr>
        </p:nvSpPr>
        <p:spPr>
          <a:xfrm>
            <a:off x="913795" y="0"/>
            <a:ext cx="10353762" cy="601133"/>
          </a:xfrm>
        </p:spPr>
        <p:txBody>
          <a:bodyPr>
            <a:normAutofit fontScale="90000"/>
          </a:bodyPr>
          <a:lstStyle/>
          <a:p>
            <a:r>
              <a:rPr lang="en-US"/>
              <a:t>After LO </a:t>
            </a:r>
            <a:r>
              <a:rPr lang="ar-EG"/>
              <a:t>حفظ وإرسال</a:t>
            </a:r>
            <a:endParaRPr lang="en-US"/>
          </a:p>
        </p:txBody>
      </p:sp>
      <p:sp>
        <p:nvSpPr>
          <p:cNvPr id="3" name="Content Placeholder 2">
            <a:extLst>
              <a:ext uri="{FF2B5EF4-FFF2-40B4-BE49-F238E27FC236}">
                <a16:creationId xmlns:a16="http://schemas.microsoft.com/office/drawing/2014/main" id="{06923255-3289-6E8E-D7D0-D69DA289740C}"/>
              </a:ext>
            </a:extLst>
          </p:cNvPr>
          <p:cNvSpPr>
            <a:spLocks noGrp="1"/>
          </p:cNvSpPr>
          <p:nvPr>
            <p:ph idx="1"/>
          </p:nvPr>
        </p:nvSpPr>
        <p:spPr>
          <a:xfrm>
            <a:off x="203200" y="601132"/>
            <a:ext cx="11895667" cy="6142567"/>
          </a:xfrm>
        </p:spPr>
        <p:txBody>
          <a:bodyPr>
            <a:normAutofit/>
          </a:bodyPr>
          <a:lstStyle/>
          <a:p>
            <a:r>
              <a:rPr lang="en-US" b="1">
                <a:solidFill>
                  <a:srgbClr val="FFFF00"/>
                </a:solidFill>
              </a:rPr>
              <a:t>The Funding_request</a:t>
            </a:r>
          </a:p>
          <a:p>
            <a:pPr lvl="1"/>
            <a:r>
              <a:rPr lang="en-US"/>
              <a:t>Status_code:  from </a:t>
            </a:r>
            <a:r>
              <a:rPr lang="en-US" b="1">
                <a:solidFill>
                  <a:srgbClr val="FFC000"/>
                </a:solidFill>
              </a:rPr>
              <a:t>0</a:t>
            </a:r>
            <a:r>
              <a:rPr lang="en-US"/>
              <a:t> [at LO] to </a:t>
            </a:r>
            <a:r>
              <a:rPr lang="en-US" b="1">
                <a:solidFill>
                  <a:srgbClr val="FFC000"/>
                </a:solidFill>
              </a:rPr>
              <a:t>56</a:t>
            </a:r>
            <a:r>
              <a:rPr lang="en-US"/>
              <a:t> // deported to CO</a:t>
            </a:r>
          </a:p>
          <a:p>
            <a:r>
              <a:rPr lang="en-US" b="1">
                <a:solidFill>
                  <a:srgbClr val="FFFF00"/>
                </a:solidFill>
              </a:rPr>
              <a:t>Request_Deportation</a:t>
            </a:r>
          </a:p>
          <a:p>
            <a:pPr lvl="1"/>
            <a:r>
              <a:rPr lang="en-US" b="1"/>
              <a:t>UserId_to = 5642    // from LO UserId to CO UserId</a:t>
            </a:r>
          </a:p>
          <a:p>
            <a:pPr lvl="1"/>
            <a:r>
              <a:rPr lang="en-US" b="1"/>
              <a:t>Name_step_to:	from</a:t>
            </a:r>
            <a:r>
              <a:rPr lang="ar-EG" b="1"/>
              <a:t> </a:t>
            </a:r>
            <a:r>
              <a:rPr lang="ar-EG" b="1">
                <a:solidFill>
                  <a:srgbClr val="FFC000"/>
                </a:solidFill>
              </a:rPr>
              <a:t>طلب تمويل</a:t>
            </a:r>
            <a:r>
              <a:rPr lang="ar-EG" b="1"/>
              <a:t> </a:t>
            </a:r>
            <a:r>
              <a:rPr lang="en-US" b="1"/>
              <a:t> TO</a:t>
            </a:r>
            <a:r>
              <a:rPr lang="ar-EG" b="1"/>
              <a:t> </a:t>
            </a:r>
            <a:r>
              <a:rPr lang="en-US" b="1"/>
              <a:t> </a:t>
            </a:r>
            <a:r>
              <a:rPr lang="ar-EG" b="1">
                <a:solidFill>
                  <a:srgbClr val="FFC000"/>
                </a:solidFill>
              </a:rPr>
              <a:t>مراجعة أولية</a:t>
            </a:r>
            <a:endParaRPr lang="en-US" b="1">
              <a:solidFill>
                <a:srgbClr val="FFC000"/>
              </a:solidFill>
            </a:endParaRPr>
          </a:p>
          <a:p>
            <a:pPr lvl="1"/>
            <a:r>
              <a:rPr lang="en-US" b="1"/>
              <a:t>Code_action (from: Flow_Actions): </a:t>
            </a:r>
            <a:r>
              <a:rPr lang="en-US" sz="2000" b="1"/>
              <a:t>from </a:t>
            </a:r>
            <a:r>
              <a:rPr lang="en-US" sz="2000" b="1">
                <a:solidFill>
                  <a:srgbClr val="FFC000"/>
                </a:solidFill>
              </a:rPr>
              <a:t>null</a:t>
            </a:r>
            <a:r>
              <a:rPr lang="en-US" sz="2000" b="1"/>
              <a:t> to </a:t>
            </a:r>
            <a:r>
              <a:rPr lang="en-US" sz="2000" b="1">
                <a:solidFill>
                  <a:srgbClr val="FFC000"/>
                </a:solidFill>
              </a:rPr>
              <a:t>1</a:t>
            </a:r>
            <a:r>
              <a:rPr lang="en-US" sz="2000" b="1"/>
              <a:t> </a:t>
            </a:r>
            <a:endParaRPr lang="en-US" b="1"/>
          </a:p>
          <a:p>
            <a:pPr lvl="1"/>
            <a:r>
              <a:rPr lang="en-US" b="1"/>
              <a:t>Status_one: from </a:t>
            </a:r>
            <a:r>
              <a:rPr lang="en-US" b="1">
                <a:solidFill>
                  <a:srgbClr val="FFFF00"/>
                </a:solidFill>
              </a:rPr>
              <a:t>Inprocess</a:t>
            </a:r>
            <a:r>
              <a:rPr lang="en-US" b="1"/>
              <a:t> to  </a:t>
            </a:r>
            <a:r>
              <a:rPr lang="en-US" b="1">
                <a:solidFill>
                  <a:srgbClr val="FFC000"/>
                </a:solidFill>
              </a:rPr>
              <a:t>Approved</a:t>
            </a:r>
            <a:r>
              <a:rPr lang="en-US" b="1"/>
              <a:t>  --- means the Name_step_from  : </a:t>
            </a:r>
            <a:r>
              <a:rPr lang="ar-EG" b="1"/>
              <a:t>طلب تمويل</a:t>
            </a:r>
            <a:r>
              <a:rPr lang="en-US" b="1"/>
              <a:t> is approved</a:t>
            </a:r>
          </a:p>
          <a:p>
            <a:pPr lvl="1"/>
            <a:r>
              <a:rPr lang="en-US" b="1"/>
              <a:t>Status_two: from </a:t>
            </a:r>
            <a:r>
              <a:rPr lang="en-US" b="1">
                <a:solidFill>
                  <a:srgbClr val="FFFF00"/>
                </a:solidFill>
              </a:rPr>
              <a:t>R111</a:t>
            </a:r>
            <a:r>
              <a:rPr lang="en-US" b="1"/>
              <a:t> to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en-US" b="1">
              <a:solidFill>
                <a:srgbClr val="FFFF00"/>
              </a:solidFill>
            </a:endParaRPr>
          </a:p>
          <a:p>
            <a:pPr lvl="1"/>
            <a:r>
              <a:rPr lang="en-US" b="1"/>
              <a:t>Date_Assigned: from </a:t>
            </a:r>
            <a:r>
              <a:rPr lang="en-US" b="1">
                <a:solidFill>
                  <a:srgbClr val="FFFF00"/>
                </a:solidFill>
              </a:rPr>
              <a:t>NULL</a:t>
            </a:r>
            <a:r>
              <a:rPr lang="en-US" b="1"/>
              <a:t> to </a:t>
            </a:r>
            <a:r>
              <a:rPr lang="en-US" b="1">
                <a:solidFill>
                  <a:srgbClr val="FFC000"/>
                </a:solidFill>
              </a:rPr>
              <a:t>current datetime</a:t>
            </a:r>
          </a:p>
          <a:p>
            <a:r>
              <a:rPr lang="en-US" b="1">
                <a:solidFill>
                  <a:srgbClr val="FFFF00"/>
                </a:solidFill>
              </a:rPr>
              <a:t>Requests_Log</a:t>
            </a:r>
          </a:p>
          <a:p>
            <a:endParaRPr lang="en-US"/>
          </a:p>
          <a:p>
            <a:pPr lvl="1"/>
            <a:endParaRPr lang="en-US" b="1"/>
          </a:p>
          <a:p>
            <a:pPr lvl="1"/>
            <a:r>
              <a:rPr lang="en-US" b="1"/>
              <a:t>Action_Flag : at first row from NULL to 5 [ </a:t>
            </a:r>
            <a:r>
              <a:rPr lang="ar-EG" b="1"/>
              <a:t>حفظ وإرسال</a:t>
            </a:r>
            <a:r>
              <a:rPr lang="en-US" b="1"/>
              <a:t> ]</a:t>
            </a:r>
          </a:p>
          <a:p>
            <a:pPr lvl="1"/>
            <a:r>
              <a:rPr lang="en-US" b="1"/>
              <a:t>Another record is added with UserId of CO</a:t>
            </a:r>
          </a:p>
        </p:txBody>
      </p:sp>
      <p:pic>
        <p:nvPicPr>
          <p:cNvPr id="5" name="Picture 4">
            <a:extLst>
              <a:ext uri="{FF2B5EF4-FFF2-40B4-BE49-F238E27FC236}">
                <a16:creationId xmlns:a16="http://schemas.microsoft.com/office/drawing/2014/main" id="{DFAD650E-9FED-64E5-83DC-37AED2A121DC}"/>
              </a:ext>
            </a:extLst>
          </p:cNvPr>
          <p:cNvPicPr>
            <a:picLocks noChangeAspect="1"/>
          </p:cNvPicPr>
          <p:nvPr/>
        </p:nvPicPr>
        <p:blipFill>
          <a:blip r:embed="rId2"/>
          <a:stretch>
            <a:fillRect/>
          </a:stretch>
        </p:blipFill>
        <p:spPr>
          <a:xfrm>
            <a:off x="913795" y="4850108"/>
            <a:ext cx="9097862" cy="769642"/>
          </a:xfrm>
          <a:prstGeom prst="rect">
            <a:avLst/>
          </a:prstGeom>
        </p:spPr>
      </p:pic>
    </p:spTree>
    <p:extLst>
      <p:ext uri="{BB962C8B-B14F-4D97-AF65-F5344CB8AC3E}">
        <p14:creationId xmlns:p14="http://schemas.microsoft.com/office/powerpoint/2010/main" val="292470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F341B-E257-736A-69A6-9CAC11F89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F745D-A560-F65F-FFDC-8C72CAD6CD3F}"/>
              </a:ext>
            </a:extLst>
          </p:cNvPr>
          <p:cNvSpPr>
            <a:spLocks noGrp="1"/>
          </p:cNvSpPr>
          <p:nvPr>
            <p:ph type="title"/>
          </p:nvPr>
        </p:nvSpPr>
        <p:spPr>
          <a:xfrm>
            <a:off x="457200" y="2458550"/>
            <a:ext cx="11210925" cy="970450"/>
          </a:xfrm>
        </p:spPr>
        <p:txBody>
          <a:bodyPr>
            <a:normAutofit/>
          </a:bodyPr>
          <a:lstStyle/>
          <a:p>
            <a:r>
              <a:rPr lang="en-US" sz="4400" b="1">
                <a:solidFill>
                  <a:srgbClr val="FF0000"/>
                </a:solidFill>
              </a:rPr>
              <a:t>Start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185877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BB91-98CE-6A6A-A990-7656F7DC21F9}"/>
              </a:ext>
            </a:extLst>
          </p:cNvPr>
          <p:cNvSpPr>
            <a:spLocks noGrp="1"/>
          </p:cNvSpPr>
          <p:nvPr>
            <p:ph type="title"/>
          </p:nvPr>
        </p:nvSpPr>
        <p:spPr>
          <a:xfrm>
            <a:off x="913795" y="0"/>
            <a:ext cx="10353762" cy="497150"/>
          </a:xfrm>
        </p:spPr>
        <p:txBody>
          <a:bodyPr>
            <a:normAutofit fontScale="90000"/>
          </a:bodyPr>
          <a:lstStyle/>
          <a:p>
            <a:r>
              <a:rPr lang="en-US" b="1"/>
              <a:t>When CO Opens Funding Request</a:t>
            </a:r>
          </a:p>
        </p:txBody>
      </p:sp>
      <p:sp>
        <p:nvSpPr>
          <p:cNvPr id="3" name="Content Placeholder 2">
            <a:extLst>
              <a:ext uri="{FF2B5EF4-FFF2-40B4-BE49-F238E27FC236}">
                <a16:creationId xmlns:a16="http://schemas.microsoft.com/office/drawing/2014/main" id="{D9EE0995-A5DD-AC4E-353E-B1364B70A2EF}"/>
              </a:ext>
            </a:extLst>
          </p:cNvPr>
          <p:cNvSpPr>
            <a:spLocks noGrp="1"/>
          </p:cNvSpPr>
          <p:nvPr>
            <p:ph idx="1"/>
          </p:nvPr>
        </p:nvSpPr>
        <p:spPr>
          <a:xfrm>
            <a:off x="147484" y="497151"/>
            <a:ext cx="11838039" cy="6257610"/>
          </a:xfrm>
        </p:spPr>
        <p:txBody>
          <a:bodyPr/>
          <a:lstStyle/>
          <a:p>
            <a:endParaRPr lang="en-US"/>
          </a:p>
          <a:p>
            <a:r>
              <a:rPr lang="en-US"/>
              <a:t>Flow_Funding_dataController/GetOne</a:t>
            </a:r>
          </a:p>
          <a:p>
            <a:pPr lvl="1"/>
            <a:r>
              <a:rPr lang="en-US"/>
              <a:t>Flow_Funding_dataService. GetOne</a:t>
            </a:r>
          </a:p>
          <a:p>
            <a:endParaRPr lang="en-US"/>
          </a:p>
        </p:txBody>
      </p:sp>
    </p:spTree>
    <p:extLst>
      <p:ext uri="{BB962C8B-B14F-4D97-AF65-F5344CB8AC3E}">
        <p14:creationId xmlns:p14="http://schemas.microsoft.com/office/powerpoint/2010/main" val="32563299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90605-7D5A-E861-FE0C-BEEBF65E4208}"/>
              </a:ext>
            </a:extLst>
          </p:cNvPr>
          <p:cNvSpPr>
            <a:spLocks noGrp="1"/>
          </p:cNvSpPr>
          <p:nvPr>
            <p:ph type="title"/>
          </p:nvPr>
        </p:nvSpPr>
        <p:spPr>
          <a:xfrm>
            <a:off x="913795" y="1"/>
            <a:ext cx="10353762" cy="462116"/>
          </a:xfrm>
        </p:spPr>
        <p:txBody>
          <a:bodyPr>
            <a:normAutofit fontScale="90000"/>
          </a:bodyPr>
          <a:lstStyle/>
          <a:p>
            <a:r>
              <a:rPr lang="en-US" b="1"/>
              <a:t>When CO click on tab </a:t>
            </a:r>
            <a:r>
              <a:rPr lang="ar-EG" b="1"/>
              <a:t>مراجعة المسئول الأول</a:t>
            </a:r>
            <a:endParaRPr lang="en-US" b="1"/>
          </a:p>
        </p:txBody>
      </p:sp>
      <p:sp>
        <p:nvSpPr>
          <p:cNvPr id="3" name="Content Placeholder 2">
            <a:extLst>
              <a:ext uri="{FF2B5EF4-FFF2-40B4-BE49-F238E27FC236}">
                <a16:creationId xmlns:a16="http://schemas.microsoft.com/office/drawing/2014/main" id="{43A62BFF-3B5F-763E-6A94-66AC171FCDEB}"/>
              </a:ext>
            </a:extLst>
          </p:cNvPr>
          <p:cNvSpPr>
            <a:spLocks noGrp="1"/>
          </p:cNvSpPr>
          <p:nvPr>
            <p:ph idx="1"/>
          </p:nvPr>
        </p:nvSpPr>
        <p:spPr>
          <a:xfrm>
            <a:off x="88490" y="702732"/>
            <a:ext cx="11975691" cy="6061861"/>
          </a:xfrm>
        </p:spPr>
        <p:txBody>
          <a:bodyPr/>
          <a:lstStyle/>
          <a:p>
            <a:r>
              <a:rPr lang="en-US" sz="1800" b="1"/>
              <a:t>Flow_Funding_dataController/PageLoad/{</a:t>
            </a:r>
            <a:r>
              <a:rPr lang="en-US" sz="1800" b="1">
                <a:solidFill>
                  <a:srgbClr val="FFFF00"/>
                </a:solidFill>
              </a:rPr>
              <a:t>Request_id</a:t>
            </a:r>
            <a:r>
              <a:rPr lang="en-US" sz="1800" b="1"/>
              <a:t>}/{</a:t>
            </a:r>
            <a:r>
              <a:rPr lang="en-US" sz="1800" b="1">
                <a:solidFill>
                  <a:srgbClr val="FFFF00"/>
                </a:solidFill>
              </a:rPr>
              <a:t>Scr_DefCode</a:t>
            </a:r>
            <a:r>
              <a:rPr lang="en-US" sz="1800" b="1"/>
              <a:t>}</a:t>
            </a:r>
            <a:endParaRPr lang="ar-EG" sz="1800" b="1"/>
          </a:p>
          <a:p>
            <a:pPr lvl="1"/>
            <a:r>
              <a:rPr lang="en-US" b="1">
                <a:solidFill>
                  <a:srgbClr val="FFFF00"/>
                </a:solidFill>
              </a:rPr>
              <a:t>PageLoadVM Flow_Funding_dataService</a:t>
            </a:r>
            <a:r>
              <a:rPr lang="en-US"/>
              <a:t>.</a:t>
            </a:r>
            <a:r>
              <a:rPr lang="en-US" b="1">
                <a:solidFill>
                  <a:srgbClr val="00B0F0"/>
                </a:solidFill>
              </a:rPr>
              <a:t>PageLoad</a:t>
            </a:r>
            <a:r>
              <a:rPr lang="en-US" b="1"/>
              <a:t>(reqID, Scr_DefCode);</a:t>
            </a:r>
            <a:r>
              <a:rPr lang="ar-EG" b="1"/>
              <a:t> </a:t>
            </a:r>
          </a:p>
          <a:p>
            <a:pPr lvl="2"/>
            <a:r>
              <a:rPr lang="en-US" b="1"/>
              <a:t>Scr_DefCode = CO1010</a:t>
            </a:r>
            <a:endParaRPr lang="en-US"/>
          </a:p>
          <a:p>
            <a:pPr lvl="2"/>
            <a:r>
              <a:rPr lang="en-US" b="1">
                <a:solidFill>
                  <a:srgbClr val="FFFF00"/>
                </a:solidFill>
              </a:rPr>
              <a:t>PageLoadVM.</a:t>
            </a:r>
            <a:r>
              <a:rPr lang="en-US"/>
              <a:t>Tabs </a:t>
            </a:r>
          </a:p>
          <a:p>
            <a:pPr lvl="3"/>
            <a:r>
              <a:rPr lang="en-US" b="1"/>
              <a:t>GetOnlyThisTabs =  { "R111", "C333", "G444", "E555", "D222", "DC333", "DG444", "DE555" };</a:t>
            </a:r>
          </a:p>
          <a:p>
            <a:pPr lvl="3"/>
            <a:r>
              <a:rPr lang="en-US" b="1"/>
              <a:t>PreviousStepsForThisRequest = </a:t>
            </a:r>
            <a:r>
              <a:rPr lang="en-US" sz="1350" b="1"/>
              <a:t>from _</a:t>
            </a:r>
            <a:r>
              <a:rPr lang="en-US" sz="1350" b="1">
                <a:solidFill>
                  <a:srgbClr val="FFFF00"/>
                </a:solidFill>
              </a:rPr>
              <a:t>RequestLog get distict </a:t>
            </a:r>
            <a:r>
              <a:rPr lang="en-US" sz="1350" b="1"/>
              <a:t>Definition_number of the request and add then into GetOnlyThisTabs</a:t>
            </a:r>
            <a:endParaRPr lang="ar-EG" sz="1350" b="1"/>
          </a:p>
          <a:p>
            <a:r>
              <a:rPr lang="en-US"/>
              <a:t>When you select from select input </a:t>
            </a:r>
            <a:r>
              <a:rPr lang="ar-EG"/>
              <a:t>اختر الشاشة</a:t>
            </a:r>
            <a:endParaRPr lang="en-US"/>
          </a:p>
          <a:p>
            <a:pPr lvl="1"/>
            <a:r>
              <a:rPr lang="en-US" b="1">
                <a:solidFill>
                  <a:srgbClr val="FFFF00"/>
                </a:solidFill>
                <a:effectLst/>
              </a:rPr>
              <a:t>Flow_Link_Screen_componentsController</a:t>
            </a:r>
            <a:r>
              <a:rPr lang="en-US" b="1">
                <a:effectLst/>
              </a:rPr>
              <a:t>/GetFields</a:t>
            </a:r>
            <a:r>
              <a:rPr lang="en-US" b="1"/>
              <a:t>/{tabs_code}</a:t>
            </a:r>
          </a:p>
          <a:p>
            <a:pPr lvl="2"/>
            <a:r>
              <a:rPr lang="en-US" b="1">
                <a:solidFill>
                  <a:srgbClr val="00B0F0"/>
                </a:solidFill>
              </a:rPr>
              <a:t>IQueryable&lt;Flow_Screen_components&gt;</a:t>
            </a:r>
            <a:r>
              <a:rPr lang="en-US"/>
              <a:t> </a:t>
            </a:r>
            <a:r>
              <a:rPr lang="en-US" b="1"/>
              <a:t>Flow_Link_Screen_componentsService.GetFields()</a:t>
            </a:r>
            <a:endParaRPr lang="ar-EG" b="1"/>
          </a:p>
          <a:p>
            <a:endParaRPr lang="ar-EG" b="1"/>
          </a:p>
        </p:txBody>
      </p:sp>
    </p:spTree>
    <p:extLst>
      <p:ext uri="{BB962C8B-B14F-4D97-AF65-F5344CB8AC3E}">
        <p14:creationId xmlns:p14="http://schemas.microsoft.com/office/powerpoint/2010/main" val="332358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6CFAF-AE31-355A-6EA3-FA0EC95AA236}"/>
              </a:ext>
            </a:extLst>
          </p:cNvPr>
          <p:cNvSpPr>
            <a:spLocks noGrp="1"/>
          </p:cNvSpPr>
          <p:nvPr>
            <p:ph type="title"/>
          </p:nvPr>
        </p:nvSpPr>
        <p:spPr>
          <a:xfrm>
            <a:off x="913795" y="0"/>
            <a:ext cx="10353762" cy="970450"/>
          </a:xfrm>
        </p:spPr>
        <p:txBody>
          <a:bodyPr/>
          <a:lstStyle/>
          <a:p>
            <a:r>
              <a:rPr lang="en-US" b="1"/>
              <a:t>When CO click on tab </a:t>
            </a:r>
            <a:r>
              <a:rPr lang="ar-EG" b="1"/>
              <a:t>المستندات</a:t>
            </a:r>
            <a:endParaRPr lang="en-US"/>
          </a:p>
        </p:txBody>
      </p:sp>
      <p:sp>
        <p:nvSpPr>
          <p:cNvPr id="3" name="Content Placeholder 2">
            <a:extLst>
              <a:ext uri="{FF2B5EF4-FFF2-40B4-BE49-F238E27FC236}">
                <a16:creationId xmlns:a16="http://schemas.microsoft.com/office/drawing/2014/main" id="{94CA1D14-49F2-BCD2-A368-E7289CD48278}"/>
              </a:ext>
            </a:extLst>
          </p:cNvPr>
          <p:cNvSpPr>
            <a:spLocks noGrp="1"/>
          </p:cNvSpPr>
          <p:nvPr>
            <p:ph idx="1"/>
          </p:nvPr>
        </p:nvSpPr>
        <p:spPr>
          <a:xfrm>
            <a:off x="142874" y="970450"/>
            <a:ext cx="11953875" cy="5754199"/>
          </a:xfrm>
        </p:spPr>
        <p:txBody>
          <a:bodyPr/>
          <a:lstStyle/>
          <a:p>
            <a:r>
              <a:rPr lang="en-US"/>
              <a:t>Flow_DownloadController/</a:t>
            </a:r>
            <a:r>
              <a:rPr lang="en-US" b="1">
                <a:solidFill>
                  <a:srgbClr val="FFFF00"/>
                </a:solidFill>
              </a:rPr>
              <a:t>GetAllDownloadDocumentsFunding</a:t>
            </a:r>
            <a:r>
              <a:rPr lang="en-US"/>
              <a:t>/{Request_id}</a:t>
            </a:r>
          </a:p>
          <a:p>
            <a:pPr lvl="1"/>
            <a:r>
              <a:rPr lang="en-US" b="1">
                <a:solidFill>
                  <a:srgbClr val="FFFF00"/>
                </a:solidFill>
              </a:rPr>
              <a:t>Flow_DownloadService</a:t>
            </a:r>
            <a:r>
              <a:rPr lang="en-US"/>
              <a:t>. </a:t>
            </a:r>
            <a:r>
              <a:rPr lang="en-US" b="1">
                <a:solidFill>
                  <a:srgbClr val="00B0F0"/>
                </a:solidFill>
              </a:rPr>
              <a:t>GetAllDownloadDocumentsFunding</a:t>
            </a:r>
            <a:r>
              <a:rPr lang="en-US"/>
              <a:t>( </a:t>
            </a:r>
            <a:r>
              <a:rPr lang="en-US" b="1"/>
              <a:t>Request_id </a:t>
            </a:r>
            <a:r>
              <a:rPr lang="en-US"/>
              <a:t>)</a:t>
            </a:r>
          </a:p>
          <a:p>
            <a:endParaRPr lang="en-US"/>
          </a:p>
          <a:p>
            <a:endParaRPr lang="en-US"/>
          </a:p>
          <a:p>
            <a:endParaRPr lang="en-US"/>
          </a:p>
          <a:p>
            <a:endParaRPr lang="en-US"/>
          </a:p>
        </p:txBody>
      </p:sp>
      <p:pic>
        <p:nvPicPr>
          <p:cNvPr id="5" name="Picture 4">
            <a:extLst>
              <a:ext uri="{FF2B5EF4-FFF2-40B4-BE49-F238E27FC236}">
                <a16:creationId xmlns:a16="http://schemas.microsoft.com/office/drawing/2014/main" id="{733157A1-8258-F50D-333D-4BD9DC6987F0}"/>
              </a:ext>
            </a:extLst>
          </p:cNvPr>
          <p:cNvPicPr>
            <a:picLocks noChangeAspect="1"/>
          </p:cNvPicPr>
          <p:nvPr/>
        </p:nvPicPr>
        <p:blipFill>
          <a:blip r:embed="rId2"/>
          <a:stretch>
            <a:fillRect/>
          </a:stretch>
        </p:blipFill>
        <p:spPr>
          <a:xfrm>
            <a:off x="353977" y="1940900"/>
            <a:ext cx="8131245" cy="1813717"/>
          </a:xfrm>
          <a:prstGeom prst="rect">
            <a:avLst/>
          </a:prstGeom>
        </p:spPr>
      </p:pic>
      <p:pic>
        <p:nvPicPr>
          <p:cNvPr id="7" name="Picture 6">
            <a:extLst>
              <a:ext uri="{FF2B5EF4-FFF2-40B4-BE49-F238E27FC236}">
                <a16:creationId xmlns:a16="http://schemas.microsoft.com/office/drawing/2014/main" id="{D7221DAF-456A-1D3F-2AA3-60C8526510B1}"/>
              </a:ext>
            </a:extLst>
          </p:cNvPr>
          <p:cNvPicPr>
            <a:picLocks noChangeAspect="1"/>
          </p:cNvPicPr>
          <p:nvPr/>
        </p:nvPicPr>
        <p:blipFill>
          <a:blip r:embed="rId3"/>
          <a:stretch>
            <a:fillRect/>
          </a:stretch>
        </p:blipFill>
        <p:spPr>
          <a:xfrm>
            <a:off x="353977" y="3847549"/>
            <a:ext cx="8131245" cy="1524132"/>
          </a:xfrm>
          <a:prstGeom prst="rect">
            <a:avLst/>
          </a:prstGeom>
        </p:spPr>
      </p:pic>
    </p:spTree>
    <p:extLst>
      <p:ext uri="{BB962C8B-B14F-4D97-AF65-F5344CB8AC3E}">
        <p14:creationId xmlns:p14="http://schemas.microsoft.com/office/powerpoint/2010/main" val="7705147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AA0FF-B4D8-69AA-F196-F0B4ADE51C93}"/>
              </a:ext>
            </a:extLst>
          </p:cNvPr>
          <p:cNvSpPr>
            <a:spLocks noGrp="1"/>
          </p:cNvSpPr>
          <p:nvPr>
            <p:ph type="title"/>
          </p:nvPr>
        </p:nvSpPr>
        <p:spPr>
          <a:xfrm>
            <a:off x="913795" y="0"/>
            <a:ext cx="10353762" cy="643467"/>
          </a:xfrm>
        </p:spPr>
        <p:txBody>
          <a:bodyPr>
            <a:normAutofit fontScale="90000"/>
          </a:bodyPr>
          <a:lstStyle/>
          <a:p>
            <a:r>
              <a:rPr lang="en-US"/>
              <a:t>When CO click on </a:t>
            </a:r>
            <a:r>
              <a:rPr lang="ar-EG"/>
              <a:t>أسباب الرفض</a:t>
            </a:r>
            <a:r>
              <a:rPr lang="en-US"/>
              <a:t> </a:t>
            </a:r>
          </a:p>
        </p:txBody>
      </p:sp>
      <p:sp>
        <p:nvSpPr>
          <p:cNvPr id="3" name="Content Placeholder 2">
            <a:extLst>
              <a:ext uri="{FF2B5EF4-FFF2-40B4-BE49-F238E27FC236}">
                <a16:creationId xmlns:a16="http://schemas.microsoft.com/office/drawing/2014/main" id="{F39ECB69-2E62-1D39-9EFD-A0C2C61AA525}"/>
              </a:ext>
            </a:extLst>
          </p:cNvPr>
          <p:cNvSpPr>
            <a:spLocks noGrp="1"/>
          </p:cNvSpPr>
          <p:nvPr>
            <p:ph idx="1"/>
          </p:nvPr>
        </p:nvSpPr>
        <p:spPr>
          <a:xfrm>
            <a:off x="118532" y="643467"/>
            <a:ext cx="11997267" cy="6155266"/>
          </a:xfrm>
        </p:spPr>
        <p:txBody>
          <a:bodyPr>
            <a:normAutofit/>
          </a:bodyPr>
          <a:lstStyle/>
          <a:p>
            <a:r>
              <a:rPr lang="en-US" sz="1400" b="1">
                <a:solidFill>
                  <a:srgbClr val="00B0F0"/>
                </a:solidFill>
              </a:rPr>
              <a:t>Flow_Rejections_mainController</a:t>
            </a:r>
            <a:r>
              <a:rPr lang="en-US" sz="1400"/>
              <a:t>/</a:t>
            </a:r>
            <a:r>
              <a:rPr lang="en-US" sz="1400" b="1">
                <a:solidFill>
                  <a:srgbClr val="FFFF00"/>
                </a:solidFill>
              </a:rPr>
              <a:t>GetAllReasonsRejectionByRequest_id</a:t>
            </a:r>
            <a:r>
              <a:rPr lang="en-US" sz="1400" b="1"/>
              <a:t>/{Request_id}</a:t>
            </a:r>
          </a:p>
          <a:p>
            <a:pPr lvl="1"/>
            <a:r>
              <a:rPr lang="en-US" sz="1400" b="1">
                <a:solidFill>
                  <a:srgbClr val="FFC000"/>
                </a:solidFill>
              </a:rPr>
              <a:t>IQueryable&lt;Flow_Rejections_mainFieldVM&gt; </a:t>
            </a:r>
            <a:r>
              <a:rPr lang="en-US" sz="1400" b="1">
                <a:solidFill>
                  <a:srgbClr val="00B050"/>
                </a:solidFill>
              </a:rPr>
              <a:t>Flow_Rejections_mainService</a:t>
            </a:r>
            <a:r>
              <a:rPr lang="en-US" sz="1400" b="1"/>
              <a:t>.</a:t>
            </a:r>
            <a:r>
              <a:rPr lang="en-US" sz="1400" b="1">
                <a:solidFill>
                  <a:srgbClr val="00B0F0"/>
                </a:solidFill>
              </a:rPr>
              <a:t>GetAllReasonsRejectionByRequest_id</a:t>
            </a:r>
            <a:r>
              <a:rPr lang="en-US" sz="1400" b="1"/>
              <a:t> ( Request_id )</a:t>
            </a:r>
          </a:p>
          <a:p>
            <a:endParaRPr lang="en-US" sz="1800" b="1"/>
          </a:p>
          <a:p>
            <a:endParaRPr lang="en-US" sz="1800" b="1"/>
          </a:p>
          <a:p>
            <a:endParaRPr lang="en-US" sz="1800" b="1"/>
          </a:p>
          <a:p>
            <a:endParaRPr lang="en-US" sz="1800" b="1"/>
          </a:p>
        </p:txBody>
      </p:sp>
      <p:pic>
        <p:nvPicPr>
          <p:cNvPr id="5" name="Picture 4">
            <a:extLst>
              <a:ext uri="{FF2B5EF4-FFF2-40B4-BE49-F238E27FC236}">
                <a16:creationId xmlns:a16="http://schemas.microsoft.com/office/drawing/2014/main" id="{B1FF9F35-A0E1-F95A-EBF3-A06247B0E78B}"/>
              </a:ext>
            </a:extLst>
          </p:cNvPr>
          <p:cNvPicPr>
            <a:picLocks noChangeAspect="1"/>
          </p:cNvPicPr>
          <p:nvPr/>
        </p:nvPicPr>
        <p:blipFill>
          <a:blip r:embed="rId2"/>
          <a:stretch>
            <a:fillRect/>
          </a:stretch>
        </p:blipFill>
        <p:spPr>
          <a:xfrm>
            <a:off x="632756" y="1594731"/>
            <a:ext cx="3168777" cy="3794302"/>
          </a:xfrm>
          <a:prstGeom prst="rect">
            <a:avLst/>
          </a:prstGeom>
        </p:spPr>
      </p:pic>
    </p:spTree>
    <p:extLst>
      <p:ext uri="{BB962C8B-B14F-4D97-AF65-F5344CB8AC3E}">
        <p14:creationId xmlns:p14="http://schemas.microsoft.com/office/powerpoint/2010/main" val="274883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A6EC0-8C73-9F7F-970D-B1055F11CF04}"/>
              </a:ext>
            </a:extLst>
          </p:cNvPr>
          <p:cNvSpPr>
            <a:spLocks noGrp="1"/>
          </p:cNvSpPr>
          <p:nvPr>
            <p:ph type="title"/>
          </p:nvPr>
        </p:nvSpPr>
        <p:spPr>
          <a:xfrm>
            <a:off x="913795" y="0"/>
            <a:ext cx="10353762" cy="657225"/>
          </a:xfrm>
        </p:spPr>
        <p:txBody>
          <a:bodyPr>
            <a:normAutofit fontScale="90000"/>
          </a:bodyPr>
          <a:lstStyle/>
          <a:p>
            <a:r>
              <a:rPr lang="en-US" b="1"/>
              <a:t>When CO at tab </a:t>
            </a:r>
            <a:r>
              <a:rPr lang="ar-EG" b="1"/>
              <a:t>مراجعة المسئول الأول</a:t>
            </a:r>
            <a:r>
              <a:rPr lang="en-US" b="1"/>
              <a:t> </a:t>
            </a:r>
          </a:p>
        </p:txBody>
      </p:sp>
      <p:sp>
        <p:nvSpPr>
          <p:cNvPr id="3" name="Content Placeholder 2">
            <a:extLst>
              <a:ext uri="{FF2B5EF4-FFF2-40B4-BE49-F238E27FC236}">
                <a16:creationId xmlns:a16="http://schemas.microsoft.com/office/drawing/2014/main" id="{57F0992C-AEE0-8787-657D-00DC1BD86218}"/>
              </a:ext>
            </a:extLst>
          </p:cNvPr>
          <p:cNvSpPr>
            <a:spLocks noGrp="1"/>
          </p:cNvSpPr>
          <p:nvPr>
            <p:ph idx="1"/>
          </p:nvPr>
        </p:nvSpPr>
        <p:spPr>
          <a:xfrm>
            <a:off x="190500" y="657225"/>
            <a:ext cx="11887200" cy="6086475"/>
          </a:xfrm>
        </p:spPr>
        <p:txBody>
          <a:bodyPr/>
          <a:lstStyle/>
          <a:p>
            <a:endParaRPr lang="en-US"/>
          </a:p>
          <a:p>
            <a:endParaRPr lang="en-US"/>
          </a:p>
          <a:p>
            <a:endParaRPr lang="en-US"/>
          </a:p>
          <a:p>
            <a:endParaRPr lang="en-US"/>
          </a:p>
          <a:p>
            <a:endParaRPr lang="en-US"/>
          </a:p>
          <a:p>
            <a:endParaRPr lang="en-US"/>
          </a:p>
          <a:p>
            <a:endParaRPr lang="en-US"/>
          </a:p>
          <a:p>
            <a:r>
              <a:rPr lang="en-US"/>
              <a:t>When click on </a:t>
            </a:r>
            <a:r>
              <a:rPr lang="ar-EG"/>
              <a:t>رفض الطلب</a:t>
            </a:r>
            <a:endParaRPr lang="en-US"/>
          </a:p>
          <a:p>
            <a:pPr lvl="1"/>
            <a:r>
              <a:rPr lang="en-US" b="1">
                <a:effectLst/>
              </a:rPr>
              <a:t>Flow_Funding_requestController/ExecuteFieldsRejected</a:t>
            </a:r>
          </a:p>
          <a:p>
            <a:pPr lvl="1"/>
            <a:r>
              <a:rPr lang="en-US" b="1">
                <a:solidFill>
                  <a:srgbClr val="00B0F0"/>
                </a:solidFill>
              </a:rPr>
              <a:t>DeportationVM</a:t>
            </a:r>
            <a:r>
              <a:rPr lang="en-US"/>
              <a:t> </a:t>
            </a:r>
            <a:r>
              <a:rPr lang="en-US" b="1"/>
              <a:t>ExecuteFieldsRejected ( </a:t>
            </a:r>
            <a:r>
              <a:rPr lang="en-US" b="1">
                <a:solidFill>
                  <a:srgbClr val="00B0F0"/>
                </a:solidFill>
              </a:rPr>
              <a:t>DeportationVM</a:t>
            </a:r>
            <a:r>
              <a:rPr lang="en-US" b="1"/>
              <a:t> entity )</a:t>
            </a:r>
          </a:p>
          <a:p>
            <a:pPr lvl="1"/>
            <a:endParaRPr lang="en-US" b="1"/>
          </a:p>
        </p:txBody>
      </p:sp>
      <p:pic>
        <p:nvPicPr>
          <p:cNvPr id="5" name="Picture 4">
            <a:extLst>
              <a:ext uri="{FF2B5EF4-FFF2-40B4-BE49-F238E27FC236}">
                <a16:creationId xmlns:a16="http://schemas.microsoft.com/office/drawing/2014/main" id="{AF6998D9-8F8A-50FA-E797-00370AA12D6B}"/>
              </a:ext>
            </a:extLst>
          </p:cNvPr>
          <p:cNvPicPr>
            <a:picLocks noChangeAspect="1"/>
          </p:cNvPicPr>
          <p:nvPr/>
        </p:nvPicPr>
        <p:blipFill>
          <a:blip r:embed="rId2"/>
          <a:stretch>
            <a:fillRect/>
          </a:stretch>
        </p:blipFill>
        <p:spPr>
          <a:xfrm>
            <a:off x="190500" y="870346"/>
            <a:ext cx="7559695" cy="2758679"/>
          </a:xfrm>
          <a:prstGeom prst="rect">
            <a:avLst/>
          </a:prstGeom>
        </p:spPr>
      </p:pic>
      <p:pic>
        <p:nvPicPr>
          <p:cNvPr id="7" name="Picture 6">
            <a:extLst>
              <a:ext uri="{FF2B5EF4-FFF2-40B4-BE49-F238E27FC236}">
                <a16:creationId xmlns:a16="http://schemas.microsoft.com/office/drawing/2014/main" id="{7E0F4122-76DD-77C0-AB7C-1011DCEADC66}"/>
              </a:ext>
            </a:extLst>
          </p:cNvPr>
          <p:cNvPicPr>
            <a:picLocks noChangeAspect="1"/>
          </p:cNvPicPr>
          <p:nvPr/>
        </p:nvPicPr>
        <p:blipFill>
          <a:blip r:embed="rId3"/>
          <a:stretch>
            <a:fillRect/>
          </a:stretch>
        </p:blipFill>
        <p:spPr>
          <a:xfrm>
            <a:off x="7843077" y="3700462"/>
            <a:ext cx="4158423" cy="2990893"/>
          </a:xfrm>
          <a:prstGeom prst="rect">
            <a:avLst/>
          </a:prstGeom>
        </p:spPr>
      </p:pic>
    </p:spTree>
    <p:extLst>
      <p:ext uri="{BB962C8B-B14F-4D97-AF65-F5344CB8AC3E}">
        <p14:creationId xmlns:p14="http://schemas.microsoft.com/office/powerpoint/2010/main" val="176468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51E6-84DA-A11C-7CA6-EFAA8318AE03}"/>
              </a:ext>
            </a:extLst>
          </p:cNvPr>
          <p:cNvSpPr>
            <a:spLocks noGrp="1"/>
          </p:cNvSpPr>
          <p:nvPr>
            <p:ph type="title"/>
          </p:nvPr>
        </p:nvSpPr>
        <p:spPr>
          <a:xfrm>
            <a:off x="919119" y="31242"/>
            <a:ext cx="10353762" cy="696891"/>
          </a:xfrm>
        </p:spPr>
        <p:txBody>
          <a:bodyPr>
            <a:normAutofit fontScale="90000"/>
          </a:bodyPr>
          <a:lstStyle/>
          <a:p>
            <a:r>
              <a:rPr lang="en-US" b="1"/>
              <a:t>When CO at tab </a:t>
            </a:r>
            <a:r>
              <a:rPr lang="ar-EG" b="1"/>
              <a:t>مراجعة المسئول الأول</a:t>
            </a:r>
            <a:r>
              <a:rPr lang="en-US" b="1"/>
              <a:t>  [ cont.]</a:t>
            </a:r>
          </a:p>
        </p:txBody>
      </p:sp>
      <p:sp>
        <p:nvSpPr>
          <p:cNvPr id="3" name="Content Placeholder 2">
            <a:extLst>
              <a:ext uri="{FF2B5EF4-FFF2-40B4-BE49-F238E27FC236}">
                <a16:creationId xmlns:a16="http://schemas.microsoft.com/office/drawing/2014/main" id="{226B7F0C-8BDF-D83C-0100-7A86ACE7A731}"/>
              </a:ext>
            </a:extLst>
          </p:cNvPr>
          <p:cNvSpPr>
            <a:spLocks noGrp="1"/>
          </p:cNvSpPr>
          <p:nvPr>
            <p:ph idx="1"/>
          </p:nvPr>
        </p:nvSpPr>
        <p:spPr>
          <a:xfrm>
            <a:off x="78926" y="728132"/>
            <a:ext cx="12113074" cy="5994401"/>
          </a:xfrm>
        </p:spPr>
        <p:txBody>
          <a:bodyPr>
            <a:normAutofit fontScale="92500" lnSpcReduction="20000"/>
          </a:bodyPr>
          <a:lstStyle/>
          <a:p>
            <a:r>
              <a:rPr lang="en-US" sz="2800" b="1">
                <a:solidFill>
                  <a:srgbClr val="FF0000"/>
                </a:solidFill>
              </a:rPr>
              <a:t>After request is rejected via CO </a:t>
            </a:r>
            <a:r>
              <a:rPr lang="ar-EG" sz="2800" b="1">
                <a:solidFill>
                  <a:srgbClr val="FF0000"/>
                </a:solidFill>
              </a:rPr>
              <a:t>رفض</a:t>
            </a:r>
            <a:endParaRPr lang="en-US" sz="2800" b="1">
              <a:solidFill>
                <a:srgbClr val="00B0F0"/>
              </a:solidFill>
            </a:endParaRPr>
          </a:p>
          <a:p>
            <a:r>
              <a:rPr lang="en-US" b="1">
                <a:solidFill>
                  <a:srgbClr val="FFFF00"/>
                </a:solidFill>
              </a:rPr>
              <a:t>TDWF</a:t>
            </a:r>
            <a:r>
              <a:rPr lang="en-US" b="1"/>
              <a:t>.</a:t>
            </a:r>
            <a:r>
              <a:rPr lang="en-US" b="1">
                <a:solidFill>
                  <a:srgbClr val="FFC000"/>
                </a:solidFill>
              </a:rPr>
              <a:t>Flow_Rejections_main</a:t>
            </a:r>
          </a:p>
          <a:p>
            <a:pPr lvl="1"/>
            <a:r>
              <a:rPr lang="en-US" b="1">
                <a:solidFill>
                  <a:srgbClr val="FFFF00"/>
                </a:solidFill>
              </a:rPr>
              <a:t>UserId</a:t>
            </a:r>
            <a:r>
              <a:rPr lang="en-US" b="1"/>
              <a:t>: the CO id who reject the request</a:t>
            </a:r>
          </a:p>
          <a:p>
            <a:pPr lvl="1"/>
            <a:r>
              <a:rPr lang="en-US" b="1">
                <a:solidFill>
                  <a:srgbClr val="FFFF00"/>
                </a:solidFill>
              </a:rPr>
              <a:t>Reject_by_phase</a:t>
            </a:r>
            <a:r>
              <a:rPr lang="en-US" b="1"/>
              <a:t>: CO1010 // The stage at which the request was rejected</a:t>
            </a:r>
            <a:endParaRPr lang="ar-EG" b="1"/>
          </a:p>
          <a:p>
            <a:pPr lvl="1"/>
            <a:r>
              <a:rPr lang="en-US" b="1">
                <a:solidFill>
                  <a:srgbClr val="FFFF00"/>
                </a:solidFill>
              </a:rPr>
              <a:t>RequestId</a:t>
            </a:r>
            <a:r>
              <a:rPr lang="en-US" b="1"/>
              <a:t>: the request </a:t>
            </a:r>
          </a:p>
          <a:p>
            <a:pPr lvl="1"/>
            <a:r>
              <a:rPr lang="en-US" b="1">
                <a:solidFill>
                  <a:srgbClr val="FFFF00"/>
                </a:solidFill>
              </a:rPr>
              <a:t>Remarks</a:t>
            </a:r>
            <a:r>
              <a:rPr lang="en-US" b="1"/>
              <a:t>: </a:t>
            </a:r>
            <a:r>
              <a:rPr lang="ar-EG" b="1"/>
              <a:t>تم الرفض من مرحلة المراجعة الأولية</a:t>
            </a:r>
            <a:endParaRPr lang="en-US" b="1"/>
          </a:p>
          <a:p>
            <a:pPr lvl="1"/>
            <a:r>
              <a:rPr lang="en-US" b="1">
                <a:solidFill>
                  <a:srgbClr val="FFFF00"/>
                </a:solidFill>
              </a:rPr>
              <a:t>InsertDate</a:t>
            </a:r>
            <a:r>
              <a:rPr lang="en-US" b="1"/>
              <a:t>: date</a:t>
            </a:r>
          </a:p>
          <a:p>
            <a:pPr lvl="1"/>
            <a:r>
              <a:rPr lang="en-US" b="1">
                <a:solidFill>
                  <a:srgbClr val="FFFF00"/>
                </a:solidFill>
              </a:rPr>
              <a:t>Rejection_flag</a:t>
            </a:r>
            <a:r>
              <a:rPr lang="en-US" b="1"/>
              <a:t>: 2 </a:t>
            </a:r>
          </a:p>
          <a:p>
            <a:r>
              <a:rPr lang="en-US" b="1">
                <a:solidFill>
                  <a:srgbClr val="FFFF00"/>
                </a:solidFill>
              </a:rPr>
              <a:t>TDWF</a:t>
            </a:r>
            <a:r>
              <a:rPr lang="en-US"/>
              <a:t>.</a:t>
            </a:r>
            <a:r>
              <a:rPr lang="en-US" sz="2200" b="1">
                <a:solidFill>
                  <a:srgbClr val="FFC000"/>
                </a:solidFill>
              </a:rPr>
              <a:t>Flow_Rejections_SubOne</a:t>
            </a:r>
          </a:p>
          <a:p>
            <a:pPr lvl="1"/>
            <a:r>
              <a:rPr lang="en-US" b="1">
                <a:solidFill>
                  <a:srgbClr val="FFFF00"/>
                </a:solidFill>
              </a:rPr>
              <a:t>FRSO_ID</a:t>
            </a:r>
            <a:r>
              <a:rPr lang="en-US"/>
              <a:t> </a:t>
            </a:r>
            <a:r>
              <a:rPr lang="en-US" b="1"/>
              <a:t>[PK]</a:t>
            </a:r>
          </a:p>
          <a:p>
            <a:pPr lvl="1"/>
            <a:r>
              <a:rPr lang="en-US" b="1">
                <a:solidFill>
                  <a:srgbClr val="FFFF00"/>
                </a:solidFill>
              </a:rPr>
              <a:t>tabs_code</a:t>
            </a:r>
            <a:r>
              <a:rPr lang="en-US" b="1"/>
              <a:t> [FK] </a:t>
            </a:r>
            <a:r>
              <a:rPr lang="en-US" b="1">
                <a:solidFill>
                  <a:srgbClr val="FFFF00"/>
                </a:solidFill>
              </a:rPr>
              <a:t>from Flow_Tabs</a:t>
            </a:r>
          </a:p>
          <a:p>
            <a:pPr lvl="1"/>
            <a:r>
              <a:rPr lang="en-US" b="1">
                <a:solidFill>
                  <a:srgbClr val="FFFF00"/>
                </a:solidFill>
              </a:rPr>
              <a:t>Field_name</a:t>
            </a:r>
          </a:p>
          <a:p>
            <a:pPr lvl="1"/>
            <a:r>
              <a:rPr lang="en-US" b="1">
                <a:solidFill>
                  <a:srgbClr val="FFFF00"/>
                </a:solidFill>
              </a:rPr>
              <a:t>Field_code</a:t>
            </a:r>
          </a:p>
          <a:p>
            <a:pPr lvl="1"/>
            <a:r>
              <a:rPr lang="en-US" b="1">
                <a:solidFill>
                  <a:srgbClr val="FFFF00"/>
                </a:solidFill>
              </a:rPr>
              <a:t>UserId</a:t>
            </a:r>
            <a:r>
              <a:rPr lang="en-US" b="1"/>
              <a:t>: LO User who will receive the rejection</a:t>
            </a:r>
          </a:p>
          <a:p>
            <a:pPr lvl="1"/>
            <a:r>
              <a:rPr lang="en-US" b="1">
                <a:solidFill>
                  <a:srgbClr val="FFFF00"/>
                </a:solidFill>
              </a:rPr>
              <a:t>Phase_back_to</a:t>
            </a:r>
            <a:r>
              <a:rPr lang="en-US" b="1"/>
              <a:t>: string </a:t>
            </a:r>
          </a:p>
          <a:p>
            <a:pPr lvl="1"/>
            <a:r>
              <a:rPr lang="en-US" b="1">
                <a:solidFill>
                  <a:srgbClr val="FFFF00"/>
                </a:solidFill>
              </a:rPr>
              <a:t>Comment</a:t>
            </a:r>
            <a:r>
              <a:rPr lang="en-US" b="1"/>
              <a:t>: string</a:t>
            </a:r>
          </a:p>
          <a:p>
            <a:pPr lvl="1"/>
            <a:r>
              <a:rPr lang="en-US" b="1">
                <a:solidFill>
                  <a:srgbClr val="00B0F0"/>
                </a:solidFill>
              </a:rPr>
              <a:t>FRM_ID</a:t>
            </a:r>
            <a:r>
              <a:rPr lang="en-US" b="1"/>
              <a:t> </a:t>
            </a:r>
            <a:r>
              <a:rPr lang="en-US" b="1">
                <a:solidFill>
                  <a:srgbClr val="FFFF00"/>
                </a:solidFill>
              </a:rPr>
              <a:t>[FK] from Flow_Rejection_Main</a:t>
            </a:r>
            <a:endParaRPr lang="en-US" b="1"/>
          </a:p>
          <a:p>
            <a:endParaRPr lang="en-US" b="1"/>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977439263"/>
              </p:ext>
            </p:extLst>
          </p:nvPr>
        </p:nvGraphicFramePr>
        <p:xfrm>
          <a:off x="5857875" y="2262293"/>
          <a:ext cx="6255199" cy="1463040"/>
        </p:xfrm>
        <a:graphic>
          <a:graphicData uri="http://schemas.openxmlformats.org/drawingml/2006/table">
            <a:tbl>
              <a:tblPr firstRow="1" bandRow="1">
                <a:tableStyleId>{5C22544A-7EE6-4342-B048-85BDC9FD1C3A}</a:tableStyleId>
              </a:tblPr>
              <a:tblGrid>
                <a:gridCol w="794687">
                  <a:extLst>
                    <a:ext uri="{9D8B030D-6E8A-4147-A177-3AD203B41FA5}">
                      <a16:colId xmlns:a16="http://schemas.microsoft.com/office/drawing/2014/main" val="953148366"/>
                    </a:ext>
                  </a:extLst>
                </a:gridCol>
                <a:gridCol w="5460512">
                  <a:extLst>
                    <a:ext uri="{9D8B030D-6E8A-4147-A177-3AD203B41FA5}">
                      <a16:colId xmlns:a16="http://schemas.microsoft.com/office/drawing/2014/main" val="1910439298"/>
                    </a:ext>
                  </a:extLst>
                </a:gridCol>
              </a:tblGrid>
              <a:tr h="33002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22951">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22951">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22951">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pic>
        <p:nvPicPr>
          <p:cNvPr id="6" name="Picture 5">
            <a:extLst>
              <a:ext uri="{FF2B5EF4-FFF2-40B4-BE49-F238E27FC236}">
                <a16:creationId xmlns:a16="http://schemas.microsoft.com/office/drawing/2014/main" id="{E2734B91-4B27-4585-74E9-2E4BCAB5C100}"/>
              </a:ext>
            </a:extLst>
          </p:cNvPr>
          <p:cNvPicPr>
            <a:picLocks noChangeAspect="1"/>
          </p:cNvPicPr>
          <p:nvPr/>
        </p:nvPicPr>
        <p:blipFill>
          <a:blip r:embed="rId2"/>
          <a:stretch>
            <a:fillRect/>
          </a:stretch>
        </p:blipFill>
        <p:spPr>
          <a:xfrm>
            <a:off x="5857875" y="3881150"/>
            <a:ext cx="6255199" cy="744570"/>
          </a:xfrm>
          <a:prstGeom prst="rect">
            <a:avLst/>
          </a:prstGeom>
        </p:spPr>
      </p:pic>
    </p:spTree>
    <p:extLst>
      <p:ext uri="{BB962C8B-B14F-4D97-AF65-F5344CB8AC3E}">
        <p14:creationId xmlns:p14="http://schemas.microsoft.com/office/powerpoint/2010/main" val="1647375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C9A5-ACA6-3F62-0E99-3199FEA9FE32}"/>
              </a:ext>
            </a:extLst>
          </p:cNvPr>
          <p:cNvSpPr>
            <a:spLocks noGrp="1"/>
          </p:cNvSpPr>
          <p:nvPr>
            <p:ph type="title"/>
          </p:nvPr>
        </p:nvSpPr>
        <p:spPr>
          <a:xfrm>
            <a:off x="161925" y="0"/>
            <a:ext cx="11811000" cy="714375"/>
          </a:xfrm>
        </p:spPr>
        <p:txBody>
          <a:bodyPr/>
          <a:lstStyle/>
          <a:p>
            <a:r>
              <a:rPr lang="en-US" b="1"/>
              <a:t>When CO at tab </a:t>
            </a:r>
            <a:r>
              <a:rPr lang="ar-EG" b="1"/>
              <a:t>مراجعة المسئول الأول</a:t>
            </a:r>
            <a:r>
              <a:rPr lang="en-US" b="1"/>
              <a:t>  [ cont.2]</a:t>
            </a:r>
            <a:endParaRPr lang="en-US"/>
          </a:p>
        </p:txBody>
      </p:sp>
      <p:sp>
        <p:nvSpPr>
          <p:cNvPr id="3" name="Content Placeholder 2">
            <a:extLst>
              <a:ext uri="{FF2B5EF4-FFF2-40B4-BE49-F238E27FC236}">
                <a16:creationId xmlns:a16="http://schemas.microsoft.com/office/drawing/2014/main" id="{0389F2EF-209D-DE21-1689-60751F70E51B}"/>
              </a:ext>
            </a:extLst>
          </p:cNvPr>
          <p:cNvSpPr>
            <a:spLocks noGrp="1"/>
          </p:cNvSpPr>
          <p:nvPr>
            <p:ph idx="1"/>
          </p:nvPr>
        </p:nvSpPr>
        <p:spPr>
          <a:xfrm>
            <a:off x="161924" y="714374"/>
            <a:ext cx="12030075" cy="6143625"/>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r>
              <a:rPr lang="en-US" b="1">
                <a:solidFill>
                  <a:srgbClr val="FF0000"/>
                </a:solidFill>
              </a:rPr>
              <a:t>Flow_Request</a:t>
            </a:r>
          </a:p>
          <a:p>
            <a:pPr lvl="1"/>
            <a:r>
              <a:rPr lang="en-US" sz="1600" b="1">
                <a:solidFill>
                  <a:srgbClr val="FFFF00"/>
                </a:solidFill>
              </a:rPr>
              <a:t>Status_code</a:t>
            </a:r>
            <a:r>
              <a:rPr lang="en-US" sz="1600" b="1">
                <a:solidFill>
                  <a:srgbClr val="FF0000"/>
                </a:solidFill>
              </a:rPr>
              <a:t>:</a:t>
            </a:r>
            <a:r>
              <a:rPr lang="en-US" b="1">
                <a:solidFill>
                  <a:srgbClr val="FF0000"/>
                </a:solidFill>
              </a:rPr>
              <a:t> 56 why it means it still deported at CO but it </a:t>
            </a: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طلب تمويل</a:t>
            </a:r>
          </a:p>
          <a:p>
            <a:pPr lvl="1"/>
            <a:r>
              <a:rPr lang="en-US" sz="1600" b="1">
                <a:solidFill>
                  <a:srgbClr val="FFFF00"/>
                </a:solidFill>
              </a:rPr>
              <a:t>UserIdTO</a:t>
            </a:r>
            <a:r>
              <a:rPr lang="en-US" sz="1600" b="1"/>
              <a:t>: LO </a:t>
            </a:r>
          </a:p>
          <a:p>
            <a:pPr lvl="1"/>
            <a:r>
              <a:rPr lang="en-US" sz="1600" b="1">
                <a:solidFill>
                  <a:srgbClr val="FFFF00"/>
                </a:solidFill>
              </a:rPr>
              <a:t>Status_</a:t>
            </a:r>
            <a:r>
              <a:rPr lang="en-US" sz="1600" b="1"/>
              <a:t>one: reject</a:t>
            </a:r>
          </a:p>
          <a:p>
            <a:pPr lvl="1"/>
            <a:r>
              <a:rPr lang="en-US" sz="1600" b="1">
                <a:solidFill>
                  <a:srgbClr val="FFFF00"/>
                </a:solidFill>
              </a:rPr>
              <a:t>Status_two</a:t>
            </a:r>
            <a:r>
              <a:rPr lang="en-US" sz="1600" b="1"/>
              <a:t>: R111</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0 [ </a:t>
            </a:r>
            <a:r>
              <a:rPr lang="ar-EG" sz="1400" b="1">
                <a:solidFill>
                  <a:srgbClr val="FFC000"/>
                </a:solidFill>
              </a:rPr>
              <a:t>رفض</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LO id</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9CA5A45B-26BE-A242-D303-DD3592A9E702}"/>
              </a:ext>
            </a:extLst>
          </p:cNvPr>
          <p:cNvPicPr>
            <a:picLocks noChangeAspect="1"/>
          </p:cNvPicPr>
          <p:nvPr/>
        </p:nvPicPr>
        <p:blipFill>
          <a:blip r:embed="rId2"/>
          <a:stretch>
            <a:fillRect/>
          </a:stretch>
        </p:blipFill>
        <p:spPr>
          <a:xfrm>
            <a:off x="3637238" y="5770214"/>
            <a:ext cx="8469037" cy="1002061"/>
          </a:xfrm>
          <a:prstGeom prst="rect">
            <a:avLst/>
          </a:prstGeom>
        </p:spPr>
      </p:pic>
    </p:spTree>
    <p:extLst>
      <p:ext uri="{BB962C8B-B14F-4D97-AF65-F5344CB8AC3E}">
        <p14:creationId xmlns:p14="http://schemas.microsoft.com/office/powerpoint/2010/main" val="226659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A8F1-ACCD-1998-99E3-BCFF261F6359}"/>
              </a:ext>
            </a:extLst>
          </p:cNvPr>
          <p:cNvSpPr>
            <a:spLocks noGrp="1"/>
          </p:cNvSpPr>
          <p:nvPr>
            <p:ph type="title"/>
          </p:nvPr>
        </p:nvSpPr>
        <p:spPr>
          <a:xfrm>
            <a:off x="913795" y="0"/>
            <a:ext cx="10353762" cy="638175"/>
          </a:xfrm>
        </p:spPr>
        <p:txBody>
          <a:bodyPr>
            <a:normAutofit fontScale="90000"/>
          </a:bodyPr>
          <a:lstStyle/>
          <a:p>
            <a:r>
              <a:rPr lang="en-US" b="1"/>
              <a:t>The Rejected requests at LO </a:t>
            </a:r>
          </a:p>
        </p:txBody>
      </p:sp>
      <p:sp>
        <p:nvSpPr>
          <p:cNvPr id="3" name="Content Placeholder 2">
            <a:extLst>
              <a:ext uri="{FF2B5EF4-FFF2-40B4-BE49-F238E27FC236}">
                <a16:creationId xmlns:a16="http://schemas.microsoft.com/office/drawing/2014/main" id="{1496237D-11BA-8175-2A82-5FFFA4BFB8D4}"/>
              </a:ext>
            </a:extLst>
          </p:cNvPr>
          <p:cNvSpPr>
            <a:spLocks noGrp="1"/>
          </p:cNvSpPr>
          <p:nvPr>
            <p:ph idx="1"/>
          </p:nvPr>
        </p:nvSpPr>
        <p:spPr>
          <a:xfrm>
            <a:off x="219074" y="638175"/>
            <a:ext cx="11839575" cy="6096000"/>
          </a:xfrm>
        </p:spPr>
        <p:txBody>
          <a:bodyPr/>
          <a:lstStyle/>
          <a:p>
            <a:r>
              <a:rPr lang="en-US"/>
              <a:t>When LO open a request from rejected requests</a:t>
            </a:r>
          </a:p>
          <a:p>
            <a:pPr lvl="1"/>
            <a:r>
              <a:rPr lang="en-US"/>
              <a:t>Flow_Funding_requestController/GetAllFundingLoadList/{BranchId}/{UserId}</a:t>
            </a:r>
          </a:p>
          <a:p>
            <a:pPr lvl="1"/>
            <a:r>
              <a:rPr lang="en-US"/>
              <a:t>Flow_Funding_requestController/GetOneFundingRequest/{Request_id}</a:t>
            </a:r>
          </a:p>
          <a:p>
            <a:r>
              <a:rPr lang="en-US"/>
              <a:t>When LO click on tab </a:t>
            </a:r>
            <a:r>
              <a:rPr lang="ar-EG"/>
              <a:t>اسباب الرفض</a:t>
            </a:r>
          </a:p>
          <a:p>
            <a:pPr lvl="1"/>
            <a:r>
              <a:rPr lang="en-US"/>
              <a:t>Flow_Rejections_mainController/</a:t>
            </a:r>
            <a:r>
              <a:rPr lang="en-US" b="1">
                <a:solidFill>
                  <a:srgbClr val="FFFF00"/>
                </a:solidFill>
              </a:rPr>
              <a:t>GetAllReasonsRejectionByRequest_id</a:t>
            </a:r>
            <a:r>
              <a:rPr lang="en-US"/>
              <a:t>/{Request_id}</a:t>
            </a:r>
          </a:p>
          <a:p>
            <a:pPr lvl="1"/>
            <a:endParaRPr lang="ar-EG"/>
          </a:p>
          <a:p>
            <a:endParaRPr lang="en-US"/>
          </a:p>
          <a:p>
            <a:r>
              <a:rPr lang="en-US"/>
              <a:t>When LO click on tab </a:t>
            </a:r>
            <a:r>
              <a:rPr lang="ar-EG"/>
              <a:t>التعليقات</a:t>
            </a:r>
            <a:endParaRPr lang="en-US"/>
          </a:p>
          <a:p>
            <a:pPr lvl="1"/>
            <a:r>
              <a:rPr lang="en-US"/>
              <a:t>Flow_Rejections_mainController/GetAllRejectionCommentsByRequest_id/{Request_id}</a:t>
            </a:r>
            <a:endParaRPr lang="ar-EG"/>
          </a:p>
          <a:p>
            <a:pPr lvl="1"/>
            <a:endParaRPr lang="ar-EG"/>
          </a:p>
          <a:p>
            <a:endParaRPr lang="ar-EG"/>
          </a:p>
          <a:p>
            <a:endParaRPr lang="en-US"/>
          </a:p>
          <a:p>
            <a:endParaRPr lang="en-US"/>
          </a:p>
        </p:txBody>
      </p:sp>
      <p:pic>
        <p:nvPicPr>
          <p:cNvPr id="11" name="Picture 10">
            <a:extLst>
              <a:ext uri="{FF2B5EF4-FFF2-40B4-BE49-F238E27FC236}">
                <a16:creationId xmlns:a16="http://schemas.microsoft.com/office/drawing/2014/main" id="{87E6C6CB-0612-6AF5-6A05-B2C996AF8ED7}"/>
              </a:ext>
            </a:extLst>
          </p:cNvPr>
          <p:cNvPicPr>
            <a:picLocks noChangeAspect="1"/>
          </p:cNvPicPr>
          <p:nvPr/>
        </p:nvPicPr>
        <p:blipFill>
          <a:blip r:embed="rId2"/>
          <a:stretch>
            <a:fillRect/>
          </a:stretch>
        </p:blipFill>
        <p:spPr>
          <a:xfrm>
            <a:off x="306771" y="2745069"/>
            <a:ext cx="9312447" cy="815411"/>
          </a:xfrm>
          <a:prstGeom prst="rect">
            <a:avLst/>
          </a:prstGeom>
        </p:spPr>
      </p:pic>
      <p:pic>
        <p:nvPicPr>
          <p:cNvPr id="13" name="Picture 12">
            <a:extLst>
              <a:ext uri="{FF2B5EF4-FFF2-40B4-BE49-F238E27FC236}">
                <a16:creationId xmlns:a16="http://schemas.microsoft.com/office/drawing/2014/main" id="{8206F191-0068-1FA8-8AB6-60DA7D0D9D54}"/>
              </a:ext>
            </a:extLst>
          </p:cNvPr>
          <p:cNvPicPr>
            <a:picLocks noChangeAspect="1"/>
          </p:cNvPicPr>
          <p:nvPr/>
        </p:nvPicPr>
        <p:blipFill>
          <a:blip r:embed="rId3"/>
          <a:stretch>
            <a:fillRect/>
          </a:stretch>
        </p:blipFill>
        <p:spPr>
          <a:xfrm>
            <a:off x="306771" y="4371000"/>
            <a:ext cx="9243861" cy="914479"/>
          </a:xfrm>
          <a:prstGeom prst="rect">
            <a:avLst/>
          </a:prstGeom>
        </p:spPr>
      </p:pic>
    </p:spTree>
    <p:extLst>
      <p:ext uri="{BB962C8B-B14F-4D97-AF65-F5344CB8AC3E}">
        <p14:creationId xmlns:p14="http://schemas.microsoft.com/office/powerpoint/2010/main" val="3218144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7D577-CA65-D019-B126-B4BC3F9A9259}"/>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36C0EB40-0CD3-EC17-FE17-63523088F6D2}"/>
              </a:ext>
            </a:extLst>
          </p:cNvPr>
          <p:cNvSpPr>
            <a:spLocks noGrp="1"/>
          </p:cNvSpPr>
          <p:nvPr>
            <p:ph idx="1"/>
          </p:nvPr>
        </p:nvSpPr>
        <p:spPr>
          <a:xfrm>
            <a:off x="133350" y="542925"/>
            <a:ext cx="11849100" cy="6134100"/>
          </a:xfrm>
        </p:spPr>
        <p:txBody>
          <a:bodyPr/>
          <a:lstStyle/>
          <a:p>
            <a:r>
              <a:rPr lang="en-US" b="1">
                <a:solidFill>
                  <a:srgbClr val="FF0000"/>
                </a:solidFill>
              </a:rPr>
              <a:t>Flow_Request</a:t>
            </a:r>
          </a:p>
          <a:p>
            <a:pPr lvl="1"/>
            <a:r>
              <a:rPr lang="en-US" sz="1600" b="1">
                <a:solidFill>
                  <a:srgbClr val="FFFF00"/>
                </a:solidFill>
              </a:rPr>
              <a:t>NO change</a:t>
            </a:r>
            <a:endParaRPr lang="en-US" b="1">
              <a:solidFill>
                <a:srgbClr val="FF0000"/>
              </a:solidFill>
            </a:endParaRP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زيارة ميدانية</a:t>
            </a:r>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CO1311 </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1 [</a:t>
            </a:r>
            <a:r>
              <a:rPr lang="ar-EG" sz="1400" b="1">
                <a:solidFill>
                  <a:srgbClr val="FFC000"/>
                </a:solidFill>
              </a:rPr>
              <a:t>قبول</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CO</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682853A9-BCED-1BDF-C973-F640B6F5D2BB}"/>
              </a:ext>
            </a:extLst>
          </p:cNvPr>
          <p:cNvPicPr>
            <a:picLocks noChangeAspect="1"/>
          </p:cNvPicPr>
          <p:nvPr/>
        </p:nvPicPr>
        <p:blipFill>
          <a:blip r:embed="rId2"/>
          <a:stretch>
            <a:fillRect/>
          </a:stretch>
        </p:blipFill>
        <p:spPr>
          <a:xfrm>
            <a:off x="4592696" y="4964385"/>
            <a:ext cx="6948615" cy="1217340"/>
          </a:xfrm>
          <a:prstGeom prst="rect">
            <a:avLst/>
          </a:prstGeom>
        </p:spPr>
      </p:pic>
    </p:spTree>
    <p:extLst>
      <p:ext uri="{BB962C8B-B14F-4D97-AF65-F5344CB8AC3E}">
        <p14:creationId xmlns:p14="http://schemas.microsoft.com/office/powerpoint/2010/main" val="3124514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5FF-3061-D83A-8C31-44311D56C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94C84-7B3C-DB38-FA1F-0A332A714585}"/>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918611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C5C0A-74B9-69D7-5583-20207D7E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F644-B176-F5D3-AF45-CBC79F9C4549}"/>
              </a:ext>
            </a:extLst>
          </p:cNvPr>
          <p:cNvSpPr>
            <a:spLocks noGrp="1"/>
          </p:cNvSpPr>
          <p:nvPr>
            <p:ph type="title"/>
          </p:nvPr>
        </p:nvSpPr>
        <p:spPr>
          <a:xfrm>
            <a:off x="1031782" y="2458550"/>
            <a:ext cx="10353762" cy="970450"/>
          </a:xfrm>
        </p:spPr>
        <p:txBody>
          <a:bodyPr>
            <a:normAutofit/>
          </a:bodyPr>
          <a:lstStyle/>
          <a:p>
            <a:r>
              <a:rPr lang="en-US" b="1">
                <a:solidFill>
                  <a:srgbClr val="FF0000"/>
                </a:solidFill>
              </a:rPr>
              <a:t>Start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34132856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A003-7456-A034-2C91-F2FC6D7582E4}"/>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للعميل</a:t>
            </a:r>
            <a:endParaRPr lang="en-US" b="1"/>
          </a:p>
        </p:txBody>
      </p:sp>
      <p:sp>
        <p:nvSpPr>
          <p:cNvPr id="3" name="Content Placeholder 2">
            <a:extLst>
              <a:ext uri="{FF2B5EF4-FFF2-40B4-BE49-F238E27FC236}">
                <a16:creationId xmlns:a16="http://schemas.microsoft.com/office/drawing/2014/main" id="{088A071D-B684-3367-DEB4-34388210BDD2}"/>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VisitCount from Null to 1</a:t>
            </a:r>
          </a:p>
          <a:p>
            <a:endParaRPr lang="ar-EG"/>
          </a:p>
          <a:p>
            <a:endParaRPr lang="en-US"/>
          </a:p>
          <a:p>
            <a:endParaRPr lang="en-US"/>
          </a:p>
          <a:p>
            <a:endParaRPr lang="en-US"/>
          </a:p>
          <a:p>
            <a:r>
              <a:rPr lang="en-US"/>
              <a:t>If </a:t>
            </a:r>
            <a:r>
              <a:rPr lang="en-US" b="1"/>
              <a:t>VisitCount reached to 3 the request will be </a:t>
            </a:r>
            <a:r>
              <a:rPr lang="ar-EG" b="1"/>
              <a:t>رفض نهائي</a:t>
            </a:r>
            <a:endParaRPr lang="en-US"/>
          </a:p>
        </p:txBody>
      </p:sp>
      <p:pic>
        <p:nvPicPr>
          <p:cNvPr id="5" name="Picture 4">
            <a:extLst>
              <a:ext uri="{FF2B5EF4-FFF2-40B4-BE49-F238E27FC236}">
                <a16:creationId xmlns:a16="http://schemas.microsoft.com/office/drawing/2014/main" id="{A8C37974-79C9-20A5-AC2D-838E62257979}"/>
              </a:ext>
            </a:extLst>
          </p:cNvPr>
          <p:cNvPicPr>
            <a:picLocks noChangeAspect="1"/>
          </p:cNvPicPr>
          <p:nvPr/>
        </p:nvPicPr>
        <p:blipFill>
          <a:blip r:embed="rId2"/>
          <a:stretch>
            <a:fillRect/>
          </a:stretch>
        </p:blipFill>
        <p:spPr>
          <a:xfrm>
            <a:off x="5250106" y="2428595"/>
            <a:ext cx="2872989" cy="1729890"/>
          </a:xfrm>
          <a:prstGeom prst="rect">
            <a:avLst/>
          </a:prstGeom>
        </p:spPr>
      </p:pic>
      <p:pic>
        <p:nvPicPr>
          <p:cNvPr id="7" name="Picture 6">
            <a:extLst>
              <a:ext uri="{FF2B5EF4-FFF2-40B4-BE49-F238E27FC236}">
                <a16:creationId xmlns:a16="http://schemas.microsoft.com/office/drawing/2014/main" id="{6FB33D3F-B23C-5EB8-A981-59FCC949E0F3}"/>
              </a:ext>
            </a:extLst>
          </p:cNvPr>
          <p:cNvPicPr>
            <a:picLocks noChangeAspect="1"/>
          </p:cNvPicPr>
          <p:nvPr/>
        </p:nvPicPr>
        <p:blipFill>
          <a:blip r:embed="rId3"/>
          <a:stretch>
            <a:fillRect/>
          </a:stretch>
        </p:blipFill>
        <p:spPr>
          <a:xfrm>
            <a:off x="161925" y="2976452"/>
            <a:ext cx="4054191" cy="1044030"/>
          </a:xfrm>
          <a:prstGeom prst="rect">
            <a:avLst/>
          </a:prstGeom>
        </p:spPr>
      </p:pic>
    </p:spTree>
    <p:extLst>
      <p:ext uri="{BB962C8B-B14F-4D97-AF65-F5344CB8AC3E}">
        <p14:creationId xmlns:p14="http://schemas.microsoft.com/office/powerpoint/2010/main" val="2735722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23897-C7C0-8F83-3B66-4B6FB3797FDB}"/>
              </a:ext>
            </a:extLst>
          </p:cNvPr>
          <p:cNvSpPr>
            <a:spLocks noGrp="1"/>
          </p:cNvSpPr>
          <p:nvPr>
            <p:ph type="title"/>
          </p:nvPr>
        </p:nvSpPr>
        <p:spPr>
          <a:xfrm>
            <a:off x="913795" y="96351"/>
            <a:ext cx="10353762" cy="513250"/>
          </a:xfrm>
        </p:spPr>
        <p:txBody>
          <a:bodyPr>
            <a:noAutofit/>
          </a:bodyPr>
          <a:lstStyle/>
          <a:p>
            <a:r>
              <a:rPr lang="ar-EG" b="1">
                <a:solidFill>
                  <a:srgbClr val="FFFF00"/>
                </a:solidFill>
              </a:rPr>
              <a:t>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C0A0EE21-933B-65E9-41A5-73C82D04B47D}"/>
              </a:ext>
            </a:extLst>
          </p:cNvPr>
          <p:cNvSpPr>
            <a:spLocks noGrp="1"/>
          </p:cNvSpPr>
          <p:nvPr>
            <p:ph idx="1"/>
          </p:nvPr>
        </p:nvSpPr>
        <p:spPr>
          <a:xfrm>
            <a:off x="85725" y="1152527"/>
            <a:ext cx="12020550" cy="5248274"/>
          </a:xfrm>
        </p:spPr>
        <p:txBody>
          <a:bodyPr/>
          <a:lstStyle/>
          <a:p>
            <a:pPr marL="36900" indent="0" algn="ctr">
              <a:buNone/>
            </a:pPr>
            <a:r>
              <a:rPr lang="ar-EG" sz="3200" b="1">
                <a:solidFill>
                  <a:srgbClr val="FFFF00"/>
                </a:solidFill>
              </a:rPr>
              <a:t>بيانات التمويل والعميل</a:t>
            </a:r>
          </a:p>
          <a:p>
            <a:r>
              <a:rPr lang="en-US" b="1"/>
              <a:t>When CO click on </a:t>
            </a:r>
            <a:r>
              <a:rPr lang="ar-EG" b="1"/>
              <a:t>لم يستدل عليه</a:t>
            </a:r>
            <a:r>
              <a:rPr lang="en-US" b="1"/>
              <a:t> </a:t>
            </a:r>
          </a:p>
          <a:p>
            <a:r>
              <a:rPr lang="ar-EG" b="1"/>
              <a:t>بيانات التمويل والعميل</a:t>
            </a:r>
            <a:endParaRPr lang="en-US" b="1"/>
          </a:p>
        </p:txBody>
      </p:sp>
      <p:pic>
        <p:nvPicPr>
          <p:cNvPr id="5" name="Picture 4">
            <a:extLst>
              <a:ext uri="{FF2B5EF4-FFF2-40B4-BE49-F238E27FC236}">
                <a16:creationId xmlns:a16="http://schemas.microsoft.com/office/drawing/2014/main" id="{BBDDE2B9-1B65-96BD-7303-0C3536FF51E4}"/>
              </a:ext>
            </a:extLst>
          </p:cNvPr>
          <p:cNvPicPr>
            <a:picLocks noChangeAspect="1"/>
          </p:cNvPicPr>
          <p:nvPr/>
        </p:nvPicPr>
        <p:blipFill>
          <a:blip r:embed="rId2"/>
          <a:stretch>
            <a:fillRect/>
          </a:stretch>
        </p:blipFill>
        <p:spPr>
          <a:xfrm>
            <a:off x="200024" y="3180684"/>
            <a:ext cx="8271009" cy="2743865"/>
          </a:xfrm>
          <a:prstGeom prst="rect">
            <a:avLst/>
          </a:prstGeom>
        </p:spPr>
      </p:pic>
    </p:spTree>
    <p:extLst>
      <p:ext uri="{BB962C8B-B14F-4D97-AF65-F5344CB8AC3E}">
        <p14:creationId xmlns:p14="http://schemas.microsoft.com/office/powerpoint/2010/main" val="39894065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6BF1C-E005-B043-6632-FB35E1BBF8DE}"/>
              </a:ext>
            </a:extLst>
          </p:cNvPr>
          <p:cNvSpPr>
            <a:spLocks noGrp="1"/>
          </p:cNvSpPr>
          <p:nvPr>
            <p:ph type="title"/>
          </p:nvPr>
        </p:nvSpPr>
        <p:spPr>
          <a:xfrm>
            <a:off x="913795" y="0"/>
            <a:ext cx="10353762" cy="590550"/>
          </a:xfrm>
        </p:spPr>
        <p:txBody>
          <a:bodyPr>
            <a:normAutofit fontScale="90000"/>
          </a:bodyPr>
          <a:lstStyle/>
          <a:p>
            <a:r>
              <a:rPr lang="ar-EG" b="1">
                <a:solidFill>
                  <a:srgbClr val="FFFF00"/>
                </a:solidFill>
              </a:rPr>
              <a:t>الزيارة الميدانية للعميل</a:t>
            </a:r>
            <a:endParaRPr lang="en-US" b="1"/>
          </a:p>
        </p:txBody>
      </p:sp>
      <p:sp>
        <p:nvSpPr>
          <p:cNvPr id="3" name="Content Placeholder 2">
            <a:extLst>
              <a:ext uri="{FF2B5EF4-FFF2-40B4-BE49-F238E27FC236}">
                <a16:creationId xmlns:a16="http://schemas.microsoft.com/office/drawing/2014/main" id="{F82B91BF-32FD-68EB-53DB-11A965D1D544}"/>
              </a:ext>
            </a:extLst>
          </p:cNvPr>
          <p:cNvSpPr>
            <a:spLocks noGrp="1"/>
          </p:cNvSpPr>
          <p:nvPr>
            <p:ph idx="1"/>
          </p:nvPr>
        </p:nvSpPr>
        <p:spPr>
          <a:xfrm>
            <a:off x="85725" y="590551"/>
            <a:ext cx="12001500" cy="6162674"/>
          </a:xfrm>
        </p:spPr>
        <p:txBody>
          <a:bodyPr/>
          <a:lstStyle/>
          <a:p>
            <a:pPr marL="36900" indent="0" algn="ctr">
              <a:buNone/>
            </a:pPr>
            <a:r>
              <a:rPr lang="ar-EG" sz="2800" b="1">
                <a:effectLst/>
              </a:rPr>
              <a:t>القرار الائتماني</a:t>
            </a:r>
            <a:endParaRPr lang="en-US" sz="2800" b="1">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r>
              <a:rPr lang="en-US" b="1">
                <a:effectLst/>
              </a:rPr>
              <a:t>After fill </a:t>
            </a:r>
            <a:r>
              <a:rPr lang="ar-EG" b="1">
                <a:effectLst/>
              </a:rPr>
              <a:t>المبلغ الموصي به و عدد الشهور</a:t>
            </a:r>
            <a:endParaRPr lang="en-US" b="1">
              <a:effectLst/>
            </a:endParaRPr>
          </a:p>
          <a:p>
            <a:pPr lvl="1"/>
            <a:r>
              <a:rPr lang="en-US" b="1">
                <a:effectLst/>
              </a:rPr>
              <a:t>Flow_repayment_cycleController/GetOne</a:t>
            </a:r>
            <a:r>
              <a:rPr lang="en-US" b="1"/>
              <a:t>/{FRC_Id}</a:t>
            </a:r>
            <a:endParaRPr lang="ar-EG" b="1"/>
          </a:p>
          <a:p>
            <a:pPr lvl="2"/>
            <a:r>
              <a:rPr lang="en-US" sz="1800" b="1"/>
              <a:t>IFlow_repayment_cycleService. GetOne(FRC_Id)</a:t>
            </a:r>
          </a:p>
          <a:p>
            <a:endParaRPr lang="ar-EG"/>
          </a:p>
          <a:p>
            <a:endParaRPr lang="ar-EG"/>
          </a:p>
        </p:txBody>
      </p:sp>
      <p:pic>
        <p:nvPicPr>
          <p:cNvPr id="7" name="Picture 6">
            <a:extLst>
              <a:ext uri="{FF2B5EF4-FFF2-40B4-BE49-F238E27FC236}">
                <a16:creationId xmlns:a16="http://schemas.microsoft.com/office/drawing/2014/main" id="{5B9FA8EC-156A-0903-C5B4-943914B7E1FC}"/>
              </a:ext>
            </a:extLst>
          </p:cNvPr>
          <p:cNvPicPr>
            <a:picLocks noChangeAspect="1"/>
          </p:cNvPicPr>
          <p:nvPr/>
        </p:nvPicPr>
        <p:blipFill>
          <a:blip r:embed="rId2"/>
          <a:stretch>
            <a:fillRect/>
          </a:stretch>
        </p:blipFill>
        <p:spPr>
          <a:xfrm>
            <a:off x="287398" y="1159580"/>
            <a:ext cx="6332769" cy="685859"/>
          </a:xfrm>
          <a:prstGeom prst="rect">
            <a:avLst/>
          </a:prstGeom>
        </p:spPr>
      </p:pic>
      <p:pic>
        <p:nvPicPr>
          <p:cNvPr id="9" name="Picture 8">
            <a:extLst>
              <a:ext uri="{FF2B5EF4-FFF2-40B4-BE49-F238E27FC236}">
                <a16:creationId xmlns:a16="http://schemas.microsoft.com/office/drawing/2014/main" id="{9FF1923D-8C61-D62B-C360-6DA2DA02EA49}"/>
              </a:ext>
            </a:extLst>
          </p:cNvPr>
          <p:cNvPicPr>
            <a:picLocks noChangeAspect="1"/>
          </p:cNvPicPr>
          <p:nvPr/>
        </p:nvPicPr>
        <p:blipFill>
          <a:blip r:embed="rId3"/>
          <a:stretch>
            <a:fillRect/>
          </a:stretch>
        </p:blipFill>
        <p:spPr>
          <a:xfrm>
            <a:off x="287398" y="1947705"/>
            <a:ext cx="6332769" cy="1828958"/>
          </a:xfrm>
          <a:prstGeom prst="rect">
            <a:avLst/>
          </a:prstGeom>
        </p:spPr>
      </p:pic>
    </p:spTree>
    <p:extLst>
      <p:ext uri="{BB962C8B-B14F-4D97-AF65-F5344CB8AC3E}">
        <p14:creationId xmlns:p14="http://schemas.microsoft.com/office/powerpoint/2010/main" val="3910669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5036-2F64-0448-307E-A3C523E4DE1C}"/>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467F3233-199C-84C6-FA47-20D4F58CFCD3}"/>
              </a:ext>
            </a:extLst>
          </p:cNvPr>
          <p:cNvSpPr>
            <a:spLocks noGrp="1"/>
          </p:cNvSpPr>
          <p:nvPr>
            <p:ph idx="1"/>
          </p:nvPr>
        </p:nvSpPr>
        <p:spPr>
          <a:xfrm>
            <a:off x="152400" y="666751"/>
            <a:ext cx="11896725" cy="6105524"/>
          </a:xfrm>
        </p:spPr>
        <p:txBody>
          <a:bodyPr/>
          <a:lstStyle/>
          <a:p>
            <a:pPr marL="36900" indent="0" algn="ctr">
              <a:buNone/>
            </a:pPr>
            <a:r>
              <a:rPr lang="ar-EG" sz="3200" b="1">
                <a:solidFill>
                  <a:srgbClr val="FFFF00"/>
                </a:solidFill>
              </a:rPr>
              <a:t>المستندات</a:t>
            </a:r>
            <a:endParaRPr lang="ar-EG"/>
          </a:p>
          <a:p>
            <a:endParaRPr lang="en-US"/>
          </a:p>
        </p:txBody>
      </p:sp>
      <p:pic>
        <p:nvPicPr>
          <p:cNvPr id="5" name="Picture 4">
            <a:extLst>
              <a:ext uri="{FF2B5EF4-FFF2-40B4-BE49-F238E27FC236}">
                <a16:creationId xmlns:a16="http://schemas.microsoft.com/office/drawing/2014/main" id="{4115BA89-B3EC-804F-F921-521DCB7B2453}"/>
              </a:ext>
            </a:extLst>
          </p:cNvPr>
          <p:cNvPicPr>
            <a:picLocks noChangeAspect="1"/>
          </p:cNvPicPr>
          <p:nvPr/>
        </p:nvPicPr>
        <p:blipFill>
          <a:blip r:embed="rId2"/>
          <a:stretch>
            <a:fillRect/>
          </a:stretch>
        </p:blipFill>
        <p:spPr>
          <a:xfrm>
            <a:off x="913795" y="2195381"/>
            <a:ext cx="7734970" cy="1524132"/>
          </a:xfrm>
          <a:prstGeom prst="rect">
            <a:avLst/>
          </a:prstGeom>
        </p:spPr>
      </p:pic>
    </p:spTree>
    <p:extLst>
      <p:ext uri="{BB962C8B-B14F-4D97-AF65-F5344CB8AC3E}">
        <p14:creationId xmlns:p14="http://schemas.microsoft.com/office/powerpoint/2010/main" val="2266877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C779-4736-AFF9-8D91-CF82D468E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25265-927C-6B28-217A-FD4D08CC320F}"/>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672EC321-3ADD-2486-FE3F-DCD8A4E5D930}"/>
              </a:ext>
            </a:extLst>
          </p:cNvPr>
          <p:cNvSpPr>
            <a:spLocks noGrp="1"/>
          </p:cNvSpPr>
          <p:nvPr>
            <p:ph idx="1"/>
          </p:nvPr>
        </p:nvSpPr>
        <p:spPr>
          <a:xfrm>
            <a:off x="152400" y="666751"/>
            <a:ext cx="11896725" cy="6105524"/>
          </a:xfrm>
        </p:spPr>
        <p:txBody>
          <a:bodyPr/>
          <a:lstStyle/>
          <a:p>
            <a:pPr marL="36900" indent="0" algn="ctr">
              <a:buNone/>
            </a:pPr>
            <a:r>
              <a:rPr lang="ar-EG" sz="2800" b="1">
                <a:solidFill>
                  <a:srgbClr val="FFFF00"/>
                </a:solidFill>
                <a:effectLst/>
              </a:rPr>
              <a:t>الإستعلام الميدانى للعميل</a:t>
            </a:r>
            <a:endParaRPr lang="ar-EG" sz="2800" b="1">
              <a:solidFill>
                <a:srgbClr val="FFFF00"/>
              </a:solidFill>
            </a:endParaRPr>
          </a:p>
          <a:p>
            <a:endParaRPr lang="en-US"/>
          </a:p>
        </p:txBody>
      </p:sp>
      <p:pic>
        <p:nvPicPr>
          <p:cNvPr id="6" name="Picture 5">
            <a:extLst>
              <a:ext uri="{FF2B5EF4-FFF2-40B4-BE49-F238E27FC236}">
                <a16:creationId xmlns:a16="http://schemas.microsoft.com/office/drawing/2014/main" id="{E4C70BA5-5F11-5566-2BF9-B71DDD258857}"/>
              </a:ext>
            </a:extLst>
          </p:cNvPr>
          <p:cNvPicPr>
            <a:picLocks noChangeAspect="1"/>
          </p:cNvPicPr>
          <p:nvPr/>
        </p:nvPicPr>
        <p:blipFill>
          <a:blip r:embed="rId2"/>
          <a:stretch>
            <a:fillRect/>
          </a:stretch>
        </p:blipFill>
        <p:spPr>
          <a:xfrm>
            <a:off x="1763696" y="1455204"/>
            <a:ext cx="7712108" cy="4976291"/>
          </a:xfrm>
          <a:prstGeom prst="rect">
            <a:avLst/>
          </a:prstGeom>
        </p:spPr>
      </p:pic>
    </p:spTree>
    <p:extLst>
      <p:ext uri="{BB962C8B-B14F-4D97-AF65-F5344CB8AC3E}">
        <p14:creationId xmlns:p14="http://schemas.microsoft.com/office/powerpoint/2010/main" val="12239377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118E-BDBA-8351-5C9D-FF6B2FF0035C}"/>
              </a:ext>
            </a:extLst>
          </p:cNvPr>
          <p:cNvSpPr>
            <a:spLocks noGrp="1"/>
          </p:cNvSpPr>
          <p:nvPr>
            <p:ph type="title"/>
          </p:nvPr>
        </p:nvSpPr>
        <p:spPr>
          <a:xfrm>
            <a:off x="913795" y="0"/>
            <a:ext cx="10353762" cy="685800"/>
          </a:xfrm>
        </p:spPr>
        <p:txBody>
          <a:bodyPr>
            <a:normAutofit fontScale="90000"/>
          </a:bodyPr>
          <a:lstStyle/>
          <a:p>
            <a:r>
              <a:rPr lang="ar-EG" b="1">
                <a:solidFill>
                  <a:srgbClr val="FFFF00"/>
                </a:solidFill>
              </a:rPr>
              <a:t>حفظ جميع بيانات 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5F66CF50-A131-CA1B-8DDF-851740C2174C}"/>
              </a:ext>
            </a:extLst>
          </p:cNvPr>
          <p:cNvSpPr>
            <a:spLocks noGrp="1"/>
          </p:cNvSpPr>
          <p:nvPr>
            <p:ph idx="1"/>
          </p:nvPr>
        </p:nvSpPr>
        <p:spPr>
          <a:xfrm>
            <a:off x="133350" y="685801"/>
            <a:ext cx="11944350" cy="5915024"/>
          </a:xfrm>
        </p:spPr>
        <p:txBody>
          <a:bodyPr/>
          <a:lstStyle/>
          <a:p>
            <a:pPr latinLnBrk="1"/>
            <a:r>
              <a:rPr lang="en-US" b="1">
                <a:solidFill>
                  <a:srgbClr val="FFFF00"/>
                </a:solidFill>
                <a:effectLst/>
              </a:rPr>
              <a:t>Flow_FieldVisits_mainController</a:t>
            </a:r>
            <a:r>
              <a:rPr lang="en-US">
                <a:effectLst/>
              </a:rPr>
              <a:t>/</a:t>
            </a:r>
            <a:r>
              <a:rPr lang="en-US" b="1">
                <a:solidFill>
                  <a:srgbClr val="00B0F0"/>
                </a:solidFill>
                <a:effectLst/>
              </a:rPr>
              <a:t>InsertOrUpdateFlow_FieldVisits_ClientsWithDocuments</a:t>
            </a:r>
          </a:p>
          <a:p>
            <a:endParaRPr lang="en-US"/>
          </a:p>
          <a:p>
            <a:endParaRPr lang="en-US"/>
          </a:p>
          <a:p>
            <a:r>
              <a:rPr lang="en-US"/>
              <a:t>TWF.TWF_Download</a:t>
            </a:r>
          </a:p>
          <a:p>
            <a:pPr lvl="1"/>
            <a:r>
              <a:rPr lang="en-US" b="1"/>
              <a:t>These two records Due to : </a:t>
            </a:r>
            <a:r>
              <a:rPr lang="ar-EG" b="1"/>
              <a:t>الصورة الداخلية والخارجية للمنشأة</a:t>
            </a:r>
            <a:endParaRPr lang="en-US" b="1"/>
          </a:p>
          <a:p>
            <a:pPr lvl="1"/>
            <a:r>
              <a:rPr lang="en-US" b="1"/>
              <a:t>715:  </a:t>
            </a:r>
            <a:r>
              <a:rPr lang="ar-EG" b="1"/>
              <a:t>صورة خارجية للنشاط</a:t>
            </a:r>
            <a:r>
              <a:rPr lang="en-US" b="1"/>
              <a:t> FK from </a:t>
            </a:r>
            <a:r>
              <a:rPr lang="en-US" b="1">
                <a:solidFill>
                  <a:srgbClr val="00B0F0"/>
                </a:solidFill>
              </a:rPr>
              <a:t>Flow_Types_documents</a:t>
            </a:r>
          </a:p>
          <a:p>
            <a:pPr lvl="1"/>
            <a:r>
              <a:rPr lang="en-US" b="1">
                <a:solidFill>
                  <a:srgbClr val="00B0F0"/>
                </a:solidFill>
              </a:rPr>
              <a:t>716: </a:t>
            </a:r>
            <a:r>
              <a:rPr lang="ar-EG" b="1">
                <a:solidFill>
                  <a:srgbClr val="00B0F0"/>
                </a:solidFill>
              </a:rPr>
              <a:t>صورة داخلية للنشاط</a:t>
            </a:r>
          </a:p>
          <a:p>
            <a:pPr lvl="1"/>
            <a:endParaRPr lang="en-US" b="1">
              <a:solidFill>
                <a:srgbClr val="00B0F0"/>
              </a:solidFill>
            </a:endParaRPr>
          </a:p>
        </p:txBody>
      </p:sp>
      <p:pic>
        <p:nvPicPr>
          <p:cNvPr id="5" name="Picture 4">
            <a:extLst>
              <a:ext uri="{FF2B5EF4-FFF2-40B4-BE49-F238E27FC236}">
                <a16:creationId xmlns:a16="http://schemas.microsoft.com/office/drawing/2014/main" id="{C1EFA9A2-87AA-26E1-BD94-DFD7C332E161}"/>
              </a:ext>
            </a:extLst>
          </p:cNvPr>
          <p:cNvPicPr>
            <a:picLocks noChangeAspect="1"/>
          </p:cNvPicPr>
          <p:nvPr/>
        </p:nvPicPr>
        <p:blipFill>
          <a:blip r:embed="rId2"/>
          <a:stretch>
            <a:fillRect/>
          </a:stretch>
        </p:blipFill>
        <p:spPr>
          <a:xfrm>
            <a:off x="200025" y="3962400"/>
            <a:ext cx="10267754" cy="685823"/>
          </a:xfrm>
          <a:prstGeom prst="rect">
            <a:avLst/>
          </a:prstGeom>
        </p:spPr>
      </p:pic>
    </p:spTree>
    <p:extLst>
      <p:ext uri="{BB962C8B-B14F-4D97-AF65-F5344CB8AC3E}">
        <p14:creationId xmlns:p14="http://schemas.microsoft.com/office/powerpoint/2010/main" val="3101144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42553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 </a:t>
            </a:r>
            <a:r>
              <a:rPr lang="ar-EG"/>
              <a:t>نوع السكن</a:t>
            </a:r>
            <a:endParaRPr lang="en-US"/>
          </a:p>
          <a:p>
            <a:pPr lvl="1"/>
            <a:r>
              <a:rPr lang="ar-EG"/>
              <a:t>إيجار جديد, إيجار قديم, تمليك</a:t>
            </a:r>
            <a:endParaRPr lang="en-US"/>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69"/>
            <a:ext cx="5535562" cy="444940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b="1"/>
              <a:t>RecommendedAmount</a:t>
            </a:r>
          </a:p>
          <a:p>
            <a:pPr marL="914400" lvl="1" indent="-457200">
              <a:buFont typeface="Arial" panose="020B0604020202020204" pitchFamily="34" charset="0"/>
              <a:buChar char="•"/>
            </a:pPr>
            <a:r>
              <a:rPr lang="en-US" sz="2000" b="1"/>
              <a:t>Recommend_num_months</a:t>
            </a:r>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premium_amount</a:t>
            </a:r>
            <a:endParaRPr lang="ar-EG" sz="2000" b="1"/>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recommended_total_funding</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42244377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sz="2800" b="1"/>
              <a:t>This table represent </a:t>
            </a:r>
            <a:r>
              <a:rPr lang="ar-EG" sz="2800" b="1"/>
              <a:t>الاستعلام الميداني للعميل والضامن</a:t>
            </a:r>
            <a:endParaRPr lang="en-US" sz="2800" b="1"/>
          </a:p>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6" name="Picture 5">
            <a:extLst>
              <a:ext uri="{FF2B5EF4-FFF2-40B4-BE49-F238E27FC236}">
                <a16:creationId xmlns:a16="http://schemas.microsoft.com/office/drawing/2014/main" id="{96F8F141-4013-6030-5284-56F58F0B79AA}"/>
              </a:ext>
            </a:extLst>
          </p:cNvPr>
          <p:cNvPicPr>
            <a:picLocks noChangeAspect="1"/>
          </p:cNvPicPr>
          <p:nvPr/>
        </p:nvPicPr>
        <p:blipFill>
          <a:blip r:embed="rId2"/>
          <a:stretch>
            <a:fillRect/>
          </a:stretch>
        </p:blipFill>
        <p:spPr>
          <a:xfrm>
            <a:off x="245807" y="5307429"/>
            <a:ext cx="10026493" cy="822984"/>
          </a:xfrm>
          <a:prstGeom prst="rect">
            <a:avLst/>
          </a:prstGeom>
        </p:spPr>
      </p:pic>
    </p:spTree>
    <p:extLst>
      <p:ext uri="{BB962C8B-B14F-4D97-AF65-F5344CB8AC3E}">
        <p14:creationId xmlns:p14="http://schemas.microsoft.com/office/powerpoint/2010/main" val="17265605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499-9D8D-93F7-BA1A-E4E727ED2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19DD3-4429-FAEA-96CD-BD8537559D55}"/>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4EB0A544-F9F7-64BE-0789-F4172FDF3E2A}"/>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GuarVisitCount from </a:t>
            </a:r>
            <a:r>
              <a:rPr lang="en-US" b="1">
                <a:solidFill>
                  <a:srgbClr val="00B0F0"/>
                </a:solidFill>
              </a:rPr>
              <a:t>Null</a:t>
            </a:r>
            <a:r>
              <a:rPr lang="en-US" b="1"/>
              <a:t> to </a:t>
            </a:r>
            <a:r>
              <a:rPr lang="en-US" b="1">
                <a:solidFill>
                  <a:srgbClr val="00B0F0"/>
                </a:solidFill>
              </a:rPr>
              <a:t>1</a:t>
            </a:r>
          </a:p>
          <a:p>
            <a:endParaRPr lang="ar-EG"/>
          </a:p>
          <a:p>
            <a:endParaRPr lang="en-US"/>
          </a:p>
        </p:txBody>
      </p:sp>
    </p:spTree>
    <p:extLst>
      <p:ext uri="{BB962C8B-B14F-4D97-AF65-F5344CB8AC3E}">
        <p14:creationId xmlns:p14="http://schemas.microsoft.com/office/powerpoint/2010/main" val="1135805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EE4D-F4A0-478A-94EF-B235A3666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F8EC7E-12CC-3F6F-81E2-9C8F96ED820F}"/>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ED56D370-78E7-1799-D367-E2034E8A39A3}"/>
              </a:ext>
            </a:extLst>
          </p:cNvPr>
          <p:cNvSpPr>
            <a:spLocks noGrp="1"/>
          </p:cNvSpPr>
          <p:nvPr>
            <p:ph idx="1"/>
          </p:nvPr>
        </p:nvSpPr>
        <p:spPr>
          <a:xfrm>
            <a:off x="95250" y="761999"/>
            <a:ext cx="11934825" cy="5819775"/>
          </a:xfrm>
        </p:spPr>
        <p:txBody>
          <a:bodyPr/>
          <a:lstStyle/>
          <a:p>
            <a:endParaRPr lang="ar-EG"/>
          </a:p>
          <a:p>
            <a:endParaRPr lang="en-US"/>
          </a:p>
        </p:txBody>
      </p:sp>
      <p:pic>
        <p:nvPicPr>
          <p:cNvPr id="5" name="Picture 4">
            <a:extLst>
              <a:ext uri="{FF2B5EF4-FFF2-40B4-BE49-F238E27FC236}">
                <a16:creationId xmlns:a16="http://schemas.microsoft.com/office/drawing/2014/main" id="{3990F507-DCB2-4746-7A00-F7F9632EE384}"/>
              </a:ext>
            </a:extLst>
          </p:cNvPr>
          <p:cNvPicPr>
            <a:picLocks noChangeAspect="1"/>
          </p:cNvPicPr>
          <p:nvPr/>
        </p:nvPicPr>
        <p:blipFill>
          <a:blip r:embed="rId2"/>
          <a:stretch>
            <a:fillRect/>
          </a:stretch>
        </p:blipFill>
        <p:spPr>
          <a:xfrm>
            <a:off x="95250" y="761999"/>
            <a:ext cx="7209145" cy="2766300"/>
          </a:xfrm>
          <a:prstGeom prst="rect">
            <a:avLst/>
          </a:prstGeom>
        </p:spPr>
      </p:pic>
    </p:spTree>
    <p:extLst>
      <p:ext uri="{BB962C8B-B14F-4D97-AF65-F5344CB8AC3E}">
        <p14:creationId xmlns:p14="http://schemas.microsoft.com/office/powerpoint/2010/main" val="1662156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5B3D-441B-FBC6-1397-DD866A2DF4B5}"/>
              </a:ext>
            </a:extLst>
          </p:cNvPr>
          <p:cNvSpPr>
            <a:spLocks noGrp="1"/>
          </p:cNvSpPr>
          <p:nvPr>
            <p:ph type="title"/>
          </p:nvPr>
        </p:nvSpPr>
        <p:spPr>
          <a:xfrm>
            <a:off x="913795" y="0"/>
            <a:ext cx="10353762" cy="685800"/>
          </a:xfrm>
        </p:spPr>
        <p:txBody>
          <a:bodyPr>
            <a:normAutofit fontScale="90000"/>
          </a:bodyPr>
          <a:lstStyle/>
          <a:p>
            <a:r>
              <a:rPr lang="ar-EG" b="1"/>
              <a:t>الزيارة الميدانية للضامن</a:t>
            </a:r>
            <a:endParaRPr lang="en-US" b="1"/>
          </a:p>
        </p:txBody>
      </p:sp>
      <p:sp>
        <p:nvSpPr>
          <p:cNvPr id="11" name="Content Placeholder 10">
            <a:extLst>
              <a:ext uri="{FF2B5EF4-FFF2-40B4-BE49-F238E27FC236}">
                <a16:creationId xmlns:a16="http://schemas.microsoft.com/office/drawing/2014/main" id="{F3F67EA5-07F1-D2AA-AA16-8FA7DD50AD8E}"/>
              </a:ext>
            </a:extLst>
          </p:cNvPr>
          <p:cNvSpPr>
            <a:spLocks noGrp="1"/>
          </p:cNvSpPr>
          <p:nvPr>
            <p:ph idx="1"/>
          </p:nvPr>
        </p:nvSpPr>
        <p:spPr>
          <a:xfrm>
            <a:off x="913795" y="685801"/>
            <a:ext cx="10353762" cy="5105400"/>
          </a:xfrm>
        </p:spPr>
        <p:txBody>
          <a:bodyPr/>
          <a:lstStyle/>
          <a:p>
            <a:pPr marL="36900" indent="0" algn="ctr">
              <a:buNone/>
            </a:pPr>
            <a:r>
              <a:rPr lang="ar-EG" sz="2800" b="1">
                <a:solidFill>
                  <a:srgbClr val="00B0F0"/>
                </a:solidFill>
              </a:rPr>
              <a:t>الإستعلام الميدانى للضامن</a:t>
            </a:r>
          </a:p>
          <a:p>
            <a:endParaRPr lang="ar-EG" b="1"/>
          </a:p>
          <a:p>
            <a:endParaRPr lang="en-US"/>
          </a:p>
        </p:txBody>
      </p:sp>
      <p:pic>
        <p:nvPicPr>
          <p:cNvPr id="13" name="Picture 12">
            <a:extLst>
              <a:ext uri="{FF2B5EF4-FFF2-40B4-BE49-F238E27FC236}">
                <a16:creationId xmlns:a16="http://schemas.microsoft.com/office/drawing/2014/main" id="{1D96B283-7EA0-E6A2-8DDA-4A8A95C53749}"/>
              </a:ext>
            </a:extLst>
          </p:cNvPr>
          <p:cNvPicPr>
            <a:picLocks noChangeAspect="1"/>
          </p:cNvPicPr>
          <p:nvPr/>
        </p:nvPicPr>
        <p:blipFill>
          <a:blip r:embed="rId2"/>
          <a:stretch>
            <a:fillRect/>
          </a:stretch>
        </p:blipFill>
        <p:spPr>
          <a:xfrm>
            <a:off x="1471050" y="1339741"/>
            <a:ext cx="6606149" cy="4981774"/>
          </a:xfrm>
          <a:prstGeom prst="rect">
            <a:avLst/>
          </a:prstGeom>
        </p:spPr>
      </p:pic>
    </p:spTree>
    <p:extLst>
      <p:ext uri="{BB962C8B-B14F-4D97-AF65-F5344CB8AC3E}">
        <p14:creationId xmlns:p14="http://schemas.microsoft.com/office/powerpoint/2010/main" val="4096648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9B580-A839-92D7-5A02-F3E6200D268C}"/>
              </a:ext>
            </a:extLst>
          </p:cNvPr>
          <p:cNvSpPr>
            <a:spLocks noGrp="1"/>
          </p:cNvSpPr>
          <p:nvPr>
            <p:ph type="title"/>
          </p:nvPr>
        </p:nvSpPr>
        <p:spPr>
          <a:xfrm>
            <a:off x="913795" y="0"/>
            <a:ext cx="10353762" cy="970450"/>
          </a:xfrm>
        </p:spPr>
        <p:txBody>
          <a:bodyPr/>
          <a:lstStyle/>
          <a:p>
            <a:r>
              <a:rPr lang="ar-EG"/>
              <a:t>حفظ جميع بيانات </a:t>
            </a:r>
            <a:r>
              <a:rPr lang="ar-EG" b="1"/>
              <a:t>الزيارة الميدانية للضامن</a:t>
            </a:r>
            <a:endParaRPr lang="en-US"/>
          </a:p>
        </p:txBody>
      </p:sp>
      <p:sp>
        <p:nvSpPr>
          <p:cNvPr id="3" name="Content Placeholder 2">
            <a:extLst>
              <a:ext uri="{FF2B5EF4-FFF2-40B4-BE49-F238E27FC236}">
                <a16:creationId xmlns:a16="http://schemas.microsoft.com/office/drawing/2014/main" id="{4F18C9FC-8977-E3BF-B1E7-664DFC6C3B87}"/>
              </a:ext>
            </a:extLst>
          </p:cNvPr>
          <p:cNvSpPr>
            <a:spLocks noGrp="1"/>
          </p:cNvSpPr>
          <p:nvPr>
            <p:ph idx="1"/>
          </p:nvPr>
        </p:nvSpPr>
        <p:spPr>
          <a:xfrm>
            <a:off x="485775" y="970451"/>
            <a:ext cx="10781782" cy="5401774"/>
          </a:xfrm>
        </p:spPr>
        <p:txBody>
          <a:bodyPr/>
          <a:lstStyle/>
          <a:p>
            <a:r>
              <a:rPr lang="en-US" b="1">
                <a:effectLst/>
              </a:rPr>
              <a:t>Flow_FieldVisits_mainController</a:t>
            </a:r>
            <a:r>
              <a:rPr lang="ar-EG" b="1">
                <a:effectLst/>
              </a:rPr>
              <a:t> </a:t>
            </a:r>
            <a:r>
              <a:rPr lang="en-US" b="1">
                <a:effectLst/>
              </a:rPr>
              <a:t>.InsertOrUpdateFlow_FieldVisits_Guarantor</a:t>
            </a:r>
            <a:endParaRPr lang="en-US" b="1"/>
          </a:p>
        </p:txBody>
      </p:sp>
    </p:spTree>
    <p:extLst>
      <p:ext uri="{BB962C8B-B14F-4D97-AF65-F5344CB8AC3E}">
        <p14:creationId xmlns:p14="http://schemas.microsoft.com/office/powerpoint/2010/main" val="1141364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ar-EG"/>
              <a:t>حفظ جميع بيانات </a:t>
            </a:r>
            <a:r>
              <a:rPr lang="ar-EG" b="1"/>
              <a:t>الزيارة الميدانية للضامن</a:t>
            </a:r>
            <a:endParaRPr lang="en-US" b="1">
              <a:solidFill>
                <a:srgbClr val="FF0000"/>
              </a:solidFill>
            </a:endParaRP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0"/>
            <a:ext cx="11911473" cy="6071419"/>
          </a:xfrm>
        </p:spPr>
        <p:txBody>
          <a:bodyPr>
            <a:normAutofit/>
          </a:bodyPr>
          <a:lstStyle/>
          <a:p>
            <a:r>
              <a:rPr lang="en-US" sz="2800" b="1">
                <a:solidFill>
                  <a:srgbClr val="FFFF00"/>
                </a:solidFill>
              </a:rPr>
              <a:t>TDWF</a:t>
            </a:r>
            <a:r>
              <a:rPr lang="en-US" sz="2800"/>
              <a:t>.</a:t>
            </a:r>
            <a:r>
              <a:rPr lang="en-US" sz="2800" b="1">
                <a:solidFill>
                  <a:srgbClr val="FF0000"/>
                </a:solidFill>
              </a:rPr>
              <a:t>Flow_FieldVisits_Guarantor</a:t>
            </a:r>
            <a:endParaRPr lang="ar-EG" sz="2800">
              <a:solidFill>
                <a:srgbClr val="FF0000"/>
              </a:solidFill>
            </a:endParaRPr>
          </a:p>
          <a:p>
            <a:r>
              <a:rPr lang="en-US" b="1"/>
              <a:t>int FVG_ID</a:t>
            </a:r>
          </a:p>
          <a:p>
            <a:r>
              <a:rPr lang="en-US" b="1"/>
              <a:t>DateTime? Guarantor_visit_date </a:t>
            </a:r>
          </a:p>
          <a:p>
            <a:r>
              <a:rPr lang="en-US" b="1"/>
              <a:t>public string Residence_Type  //StaticList In Front contains Only (1,2,3)</a:t>
            </a:r>
          </a:p>
          <a:p>
            <a:r>
              <a:rPr lang="en-US" b="1"/>
              <a:t>string Address_guarantor </a:t>
            </a:r>
          </a:p>
          <a:p>
            <a:r>
              <a:rPr lang="en-US" b="1"/>
              <a:t>string Job </a:t>
            </a:r>
          </a:p>
          <a:p>
            <a:r>
              <a:rPr lang="en-US" b="1"/>
              <a:t>string WorkDestination </a:t>
            </a:r>
          </a:p>
          <a:p>
            <a:r>
              <a:rPr lang="en-US" b="1"/>
              <a:t>string SalarySource </a:t>
            </a:r>
          </a:p>
          <a:p>
            <a:r>
              <a:rPr lang="en-US" b="1"/>
              <a:t>decimal NetSalary </a:t>
            </a:r>
          </a:p>
          <a:p>
            <a:r>
              <a:rPr lang="en-US" b="1"/>
              <a:t>string CO_Recommendation </a:t>
            </a:r>
          </a:p>
          <a:p>
            <a:r>
              <a:rPr lang="en-US" b="1"/>
              <a:t>decimal? FVM_ID [FK]</a:t>
            </a:r>
          </a:p>
        </p:txBody>
      </p:sp>
      <p:pic>
        <p:nvPicPr>
          <p:cNvPr id="6" name="Picture 5">
            <a:extLst>
              <a:ext uri="{FF2B5EF4-FFF2-40B4-BE49-F238E27FC236}">
                <a16:creationId xmlns:a16="http://schemas.microsoft.com/office/drawing/2014/main" id="{3C4CBC55-2447-DC26-6EF0-4D8D1E52C316}"/>
              </a:ext>
            </a:extLst>
          </p:cNvPr>
          <p:cNvPicPr>
            <a:picLocks noChangeAspect="1"/>
          </p:cNvPicPr>
          <p:nvPr/>
        </p:nvPicPr>
        <p:blipFill>
          <a:blip r:embed="rId2"/>
          <a:stretch>
            <a:fillRect/>
          </a:stretch>
        </p:blipFill>
        <p:spPr>
          <a:xfrm>
            <a:off x="2677032" y="6103869"/>
            <a:ext cx="9372093" cy="502754"/>
          </a:xfrm>
          <a:prstGeom prst="rect">
            <a:avLst/>
          </a:prstGeom>
        </p:spPr>
      </p:pic>
    </p:spTree>
    <p:extLst>
      <p:ext uri="{BB962C8B-B14F-4D97-AF65-F5344CB8AC3E}">
        <p14:creationId xmlns:p14="http://schemas.microsoft.com/office/powerpoint/2010/main" val="12852123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A6EA-75A1-3F18-82FE-A6AC5F435C84}"/>
              </a:ext>
            </a:extLst>
          </p:cNvPr>
          <p:cNvSpPr>
            <a:spLocks noGrp="1"/>
          </p:cNvSpPr>
          <p:nvPr>
            <p:ph type="title"/>
          </p:nvPr>
        </p:nvSpPr>
        <p:spPr>
          <a:xfrm>
            <a:off x="913795" y="0"/>
            <a:ext cx="10353762" cy="685800"/>
          </a:xfrm>
        </p:spPr>
        <p:txBody>
          <a:bodyPr>
            <a:normAutofit fontScale="90000"/>
          </a:bodyPr>
          <a:lstStyle/>
          <a:p>
            <a:r>
              <a:rPr lang="ar-EG"/>
              <a:t>حفظ جميع بيانات </a:t>
            </a:r>
            <a:r>
              <a:rPr lang="ar-EG" b="1"/>
              <a:t>الزيارة الميدانية للضامن</a:t>
            </a:r>
            <a:endParaRPr lang="en-US"/>
          </a:p>
        </p:txBody>
      </p:sp>
      <p:sp>
        <p:nvSpPr>
          <p:cNvPr id="7" name="Content Placeholder 6">
            <a:extLst>
              <a:ext uri="{FF2B5EF4-FFF2-40B4-BE49-F238E27FC236}">
                <a16:creationId xmlns:a16="http://schemas.microsoft.com/office/drawing/2014/main" id="{B37078BD-E8AA-CCD6-55E1-A59432160B7A}"/>
              </a:ext>
            </a:extLst>
          </p:cNvPr>
          <p:cNvSpPr>
            <a:spLocks noGrp="1"/>
          </p:cNvSpPr>
          <p:nvPr>
            <p:ph idx="1"/>
          </p:nvPr>
        </p:nvSpPr>
        <p:spPr>
          <a:xfrm>
            <a:off x="304800" y="685801"/>
            <a:ext cx="10962757" cy="5105400"/>
          </a:xfrm>
        </p:spPr>
        <p:txBody>
          <a:bodyPr/>
          <a:lstStyle/>
          <a:p>
            <a:r>
              <a:rPr lang="en-US"/>
              <a:t> TDWF.</a:t>
            </a:r>
            <a:r>
              <a:rPr lang="en-US" b="1">
                <a:solidFill>
                  <a:srgbClr val="FF0000"/>
                </a:solidFill>
              </a:rPr>
              <a:t>Flow_FieldVisits_FieldInquiry</a:t>
            </a:r>
            <a:endParaRPr lang="ar-EG" b="1">
              <a:solidFill>
                <a:srgbClr val="FF0000"/>
              </a:solidFill>
            </a:endParaRPr>
          </a:p>
          <a:p>
            <a:pPr lvl="1"/>
            <a:r>
              <a:rPr lang="en-US" b="1"/>
              <a:t>The table that carries the result of </a:t>
            </a:r>
            <a:r>
              <a:rPr lang="ar-EG" b="1"/>
              <a:t>الاستعلام الميداني للعميل والضامن</a:t>
            </a:r>
          </a:p>
          <a:p>
            <a:pPr lvl="1"/>
            <a:endParaRPr lang="ar-EG"/>
          </a:p>
          <a:p>
            <a:endParaRPr lang="en-US"/>
          </a:p>
        </p:txBody>
      </p:sp>
      <p:pic>
        <p:nvPicPr>
          <p:cNvPr id="8" name="Content Placeholder 4">
            <a:extLst>
              <a:ext uri="{FF2B5EF4-FFF2-40B4-BE49-F238E27FC236}">
                <a16:creationId xmlns:a16="http://schemas.microsoft.com/office/drawing/2014/main" id="{24C0D9C3-78C9-8002-3C10-54C0DED73982}"/>
              </a:ext>
            </a:extLst>
          </p:cNvPr>
          <p:cNvPicPr>
            <a:picLocks noChangeAspect="1"/>
          </p:cNvPicPr>
          <p:nvPr/>
        </p:nvPicPr>
        <p:blipFill>
          <a:blip r:embed="rId2"/>
          <a:stretch>
            <a:fillRect/>
          </a:stretch>
        </p:blipFill>
        <p:spPr>
          <a:xfrm>
            <a:off x="795261" y="2878930"/>
            <a:ext cx="9679894" cy="81994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708172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C2C6-D201-AE0A-4B99-97045789B99B}"/>
              </a:ext>
            </a:extLst>
          </p:cNvPr>
          <p:cNvSpPr>
            <a:spLocks noGrp="1"/>
          </p:cNvSpPr>
          <p:nvPr>
            <p:ph type="title"/>
          </p:nvPr>
        </p:nvSpPr>
        <p:spPr>
          <a:xfrm>
            <a:off x="846062" y="0"/>
            <a:ext cx="10353762" cy="592667"/>
          </a:xfrm>
        </p:spPr>
        <p:txBody>
          <a:bodyPr>
            <a:normAutofit fontScale="90000"/>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E13E4B97-234F-2C54-325A-7AD9C39CB3FB}"/>
              </a:ext>
            </a:extLst>
          </p:cNvPr>
          <p:cNvSpPr>
            <a:spLocks noGrp="1"/>
          </p:cNvSpPr>
          <p:nvPr>
            <p:ph idx="1"/>
          </p:nvPr>
        </p:nvSpPr>
        <p:spPr>
          <a:xfrm>
            <a:off x="203200" y="592667"/>
            <a:ext cx="11658600" cy="5985933"/>
          </a:xfrm>
        </p:spPr>
        <p:txBody>
          <a:bodyPr/>
          <a:lstStyle/>
          <a:p>
            <a:pPr marL="36900" indent="0" algn="ctr">
              <a:buNone/>
            </a:pPr>
            <a:r>
              <a:rPr lang="ar-EG" sz="2400" b="1"/>
              <a:t>تفاصيل الزيارة</a:t>
            </a:r>
            <a:endParaRPr lang="en-US" sz="2400" b="1"/>
          </a:p>
          <a:p>
            <a:endParaRPr lang="en-US"/>
          </a:p>
          <a:p>
            <a:endParaRPr lang="en-US"/>
          </a:p>
          <a:p>
            <a:endParaRPr lang="en-US"/>
          </a:p>
          <a:p>
            <a:endParaRPr lang="en-US"/>
          </a:p>
          <a:p>
            <a:endParaRPr lang="en-US"/>
          </a:p>
          <a:p>
            <a:endParaRPr lang="en-US"/>
          </a:p>
          <a:p>
            <a:r>
              <a:rPr lang="en-US">
                <a:effectLst/>
              </a:rPr>
              <a:t>Flow_FieldVisits_mainController/InserUpdateFlow_FieldVisits_ORG</a:t>
            </a:r>
            <a:endParaRPr lang="en-US"/>
          </a:p>
        </p:txBody>
      </p:sp>
      <p:pic>
        <p:nvPicPr>
          <p:cNvPr id="5" name="Picture 4">
            <a:extLst>
              <a:ext uri="{FF2B5EF4-FFF2-40B4-BE49-F238E27FC236}">
                <a16:creationId xmlns:a16="http://schemas.microsoft.com/office/drawing/2014/main" id="{B68105FF-2AF3-6709-FF0B-371F6D1201A3}"/>
              </a:ext>
            </a:extLst>
          </p:cNvPr>
          <p:cNvPicPr>
            <a:picLocks noChangeAspect="1"/>
          </p:cNvPicPr>
          <p:nvPr/>
        </p:nvPicPr>
        <p:blipFill>
          <a:blip r:embed="rId2"/>
          <a:stretch>
            <a:fillRect/>
          </a:stretch>
        </p:blipFill>
        <p:spPr>
          <a:xfrm>
            <a:off x="704383" y="1057161"/>
            <a:ext cx="10783234" cy="2629128"/>
          </a:xfrm>
          <a:prstGeom prst="rect">
            <a:avLst/>
          </a:prstGeom>
        </p:spPr>
      </p:pic>
    </p:spTree>
    <p:extLst>
      <p:ext uri="{BB962C8B-B14F-4D97-AF65-F5344CB8AC3E}">
        <p14:creationId xmlns:p14="http://schemas.microsoft.com/office/powerpoint/2010/main" val="17250193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89B83-0D3D-2330-602A-2509C1453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A5A0-9187-6F61-2E22-B9FD3CD5608B}"/>
              </a:ext>
            </a:extLst>
          </p:cNvPr>
          <p:cNvSpPr>
            <a:spLocks noGrp="1"/>
          </p:cNvSpPr>
          <p:nvPr>
            <p:ph type="title"/>
          </p:nvPr>
        </p:nvSpPr>
        <p:spPr>
          <a:xfrm>
            <a:off x="846062" y="0"/>
            <a:ext cx="10353762" cy="592667"/>
          </a:xfrm>
        </p:spPr>
        <p:txBody>
          <a:bodyPr>
            <a:noAutofit/>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3FC798D1-6BD6-988B-FCB0-B61BCF304190}"/>
              </a:ext>
            </a:extLst>
          </p:cNvPr>
          <p:cNvSpPr>
            <a:spLocks noGrp="1"/>
          </p:cNvSpPr>
          <p:nvPr>
            <p:ph idx="1"/>
          </p:nvPr>
        </p:nvSpPr>
        <p:spPr>
          <a:xfrm>
            <a:off x="66675" y="592667"/>
            <a:ext cx="12125325" cy="6170083"/>
          </a:xfrm>
        </p:spPr>
        <p:txBody>
          <a:bodyPr>
            <a:normAutofit/>
          </a:bodyPr>
          <a:lstStyle/>
          <a:p>
            <a:pPr marL="36900" indent="0" algn="ctr">
              <a:buNone/>
            </a:pPr>
            <a:r>
              <a:rPr lang="ar-EG" sz="2800" b="1">
                <a:solidFill>
                  <a:srgbClr val="FFFF00"/>
                </a:solidFill>
              </a:rPr>
              <a:t>تفاصيل الزيارة</a:t>
            </a:r>
            <a:endParaRPr lang="en-US" sz="2800" b="1">
              <a:solidFill>
                <a:srgbClr val="FFFF00"/>
              </a:solidFill>
            </a:endParaRPr>
          </a:p>
          <a:p>
            <a:r>
              <a:rPr lang="en-US" sz="2400" b="1">
                <a:solidFill>
                  <a:srgbClr val="FFFF00"/>
                </a:solidFill>
              </a:rPr>
              <a:t>TDWF</a:t>
            </a:r>
            <a:r>
              <a:rPr lang="en-US" sz="2400" b="1"/>
              <a:t>.</a:t>
            </a:r>
            <a:r>
              <a:rPr lang="en-US" sz="2400" b="1">
                <a:solidFill>
                  <a:srgbClr val="FF0000"/>
                </a:solidFill>
              </a:rPr>
              <a:t>Flow_FieldVisits_Organization</a:t>
            </a:r>
            <a:endParaRPr lang="en-US" sz="2400" b="1"/>
          </a:p>
          <a:p>
            <a:r>
              <a:rPr lang="en-US" sz="1800" b="1"/>
              <a:t>int FVORG_ID [ PK ]</a:t>
            </a:r>
          </a:p>
          <a:p>
            <a:r>
              <a:rPr lang="en-US" sz="1800" b="1"/>
              <a:t>string OrgSignID { get; set; }</a:t>
            </a:r>
            <a:endParaRPr lang="ar-EG" sz="1800" b="1"/>
          </a:p>
          <a:p>
            <a:pPr lvl="1"/>
            <a:r>
              <a:rPr lang="en-US" b="1"/>
              <a:t>StaticList In Front contains [ </a:t>
            </a:r>
            <a:r>
              <a:rPr lang="ar-EG" b="1"/>
              <a:t>يوجد , لايوجد</a:t>
            </a:r>
            <a:r>
              <a:rPr lang="en-US" b="1"/>
              <a:t>]</a:t>
            </a:r>
          </a:p>
          <a:p>
            <a:r>
              <a:rPr lang="en-US" sz="1800" b="1"/>
              <a:t>int WorkerCountPermanent</a:t>
            </a:r>
          </a:p>
          <a:p>
            <a:r>
              <a:rPr lang="en-US" sz="1800" b="1"/>
              <a:t>int WorkerCountTemporary </a:t>
            </a:r>
          </a:p>
          <a:p>
            <a:r>
              <a:rPr lang="en-US" sz="1800" b="1"/>
              <a:t>string Residence_Type</a:t>
            </a:r>
          </a:p>
          <a:p>
            <a:pPr lvl="1"/>
            <a:r>
              <a:rPr lang="ar-EG" b="1"/>
              <a:t>تمليك</a:t>
            </a:r>
            <a:r>
              <a:rPr lang="en-US" b="1"/>
              <a:t>, </a:t>
            </a:r>
            <a:r>
              <a:rPr lang="ar-EG" b="1"/>
              <a:t>ايجار جديد</a:t>
            </a:r>
            <a:r>
              <a:rPr lang="en-US" b="1"/>
              <a:t>, </a:t>
            </a:r>
            <a:r>
              <a:rPr lang="ar-EG" b="1"/>
              <a:t>ايجار قديم</a:t>
            </a:r>
            <a:endParaRPr lang="en-US" b="1"/>
          </a:p>
          <a:p>
            <a:r>
              <a:rPr lang="en-US" sz="1800" b="1"/>
              <a:t>string OrgRate</a:t>
            </a:r>
          </a:p>
          <a:p>
            <a:r>
              <a:rPr lang="en-US" sz="1800" b="1"/>
              <a:t>string GPSAddress</a:t>
            </a:r>
          </a:p>
          <a:p>
            <a:r>
              <a:rPr lang="en-US" sz="1800" b="1"/>
              <a:t>decimal? FVM _ID [ </a:t>
            </a:r>
            <a:r>
              <a:rPr lang="en-US" sz="1800" b="1">
                <a:solidFill>
                  <a:srgbClr val="FFFF00"/>
                </a:solidFill>
              </a:rPr>
              <a:t>FK</a:t>
            </a:r>
            <a:r>
              <a:rPr lang="en-US" sz="1800" b="1"/>
              <a:t>, </a:t>
            </a:r>
            <a:r>
              <a:rPr lang="en-US" sz="1800" b="1">
                <a:solidFill>
                  <a:srgbClr val="FF0000"/>
                </a:solidFill>
              </a:rPr>
              <a:t>Flow_FieldVisits_main</a:t>
            </a:r>
            <a:r>
              <a:rPr lang="en-US" sz="1800" b="1"/>
              <a:t> ]</a:t>
            </a:r>
            <a:endParaRPr lang="en-US" sz="1600" b="1"/>
          </a:p>
        </p:txBody>
      </p:sp>
      <p:pic>
        <p:nvPicPr>
          <p:cNvPr id="6" name="Picture 5">
            <a:extLst>
              <a:ext uri="{FF2B5EF4-FFF2-40B4-BE49-F238E27FC236}">
                <a16:creationId xmlns:a16="http://schemas.microsoft.com/office/drawing/2014/main" id="{3E48BC03-ED51-C6CF-F9B1-FAD5CE47AB21}"/>
              </a:ext>
            </a:extLst>
          </p:cNvPr>
          <p:cNvPicPr>
            <a:picLocks noChangeAspect="1"/>
          </p:cNvPicPr>
          <p:nvPr/>
        </p:nvPicPr>
        <p:blipFill>
          <a:blip r:embed="rId2"/>
          <a:stretch>
            <a:fillRect/>
          </a:stretch>
        </p:blipFill>
        <p:spPr>
          <a:xfrm>
            <a:off x="3057525" y="4541502"/>
            <a:ext cx="9134475" cy="525797"/>
          </a:xfrm>
          <a:prstGeom prst="rect">
            <a:avLst/>
          </a:prstGeom>
        </p:spPr>
      </p:pic>
    </p:spTree>
    <p:extLst>
      <p:ext uri="{BB962C8B-B14F-4D97-AF65-F5344CB8AC3E}">
        <p14:creationId xmlns:p14="http://schemas.microsoft.com/office/powerpoint/2010/main" val="341396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88B13-A7E7-6DC7-B80B-1F1CBFF8616F}"/>
              </a:ext>
            </a:extLst>
          </p:cNvPr>
          <p:cNvSpPr>
            <a:spLocks noGrp="1"/>
          </p:cNvSpPr>
          <p:nvPr>
            <p:ph type="title"/>
          </p:nvPr>
        </p:nvSpPr>
        <p:spPr>
          <a:xfrm>
            <a:off x="913795" y="0"/>
            <a:ext cx="10353762" cy="542925"/>
          </a:xfrm>
        </p:spPr>
        <p:txBody>
          <a:bodyPr>
            <a:normAutofit fontScale="90000"/>
          </a:bodyPr>
          <a:lstStyle/>
          <a:p>
            <a:r>
              <a:rPr lang="ar-EG" b="1"/>
              <a:t>التحليل المالي</a:t>
            </a:r>
            <a:endParaRPr lang="en-US" b="1"/>
          </a:p>
        </p:txBody>
      </p:sp>
      <p:sp>
        <p:nvSpPr>
          <p:cNvPr id="3" name="Content Placeholder 2">
            <a:extLst>
              <a:ext uri="{FF2B5EF4-FFF2-40B4-BE49-F238E27FC236}">
                <a16:creationId xmlns:a16="http://schemas.microsoft.com/office/drawing/2014/main" id="{D2DCB867-09A1-A4D5-CC6B-806878A74300}"/>
              </a:ext>
            </a:extLst>
          </p:cNvPr>
          <p:cNvSpPr>
            <a:spLocks noGrp="1"/>
          </p:cNvSpPr>
          <p:nvPr>
            <p:ph idx="1"/>
          </p:nvPr>
        </p:nvSpPr>
        <p:spPr>
          <a:xfrm>
            <a:off x="85724" y="542925"/>
            <a:ext cx="11953875" cy="6181725"/>
          </a:xfrm>
        </p:spPr>
        <p:txBody>
          <a:bodyPr>
            <a:normAutofit/>
          </a:bodyPr>
          <a:lstStyle/>
          <a:p>
            <a:pPr marL="36900" indent="0" algn="ctr">
              <a:buNone/>
            </a:pPr>
            <a:r>
              <a:rPr lang="ar-EG" sz="2400" b="1">
                <a:effectLst/>
              </a:rPr>
              <a:t>متوسط المصروفات / الايرادات الشهرية</a:t>
            </a: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pPr marL="36900" indent="0">
              <a:buNone/>
            </a:pPr>
            <a:endParaRPr lang="en-US">
              <a:effectLst/>
            </a:endParaRPr>
          </a:p>
          <a:p>
            <a:endParaRPr lang="en-US" b="1">
              <a:solidFill>
                <a:srgbClr val="FFFF00"/>
              </a:solidFill>
              <a:effectLst/>
            </a:endParaRPr>
          </a:p>
          <a:p>
            <a:r>
              <a:rPr lang="en-US" b="1">
                <a:solidFill>
                  <a:srgbClr val="FFFF00"/>
                </a:solidFill>
                <a:effectLst/>
              </a:rPr>
              <a:t>Flow_FieldVisits_mainController</a:t>
            </a:r>
            <a:r>
              <a:rPr lang="en-US">
                <a:effectLst/>
              </a:rPr>
              <a:t>/</a:t>
            </a:r>
            <a:r>
              <a:rPr lang="en-US" b="1">
                <a:solidFill>
                  <a:srgbClr val="00B0F0"/>
                </a:solidFill>
                <a:effectLst/>
              </a:rPr>
              <a:t>InserUpdateFlow_FieldVisits_FinancialAnalysis</a:t>
            </a:r>
            <a:endParaRPr lang="ar-EG" b="1">
              <a:solidFill>
                <a:srgbClr val="00B0F0"/>
              </a:solidFill>
              <a:effectLst/>
            </a:endParaRPr>
          </a:p>
          <a:p>
            <a:endParaRPr lang="en-US"/>
          </a:p>
        </p:txBody>
      </p:sp>
      <p:pic>
        <p:nvPicPr>
          <p:cNvPr id="5" name="Picture 4">
            <a:extLst>
              <a:ext uri="{FF2B5EF4-FFF2-40B4-BE49-F238E27FC236}">
                <a16:creationId xmlns:a16="http://schemas.microsoft.com/office/drawing/2014/main" id="{B5079BDA-0BCF-C3E0-90B7-5455A47C709D}"/>
              </a:ext>
            </a:extLst>
          </p:cNvPr>
          <p:cNvPicPr>
            <a:picLocks noChangeAspect="1"/>
          </p:cNvPicPr>
          <p:nvPr/>
        </p:nvPicPr>
        <p:blipFill>
          <a:blip r:embed="rId2"/>
          <a:stretch>
            <a:fillRect/>
          </a:stretch>
        </p:blipFill>
        <p:spPr>
          <a:xfrm>
            <a:off x="152401" y="1210203"/>
            <a:ext cx="7633717" cy="4437593"/>
          </a:xfrm>
          <a:prstGeom prst="rect">
            <a:avLst/>
          </a:prstGeom>
        </p:spPr>
      </p:pic>
    </p:spTree>
    <p:extLst>
      <p:ext uri="{BB962C8B-B14F-4D97-AF65-F5344CB8AC3E}">
        <p14:creationId xmlns:p14="http://schemas.microsoft.com/office/powerpoint/2010/main" val="3062438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462116" y="51435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1304925"/>
            <a:ext cx="12123173" cy="5440004"/>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123480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12925011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257F-AB0F-57B2-0B46-FEDD654C0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C8F17-0CD1-E682-84EA-92939B96FA70}"/>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4D62D349-6C06-D19C-2158-FD07FB775536}"/>
              </a:ext>
            </a:extLst>
          </p:cNvPr>
          <p:cNvSpPr>
            <a:spLocks noGrp="1"/>
          </p:cNvSpPr>
          <p:nvPr>
            <p:ph idx="1"/>
          </p:nvPr>
        </p:nvSpPr>
        <p:spPr>
          <a:xfrm>
            <a:off x="133350" y="542924"/>
            <a:ext cx="12058650" cy="6315075"/>
          </a:xfrm>
        </p:spPr>
        <p:txBody>
          <a:bodyPr>
            <a:normAutofit fontScale="92500" lnSpcReduction="20000"/>
          </a:bodyPr>
          <a:lstStyle/>
          <a:p>
            <a:r>
              <a:rPr lang="en-US" b="1">
                <a:solidFill>
                  <a:srgbClr val="FF0000"/>
                </a:solidFill>
              </a:rPr>
              <a:t>Flow_Request</a:t>
            </a:r>
          </a:p>
          <a:p>
            <a:pPr lvl="1"/>
            <a:r>
              <a:rPr lang="en-US" b="1"/>
              <a:t>Approved_amount: from NULL to </a:t>
            </a:r>
            <a:r>
              <a:rPr lang="en-US" b="1">
                <a:solidFill>
                  <a:srgbClr val="00B0F0"/>
                </a:solidFill>
              </a:rPr>
              <a:t>80000</a:t>
            </a:r>
          </a:p>
          <a:p>
            <a:pPr lvl="1"/>
            <a:r>
              <a:rPr lang="en-US" b="1"/>
              <a:t>Approv_value: from NULL to </a:t>
            </a:r>
            <a:r>
              <a:rPr lang="en-US" b="1">
                <a:solidFill>
                  <a:srgbClr val="00B0F0"/>
                </a:solidFill>
              </a:rPr>
              <a:t>86000</a:t>
            </a:r>
          </a:p>
          <a:p>
            <a:pPr lvl="1"/>
            <a:r>
              <a:rPr lang="en-US" b="1"/>
              <a:t>Total amount: from NULL to </a:t>
            </a:r>
            <a:r>
              <a:rPr lang="en-US" b="1">
                <a:solidFill>
                  <a:srgbClr val="00B0F0"/>
                </a:solidFill>
              </a:rPr>
              <a:t>116640.00</a:t>
            </a:r>
          </a:p>
          <a:p>
            <a:pPr lvl="1"/>
            <a:r>
              <a:rPr lang="en-US" b="1"/>
              <a:t>NO_Months: from NULL to </a:t>
            </a:r>
            <a:r>
              <a:rPr lang="en-US" b="1">
                <a:solidFill>
                  <a:srgbClr val="00B0F0"/>
                </a:solidFill>
              </a:rPr>
              <a:t>15</a:t>
            </a:r>
          </a:p>
          <a:p>
            <a:pPr lvl="1"/>
            <a:r>
              <a:rPr lang="en-US" sz="1600" b="1"/>
              <a:t>Primium_value: from NULL to </a:t>
            </a:r>
            <a:r>
              <a:rPr lang="en-US" b="1">
                <a:solidFill>
                  <a:srgbClr val="00B0F0"/>
                </a:solidFill>
              </a:rPr>
              <a:t>7776.00</a:t>
            </a:r>
          </a:p>
          <a:p>
            <a:r>
              <a:rPr lang="en-US" b="1">
                <a:solidFill>
                  <a:srgbClr val="FFC000"/>
                </a:solidFill>
              </a:rPr>
              <a:t>Flow_Request_Deportation</a:t>
            </a:r>
          </a:p>
          <a:p>
            <a:pPr lvl="1"/>
            <a:r>
              <a:rPr lang="en-US" sz="1600" b="1">
                <a:solidFill>
                  <a:srgbClr val="FFFF00"/>
                </a:solidFill>
              </a:rPr>
              <a:t>Code_action</a:t>
            </a:r>
            <a:r>
              <a:rPr lang="en-US" sz="1600" b="1"/>
              <a:t>: 3  -- from flow_action, type code is 1</a:t>
            </a:r>
          </a:p>
          <a:p>
            <a:pPr lvl="1"/>
            <a:r>
              <a:rPr lang="en-US" sz="1600" b="1">
                <a:solidFill>
                  <a:srgbClr val="FFFF00"/>
                </a:solidFill>
              </a:rPr>
              <a:t>Name_step_from</a:t>
            </a:r>
            <a:r>
              <a:rPr lang="en-US" sz="1600" b="1"/>
              <a:t>: </a:t>
            </a:r>
            <a:r>
              <a:rPr lang="ar-EG" sz="1600" b="1"/>
              <a:t>زيارة ميدانية</a:t>
            </a:r>
          </a:p>
          <a:p>
            <a:pPr lvl="1"/>
            <a:r>
              <a:rPr lang="en-US" sz="1600" b="1">
                <a:solidFill>
                  <a:srgbClr val="FFFF00"/>
                </a:solidFill>
              </a:rPr>
              <a:t>Name_step_to</a:t>
            </a:r>
            <a:r>
              <a:rPr lang="en-US" sz="1600" b="1"/>
              <a:t>: </a:t>
            </a:r>
            <a:r>
              <a:rPr lang="ar-EG" sz="1600" b="1"/>
              <a:t>تحليل ائتماني </a:t>
            </a:r>
            <a:endParaRPr lang="en-US" sz="1600" b="1"/>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CA1211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CO</a:t>
            </a:r>
          </a:p>
          <a:p>
            <a:pPr lvl="2"/>
            <a:r>
              <a:rPr lang="en-US" sz="1700" b="1">
                <a:solidFill>
                  <a:srgbClr val="FFC000"/>
                </a:solidFill>
              </a:rPr>
              <a:t>Action</a:t>
            </a:r>
            <a:r>
              <a:rPr lang="ar-EG" sz="1700" b="1">
                <a:solidFill>
                  <a:srgbClr val="FFC000"/>
                </a:solidFill>
              </a:rPr>
              <a:t>_</a:t>
            </a:r>
            <a:r>
              <a:rPr lang="en-US" sz="1700" b="1">
                <a:solidFill>
                  <a:srgbClr val="FFC000"/>
                </a:solidFill>
              </a:rPr>
              <a:t>Flag: NULL</a:t>
            </a:r>
          </a:p>
          <a:p>
            <a:pPr lvl="2"/>
            <a:r>
              <a:rPr lang="en-US" sz="1700" b="1">
                <a:solidFill>
                  <a:srgbClr val="FFC000"/>
                </a:solidFill>
              </a:rPr>
              <a:t>Step_name: CA1211 // </a:t>
            </a:r>
            <a:r>
              <a:rPr lang="ar-EG" sz="1700" b="1">
                <a:solidFill>
                  <a:srgbClr val="FFC000"/>
                </a:solidFill>
              </a:rPr>
              <a:t>تحليل ائتماني</a:t>
            </a:r>
            <a:endParaRPr lang="en-US" sz="1700" b="1">
              <a:solidFill>
                <a:srgbClr val="FFC000"/>
              </a:solidFill>
            </a:endParaRPr>
          </a:p>
        </p:txBody>
      </p:sp>
      <p:pic>
        <p:nvPicPr>
          <p:cNvPr id="6" name="Picture 5">
            <a:extLst>
              <a:ext uri="{FF2B5EF4-FFF2-40B4-BE49-F238E27FC236}">
                <a16:creationId xmlns:a16="http://schemas.microsoft.com/office/drawing/2014/main" id="{11E1A882-4D31-1A15-D336-6F51B567F46E}"/>
              </a:ext>
            </a:extLst>
          </p:cNvPr>
          <p:cNvPicPr>
            <a:picLocks noChangeAspect="1"/>
          </p:cNvPicPr>
          <p:nvPr/>
        </p:nvPicPr>
        <p:blipFill>
          <a:blip r:embed="rId2"/>
          <a:stretch>
            <a:fillRect/>
          </a:stretch>
        </p:blipFill>
        <p:spPr>
          <a:xfrm>
            <a:off x="4906519" y="5294189"/>
            <a:ext cx="7285481" cy="1430462"/>
          </a:xfrm>
          <a:prstGeom prst="rect">
            <a:avLst/>
          </a:prstGeom>
        </p:spPr>
      </p:pic>
    </p:spTree>
    <p:extLst>
      <p:ext uri="{BB962C8B-B14F-4D97-AF65-F5344CB8AC3E}">
        <p14:creationId xmlns:p14="http://schemas.microsoft.com/office/powerpoint/2010/main" val="30790636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A3696-AB65-B5BB-758C-AE16F02CF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B1D12-AE7C-E79B-8518-B5C7FA6070FD}"/>
              </a:ext>
            </a:extLst>
          </p:cNvPr>
          <p:cNvSpPr>
            <a:spLocks noGrp="1"/>
          </p:cNvSpPr>
          <p:nvPr>
            <p:ph type="title"/>
          </p:nvPr>
        </p:nvSpPr>
        <p:spPr>
          <a:xfrm>
            <a:off x="1031782" y="2458550"/>
            <a:ext cx="10353762" cy="970450"/>
          </a:xfrm>
        </p:spPr>
        <p:txBody>
          <a:bodyPr>
            <a:normAutofit/>
          </a:bodyPr>
          <a:lstStyle/>
          <a:p>
            <a:r>
              <a:rPr lang="en-US" b="1">
                <a:solidFill>
                  <a:srgbClr val="FF0000"/>
                </a:solidFill>
              </a:rPr>
              <a:t>End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2408633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0" y="2514598"/>
            <a:ext cx="12191999" cy="1143001"/>
          </a:xfrm>
        </p:spPr>
        <p:txBody>
          <a:bodyPr>
            <a:noAutofit/>
          </a:bodyPr>
          <a:lstStyle/>
          <a:p>
            <a:r>
              <a:rPr lang="en-US" sz="4400" b="1">
                <a:solidFill>
                  <a:srgbClr val="FF0000"/>
                </a:solidFill>
              </a:rPr>
              <a:t>Start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40884894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27877885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F7CE9-CF89-4344-8B02-6CB2C2B8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07B31-B017-BA05-3690-032102CB809B}"/>
              </a:ext>
            </a:extLst>
          </p:cNvPr>
          <p:cNvSpPr>
            <a:spLocks noGrp="1"/>
          </p:cNvSpPr>
          <p:nvPr>
            <p:ph type="title"/>
          </p:nvPr>
        </p:nvSpPr>
        <p:spPr>
          <a:xfrm>
            <a:off x="0" y="2514598"/>
            <a:ext cx="12191999" cy="1143001"/>
          </a:xfrm>
        </p:spPr>
        <p:txBody>
          <a:bodyPr>
            <a:noAutofit/>
          </a:bodyPr>
          <a:lstStyle/>
          <a:p>
            <a:r>
              <a:rPr lang="en-US" sz="4400" b="1">
                <a:solidFill>
                  <a:srgbClr val="FF0000"/>
                </a:solidFill>
              </a:rPr>
              <a:t>End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5452105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E0D7F-9887-F9D1-A428-D44E77D6A084}"/>
              </a:ext>
            </a:extLst>
          </p:cNvPr>
          <p:cNvSpPr>
            <a:spLocks noGrp="1"/>
          </p:cNvSpPr>
          <p:nvPr>
            <p:ph type="title"/>
          </p:nvPr>
        </p:nvSpPr>
        <p:spPr>
          <a:xfrm>
            <a:off x="438150" y="2581275"/>
            <a:ext cx="11258550" cy="970450"/>
          </a:xfrm>
        </p:spPr>
        <p:txBody>
          <a:bodyPr>
            <a:normAutofit fontScale="90000"/>
          </a:bodyPr>
          <a:lstStyle/>
          <a:p>
            <a:r>
              <a:rPr lang="en-US" b="1">
                <a:solidFill>
                  <a:srgbClr val="FF0000"/>
                </a:solidFill>
              </a:rPr>
              <a:t>Start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9116329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30B3-9306-F08D-383A-BC1709B523B7}"/>
              </a:ext>
            </a:extLst>
          </p:cNvPr>
          <p:cNvSpPr>
            <a:spLocks noGrp="1"/>
          </p:cNvSpPr>
          <p:nvPr>
            <p:ph type="title"/>
          </p:nvPr>
        </p:nvSpPr>
        <p:spPr>
          <a:xfrm>
            <a:off x="913795" y="0"/>
            <a:ext cx="10353762" cy="752475"/>
          </a:xfrm>
        </p:spPr>
        <p:txBody>
          <a:bodyPr/>
          <a:lstStyle/>
          <a:p>
            <a:r>
              <a:rPr lang="en-US" b="1"/>
              <a:t>After </a:t>
            </a:r>
            <a:r>
              <a:rPr lang="ar-EG" b="1"/>
              <a:t>حفظ المستندات</a:t>
            </a:r>
            <a:endParaRPr lang="en-US" b="1"/>
          </a:p>
        </p:txBody>
      </p:sp>
      <p:sp>
        <p:nvSpPr>
          <p:cNvPr id="3" name="Content Placeholder 2">
            <a:extLst>
              <a:ext uri="{FF2B5EF4-FFF2-40B4-BE49-F238E27FC236}">
                <a16:creationId xmlns:a16="http://schemas.microsoft.com/office/drawing/2014/main" id="{51351372-44A0-EA98-27BD-33CC008AFFA2}"/>
              </a:ext>
            </a:extLst>
          </p:cNvPr>
          <p:cNvSpPr>
            <a:spLocks noGrp="1"/>
          </p:cNvSpPr>
          <p:nvPr>
            <p:ph idx="1"/>
          </p:nvPr>
        </p:nvSpPr>
        <p:spPr>
          <a:xfrm>
            <a:off x="314326" y="752475"/>
            <a:ext cx="11706224" cy="5924550"/>
          </a:xfrm>
        </p:spPr>
        <p:txBody>
          <a:bodyPr/>
          <a:lstStyle/>
          <a:p>
            <a:r>
              <a:rPr lang="en-US" b="1"/>
              <a:t>Flow_Funding_requestController/UploadBranchManagerDocs</a:t>
            </a:r>
          </a:p>
          <a:p>
            <a:endParaRPr lang="en-US"/>
          </a:p>
          <a:p>
            <a:r>
              <a:rPr lang="en-US" b="1">
                <a:solidFill>
                  <a:srgbClr val="FFFF00"/>
                </a:solidFill>
              </a:rPr>
              <a:t>TWF</a:t>
            </a:r>
            <a:r>
              <a:rPr lang="en-US" b="1"/>
              <a:t>.</a:t>
            </a:r>
            <a:r>
              <a:rPr lang="en-US" b="1">
                <a:solidFill>
                  <a:srgbClr val="00B0F0"/>
                </a:solidFill>
              </a:rPr>
              <a:t>TWF_Download</a:t>
            </a:r>
          </a:p>
          <a:p>
            <a:endParaRPr lang="en-US" b="1">
              <a:solidFill>
                <a:srgbClr val="00B0F0"/>
              </a:solidFill>
            </a:endParaRPr>
          </a:p>
          <a:p>
            <a:endParaRPr lang="en-US" b="1">
              <a:solidFill>
                <a:srgbClr val="00B0F0"/>
              </a:solidFill>
            </a:endParaRPr>
          </a:p>
          <a:p>
            <a:endParaRPr lang="en-US" b="1">
              <a:solidFill>
                <a:srgbClr val="00B0F0"/>
              </a:solidFill>
            </a:endParaRPr>
          </a:p>
        </p:txBody>
      </p:sp>
      <p:pic>
        <p:nvPicPr>
          <p:cNvPr id="5" name="Picture 4">
            <a:extLst>
              <a:ext uri="{FF2B5EF4-FFF2-40B4-BE49-F238E27FC236}">
                <a16:creationId xmlns:a16="http://schemas.microsoft.com/office/drawing/2014/main" id="{957AA0B4-9A25-FFED-19E7-3E912FCADE84}"/>
              </a:ext>
            </a:extLst>
          </p:cNvPr>
          <p:cNvPicPr>
            <a:picLocks noChangeAspect="1"/>
          </p:cNvPicPr>
          <p:nvPr/>
        </p:nvPicPr>
        <p:blipFill>
          <a:blip r:embed="rId2"/>
          <a:stretch>
            <a:fillRect/>
          </a:stretch>
        </p:blipFill>
        <p:spPr>
          <a:xfrm>
            <a:off x="581025" y="2211682"/>
            <a:ext cx="9298981" cy="607718"/>
          </a:xfrm>
          <a:prstGeom prst="rect">
            <a:avLst/>
          </a:prstGeom>
        </p:spPr>
      </p:pic>
    </p:spTree>
    <p:extLst>
      <p:ext uri="{BB962C8B-B14F-4D97-AF65-F5344CB8AC3E}">
        <p14:creationId xmlns:p14="http://schemas.microsoft.com/office/powerpoint/2010/main" val="4767544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9C5AB-A3A4-940C-9677-6292B1218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F9F34-69F6-BDFF-B454-184D555E86C7}"/>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BM Accept the request</a:t>
            </a:r>
          </a:p>
        </p:txBody>
      </p:sp>
      <p:sp>
        <p:nvSpPr>
          <p:cNvPr id="3" name="Content Placeholder 2">
            <a:extLst>
              <a:ext uri="{FF2B5EF4-FFF2-40B4-BE49-F238E27FC236}">
                <a16:creationId xmlns:a16="http://schemas.microsoft.com/office/drawing/2014/main" id="{FD36925E-3B1D-5E78-60A3-682CCD627AAC}"/>
              </a:ext>
            </a:extLst>
          </p:cNvPr>
          <p:cNvSpPr>
            <a:spLocks noGrp="1"/>
          </p:cNvSpPr>
          <p:nvPr>
            <p:ph idx="1"/>
          </p:nvPr>
        </p:nvSpPr>
        <p:spPr>
          <a:xfrm>
            <a:off x="133350" y="542924"/>
            <a:ext cx="12058650" cy="6315075"/>
          </a:xfrm>
        </p:spPr>
        <p:txBody>
          <a:bodyPr>
            <a:normAutofit/>
          </a:bodyPr>
          <a:lstStyle/>
          <a:p>
            <a:r>
              <a:rPr lang="en-US" b="1">
                <a:solidFill>
                  <a:srgbClr val="FFC000"/>
                </a:solidFill>
              </a:rPr>
              <a:t>Flow_Request_Deportation</a:t>
            </a:r>
          </a:p>
          <a:p>
            <a:pPr lvl="1"/>
            <a:r>
              <a:rPr lang="en-US" sz="1600" b="1">
                <a:solidFill>
                  <a:srgbClr val="FFFF00"/>
                </a:solidFill>
              </a:rPr>
              <a:t>Code_action</a:t>
            </a:r>
            <a:r>
              <a:rPr lang="en-US" sz="1600" b="1"/>
              <a:t>: 5  -- from flow_action, type code is 1</a:t>
            </a:r>
          </a:p>
          <a:p>
            <a:pPr lvl="1"/>
            <a:r>
              <a:rPr lang="en-US" sz="1600" b="1">
                <a:solidFill>
                  <a:srgbClr val="FFFF00"/>
                </a:solidFill>
              </a:rPr>
              <a:t>Name_step_from</a:t>
            </a:r>
            <a:r>
              <a:rPr lang="en-US" sz="1600" b="1"/>
              <a:t>: </a:t>
            </a:r>
            <a:r>
              <a:rPr lang="ar-EG" sz="1600" b="1"/>
              <a:t>تحميل مستندات</a:t>
            </a:r>
          </a:p>
          <a:p>
            <a:pPr lvl="1"/>
            <a:r>
              <a:rPr lang="en-US" sz="1600" b="1">
                <a:solidFill>
                  <a:srgbClr val="FFFF00"/>
                </a:solidFill>
              </a:rPr>
              <a:t>Name_step_to</a:t>
            </a:r>
            <a:r>
              <a:rPr lang="en-US" sz="1600" b="1"/>
              <a:t>: </a:t>
            </a:r>
            <a:r>
              <a:rPr lang="ar-EG" sz="1600" b="1"/>
              <a:t>مراجعة مركزية </a:t>
            </a:r>
            <a:endParaRPr lang="en-US" sz="1600" b="1"/>
          </a:p>
          <a:p>
            <a:pPr lvl="1"/>
            <a:r>
              <a:rPr lang="en-US" sz="1600" b="1">
                <a:solidFill>
                  <a:srgbClr val="FFFF00"/>
                </a:solidFill>
              </a:rPr>
              <a:t>UserId_TO</a:t>
            </a:r>
            <a:r>
              <a:rPr lang="en-US" sz="1600" b="1"/>
              <a:t>: NULL</a:t>
            </a:r>
          </a:p>
          <a:p>
            <a:pPr lvl="1"/>
            <a:r>
              <a:rPr lang="en-US" sz="1600" b="1">
                <a:solidFill>
                  <a:srgbClr val="FFFF00"/>
                </a:solidFill>
              </a:rPr>
              <a:t>Status_two</a:t>
            </a:r>
            <a:r>
              <a:rPr lang="en-US" sz="1600" b="1"/>
              <a:t>: LR55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NULL</a:t>
            </a:r>
          </a:p>
          <a:p>
            <a:pPr lvl="2"/>
            <a:r>
              <a:rPr lang="en-US" sz="1700" b="1">
                <a:solidFill>
                  <a:srgbClr val="FFC000"/>
                </a:solidFill>
              </a:rPr>
              <a:t>Action</a:t>
            </a:r>
            <a:r>
              <a:rPr lang="ar-EG" sz="1700" b="1">
                <a:solidFill>
                  <a:srgbClr val="FFC000"/>
                </a:solidFill>
              </a:rPr>
              <a:t>_</a:t>
            </a:r>
            <a:r>
              <a:rPr lang="en-US" sz="1700" b="1">
                <a:solidFill>
                  <a:srgbClr val="FFC000"/>
                </a:solidFill>
              </a:rPr>
              <a:t>Flag: 1</a:t>
            </a:r>
          </a:p>
          <a:p>
            <a:pPr lvl="2"/>
            <a:r>
              <a:rPr lang="en-US" sz="1700" b="1">
                <a:solidFill>
                  <a:srgbClr val="FFC000"/>
                </a:solidFill>
              </a:rPr>
              <a:t>Step_name: LR55 // </a:t>
            </a:r>
            <a:r>
              <a:rPr lang="ar-EG" sz="1700" b="1">
                <a:solidFill>
                  <a:srgbClr val="FFC000"/>
                </a:solidFill>
              </a:rPr>
              <a:t>مراجعة مركزية</a:t>
            </a:r>
            <a:endParaRPr lang="en-US" sz="1700" b="1">
              <a:solidFill>
                <a:srgbClr val="FFC000"/>
              </a:solidFill>
            </a:endParaRPr>
          </a:p>
        </p:txBody>
      </p:sp>
      <p:pic>
        <p:nvPicPr>
          <p:cNvPr id="5" name="Picture 4">
            <a:extLst>
              <a:ext uri="{FF2B5EF4-FFF2-40B4-BE49-F238E27FC236}">
                <a16:creationId xmlns:a16="http://schemas.microsoft.com/office/drawing/2014/main" id="{6B139F87-11F0-6129-9273-0891E304FDD8}"/>
              </a:ext>
            </a:extLst>
          </p:cNvPr>
          <p:cNvPicPr>
            <a:picLocks noChangeAspect="1"/>
          </p:cNvPicPr>
          <p:nvPr/>
        </p:nvPicPr>
        <p:blipFill>
          <a:blip r:embed="rId2"/>
          <a:stretch>
            <a:fillRect/>
          </a:stretch>
        </p:blipFill>
        <p:spPr>
          <a:xfrm>
            <a:off x="5200459" y="5448300"/>
            <a:ext cx="6858191" cy="1323975"/>
          </a:xfrm>
          <a:prstGeom prst="rect">
            <a:avLst/>
          </a:prstGeom>
        </p:spPr>
      </p:pic>
    </p:spTree>
    <p:extLst>
      <p:ext uri="{BB962C8B-B14F-4D97-AF65-F5344CB8AC3E}">
        <p14:creationId xmlns:p14="http://schemas.microsoft.com/office/powerpoint/2010/main" val="1184037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6646-D55A-5527-CEBD-BB1DD6FB4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11351F-ADF1-CD3F-7578-CCBEB7A655D4}"/>
              </a:ext>
            </a:extLst>
          </p:cNvPr>
          <p:cNvSpPr>
            <a:spLocks noGrp="1"/>
          </p:cNvSpPr>
          <p:nvPr>
            <p:ph type="title"/>
          </p:nvPr>
        </p:nvSpPr>
        <p:spPr>
          <a:xfrm>
            <a:off x="276224" y="2581275"/>
            <a:ext cx="11572875" cy="970450"/>
          </a:xfrm>
        </p:spPr>
        <p:txBody>
          <a:bodyPr>
            <a:normAutofit fontScale="90000"/>
          </a:bodyPr>
          <a:lstStyle/>
          <a:p>
            <a:r>
              <a:rPr lang="en-US" b="1">
                <a:solidFill>
                  <a:srgbClr val="FF0000"/>
                </a:solidFill>
              </a:rPr>
              <a:t>End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4837192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solidFill>
                  <a:srgbClr val="FFFF00"/>
                </a:solidFill>
              </a:rPr>
              <a:t>Branch_code</a:t>
            </a:r>
            <a:endParaRPr lang="en-US" sz="1800" b="1">
              <a:solidFill>
                <a:srgbClr val="FFFF00"/>
              </a:solidFill>
            </a:endParaRPr>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111A6-E944-912A-48A8-7E38F61C0C6D}"/>
              </a:ext>
            </a:extLst>
          </p:cNvPr>
          <p:cNvSpPr>
            <a:spLocks noGrp="1"/>
          </p:cNvSpPr>
          <p:nvPr>
            <p:ph type="title"/>
          </p:nvPr>
        </p:nvSpPr>
        <p:spPr>
          <a:xfrm>
            <a:off x="913795" y="-95250"/>
            <a:ext cx="10353762" cy="970450"/>
          </a:xfrm>
        </p:spPr>
        <p:txBody>
          <a:bodyPr/>
          <a:lstStyle/>
          <a:p>
            <a:r>
              <a:rPr lang="en-US" b="1">
                <a:solidFill>
                  <a:srgbClr val="FFFF00"/>
                </a:solidFill>
              </a:rPr>
              <a:t>TWF</a:t>
            </a:r>
            <a:r>
              <a:rPr lang="en-US" b="1"/>
              <a:t>.</a:t>
            </a:r>
            <a:r>
              <a:rPr lang="en-US" b="1">
                <a:solidFill>
                  <a:srgbClr val="FF0000"/>
                </a:solidFill>
              </a:rPr>
              <a:t>Flow_Status_Funding_Request</a:t>
            </a:r>
          </a:p>
        </p:txBody>
      </p:sp>
      <p:sp>
        <p:nvSpPr>
          <p:cNvPr id="3" name="Content Placeholder 2">
            <a:extLst>
              <a:ext uri="{FF2B5EF4-FFF2-40B4-BE49-F238E27FC236}">
                <a16:creationId xmlns:a16="http://schemas.microsoft.com/office/drawing/2014/main" id="{9E3997AE-A927-C68E-BD03-9335F7BFBD78}"/>
              </a:ext>
            </a:extLst>
          </p:cNvPr>
          <p:cNvSpPr>
            <a:spLocks noGrp="1"/>
          </p:cNvSpPr>
          <p:nvPr>
            <p:ph idx="1"/>
          </p:nvPr>
        </p:nvSpPr>
        <p:spPr>
          <a:xfrm>
            <a:off x="913795" y="875201"/>
            <a:ext cx="10353762" cy="4916000"/>
          </a:xfrm>
        </p:spPr>
        <p:txBody>
          <a:bodyPr/>
          <a:lstStyle/>
          <a:p>
            <a:r>
              <a:rPr lang="en-US" b="1"/>
              <a:t>int SFR_code </a:t>
            </a:r>
          </a:p>
          <a:p>
            <a:r>
              <a:rPr lang="en-US" b="1"/>
              <a:t>int UserId</a:t>
            </a:r>
          </a:p>
          <a:p>
            <a:r>
              <a:rPr lang="en-US" b="1"/>
              <a:t>int product_Id</a:t>
            </a:r>
          </a:p>
          <a:p>
            <a:r>
              <a:rPr lang="en-US" b="1"/>
              <a:t>string Status</a:t>
            </a:r>
          </a:p>
          <a:p>
            <a:r>
              <a:rPr lang="en-US" b="1"/>
              <a:t>DateTime Creation_date</a:t>
            </a:r>
          </a:p>
        </p:txBody>
      </p:sp>
    </p:spTree>
    <p:extLst>
      <p:ext uri="{BB962C8B-B14F-4D97-AF65-F5344CB8AC3E}">
        <p14:creationId xmlns:p14="http://schemas.microsoft.com/office/powerpoint/2010/main" val="3513864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start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52060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161059"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67700"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85EB9-94E1-DC29-9E69-570B212D8362}"/>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Start Risk</a:t>
            </a:r>
          </a:p>
        </p:txBody>
      </p:sp>
    </p:spTree>
    <p:extLst>
      <p:ext uri="{BB962C8B-B14F-4D97-AF65-F5344CB8AC3E}">
        <p14:creationId xmlns:p14="http://schemas.microsoft.com/office/powerpoint/2010/main" val="41572447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456EB-ABEC-E3E4-AA51-27B89F9008AC}"/>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a:t>.</a:t>
            </a:r>
            <a:r>
              <a:rPr lang="en-US" b="1">
                <a:solidFill>
                  <a:srgbClr val="FF0000"/>
                </a:solidFill>
              </a:rPr>
              <a:t>Flow_Risk_Branch</a:t>
            </a:r>
          </a:p>
        </p:txBody>
      </p:sp>
      <p:sp>
        <p:nvSpPr>
          <p:cNvPr id="3" name="Content Placeholder 2">
            <a:extLst>
              <a:ext uri="{FF2B5EF4-FFF2-40B4-BE49-F238E27FC236}">
                <a16:creationId xmlns:a16="http://schemas.microsoft.com/office/drawing/2014/main" id="{CD70AFB6-9307-A912-862B-A698CD56D0AB}"/>
              </a:ext>
            </a:extLst>
          </p:cNvPr>
          <p:cNvSpPr>
            <a:spLocks noGrp="1"/>
          </p:cNvSpPr>
          <p:nvPr>
            <p:ph idx="1"/>
          </p:nvPr>
        </p:nvSpPr>
        <p:spPr>
          <a:xfrm>
            <a:off x="114300" y="571500"/>
            <a:ext cx="11972925" cy="6076949"/>
          </a:xfrm>
        </p:spPr>
        <p:txBody>
          <a:bodyPr/>
          <a:lstStyle/>
          <a:p>
            <a:r>
              <a:rPr lang="en-US" b="1"/>
              <a:t>Risk_Branch_code: int, PK , identity</a:t>
            </a:r>
          </a:p>
          <a:p>
            <a:r>
              <a:rPr lang="en-US" b="1"/>
              <a:t>product_Id: </a:t>
            </a:r>
            <a:r>
              <a:rPr lang="en-US" b="1">
                <a:solidFill>
                  <a:srgbClr val="FFFF00"/>
                </a:solidFill>
              </a:rPr>
              <a:t>int FK from Product</a:t>
            </a:r>
          </a:p>
          <a:p>
            <a:r>
              <a:rPr lang="en-US" b="1"/>
              <a:t>BranchId: </a:t>
            </a:r>
            <a:r>
              <a:rPr lang="en-US" b="1">
                <a:solidFill>
                  <a:srgbClr val="FFFF00"/>
                </a:solidFill>
              </a:rPr>
              <a:t>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161427192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894A-47F9-82DC-5913-0F9F27D995CE}"/>
              </a:ext>
            </a:extLst>
          </p:cNvPr>
          <p:cNvSpPr>
            <a:spLocks noGrp="1"/>
          </p:cNvSpPr>
          <p:nvPr>
            <p:ph type="title"/>
          </p:nvPr>
        </p:nvSpPr>
        <p:spPr>
          <a:xfrm>
            <a:off x="913795" y="0"/>
            <a:ext cx="10353762" cy="666750"/>
          </a:xfrm>
        </p:spPr>
        <p:txBody>
          <a:bodyPr>
            <a:normAutofit fontScale="90000"/>
          </a:bodyPr>
          <a:lstStyle/>
          <a:p>
            <a:r>
              <a:rPr lang="en-US" b="1">
                <a:solidFill>
                  <a:srgbClr val="FFFF00"/>
                </a:solidFill>
              </a:rPr>
              <a:t>TWF</a:t>
            </a:r>
            <a:r>
              <a:rPr lang="en-US"/>
              <a:t>.</a:t>
            </a:r>
            <a:r>
              <a:rPr lang="en-US" b="1">
                <a:solidFill>
                  <a:srgbClr val="FF0000"/>
                </a:solidFill>
              </a:rPr>
              <a:t>Flow_Risk_Responsible</a:t>
            </a:r>
          </a:p>
        </p:txBody>
      </p:sp>
      <p:sp>
        <p:nvSpPr>
          <p:cNvPr id="3" name="Content Placeholder 2">
            <a:extLst>
              <a:ext uri="{FF2B5EF4-FFF2-40B4-BE49-F238E27FC236}">
                <a16:creationId xmlns:a16="http://schemas.microsoft.com/office/drawing/2014/main" id="{A42D913F-1810-F50D-53E1-5D6E1D46F569}"/>
              </a:ext>
            </a:extLst>
          </p:cNvPr>
          <p:cNvSpPr>
            <a:spLocks noGrp="1"/>
          </p:cNvSpPr>
          <p:nvPr>
            <p:ph idx="1"/>
          </p:nvPr>
        </p:nvSpPr>
        <p:spPr>
          <a:xfrm>
            <a:off x="333375" y="666751"/>
            <a:ext cx="10934182" cy="5915024"/>
          </a:xfrm>
        </p:spPr>
        <p:txBody>
          <a:bodyPr/>
          <a:lstStyle/>
          <a:p>
            <a:r>
              <a:rPr lang="en-US" b="1"/>
              <a:t>Risk_Responsible_code: int</a:t>
            </a:r>
          </a:p>
          <a:p>
            <a:r>
              <a:rPr lang="en-US" b="1"/>
              <a:t>product_Id: int, FK from Product</a:t>
            </a:r>
          </a:p>
          <a:p>
            <a:r>
              <a:rPr lang="en-US" b="1"/>
              <a:t>UserId: int, FK from user</a:t>
            </a:r>
          </a:p>
          <a:p>
            <a:r>
              <a:rPr lang="en-US" b="1"/>
              <a:t>BranchId: 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382307906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7C4B9-9451-CB01-653B-38AD35D0954A}"/>
              </a:ext>
            </a:extLst>
          </p:cNvPr>
          <p:cNvSpPr>
            <a:spLocks noGrp="1"/>
          </p:cNvSpPr>
          <p:nvPr>
            <p:ph type="title"/>
          </p:nvPr>
        </p:nvSpPr>
        <p:spPr>
          <a:xfrm>
            <a:off x="913795" y="0"/>
            <a:ext cx="10353762" cy="542925"/>
          </a:xfrm>
        </p:spPr>
        <p:txBody>
          <a:bodyPr>
            <a:normAutofit fontScale="90000"/>
          </a:bodyPr>
          <a:lstStyle/>
          <a:p>
            <a:r>
              <a:rPr lang="en-US" b="1">
                <a:solidFill>
                  <a:srgbClr val="FFFF00"/>
                </a:solidFill>
              </a:rPr>
              <a:t>TWF</a:t>
            </a:r>
            <a:r>
              <a:rPr lang="en-US" b="1"/>
              <a:t>.</a:t>
            </a:r>
            <a:r>
              <a:rPr lang="en-US" b="1">
                <a:solidFill>
                  <a:srgbClr val="FF0000"/>
                </a:solidFill>
              </a:rPr>
              <a:t>Flow_identi_risks_admin</a:t>
            </a:r>
          </a:p>
        </p:txBody>
      </p:sp>
      <p:sp>
        <p:nvSpPr>
          <p:cNvPr id="3" name="Content Placeholder 2">
            <a:extLst>
              <a:ext uri="{FF2B5EF4-FFF2-40B4-BE49-F238E27FC236}">
                <a16:creationId xmlns:a16="http://schemas.microsoft.com/office/drawing/2014/main" id="{2F9ED29E-9605-F9D3-4AA9-D4F1088381DD}"/>
              </a:ext>
            </a:extLst>
          </p:cNvPr>
          <p:cNvSpPr>
            <a:spLocks noGrp="1"/>
          </p:cNvSpPr>
          <p:nvPr>
            <p:ph idx="1"/>
          </p:nvPr>
        </p:nvSpPr>
        <p:spPr>
          <a:xfrm>
            <a:off x="190500" y="542925"/>
            <a:ext cx="11820525" cy="6181725"/>
          </a:xfrm>
        </p:spPr>
        <p:txBody>
          <a:bodyPr/>
          <a:lstStyle/>
          <a:p>
            <a:r>
              <a:rPr lang="en-US" b="1"/>
              <a:t>R_code: int: PK</a:t>
            </a:r>
          </a:p>
          <a:p>
            <a:r>
              <a:rPr lang="en-US" b="1"/>
              <a:t>R_code_Identity: int, identity</a:t>
            </a:r>
          </a:p>
          <a:p>
            <a:r>
              <a:rPr lang="en-US" b="1"/>
              <a:t>product_Id: int, FK from Product</a:t>
            </a:r>
          </a:p>
          <a:p>
            <a:r>
              <a:rPr lang="en-US" b="1"/>
              <a:t>Number: int</a:t>
            </a:r>
          </a:p>
          <a:p>
            <a:r>
              <a:rPr lang="en-US" b="1"/>
              <a:t>AppointmentMonthsFrom: decimal</a:t>
            </a:r>
          </a:p>
          <a:p>
            <a:r>
              <a:rPr lang="en-US" b="1"/>
              <a:t>AppointmentMonthsTo: decimal</a:t>
            </a:r>
          </a:p>
          <a:p>
            <a:r>
              <a:rPr lang="en-US" b="1"/>
              <a:t>Max_loans: int</a:t>
            </a:r>
          </a:p>
        </p:txBody>
      </p:sp>
      <p:pic>
        <p:nvPicPr>
          <p:cNvPr id="5" name="Picture 4">
            <a:extLst>
              <a:ext uri="{FF2B5EF4-FFF2-40B4-BE49-F238E27FC236}">
                <a16:creationId xmlns:a16="http://schemas.microsoft.com/office/drawing/2014/main" id="{0D768565-F8F2-7D71-B68F-C5E9C8DCCC1F}"/>
              </a:ext>
            </a:extLst>
          </p:cNvPr>
          <p:cNvPicPr>
            <a:picLocks noChangeAspect="1"/>
          </p:cNvPicPr>
          <p:nvPr/>
        </p:nvPicPr>
        <p:blipFill>
          <a:blip r:embed="rId2"/>
          <a:stretch>
            <a:fillRect/>
          </a:stretch>
        </p:blipFill>
        <p:spPr>
          <a:xfrm>
            <a:off x="5124232" y="763844"/>
            <a:ext cx="6724868" cy="1854433"/>
          </a:xfrm>
          <a:prstGeom prst="rect">
            <a:avLst/>
          </a:prstGeom>
        </p:spPr>
      </p:pic>
    </p:spTree>
    <p:extLst>
      <p:ext uri="{BB962C8B-B14F-4D97-AF65-F5344CB8AC3E}">
        <p14:creationId xmlns:p14="http://schemas.microsoft.com/office/powerpoint/2010/main" val="152061109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2EBD-9B17-BE97-1E8B-8DCFCD0587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62BCB-7FE3-BB68-89F0-89A33631CA50}"/>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End Risk</a:t>
            </a:r>
          </a:p>
        </p:txBody>
      </p:sp>
    </p:spTree>
    <p:extLst>
      <p:ext uri="{BB962C8B-B14F-4D97-AF65-F5344CB8AC3E}">
        <p14:creationId xmlns:p14="http://schemas.microsoft.com/office/powerpoint/2010/main" val="129124802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3BDCE-BF36-0D1C-751F-AB0C9200840C}"/>
              </a:ext>
            </a:extLst>
          </p:cNvPr>
          <p:cNvSpPr>
            <a:spLocks noGrp="1"/>
          </p:cNvSpPr>
          <p:nvPr>
            <p:ph type="title"/>
          </p:nvPr>
        </p:nvSpPr>
        <p:spPr>
          <a:xfrm>
            <a:off x="919119" y="0"/>
            <a:ext cx="10353762" cy="523875"/>
          </a:xfrm>
        </p:spPr>
        <p:txBody>
          <a:bodyPr>
            <a:normAutofit fontScale="90000"/>
          </a:bodyPr>
          <a:lstStyle/>
          <a:p>
            <a:r>
              <a:rPr lang="en-US" b="1">
                <a:solidFill>
                  <a:srgbClr val="FFFF00"/>
                </a:solidFill>
              </a:rPr>
              <a:t>Security</a:t>
            </a:r>
            <a:r>
              <a:rPr lang="en-US" b="1"/>
              <a:t>.</a:t>
            </a:r>
            <a:r>
              <a:rPr lang="en-US" b="1">
                <a:solidFill>
                  <a:srgbClr val="FF0000"/>
                </a:solidFill>
              </a:rPr>
              <a:t>Sec_Api_Pages</a:t>
            </a:r>
          </a:p>
        </p:txBody>
      </p:sp>
      <p:sp>
        <p:nvSpPr>
          <p:cNvPr id="3" name="Content Placeholder 2">
            <a:extLst>
              <a:ext uri="{FF2B5EF4-FFF2-40B4-BE49-F238E27FC236}">
                <a16:creationId xmlns:a16="http://schemas.microsoft.com/office/drawing/2014/main" id="{9C2C54FE-69AA-D409-8571-E0C1DB816B43}"/>
              </a:ext>
            </a:extLst>
          </p:cNvPr>
          <p:cNvSpPr>
            <a:spLocks noGrp="1"/>
          </p:cNvSpPr>
          <p:nvPr>
            <p:ph idx="1"/>
          </p:nvPr>
        </p:nvSpPr>
        <p:spPr>
          <a:xfrm>
            <a:off x="180975" y="742950"/>
            <a:ext cx="11925300" cy="5810249"/>
          </a:xfrm>
        </p:spPr>
        <p:txBody>
          <a:bodyPr>
            <a:normAutofit/>
          </a:bodyPr>
          <a:lstStyle/>
          <a:p>
            <a:endParaRPr lang="en-US" sz="1800" b="1"/>
          </a:p>
          <a:p>
            <a:endParaRPr lang="en-US" sz="1800" b="1"/>
          </a:p>
          <a:p>
            <a:r>
              <a:rPr lang="en-US" sz="1800" b="1"/>
              <a:t>API_PageID: int, identity</a:t>
            </a:r>
          </a:p>
          <a:p>
            <a:r>
              <a:rPr lang="en-US" sz="1800" b="1"/>
              <a:t>API_ID: FK from Sec_APIs</a:t>
            </a:r>
          </a:p>
          <a:p>
            <a:r>
              <a:rPr lang="en-US" sz="1800" b="1"/>
              <a:t>Menu_ID: FK from SEC_Menu</a:t>
            </a:r>
          </a:p>
          <a:p>
            <a:r>
              <a:rPr lang="en-US" sz="1800" b="1"/>
              <a:t>ActionType: FK from SEC_Action</a:t>
            </a:r>
          </a:p>
          <a:p>
            <a:endParaRPr lang="en-US" sz="1800" b="1"/>
          </a:p>
          <a:p>
            <a:r>
              <a:rPr lang="en-US" sz="1800" b="1"/>
              <a:t>HasKey(t =&gt; new { t.API_ID, t.Menu_ID, t.ActionType });</a:t>
            </a:r>
          </a:p>
        </p:txBody>
      </p:sp>
      <p:pic>
        <p:nvPicPr>
          <p:cNvPr id="5" name="Picture 4">
            <a:extLst>
              <a:ext uri="{FF2B5EF4-FFF2-40B4-BE49-F238E27FC236}">
                <a16:creationId xmlns:a16="http://schemas.microsoft.com/office/drawing/2014/main" id="{49C92708-B491-1FBE-15EB-DB7B65593829}"/>
              </a:ext>
            </a:extLst>
          </p:cNvPr>
          <p:cNvPicPr>
            <a:picLocks noChangeAspect="1"/>
          </p:cNvPicPr>
          <p:nvPr/>
        </p:nvPicPr>
        <p:blipFill>
          <a:blip r:embed="rId2"/>
          <a:stretch>
            <a:fillRect/>
          </a:stretch>
        </p:blipFill>
        <p:spPr>
          <a:xfrm>
            <a:off x="7116958" y="890888"/>
            <a:ext cx="3284341" cy="2137983"/>
          </a:xfrm>
          <a:prstGeom prst="rect">
            <a:avLst/>
          </a:prstGeom>
        </p:spPr>
      </p:pic>
    </p:spTree>
    <p:extLst>
      <p:ext uri="{BB962C8B-B14F-4D97-AF65-F5344CB8AC3E}">
        <p14:creationId xmlns:p14="http://schemas.microsoft.com/office/powerpoint/2010/main" val="2505472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472672"/>
          </a:xfrm>
        </p:spPr>
        <p:txBody>
          <a:bodyPr>
            <a:normAutofit fontScale="90000"/>
          </a:bodyPr>
          <a:lstStyle/>
          <a:p>
            <a:r>
              <a:rPr lang="en-US" sz="3600" b="1">
                <a:solidFill>
                  <a:srgbClr val="FFFF00"/>
                </a:solidFill>
              </a:rPr>
              <a:t>Security</a:t>
            </a:r>
            <a:r>
              <a:rPr lang="en-US" sz="3600"/>
              <a:t>.</a:t>
            </a:r>
            <a:r>
              <a:rPr lang="en-US" sz="3600"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a:t>
            </a:r>
          </a:p>
          <a:p>
            <a:r>
              <a:rPr lang="en-US"/>
              <a:t>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682507" y="1881733"/>
            <a:ext cx="4438641" cy="2699792"/>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E1DD5-5F0F-CD86-65A3-F4089A446C78}"/>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Security.</a:t>
            </a:r>
            <a:r>
              <a:rPr lang="en-US" b="1">
                <a:solidFill>
                  <a:srgbClr val="FF0000"/>
                </a:solidFill>
              </a:rPr>
              <a:t>SEC_Group_Action</a:t>
            </a:r>
          </a:p>
        </p:txBody>
      </p:sp>
      <p:sp>
        <p:nvSpPr>
          <p:cNvPr id="3" name="Content Placeholder 2">
            <a:extLst>
              <a:ext uri="{FF2B5EF4-FFF2-40B4-BE49-F238E27FC236}">
                <a16:creationId xmlns:a16="http://schemas.microsoft.com/office/drawing/2014/main" id="{AEA0AD90-16DC-82F8-F534-87DDC02C8657}"/>
              </a:ext>
            </a:extLst>
          </p:cNvPr>
          <p:cNvSpPr>
            <a:spLocks noGrp="1"/>
          </p:cNvSpPr>
          <p:nvPr>
            <p:ph idx="1"/>
          </p:nvPr>
        </p:nvSpPr>
        <p:spPr>
          <a:xfrm>
            <a:off x="333374" y="628650"/>
            <a:ext cx="11420475" cy="6019799"/>
          </a:xfrm>
        </p:spPr>
        <p:txBody>
          <a:bodyPr/>
          <a:lstStyle/>
          <a:p>
            <a:r>
              <a:rPr lang="en-US" b="1"/>
              <a:t>Id_SJA: PK, </a:t>
            </a:r>
            <a:r>
              <a:rPr lang="en-US"/>
              <a:t>Identity</a:t>
            </a:r>
            <a:endParaRPr lang="en-US" b="1"/>
          </a:p>
          <a:p>
            <a:r>
              <a:rPr lang="en-US" b="1"/>
              <a:t>GroupId FK from </a:t>
            </a:r>
            <a:r>
              <a:rPr lang="en-US"/>
              <a:t>SEC_Group</a:t>
            </a:r>
            <a:endParaRPr lang="en-US" b="1"/>
          </a:p>
          <a:p>
            <a:r>
              <a:rPr lang="en-US" b="1"/>
              <a:t>Action_id: FK from </a:t>
            </a:r>
            <a:r>
              <a:rPr lang="en-US"/>
              <a:t>SEC_Action</a:t>
            </a:r>
            <a:endParaRPr lang="en-US" b="1"/>
          </a:p>
          <a:p>
            <a:endParaRPr lang="en-US" b="1"/>
          </a:p>
        </p:txBody>
      </p:sp>
      <p:pic>
        <p:nvPicPr>
          <p:cNvPr id="5" name="Picture 4">
            <a:extLst>
              <a:ext uri="{FF2B5EF4-FFF2-40B4-BE49-F238E27FC236}">
                <a16:creationId xmlns:a16="http://schemas.microsoft.com/office/drawing/2014/main" id="{DA843739-CAB4-16F6-BA53-0D0626DDA120}"/>
              </a:ext>
            </a:extLst>
          </p:cNvPr>
          <p:cNvPicPr>
            <a:picLocks noChangeAspect="1"/>
          </p:cNvPicPr>
          <p:nvPr/>
        </p:nvPicPr>
        <p:blipFill>
          <a:blip r:embed="rId2"/>
          <a:stretch>
            <a:fillRect/>
          </a:stretch>
        </p:blipFill>
        <p:spPr>
          <a:xfrm>
            <a:off x="7181850" y="628650"/>
            <a:ext cx="2562224" cy="2002175"/>
          </a:xfrm>
          <a:prstGeom prst="rect">
            <a:avLst/>
          </a:prstGeom>
        </p:spPr>
      </p:pic>
    </p:spTree>
    <p:extLst>
      <p:ext uri="{BB962C8B-B14F-4D97-AF65-F5344CB8AC3E}">
        <p14:creationId xmlns:p14="http://schemas.microsoft.com/office/powerpoint/2010/main" val="362544043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817A-D038-998F-C036-17D26D5CB3B6}"/>
              </a:ext>
            </a:extLst>
          </p:cNvPr>
          <p:cNvSpPr>
            <a:spLocks noGrp="1"/>
          </p:cNvSpPr>
          <p:nvPr>
            <p:ph type="title"/>
          </p:nvPr>
        </p:nvSpPr>
        <p:spPr>
          <a:xfrm>
            <a:off x="913795" y="0"/>
            <a:ext cx="10353762" cy="552450"/>
          </a:xfrm>
        </p:spPr>
        <p:txBody>
          <a:bodyPr>
            <a:normAutofit fontScale="90000"/>
          </a:bodyPr>
          <a:lstStyle/>
          <a:p>
            <a:r>
              <a:rPr lang="en-US" b="1">
                <a:solidFill>
                  <a:srgbClr val="FFFF00"/>
                </a:solidFill>
              </a:rPr>
              <a:t>Security</a:t>
            </a:r>
            <a:r>
              <a:rPr lang="en-US"/>
              <a:t>.</a:t>
            </a:r>
            <a:r>
              <a:rPr lang="en-US" b="1">
                <a:solidFill>
                  <a:srgbClr val="FF0000"/>
                </a:solidFill>
              </a:rPr>
              <a:t>SEC_User_Action</a:t>
            </a:r>
          </a:p>
        </p:txBody>
      </p:sp>
      <p:sp>
        <p:nvSpPr>
          <p:cNvPr id="3" name="Content Placeholder 2">
            <a:extLst>
              <a:ext uri="{FF2B5EF4-FFF2-40B4-BE49-F238E27FC236}">
                <a16:creationId xmlns:a16="http://schemas.microsoft.com/office/drawing/2014/main" id="{A498DE5A-2579-9127-5EB1-8EB2BD15F365}"/>
              </a:ext>
            </a:extLst>
          </p:cNvPr>
          <p:cNvSpPr>
            <a:spLocks noGrp="1"/>
          </p:cNvSpPr>
          <p:nvPr>
            <p:ph idx="1"/>
          </p:nvPr>
        </p:nvSpPr>
        <p:spPr>
          <a:xfrm>
            <a:off x="123824" y="552451"/>
            <a:ext cx="11934826" cy="6162674"/>
          </a:xfrm>
        </p:spPr>
        <p:txBody>
          <a:bodyPr/>
          <a:lstStyle/>
          <a:p>
            <a:endParaRPr lang="en-US"/>
          </a:p>
          <a:p>
            <a:r>
              <a:rPr lang="en-US" b="1"/>
              <a:t>Id_SUA: int, identity</a:t>
            </a:r>
          </a:p>
          <a:p>
            <a:r>
              <a:rPr lang="en-US"/>
              <a:t>UserId: int, FK from </a:t>
            </a:r>
            <a:r>
              <a:rPr lang="en-US" b="1">
                <a:solidFill>
                  <a:srgbClr val="00B0F0"/>
                </a:solidFill>
              </a:rPr>
              <a:t>User</a:t>
            </a:r>
          </a:p>
          <a:p>
            <a:r>
              <a:rPr lang="en-US"/>
              <a:t>Action_id: int</a:t>
            </a:r>
            <a:r>
              <a:rPr lang="en-US" b="1"/>
              <a:t>, FK from </a:t>
            </a:r>
            <a:r>
              <a:rPr lang="en-US" b="1">
                <a:solidFill>
                  <a:srgbClr val="00B0F0"/>
                </a:solidFill>
              </a:rPr>
              <a:t>SEC_Action</a:t>
            </a:r>
          </a:p>
          <a:p>
            <a:pPr marL="36900" indent="0">
              <a:buNone/>
            </a:pPr>
            <a:endParaRPr lang="en-US"/>
          </a:p>
          <a:p>
            <a:r>
              <a:rPr lang="en-US"/>
              <a:t>HasKey(t =&gt; new { t.</a:t>
            </a:r>
            <a:r>
              <a:rPr lang="en-US" b="1">
                <a:solidFill>
                  <a:srgbClr val="00B0F0"/>
                </a:solidFill>
              </a:rPr>
              <a:t>Id_SUA</a:t>
            </a:r>
            <a:r>
              <a:rPr lang="en-US"/>
              <a:t>, t.</a:t>
            </a:r>
            <a:r>
              <a:rPr lang="en-US" b="1">
                <a:solidFill>
                  <a:srgbClr val="00B0F0"/>
                </a:solidFill>
              </a:rPr>
              <a:t>UserId</a:t>
            </a:r>
            <a:r>
              <a:rPr lang="en-US"/>
              <a:t>, t.</a:t>
            </a:r>
            <a:r>
              <a:rPr lang="en-US" b="1">
                <a:solidFill>
                  <a:srgbClr val="00B0F0"/>
                </a:solidFill>
              </a:rPr>
              <a:t>Action_id</a:t>
            </a:r>
            <a:r>
              <a:rPr lang="en-US"/>
              <a:t> });</a:t>
            </a:r>
          </a:p>
        </p:txBody>
      </p:sp>
      <p:pic>
        <p:nvPicPr>
          <p:cNvPr id="5" name="Picture 4">
            <a:extLst>
              <a:ext uri="{FF2B5EF4-FFF2-40B4-BE49-F238E27FC236}">
                <a16:creationId xmlns:a16="http://schemas.microsoft.com/office/drawing/2014/main" id="{8523F525-26A7-9662-14E7-2A2014B682C0}"/>
              </a:ext>
            </a:extLst>
          </p:cNvPr>
          <p:cNvPicPr>
            <a:picLocks noChangeAspect="1"/>
          </p:cNvPicPr>
          <p:nvPr/>
        </p:nvPicPr>
        <p:blipFill>
          <a:blip r:embed="rId2"/>
          <a:stretch>
            <a:fillRect/>
          </a:stretch>
        </p:blipFill>
        <p:spPr>
          <a:xfrm>
            <a:off x="8863374" y="807659"/>
            <a:ext cx="2404183" cy="1990794"/>
          </a:xfrm>
          <a:prstGeom prst="rect">
            <a:avLst/>
          </a:prstGeom>
        </p:spPr>
      </p:pic>
    </p:spTree>
    <p:extLst>
      <p:ext uri="{BB962C8B-B14F-4D97-AF65-F5344CB8AC3E}">
        <p14:creationId xmlns:p14="http://schemas.microsoft.com/office/powerpoint/2010/main" val="195700379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16D4-6D40-10AE-1446-930D81EC2D53}"/>
              </a:ext>
            </a:extLst>
          </p:cNvPr>
          <p:cNvSpPr>
            <a:spLocks noGrp="1"/>
          </p:cNvSpPr>
          <p:nvPr>
            <p:ph type="title"/>
          </p:nvPr>
        </p:nvSpPr>
        <p:spPr>
          <a:xfrm>
            <a:off x="913795" y="-1"/>
            <a:ext cx="10353762" cy="592667"/>
          </a:xfrm>
        </p:spPr>
        <p:txBody>
          <a:bodyPr>
            <a:normAutofit fontScale="90000"/>
          </a:bodyPr>
          <a:lstStyle/>
          <a:p>
            <a:r>
              <a:rPr lang="en-US" b="1">
                <a:solidFill>
                  <a:srgbClr val="FFFF00"/>
                </a:solidFill>
              </a:rPr>
              <a:t>Security</a:t>
            </a:r>
            <a:r>
              <a:rPr lang="en-US"/>
              <a:t>.</a:t>
            </a:r>
            <a:r>
              <a:rPr lang="en-US" b="1">
                <a:solidFill>
                  <a:srgbClr val="FF0000"/>
                </a:solidFill>
              </a:rPr>
              <a:t>SEC_User_gruop</a:t>
            </a:r>
          </a:p>
        </p:txBody>
      </p:sp>
      <p:sp>
        <p:nvSpPr>
          <p:cNvPr id="3" name="Content Placeholder 2">
            <a:extLst>
              <a:ext uri="{FF2B5EF4-FFF2-40B4-BE49-F238E27FC236}">
                <a16:creationId xmlns:a16="http://schemas.microsoft.com/office/drawing/2014/main" id="{49CE8432-A968-7AB2-66FC-99DBAD218107}"/>
              </a:ext>
            </a:extLst>
          </p:cNvPr>
          <p:cNvSpPr>
            <a:spLocks noGrp="1"/>
          </p:cNvSpPr>
          <p:nvPr>
            <p:ph idx="1"/>
          </p:nvPr>
        </p:nvSpPr>
        <p:spPr>
          <a:xfrm>
            <a:off x="84666" y="668867"/>
            <a:ext cx="12005733" cy="5931957"/>
          </a:xfrm>
        </p:spPr>
        <p:txBody>
          <a:bodyPr/>
          <a:lstStyle/>
          <a:p>
            <a:r>
              <a:rPr lang="en-US"/>
              <a:t>UserId: </a:t>
            </a:r>
            <a:r>
              <a:rPr lang="en-US" b="1">
                <a:solidFill>
                  <a:srgbClr val="FFFF00"/>
                </a:solidFill>
              </a:rPr>
              <a:t>FK</a:t>
            </a:r>
            <a:r>
              <a:rPr lang="en-US"/>
              <a:t> from User</a:t>
            </a:r>
          </a:p>
          <a:p>
            <a:r>
              <a:rPr lang="en-US"/>
              <a:t>Role_id: from </a:t>
            </a:r>
            <a:r>
              <a:rPr lang="en-US" b="1">
                <a:solidFill>
                  <a:srgbClr val="FFFF00"/>
                </a:solidFill>
              </a:rPr>
              <a:t>SEC_Group // </a:t>
            </a:r>
          </a:p>
          <a:p>
            <a:r>
              <a:rPr lang="en-US"/>
              <a:t>UG_id: identity</a:t>
            </a:r>
          </a:p>
          <a:p>
            <a:r>
              <a:rPr lang="en-US"/>
              <a:t>HasKey(t =&gt; new { t.UserId, t.Role_id, t.UG_id });</a:t>
            </a:r>
            <a:endParaRPr lang="ar-EG"/>
          </a:p>
          <a:p>
            <a:endParaRPr lang="ar-EG"/>
          </a:p>
          <a:p>
            <a:endParaRPr lang="ar-EG"/>
          </a:p>
          <a:p>
            <a:endParaRPr lang="ar-EG"/>
          </a:p>
          <a:p>
            <a:r>
              <a:rPr lang="en-US"/>
              <a:t>Note : this table to holds the roles of the users</a:t>
            </a:r>
          </a:p>
          <a:p>
            <a:endParaRPr lang="en-US"/>
          </a:p>
        </p:txBody>
      </p:sp>
      <p:pic>
        <p:nvPicPr>
          <p:cNvPr id="5" name="Picture 4">
            <a:extLst>
              <a:ext uri="{FF2B5EF4-FFF2-40B4-BE49-F238E27FC236}">
                <a16:creationId xmlns:a16="http://schemas.microsoft.com/office/drawing/2014/main" id="{9EB3B60A-1F4B-8E2A-E56C-2791ABFA1ACE}"/>
              </a:ext>
            </a:extLst>
          </p:cNvPr>
          <p:cNvPicPr>
            <a:picLocks noChangeAspect="1"/>
          </p:cNvPicPr>
          <p:nvPr/>
        </p:nvPicPr>
        <p:blipFill>
          <a:blip r:embed="rId2"/>
          <a:stretch>
            <a:fillRect/>
          </a:stretch>
        </p:blipFill>
        <p:spPr>
          <a:xfrm>
            <a:off x="7789335" y="592666"/>
            <a:ext cx="2980266" cy="3841338"/>
          </a:xfrm>
          <a:prstGeom prst="rect">
            <a:avLst/>
          </a:prstGeom>
        </p:spPr>
      </p:pic>
    </p:spTree>
    <p:extLst>
      <p:ext uri="{BB962C8B-B14F-4D97-AF65-F5344CB8AC3E}">
        <p14:creationId xmlns:p14="http://schemas.microsoft.com/office/powerpoint/2010/main" val="60184742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a:p>
            <a:pPr lvl="1"/>
            <a:endParaRPr lang="en-US" b="1"/>
          </a:p>
          <a:p>
            <a:r>
              <a:rPr lang="en-US" b="1"/>
              <a:t>We could say this table represent where each page in the system </a:t>
            </a:r>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AF8D0-EC7A-C506-8880-EC389DF9E669}"/>
              </a:ext>
            </a:extLst>
          </p:cNvPr>
          <p:cNvSpPr>
            <a:spLocks noGrp="1"/>
          </p:cNvSpPr>
          <p:nvPr>
            <p:ph type="title"/>
          </p:nvPr>
        </p:nvSpPr>
        <p:spPr>
          <a:xfrm>
            <a:off x="913795" y="0"/>
            <a:ext cx="10353762" cy="695325"/>
          </a:xfrm>
        </p:spPr>
        <p:txBody>
          <a:bodyPr>
            <a:normAutofit fontScale="90000"/>
          </a:bodyPr>
          <a:lstStyle/>
          <a:p>
            <a:r>
              <a:rPr lang="en-US" b="1">
                <a:solidFill>
                  <a:srgbClr val="FFFF00"/>
                </a:solidFill>
              </a:rPr>
              <a:t>Security.</a:t>
            </a:r>
            <a:r>
              <a:rPr lang="en-US" b="1">
                <a:solidFill>
                  <a:srgbClr val="FF0000"/>
                </a:solidFill>
              </a:rPr>
              <a:t>SEC_User_Role_MenuAction</a:t>
            </a:r>
          </a:p>
        </p:txBody>
      </p:sp>
      <p:sp>
        <p:nvSpPr>
          <p:cNvPr id="3" name="Content Placeholder 2">
            <a:extLst>
              <a:ext uri="{FF2B5EF4-FFF2-40B4-BE49-F238E27FC236}">
                <a16:creationId xmlns:a16="http://schemas.microsoft.com/office/drawing/2014/main" id="{52B6BD6F-9EA4-6890-BF23-BD45D017129A}"/>
              </a:ext>
            </a:extLst>
          </p:cNvPr>
          <p:cNvSpPr>
            <a:spLocks noGrp="1"/>
          </p:cNvSpPr>
          <p:nvPr>
            <p:ph idx="1"/>
          </p:nvPr>
        </p:nvSpPr>
        <p:spPr>
          <a:xfrm>
            <a:off x="180974" y="695325"/>
            <a:ext cx="11782425" cy="6019800"/>
          </a:xfrm>
        </p:spPr>
        <p:txBody>
          <a:bodyPr/>
          <a:lstStyle/>
          <a:p>
            <a:r>
              <a:rPr lang="en-US"/>
              <a:t>URMA_id: int</a:t>
            </a:r>
          </a:p>
          <a:p>
            <a:r>
              <a:rPr lang="en-US"/>
              <a:t>Role_id: int FK from </a:t>
            </a:r>
            <a:r>
              <a:rPr lang="en-US" b="1">
                <a:solidFill>
                  <a:srgbClr val="FF0000"/>
                </a:solidFill>
              </a:rPr>
              <a:t>SEC_Group</a:t>
            </a:r>
          </a:p>
          <a:p>
            <a:r>
              <a:rPr lang="en-US"/>
              <a:t>Parent_Id: int FK from </a:t>
            </a:r>
            <a:r>
              <a:rPr lang="en-US" b="1">
                <a:solidFill>
                  <a:srgbClr val="FF0000"/>
                </a:solidFill>
              </a:rPr>
              <a:t>SEC_Menu</a:t>
            </a:r>
          </a:p>
          <a:p>
            <a:r>
              <a:rPr lang="en-US"/>
              <a:t>Child_Id: int FK from </a:t>
            </a:r>
            <a:r>
              <a:rPr lang="en-US" b="1">
                <a:solidFill>
                  <a:srgbClr val="FF0000"/>
                </a:solidFill>
              </a:rPr>
              <a:t>SEC_Menu</a:t>
            </a:r>
            <a:endParaRPr lang="en-US"/>
          </a:p>
          <a:p>
            <a:r>
              <a:rPr lang="en-US"/>
              <a:t>Paging_Id: int, FK from </a:t>
            </a:r>
            <a:r>
              <a:rPr lang="en-US" b="1">
                <a:solidFill>
                  <a:srgbClr val="FF0000"/>
                </a:solidFill>
              </a:rPr>
              <a:t>SEC_Menu</a:t>
            </a:r>
            <a:endParaRPr lang="en-US"/>
          </a:p>
          <a:p>
            <a:r>
              <a:rPr lang="en-US"/>
              <a:t>HasKey(t =&gt; new { t.</a:t>
            </a:r>
            <a:r>
              <a:rPr lang="en-US" b="1">
                <a:solidFill>
                  <a:srgbClr val="00B0F0"/>
                </a:solidFill>
              </a:rPr>
              <a:t>URMA_id</a:t>
            </a:r>
            <a:r>
              <a:rPr lang="en-US"/>
              <a:t>, t.</a:t>
            </a:r>
            <a:r>
              <a:rPr lang="en-US" b="1">
                <a:solidFill>
                  <a:srgbClr val="00B0F0"/>
                </a:solidFill>
              </a:rPr>
              <a:t>Role_id</a:t>
            </a:r>
            <a:r>
              <a:rPr lang="en-US"/>
              <a:t>, t.</a:t>
            </a:r>
            <a:r>
              <a:rPr lang="en-US" b="1">
                <a:solidFill>
                  <a:srgbClr val="00B0F0"/>
                </a:solidFill>
              </a:rPr>
              <a:t>Parent_Id</a:t>
            </a:r>
            <a:r>
              <a:rPr lang="en-US"/>
              <a:t>, t.</a:t>
            </a:r>
            <a:r>
              <a:rPr lang="en-US" b="1">
                <a:solidFill>
                  <a:srgbClr val="00B0F0"/>
                </a:solidFill>
              </a:rPr>
              <a:t>Child_Id</a:t>
            </a:r>
            <a:r>
              <a:rPr lang="en-US"/>
              <a:t>, t.</a:t>
            </a:r>
            <a:r>
              <a:rPr lang="en-US" b="1">
                <a:solidFill>
                  <a:srgbClr val="00B0F0"/>
                </a:solidFill>
              </a:rPr>
              <a:t>Paging_Id</a:t>
            </a:r>
            <a:r>
              <a:rPr lang="en-US"/>
              <a:t> })</a:t>
            </a:r>
          </a:p>
          <a:p>
            <a:endParaRPr lang="en-US"/>
          </a:p>
          <a:p>
            <a:r>
              <a:rPr lang="en-US" b="1"/>
              <a:t>Defines which role can access the menu/page for example</a:t>
            </a:r>
          </a:p>
          <a:p>
            <a:endParaRPr lang="en-US" b="1"/>
          </a:p>
          <a:p>
            <a:r>
              <a:rPr lang="en-US" b="1"/>
              <a:t>Pagin_Id: </a:t>
            </a:r>
            <a:r>
              <a:rPr lang="ar-EG" b="1"/>
              <a:t>تعديل اسم العميل</a:t>
            </a:r>
          </a:p>
          <a:p>
            <a:r>
              <a:rPr lang="en-US" b="1"/>
              <a:t>Child_id: </a:t>
            </a:r>
            <a:r>
              <a:rPr lang="ar-EG" b="1"/>
              <a:t>معاملات الفروع</a:t>
            </a:r>
          </a:p>
          <a:p>
            <a:r>
              <a:rPr lang="en-US" b="1"/>
              <a:t>Parent_id: </a:t>
            </a:r>
            <a:r>
              <a:rPr lang="ar-EG" b="1"/>
              <a:t>لوحة المعلومات</a:t>
            </a:r>
          </a:p>
          <a:p>
            <a:r>
              <a:rPr lang="en-US" b="1"/>
              <a:t>Role_id: </a:t>
            </a:r>
            <a:r>
              <a:rPr lang="ar-EG" b="1"/>
              <a:t>مدير النظام</a:t>
            </a:r>
            <a:endParaRPr lang="en-US" b="1"/>
          </a:p>
          <a:p>
            <a:endParaRPr lang="en-US"/>
          </a:p>
        </p:txBody>
      </p:sp>
      <p:pic>
        <p:nvPicPr>
          <p:cNvPr id="5" name="Picture 4">
            <a:extLst>
              <a:ext uri="{FF2B5EF4-FFF2-40B4-BE49-F238E27FC236}">
                <a16:creationId xmlns:a16="http://schemas.microsoft.com/office/drawing/2014/main" id="{E680EEB8-630A-1B44-3D3F-E19C61AC0740}"/>
              </a:ext>
            </a:extLst>
          </p:cNvPr>
          <p:cNvPicPr>
            <a:picLocks noChangeAspect="1"/>
          </p:cNvPicPr>
          <p:nvPr/>
        </p:nvPicPr>
        <p:blipFill>
          <a:blip r:embed="rId2"/>
          <a:stretch>
            <a:fillRect/>
          </a:stretch>
        </p:blipFill>
        <p:spPr>
          <a:xfrm>
            <a:off x="7230404" y="3634721"/>
            <a:ext cx="4037153" cy="651529"/>
          </a:xfrm>
          <a:prstGeom prst="rect">
            <a:avLst/>
          </a:prstGeom>
        </p:spPr>
      </p:pic>
    </p:spTree>
    <p:extLst>
      <p:ext uri="{BB962C8B-B14F-4D97-AF65-F5344CB8AC3E}">
        <p14:creationId xmlns:p14="http://schemas.microsoft.com/office/powerpoint/2010/main" val="220801867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24B92-DE5D-6FD8-CAE5-42BA14EEEABF}"/>
              </a:ext>
            </a:extLst>
          </p:cNvPr>
          <p:cNvSpPr>
            <a:spLocks noGrp="1"/>
          </p:cNvSpPr>
          <p:nvPr>
            <p:ph type="title"/>
          </p:nvPr>
        </p:nvSpPr>
        <p:spPr>
          <a:xfrm>
            <a:off x="913795" y="0"/>
            <a:ext cx="10353762" cy="690880"/>
          </a:xfrm>
        </p:spPr>
        <p:txBody>
          <a:bodyPr>
            <a:normAutofit fontScale="90000"/>
          </a:bodyPr>
          <a:lstStyle/>
          <a:p>
            <a:r>
              <a:rPr lang="en-US"/>
              <a:t>Adding New Menu</a:t>
            </a:r>
          </a:p>
        </p:txBody>
      </p:sp>
      <p:sp>
        <p:nvSpPr>
          <p:cNvPr id="3" name="Content Placeholder 2">
            <a:extLst>
              <a:ext uri="{FF2B5EF4-FFF2-40B4-BE49-F238E27FC236}">
                <a16:creationId xmlns:a16="http://schemas.microsoft.com/office/drawing/2014/main" id="{32F4A67A-7913-31A5-1EE8-B113D2564886}"/>
              </a:ext>
            </a:extLst>
          </p:cNvPr>
          <p:cNvSpPr>
            <a:spLocks noGrp="1"/>
          </p:cNvSpPr>
          <p:nvPr>
            <p:ph idx="1"/>
          </p:nvPr>
        </p:nvSpPr>
        <p:spPr>
          <a:xfrm>
            <a:off x="254000" y="690880"/>
            <a:ext cx="11013557" cy="6167120"/>
          </a:xfrm>
        </p:spPr>
        <p:txBody>
          <a:bodyPr>
            <a:normAutofit/>
          </a:bodyPr>
          <a:lstStyle/>
          <a:p>
            <a:pPr latinLnBrk="1"/>
            <a:r>
              <a:rPr lang="en-US">
                <a:effectLst/>
              </a:rPr>
              <a:t>http://localhost:2864//api/Security/MenuController/Post</a:t>
            </a:r>
          </a:p>
          <a:p>
            <a:r>
              <a:rPr lang="en-US"/>
              <a:t>Payload: </a:t>
            </a:r>
          </a:p>
          <a:p>
            <a:pPr marL="414000" lvl="1" indent="0">
              <a:buNone/>
            </a:pPr>
            <a:r>
              <a:rPr lang="en-US"/>
              <a:t>{</a:t>
            </a:r>
          </a:p>
          <a:p>
            <a:pPr marL="414000" lvl="1" indent="0">
              <a:buNone/>
            </a:pPr>
            <a:r>
              <a:rPr lang="en-US"/>
              <a:t>    "Type": 3,</a:t>
            </a:r>
          </a:p>
          <a:p>
            <a:pPr marL="414000" lvl="1" indent="0">
              <a:buNone/>
            </a:pPr>
            <a:r>
              <a:rPr lang="en-US"/>
              <a:t>    "M_name_AR": "</a:t>
            </a:r>
            <a:r>
              <a:rPr lang="ar-EG"/>
              <a:t>نتائج الفحص الرقابي",</a:t>
            </a:r>
          </a:p>
          <a:p>
            <a:pPr marL="414000" lvl="1" indent="0">
              <a:buNone/>
            </a:pPr>
            <a:r>
              <a:rPr lang="ar-EG"/>
              <a:t>    "</a:t>
            </a:r>
            <a:r>
              <a:rPr lang="en-US"/>
              <a:t>M_name_Eng": "AML Results",</a:t>
            </a:r>
          </a:p>
          <a:p>
            <a:pPr marL="414000" lvl="1" indent="0">
              <a:buNone/>
            </a:pPr>
            <a:r>
              <a:rPr lang="en-US"/>
              <a:t>    "M_URL": "BranchTransaction/AMLResults",</a:t>
            </a:r>
          </a:p>
          <a:p>
            <a:pPr marL="414000" lvl="1" indent="0">
              <a:buNone/>
            </a:pPr>
            <a:r>
              <a:rPr lang="en-US"/>
              <a:t>    "M_Icon": "fa fa-book",</a:t>
            </a:r>
          </a:p>
          <a:p>
            <a:pPr marL="414000" lvl="1" indent="0">
              <a:buNone/>
            </a:pPr>
            <a:r>
              <a:rPr lang="en-US"/>
              <a:t>    "M_Status": true,</a:t>
            </a:r>
          </a:p>
          <a:p>
            <a:pPr marL="414000" lvl="1" indent="0">
              <a:buNone/>
            </a:pPr>
            <a:r>
              <a:rPr lang="en-US"/>
              <a:t>    "Project_number": 1,</a:t>
            </a:r>
          </a:p>
          <a:p>
            <a:pPr marL="414000" lvl="1" indent="0">
              <a:buNone/>
            </a:pPr>
            <a:r>
              <a:rPr lang="en-US"/>
              <a:t>    "M_Parent_id": 83, // </a:t>
            </a:r>
            <a:r>
              <a:rPr lang="ar-EG"/>
              <a:t>معاملات الفروع</a:t>
            </a:r>
            <a:endParaRPr lang="en-US"/>
          </a:p>
          <a:p>
            <a:pPr marL="414000" lvl="1" indent="0">
              <a:buNone/>
            </a:pPr>
            <a:r>
              <a:rPr lang="en-US"/>
              <a:t>}</a:t>
            </a:r>
            <a:br>
              <a:rPr lang="en-US"/>
            </a:br>
            <a:endParaRPr lang="ar-EG"/>
          </a:p>
          <a:p>
            <a:pPr marL="322650" indent="-285750"/>
            <a:r>
              <a:rPr lang="en-US"/>
              <a:t>Response: 3473  // the id of menu</a:t>
            </a:r>
          </a:p>
        </p:txBody>
      </p:sp>
    </p:spTree>
    <p:extLst>
      <p:ext uri="{BB962C8B-B14F-4D97-AF65-F5344CB8AC3E}">
        <p14:creationId xmlns:p14="http://schemas.microsoft.com/office/powerpoint/2010/main" val="5287846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 PK</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r>
              <a:rPr lang="en-US" sz="2400" b="1">
                <a:solidFill>
                  <a:srgbClr val="00B0F0"/>
                </a:solidFill>
              </a:rPr>
              <a:t>This table represent the uploaded files for request</a:t>
            </a:r>
          </a:p>
          <a:p>
            <a:r>
              <a:rPr lang="en-US" b="1"/>
              <a:t>Id_Down: </a:t>
            </a:r>
            <a:r>
              <a:rPr lang="en-US" b="1">
                <a:solidFill>
                  <a:srgbClr val="FFFF00"/>
                </a:solidFill>
              </a:rPr>
              <a:t>decimal</a:t>
            </a:r>
            <a:r>
              <a:rPr lang="en-US" b="1"/>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b="1"/>
              <a:t>int Iscore_code [identity, </a:t>
            </a:r>
            <a:r>
              <a:rPr lang="en-US" sz="1800" b="1">
                <a:solidFill>
                  <a:srgbClr val="FFFF00"/>
                </a:solidFill>
              </a:rPr>
              <a:t>PK</a:t>
            </a:r>
            <a:r>
              <a:rPr lang="en-US" sz="1800" b="1"/>
              <a:t> ]</a:t>
            </a:r>
          </a:p>
          <a:p>
            <a:r>
              <a:rPr lang="en-US" sz="1800" b="1"/>
              <a:t>int product_Id [ </a:t>
            </a:r>
            <a:r>
              <a:rPr lang="en-US" sz="1800" b="1">
                <a:solidFill>
                  <a:srgbClr val="FFFF00"/>
                </a:solidFill>
              </a:rPr>
              <a:t>PK</a:t>
            </a:r>
            <a:r>
              <a:rPr lang="en-US" sz="1800" b="1"/>
              <a:t> ] </a:t>
            </a:r>
          </a:p>
          <a:p>
            <a:r>
              <a:rPr lang="en-US" sz="1800" b="1"/>
              <a:t>int RegionId  [ FK from Region ]</a:t>
            </a:r>
          </a:p>
          <a:p>
            <a:r>
              <a:rPr lang="en-US" sz="1800" b="1"/>
              <a:t>int days_query_validity</a:t>
            </a:r>
          </a:p>
          <a:p>
            <a:r>
              <a:rPr lang="en-US" sz="1800" b="1"/>
              <a:t>int No_loans_outstanding_cust</a:t>
            </a:r>
          </a:p>
          <a:p>
            <a:r>
              <a:rPr lang="en-US" sz="1800" b="1"/>
              <a:t>int Days_worked_customer </a:t>
            </a:r>
          </a:p>
          <a:p>
            <a:r>
              <a:rPr lang="en-US" sz="1800" b="1"/>
              <a:t>int Query_result</a:t>
            </a:r>
          </a:p>
          <a:p>
            <a:r>
              <a:rPr lang="en-US" sz="1800" b="1"/>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p>
          <a:p>
            <a:pPr lvl="1"/>
            <a:r>
              <a:rPr lang="nb-NO"/>
              <a:t>At this to you hosts file</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B052-AF52-E419-461D-B3F4000E2A11}"/>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MenuRoleForLoginVM</a:t>
            </a:r>
          </a:p>
        </p:txBody>
      </p:sp>
      <p:sp>
        <p:nvSpPr>
          <p:cNvPr id="3" name="Content Placeholder 2">
            <a:extLst>
              <a:ext uri="{FF2B5EF4-FFF2-40B4-BE49-F238E27FC236}">
                <a16:creationId xmlns:a16="http://schemas.microsoft.com/office/drawing/2014/main" id="{D04CDEA0-BFE7-96D2-1443-17C0CD8D2C7D}"/>
              </a:ext>
            </a:extLst>
          </p:cNvPr>
          <p:cNvSpPr>
            <a:spLocks noGrp="1"/>
          </p:cNvSpPr>
          <p:nvPr>
            <p:ph idx="1"/>
          </p:nvPr>
        </p:nvSpPr>
        <p:spPr>
          <a:xfrm>
            <a:off x="171450" y="695325"/>
            <a:ext cx="11791950" cy="6019800"/>
          </a:xfrm>
        </p:spPr>
        <p:txBody>
          <a:bodyPr numCol="2">
            <a:normAutofit/>
          </a:bodyPr>
          <a:lstStyle/>
          <a:p>
            <a:r>
              <a:rPr lang="en-US" sz="1600" b="1"/>
              <a:t>Menu_id</a:t>
            </a:r>
          </a:p>
          <a:p>
            <a:r>
              <a:rPr lang="en-US" sz="1600" b="1"/>
              <a:t>M_nameParent_AR</a:t>
            </a:r>
          </a:p>
          <a:p>
            <a:r>
              <a:rPr lang="en-US" sz="1600" b="1"/>
              <a:t>M_nameParent_Eng  // </a:t>
            </a:r>
            <a:r>
              <a:rPr lang="en-US" sz="1600"/>
              <a:t>Main menu name</a:t>
            </a:r>
            <a:endParaRPr lang="en-US" sz="1600" b="1"/>
          </a:p>
          <a:p>
            <a:r>
              <a:rPr lang="en-US" sz="1600" b="1"/>
              <a:t>M_nameChild_AR</a:t>
            </a:r>
          </a:p>
          <a:p>
            <a:r>
              <a:rPr lang="en-US" sz="1600" b="1"/>
              <a:t>M_nameChild_Eng // </a:t>
            </a:r>
            <a:r>
              <a:rPr lang="en-US" sz="1600"/>
              <a:t>Submenu name</a:t>
            </a:r>
            <a:endParaRPr lang="en-US" sz="1600" b="1"/>
          </a:p>
          <a:p>
            <a:r>
              <a:rPr lang="en-US" sz="1600" b="1"/>
              <a:t>M_namePage_AR</a:t>
            </a:r>
          </a:p>
          <a:p>
            <a:r>
              <a:rPr lang="en-US" sz="1600" b="1"/>
              <a:t>M_namePage_Eng // </a:t>
            </a:r>
            <a:r>
              <a:rPr lang="en-US" sz="1600"/>
              <a:t>Page name</a:t>
            </a:r>
            <a:endParaRPr lang="en-US" sz="1600" b="1"/>
          </a:p>
          <a:p>
            <a:r>
              <a:rPr lang="en-US" sz="1600" b="1"/>
              <a:t>M_Parent_id	   </a:t>
            </a:r>
          </a:p>
          <a:p>
            <a:r>
              <a:rPr lang="en-US" sz="1600" b="1"/>
              <a:t>M_URL</a:t>
            </a:r>
          </a:p>
          <a:p>
            <a:r>
              <a:rPr lang="en-US" sz="1600" b="1"/>
              <a:t>M_URLParent</a:t>
            </a:r>
          </a:p>
          <a:p>
            <a:r>
              <a:rPr lang="en-US" sz="1600" b="1"/>
              <a:t>M_URLChild</a:t>
            </a:r>
          </a:p>
          <a:p>
            <a:r>
              <a:rPr lang="en-US" sz="1600" b="1"/>
              <a:t>M_URLPage</a:t>
            </a:r>
          </a:p>
          <a:p>
            <a:r>
              <a:rPr lang="en-US" sz="1600" b="1"/>
              <a:t>M_Icon</a:t>
            </a:r>
          </a:p>
          <a:p>
            <a:r>
              <a:rPr lang="en-US" sz="1600" b="1"/>
              <a:t>Role_id</a:t>
            </a:r>
          </a:p>
          <a:p>
            <a:r>
              <a:rPr lang="en-US" sz="1600" b="1"/>
              <a:t>Parent_Id</a:t>
            </a:r>
          </a:p>
          <a:p>
            <a:r>
              <a:rPr lang="en-US" sz="1600" b="1"/>
              <a:t>Child_Id</a:t>
            </a:r>
          </a:p>
          <a:p>
            <a:r>
              <a:rPr lang="en-US" sz="1600" b="1"/>
              <a:t>Paging_Id</a:t>
            </a:r>
          </a:p>
          <a:p>
            <a:r>
              <a:rPr lang="en-US" sz="1600" b="1"/>
              <a:t>M_Status</a:t>
            </a:r>
          </a:p>
          <a:p>
            <a:r>
              <a:rPr lang="en-US" sz="1600" b="1"/>
              <a:t>Type</a:t>
            </a:r>
          </a:p>
          <a:p>
            <a:r>
              <a:rPr lang="en-US" sz="1600" b="1"/>
              <a:t>TypeName</a:t>
            </a:r>
          </a:p>
          <a:p>
            <a:r>
              <a:rPr lang="en-US" sz="1600" b="1"/>
              <a:t>MenuItem</a:t>
            </a:r>
          </a:p>
          <a:p>
            <a:pPr lvl="1"/>
            <a:r>
              <a:rPr lang="en-US" sz="1600" b="1"/>
              <a:t>URMA_id</a:t>
            </a:r>
          </a:p>
          <a:p>
            <a:pPr lvl="1"/>
            <a:r>
              <a:rPr lang="en-US" sz="1600" b="1"/>
              <a:t>Role_id</a:t>
            </a:r>
          </a:p>
          <a:p>
            <a:pPr lvl="1"/>
            <a:r>
              <a:rPr lang="en-US" sz="1600" b="1"/>
              <a:t>Parent_Id</a:t>
            </a:r>
          </a:p>
          <a:p>
            <a:pPr lvl="1"/>
            <a:r>
              <a:rPr lang="en-US" sz="1600" b="1"/>
              <a:t>Child_Id</a:t>
            </a:r>
          </a:p>
          <a:p>
            <a:pPr lvl="1"/>
            <a:r>
              <a:rPr lang="en-US" sz="1600" b="1"/>
              <a:t>Paging_Id</a:t>
            </a:r>
          </a:p>
          <a:p>
            <a:endParaRPr lang="en-US" sz="1600" b="1"/>
          </a:p>
        </p:txBody>
      </p:sp>
    </p:spTree>
    <p:extLst>
      <p:ext uri="{BB962C8B-B14F-4D97-AF65-F5344CB8AC3E}">
        <p14:creationId xmlns:p14="http://schemas.microsoft.com/office/powerpoint/2010/main" val="10366603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CB5F5-8C73-E46E-5CC4-606D57CCF32B}"/>
              </a:ext>
            </a:extLst>
          </p:cNvPr>
          <p:cNvSpPr>
            <a:spLocks noGrp="1"/>
          </p:cNvSpPr>
          <p:nvPr>
            <p:ph type="title"/>
          </p:nvPr>
        </p:nvSpPr>
        <p:spPr>
          <a:xfrm>
            <a:off x="913795" y="0"/>
            <a:ext cx="10353762" cy="685800"/>
          </a:xfrm>
        </p:spPr>
        <p:txBody>
          <a:bodyPr>
            <a:normAutofit fontScale="90000"/>
          </a:bodyPr>
          <a:lstStyle/>
          <a:p>
            <a:r>
              <a:rPr lang="en-US" b="1"/>
              <a:t>Get User group</a:t>
            </a:r>
          </a:p>
        </p:txBody>
      </p:sp>
      <p:sp>
        <p:nvSpPr>
          <p:cNvPr id="3" name="Content Placeholder 2">
            <a:extLst>
              <a:ext uri="{FF2B5EF4-FFF2-40B4-BE49-F238E27FC236}">
                <a16:creationId xmlns:a16="http://schemas.microsoft.com/office/drawing/2014/main" id="{B9449A90-2321-C115-9402-64E1227F5C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728098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B26E2-D2D9-FB1B-E36D-5B64B57D3D88}"/>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Start login</a:t>
            </a:r>
          </a:p>
        </p:txBody>
      </p:sp>
    </p:spTree>
    <p:extLst>
      <p:ext uri="{BB962C8B-B14F-4D97-AF65-F5344CB8AC3E}">
        <p14:creationId xmlns:p14="http://schemas.microsoft.com/office/powerpoint/2010/main" val="330276664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FCAB-635E-B943-1399-1636BEB15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85D5D-A103-9289-CAD1-A16969C3A084}"/>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login</a:t>
            </a:r>
          </a:p>
        </p:txBody>
      </p:sp>
    </p:spTree>
    <p:extLst>
      <p:ext uri="{BB962C8B-B14F-4D97-AF65-F5344CB8AC3E}">
        <p14:creationId xmlns:p14="http://schemas.microsoft.com/office/powerpoint/2010/main" val="247978578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F4C31-63E6-F9A5-F419-E597FD4E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12491-772C-EE68-EFC4-4CCF25A6B13D}"/>
              </a:ext>
            </a:extLst>
          </p:cNvPr>
          <p:cNvSpPr>
            <a:spLocks noGrp="1"/>
          </p:cNvSpPr>
          <p:nvPr>
            <p:ph type="title"/>
          </p:nvPr>
        </p:nvSpPr>
        <p:spPr>
          <a:xfrm>
            <a:off x="913795" y="609599"/>
            <a:ext cx="10353762" cy="5457825"/>
          </a:xfrm>
        </p:spPr>
        <p:txBody>
          <a:bodyPr>
            <a:normAutofit/>
          </a:bodyPr>
          <a:lstStyle/>
          <a:p>
            <a:r>
              <a:rPr lang="en-US" sz="6600" b="1">
                <a:solidFill>
                  <a:srgbClr val="FF0000"/>
                </a:solidFill>
              </a:rPr>
              <a:t>Start Users page</a:t>
            </a:r>
            <a:br>
              <a:rPr lang="en-US" sz="6600" b="1">
                <a:solidFill>
                  <a:srgbClr val="FF0000"/>
                </a:solidFill>
              </a:rPr>
            </a:br>
            <a:r>
              <a:rPr lang="ar-EG" sz="6600" b="1">
                <a:solidFill>
                  <a:srgbClr val="FF0000"/>
                </a:solidFill>
              </a:rPr>
              <a:t>مستخدمي النظام</a:t>
            </a:r>
            <a:endParaRPr lang="en-US" sz="6600" b="1">
              <a:solidFill>
                <a:srgbClr val="FF0000"/>
              </a:solidFill>
            </a:endParaRPr>
          </a:p>
        </p:txBody>
      </p:sp>
    </p:spTree>
    <p:extLst>
      <p:ext uri="{BB962C8B-B14F-4D97-AF65-F5344CB8AC3E}">
        <p14:creationId xmlns:p14="http://schemas.microsoft.com/office/powerpoint/2010/main" val="242098396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4A7B-5C35-013C-5139-6DFBA5786B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DF0889-35AF-9EA8-3D29-DF4D0A53C2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3458369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E41DB-E7C5-DCF8-D6B3-45E65FFB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2EAE1-5630-5E19-564A-D654745C5D70}"/>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Users page</a:t>
            </a:r>
            <a:br>
              <a:rPr lang="en-US" sz="8000" b="1">
                <a:solidFill>
                  <a:srgbClr val="FF0000"/>
                </a:solidFill>
              </a:rPr>
            </a:br>
            <a:r>
              <a:rPr lang="ar-EG" sz="8000" b="1">
                <a:solidFill>
                  <a:srgbClr val="FF0000"/>
                </a:solidFill>
              </a:rPr>
              <a:t>مستخدمي النظام</a:t>
            </a:r>
            <a:endParaRPr lang="en-US" sz="8000" b="1">
              <a:solidFill>
                <a:srgbClr val="FF0000"/>
              </a:solidFill>
            </a:endParaRPr>
          </a:p>
        </p:txBody>
      </p:sp>
    </p:spTree>
    <p:extLst>
      <p:ext uri="{BB962C8B-B14F-4D97-AF65-F5344CB8AC3E}">
        <p14:creationId xmlns:p14="http://schemas.microsoft.com/office/powerpoint/2010/main" val="170724675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257175" y="511277"/>
            <a:ext cx="11610360"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4057323808"/>
              </p:ext>
            </p:extLst>
          </p:nvPr>
        </p:nvGraphicFramePr>
        <p:xfrm>
          <a:off x="41867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b="1"/>
              <a:t>رفض_عميل من الأى سكور</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chemeClr val="tx1"/>
                </a:solidFill>
              </a:rPr>
              <a:t>تم الصرف</a:t>
            </a:r>
            <a:endParaRPr lang="en-US" b="1">
              <a:solidFill>
                <a:schemeClr val="tx1"/>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من الأي سكور أو من الزيارة الميدانية</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A3F1E-2965-B4D0-3E11-7593FC393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805B7-E12F-774A-0198-AE4A3508B445}"/>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Business </a:t>
            </a:r>
          </a:p>
        </p:txBody>
      </p:sp>
    </p:spTree>
    <p:extLst>
      <p:ext uri="{BB962C8B-B14F-4D97-AF65-F5344CB8AC3E}">
        <p14:creationId xmlns:p14="http://schemas.microsoft.com/office/powerpoint/2010/main" val="209422413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E1AB8-79AE-79E8-551A-E7F5C95C9D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89A587-8646-37C5-15B3-CF433F977873}"/>
              </a:ext>
            </a:extLst>
          </p:cNvPr>
          <p:cNvSpPr>
            <a:spLocks noGrp="1"/>
          </p:cNvSpPr>
          <p:nvPr>
            <p:ph idx="1"/>
          </p:nvPr>
        </p:nvSpPr>
        <p:spPr>
          <a:xfrm>
            <a:off x="118532" y="1732449"/>
            <a:ext cx="11988801" cy="4058751"/>
          </a:xfrm>
        </p:spPr>
        <p:txBody>
          <a:bodyPr/>
          <a:lstStyle/>
          <a:p>
            <a:pPr algn="r" rtl="1"/>
            <a:r>
              <a:rPr lang="ar-EG"/>
              <a:t>نتحدث الأن عن الطلب: </a:t>
            </a:r>
          </a:p>
          <a:p>
            <a:pPr lvl="1" algn="r" rtl="1"/>
            <a:r>
              <a:rPr lang="ar-EG"/>
              <a:t>الطلب يرفض نهائي اذا الضامن الأول تم رفضه وقام العميل بجلب ضامن ثاني وتم رفضه أيضا وقام العميل بجلب ضامن ثالث وتم رفضه أيضا</a:t>
            </a:r>
          </a:p>
          <a:p>
            <a:pPr lvl="1" algn="r" rtl="1"/>
            <a:r>
              <a:rPr lang="ar-EG"/>
              <a:t>عدد الضامنين الذي تم رفضهم هم 3 وهذا يتسبب برفض نهائي للطلب </a:t>
            </a:r>
          </a:p>
          <a:p>
            <a:pPr lvl="1" algn="r" rtl="1"/>
            <a:r>
              <a:rPr lang="ar-EG" sz="1750"/>
              <a:t>من أين قمنا بتحديد ان عدد الضامنين الذي يجب رفضهم حتى يؤدي الى الرفض النهائي للطلب </a:t>
            </a:r>
            <a:r>
              <a:rPr lang="en-US" sz="1750"/>
              <a:t>[ GeneralSetting. MaxGuarantorsPerRequest ]</a:t>
            </a:r>
          </a:p>
        </p:txBody>
      </p:sp>
    </p:spTree>
    <p:extLst>
      <p:ext uri="{BB962C8B-B14F-4D97-AF65-F5344CB8AC3E}">
        <p14:creationId xmlns:p14="http://schemas.microsoft.com/office/powerpoint/2010/main" val="209150220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DED6-22F4-15CA-2A6A-9D91BD5D3488}"/>
              </a:ext>
            </a:extLst>
          </p:cNvPr>
          <p:cNvSpPr>
            <a:spLocks noGrp="1"/>
          </p:cNvSpPr>
          <p:nvPr>
            <p:ph type="title"/>
          </p:nvPr>
        </p:nvSpPr>
        <p:spPr>
          <a:xfrm>
            <a:off x="919119" y="0"/>
            <a:ext cx="10353762" cy="638175"/>
          </a:xfrm>
        </p:spPr>
        <p:txBody>
          <a:bodyPr>
            <a:normAutofit fontScale="90000"/>
          </a:bodyPr>
          <a:lstStyle/>
          <a:p>
            <a:r>
              <a:rPr lang="ar-EG" b="1"/>
              <a:t>كود الصرف</a:t>
            </a:r>
            <a:endParaRPr lang="en-US" b="1"/>
          </a:p>
        </p:txBody>
      </p:sp>
      <p:sp>
        <p:nvSpPr>
          <p:cNvPr id="3" name="Content Placeholder 2">
            <a:extLst>
              <a:ext uri="{FF2B5EF4-FFF2-40B4-BE49-F238E27FC236}">
                <a16:creationId xmlns:a16="http://schemas.microsoft.com/office/drawing/2014/main" id="{1BDC2FFF-A4D8-FFB0-91AA-2878DCABA0BE}"/>
              </a:ext>
            </a:extLst>
          </p:cNvPr>
          <p:cNvSpPr>
            <a:spLocks noGrp="1"/>
          </p:cNvSpPr>
          <p:nvPr>
            <p:ph idx="1"/>
          </p:nvPr>
        </p:nvSpPr>
        <p:spPr>
          <a:xfrm>
            <a:off x="161925" y="781050"/>
            <a:ext cx="11896726" cy="5829300"/>
          </a:xfrm>
        </p:spPr>
        <p:txBody>
          <a:bodyPr/>
          <a:lstStyle/>
          <a:p>
            <a:pPr algn="r" rtl="1"/>
            <a:r>
              <a:rPr lang="ar-EG" sz="1800" b="1"/>
              <a:t>هناك حد أقصى من المرات لارسال كود الصرف, يتم تحديده داخل جدول الاعدادات العامة , </a:t>
            </a:r>
            <a:r>
              <a:rPr lang="en-US" sz="1800" b="1"/>
              <a:t>GeneralSetting.</a:t>
            </a:r>
            <a:r>
              <a:rPr lang="en-US" sz="1800" b="1">
                <a:solidFill>
                  <a:srgbClr val="00B0F0"/>
                </a:solidFill>
              </a:rPr>
              <a:t>MaxDisbursementCode</a:t>
            </a:r>
            <a:endParaRPr lang="ar-EG" sz="1800" b="1">
              <a:solidFill>
                <a:srgbClr val="00B0F0"/>
              </a:solidFill>
            </a:endParaRPr>
          </a:p>
          <a:p>
            <a:pPr algn="r" rtl="1"/>
            <a:endParaRPr lang="en-US"/>
          </a:p>
          <a:p>
            <a:pPr algn="r" rtl="1"/>
            <a:endParaRPr lang="en-US"/>
          </a:p>
          <a:p>
            <a:pPr algn="r" rtl="1"/>
            <a:endParaRPr lang="en-US"/>
          </a:p>
          <a:p>
            <a:pPr algn="r" rtl="1"/>
            <a:endParaRPr lang="en-US"/>
          </a:p>
          <a:p>
            <a:pPr algn="r" rtl="1"/>
            <a:endParaRPr lang="en-US"/>
          </a:p>
        </p:txBody>
      </p:sp>
    </p:spTree>
    <p:extLst>
      <p:ext uri="{BB962C8B-B14F-4D97-AF65-F5344CB8AC3E}">
        <p14:creationId xmlns:p14="http://schemas.microsoft.com/office/powerpoint/2010/main" val="87538296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22C-ACD3-997A-85C4-6A7393075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881A-ECB8-051A-0A23-D8C5050AACC1}"/>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Business </a:t>
            </a:r>
          </a:p>
        </p:txBody>
      </p:sp>
    </p:spTree>
    <p:extLst>
      <p:ext uri="{BB962C8B-B14F-4D97-AF65-F5344CB8AC3E}">
        <p14:creationId xmlns:p14="http://schemas.microsoft.com/office/powerpoint/2010/main" val="246777338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B9A59-9617-2A4F-E00B-3E815ED2E4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CC29CDC-CF46-8F95-E72B-FF5FBD15CF5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61074647"/>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08B3F-BBCE-4B06-6F6B-2A0362ABB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F2E43-0929-0B68-9DE6-93FDEB438C3B}"/>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Start Rescheduling </a:t>
            </a:r>
            <a:endParaRPr lang="en-US" sz="7200" b="1">
              <a:solidFill>
                <a:srgbClr val="FF0000"/>
              </a:solidFill>
            </a:endParaRPr>
          </a:p>
        </p:txBody>
      </p:sp>
    </p:spTree>
    <p:extLst>
      <p:ext uri="{BB962C8B-B14F-4D97-AF65-F5344CB8AC3E}">
        <p14:creationId xmlns:p14="http://schemas.microsoft.com/office/powerpoint/2010/main" val="12840316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4AEA6-0C13-CCC6-F36F-B507BB1198CF}"/>
              </a:ext>
            </a:extLst>
          </p:cNvPr>
          <p:cNvSpPr>
            <a:spLocks noGrp="1"/>
          </p:cNvSpPr>
          <p:nvPr>
            <p:ph type="title"/>
          </p:nvPr>
        </p:nvSpPr>
        <p:spPr>
          <a:xfrm>
            <a:off x="457200" y="0"/>
            <a:ext cx="11382375" cy="619125"/>
          </a:xfrm>
        </p:spPr>
        <p:txBody>
          <a:bodyPr>
            <a:normAutofit fontScale="90000"/>
          </a:bodyPr>
          <a:lstStyle/>
          <a:p>
            <a:r>
              <a:rPr lang="en-US" b="1">
                <a:solidFill>
                  <a:srgbClr val="FFFF00"/>
                </a:solidFill>
              </a:rPr>
              <a:t>RSC</a:t>
            </a:r>
            <a:r>
              <a:rPr lang="en-US" b="1"/>
              <a:t>.</a:t>
            </a:r>
            <a:r>
              <a:rPr lang="en-US" b="1">
                <a:solidFill>
                  <a:srgbClr val="FF0000"/>
                </a:solidFill>
              </a:rPr>
              <a:t>ReschedulingStatus</a:t>
            </a:r>
            <a:endParaRPr lang="en-US"/>
          </a:p>
        </p:txBody>
      </p:sp>
      <p:sp>
        <p:nvSpPr>
          <p:cNvPr id="3" name="Content Placeholder 2">
            <a:extLst>
              <a:ext uri="{FF2B5EF4-FFF2-40B4-BE49-F238E27FC236}">
                <a16:creationId xmlns:a16="http://schemas.microsoft.com/office/drawing/2014/main" id="{927182DD-FA97-662E-7C11-C3C1DC61CDF1}"/>
              </a:ext>
            </a:extLst>
          </p:cNvPr>
          <p:cNvSpPr>
            <a:spLocks noGrp="1"/>
          </p:cNvSpPr>
          <p:nvPr>
            <p:ph idx="1"/>
          </p:nvPr>
        </p:nvSpPr>
        <p:spPr>
          <a:xfrm>
            <a:off x="219075" y="619125"/>
            <a:ext cx="11837458" cy="5857876"/>
          </a:xfrm>
        </p:spPr>
        <p:txBody>
          <a:bodyPr>
            <a:normAutofit/>
          </a:bodyPr>
          <a:lstStyle/>
          <a:p>
            <a:endParaRPr lang="en-US" sz="2400"/>
          </a:p>
          <a:p>
            <a:endParaRPr lang="en-US" sz="2400"/>
          </a:p>
        </p:txBody>
      </p:sp>
      <p:pic>
        <p:nvPicPr>
          <p:cNvPr id="5" name="Picture 4">
            <a:extLst>
              <a:ext uri="{FF2B5EF4-FFF2-40B4-BE49-F238E27FC236}">
                <a16:creationId xmlns:a16="http://schemas.microsoft.com/office/drawing/2014/main" id="{97EBD739-CC2B-BA65-8073-18F721CE8BE1}"/>
              </a:ext>
            </a:extLst>
          </p:cNvPr>
          <p:cNvPicPr>
            <a:picLocks noChangeAspect="1"/>
          </p:cNvPicPr>
          <p:nvPr/>
        </p:nvPicPr>
        <p:blipFill>
          <a:blip r:embed="rId2"/>
          <a:stretch>
            <a:fillRect/>
          </a:stretch>
        </p:blipFill>
        <p:spPr>
          <a:xfrm>
            <a:off x="6032154" y="784184"/>
            <a:ext cx="6024379" cy="2331549"/>
          </a:xfrm>
          <a:prstGeom prst="rect">
            <a:avLst/>
          </a:prstGeom>
        </p:spPr>
      </p:pic>
    </p:spTree>
    <p:extLst>
      <p:ext uri="{BB962C8B-B14F-4D97-AF65-F5344CB8AC3E}">
        <p14:creationId xmlns:p14="http://schemas.microsoft.com/office/powerpoint/2010/main" val="59465009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F1814-C196-C0EC-59BC-302657CC09C6}"/>
              </a:ext>
            </a:extLst>
          </p:cNvPr>
          <p:cNvSpPr>
            <a:spLocks noGrp="1"/>
          </p:cNvSpPr>
          <p:nvPr>
            <p:ph type="title"/>
          </p:nvPr>
        </p:nvSpPr>
        <p:spPr>
          <a:xfrm>
            <a:off x="913795" y="0"/>
            <a:ext cx="10353762" cy="474133"/>
          </a:xfrm>
        </p:spPr>
        <p:txBody>
          <a:bodyPr>
            <a:normAutofit fontScale="90000"/>
          </a:bodyPr>
          <a:lstStyle/>
          <a:p>
            <a:r>
              <a:rPr lang="en-US" b="1">
                <a:solidFill>
                  <a:srgbClr val="FFFF00"/>
                </a:solidFill>
              </a:rPr>
              <a:t>RSC</a:t>
            </a:r>
            <a:r>
              <a:rPr lang="en-US" b="1"/>
              <a:t>.</a:t>
            </a:r>
            <a:r>
              <a:rPr lang="en-US" b="1">
                <a:solidFill>
                  <a:srgbClr val="00B0F0"/>
                </a:solidFill>
              </a:rPr>
              <a:t>RscCalculation</a:t>
            </a:r>
          </a:p>
        </p:txBody>
      </p:sp>
      <p:sp>
        <p:nvSpPr>
          <p:cNvPr id="3" name="Content Placeholder 2">
            <a:extLst>
              <a:ext uri="{FF2B5EF4-FFF2-40B4-BE49-F238E27FC236}">
                <a16:creationId xmlns:a16="http://schemas.microsoft.com/office/drawing/2014/main" id="{969F36C7-F139-24BE-E20B-FCA1EE0F3115}"/>
              </a:ext>
            </a:extLst>
          </p:cNvPr>
          <p:cNvSpPr>
            <a:spLocks noGrp="1"/>
          </p:cNvSpPr>
          <p:nvPr>
            <p:ph idx="1"/>
          </p:nvPr>
        </p:nvSpPr>
        <p:spPr>
          <a:xfrm>
            <a:off x="160867" y="804333"/>
            <a:ext cx="11870266" cy="5943600"/>
          </a:xfrm>
        </p:spPr>
        <p:txBody>
          <a:bodyPr/>
          <a:lstStyle/>
          <a:p>
            <a:r>
              <a:rPr lang="en-US"/>
              <a:t>RC_ID: int,  PK</a:t>
            </a:r>
          </a:p>
          <a:p>
            <a:r>
              <a:rPr lang="en-US"/>
              <a:t>Calculation_Way: string</a:t>
            </a:r>
          </a:p>
          <a:p>
            <a:pPr marL="36900" indent="0">
              <a:buNone/>
            </a:pPr>
            <a:endParaRPr lang="en-US"/>
          </a:p>
        </p:txBody>
      </p:sp>
      <p:pic>
        <p:nvPicPr>
          <p:cNvPr id="7" name="Picture 6">
            <a:extLst>
              <a:ext uri="{FF2B5EF4-FFF2-40B4-BE49-F238E27FC236}">
                <a16:creationId xmlns:a16="http://schemas.microsoft.com/office/drawing/2014/main" id="{B8FDDC66-2F63-6364-57E3-D615C24B5BD1}"/>
              </a:ext>
            </a:extLst>
          </p:cNvPr>
          <p:cNvPicPr>
            <a:picLocks noChangeAspect="1"/>
          </p:cNvPicPr>
          <p:nvPr/>
        </p:nvPicPr>
        <p:blipFill>
          <a:blip r:embed="rId2"/>
          <a:stretch>
            <a:fillRect/>
          </a:stretch>
        </p:blipFill>
        <p:spPr>
          <a:xfrm>
            <a:off x="8805687" y="804333"/>
            <a:ext cx="2556580" cy="1332815"/>
          </a:xfrm>
          <a:prstGeom prst="rect">
            <a:avLst/>
          </a:prstGeom>
        </p:spPr>
      </p:pic>
    </p:spTree>
    <p:extLst>
      <p:ext uri="{BB962C8B-B14F-4D97-AF65-F5344CB8AC3E}">
        <p14:creationId xmlns:p14="http://schemas.microsoft.com/office/powerpoint/2010/main" val="312505579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B7F92-E46E-76AC-1477-DD3A6DC8E6CF}"/>
              </a:ext>
            </a:extLst>
          </p:cNvPr>
          <p:cNvSpPr>
            <a:spLocks noGrp="1"/>
          </p:cNvSpPr>
          <p:nvPr>
            <p:ph type="title"/>
          </p:nvPr>
        </p:nvSpPr>
        <p:spPr>
          <a:xfrm>
            <a:off x="913795" y="0"/>
            <a:ext cx="10353762" cy="575733"/>
          </a:xfrm>
        </p:spPr>
        <p:txBody>
          <a:bodyPr>
            <a:normAutofit fontScale="90000"/>
          </a:bodyPr>
          <a:lstStyle/>
          <a:p>
            <a:r>
              <a:rPr lang="en-US" b="1">
                <a:solidFill>
                  <a:srgbClr val="FFFF00"/>
                </a:solidFill>
              </a:rPr>
              <a:t>RSC.</a:t>
            </a:r>
            <a:r>
              <a:rPr lang="en-US" b="1">
                <a:solidFill>
                  <a:srgbClr val="00B0F0"/>
                </a:solidFill>
              </a:rPr>
              <a:t>RscSetup</a:t>
            </a:r>
          </a:p>
        </p:txBody>
      </p:sp>
      <p:sp>
        <p:nvSpPr>
          <p:cNvPr id="7" name="Content Placeholder 6">
            <a:extLst>
              <a:ext uri="{FF2B5EF4-FFF2-40B4-BE49-F238E27FC236}">
                <a16:creationId xmlns:a16="http://schemas.microsoft.com/office/drawing/2014/main" id="{CE623E09-404D-0A42-B52E-CC14683BE5F4}"/>
              </a:ext>
            </a:extLst>
          </p:cNvPr>
          <p:cNvSpPr>
            <a:spLocks noGrp="1"/>
          </p:cNvSpPr>
          <p:nvPr>
            <p:ph idx="1"/>
          </p:nvPr>
        </p:nvSpPr>
        <p:spPr>
          <a:xfrm>
            <a:off x="152401" y="575732"/>
            <a:ext cx="11980333" cy="5698067"/>
          </a:xfrm>
        </p:spPr>
        <p:txBody>
          <a:bodyPr>
            <a:normAutofit/>
          </a:bodyPr>
          <a:lstStyle/>
          <a:p>
            <a:endParaRPr lang="en-US" sz="1600" b="1"/>
          </a:p>
          <a:p>
            <a:pPr marL="36900" indent="0">
              <a:buNone/>
            </a:pPr>
            <a:endParaRPr lang="en-US" sz="1600" b="1"/>
          </a:p>
          <a:p>
            <a:r>
              <a:rPr lang="en-US" sz="1600" b="1"/>
              <a:t>RS_ID: PK</a:t>
            </a:r>
          </a:p>
          <a:p>
            <a:r>
              <a:rPr lang="en-US" sz="1600" b="1"/>
              <a:t>Type: string</a:t>
            </a:r>
          </a:p>
          <a:p>
            <a:r>
              <a:rPr lang="en-US" sz="1600" b="1"/>
              <a:t>Max_Resc_Months: int, </a:t>
            </a:r>
            <a:r>
              <a:rPr lang="ar-EG" sz="1600" b="1"/>
              <a:t>الحد الأقصى لمدة الجدولة</a:t>
            </a:r>
          </a:p>
          <a:p>
            <a:r>
              <a:rPr lang="en-US" sz="1600" b="1"/>
              <a:t>Grace_Period: int,  </a:t>
            </a:r>
            <a:r>
              <a:rPr lang="ar-EG" sz="1600" b="1"/>
              <a:t>فترة السماح</a:t>
            </a:r>
          </a:p>
          <a:p>
            <a:r>
              <a:rPr lang="en-US" sz="1600" b="1"/>
              <a:t>Resc_Commission: int,  </a:t>
            </a:r>
            <a:r>
              <a:rPr lang="ar-EG" sz="1600" b="1"/>
              <a:t>عمولة إعادة الجدولة</a:t>
            </a:r>
            <a:endParaRPr lang="en-US" sz="1600" b="1"/>
          </a:p>
          <a:p>
            <a:r>
              <a:rPr lang="en-US" sz="1600" b="1"/>
              <a:t>Resc_expenses: decimal, </a:t>
            </a:r>
            <a:r>
              <a:rPr lang="ar-EG" sz="1600" b="1"/>
              <a:t>مصروفات إعادة الجدولة</a:t>
            </a:r>
          </a:p>
          <a:p>
            <a:r>
              <a:rPr lang="en-US" sz="1600" b="1"/>
              <a:t>Resc_Return_Ratio: decimal, </a:t>
            </a:r>
            <a:r>
              <a:rPr lang="ar-EG" sz="1600" b="1"/>
              <a:t>نسبة عائد إعاد ة الجدولة</a:t>
            </a:r>
            <a:endParaRPr lang="en-US" sz="1600" b="1"/>
          </a:p>
          <a:p>
            <a:r>
              <a:rPr lang="en-US" sz="1600" b="1"/>
              <a:t>Min_Premium_Num: int, </a:t>
            </a:r>
            <a:r>
              <a:rPr lang="ar-EG" sz="1600" b="1"/>
              <a:t>الحد الأدني لعددالأقساط المتبقية</a:t>
            </a:r>
            <a:endParaRPr lang="en-US" sz="1600" b="1"/>
          </a:p>
          <a:p>
            <a:r>
              <a:rPr lang="en-US" sz="1600" b="1"/>
              <a:t>Max_Premium_Num: int, </a:t>
            </a:r>
            <a:r>
              <a:rPr lang="ar-EG" sz="1600" b="1"/>
              <a:t>الحد الأقصى لعدد الأقساط المتبقية</a:t>
            </a:r>
            <a:endParaRPr lang="en-US" sz="1600" b="1"/>
          </a:p>
          <a:p>
            <a:r>
              <a:rPr lang="en-US" sz="1600" b="1"/>
              <a:t>Cust_Guar: int </a:t>
            </a:r>
          </a:p>
          <a:p>
            <a:r>
              <a:rPr lang="en-US" sz="1600" b="1"/>
              <a:t>RscCalculations: FK from </a:t>
            </a:r>
            <a:r>
              <a:rPr lang="en-US" sz="1600" b="1">
                <a:solidFill>
                  <a:srgbClr val="FFFF00"/>
                </a:solidFill>
              </a:rPr>
              <a:t>RscCalculation</a:t>
            </a:r>
          </a:p>
          <a:p>
            <a:r>
              <a:rPr lang="en-US" sz="1600" b="1"/>
              <a:t>FRC_Id: FK from </a:t>
            </a:r>
            <a:r>
              <a:rPr lang="en-US" sz="1600" b="1">
                <a:solidFill>
                  <a:srgbClr val="FFFF00"/>
                </a:solidFill>
              </a:rPr>
              <a:t>Flow_Repayment_Cycles</a:t>
            </a:r>
          </a:p>
        </p:txBody>
      </p:sp>
      <p:pic>
        <p:nvPicPr>
          <p:cNvPr id="8" name="Content Placeholder 4">
            <a:extLst>
              <a:ext uri="{FF2B5EF4-FFF2-40B4-BE49-F238E27FC236}">
                <a16:creationId xmlns:a16="http://schemas.microsoft.com/office/drawing/2014/main" id="{438232D4-C597-18CA-9087-8E9A1298206A}"/>
              </a:ext>
            </a:extLst>
          </p:cNvPr>
          <p:cNvPicPr>
            <a:picLocks noChangeAspect="1"/>
          </p:cNvPicPr>
          <p:nvPr/>
        </p:nvPicPr>
        <p:blipFill>
          <a:blip r:embed="rId2"/>
          <a:stretch>
            <a:fillRect/>
          </a:stretch>
        </p:blipFill>
        <p:spPr>
          <a:xfrm>
            <a:off x="2310581" y="575733"/>
            <a:ext cx="9822153" cy="103293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404768165"/>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3B9-E8C5-304B-F154-AFBB3424B28C}"/>
              </a:ext>
            </a:extLst>
          </p:cNvPr>
          <p:cNvSpPr>
            <a:spLocks noGrp="1"/>
          </p:cNvSpPr>
          <p:nvPr>
            <p:ph type="title"/>
          </p:nvPr>
        </p:nvSpPr>
        <p:spPr>
          <a:xfrm>
            <a:off x="913795" y="0"/>
            <a:ext cx="10353762" cy="723900"/>
          </a:xfrm>
        </p:spPr>
        <p:txBody>
          <a:bodyPr/>
          <a:lstStyle/>
          <a:p>
            <a:r>
              <a:rPr lang="en-US" b="1">
                <a:solidFill>
                  <a:srgbClr val="FFFF00"/>
                </a:solidFill>
              </a:rPr>
              <a:t>RSC</a:t>
            </a:r>
            <a:r>
              <a:rPr lang="en-US" b="1"/>
              <a:t>.</a:t>
            </a:r>
            <a:r>
              <a:rPr lang="en-US" b="1">
                <a:solidFill>
                  <a:srgbClr val="00B0F0"/>
                </a:solidFill>
              </a:rPr>
              <a:t>ReschedulingCustomers</a:t>
            </a:r>
          </a:p>
        </p:txBody>
      </p:sp>
      <p:sp>
        <p:nvSpPr>
          <p:cNvPr id="3" name="Content Placeholder 2">
            <a:extLst>
              <a:ext uri="{FF2B5EF4-FFF2-40B4-BE49-F238E27FC236}">
                <a16:creationId xmlns:a16="http://schemas.microsoft.com/office/drawing/2014/main" id="{E347DC07-390D-DBA0-BAD0-F9BB4515BCD6}"/>
              </a:ext>
            </a:extLst>
          </p:cNvPr>
          <p:cNvSpPr>
            <a:spLocks noGrp="1"/>
          </p:cNvSpPr>
          <p:nvPr>
            <p:ph idx="1"/>
          </p:nvPr>
        </p:nvSpPr>
        <p:spPr>
          <a:xfrm>
            <a:off x="104774" y="723901"/>
            <a:ext cx="12087225" cy="5991224"/>
          </a:xfrm>
        </p:spPr>
        <p:txBody>
          <a:bodyPr>
            <a:normAutofit/>
          </a:bodyPr>
          <a:lstStyle/>
          <a:p>
            <a:r>
              <a:rPr lang="en-US" sz="1800" b="1"/>
              <a:t>RC_ID: PK</a:t>
            </a:r>
          </a:p>
          <a:p>
            <a:r>
              <a:rPr lang="en-US" sz="1800" b="1"/>
              <a:t>CustomerId: FK from </a:t>
            </a:r>
            <a:r>
              <a:rPr lang="en-US" sz="1800" b="1">
                <a:solidFill>
                  <a:srgbClr val="FFFF00"/>
                </a:solidFill>
              </a:rPr>
              <a:t>customer</a:t>
            </a:r>
          </a:p>
          <a:p>
            <a:r>
              <a:rPr lang="en-US" sz="1800" b="1"/>
              <a:t>RequestId: FK from </a:t>
            </a:r>
            <a:r>
              <a:rPr lang="en-US" sz="1800" b="1">
                <a:solidFill>
                  <a:srgbClr val="FFFF00"/>
                </a:solidFill>
              </a:rPr>
              <a:t>Request</a:t>
            </a:r>
          </a:p>
          <a:p>
            <a:r>
              <a:rPr lang="en-US" sz="1800" b="1"/>
              <a:t>Status: FK from </a:t>
            </a:r>
            <a:r>
              <a:rPr lang="en-US" sz="1800" b="1">
                <a:solidFill>
                  <a:srgbClr val="FFFF00"/>
                </a:solidFill>
              </a:rPr>
              <a:t>ReschedulingStatus</a:t>
            </a:r>
          </a:p>
          <a:p>
            <a:r>
              <a:rPr lang="en-US" sz="1800" b="1"/>
              <a:t>RS_ID: FK from </a:t>
            </a:r>
            <a:r>
              <a:rPr lang="en-US" sz="1800" b="1">
                <a:solidFill>
                  <a:srgbClr val="FFFF00"/>
                </a:solidFill>
              </a:rPr>
              <a:t>RscSetup</a:t>
            </a:r>
          </a:p>
          <a:p>
            <a:r>
              <a:rPr lang="en-US" sz="1800" b="1"/>
              <a:t>BranchId: FK from </a:t>
            </a:r>
            <a:r>
              <a:rPr lang="en-US" sz="1800" b="1">
                <a:solidFill>
                  <a:srgbClr val="FFFF00"/>
                </a:solidFill>
              </a:rPr>
              <a:t>BranchId</a:t>
            </a:r>
          </a:p>
          <a:p>
            <a:r>
              <a:rPr lang="en-US" sz="1800" b="1"/>
              <a:t>UserID: FK from </a:t>
            </a:r>
            <a:r>
              <a:rPr lang="en-US" sz="1800" b="1">
                <a:solidFill>
                  <a:srgbClr val="FFFF00"/>
                </a:solidFill>
              </a:rPr>
              <a:t>User</a:t>
            </a:r>
          </a:p>
          <a:p>
            <a:r>
              <a:rPr lang="en-US" sz="1800" b="1"/>
              <a:t>creationDate: </a:t>
            </a:r>
            <a:r>
              <a:rPr lang="en-US"/>
              <a:t>DateTime</a:t>
            </a:r>
            <a:endParaRPr lang="en-US" sz="1800" b="1">
              <a:solidFill>
                <a:srgbClr val="00B0F0"/>
              </a:solidFill>
            </a:endParaRPr>
          </a:p>
          <a:p>
            <a:r>
              <a:rPr lang="en-US" sz="1800" b="1">
                <a:solidFill>
                  <a:srgbClr val="00B0F0"/>
                </a:solidFill>
              </a:rPr>
              <a:t>ReschedulingCustomers</a:t>
            </a:r>
            <a:endParaRPr lang="en-US" sz="1800" b="1">
              <a:solidFill>
                <a:srgbClr val="FFFF00"/>
              </a:solidFill>
            </a:endParaRPr>
          </a:p>
        </p:txBody>
      </p:sp>
      <p:pic>
        <p:nvPicPr>
          <p:cNvPr id="5" name="Picture 4">
            <a:extLst>
              <a:ext uri="{FF2B5EF4-FFF2-40B4-BE49-F238E27FC236}">
                <a16:creationId xmlns:a16="http://schemas.microsoft.com/office/drawing/2014/main" id="{BF029F3C-0680-92AE-DAA8-A6A6CE2621EB}"/>
              </a:ext>
            </a:extLst>
          </p:cNvPr>
          <p:cNvPicPr>
            <a:picLocks noChangeAspect="1"/>
          </p:cNvPicPr>
          <p:nvPr/>
        </p:nvPicPr>
        <p:blipFill>
          <a:blip r:embed="rId2"/>
          <a:stretch>
            <a:fillRect/>
          </a:stretch>
        </p:blipFill>
        <p:spPr>
          <a:xfrm>
            <a:off x="4204759" y="792405"/>
            <a:ext cx="7882467" cy="1739130"/>
          </a:xfrm>
          <a:prstGeom prst="rect">
            <a:avLst/>
          </a:prstGeom>
        </p:spPr>
      </p:pic>
    </p:spTree>
    <p:extLst>
      <p:ext uri="{BB962C8B-B14F-4D97-AF65-F5344CB8AC3E}">
        <p14:creationId xmlns:p14="http://schemas.microsoft.com/office/powerpoint/2010/main" val="122877339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D69E1-8549-3945-3074-ADD9ECC48C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6D4400-9700-CA84-906A-997ACEC7AA59}"/>
              </a:ext>
            </a:extLst>
          </p:cNvPr>
          <p:cNvSpPr>
            <a:spLocks noGrp="1"/>
          </p:cNvSpPr>
          <p:nvPr>
            <p:ph idx="1"/>
          </p:nvPr>
        </p:nvSpPr>
        <p:spPr/>
        <p:txBody>
          <a:bodyPr/>
          <a:lstStyle/>
          <a:p>
            <a:r>
              <a:rPr lang="en-US"/>
              <a:t>We have customer and guarantor rescheduling</a:t>
            </a:r>
          </a:p>
          <a:p>
            <a:endParaRPr lang="en-US"/>
          </a:p>
        </p:txBody>
      </p:sp>
    </p:spTree>
    <p:extLst>
      <p:ext uri="{BB962C8B-B14F-4D97-AF65-F5344CB8AC3E}">
        <p14:creationId xmlns:p14="http://schemas.microsoft.com/office/powerpoint/2010/main" val="155838339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95E24-384E-0743-3718-89B3183842D0}"/>
              </a:ext>
            </a:extLst>
          </p:cNvPr>
          <p:cNvSpPr>
            <a:spLocks noGrp="1"/>
          </p:cNvSpPr>
          <p:nvPr>
            <p:ph type="title"/>
          </p:nvPr>
        </p:nvSpPr>
        <p:spPr>
          <a:xfrm>
            <a:off x="919119" y="1"/>
            <a:ext cx="10353762" cy="609600"/>
          </a:xfrm>
        </p:spPr>
        <p:txBody>
          <a:bodyPr>
            <a:normAutofit fontScale="90000"/>
          </a:bodyPr>
          <a:lstStyle/>
          <a:p>
            <a:endParaRPr lang="en-US"/>
          </a:p>
        </p:txBody>
      </p:sp>
      <p:sp>
        <p:nvSpPr>
          <p:cNvPr id="3" name="Content Placeholder 2">
            <a:extLst>
              <a:ext uri="{FF2B5EF4-FFF2-40B4-BE49-F238E27FC236}">
                <a16:creationId xmlns:a16="http://schemas.microsoft.com/office/drawing/2014/main" id="{5F4DE71E-CAC6-3368-A7B0-C765AC618938}"/>
              </a:ext>
            </a:extLst>
          </p:cNvPr>
          <p:cNvSpPr>
            <a:spLocks noGrp="1"/>
          </p:cNvSpPr>
          <p:nvPr>
            <p:ph idx="1"/>
          </p:nvPr>
        </p:nvSpPr>
        <p:spPr>
          <a:xfrm>
            <a:off x="913795" y="857250"/>
            <a:ext cx="10353762" cy="5791199"/>
          </a:xfrm>
        </p:spPr>
        <p:txBody>
          <a:bodyPr/>
          <a:lstStyle/>
          <a:p>
            <a:r>
              <a:rPr lang="en-US" sz="2200" b="1">
                <a:solidFill>
                  <a:srgbClr val="FFFF00"/>
                </a:solidFill>
              </a:rPr>
              <a:t>RSC</a:t>
            </a:r>
            <a:r>
              <a:rPr lang="en-US" sz="2200"/>
              <a:t>.</a:t>
            </a:r>
            <a:r>
              <a:rPr lang="en-US" sz="2200" b="1">
                <a:solidFill>
                  <a:srgbClr val="00B0F0"/>
                </a:solidFill>
              </a:rPr>
              <a:t>ReschedulingCustomers</a:t>
            </a:r>
          </a:p>
          <a:p>
            <a:r>
              <a:rPr lang="en-US"/>
              <a:t>cust_guar:</a:t>
            </a:r>
          </a:p>
          <a:p>
            <a:pPr lvl="1"/>
            <a:r>
              <a:rPr lang="en-US" b="1"/>
              <a:t>1 [ </a:t>
            </a:r>
            <a:r>
              <a:rPr lang="ar-EG" b="1"/>
              <a:t>عميل</a:t>
            </a:r>
            <a:r>
              <a:rPr lang="en-US" b="1"/>
              <a:t> ]</a:t>
            </a:r>
            <a:endParaRPr lang="ar-EG" b="1"/>
          </a:p>
          <a:p>
            <a:pPr lvl="1"/>
            <a:r>
              <a:rPr lang="en-US" b="1"/>
              <a:t>2 [ </a:t>
            </a:r>
            <a:r>
              <a:rPr lang="ar-EG" b="1"/>
              <a:t>ضامن</a:t>
            </a:r>
            <a:r>
              <a:rPr lang="en-US" b="1"/>
              <a:t> ]</a:t>
            </a:r>
          </a:p>
          <a:p>
            <a:endParaRPr lang="en-US"/>
          </a:p>
          <a:p>
            <a:endParaRPr lang="en-US"/>
          </a:p>
          <a:p>
            <a:endParaRPr lang="en-US"/>
          </a:p>
          <a:p>
            <a:endParaRPr lang="en-US"/>
          </a:p>
        </p:txBody>
      </p:sp>
    </p:spTree>
    <p:extLst>
      <p:ext uri="{BB962C8B-B14F-4D97-AF65-F5344CB8AC3E}">
        <p14:creationId xmlns:p14="http://schemas.microsoft.com/office/powerpoint/2010/main" val="295147390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3F17D-684B-4848-F94F-3638FEDFF5C7}"/>
              </a:ext>
            </a:extLst>
          </p:cNvPr>
          <p:cNvSpPr>
            <a:spLocks noGrp="1"/>
          </p:cNvSpPr>
          <p:nvPr>
            <p:ph type="title"/>
          </p:nvPr>
        </p:nvSpPr>
        <p:spPr>
          <a:xfrm>
            <a:off x="237067" y="609600"/>
            <a:ext cx="11030490" cy="970450"/>
          </a:xfrm>
        </p:spPr>
        <p:txBody>
          <a:bodyPr/>
          <a:lstStyle/>
          <a:p>
            <a:endParaRPr lang="en-US"/>
          </a:p>
        </p:txBody>
      </p:sp>
      <p:sp>
        <p:nvSpPr>
          <p:cNvPr id="3" name="Content Placeholder 2">
            <a:extLst>
              <a:ext uri="{FF2B5EF4-FFF2-40B4-BE49-F238E27FC236}">
                <a16:creationId xmlns:a16="http://schemas.microsoft.com/office/drawing/2014/main" id="{8CAEAFE6-ECA7-118B-D10E-08E459816E6D}"/>
              </a:ext>
            </a:extLst>
          </p:cNvPr>
          <p:cNvSpPr>
            <a:spLocks noGrp="1"/>
          </p:cNvSpPr>
          <p:nvPr>
            <p:ph idx="1"/>
          </p:nvPr>
        </p:nvSpPr>
        <p:spPr>
          <a:xfrm>
            <a:off x="0" y="1732449"/>
            <a:ext cx="12191999" cy="4944576"/>
          </a:xfrm>
        </p:spPr>
        <p:txBody>
          <a:bodyPr/>
          <a:lstStyle/>
          <a:p>
            <a:r>
              <a:rPr lang="en-US"/>
              <a:t>To calc </a:t>
            </a:r>
            <a:r>
              <a:rPr lang="ar-EG"/>
              <a:t>إجمالي المديونية المستحقة</a:t>
            </a:r>
          </a:p>
          <a:p>
            <a:pPr lvl="1"/>
            <a:r>
              <a:rPr lang="en-US" sz="1600" b="1"/>
              <a:t>From Trans.</a:t>
            </a:r>
            <a:r>
              <a:rPr lang="en-US" sz="1600" b="1">
                <a:solidFill>
                  <a:srgbClr val="00B0F0"/>
                </a:solidFill>
              </a:rPr>
              <a:t>Trans_Premiums </a:t>
            </a:r>
            <a:r>
              <a:rPr lang="en-US" sz="1600" b="1"/>
              <a:t>get</a:t>
            </a:r>
            <a:r>
              <a:rPr lang="en-US" sz="1600" b="1">
                <a:solidFill>
                  <a:srgbClr val="00B0F0"/>
                </a:solidFill>
              </a:rPr>
              <a:t> </a:t>
            </a:r>
            <a:r>
              <a:rPr lang="en-US" sz="1600" b="1"/>
              <a:t>Sum (</a:t>
            </a:r>
            <a:r>
              <a:rPr lang="en-US" sz="1600" b="1">
                <a:solidFill>
                  <a:srgbClr val="FFFF00"/>
                </a:solidFill>
              </a:rPr>
              <a:t>Primium_Value</a:t>
            </a:r>
            <a:r>
              <a:rPr lang="en-US" sz="1600" b="1"/>
              <a:t> - </a:t>
            </a:r>
            <a:r>
              <a:rPr lang="en-US" sz="1600" b="1">
                <a:solidFill>
                  <a:srgbClr val="FFFF00"/>
                </a:solidFill>
              </a:rPr>
              <a:t>Settlement_Value</a:t>
            </a:r>
            <a:r>
              <a:rPr lang="en-US" sz="1600" b="1"/>
              <a:t>)</a:t>
            </a:r>
            <a:r>
              <a:rPr lang="en-US" sz="1600"/>
              <a:t>  where requestId = requestId + Req.</a:t>
            </a:r>
            <a:r>
              <a:rPr lang="en-US" sz="1600" b="1">
                <a:solidFill>
                  <a:srgbClr val="FFFF00"/>
                </a:solidFill>
              </a:rPr>
              <a:t>PenaltyAmount</a:t>
            </a:r>
          </a:p>
          <a:p>
            <a:pPr lvl="1"/>
            <a:endParaRPr lang="en-US" sz="1600"/>
          </a:p>
        </p:txBody>
      </p:sp>
    </p:spTree>
    <p:extLst>
      <p:ext uri="{BB962C8B-B14F-4D97-AF65-F5344CB8AC3E}">
        <p14:creationId xmlns:p14="http://schemas.microsoft.com/office/powerpoint/2010/main" val="301319652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F696A-F985-C178-7BF6-6971A7F22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7C496-F81E-F51C-56CC-F894FC24802D}"/>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End Rescheduling </a:t>
            </a:r>
            <a:endParaRPr lang="en-US" sz="7200" b="1">
              <a:solidFill>
                <a:srgbClr val="FF0000"/>
              </a:solidFill>
            </a:endParaRPr>
          </a:p>
        </p:txBody>
      </p:sp>
    </p:spTree>
    <p:extLst>
      <p:ext uri="{BB962C8B-B14F-4D97-AF65-F5344CB8AC3E}">
        <p14:creationId xmlns:p14="http://schemas.microsoft.com/office/powerpoint/2010/main" val="44618023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B1285-9FE7-63D3-6DD7-985338EC4E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64B98-BA43-71F3-3120-CA9399B3486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AML</a:t>
            </a:r>
          </a:p>
        </p:txBody>
      </p:sp>
    </p:spTree>
    <p:extLst>
      <p:ext uri="{BB962C8B-B14F-4D97-AF65-F5344CB8AC3E}">
        <p14:creationId xmlns:p14="http://schemas.microsoft.com/office/powerpoint/2010/main" val="306256168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74388-7F59-81AF-3A3D-B278B61D218C}"/>
              </a:ext>
            </a:extLst>
          </p:cNvPr>
          <p:cNvSpPr>
            <a:spLocks noGrp="1"/>
          </p:cNvSpPr>
          <p:nvPr>
            <p:ph type="title"/>
          </p:nvPr>
        </p:nvSpPr>
        <p:spPr/>
        <p:txBody>
          <a:bodyPr/>
          <a:lstStyle/>
          <a:p>
            <a:r>
              <a:rPr lang="en-US"/>
              <a:t>When It used</a:t>
            </a:r>
          </a:p>
        </p:txBody>
      </p:sp>
      <p:sp>
        <p:nvSpPr>
          <p:cNvPr id="3" name="Content Placeholder 2">
            <a:extLst>
              <a:ext uri="{FF2B5EF4-FFF2-40B4-BE49-F238E27FC236}">
                <a16:creationId xmlns:a16="http://schemas.microsoft.com/office/drawing/2014/main" id="{A57C4A5C-50BA-D9AF-9136-3CB58172AD39}"/>
              </a:ext>
            </a:extLst>
          </p:cNvPr>
          <p:cNvSpPr>
            <a:spLocks noGrp="1"/>
          </p:cNvSpPr>
          <p:nvPr>
            <p:ph idx="1"/>
          </p:nvPr>
        </p:nvSpPr>
        <p:spPr/>
        <p:txBody>
          <a:bodyPr/>
          <a:lstStyle/>
          <a:p>
            <a:r>
              <a:rPr lang="en-US" b="1"/>
              <a:t>In Micro it is executed after the iscore</a:t>
            </a:r>
          </a:p>
        </p:txBody>
      </p:sp>
    </p:spTree>
    <p:extLst>
      <p:ext uri="{BB962C8B-B14F-4D97-AF65-F5344CB8AC3E}">
        <p14:creationId xmlns:p14="http://schemas.microsoft.com/office/powerpoint/2010/main" val="399490374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F99C4-C2C7-A9E0-92BB-1085913C6A2F}"/>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t>.</a:t>
            </a:r>
            <a:r>
              <a:rPr lang="en-US" b="1">
                <a:solidFill>
                  <a:srgbClr val="00B0F0"/>
                </a:solidFill>
              </a:rPr>
              <a:t>Flow_Sanctionscanner_ByID</a:t>
            </a:r>
          </a:p>
        </p:txBody>
      </p:sp>
      <p:sp>
        <p:nvSpPr>
          <p:cNvPr id="3" name="Content Placeholder 2">
            <a:extLst>
              <a:ext uri="{FF2B5EF4-FFF2-40B4-BE49-F238E27FC236}">
                <a16:creationId xmlns:a16="http://schemas.microsoft.com/office/drawing/2014/main" id="{D442004E-AE66-C2E6-572A-B949B49C0D5D}"/>
              </a:ext>
            </a:extLst>
          </p:cNvPr>
          <p:cNvSpPr>
            <a:spLocks noGrp="1"/>
          </p:cNvSpPr>
          <p:nvPr>
            <p:ph idx="1"/>
          </p:nvPr>
        </p:nvSpPr>
        <p:spPr>
          <a:xfrm>
            <a:off x="193040" y="863600"/>
            <a:ext cx="11074517" cy="5506719"/>
          </a:xfrm>
        </p:spPr>
        <p:txBody>
          <a:bodyPr/>
          <a:lstStyle/>
          <a:p>
            <a:r>
              <a:rPr lang="en-US" b="1"/>
              <a:t>This table represents the result of AML </a:t>
            </a:r>
          </a:p>
        </p:txBody>
      </p:sp>
    </p:spTree>
    <p:extLst>
      <p:ext uri="{BB962C8B-B14F-4D97-AF65-F5344CB8AC3E}">
        <p14:creationId xmlns:p14="http://schemas.microsoft.com/office/powerpoint/2010/main" val="2029403942"/>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EC314-3C68-09E4-C3BD-CFEDD763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9C956-03BC-201C-5865-88EFAC2FAA47}"/>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AML</a:t>
            </a:r>
          </a:p>
        </p:txBody>
      </p:sp>
    </p:spTree>
    <p:extLst>
      <p:ext uri="{BB962C8B-B14F-4D97-AF65-F5344CB8AC3E}">
        <p14:creationId xmlns:p14="http://schemas.microsoft.com/office/powerpoint/2010/main" val="243252280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6373467" cy="6172198"/>
          </a:xfrm>
        </p:spPr>
        <p:txBody>
          <a:bodyPr/>
          <a:lstStyle/>
          <a:p>
            <a:r>
              <a:rPr lang="en-US"/>
              <a:t>At Tamweely.Infrastructure.Data / migrations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91985</TotalTime>
  <Words>11870</Words>
  <Application>Microsoft Office PowerPoint</Application>
  <PresentationFormat>Widescreen</PresentationFormat>
  <Paragraphs>1702</Paragraphs>
  <Slides>221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221</vt:i4>
      </vt:variant>
    </vt:vector>
  </HeadingPairs>
  <TitlesOfParts>
    <vt:vector size="225" baseType="lpstr">
      <vt:lpstr>Arial</vt:lpstr>
      <vt:lpstr>Calisto MT</vt:lpstr>
      <vt:lpstr>Wingdings 2</vt:lpstr>
      <vt:lpstr>Slate</vt:lpstr>
      <vt:lpstr>Micro Business </vt:lpstr>
      <vt:lpstr>MICRO, Core, Master</vt:lpstr>
      <vt:lpstr>Micro, Master, Core Flow Steps</vt:lpstr>
      <vt:lpstr>Start 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[cont.5]</vt:lpstr>
      <vt:lpstr>When Saving Request for the first time VIA LO [cont.6]</vt:lpstr>
      <vt:lpstr>When Saving Request for the first time VIA LO [cont.7]</vt:lpstr>
      <vt:lpstr>When Saving Request for the first time VIA LO [cont.8]</vt:lpstr>
      <vt:lpstr>When Saving Request for the first time VIA LO [cont.9]</vt:lpstr>
      <vt:lpstr>When Saving Request for the first time VIA LO [cont.10]</vt:lpstr>
      <vt:lpstr>When Saving Request for the first time VIA LO [cont.10]</vt:lpstr>
      <vt:lpstr>The uploaded files in this stage</vt:lpstr>
      <vt:lpstr>When Saving Request for the first time VIA LO [cont.9]</vt:lpstr>
      <vt:lpstr>When Saving Request for the first time VIA LO [cont.9]</vt:lpstr>
      <vt:lpstr>After LO حفظ وإرسال</vt:lpstr>
      <vt:lpstr>End Funding Request (R111)</vt:lpstr>
      <vt:lpstr>Start Initial Review مراجعة أولية (CO1010)</vt:lpstr>
      <vt:lpstr>When CO Opens Funding Request</vt:lpstr>
      <vt:lpstr>When CO click on tab مراجعة المسئول الأول</vt:lpstr>
      <vt:lpstr>When CO click on tab المستندات</vt:lpstr>
      <vt:lpstr>When CO click on أسباب الرفض </vt:lpstr>
      <vt:lpstr>When CO at tab مراجعة المسئول الأول </vt:lpstr>
      <vt:lpstr>When CO at tab مراجعة المسئول الأول  [ cont.]</vt:lpstr>
      <vt:lpstr>When CO at tab مراجعة المسئول الأول  [ cont.2]</vt:lpstr>
      <vt:lpstr>The Rejected requests at LO </vt:lpstr>
      <vt:lpstr>After CO Accept the request</vt:lpstr>
      <vt:lpstr>End Initial Review مراجعة أولية (CO1010)</vt:lpstr>
      <vt:lpstr>Start Field visit: زيارة ميدانية, CO1311, CO</vt:lpstr>
      <vt:lpstr>الزيارة الميدانية للعميل</vt:lpstr>
      <vt:lpstr>الزيارة الميدانية للعميل</vt:lpstr>
      <vt:lpstr>الزيارة الميدانية للعميل</vt:lpstr>
      <vt:lpstr>الزيارة الميدانية للعميل</vt:lpstr>
      <vt:lpstr>الزيارة الميدانية للعميل</vt:lpstr>
      <vt:lpstr>حفظ جميع بيانات الزيارة الميدانية للعميل</vt:lpstr>
      <vt:lpstr>TDWF.Flow_FieldVisits_main</vt:lpstr>
      <vt:lpstr>TDWF.Flow_FieldVisits_Client</vt:lpstr>
      <vt:lpstr>TDWF.Flow_FieldVisits_FieldInquiry</vt:lpstr>
      <vt:lpstr>الزيارة الميدانية للضامن</vt:lpstr>
      <vt:lpstr>الزيارة الميدانية للضامن</vt:lpstr>
      <vt:lpstr>الزيارة الميدانية للضامن</vt:lpstr>
      <vt:lpstr>حفظ جميع بيانات الزيارة الميدانية للضامن</vt:lpstr>
      <vt:lpstr>حفظ جميع بيانات الزيارة الميدانية للضامن</vt:lpstr>
      <vt:lpstr>حفظ جميع بيانات الزيارة الميدانية للضامن</vt:lpstr>
      <vt:lpstr>بيانات المنشأة</vt:lpstr>
      <vt:lpstr>بيانات المنشأة</vt:lpstr>
      <vt:lpstr>التحليل المالي</vt:lpstr>
      <vt:lpstr>TDWF.Flow_FieldVisits_FinancialAnalysis [التحليل المالي]</vt:lpstr>
      <vt:lpstr>TDWF.Flow_FieldVisits_StatisticsData</vt:lpstr>
      <vt:lpstr>After CO Accept the request</vt:lpstr>
      <vt:lpstr>End Field visit: زيارة ميدانية, CO1311, CO</vt:lpstr>
      <vt:lpstr>Start Credit Analysis, CA1211, [ تحليل ائتماني ]</vt:lpstr>
      <vt:lpstr>TDWF.Flow_Credit_Analysis</vt:lpstr>
      <vt:lpstr>End Credit Analysis, CA1211, [ تحليل ائتماني ]</vt:lpstr>
      <vt:lpstr>Start Uploading Documents: تحميل المستندات, BM, DU77</vt:lpstr>
      <vt:lpstr>After حفظ المستندات</vt:lpstr>
      <vt:lpstr>After BM Accept the request</vt:lpstr>
      <vt:lpstr>End Uploading Documents: تحميل المستندات, BM, DU77</vt:lpstr>
      <vt:lpstr>TWF. Flow_branch_product</vt:lpstr>
      <vt:lpstr>TWF.Flow_Emp_Product</vt:lpstr>
      <vt:lpstr>TWF.Flow_Contact_Us</vt:lpstr>
      <vt:lpstr>Trans.Trans_GPS_Tracking</vt:lpstr>
      <vt:lpstr>Lookup.Branch</vt:lpstr>
      <vt:lpstr>TWF.Flow_GeneralSettings</vt:lpstr>
      <vt:lpstr>TWF.Flow_Status_Funding_Request</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TDWF.Flow_Request_Deportation [cont. 7]</vt:lpstr>
      <vt:lpstr>TDWF.Flow_Request_Deportation [cont. 8]</vt:lpstr>
      <vt:lpstr>TDWF.Flow_Requests_Log</vt:lpstr>
      <vt:lpstr>TDWF.Flow_Requests_Log (cont.1)</vt:lpstr>
      <vt:lpstr>TDWF.Flow_Requests_Log (cont.2)</vt:lpstr>
      <vt:lpstr>TDWF.Flow_Requests_Log (cont.2)</vt:lpstr>
      <vt:lpstr>start 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vt:lpstr>
      <vt:lpstr>SWF.Flow_Sub_activities</vt:lpstr>
      <vt:lpstr>SWF.Flow_Relationships</vt:lpstr>
      <vt:lpstr>SWF.Flow_Customers_jobs</vt:lpstr>
      <vt:lpstr>SWF.Flow_districts</vt:lpstr>
      <vt:lpstr>SWF.Flow_Sections</vt:lpstr>
      <vt:lpstr>SWF.Flow_Identity_Expiry</vt:lpstr>
      <vt:lpstr>SWF.Flow_Exchange_Destinations</vt:lpstr>
      <vt:lpstr>End SWF setup work flow</vt:lpstr>
      <vt:lpstr>Start Risk</vt:lpstr>
      <vt:lpstr>TWF.Flow_Risk_Branch</vt:lpstr>
      <vt:lpstr>TWF.Flow_Risk_Responsible</vt:lpstr>
      <vt:lpstr>TWF.Flow_identi_risks_admin</vt:lpstr>
      <vt:lpstr>End Risk</vt:lpstr>
      <vt:lpstr>TWT.Flow_Products</vt:lpstr>
      <vt:lpstr>TWT.Flow_Products [cont.]</vt:lpstr>
      <vt:lpstr>TWF.Flow_Exempted_Products</vt:lpstr>
      <vt:lpstr>TWF.Flow_Customers</vt:lpstr>
      <vt:lpstr>TWF.Flow_Enterprises</vt:lpstr>
      <vt:lpstr>Company entity</vt:lpstr>
      <vt:lpstr>Acc_Chart_Account entity</vt:lpstr>
      <vt:lpstr>Start Security</vt:lpstr>
      <vt:lpstr>Security.Sec_APIs</vt:lpstr>
      <vt:lpstr>Security.Sec_Api_Pages</vt:lpstr>
      <vt:lpstr>Security.SEC_Action</vt:lpstr>
      <vt:lpstr>Security.SEC_Group</vt:lpstr>
      <vt:lpstr>Security.SEC_Group_Action</vt:lpstr>
      <vt:lpstr>Security.SEC_User_Action</vt:lpstr>
      <vt:lpstr>Security.SEC_User_gruop</vt:lpstr>
      <vt:lpstr>Security.SEC_Menu</vt:lpstr>
      <vt:lpstr>Security.SEC_User_Role_MenuAction</vt:lpstr>
      <vt:lpstr>Adding New Menu</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MenuRoleForLoginVM</vt:lpstr>
      <vt:lpstr>Get User group</vt:lpstr>
      <vt:lpstr>Start login</vt:lpstr>
      <vt:lpstr>End login</vt:lpstr>
      <vt:lpstr>Start Users page مستخدمي النظام</vt:lpstr>
      <vt:lpstr>PowerPoint Presentation</vt:lpstr>
      <vt:lpstr>End Users page مستخدمي النظام</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 Start Flags </vt:lpstr>
      <vt:lpstr>SWF. Flow_status: [ Table ]</vt:lpstr>
      <vt:lpstr>Request_status</vt:lpstr>
      <vt:lpstr>Action_Flag</vt:lpstr>
      <vt:lpstr>SWF.Flow_User_Status</vt:lpstr>
      <vt:lpstr> END Flags </vt:lpstr>
      <vt:lpstr> Start Business </vt:lpstr>
      <vt:lpstr>PowerPoint Presentation</vt:lpstr>
      <vt:lpstr>كود الصرف</vt:lpstr>
      <vt:lpstr> End Business </vt:lpstr>
      <vt:lpstr>PowerPoint Presentation</vt:lpstr>
      <vt:lpstr> Start Rescheduling </vt:lpstr>
      <vt:lpstr>RSC.ReschedulingStatus</vt:lpstr>
      <vt:lpstr>RSC.RscCalculation</vt:lpstr>
      <vt:lpstr>RSC.RscSetup</vt:lpstr>
      <vt:lpstr>RSC.ReschedulingCustomers</vt:lpstr>
      <vt:lpstr>PowerPoint Presentation</vt:lpstr>
      <vt:lpstr>PowerPoint Presentation</vt:lpstr>
      <vt:lpstr>PowerPoint Presentation</vt:lpstr>
      <vt:lpstr> End Rescheduling </vt:lpstr>
      <vt:lpstr>START AML</vt:lpstr>
      <vt:lpstr>When It used</vt:lpstr>
      <vt:lpstr>TWF.Flow_Sanctionscanner_ByID</vt:lpstr>
      <vt:lpstr>End AML</vt:lpstr>
      <vt:lpstr>View Models</vt:lpstr>
      <vt:lpstr>FlowActionsNameStepFromTo</vt:lpstr>
      <vt:lpstr>FundingData</vt:lpstr>
      <vt:lpstr>FundingDataVM</vt:lpstr>
      <vt:lpstr>ProdVM</vt:lpstr>
      <vt:lpstr>PowerPoint Presentation</vt:lpstr>
      <vt:lpstr>PowerPoint Presentation</vt:lpstr>
      <vt:lpstr>TransactionVM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1757</cp:revision>
  <dcterms:created xsi:type="dcterms:W3CDTF">2026-02-01T18:13:26Z</dcterms:created>
  <dcterms:modified xsi:type="dcterms:W3CDTF">2026-06-04T07:47:16Z</dcterms:modified>
</cp:coreProperties>
</file>