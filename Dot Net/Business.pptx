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392" r:id="rId10"/>
    <p:sldId id="394" r:id="rId11"/>
    <p:sldId id="402" r:id="rId12"/>
    <p:sldId id="404" r:id="rId13"/>
    <p:sldId id="406" r:id="rId14"/>
    <p:sldId id="407" r:id="rId15"/>
    <p:sldId id="408" r:id="rId16"/>
    <p:sldId id="411" r:id="rId17"/>
    <p:sldId id="422" r:id="rId18"/>
    <p:sldId id="423" r:id="rId19"/>
    <p:sldId id="413" r:id="rId20"/>
    <p:sldId id="424" r:id="rId21"/>
    <p:sldId id="409" r:id="rId22"/>
    <p:sldId id="447" r:id="rId23"/>
    <p:sldId id="393" r:id="rId24"/>
    <p:sldId id="396" r:id="rId25"/>
    <p:sldId id="395" r:id="rId26"/>
    <p:sldId id="308" r:id="rId27"/>
    <p:sldId id="278" r:id="rId28"/>
    <p:sldId id="271" r:id="rId29"/>
    <p:sldId id="292" r:id="rId30"/>
    <p:sldId id="279" r:id="rId31"/>
    <p:sldId id="305" r:id="rId32"/>
    <p:sldId id="280" r:id="rId33"/>
    <p:sldId id="318" r:id="rId34"/>
    <p:sldId id="285" r:id="rId35"/>
    <p:sldId id="286" r:id="rId36"/>
    <p:sldId id="287" r:id="rId37"/>
    <p:sldId id="323" r:id="rId38"/>
    <p:sldId id="368" r:id="rId39"/>
    <p:sldId id="313" r:id="rId40"/>
    <p:sldId id="315" r:id="rId41"/>
    <p:sldId id="322" r:id="rId42"/>
    <p:sldId id="326" r:id="rId43"/>
    <p:sldId id="327" r:id="rId44"/>
    <p:sldId id="346" r:id="rId45"/>
    <p:sldId id="367" r:id="rId46"/>
    <p:sldId id="369" r:id="rId47"/>
    <p:sldId id="372" r:id="rId48"/>
    <p:sldId id="316" r:id="rId49"/>
    <p:sldId id="325" r:id="rId50"/>
    <p:sldId id="347" r:id="rId51"/>
    <p:sldId id="373" r:id="rId52"/>
    <p:sldId id="328" r:id="rId53"/>
    <p:sldId id="329" r:id="rId54"/>
    <p:sldId id="334" r:id="rId55"/>
    <p:sldId id="348" r:id="rId56"/>
    <p:sldId id="349" r:id="rId57"/>
    <p:sldId id="351" r:id="rId58"/>
    <p:sldId id="350" r:id="rId59"/>
    <p:sldId id="355" r:id="rId60"/>
    <p:sldId id="352" r:id="rId61"/>
    <p:sldId id="353" r:id="rId62"/>
    <p:sldId id="354" r:id="rId63"/>
    <p:sldId id="370" r:id="rId64"/>
    <p:sldId id="371" r:id="rId65"/>
    <p:sldId id="379" r:id="rId66"/>
    <p:sldId id="390" r:id="rId67"/>
    <p:sldId id="388" r:id="rId68"/>
    <p:sldId id="306" r:id="rId69"/>
    <p:sldId id="358" r:id="rId70"/>
    <p:sldId id="281" r:id="rId71"/>
    <p:sldId id="314" r:id="rId72"/>
    <p:sldId id="294" r:id="rId73"/>
    <p:sldId id="331" r:id="rId74"/>
    <p:sldId id="330" r:id="rId75"/>
    <p:sldId id="324" r:id="rId76"/>
    <p:sldId id="304" r:id="rId77"/>
    <p:sldId id="310" r:id="rId78"/>
    <p:sldId id="311" r:id="rId79"/>
    <p:sldId id="312" r:id="rId80"/>
    <p:sldId id="293" r:id="rId81"/>
    <p:sldId id="296" r:id="rId82"/>
    <p:sldId id="297" r:id="rId83"/>
    <p:sldId id="299" r:id="rId84"/>
    <p:sldId id="298" r:id="rId85"/>
    <p:sldId id="421" r:id="rId86"/>
    <p:sldId id="389" r:id="rId87"/>
    <p:sldId id="415" r:id="rId88"/>
    <p:sldId id="283" r:id="rId89"/>
    <p:sldId id="374" r:id="rId90"/>
    <p:sldId id="359" r:id="rId91"/>
    <p:sldId id="307" r:id="rId92"/>
    <p:sldId id="309" r:id="rId93"/>
    <p:sldId id="288" r:id="rId94"/>
    <p:sldId id="282" r:id="rId95"/>
    <p:sldId id="397" r:id="rId96"/>
    <p:sldId id="399" r:id="rId97"/>
    <p:sldId id="400" r:id="rId98"/>
    <p:sldId id="300" r:id="rId99"/>
    <p:sldId id="301" r:id="rId100"/>
    <p:sldId id="398" r:id="rId101"/>
    <p:sldId id="319" r:id="rId102"/>
    <p:sldId id="403" r:id="rId103"/>
    <p:sldId id="338" r:id="rId104"/>
    <p:sldId id="339" r:id="rId105"/>
    <p:sldId id="356" r:id="rId106"/>
    <p:sldId id="357" r:id="rId107"/>
    <p:sldId id="384" r:id="rId108"/>
    <p:sldId id="343" r:id="rId109"/>
    <p:sldId id="382" r:id="rId110"/>
    <p:sldId id="377" r:id="rId111"/>
    <p:sldId id="378" r:id="rId112"/>
    <p:sldId id="386" r:id="rId113"/>
    <p:sldId id="385" r:id="rId114"/>
    <p:sldId id="426" r:id="rId115"/>
    <p:sldId id="448" r:id="rId116"/>
    <p:sldId id="432" r:id="rId117"/>
    <p:sldId id="303" r:id="rId118"/>
    <p:sldId id="428" r:id="rId119"/>
    <p:sldId id="433" r:id="rId120"/>
    <p:sldId id="434" r:id="rId121"/>
    <p:sldId id="435" r:id="rId122"/>
    <p:sldId id="436" r:id="rId123"/>
    <p:sldId id="439" r:id="rId124"/>
    <p:sldId id="441" r:id="rId125"/>
    <p:sldId id="443" r:id="rId126"/>
    <p:sldId id="444" r:id="rId127"/>
    <p:sldId id="440" r:id="rId128"/>
    <p:sldId id="437" r:id="rId129"/>
    <p:sldId id="445" r:id="rId130"/>
    <p:sldId id="429" r:id="rId131"/>
    <p:sldId id="438" r:id="rId132"/>
    <p:sldId id="427" r:id="rId133"/>
    <p:sldId id="450" r:id="rId134"/>
    <p:sldId id="453" r:id="rId135"/>
    <p:sldId id="452" r:id="rId136"/>
    <p:sldId id="454" r:id="rId137"/>
    <p:sldId id="455" r:id="rId138"/>
    <p:sldId id="451" r:id="rId139"/>
    <p:sldId id="449" r:id="rId140"/>
    <p:sldId id="276" r:id="rId141"/>
    <p:sldId id="289" r:id="rId142"/>
    <p:sldId id="290" r:id="rId143"/>
    <p:sldId id="376" r:id="rId144"/>
    <p:sldId id="361" r:id="rId145"/>
    <p:sldId id="362" r:id="rId146"/>
    <p:sldId id="321" r:id="rId147"/>
    <p:sldId id="360" r:id="rId148"/>
    <p:sldId id="366" r:id="rId149"/>
    <p:sldId id="405" r:id="rId150"/>
    <p:sldId id="332" r:id="rId151"/>
    <p:sldId id="365" r:id="rId152"/>
    <p:sldId id="364" r:id="rId153"/>
    <p:sldId id="383" r:id="rId154"/>
    <p:sldId id="418" r:id="rId155"/>
    <p:sldId id="419" r:id="rId156"/>
    <p:sldId id="420" r:id="rId157"/>
    <p:sldId id="446" r:id="rId158"/>
    <p:sldId id="417" r:id="rId159"/>
    <p:sldId id="320" r:id="rId160"/>
    <p:sldId id="335" r:id="rId161"/>
    <p:sldId id="375" r:id="rId162"/>
    <p:sldId id="340" r:id="rId163"/>
    <p:sldId id="345" r:id="rId164"/>
    <p:sldId id="336" r:id="rId165"/>
    <p:sldId id="341" r:id="rId166"/>
    <p:sldId id="337" r:id="rId167"/>
    <p:sldId id="295" r:id="rId168"/>
    <p:sldId id="302" r:id="rId169"/>
    <p:sldId id="344" r:id="rId170"/>
    <p:sldId id="363" r:id="rId171"/>
    <p:sldId id="431" r:id="rId172"/>
    <p:sldId id="430" r:id="rId17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tableStyles" Target="tableStyles.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viewProps" Target="view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4/15/2026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791201" y="796415"/>
            <a:ext cx="6304721" cy="4070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814463" cy="6047509"/>
          </a:xfrm>
        </p:spPr>
        <p:txBody>
          <a:bodyPr/>
          <a:lstStyle/>
          <a:p>
            <a:r>
              <a:rPr lang="ar-EG"/>
              <a:t>بجيب كل البيانات الخاصة بالمنتج</a:t>
            </a:r>
            <a:endParaRPr lang="en-US"/>
          </a:p>
          <a:p>
            <a:r>
              <a:rPr lang="en-US"/>
              <a:t>Flow_Funding_requestController/</a:t>
            </a:r>
            <a:r>
              <a:rPr lang="en-US" sz="1800" b="1">
                <a:solidFill>
                  <a:srgbClr val="00B0F0"/>
                </a:solidFill>
              </a:rPr>
              <a:t>Flow_Funding_requestController</a:t>
            </a:r>
            <a:r>
              <a:rPr lang="en-US"/>
              <a:t>/{BranchId}/{UserId}</a:t>
            </a:r>
          </a:p>
          <a:p>
            <a:pPr lvl="1"/>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a:t>( </a:t>
            </a:r>
            <a:r>
              <a:rPr lang="en-US" b="1"/>
              <a:t>branchId, userId</a:t>
            </a:r>
            <a:r>
              <a:rPr lang="en-US"/>
              <a:t> )</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0" y="2109480"/>
            <a:ext cx="6264183" cy="3543607"/>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Transactions/Flow_Contact_UsController/GetOne/</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0" y="589934"/>
            <a:ext cx="12064181" cy="61844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r>
              <a:rPr lang="en-US" sz="1800" b="1"/>
              <a:t>StepFrom : </a:t>
            </a:r>
            <a:r>
              <a:rPr lang="en-US" sz="1800" b="1">
                <a:solidFill>
                  <a:srgbClr val="FFC000"/>
                </a:solidFill>
              </a:rPr>
              <a:t>R111</a:t>
            </a:r>
          </a:p>
          <a:p>
            <a:r>
              <a:rPr lang="en-US" sz="1800" b="1"/>
              <a:t>IsNew : true</a:t>
            </a:r>
          </a:p>
          <a:p>
            <a:r>
              <a:rPr lang="en-US" sz="1800" b="1"/>
              <a:t>status : 1 == </a:t>
            </a:r>
            <a:r>
              <a:rPr lang="en-US" sz="1800" b="1">
                <a:solidFill>
                  <a:srgbClr val="FFFF00"/>
                </a:solidFill>
              </a:rPr>
              <a:t>FixedStatus.Status_1_Is_Save              -----     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a:p>
            <a:r>
              <a:rPr lang="en-US" sz="1800"/>
              <a:t>Flag : 0 </a:t>
            </a:r>
          </a:p>
          <a:p>
            <a:r>
              <a:rPr lang="en-US" sz="1800"/>
              <a:t>Trans_GPS_Tracking = null</a:t>
            </a: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127819" y="1573160"/>
            <a:ext cx="4972083" cy="2572120"/>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282699" y="5687306"/>
            <a:ext cx="7781482"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5383814" y="1420987"/>
            <a:ext cx="5714829" cy="3283094"/>
          </a:xfrm>
          <a:prstGeom prst="rect">
            <a:avLst/>
          </a:prstGeom>
        </p:spPr>
      </p:pic>
    </p:spTree>
    <p:extLst>
      <p:ext uri="{BB962C8B-B14F-4D97-AF65-F5344CB8AC3E}">
        <p14:creationId xmlns:p14="http://schemas.microsoft.com/office/powerpoint/2010/main" val="2031890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92000" cy="5989955"/>
          </a:xfrm>
        </p:spPr>
        <p:txBody>
          <a:bodyPr>
            <a:normAutofit/>
          </a:bodyPr>
          <a:lstStyle/>
          <a:p>
            <a:r>
              <a:rPr lang="en-US" b="1" err="1"/>
              <a:t>Flow_Funding_</a:t>
            </a:r>
            <a:r>
              <a:rPr lang="en-US" b="1"/>
              <a:t>Request fields that will get a value</a:t>
            </a:r>
          </a:p>
          <a:p>
            <a:r>
              <a:rPr lang="en-US" sz="1800" b="1">
                <a:solidFill>
                  <a:srgbClr val="FFFF00"/>
                </a:solidFill>
              </a:rPr>
              <a:t>Open</a:t>
            </a:r>
            <a:r>
              <a:rPr lang="en-US" sz="1800" b="1" err="1">
                <a:solidFill>
                  <a:srgbClr val="FFFF00"/>
                </a:solidFill>
              </a:rPr>
              <a:t>_date</a:t>
            </a:r>
            <a:r>
              <a:rPr lang="en-US" sz="1800"/>
              <a:t> = </a:t>
            </a:r>
            <a:r>
              <a:rPr lang="en-US" sz="1600" b="1"/>
              <a:t>_</a:t>
            </a:r>
            <a:r>
              <a:rPr lang="en-US" sz="1600" b="1" err="1"/>
              <a:t>Trans_BusDate.Queryable</a:t>
            </a:r>
            <a:r>
              <a:rPr lang="en-US" sz="1600" b="1"/>
              <a:t>().</a:t>
            </a:r>
            <a:r>
              <a:rPr lang="en-US" sz="1600" b="1" err="1"/>
              <a:t>FirstOrDefault</a:t>
            </a:r>
            <a:r>
              <a:rPr lang="en-US" sz="1600" b="1"/>
              <a:t>(ex =&gt; </a:t>
            </a:r>
            <a:r>
              <a:rPr lang="en-US" sz="1600" b="1" err="1"/>
              <a:t>ex.BranchId</a:t>
            </a:r>
            <a:r>
              <a:rPr lang="en-US" sz="1600" b="1"/>
              <a:t> == </a:t>
            </a:r>
            <a:r>
              <a:rPr lang="en-US" sz="1600" b="1" err="1"/>
              <a:t>Funding_request.BranchId</a:t>
            </a:r>
            <a:r>
              <a:rPr lang="en-US" sz="1600" b="1"/>
              <a:t>).</a:t>
            </a:r>
            <a:r>
              <a:rPr lang="en-US" sz="1600" b="1" err="1">
                <a:solidFill>
                  <a:srgbClr val="FFFF00"/>
                </a:solidFill>
              </a:rPr>
              <a:t>BusDate</a:t>
            </a:r>
            <a:r>
              <a:rPr lang="en-US" sz="16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a:t> = </a:t>
            </a:r>
            <a:r>
              <a:rPr lang="en-US" sz="1800" err="1"/>
              <a:t>IsNew</a:t>
            </a:r>
            <a:r>
              <a:rPr lang="en-US" sz="1800"/>
              <a:t> == true ? </a:t>
            </a:r>
            <a:r>
              <a:rPr lang="en-US" sz="1800" err="1"/>
              <a:t>Product.</a:t>
            </a:r>
            <a:r>
              <a:rPr lang="en-US" sz="1800" b="1" err="1">
                <a:solidFill>
                  <a:srgbClr val="FFFF00"/>
                </a:solidFill>
              </a:rPr>
              <a:t>Fixed_return_new</a:t>
            </a:r>
            <a:r>
              <a:rPr lang="en-US" sz="1800" err="1"/>
              <a:t>:Product.</a:t>
            </a:r>
            <a:r>
              <a:rPr lang="en-US" sz="1800" b="1" err="1">
                <a:solidFill>
                  <a:srgbClr val="FFFF00"/>
                </a:solidFill>
              </a:rPr>
              <a:t>Fixed_return_renew</a:t>
            </a:r>
            <a:r>
              <a:rPr lang="en-US" sz="1800"/>
              <a:t>;</a:t>
            </a:r>
          </a:p>
          <a:p>
            <a:r>
              <a:rPr lang="en-US" sz="1600" b="1">
                <a:solidFill>
                  <a:srgbClr val="FFFF00"/>
                </a:solidFill>
              </a:rPr>
              <a:t>DEBTNO</a:t>
            </a:r>
            <a:r>
              <a:rPr lang="en-US" sz="1600"/>
              <a:t>=</a:t>
            </a:r>
            <a:r>
              <a:rPr lang="en-US" sz="1600" err="1"/>
              <a:t>Flow_Funding_request.where</a:t>
            </a:r>
            <a:r>
              <a:rPr lang="en-US" sz="1600"/>
              <a:t>(c =&gt; </a:t>
            </a:r>
            <a:r>
              <a:rPr lang="en-US" sz="1600" err="1"/>
              <a:t>c.Customer_ID</a:t>
            </a:r>
            <a:r>
              <a:rPr lang="en-US" sz="1600"/>
              <a:t> == </a:t>
            </a:r>
            <a:r>
              <a:rPr lang="en-US" sz="1600" err="1"/>
              <a:t>entity.Funding_request.Customer_ID</a:t>
            </a:r>
            <a:r>
              <a:rPr lang="en-US" sz="1600"/>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a:t>
            </a:r>
          </a:p>
          <a:p>
            <a:r>
              <a:rPr lang="en-US" sz="1500" b="1"/>
              <a:t>EXPDATE: NULL</a:t>
            </a:r>
          </a:p>
          <a:p>
            <a:r>
              <a:rPr lang="en-US" sz="1500" b="1"/>
              <a:t>Com_RATE: NULL</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1600"/>
              <a:t>Date_creation_request</a:t>
            </a:r>
          </a:p>
          <a:p>
            <a:r>
              <a:rPr lang="en-US" sz="1600"/>
              <a:t>Customer_ID_C</a:t>
            </a:r>
          </a:p>
          <a:p>
            <a:r>
              <a:rPr lang="en-US" sz="1600"/>
              <a:t>Cust_QID</a:t>
            </a:r>
          </a:p>
          <a:p>
            <a:r>
              <a:rPr lang="en-US" sz="1600"/>
              <a:t>Cust_Full_name</a:t>
            </a:r>
          </a:p>
          <a:p>
            <a:r>
              <a:rPr lang="en-US" sz="1600"/>
              <a:t>Enterprise_ID</a:t>
            </a:r>
          </a:p>
          <a:p>
            <a:r>
              <a:rPr lang="en-US" sz="1600"/>
              <a:t>Product_id</a:t>
            </a:r>
          </a:p>
          <a:p>
            <a:r>
              <a:rPr lang="en-US" sz="1600"/>
              <a:t>Product_name</a:t>
            </a:r>
          </a:p>
          <a:p>
            <a:r>
              <a:rPr lang="en-US" sz="1600"/>
              <a:t>Code_action: null</a:t>
            </a:r>
          </a:p>
          <a:p>
            <a:r>
              <a:rPr lang="en-US" sz="1600"/>
              <a:t>Date_Assigned: null</a:t>
            </a:r>
          </a:p>
          <a:p>
            <a:endParaRPr lang="en-US" sz="1600"/>
          </a:p>
        </p:txBody>
      </p:sp>
    </p:spTree>
    <p:extLst>
      <p:ext uri="{BB962C8B-B14F-4D97-AF65-F5344CB8AC3E}">
        <p14:creationId xmlns:p14="http://schemas.microsoft.com/office/powerpoint/2010/main" val="1731501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[cont.5]</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1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477822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93518"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48651"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18C14-53A9-8B80-D9C3-8225DBC82697}"/>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58D67C24-9DBD-9031-91FB-1B207FBFE0E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63244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762000"/>
          </a:xfrm>
        </p:spPr>
        <p:txBody>
          <a:bodyPr/>
          <a:lstStyle/>
          <a:p>
            <a:r>
              <a:rPr lang="en-US" b="1">
                <a:solidFill>
                  <a:srgbClr val="FFFF00"/>
                </a:solidFill>
              </a:rPr>
              <a:t>Security</a:t>
            </a:r>
            <a:r>
              <a:rPr lang="en-US"/>
              <a:t>.</a:t>
            </a:r>
            <a:r>
              <a:rPr lang="en-US"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441921" y="1881733"/>
            <a:ext cx="4679227" cy="2846128"/>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endParaRPr lang="en-US"/>
          </a:p>
          <a:p>
            <a:r>
              <a:rPr lang="en-US"/>
              <a:t>Id_Down: </a:t>
            </a:r>
            <a:r>
              <a:rPr lang="en-US" b="1">
                <a:solidFill>
                  <a:srgbClr val="FFFF00"/>
                </a:solidFill>
              </a:rPr>
              <a:t>decimal</a:t>
            </a:r>
            <a:r>
              <a:rPr lang="en-US"/>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a:t>int Iscore_code [identity, </a:t>
            </a:r>
            <a:r>
              <a:rPr lang="en-US" sz="1800" b="1">
                <a:solidFill>
                  <a:srgbClr val="FFFF00"/>
                </a:solidFill>
              </a:rPr>
              <a:t>PK</a:t>
            </a:r>
            <a:r>
              <a:rPr lang="en-US" sz="1800"/>
              <a:t> ]</a:t>
            </a:r>
          </a:p>
          <a:p>
            <a:r>
              <a:rPr lang="en-US" sz="1800"/>
              <a:t>int product_Id [ </a:t>
            </a:r>
            <a:r>
              <a:rPr lang="en-US" sz="1800" b="1">
                <a:solidFill>
                  <a:srgbClr val="FFFF00"/>
                </a:solidFill>
              </a:rPr>
              <a:t>PK</a:t>
            </a:r>
            <a:r>
              <a:rPr lang="en-US" sz="1800"/>
              <a:t> ] </a:t>
            </a:r>
          </a:p>
          <a:p>
            <a:r>
              <a:rPr lang="en-US" sz="1800"/>
              <a:t>int RegionId  [ FK from Region ]</a:t>
            </a:r>
          </a:p>
          <a:p>
            <a:r>
              <a:rPr lang="en-US" sz="1800"/>
              <a:t>int days_query_validity</a:t>
            </a:r>
          </a:p>
          <a:p>
            <a:r>
              <a:rPr lang="en-US" sz="1800"/>
              <a:t>int No_loans_outstanding_cust</a:t>
            </a:r>
          </a:p>
          <a:p>
            <a:r>
              <a:rPr lang="en-US" sz="1800"/>
              <a:t>int Days_worked_customer </a:t>
            </a:r>
          </a:p>
          <a:p>
            <a:r>
              <a:rPr lang="en-US" sz="1800"/>
              <a:t>int Query_result</a:t>
            </a:r>
          </a:p>
          <a:p>
            <a:r>
              <a:rPr lang="en-US" sz="1800"/>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2470022431"/>
              </p:ext>
            </p:extLst>
          </p:nvPr>
        </p:nvGraphicFramePr>
        <p:xfrm>
          <a:off x="62822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6017341"/>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click on any tab: </a:t>
            </a:r>
            <a:r>
              <a:rPr lang="ar-EG" b="1"/>
              <a:t> </a:t>
            </a:r>
            <a:r>
              <a:rPr lang="ar-EG" sz="1650" b="1">
                <a:solidFill>
                  <a:schemeClr val="accent3">
                    <a:lumMod val="60000"/>
                    <a:lumOff val="40000"/>
                  </a:schemeClr>
                </a:solidFill>
              </a:rPr>
              <a:t>مراجعة المسئول الاول أثناء المراجعة الأولية </a:t>
            </a:r>
            <a:r>
              <a:rPr lang="ar-EG" sz="1650" b="1"/>
              <a:t>أو </a:t>
            </a:r>
            <a:r>
              <a:rPr lang="ar-EG" sz="1650" b="1">
                <a:solidFill>
                  <a:srgbClr val="FFC000"/>
                </a:solidFill>
              </a:rPr>
              <a:t>الزيارة الميدانية اثناء الزيارة الميدانية</a:t>
            </a:r>
            <a:r>
              <a:rPr lang="ar-EG" sz="1650" b="1"/>
              <a:t> أو </a:t>
            </a:r>
            <a:r>
              <a:rPr lang="ar-EG" sz="1650" b="1">
                <a:solidFill>
                  <a:srgbClr val="92D050"/>
                </a:solidFill>
              </a:rPr>
              <a:t>التحليل الائتماني او تحميل المستندات</a:t>
            </a:r>
            <a:r>
              <a:rPr lang="en-US" sz="1650"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a:xfrm>
            <a:off x="919119" y="-1"/>
            <a:ext cx="10353762" cy="717755"/>
          </a:xfrm>
        </p:spPr>
        <p:txBody>
          <a:bodyPr>
            <a:normAutofit/>
          </a:bodyPr>
          <a:lstStyle/>
          <a:p>
            <a:r>
              <a:rPr lang="en-US" b="1">
                <a:solidFill>
                  <a:srgbClr val="FF0000"/>
                </a:solidFill>
              </a:rPr>
              <a:t>Places</a:t>
            </a:r>
            <a:endParaRPr lang="en-US"/>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a:xfrm>
            <a:off x="913795" y="717755"/>
            <a:ext cx="10353762" cy="5073446"/>
          </a:xfrm>
        </p:spPr>
        <p:txBody>
          <a:bodyPr/>
          <a:lstStyle/>
          <a:p>
            <a:r>
              <a:rPr lang="en-US"/>
              <a:t>When click on </a:t>
            </a:r>
            <a:r>
              <a:rPr lang="ar-EG"/>
              <a:t> حفظ المستندات</a:t>
            </a:r>
            <a:r>
              <a:rPr lang="en-US"/>
              <a:t>At Documents Uploading stage</a:t>
            </a:r>
          </a:p>
          <a:p>
            <a:pPr lvl="1"/>
            <a:r>
              <a:rPr lang="en-US"/>
              <a:t>FlowChart/Transactions/</a:t>
            </a:r>
            <a:r>
              <a:rPr lang="en-US" b="1">
                <a:solidFill>
                  <a:srgbClr val="FFFF00"/>
                </a:solidFill>
              </a:rPr>
              <a:t>Flow_Funding_requestController</a:t>
            </a:r>
            <a:r>
              <a:rPr lang="en-US"/>
              <a:t>/</a:t>
            </a:r>
            <a:r>
              <a:rPr lang="en-US" b="1">
                <a:solidFill>
                  <a:srgbClr val="00B0F0"/>
                </a:solidFill>
              </a:rPr>
              <a:t>UploadBranchManagerDocs</a:t>
            </a:r>
          </a:p>
          <a:p>
            <a:pPr lvl="1"/>
            <a:r>
              <a:rPr lang="en-US" b="1">
                <a:solidFill>
                  <a:srgbClr val="FFFF00"/>
                </a:solidFill>
              </a:rPr>
              <a:t>Flow_Funding_requestService</a:t>
            </a:r>
            <a:r>
              <a:rPr lang="en-US"/>
              <a:t>.</a:t>
            </a:r>
            <a:r>
              <a:rPr lang="en-US" b="1">
                <a:solidFill>
                  <a:srgbClr val="00B0F0"/>
                </a:solidFill>
              </a:rPr>
              <a:t>UploadBranchManagerDocs</a:t>
            </a:r>
            <a:r>
              <a:rPr lang="en-US"/>
              <a:t>(</a:t>
            </a:r>
            <a:r>
              <a:rPr lang="en-US" b="1">
                <a:solidFill>
                  <a:srgbClr val="FFC000"/>
                </a:solidFill>
              </a:rPr>
              <a:t>Flow_Funding_request</a:t>
            </a:r>
            <a:r>
              <a:rPr lang="en-US"/>
              <a:t>)</a:t>
            </a:r>
          </a:p>
          <a:p>
            <a:pPr marL="450000" lvl="1" indent="0">
              <a:buNone/>
            </a:pPr>
            <a:endParaRPr lang="en-US"/>
          </a:p>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a:t>رفض_عميل</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rgbClr val="FFC000"/>
                </a:solidFill>
              </a:rPr>
              <a:t>تم الصرف</a:t>
            </a:r>
            <a:endParaRPr lang="en-US" b="1">
              <a:solidFill>
                <a:srgbClr val="FFC000"/>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2E1F2-110E-60AD-D367-0D53F2BE0454}"/>
              </a:ext>
            </a:extLst>
          </p:cNvPr>
          <p:cNvSpPr>
            <a:spLocks noGrp="1"/>
          </p:cNvSpPr>
          <p:nvPr>
            <p:ph type="title"/>
          </p:nvPr>
        </p:nvSpPr>
        <p:spPr>
          <a:xfrm>
            <a:off x="913795" y="609599"/>
            <a:ext cx="10353762" cy="3933825"/>
          </a:xfrm>
        </p:spPr>
        <p:txBody>
          <a:bodyPr>
            <a:normAutofit/>
          </a:bodyPr>
          <a:lstStyle/>
          <a:p>
            <a:r>
              <a:rPr lang="en-US" sz="6000" b="1">
                <a:solidFill>
                  <a:srgbClr val="FF0000"/>
                </a:solidFill>
              </a:rPr>
              <a:t>Front-End</a:t>
            </a:r>
          </a:p>
        </p:txBody>
      </p:sp>
    </p:spTree>
    <p:extLst>
      <p:ext uri="{BB962C8B-B14F-4D97-AF65-F5344CB8AC3E}">
        <p14:creationId xmlns:p14="http://schemas.microsoft.com/office/powerpoint/2010/main" val="242053389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A0634-30E1-1C4D-27F1-1FC829995F07}"/>
              </a:ext>
            </a:extLst>
          </p:cNvPr>
          <p:cNvSpPr>
            <a:spLocks noGrp="1"/>
          </p:cNvSpPr>
          <p:nvPr>
            <p:ph type="title"/>
          </p:nvPr>
        </p:nvSpPr>
        <p:spPr/>
        <p:txBody>
          <a:bodyPr/>
          <a:lstStyle/>
          <a:p>
            <a:r>
              <a:rPr lang="en-US"/>
              <a:t>FrontEnd</a:t>
            </a:r>
          </a:p>
        </p:txBody>
      </p:sp>
      <p:sp>
        <p:nvSpPr>
          <p:cNvPr id="3" name="Content Placeholder 2">
            <a:extLst>
              <a:ext uri="{FF2B5EF4-FFF2-40B4-BE49-F238E27FC236}">
                <a16:creationId xmlns:a16="http://schemas.microsoft.com/office/drawing/2014/main" id="{A2FBEDC7-38C9-5F8E-13A7-1C6E12C5CA0F}"/>
              </a:ext>
            </a:extLst>
          </p:cNvPr>
          <p:cNvSpPr>
            <a:spLocks noGrp="1"/>
          </p:cNvSpPr>
          <p:nvPr>
            <p:ph idx="1"/>
          </p:nvPr>
        </p:nvSpPr>
        <p:spPr>
          <a:xfrm>
            <a:off x="238125" y="1732449"/>
            <a:ext cx="11715750" cy="4058751"/>
          </a:xfrm>
        </p:spPr>
        <p:txBody>
          <a:bodyPr/>
          <a:lstStyle/>
          <a:p>
            <a:r>
              <a:rPr lang="en-US">
                <a:effectLst/>
              </a:rPr>
              <a:t>currentJob = JSON.parse(BaseComponent.getData('currentJob’));</a:t>
            </a:r>
          </a:p>
          <a:p>
            <a:r>
              <a:rPr lang="en-US">
                <a:effectLst/>
              </a:rPr>
              <a:t>  currentJobCode = JSON.parse(BaseComponent.getData('UserJobCode'));</a:t>
            </a:r>
          </a:p>
          <a:p>
            <a:endParaRPr lang="en-US">
              <a:effectLst/>
            </a:endParaRPr>
          </a:p>
          <a:p>
            <a:endParaRPr lang="en-US"/>
          </a:p>
        </p:txBody>
      </p:sp>
    </p:spTree>
    <p:extLst>
      <p:ext uri="{BB962C8B-B14F-4D97-AF65-F5344CB8AC3E}">
        <p14:creationId xmlns:p14="http://schemas.microsoft.com/office/powerpoint/2010/main" val="37385503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58946</TotalTime>
  <Words>10697</Words>
  <Application>Microsoft Office PowerPoint</Application>
  <PresentationFormat>Widescreen</PresentationFormat>
  <Paragraphs>1472</Paragraphs>
  <Slides>172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172</vt:i4>
      </vt:variant>
    </vt:vector>
  </HeadingPairs>
  <TitlesOfParts>
    <vt:vector size="176" baseType="lpstr">
      <vt:lpstr>Arial</vt:lpstr>
      <vt:lpstr>Calisto MT</vt:lpstr>
      <vt:lpstr>Wingdings 2</vt:lpstr>
      <vt:lpstr>Slate</vt:lpstr>
      <vt:lpstr>Micro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[cont.4]</vt:lpstr>
      <vt:lpstr>When Saving Request for the first time VIA LO [cont.5]</vt:lpstr>
      <vt:lpstr>PowerPoint Presentation</vt:lpstr>
      <vt:lpstr>End Funding Request (R111)</vt:lpstr>
      <vt:lpstr>TWF. Flow_branch_product</vt:lpstr>
      <vt:lpstr>TWF.Flow_Emp_Product</vt:lpstr>
      <vt:lpstr>TWF.Flow_Contact_Us</vt:lpstr>
      <vt:lpstr>Trans.Trans_GPS_Tracking</vt:lpstr>
      <vt:lpstr>Lookup.Branch</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Documents Uploading DU77</vt:lpstr>
      <vt:lpstr>End Documents Uploading DU77</vt:lpstr>
      <vt:lpstr>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TWF.Flow_Transfer_Iscore</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Security.SEC_Action</vt:lpstr>
      <vt:lpstr>Security.Sec_APIs</vt:lpstr>
      <vt:lpstr>Security.SEC_Group</vt:lpstr>
      <vt:lpstr>Security.SEC_Menu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Places</vt:lpstr>
      <vt:lpstr>Places</vt:lpstr>
      <vt:lpstr>Places</vt:lpstr>
      <vt:lpstr> Start Flags </vt:lpstr>
      <vt:lpstr>SWF. Flow_status: [ Table ]</vt:lpstr>
      <vt:lpstr>Request_status</vt:lpstr>
      <vt:lpstr>Action_Flag</vt:lpstr>
      <vt:lpstr>SWF.Flow_User_Status</vt:lpstr>
      <vt:lpstr> END Flags </vt:lpstr>
      <vt:lpstr>Micro Login Sequence</vt:lpstr>
      <vt:lpstr>View Models</vt:lpstr>
      <vt:lpstr>FlowActionsNameStepFromTo</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lpstr>Front-End</vt:lpstr>
      <vt:lpstr>FrontEnd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1413</cp:revision>
  <dcterms:created xsi:type="dcterms:W3CDTF">2026-02-01T18:13:26Z</dcterms:created>
  <dcterms:modified xsi:type="dcterms:W3CDTF">2026-04-16T13:22:52Z</dcterms:modified>
</cp:coreProperties>
</file>