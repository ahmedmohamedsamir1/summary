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6" d="100"/>
          <a:sy n="76" d="100"/>
        </p:scale>
        <p:origin x="840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4FA5D-EF1D-489D-8D8F-1FF7B7B6D702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8E705E-6DF9-4328-B377-5AB614CB69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39388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4FA5D-EF1D-489D-8D8F-1FF7B7B6D702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8E705E-6DF9-4328-B377-5AB614CB69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4521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4FA5D-EF1D-489D-8D8F-1FF7B7B6D702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8E705E-6DF9-4328-B377-5AB614CB69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96308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4FA5D-EF1D-489D-8D8F-1FF7B7B6D702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8E705E-6DF9-4328-B377-5AB614CB69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9481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4FA5D-EF1D-489D-8D8F-1FF7B7B6D702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8E705E-6DF9-4328-B377-5AB614CB69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81795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4FA5D-EF1D-489D-8D8F-1FF7B7B6D702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8E705E-6DF9-4328-B377-5AB614CB69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61151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4FA5D-EF1D-489D-8D8F-1FF7B7B6D702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8E705E-6DF9-4328-B377-5AB614CB69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91343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4FA5D-EF1D-489D-8D8F-1FF7B7B6D702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8E705E-6DF9-4328-B377-5AB614CB69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04541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4FA5D-EF1D-489D-8D8F-1FF7B7B6D702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8E705E-6DF9-4328-B377-5AB614CB69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20413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4FA5D-EF1D-489D-8D8F-1FF7B7B6D702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8E705E-6DF9-4328-B377-5AB614CB69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5924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4FA5D-EF1D-489D-8D8F-1FF7B7B6D702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8E705E-6DF9-4328-B377-5AB614CB69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65234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4FA5D-EF1D-489D-8D8F-1FF7B7B6D702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8E705E-6DF9-4328-B377-5AB614CB69E7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13801709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4FA5D-EF1D-489D-8D8F-1FF7B7B6D702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8E705E-6DF9-4328-B377-5AB614CB69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771394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4FA5D-EF1D-489D-8D8F-1FF7B7B6D702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8E705E-6DF9-4328-B377-5AB614CB69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966374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4FA5D-EF1D-489D-8D8F-1FF7B7B6D702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8E705E-6DF9-4328-B377-5AB614CB69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074239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4FA5D-EF1D-489D-8D8F-1FF7B7B6D702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8E705E-6DF9-4328-B377-5AB614CB69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053209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4FA5D-EF1D-489D-8D8F-1FF7B7B6D702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8E705E-6DF9-4328-B377-5AB614CB69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22412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C744FA5D-EF1D-489D-8D8F-1FF7B7B6D702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E98E705E-6DF9-4328-B377-5AB614CB69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156418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4D839B-EB92-2791-93AA-8C045F8A074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Apps Business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6FF182E-6C62-3F43-8E29-C22EA2C57AE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By. Ahmed Mohamed </a:t>
            </a:r>
            <a:r>
              <a:rPr lang="en-US" dirty="0" err="1"/>
              <a:t>samir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24522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27C9B9-6FEF-99E1-ADEE-4F163D131B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2708" y="0"/>
            <a:ext cx="11354637" cy="572756"/>
          </a:xfrm>
        </p:spPr>
        <p:txBody>
          <a:bodyPr>
            <a:normAutofit fontScale="90000"/>
          </a:bodyPr>
          <a:lstStyle/>
          <a:p>
            <a:r>
              <a:rPr lang="ar-EG" dirty="0"/>
              <a:t>شركات التأمين الخاصة بالتمويل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82971A-3D16-5220-46BF-928E736463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2708" y="572756"/>
            <a:ext cx="11354637" cy="5868237"/>
          </a:xfrm>
        </p:spPr>
        <p:txBody>
          <a:bodyPr>
            <a:normAutofit/>
          </a:bodyPr>
          <a:lstStyle/>
          <a:p>
            <a:pPr algn="r" rtl="1"/>
            <a:r>
              <a:rPr lang="ar-EG" sz="2400" dirty="0"/>
              <a:t>هي شركة تؤمن الجهة الممولة أولا على سبيل المثال عميل أخذ تمويل 200 ألف وتوفى قبل إكمال السداد شركة التأمين تسدد باقي المديونية للبنك او الجهة الممولة</a:t>
            </a:r>
          </a:p>
          <a:p>
            <a:pPr algn="r" rtl="1"/>
            <a:r>
              <a:rPr lang="ar-EG" sz="2400" dirty="0"/>
              <a:t>سم شركة التأمين </a:t>
            </a:r>
          </a:p>
          <a:p>
            <a:pPr algn="r" rtl="1"/>
            <a:r>
              <a:rPr lang="ar-EG" sz="2400" dirty="0"/>
              <a:t>كود اسم شركة التأمين </a:t>
            </a:r>
            <a:r>
              <a:rPr lang="en-US" sz="2400" dirty="0"/>
              <a:t>( id )</a:t>
            </a:r>
          </a:p>
          <a:p>
            <a:pPr algn="r" rtl="1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0289523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BE3C45-32EC-25C4-D465-E0956D5A3C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72756"/>
          </a:xfrm>
        </p:spPr>
        <p:txBody>
          <a:bodyPr>
            <a:normAutofit fontScale="90000"/>
          </a:bodyPr>
          <a:lstStyle/>
          <a:p>
            <a:r>
              <a:rPr lang="ar-EG" dirty="0"/>
              <a:t>أنواع التأمين الخاص بالتمويل ؟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E415B1-BF77-D949-69B3-D484616548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2078" y="572756"/>
            <a:ext cx="11495315" cy="5998865"/>
          </a:xfrm>
        </p:spPr>
        <p:txBody>
          <a:bodyPr>
            <a:normAutofit/>
          </a:bodyPr>
          <a:lstStyle/>
          <a:p>
            <a:pPr algn="r" rtl="1"/>
            <a:r>
              <a:rPr lang="ar-EG" sz="2400" dirty="0"/>
              <a:t>أنا مأمَّن على إيه؟</a:t>
            </a:r>
          </a:p>
          <a:p>
            <a:pPr algn="r" rtl="1"/>
            <a:r>
              <a:rPr lang="ar-EG" sz="2400" dirty="0"/>
              <a:t>تأمين حياة المقترض (الوفاة)</a:t>
            </a:r>
          </a:p>
          <a:p>
            <a:pPr algn="r" rtl="1"/>
            <a:r>
              <a:rPr lang="ar-EG" sz="2400" dirty="0"/>
              <a:t>تأمين فقدان الوظيفة </a:t>
            </a:r>
          </a:p>
          <a:p>
            <a:pPr algn="r" rtl="1"/>
            <a:r>
              <a:rPr lang="ar-EG" sz="2400" dirty="0"/>
              <a:t>تأمين على الإفلاس</a:t>
            </a:r>
          </a:p>
          <a:p>
            <a:pPr algn="r" rtl="1"/>
            <a:r>
              <a:rPr lang="ar-EG" sz="2400" dirty="0"/>
              <a:t>تأمين على العجز الكلى العجز الكلي</a:t>
            </a:r>
          </a:p>
          <a:p>
            <a:pPr algn="r" rtl="1"/>
            <a:r>
              <a:rPr lang="ar-EG" sz="2400" dirty="0"/>
              <a:t>تأمين على الأصل الممول: ده تأمين على </a:t>
            </a:r>
            <a:r>
              <a:rPr lang="ar-EG" sz="2400" b="1" dirty="0"/>
              <a:t>الشيء نفسه</a:t>
            </a:r>
            <a:r>
              <a:rPr lang="ar-EG" sz="2400" dirty="0"/>
              <a:t> اللي </a:t>
            </a:r>
            <a:r>
              <a:rPr lang="ar-EG" sz="2400" dirty="0" err="1"/>
              <a:t>اتاخد</a:t>
            </a:r>
            <a:r>
              <a:rPr lang="ar-EG" sz="2400" dirty="0"/>
              <a:t> بالقرض </a:t>
            </a:r>
            <a:r>
              <a:rPr lang="ar-EG" sz="2400" dirty="0" err="1"/>
              <a:t>زى</a:t>
            </a:r>
            <a:r>
              <a:rPr lang="ar-EG" sz="2400" dirty="0"/>
              <a:t> عربية او عقار</a:t>
            </a:r>
          </a:p>
          <a:p>
            <a:pPr algn="r" rtl="1"/>
            <a:endParaRPr lang="ar-EG" sz="2200" dirty="0"/>
          </a:p>
          <a:p>
            <a:pPr algn="r" rtl="1"/>
            <a:endParaRPr lang="ar-EG" sz="2400" dirty="0"/>
          </a:p>
          <a:p>
            <a:pPr algn="r" rtl="1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9700226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1A4DF9-1B2D-E67C-75CB-4083CB6705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83288"/>
          </a:xfrm>
        </p:spPr>
        <p:txBody>
          <a:bodyPr>
            <a:normAutofit fontScale="90000"/>
          </a:bodyPr>
          <a:lstStyle/>
          <a:p>
            <a:r>
              <a:rPr lang="ar-EG" dirty="0"/>
              <a:t>الحالات التأمينية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5E244B-8CD2-92B2-34F6-C797313F6F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418" y="683289"/>
            <a:ext cx="11234057" cy="5908430"/>
          </a:xfrm>
        </p:spPr>
        <p:txBody>
          <a:bodyPr>
            <a:normAutofit/>
          </a:bodyPr>
          <a:lstStyle/>
          <a:p>
            <a:pPr algn="r" rtl="1"/>
            <a:r>
              <a:rPr lang="ar-EG" sz="2200" b="1" dirty="0"/>
              <a:t>الظروف أو الأحداث التي إذا وقعت تلتزم شركة التأمين بدفع التعويض</a:t>
            </a:r>
          </a:p>
          <a:p>
            <a:pPr lvl="1" algn="r" rtl="1"/>
            <a:r>
              <a:rPr lang="ar-EG" sz="2000" b="1" dirty="0"/>
              <a:t>العجز الكلي الدائم</a:t>
            </a:r>
          </a:p>
          <a:p>
            <a:pPr lvl="1" algn="r" rtl="1"/>
            <a:r>
              <a:rPr lang="ar-EG" sz="2000" b="1" dirty="0"/>
              <a:t>الوفاة</a:t>
            </a:r>
          </a:p>
          <a:p>
            <a:pPr algn="r" rtl="1"/>
            <a:endParaRPr lang="ar-EG" sz="2200" b="1" dirty="0"/>
          </a:p>
          <a:p>
            <a:pPr algn="r" rtl="1"/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29447230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C4B52F-F493-6B97-BC7B-F952CDD29B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4181" y="0"/>
            <a:ext cx="10353762" cy="970450"/>
          </a:xfrm>
        </p:spPr>
        <p:txBody>
          <a:bodyPr/>
          <a:lstStyle/>
          <a:p>
            <a:r>
              <a:rPr lang="ar-EG" b="1" dirty="0"/>
              <a:t>أسباب رفض التعويض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504D8E-18F3-0C74-3A33-DB2B972296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1982" y="970450"/>
            <a:ext cx="11445073" cy="5480591"/>
          </a:xfrm>
        </p:spPr>
        <p:txBody>
          <a:bodyPr>
            <a:normAutofit/>
          </a:bodyPr>
          <a:lstStyle/>
          <a:p>
            <a:pPr algn="r" rtl="1"/>
            <a:r>
              <a:rPr lang="ar-EG" sz="2400" b="1" dirty="0"/>
              <a:t>التعويض: المبلغ الذي تدفعه شركة التأمين للجهة الممولة عند وقوع الخطر المؤمن عليه، لتعويض الضرر أو فقدان القيمة المالية.</a:t>
            </a:r>
          </a:p>
          <a:p>
            <a:pPr algn="r" rtl="1"/>
            <a:r>
              <a:rPr lang="ar-EG" sz="2400" dirty="0"/>
              <a:t>أسباب رفض التعويض في سياق التمويلات</a:t>
            </a:r>
          </a:p>
          <a:p>
            <a:pPr lvl="1" algn="r" rtl="1"/>
            <a:r>
              <a:rPr lang="ar-EG" sz="2400" dirty="0"/>
              <a:t>العميل متعثر لفترة طويلة بدون مبرر</a:t>
            </a:r>
          </a:p>
          <a:p>
            <a:pPr lvl="1" algn="r" rtl="1"/>
            <a:r>
              <a:rPr lang="ar-EG" sz="2400" dirty="0"/>
              <a:t>التمويل استُخدم في غير الغرض المحدد</a:t>
            </a:r>
            <a:endParaRPr lang="ar-EG" sz="2400" b="1" dirty="0"/>
          </a:p>
          <a:p>
            <a:pPr lvl="1" algn="r" rtl="1"/>
            <a:r>
              <a:rPr lang="ar-EG" sz="2400" dirty="0"/>
              <a:t>الخطر غير مغطى.</a:t>
            </a:r>
          </a:p>
          <a:p>
            <a:pPr lvl="1" algn="r" rtl="1"/>
            <a:endParaRPr lang="ar-EG" sz="2200" b="1" dirty="0"/>
          </a:p>
          <a:p>
            <a:pPr algn="r" rtl="1"/>
            <a:endParaRPr lang="en-US" sz="2400" b="1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717B3722-EFB7-D3A5-8392-3979C38BB9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ar-SA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العميل متعثر لفترة طويلة بدون مبرر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22294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899586-123B-35C4-B8FF-2970C1724B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576105"/>
          </a:xfrm>
        </p:spPr>
        <p:txBody>
          <a:bodyPr>
            <a:normAutofit fontScale="90000"/>
          </a:bodyPr>
          <a:lstStyle/>
          <a:p>
            <a:r>
              <a:rPr lang="ar-EG" b="1" dirty="0"/>
              <a:t>تعاقد شركة التأمين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392B0D-AEBC-424B-06BC-C31E1A8449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0121" y="576104"/>
            <a:ext cx="11847321" cy="6281895"/>
          </a:xfrm>
        </p:spPr>
        <p:txBody>
          <a:bodyPr/>
          <a:lstStyle/>
          <a:p>
            <a:pPr algn="r" rtl="1"/>
            <a:r>
              <a:rPr lang="ar-EG" b="1" dirty="0"/>
              <a:t>نوع التأمين</a:t>
            </a:r>
          </a:p>
          <a:p>
            <a:pPr algn="r" rtl="1"/>
            <a:r>
              <a:rPr lang="ar-EG" b="1" dirty="0"/>
              <a:t>اسم شركة التأمين</a:t>
            </a:r>
          </a:p>
          <a:p>
            <a:pPr algn="r" rtl="1"/>
            <a:r>
              <a:rPr lang="ar-EG" b="1" dirty="0"/>
              <a:t>تاريخ بداية التعاقد</a:t>
            </a:r>
          </a:p>
          <a:p>
            <a:pPr algn="r" rtl="1"/>
            <a:r>
              <a:rPr lang="ar-EG" b="1" dirty="0"/>
              <a:t>تاريخ نهاية التعاقد</a:t>
            </a:r>
          </a:p>
          <a:p>
            <a:pPr algn="r" rtl="1"/>
            <a:r>
              <a:rPr lang="ar-EG" b="1" dirty="0"/>
              <a:t>أقصى مبلغ للتأمين : الحد الأقصى الذي تلتزم به شركة التأمين بدفعه للمستفيد عند وقوع الخطر المؤمن عليه.</a:t>
            </a:r>
          </a:p>
          <a:p>
            <a:pPr algn="r" rtl="1"/>
            <a:r>
              <a:rPr lang="ar-EG" b="1" dirty="0"/>
              <a:t>الحد الأدنى للقسط التأميني ؟ أقل مبلغ يجب دفعه للحصول على التغطية التأمينية، حتى لو كانت قيمة القرض أو الأصل صغيرة.</a:t>
            </a:r>
          </a:p>
          <a:p>
            <a:pPr algn="r" rtl="1"/>
            <a:r>
              <a:rPr lang="ar-EG" b="1" dirty="0"/>
              <a:t>الجزء المحمل من الشركة فقط (</a:t>
            </a:r>
            <a:r>
              <a:rPr lang="ar-EG" dirty="0"/>
              <a:t>شركة التمويل</a:t>
            </a:r>
            <a:r>
              <a:rPr lang="ar-EG" b="1" dirty="0"/>
              <a:t>) : القسط التأميني في نسبة التحمل </a:t>
            </a:r>
            <a:r>
              <a:rPr lang="ar-EG" dirty="0"/>
              <a:t>للشركة الممولة</a:t>
            </a:r>
            <a:endParaRPr lang="ar-EG" b="1" dirty="0"/>
          </a:p>
          <a:p>
            <a:pPr algn="r" rtl="1"/>
            <a:r>
              <a:rPr lang="ar-EG" b="1" dirty="0"/>
              <a:t>نسبة تحمل شركة التأمين </a:t>
            </a:r>
            <a:r>
              <a:rPr lang="en-US" b="1" dirty="0"/>
              <a:t>:</a:t>
            </a:r>
          </a:p>
          <a:p>
            <a:pPr algn="r" rtl="1"/>
            <a:r>
              <a:rPr lang="ar-EG" b="1"/>
              <a:t>مثال بحالة خسارة 50000</a:t>
            </a:r>
            <a:endParaRPr lang="ar-EG" b="1" dirty="0"/>
          </a:p>
          <a:p>
            <a:pPr algn="r" rtl="1"/>
            <a:endParaRPr lang="ar-EG" b="1" dirty="0"/>
          </a:p>
          <a:p>
            <a:pPr algn="r" rtl="1"/>
            <a:endParaRPr lang="ar-EG" dirty="0"/>
          </a:p>
          <a:p>
            <a:pPr algn="r" rtl="1"/>
            <a:endParaRPr lang="ar-EG" dirty="0"/>
          </a:p>
          <a:p>
            <a:pPr algn="r" rtl="1"/>
            <a:endParaRPr lang="en-US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AFFD04F-2578-AD8E-8AB3-C3C036D8A4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121" y="3991184"/>
            <a:ext cx="7215031" cy="2866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843978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">
  <a:themeElements>
    <a:clrScheme name="Slate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BC451B"/>
      </a:accent1>
      <a:accent2>
        <a:srgbClr val="D3BA68"/>
      </a:accent2>
      <a:accent3>
        <a:srgbClr val="BB8640"/>
      </a:accent3>
      <a:accent4>
        <a:srgbClr val="AD9277"/>
      </a:accent4>
      <a:accent5>
        <a:srgbClr val="A55A43"/>
      </a:accent5>
      <a:accent6>
        <a:srgbClr val="AD9D7B"/>
      </a:accent6>
      <a:hlink>
        <a:srgbClr val="E98052"/>
      </a:hlink>
      <a:folHlink>
        <a:srgbClr val="F4B69B"/>
      </a:folHlink>
    </a:clrScheme>
    <a:fontScheme name="Slate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Slate</Template>
  <TotalTime>243</TotalTime>
  <Words>245</Words>
  <Application>Microsoft Office PowerPoint</Application>
  <PresentationFormat>Widescreen</PresentationFormat>
  <Paragraphs>37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Calisto MT</vt:lpstr>
      <vt:lpstr>Wingdings 2</vt:lpstr>
      <vt:lpstr>Slate</vt:lpstr>
      <vt:lpstr>Apps Business </vt:lpstr>
      <vt:lpstr>شركات التأمين الخاصة بالتمويل</vt:lpstr>
      <vt:lpstr>أنواع التأمين الخاص بالتمويل ؟</vt:lpstr>
      <vt:lpstr>الحالات التأمينية</vt:lpstr>
      <vt:lpstr>أسباب رفض التعويض</vt:lpstr>
      <vt:lpstr>تعاقد شركة التأمين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احمد محمد سمير</dc:creator>
  <cp:lastModifiedBy>احمد محمد سمير</cp:lastModifiedBy>
  <cp:revision>59</cp:revision>
  <dcterms:created xsi:type="dcterms:W3CDTF">2026-02-01T18:13:26Z</dcterms:created>
  <dcterms:modified xsi:type="dcterms:W3CDTF">2026-02-01T22:16:59Z</dcterms:modified>
</cp:coreProperties>
</file>