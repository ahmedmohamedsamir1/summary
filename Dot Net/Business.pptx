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264" r:id="rId10"/>
    <p:sldId id="277" r:id="rId11"/>
    <p:sldId id="265" r:id="rId12"/>
    <p:sldId id="266" r:id="rId13"/>
    <p:sldId id="267" r:id="rId14"/>
    <p:sldId id="269" r:id="rId15"/>
    <p:sldId id="268" r:id="rId16"/>
    <p:sldId id="270" r:id="rId17"/>
    <p:sldId id="272" r:id="rId18"/>
    <p:sldId id="273" r:id="rId19"/>
    <p:sldId id="274" r:id="rId20"/>
    <p:sldId id="278" r:id="rId21"/>
    <p:sldId id="271" r:id="rId22"/>
    <p:sldId id="304" r:id="rId23"/>
    <p:sldId id="306" r:id="rId24"/>
    <p:sldId id="292" r:id="rId25"/>
    <p:sldId id="279" r:id="rId26"/>
    <p:sldId id="305" r:id="rId27"/>
    <p:sldId id="280" r:id="rId28"/>
    <p:sldId id="318" r:id="rId29"/>
    <p:sldId id="285" r:id="rId30"/>
    <p:sldId id="286" r:id="rId31"/>
    <p:sldId id="287" r:id="rId32"/>
    <p:sldId id="323" r:id="rId33"/>
    <p:sldId id="281" r:id="rId34"/>
    <p:sldId id="313" r:id="rId35"/>
    <p:sldId id="315" r:id="rId36"/>
    <p:sldId id="322" r:id="rId37"/>
    <p:sldId id="326" r:id="rId38"/>
    <p:sldId id="327" r:id="rId39"/>
    <p:sldId id="346" r:id="rId40"/>
    <p:sldId id="316" r:id="rId41"/>
    <p:sldId id="325" r:id="rId42"/>
    <p:sldId id="347" r:id="rId43"/>
    <p:sldId id="328" r:id="rId44"/>
    <p:sldId id="329" r:id="rId45"/>
    <p:sldId id="334" r:id="rId46"/>
    <p:sldId id="348" r:id="rId47"/>
    <p:sldId id="349" r:id="rId48"/>
    <p:sldId id="351" r:id="rId49"/>
    <p:sldId id="350" r:id="rId50"/>
    <p:sldId id="352" r:id="rId51"/>
    <p:sldId id="353" r:id="rId52"/>
    <p:sldId id="354" r:id="rId53"/>
    <p:sldId id="355" r:id="rId54"/>
    <p:sldId id="331" r:id="rId55"/>
    <p:sldId id="330" r:id="rId56"/>
    <p:sldId id="324" r:id="rId57"/>
    <p:sldId id="314" r:id="rId58"/>
    <p:sldId id="283" r:id="rId59"/>
    <p:sldId id="307" r:id="rId60"/>
    <p:sldId id="308" r:id="rId61"/>
    <p:sldId id="309" r:id="rId62"/>
    <p:sldId id="310" r:id="rId63"/>
    <p:sldId id="311" r:id="rId64"/>
    <p:sldId id="312" r:id="rId65"/>
    <p:sldId id="288" r:id="rId66"/>
    <p:sldId id="282" r:id="rId67"/>
    <p:sldId id="293" r:id="rId68"/>
    <p:sldId id="294" r:id="rId69"/>
    <p:sldId id="296" r:id="rId70"/>
    <p:sldId id="297" r:id="rId71"/>
    <p:sldId id="299" r:id="rId72"/>
    <p:sldId id="298" r:id="rId73"/>
    <p:sldId id="300" r:id="rId74"/>
    <p:sldId id="301" r:id="rId75"/>
    <p:sldId id="319" r:id="rId76"/>
    <p:sldId id="303" r:id="rId77"/>
    <p:sldId id="338" r:id="rId78"/>
    <p:sldId id="339" r:id="rId79"/>
    <p:sldId id="343" r:id="rId80"/>
    <p:sldId id="356" r:id="rId81"/>
    <p:sldId id="357" r:id="rId82"/>
    <p:sldId id="342" r:id="rId83"/>
    <p:sldId id="276" r:id="rId84"/>
    <p:sldId id="289" r:id="rId85"/>
    <p:sldId id="290" r:id="rId86"/>
    <p:sldId id="321" r:id="rId87"/>
    <p:sldId id="333" r:id="rId88"/>
    <p:sldId id="332" r:id="rId89"/>
    <p:sldId id="320" r:id="rId90"/>
    <p:sldId id="335" r:id="rId91"/>
    <p:sldId id="340" r:id="rId92"/>
    <p:sldId id="345" r:id="rId93"/>
    <p:sldId id="336" r:id="rId94"/>
    <p:sldId id="341" r:id="rId95"/>
    <p:sldId id="337" r:id="rId96"/>
    <p:sldId id="295" r:id="rId97"/>
    <p:sldId id="302" r:id="rId98"/>
    <p:sldId id="344"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3/8/2026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3/8/2026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3/8/2026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3/8/2026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5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dirty="0"/>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dirty="0"/>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dirty="0"/>
              <a:t>( id )</a:t>
            </a:r>
          </a:p>
          <a:p>
            <a:pPr algn="r" rtl="1"/>
            <a:endParaRPr lang="en-US" sz="2400" dirty="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dirty="0"/>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dirty="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dirty="0"/>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dirty="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dirty="0"/>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dirty="0"/>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dirty="0"/>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dirty="0"/>
              <a:t>:</a:t>
            </a:r>
          </a:p>
          <a:p>
            <a:pPr algn="r" rtl="1"/>
            <a:r>
              <a:rPr lang="ar-EG" b="1"/>
              <a:t>مثال بحالة خسارة 50000</a:t>
            </a:r>
          </a:p>
          <a:p>
            <a:pPr algn="r" rtl="1"/>
            <a:endParaRPr lang="ar-EG" b="1"/>
          </a:p>
          <a:p>
            <a:pPr algn="r" rtl="1"/>
            <a:endParaRPr lang="ar-EG"/>
          </a:p>
          <a:p>
            <a:pPr algn="r" rtl="1"/>
            <a:endParaRPr lang="ar-EG"/>
          </a:p>
          <a:p>
            <a:pPr algn="r" rtl="1"/>
            <a:endParaRPr lang="en-US" b="1" dirty="0"/>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dirty="0">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619432"/>
          </a:xfrm>
        </p:spPr>
        <p:txBody>
          <a:bodyPr>
            <a:normAutofit fontScale="90000"/>
          </a:bodyPr>
          <a:lstStyle/>
          <a:p>
            <a:r>
              <a:rPr lang="en-US" b="1" dirty="0">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334296" y="737419"/>
            <a:ext cx="11552903" cy="5978014"/>
          </a:xfrm>
        </p:spPr>
        <p:txBody>
          <a:bodyPr>
            <a:normAutofit/>
          </a:bodyPr>
          <a:lstStyle/>
          <a:p>
            <a:pPr marL="494100" indent="-457200" algn="r" rtl="1">
              <a:buFont typeface="+mj-lt"/>
              <a:buAutoNum type="arabicPeriod"/>
            </a:pPr>
            <a:r>
              <a:rPr lang="ar-EG" sz="2200" b="1">
                <a:solidFill>
                  <a:srgbClr val="FF0000"/>
                </a:solidFill>
              </a:rPr>
              <a:t>إدخال طلب</a:t>
            </a:r>
          </a:p>
          <a:p>
            <a:pPr marL="871200" lvl="1" indent="-457200" algn="r" rtl="1"/>
            <a:r>
              <a:rPr lang="en-US" b="1" dirty="0"/>
              <a:t>Operator: loan officer ()</a:t>
            </a:r>
            <a:endParaRPr lang="ar-EG" b="1"/>
          </a:p>
          <a:p>
            <a:pPr marL="494100" indent="-457200" algn="r" rtl="1">
              <a:buFont typeface="+mj-lt"/>
              <a:buAutoNum type="arabicPeriod"/>
            </a:pPr>
            <a:r>
              <a:rPr lang="ar-EG" sz="2200" b="1">
                <a:solidFill>
                  <a:srgbClr val="FF0000"/>
                </a:solidFill>
              </a:rPr>
              <a:t>مراجعة أولية</a:t>
            </a:r>
            <a:endParaRPr lang="en-US" sz="2200" b="1" dirty="0">
              <a:solidFill>
                <a:srgbClr val="FF0000"/>
              </a:solidFill>
            </a:endParaRPr>
          </a:p>
          <a:p>
            <a:pPr marL="871200" lvl="1" indent="-457200" algn="r" rtl="1"/>
            <a:r>
              <a:rPr lang="en-US" b="1" dirty="0"/>
              <a:t>Operator: CO</a:t>
            </a:r>
            <a:endParaRPr lang="ar-EG" b="1"/>
          </a:p>
          <a:p>
            <a:pPr marL="494100" indent="-457200" algn="r" rtl="1">
              <a:buFont typeface="+mj-lt"/>
              <a:buAutoNum type="arabicPeriod"/>
            </a:pPr>
            <a:r>
              <a:rPr lang="ar-EG" sz="2200" b="1">
                <a:solidFill>
                  <a:srgbClr val="FF0000"/>
                </a:solidFill>
              </a:rPr>
              <a:t>زيارة ميدانية</a:t>
            </a:r>
            <a:endParaRPr lang="en-US" sz="2200" b="1" dirty="0">
              <a:solidFill>
                <a:srgbClr val="FF0000"/>
              </a:solidFill>
            </a:endParaRPr>
          </a:p>
          <a:p>
            <a:pPr marL="871200" lvl="1" indent="-457200" algn="r" rtl="1"/>
            <a:r>
              <a:rPr lang="en-US" b="1" dirty="0"/>
              <a:t>Operator: CO</a:t>
            </a:r>
            <a:endParaRPr lang="ar-EG" b="1"/>
          </a:p>
          <a:p>
            <a:pPr marL="494100" indent="-457200" algn="r" rtl="1">
              <a:buFont typeface="+mj-lt"/>
              <a:buAutoNum type="arabicPeriod"/>
            </a:pPr>
            <a:r>
              <a:rPr lang="ar-EG" sz="2200" b="1">
                <a:solidFill>
                  <a:srgbClr val="FF0000"/>
                </a:solidFill>
              </a:rPr>
              <a:t>تحليل الائتمانى</a:t>
            </a:r>
            <a:endParaRPr lang="en-US" sz="2200" b="1" dirty="0">
              <a:solidFill>
                <a:srgbClr val="FF0000"/>
              </a:solidFill>
            </a:endParaRPr>
          </a:p>
          <a:p>
            <a:pPr marL="871200" lvl="1" indent="-457200" algn="r" rtl="1"/>
            <a:r>
              <a:rPr lang="en-US" b="1" dirty="0"/>
              <a:t>Operator: CO</a:t>
            </a:r>
          </a:p>
          <a:p>
            <a:pPr marL="494100" indent="-457200" algn="r" rtl="1">
              <a:buFont typeface="+mj-lt"/>
              <a:buAutoNum type="arabicPeriod"/>
            </a:pPr>
            <a:r>
              <a:rPr lang="ar-EG" sz="2200" b="1">
                <a:solidFill>
                  <a:srgbClr val="FF0000"/>
                </a:solidFill>
              </a:rPr>
              <a:t>تحميل المستندات</a:t>
            </a:r>
            <a:endParaRPr lang="en-US" sz="2200" b="1" dirty="0">
              <a:solidFill>
                <a:srgbClr val="FF0000"/>
              </a:solidFill>
            </a:endParaRPr>
          </a:p>
          <a:p>
            <a:pPr marL="871200" lvl="1" indent="-457200" algn="r" rtl="1"/>
            <a:r>
              <a:rPr lang="en-US" b="1" dirty="0"/>
              <a:t>Operator: Branch Manager</a:t>
            </a:r>
            <a:endParaRPr lang="ar-EG" b="1"/>
          </a:p>
          <a:p>
            <a:pPr marL="494100" indent="-457200" algn="r" rtl="1">
              <a:buFont typeface="+mj-lt"/>
              <a:buAutoNum type="arabicPeriod"/>
            </a:pPr>
            <a:r>
              <a:rPr lang="ar-EG" sz="2200" b="1">
                <a:solidFill>
                  <a:srgbClr val="FF0000"/>
                </a:solidFill>
              </a:rPr>
              <a:t>المراجعة المركزية</a:t>
            </a:r>
            <a:endParaRPr lang="en-US" sz="2200" b="1" dirty="0">
              <a:solidFill>
                <a:srgbClr val="FF0000"/>
              </a:solidFill>
            </a:endParaRPr>
          </a:p>
          <a:p>
            <a:pPr marL="871200" lvl="1" indent="-457200" algn="r" rtl="1"/>
            <a:r>
              <a:rPr lang="en-US" b="1" dirty="0"/>
              <a:t>Operator: Credit</a:t>
            </a:r>
            <a:endParaRPr lang="ar-EG" b="1"/>
          </a:p>
          <a:p>
            <a:pPr marL="494100" indent="-457200" algn="r" rtl="1">
              <a:buFont typeface="+mj-lt"/>
              <a:buAutoNum type="arabicPeriod"/>
            </a:pPr>
            <a:r>
              <a:rPr lang="ar-EG" sz="2200" b="1">
                <a:solidFill>
                  <a:srgbClr val="FF0000"/>
                </a:solidFill>
              </a:rPr>
              <a:t>الصرف</a:t>
            </a:r>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a:solidFill>
                  <a:srgbClr val="FF0000"/>
                </a:solidFill>
              </a:rPr>
              <a:t>إدخال طلب</a:t>
            </a:r>
            <a:r>
              <a:rPr lang="en-US" sz="3200" b="1" dirty="0">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a:t>نوع التمويل: </a:t>
            </a:r>
            <a:r>
              <a:rPr lang="ar-EG">
                <a:effectLst/>
              </a:rPr>
              <a:t>(مثل تمويل شخصي، تمويل عقاري، أو تمويل مشروعات صغيرة)</a:t>
            </a:r>
          </a:p>
          <a:p>
            <a:pPr algn="r" rtl="1"/>
            <a:r>
              <a:rPr lang="ar-EG">
                <a:effectLst/>
              </a:rPr>
              <a:t>الحالة: </a:t>
            </a:r>
            <a:r>
              <a:rPr lang="ar-EG" b="1">
                <a:effectLst/>
              </a:rPr>
              <a:t>(جديد/تجديد) </a:t>
            </a:r>
            <a:r>
              <a:rPr lang="ar-EG">
                <a:effectLst/>
              </a:rPr>
              <a:t>تُحدد ما إذا كان العميل يتقدم بطلب </a:t>
            </a:r>
            <a:r>
              <a:rPr lang="ar-EG" b="1">
                <a:effectLst/>
              </a:rPr>
              <a:t>لأول مرة</a:t>
            </a:r>
            <a:r>
              <a:rPr lang="ar-EG">
                <a:effectLst/>
              </a:rPr>
              <a:t> (جديد) أو يطلب </a:t>
            </a:r>
            <a:r>
              <a:rPr lang="ar-EG" b="1">
                <a:effectLst/>
              </a:rPr>
              <a:t>إعادة تمويل</a:t>
            </a:r>
            <a:r>
              <a:rPr lang="ar-EG">
                <a:effectLst/>
              </a:rPr>
              <a:t> أو تجديد لقرض قائم بالفعل</a:t>
            </a:r>
          </a:p>
          <a:p>
            <a:pPr algn="r" rtl="1"/>
            <a:r>
              <a:rPr lang="ar-EG" b="1">
                <a:effectLst/>
              </a:rPr>
              <a:t>إسم العميل:</a:t>
            </a:r>
            <a:r>
              <a:rPr lang="ar-EG">
                <a:effectLst/>
              </a:rPr>
              <a:t> الاسم الكامل لمقدم الطلب كما هو مسجل في الأوراق الرسمية</a:t>
            </a:r>
          </a:p>
          <a:p>
            <a:pPr algn="r" rtl="1"/>
            <a:r>
              <a:rPr lang="ar-EG" b="1">
                <a:effectLst/>
              </a:rPr>
              <a:t>المنشأة:</a:t>
            </a:r>
            <a:r>
              <a:rPr lang="ar-EG">
                <a:effectLst/>
              </a:rPr>
              <a:t> تشير إلى </a:t>
            </a:r>
            <a:r>
              <a:rPr lang="ar-EG" b="1">
                <a:effectLst/>
              </a:rPr>
              <a:t>جهة العمل</a:t>
            </a:r>
            <a:r>
              <a:rPr lang="ar-EG">
                <a:effectLst/>
              </a:rPr>
              <a:t> التي يعمل بها العميل أو اسم </a:t>
            </a:r>
            <a:r>
              <a:rPr lang="ar-EG" b="1">
                <a:effectLst/>
              </a:rPr>
              <a:t>المشروع/الشركة</a:t>
            </a:r>
            <a:r>
              <a:rPr lang="ar-EG">
                <a:effectLst/>
              </a:rPr>
              <a:t> التي يمتلكها ويرغب في تمويلها.</a:t>
            </a:r>
          </a:p>
          <a:p>
            <a:pPr algn="r" rtl="1"/>
            <a:r>
              <a:rPr lang="ar-EG" b="1">
                <a:effectLst/>
              </a:rPr>
              <a:t>إسم الضامن:</a:t>
            </a:r>
            <a:r>
              <a:rPr lang="ar-EG">
                <a:effectLst/>
              </a:rPr>
              <a:t> الشخص الذي يتعهد بسداد القرض في حال تعثر العميل الأساسي.</a:t>
            </a:r>
          </a:p>
          <a:p>
            <a:pPr algn="r" rtl="1"/>
            <a:r>
              <a:rPr lang="ar-EG" b="1">
                <a:effectLst/>
              </a:rPr>
              <a:t>الرقم القومي للضامن:</a:t>
            </a:r>
            <a:r>
              <a:rPr lang="ar-EG">
                <a:effectLst/>
              </a:rPr>
              <a:t> بيانات الهوية الخاصة بالضامن للتحقق من أهليته القانونية والائتمانية.</a:t>
            </a:r>
          </a:p>
          <a:p>
            <a:pPr algn="r" rtl="1"/>
            <a:r>
              <a:rPr lang="ar-EG" b="1">
                <a:effectLst/>
              </a:rPr>
              <a:t>صلة العميل بالضامن:</a:t>
            </a:r>
            <a:r>
              <a:rPr lang="ar-EG">
                <a:effectLst/>
              </a:rPr>
              <a:t> طبيعة العلاقة بينهما (مثل: درجة أولى، صديق، زميل عمل) لتقييم مدى قوة الضمانة</a:t>
            </a:r>
          </a:p>
          <a:p>
            <a:pPr algn="r" rtl="1"/>
            <a:r>
              <a:rPr lang="ar-EG" b="1">
                <a:solidFill>
                  <a:srgbClr val="FFFF00"/>
                </a:solidFill>
                <a:effectLst/>
              </a:rPr>
              <a:t>المبلغ المطلوب</a:t>
            </a:r>
            <a:r>
              <a:rPr lang="ar-EG" b="1">
                <a:effectLst/>
              </a:rPr>
              <a:t>:</a:t>
            </a:r>
            <a:r>
              <a:rPr lang="ar-EG">
                <a:effectLst/>
              </a:rPr>
              <a:t> إجمالي المبلغ الذي </a:t>
            </a:r>
            <a:r>
              <a:rPr lang="ar-EG" b="1">
                <a:effectLst/>
              </a:rPr>
              <a:t>يأمل</a:t>
            </a:r>
            <a:r>
              <a:rPr lang="ar-EG">
                <a:effectLst/>
              </a:rPr>
              <a:t> العميل في الحصول عليه من جهة التمويل</a:t>
            </a:r>
          </a:p>
          <a:p>
            <a:pPr algn="r" rtl="1"/>
            <a:r>
              <a:rPr lang="ar-EG" b="1">
                <a:solidFill>
                  <a:srgbClr val="FFFF00"/>
                </a:solidFill>
                <a:effectLst/>
              </a:rPr>
              <a:t>قيمة التمويل</a:t>
            </a:r>
            <a:r>
              <a:rPr lang="ar-EG" b="1">
                <a:effectLst/>
              </a:rPr>
              <a:t>:</a:t>
            </a:r>
            <a:r>
              <a:rPr lang="ar-EG">
                <a:effectLst/>
              </a:rPr>
              <a:t> </a:t>
            </a:r>
            <a:r>
              <a:rPr lang="ar-EG" b="1">
                <a:solidFill>
                  <a:schemeClr val="tx1"/>
                </a:solidFill>
                <a:effectLst/>
              </a:rPr>
              <a:t>مبلغ التمويل الذي توافق </a:t>
            </a:r>
            <a:r>
              <a:rPr lang="ar-EG">
                <a:effectLst/>
              </a:rPr>
              <a:t>جهة التمويل مبدئياً على منحه بناءً على دراسة حالة العميل</a:t>
            </a:r>
          </a:p>
          <a:p>
            <a:pPr algn="r" rtl="1"/>
            <a:r>
              <a:rPr lang="ar-EG" b="1">
                <a:solidFill>
                  <a:srgbClr val="FFFF00"/>
                </a:solidFill>
                <a:effectLst/>
              </a:rPr>
              <a:t>القيمة الفعلية للتمويل</a:t>
            </a:r>
            <a:r>
              <a:rPr lang="ar-EG" b="1">
                <a:effectLst/>
              </a:rPr>
              <a:t>:</a:t>
            </a:r>
            <a:r>
              <a:rPr lang="ar-EG">
                <a:effectLst/>
              </a:rPr>
              <a:t> المبلغ الصافي الذي سيستلمه العميل فعلياً بعد خصم أي رسوم إدارية أو مصاريف بنكية</a:t>
            </a:r>
          </a:p>
          <a:p>
            <a:pPr algn="r" rtl="1"/>
            <a:r>
              <a:rPr lang="ar-EG" b="1">
                <a:effectLst/>
              </a:rPr>
              <a:t>الهدف من التمويل : </a:t>
            </a:r>
            <a:r>
              <a:rPr lang="ar-EG">
                <a:effectLst/>
              </a:rPr>
              <a:t>الغرض من الحصول على المال (مثل: شراء أصول، توسعة مشروع، سداد ديون أخرى).</a:t>
            </a:r>
          </a:p>
          <a:p>
            <a:pPr algn="r" rtl="1"/>
            <a:r>
              <a:rPr lang="ar-EG" b="1">
                <a:effectLst/>
              </a:rPr>
              <a:t>جهة الصرف : ا</a:t>
            </a:r>
            <a:r>
              <a:rPr lang="ar-EG">
                <a:effectLst/>
              </a:rPr>
              <a:t>لمكان أو الطريقة التي سيتم بها تحويل الأموال (مثل: صرف نقدي، شيك لجهة موردة، أو إيداع في حساب بنكي محدد).</a:t>
            </a:r>
          </a:p>
          <a:p>
            <a:pPr algn="r" rtl="1"/>
            <a:endParaRPr lang="en-US" dirty="0"/>
          </a:p>
        </p:txBody>
      </p:sp>
    </p:spTree>
    <p:extLst>
      <p:ext uri="{BB962C8B-B14F-4D97-AF65-F5344CB8AC3E}">
        <p14:creationId xmlns:p14="http://schemas.microsoft.com/office/powerpoint/2010/main" val="1808073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a:effectLst/>
              </a:rPr>
              <a:t>طلب تمويل</a:t>
            </a:r>
            <a:r>
              <a:rPr lang="en-US" b="1" dirty="0">
                <a:effectLst/>
              </a:rPr>
              <a:t> </a:t>
            </a:r>
            <a:r>
              <a:rPr lang="ar-EG" b="1">
                <a:effectLst/>
              </a:rPr>
              <a:t>تجديد</a:t>
            </a:r>
            <a:endParaRPr lang="en-US" dirty="0"/>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a:effectLst/>
              </a:rPr>
              <a:t>تمديد فترة السداد (</a:t>
            </a:r>
            <a:r>
              <a:rPr lang="en-US" b="1" dirty="0">
                <a:effectLst/>
              </a:rPr>
              <a:t>extension</a:t>
            </a:r>
            <a:r>
              <a:rPr lang="ar-EG" b="1">
                <a:effectLst/>
              </a:rPr>
              <a:t>)</a:t>
            </a:r>
            <a:endParaRPr lang="en-US" b="1" dirty="0">
              <a:effectLst/>
            </a:endParaRPr>
          </a:p>
          <a:p>
            <a:pPr lvl="1" algn="r" rtl="1"/>
            <a:r>
              <a:rPr lang="ar-EG">
                <a:effectLst/>
              </a:rPr>
              <a:t>هذا النوع يركز على </a:t>
            </a:r>
            <a:r>
              <a:rPr lang="ar-EG" b="1">
                <a:effectLst/>
              </a:rPr>
              <a:t>الزمن</a:t>
            </a:r>
            <a:r>
              <a:rPr lang="ar-EG">
                <a:effectLst/>
              </a:rPr>
              <a:t>؛ أي إعطاؤك وقتاً أطول لدفع نفس المبلغ المتبقي عليك، مما يؤدي غالباً لتقليل قيمة القسط الشهري.</a:t>
            </a:r>
            <a:endParaRPr lang="en-US" dirty="0">
              <a:effectLst/>
            </a:endParaRPr>
          </a:p>
          <a:p>
            <a:pPr lvl="1" algn="r" rtl="1"/>
            <a:r>
              <a:rPr lang="ar-EG" b="1">
                <a:effectLst/>
              </a:rPr>
              <a:t>مثال:</a:t>
            </a:r>
            <a:r>
              <a:rPr lang="ar-EG">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dirty="0">
              <a:effectLst/>
            </a:endParaRPr>
          </a:p>
          <a:p>
            <a:pPr algn="r" rtl="1"/>
            <a:r>
              <a:rPr lang="ar-EG" b="1">
                <a:effectLst/>
              </a:rPr>
              <a:t>زيادة مبلغ التمويل </a:t>
            </a:r>
            <a:r>
              <a:rPr lang="en-US" b="1" dirty="0">
                <a:effectLst/>
              </a:rPr>
              <a:t>(Top-up)</a:t>
            </a:r>
          </a:p>
          <a:p>
            <a:pPr lvl="1" algn="r" rtl="1"/>
            <a:r>
              <a:rPr lang="ar-EG"/>
              <a:t>هذا النوع يركز على السيولة؛ وهو مخصص للعملاء الملتزمين الذين سددوا جزءاً من القرض ويريدون العودة للمبلغ الأصلي أو زيادته.</a:t>
            </a:r>
          </a:p>
          <a:p>
            <a:pPr lvl="1" algn="r" rtl="1"/>
            <a:r>
              <a:rPr lang="ar-EG"/>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dirty="0"/>
          </a:p>
          <a:p>
            <a:pPr algn="r" rtl="1"/>
            <a:r>
              <a:rPr lang="ar-EG" b="1"/>
              <a:t>إعادة الجدولة (</a:t>
            </a:r>
            <a:r>
              <a:rPr lang="en-US" b="1" dirty="0"/>
              <a:t>Rescheduling</a:t>
            </a:r>
            <a:r>
              <a:rPr lang="ar-EG" b="1"/>
              <a:t>)</a:t>
            </a:r>
          </a:p>
          <a:p>
            <a:pPr lvl="1" algn="r" rtl="1"/>
            <a:r>
              <a:rPr lang="ar-EG"/>
              <a:t>هذا النوع يركز على تغيير الشروط؛ ويحدث عادةً عند حدوث تغيير جذري في حالتك المالية أو لتغيير نوع الفائدة.</a:t>
            </a:r>
          </a:p>
          <a:p>
            <a:pPr lvl="1" algn="r" rtl="1"/>
            <a:r>
              <a:rPr lang="ar-EG"/>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dirty="0"/>
          </a:p>
        </p:txBody>
      </p:sp>
    </p:spTree>
    <p:extLst>
      <p:ext uri="{BB962C8B-B14F-4D97-AF65-F5344CB8AC3E}">
        <p14:creationId xmlns:p14="http://schemas.microsoft.com/office/powerpoint/2010/main" val="26124471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E5A12-5031-578B-73A6-5281966AFC97}"/>
              </a:ext>
            </a:extLst>
          </p:cNvPr>
          <p:cNvSpPr>
            <a:spLocks noGrp="1"/>
          </p:cNvSpPr>
          <p:nvPr>
            <p:ph type="title"/>
          </p:nvPr>
        </p:nvSpPr>
        <p:spPr>
          <a:xfrm>
            <a:off x="913795" y="0"/>
            <a:ext cx="10353762" cy="707923"/>
          </a:xfrm>
        </p:spPr>
        <p:txBody>
          <a:bodyPr/>
          <a:lstStyle/>
          <a:p>
            <a:r>
              <a:rPr lang="ar-EG" b="1">
                <a:solidFill>
                  <a:srgbClr val="FF0000"/>
                </a:solidFill>
              </a:rPr>
              <a:t>مراجعة أولية</a:t>
            </a:r>
            <a:endParaRPr lang="en-US" b="1" dirty="0">
              <a:solidFill>
                <a:srgbClr val="FF0000"/>
              </a:solidFill>
            </a:endParaRPr>
          </a:p>
        </p:txBody>
      </p:sp>
      <p:sp>
        <p:nvSpPr>
          <p:cNvPr id="3" name="Content Placeholder 2">
            <a:extLst>
              <a:ext uri="{FF2B5EF4-FFF2-40B4-BE49-F238E27FC236}">
                <a16:creationId xmlns:a16="http://schemas.microsoft.com/office/drawing/2014/main" id="{C6D0CF99-5768-3261-B86E-3BECA925F909}"/>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918177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D6999-6FBE-7FD0-77E3-BEFCDD7438B5}"/>
              </a:ext>
            </a:extLst>
          </p:cNvPr>
          <p:cNvSpPr>
            <a:spLocks noGrp="1"/>
          </p:cNvSpPr>
          <p:nvPr>
            <p:ph type="title"/>
          </p:nvPr>
        </p:nvSpPr>
        <p:spPr/>
        <p:txBody>
          <a:bodyPr/>
          <a:lstStyle/>
          <a:p>
            <a:r>
              <a:rPr lang="ar-EG"/>
              <a:t>زيارة ميدانية</a:t>
            </a:r>
            <a:endParaRPr lang="en-US" dirty="0"/>
          </a:p>
        </p:txBody>
      </p:sp>
      <p:sp>
        <p:nvSpPr>
          <p:cNvPr id="3" name="Content Placeholder 2">
            <a:extLst>
              <a:ext uri="{FF2B5EF4-FFF2-40B4-BE49-F238E27FC236}">
                <a16:creationId xmlns:a16="http://schemas.microsoft.com/office/drawing/2014/main" id="{26B4D821-A659-22F6-D27B-58D7BE5B7C48}"/>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3238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4BEF7-16AD-EB38-03A0-9E38308744E8}"/>
              </a:ext>
            </a:extLst>
          </p:cNvPr>
          <p:cNvSpPr>
            <a:spLocks noGrp="1"/>
          </p:cNvSpPr>
          <p:nvPr>
            <p:ph type="title"/>
          </p:nvPr>
        </p:nvSpPr>
        <p:spPr/>
        <p:txBody>
          <a:bodyPr/>
          <a:lstStyle/>
          <a:p>
            <a:r>
              <a:rPr lang="ar-EG" b="1">
                <a:solidFill>
                  <a:srgbClr val="FF0000"/>
                </a:solidFill>
              </a:rPr>
              <a:t>التحليل الائتماني</a:t>
            </a:r>
            <a:endParaRPr lang="en-US" b="1" dirty="0">
              <a:solidFill>
                <a:srgbClr val="FF0000"/>
              </a:solidFill>
            </a:endParaRPr>
          </a:p>
        </p:txBody>
      </p:sp>
      <p:sp>
        <p:nvSpPr>
          <p:cNvPr id="3" name="Content Placeholder 2">
            <a:extLst>
              <a:ext uri="{FF2B5EF4-FFF2-40B4-BE49-F238E27FC236}">
                <a16:creationId xmlns:a16="http://schemas.microsoft.com/office/drawing/2014/main" id="{4B9905FB-09D5-E179-2DB7-D3AC27E86338}"/>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53344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BE4A9-0D80-63E2-93A1-0CD590C2F5FE}"/>
              </a:ext>
            </a:extLst>
          </p:cNvPr>
          <p:cNvSpPr>
            <a:spLocks noGrp="1"/>
          </p:cNvSpPr>
          <p:nvPr>
            <p:ph type="title"/>
          </p:nvPr>
        </p:nvSpPr>
        <p:spPr>
          <a:xfrm>
            <a:off x="913795" y="0"/>
            <a:ext cx="10353762" cy="668594"/>
          </a:xfrm>
        </p:spPr>
        <p:txBody>
          <a:bodyPr>
            <a:normAutofit fontScale="90000"/>
          </a:bodyPr>
          <a:lstStyle/>
          <a:p>
            <a:r>
              <a:rPr lang="ar-EG" b="1">
                <a:solidFill>
                  <a:srgbClr val="FF0000"/>
                </a:solidFill>
              </a:rPr>
              <a:t>تحميل المستندات</a:t>
            </a:r>
            <a:endParaRPr lang="en-US" b="1" dirty="0">
              <a:solidFill>
                <a:srgbClr val="FF0000"/>
              </a:solidFill>
            </a:endParaRPr>
          </a:p>
        </p:txBody>
      </p:sp>
      <p:sp>
        <p:nvSpPr>
          <p:cNvPr id="3" name="Content Placeholder 2">
            <a:extLst>
              <a:ext uri="{FF2B5EF4-FFF2-40B4-BE49-F238E27FC236}">
                <a16:creationId xmlns:a16="http://schemas.microsoft.com/office/drawing/2014/main" id="{D8EFC7BF-7EA3-03B6-F9DF-0E2BE48F01F0}"/>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4094810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A2CEE-E4B4-FDA8-29CD-E7103B522F79}"/>
              </a:ext>
            </a:extLst>
          </p:cNvPr>
          <p:cNvSpPr>
            <a:spLocks noGrp="1"/>
          </p:cNvSpPr>
          <p:nvPr>
            <p:ph type="title"/>
          </p:nvPr>
        </p:nvSpPr>
        <p:spPr>
          <a:xfrm>
            <a:off x="844969" y="0"/>
            <a:ext cx="10353762" cy="698090"/>
          </a:xfrm>
        </p:spPr>
        <p:txBody>
          <a:bodyPr>
            <a:normAutofit fontScale="90000"/>
          </a:bodyPr>
          <a:lstStyle/>
          <a:p>
            <a:r>
              <a:rPr lang="ar-EG" b="1">
                <a:solidFill>
                  <a:srgbClr val="FF0000"/>
                </a:solidFill>
              </a:rPr>
              <a:t>المراجعة المركزية</a:t>
            </a:r>
            <a:endParaRPr lang="en-US" b="1" dirty="0">
              <a:solidFill>
                <a:srgbClr val="FF0000"/>
              </a:solidFill>
            </a:endParaRPr>
          </a:p>
        </p:txBody>
      </p:sp>
      <p:sp>
        <p:nvSpPr>
          <p:cNvPr id="3" name="Content Placeholder 2">
            <a:extLst>
              <a:ext uri="{FF2B5EF4-FFF2-40B4-BE49-F238E27FC236}">
                <a16:creationId xmlns:a16="http://schemas.microsoft.com/office/drawing/2014/main" id="{EA6FB638-B82F-DC6A-F0B1-71E66F335DC0}"/>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42449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A297D-FA92-F0E4-599A-68EAB03047C0}"/>
              </a:ext>
            </a:extLst>
          </p:cNvPr>
          <p:cNvSpPr>
            <a:spLocks noGrp="1"/>
          </p:cNvSpPr>
          <p:nvPr>
            <p:ph type="title"/>
          </p:nvPr>
        </p:nvSpPr>
        <p:spPr>
          <a:xfrm>
            <a:off x="913795" y="0"/>
            <a:ext cx="10353762" cy="766916"/>
          </a:xfrm>
        </p:spPr>
        <p:txBody>
          <a:bodyPr/>
          <a:lstStyle/>
          <a:p>
            <a:r>
              <a:rPr lang="ar-EG" b="1">
                <a:solidFill>
                  <a:srgbClr val="FF0000"/>
                </a:solidFill>
              </a:rPr>
              <a:t>الصرف</a:t>
            </a:r>
            <a:endParaRPr lang="en-US" b="1" dirty="0">
              <a:solidFill>
                <a:srgbClr val="FF0000"/>
              </a:solidFill>
            </a:endParaRPr>
          </a:p>
        </p:txBody>
      </p:sp>
      <p:sp>
        <p:nvSpPr>
          <p:cNvPr id="3" name="Content Placeholder 2">
            <a:extLst>
              <a:ext uri="{FF2B5EF4-FFF2-40B4-BE49-F238E27FC236}">
                <a16:creationId xmlns:a16="http://schemas.microsoft.com/office/drawing/2014/main" id="{24E0624C-F15D-C0E6-7DF1-8E90C1166A7A}"/>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40754325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2536-DCCC-8C3D-9370-41602B2F1CB9}"/>
              </a:ext>
            </a:extLst>
          </p:cNvPr>
          <p:cNvSpPr>
            <a:spLocks noGrp="1"/>
          </p:cNvSpPr>
          <p:nvPr>
            <p:ph type="title"/>
          </p:nvPr>
        </p:nvSpPr>
        <p:spPr>
          <a:xfrm>
            <a:off x="913795" y="0"/>
            <a:ext cx="10353762" cy="609600"/>
          </a:xfrm>
        </p:spPr>
        <p:txBody>
          <a:bodyPr>
            <a:normAutofit fontScale="90000"/>
          </a:bodyPr>
          <a:lstStyle/>
          <a:p>
            <a:r>
              <a:rPr lang="en-US" b="1" dirty="0">
                <a:solidFill>
                  <a:srgbClr val="FF0000"/>
                </a:solidFill>
              </a:rPr>
              <a:t>Region at </a:t>
            </a:r>
          </a:p>
        </p:txBody>
      </p:sp>
      <p:sp>
        <p:nvSpPr>
          <p:cNvPr id="3" name="Content Placeholder 2">
            <a:extLst>
              <a:ext uri="{FF2B5EF4-FFF2-40B4-BE49-F238E27FC236}">
                <a16:creationId xmlns:a16="http://schemas.microsoft.com/office/drawing/2014/main" id="{5BEA9423-2224-07FD-FD9F-8B5FEDB393E2}"/>
              </a:ext>
            </a:extLst>
          </p:cNvPr>
          <p:cNvSpPr>
            <a:spLocks noGrp="1"/>
          </p:cNvSpPr>
          <p:nvPr>
            <p:ph idx="1"/>
          </p:nvPr>
        </p:nvSpPr>
        <p:spPr>
          <a:xfrm>
            <a:off x="314632" y="609601"/>
            <a:ext cx="11611897" cy="6076334"/>
          </a:xfrm>
        </p:spPr>
        <p:txBody>
          <a:bodyPr>
            <a:normAutofit/>
          </a:bodyPr>
          <a:lstStyle/>
          <a:p>
            <a:r>
              <a:rPr lang="en-US" sz="1800" dirty="0" err="1"/>
              <a:t>RegionId</a:t>
            </a:r>
            <a:r>
              <a:rPr lang="en-US" sz="1800"/>
              <a:t>, </a:t>
            </a:r>
            <a:r>
              <a:rPr lang="en-US"/>
              <a:t>int </a:t>
            </a:r>
            <a:r>
              <a:rPr lang="en-US" b="1">
                <a:solidFill>
                  <a:srgbClr val="FFFF00"/>
                </a:solidFill>
              </a:rPr>
              <a:t>[FK]</a:t>
            </a:r>
            <a:endParaRPr lang="en-US" sz="1800" b="1">
              <a:solidFill>
                <a:srgbClr val="FFFF00"/>
              </a:solidFill>
            </a:endParaRPr>
          </a:p>
          <a:p>
            <a:r>
              <a:rPr lang="en-US" sz="1800"/>
              <a:t>RegionNameAR : string</a:t>
            </a:r>
          </a:p>
          <a:p>
            <a:r>
              <a:rPr lang="en-US" sz="1800"/>
              <a:t>RegionNameEn: string</a:t>
            </a:r>
          </a:p>
          <a:p>
            <a:r>
              <a:rPr lang="en-US"/>
              <a:t>ICollection&lt;Branch&gt; Branches</a:t>
            </a:r>
          </a:p>
          <a:p>
            <a:r>
              <a:rPr lang="en-US"/>
              <a:t>ICollection&lt;Governorate&gt; Governorates</a:t>
            </a:r>
          </a:p>
          <a:p>
            <a:r>
              <a:rPr lang="en-US"/>
              <a:t>ICollection&lt;Flow_ISCORE&gt; Flow_ISCORE</a:t>
            </a:r>
          </a:p>
          <a:p>
            <a:r>
              <a:rPr lang="en-US"/>
              <a:t>ICollection&lt;Trans_Open_Close_Branch_M&gt; Trans_Open_Close_Branch_M</a:t>
            </a:r>
          </a:p>
          <a:p>
            <a:r>
              <a:rPr lang="en-US"/>
              <a:t>ICollection&lt;Trans_Open_Close_LO_M&gt; Trans_Open_Close_LO_M</a:t>
            </a:r>
            <a:endParaRPr lang="en-US" sz="1800"/>
          </a:p>
          <a:p>
            <a:endParaRPr lang="en-US" sz="1800"/>
          </a:p>
        </p:txBody>
      </p:sp>
    </p:spTree>
    <p:extLst>
      <p:ext uri="{BB962C8B-B14F-4D97-AF65-F5344CB8AC3E}">
        <p14:creationId xmlns:p14="http://schemas.microsoft.com/office/powerpoint/2010/main" val="18154694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EAB15-CC51-C498-9EEC-A137D0323F46}"/>
              </a:ext>
            </a:extLst>
          </p:cNvPr>
          <p:cNvSpPr>
            <a:spLocks noGrp="1"/>
          </p:cNvSpPr>
          <p:nvPr>
            <p:ph type="title"/>
          </p:nvPr>
        </p:nvSpPr>
        <p:spPr>
          <a:xfrm>
            <a:off x="919119" y="0"/>
            <a:ext cx="10353762" cy="589935"/>
          </a:xfrm>
        </p:spPr>
        <p:txBody>
          <a:bodyPr>
            <a:normAutofit fontScale="90000"/>
          </a:bodyPr>
          <a:lstStyle/>
          <a:p>
            <a:r>
              <a:rPr lang="en-US" b="1">
                <a:solidFill>
                  <a:srgbClr val="FF0000"/>
                </a:solidFill>
              </a:rPr>
              <a:t>Governorate at common</a:t>
            </a:r>
          </a:p>
        </p:txBody>
      </p:sp>
      <p:sp>
        <p:nvSpPr>
          <p:cNvPr id="3" name="Content Placeholder 2">
            <a:extLst>
              <a:ext uri="{FF2B5EF4-FFF2-40B4-BE49-F238E27FC236}">
                <a16:creationId xmlns:a16="http://schemas.microsoft.com/office/drawing/2014/main" id="{8EEA33DE-45C9-F8E4-0DAE-47A71E2D1B22}"/>
              </a:ext>
            </a:extLst>
          </p:cNvPr>
          <p:cNvSpPr>
            <a:spLocks noGrp="1"/>
          </p:cNvSpPr>
          <p:nvPr>
            <p:ph idx="1"/>
          </p:nvPr>
        </p:nvSpPr>
        <p:spPr>
          <a:xfrm>
            <a:off x="196644" y="589935"/>
            <a:ext cx="11769213" cy="6154994"/>
          </a:xfrm>
        </p:spPr>
        <p:txBody>
          <a:bodyPr>
            <a:normAutofit/>
          </a:bodyPr>
          <a:lstStyle/>
          <a:p>
            <a:r>
              <a:rPr lang="en-US" sz="1800"/>
              <a:t>GovId</a:t>
            </a:r>
          </a:p>
          <a:p>
            <a:r>
              <a:rPr lang="en-US" sz="1800" err="1"/>
              <a:t>GovCode</a:t>
            </a:r>
            <a:endParaRPr lang="en-US" sz="1800"/>
          </a:p>
          <a:p>
            <a:r>
              <a:rPr lang="en-US" sz="1800" err="1"/>
              <a:t>GovNameAR</a:t>
            </a:r>
            <a:endParaRPr lang="en-US" sz="1800"/>
          </a:p>
          <a:p>
            <a:r>
              <a:rPr lang="en-US" sz="1800" err="1"/>
              <a:t>GovNameEn</a:t>
            </a:r>
            <a:endParaRPr lang="en-US" sz="1800"/>
          </a:p>
          <a:p>
            <a:r>
              <a:rPr lang="en-US" sz="1800"/>
              <a:t>RegionId </a:t>
            </a:r>
            <a:r>
              <a:rPr lang="en-US" sz="1800">
                <a:sym typeface="Wingdings" panose="05000000000000000000" pitchFamily="2" charset="2"/>
              </a:rPr>
              <a:t> </a:t>
            </a:r>
            <a:r>
              <a:rPr lang="ar-EG" sz="1800">
                <a:sym typeface="Wingdings" panose="05000000000000000000" pitchFamily="2" charset="2"/>
              </a:rPr>
              <a:t>بحري او قبلى</a:t>
            </a:r>
            <a:endParaRPr lang="en-US" sz="1800"/>
          </a:p>
          <a:p>
            <a:r>
              <a:rPr lang="en-US" sz="1800"/>
              <a:t>OriginalRegionId</a:t>
            </a:r>
          </a:p>
          <a:p>
            <a:endParaRPr lang="en-US" sz="1600"/>
          </a:p>
        </p:txBody>
      </p:sp>
    </p:spTree>
    <p:extLst>
      <p:ext uri="{BB962C8B-B14F-4D97-AF65-F5344CB8AC3E}">
        <p14:creationId xmlns:p14="http://schemas.microsoft.com/office/powerpoint/2010/main" val="37691749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AD0F1-7946-1FB5-D0C6-936DDB98C545}"/>
              </a:ext>
            </a:extLst>
          </p:cNvPr>
          <p:cNvSpPr>
            <a:spLocks noGrp="1"/>
          </p:cNvSpPr>
          <p:nvPr>
            <p:ph type="title"/>
          </p:nvPr>
        </p:nvSpPr>
        <p:spPr>
          <a:xfrm>
            <a:off x="913795" y="0"/>
            <a:ext cx="10353762" cy="589935"/>
          </a:xfrm>
        </p:spPr>
        <p:txBody>
          <a:bodyPr>
            <a:normAutofit fontScale="90000"/>
          </a:bodyPr>
          <a:lstStyle/>
          <a:p>
            <a:r>
              <a:rPr lang="en-US" b="1" err="1">
                <a:solidFill>
                  <a:srgbClr val="FF0000"/>
                </a:solidFill>
              </a:rPr>
              <a:t>Original_Region</a:t>
            </a:r>
            <a:r>
              <a:rPr lang="en-US" b="1">
                <a:solidFill>
                  <a:srgbClr val="FF0000"/>
                </a:solidFill>
              </a:rPr>
              <a:t> entity at common</a:t>
            </a:r>
          </a:p>
        </p:txBody>
      </p:sp>
      <p:sp>
        <p:nvSpPr>
          <p:cNvPr id="3" name="Content Placeholder 2">
            <a:extLst>
              <a:ext uri="{FF2B5EF4-FFF2-40B4-BE49-F238E27FC236}">
                <a16:creationId xmlns:a16="http://schemas.microsoft.com/office/drawing/2014/main" id="{7ECECAF3-0EA8-1856-F13A-4BCD070DD6A4}"/>
              </a:ext>
            </a:extLst>
          </p:cNvPr>
          <p:cNvSpPr>
            <a:spLocks noGrp="1"/>
          </p:cNvSpPr>
          <p:nvPr>
            <p:ph idx="1"/>
          </p:nvPr>
        </p:nvSpPr>
        <p:spPr>
          <a:xfrm>
            <a:off x="344129" y="589935"/>
            <a:ext cx="11592232" cy="6164826"/>
          </a:xfrm>
        </p:spPr>
        <p:txBody>
          <a:bodyPr/>
          <a:lstStyle/>
          <a:p>
            <a:r>
              <a:rPr lang="en-US"/>
              <a:t>int </a:t>
            </a:r>
            <a:r>
              <a:rPr lang="en-US" err="1"/>
              <a:t>OR_Id</a:t>
            </a:r>
            <a:endParaRPr lang="en-US"/>
          </a:p>
          <a:p>
            <a:r>
              <a:rPr lang="en-US"/>
              <a:t>RegionNameAR</a:t>
            </a:r>
          </a:p>
          <a:p>
            <a:r>
              <a:rPr lang="en-US"/>
              <a:t>RegionNameEn</a:t>
            </a:r>
          </a:p>
          <a:p>
            <a:r>
              <a:rPr lang="en-US"/>
              <a:t>GovId</a:t>
            </a:r>
          </a:p>
          <a:p>
            <a:r>
              <a:rPr lang="en-US"/>
              <a:t>RegionId</a:t>
            </a:r>
          </a:p>
        </p:txBody>
      </p:sp>
    </p:spTree>
    <p:extLst>
      <p:ext uri="{BB962C8B-B14F-4D97-AF65-F5344CB8AC3E}">
        <p14:creationId xmlns:p14="http://schemas.microsoft.com/office/powerpoint/2010/main" val="468598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636391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1390343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latin typeface="Tahoma" panose="020B0604030504040204" pitchFamily="34" charset="0"/>
                <a:ea typeface="Tahoma" panose="020B0604030504040204" pitchFamily="34" charset="0"/>
                <a:cs typeface="Tahoma" panose="020B0604030504040204" pitchFamily="34" charset="0"/>
              </a:rPr>
              <a:t>allow insert fund</a:t>
            </a:r>
          </a:p>
          <a:p>
            <a:pPr lvl="1"/>
            <a:r>
              <a:rPr lang="en-US"/>
              <a:t>AllowInsertFund ==0 // 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86707" y="3243337"/>
            <a:ext cx="11661058"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87930" y="3809550"/>
            <a:ext cx="11659835"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86707" y="4425254"/>
            <a:ext cx="11659835"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86707" y="5004405"/>
            <a:ext cx="1132095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86707" y="5584508"/>
            <a:ext cx="11659834"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86707" y="6143840"/>
            <a:ext cx="11659834" cy="66345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797686" y="3866140"/>
            <a:ext cx="7948824" cy="556773"/>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تم صرفه فعلياً للعميل</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err="1"/>
              <a:t>Open_date</a:t>
            </a:r>
            <a:r>
              <a:rPr lang="en-US" sz="1800"/>
              <a:t> : </a:t>
            </a:r>
            <a:r>
              <a:rPr lang="en-US" sz="1800">
                <a:effectLst/>
              </a:rPr>
              <a:t>date of request based on the </a:t>
            </a:r>
            <a:r>
              <a:rPr lang="en-US" sz="1800" err="1">
                <a:effectLst/>
              </a:rPr>
              <a:t>busdate</a:t>
            </a:r>
            <a:endParaRPr lang="en-US" sz="1800"/>
          </a:p>
          <a:p>
            <a:r>
              <a:rPr lang="en-US" sz="1800" err="1"/>
              <a:t>Yield_periodicity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err="1"/>
              <a:t>Loan_code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076121"/>
          </a:xfrm>
        </p:spPr>
        <p:txBody>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r>
              <a:rPr lang="en-US"/>
              <a:t>After CO final reject the funding_request</a:t>
            </a:r>
          </a:p>
          <a:p>
            <a:pPr lvl="1"/>
            <a:r>
              <a:rPr lang="en-US" b="1">
                <a:solidFill>
                  <a:srgbClr val="FFFF00"/>
                </a:solidFill>
              </a:rPr>
              <a:t>status_code: 19 </a:t>
            </a:r>
            <a:r>
              <a:rPr lang="ar-EG" b="1">
                <a:solidFill>
                  <a:srgbClr val="FFFF00"/>
                </a:solidFill>
              </a:rPr>
              <a:t>:</a:t>
            </a:r>
            <a:r>
              <a:rPr lang="en-US" b="1">
                <a:solidFill>
                  <a:srgbClr val="FFFF00"/>
                </a:solidFill>
              </a:rPr>
              <a:t> </a:t>
            </a:r>
            <a:r>
              <a:rPr lang="ar-EG" b="1">
                <a:solidFill>
                  <a:srgbClr val="FFFF00"/>
                </a:solidFill>
              </a:rPr>
              <a:t>الطلب تم رفضه نهائي من قبل المسئول الاول</a:t>
            </a:r>
            <a:endParaRPr lang="ar-EG"/>
          </a:p>
          <a:p>
            <a:endParaRPr lang="en-US"/>
          </a:p>
        </p:txBody>
      </p:sp>
    </p:spTree>
    <p:extLst>
      <p:ext uri="{BB962C8B-B14F-4D97-AF65-F5344CB8AC3E}">
        <p14:creationId xmlns:p14="http://schemas.microsoft.com/office/powerpoint/2010/main" val="26058029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452284" y="550607"/>
            <a:ext cx="11307097" cy="5653548"/>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763297"/>
            <a:ext cx="7423355" cy="2878393"/>
          </a:xfrm>
          <a:prstGeom prst="rect">
            <a:avLst/>
          </a:prstGeom>
        </p:spPr>
      </p:pic>
    </p:spTree>
    <p:extLst>
      <p:ext uri="{BB962C8B-B14F-4D97-AF65-F5344CB8AC3E}">
        <p14:creationId xmlns:p14="http://schemas.microsoft.com/office/powerpoint/2010/main" val="31333468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b="1">
                <a:solidFill>
                  <a:srgbClr val="92D050"/>
                </a:solidFill>
              </a:rPr>
              <a:t>طلبات غير مرسلة</a:t>
            </a:r>
            <a:endParaRPr lang="en-US" sz="1600" b="1">
              <a:solidFill>
                <a:srgbClr val="92D050"/>
              </a:solidFill>
            </a:endParaRPr>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sz="1600" b="1">
                <a:solidFill>
                  <a:srgbClr val="FFFF00"/>
                </a:solidFill>
              </a:rPr>
              <a:t>R111: </a:t>
            </a:r>
            <a:r>
              <a:rPr lang="ar-EG" sz="1600" b="1">
                <a:solidFill>
                  <a:srgbClr val="FFFF00"/>
                </a:solidFill>
              </a:rPr>
              <a:t>طلب التمويل</a:t>
            </a:r>
          </a:p>
          <a:p>
            <a:pPr lvl="1"/>
            <a:r>
              <a:rPr lang="en-US" sz="1600" b="1">
                <a:solidFill>
                  <a:srgbClr val="FFFF00"/>
                </a:solidFill>
              </a:rPr>
              <a:t>CO1010: </a:t>
            </a:r>
            <a:r>
              <a:rPr lang="ar-EG" sz="1600" b="1">
                <a:solidFill>
                  <a:srgbClr val="FFFF00"/>
                </a:solidFill>
              </a:rPr>
              <a:t>مراجعة اولية</a:t>
            </a:r>
            <a:endParaRPr lang="en-US" sz="1600" b="1">
              <a:solidFill>
                <a:srgbClr val="FFFF00"/>
              </a:solidFill>
            </a:endParaRPr>
          </a:p>
          <a:p>
            <a:pPr lvl="1"/>
            <a:r>
              <a:rPr lang="en-US" sz="1600" b="1">
                <a:solidFill>
                  <a:srgbClr val="FFFF00"/>
                </a:solidFill>
              </a:rPr>
              <a:t>CO1311: </a:t>
            </a:r>
            <a:r>
              <a:rPr lang="ar-EG" sz="1600" b="1">
                <a:solidFill>
                  <a:srgbClr val="FFFF00"/>
                </a:solidFill>
              </a:rPr>
              <a:t>زيارة ميدانية</a:t>
            </a:r>
            <a:endParaRPr lang="en-US" sz="1600" b="1">
              <a:solidFill>
                <a:srgbClr val="FFFF00"/>
              </a:solidFill>
            </a:endParaRPr>
          </a:p>
          <a:p>
            <a:pPr lvl="1"/>
            <a:r>
              <a:rPr lang="en-US" sz="1600" b="1">
                <a:solidFill>
                  <a:srgbClr val="FFFF00"/>
                </a:solidFill>
              </a:rPr>
              <a:t>CA1211: </a:t>
            </a:r>
            <a:r>
              <a:rPr lang="ar-EG" sz="1600" b="1">
                <a:solidFill>
                  <a:srgbClr val="FFFF00"/>
                </a:solidFill>
              </a:rPr>
              <a:t>تحليل ائتماني</a:t>
            </a:r>
            <a:endParaRPr lang="en-US" sz="1600" b="1">
              <a:solidFill>
                <a:srgbClr val="FFFF00"/>
              </a:solidFill>
            </a:endParaRPr>
          </a:p>
          <a:p>
            <a:pPr lvl="1"/>
            <a:r>
              <a:rPr lang="en-US" sz="1600" b="1">
                <a:solidFill>
                  <a:srgbClr val="FFFF00"/>
                </a:solidFill>
              </a:rPr>
              <a:t>DU77: </a:t>
            </a:r>
            <a:r>
              <a:rPr lang="ar-EG" sz="1600" b="1">
                <a:solidFill>
                  <a:srgbClr val="FFFF00"/>
                </a:solidFill>
              </a:rPr>
              <a:t>تحميل مستندات</a:t>
            </a:r>
            <a:endParaRPr lang="en-US" sz="1600" b="1">
              <a:solidFill>
                <a:srgbClr val="FFFF00"/>
              </a:solidFill>
            </a:endParaRPr>
          </a:p>
          <a:p>
            <a:pPr lvl="1"/>
            <a:r>
              <a:rPr lang="en-US" sz="1600" b="1">
                <a:solidFill>
                  <a:srgbClr val="FFFF00"/>
                </a:solidFill>
              </a:rPr>
              <a:t>LR55: </a:t>
            </a:r>
            <a:r>
              <a:rPr lang="ar-EG" sz="1600" b="1">
                <a:solidFill>
                  <a:srgbClr val="FFFF00"/>
                </a:solidFill>
              </a:rPr>
              <a:t>مراجعة مركزية</a:t>
            </a:r>
            <a:endParaRPr lang="en-US" sz="1600" b="1">
              <a:solidFill>
                <a:srgbClr val="FFFF00"/>
              </a:solidFill>
            </a:endParaRPr>
          </a:p>
          <a:p>
            <a:pPr lvl="1"/>
            <a:r>
              <a:rPr lang="en-US" sz="1600" b="1">
                <a:solidFill>
                  <a:srgbClr val="FFFF00"/>
                </a:solidFill>
              </a:rPr>
              <a:t>BMSC66: </a:t>
            </a:r>
            <a:r>
              <a:rPr lang="ar-EG" sz="1600" b="1">
                <a:solidFill>
                  <a:srgbClr val="FFFF00"/>
                </a:solidFill>
              </a:rPr>
              <a:t>إتمام توقيع</a:t>
            </a:r>
            <a:endParaRPr lang="en-US" sz="1600"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normAutofit/>
          </a:bodyPr>
          <a:lstStyle/>
          <a:p>
            <a:r>
              <a:rPr lang="en-US" sz="3600" b="1">
                <a:solidFill>
                  <a:srgbClr val="FFFF00"/>
                </a:solidFill>
              </a:rPr>
              <a:t>TDWF.</a:t>
            </a:r>
            <a:r>
              <a:rPr lang="en-US" sz="3600" b="1">
                <a:solidFill>
                  <a:srgbClr val="FF0000"/>
                </a:solidFill>
              </a:rPr>
              <a:t>Flow_Request_Deportation [cont. 4]</a:t>
            </a:r>
            <a:endParaRPr lang="en-US" sz="3600"/>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D162FB-B1B4-8807-C47D-A98FA74C0AD2}"/>
              </a:ext>
            </a:extLst>
          </p:cNvPr>
          <p:cNvSpPr>
            <a:spLocks noGrp="1"/>
          </p:cNvSpPr>
          <p:nvPr>
            <p:ph type="title"/>
          </p:nvPr>
        </p:nvSpPr>
        <p:spPr>
          <a:xfrm>
            <a:off x="913795" y="0"/>
            <a:ext cx="10353762" cy="688258"/>
          </a:xfrm>
        </p:spPr>
        <p:txBody>
          <a:bodyPr>
            <a:normAutofit/>
          </a:bodyPr>
          <a:lstStyle/>
          <a:p>
            <a:r>
              <a:rPr lang="en-US" sz="3200" b="1">
                <a:solidFill>
                  <a:srgbClr val="FFFF00"/>
                </a:solidFill>
              </a:rPr>
              <a:t>TDWF.</a:t>
            </a:r>
            <a:r>
              <a:rPr lang="en-US" sz="3200" b="1">
                <a:solidFill>
                  <a:srgbClr val="FF0000"/>
                </a:solidFill>
              </a:rPr>
              <a:t>Flow_Request_Deportation [cont. 5]</a:t>
            </a:r>
            <a:endParaRPr lang="en-US" sz="3200"/>
          </a:p>
        </p:txBody>
      </p:sp>
      <p:sp>
        <p:nvSpPr>
          <p:cNvPr id="3" name="Content Placeholder 2">
            <a:extLst>
              <a:ext uri="{FF2B5EF4-FFF2-40B4-BE49-F238E27FC236}">
                <a16:creationId xmlns:a16="http://schemas.microsoft.com/office/drawing/2014/main" id="{4317B5F5-622C-D6E2-6BDC-41103F4591AF}"/>
              </a:ext>
            </a:extLst>
          </p:cNvPr>
          <p:cNvSpPr>
            <a:spLocks noGrp="1"/>
          </p:cNvSpPr>
          <p:nvPr>
            <p:ph idx="1"/>
          </p:nvPr>
        </p:nvSpPr>
        <p:spPr>
          <a:xfrm>
            <a:off x="216310" y="688258"/>
            <a:ext cx="11828206" cy="6095999"/>
          </a:xfrm>
        </p:spPr>
        <p:txBody>
          <a:bodyPr/>
          <a:lstStyle/>
          <a:p>
            <a:r>
              <a:rPr lang="en-US"/>
              <a:t>After funding request is </a:t>
            </a:r>
            <a:r>
              <a:rPr lang="en-US" b="1">
                <a:solidFill>
                  <a:srgbClr val="FF0000"/>
                </a:solidFill>
              </a:rPr>
              <a:t>Final Rejected</a:t>
            </a:r>
            <a:r>
              <a:rPr lang="en-US"/>
              <a:t> VIA CO </a:t>
            </a:r>
            <a:r>
              <a:rPr lang="ar-EG" b="1">
                <a:solidFill>
                  <a:srgbClr val="FF0000"/>
                </a:solidFill>
              </a:rPr>
              <a:t>رفض نهائي</a:t>
            </a:r>
          </a:p>
          <a:p>
            <a:pPr lvl="1"/>
            <a:r>
              <a:rPr lang="en-US">
                <a:highlight>
                  <a:srgbClr val="FFFF00"/>
                </a:highlight>
              </a:rPr>
              <a:t>UserId_from= 14154  // the CO Id</a:t>
            </a:r>
          </a:p>
          <a:p>
            <a:pPr lvl="1"/>
            <a:r>
              <a:rPr lang="en-US"/>
              <a:t>UserId_to = NULL    //</a:t>
            </a:r>
          </a:p>
          <a:p>
            <a:pPr lvl="1"/>
            <a:r>
              <a:rPr lang="en-US">
                <a:highlight>
                  <a:srgbClr val="FFFF00"/>
                </a:highlight>
              </a:rPr>
              <a:t>Name_step_from  : </a:t>
            </a:r>
            <a:r>
              <a:rPr lang="ar-EG">
                <a:highlight>
                  <a:srgbClr val="FFFF00"/>
                </a:highlight>
              </a:rPr>
              <a:t>مراجعة أولية</a:t>
            </a:r>
          </a:p>
          <a:p>
            <a:pPr lvl="1"/>
            <a:r>
              <a:rPr lang="en-US"/>
              <a:t>Name_step_to:	 </a:t>
            </a:r>
          </a:p>
          <a:p>
            <a:pPr lvl="1"/>
            <a:r>
              <a:rPr lang="en-US"/>
              <a:t>Code_action (from: Flow_Actions): </a:t>
            </a:r>
            <a:r>
              <a:rPr lang="en-US" sz="2000" b="1">
                <a:solidFill>
                  <a:srgbClr val="FFFF00"/>
                </a:solidFill>
              </a:rPr>
              <a:t>Null</a:t>
            </a:r>
            <a:endParaRPr lang="en-US"/>
          </a:p>
          <a:p>
            <a:pPr lvl="1"/>
            <a:r>
              <a:rPr lang="en-US"/>
              <a:t>Status_one: </a:t>
            </a:r>
            <a:r>
              <a:rPr lang="en-US" b="1">
                <a:solidFill>
                  <a:srgbClr val="00B0F0"/>
                </a:solidFill>
              </a:rPr>
              <a:t>Final</a:t>
            </a:r>
            <a:r>
              <a:rPr lang="en-US"/>
              <a:t> </a:t>
            </a:r>
            <a:r>
              <a:rPr lang="en-US" b="1">
                <a:solidFill>
                  <a:srgbClr val="00B0F0"/>
                </a:solidFill>
              </a:rPr>
              <a:t>Reject</a:t>
            </a:r>
            <a:r>
              <a:rPr lang="en-US"/>
              <a:t> // means the Name_step_from  : </a:t>
            </a:r>
            <a:r>
              <a:rPr lang="ar-EG"/>
              <a:t>مراجعة أولية</a:t>
            </a:r>
            <a:r>
              <a:rPr lang="en-US"/>
              <a:t> is final rejected</a:t>
            </a:r>
          </a:p>
          <a:p>
            <a:pPr lvl="1"/>
            <a:r>
              <a:rPr lang="en-US"/>
              <a:t>Status_two: </a:t>
            </a:r>
            <a:endParaRPr lang="ar-EG"/>
          </a:p>
          <a:p>
            <a:endParaRPr lang="en-US"/>
          </a:p>
          <a:p>
            <a:endParaRPr lang="en-US"/>
          </a:p>
        </p:txBody>
      </p:sp>
    </p:spTree>
    <p:extLst>
      <p:ext uri="{BB962C8B-B14F-4D97-AF65-F5344CB8AC3E}">
        <p14:creationId xmlns:p14="http://schemas.microsoft.com/office/powerpoint/2010/main" val="8476258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dirty="0" err="1">
                <a:solidFill>
                  <a:srgbClr val="FFFF00"/>
                </a:solidFill>
              </a:rPr>
              <a:t>TDWF</a:t>
            </a:r>
            <a:r>
              <a:rPr lang="en-US" sz="3600" dirty="0" err="1"/>
              <a:t>.</a:t>
            </a:r>
            <a:r>
              <a:rPr lang="en-US" sz="3600" b="1" dirty="0"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24172" y="619432"/>
            <a:ext cx="12167828"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649893934"/>
              </p:ext>
            </p:extLst>
          </p:nvPr>
        </p:nvGraphicFramePr>
        <p:xfrm>
          <a:off x="7295532" y="1014110"/>
          <a:ext cx="4601500" cy="1752600"/>
        </p:xfrm>
        <a:graphic>
          <a:graphicData uri="http://schemas.openxmlformats.org/drawingml/2006/table">
            <a:tbl>
              <a:tblPr firstRow="1" bandRow="1">
                <a:tableStyleId>{5C22544A-7EE6-4342-B048-85BDC9FD1C3A}</a:tableStyleId>
              </a:tblPr>
              <a:tblGrid>
                <a:gridCol w="2300750">
                  <a:extLst>
                    <a:ext uri="{9D8B030D-6E8A-4147-A177-3AD203B41FA5}">
                      <a16:colId xmlns:a16="http://schemas.microsoft.com/office/drawing/2014/main" val="953148366"/>
                    </a:ext>
                  </a:extLst>
                </a:gridCol>
                <a:gridCol w="2300750">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2891636773"/>
              </p:ext>
            </p:extLst>
          </p:nvPr>
        </p:nvGraphicFramePr>
        <p:xfrm>
          <a:off x="102829" y="2966664"/>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946897">
                  <a:extLst>
                    <a:ext uri="{9D8B030D-6E8A-4147-A177-3AD203B41FA5}">
                      <a16:colId xmlns:a16="http://schemas.microsoft.com/office/drawing/2014/main" val="396291970"/>
                    </a:ext>
                  </a:extLst>
                </a:gridCol>
                <a:gridCol w="1995949">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r>
                        <a:rPr lang="en-US"/>
                        <a:t>UserId</a:t>
                      </a:r>
                    </a:p>
                  </a:txBody>
                  <a:tcPr/>
                </a:tc>
                <a:tc>
                  <a:txBody>
                    <a:bodyPr/>
                    <a:lstStyle/>
                    <a:p>
                      <a:r>
                        <a:rPr lang="en-US"/>
                        <a:t>Reject_by_phase</a:t>
                      </a:r>
                    </a:p>
                  </a:txBody>
                  <a:tcPr/>
                </a:tc>
                <a:tc>
                  <a:txBody>
                    <a:bodyPr/>
                    <a:lstStyle/>
                    <a:p>
                      <a:r>
                        <a:rPr lang="en-US"/>
                        <a:t>Request_id</a:t>
                      </a:r>
                    </a:p>
                  </a:txBody>
                  <a:tcPr/>
                </a:tc>
                <a:tc>
                  <a:txBody>
                    <a:bodyPr/>
                    <a:lstStyle/>
                    <a:p>
                      <a:r>
                        <a:rPr lang="en-US"/>
                        <a:t>Remarks</a:t>
                      </a:r>
                    </a:p>
                  </a:txBody>
                  <a:tcPr/>
                </a:tc>
                <a:tc>
                  <a:txBody>
                    <a:bodyPr/>
                    <a:lstStyle/>
                    <a:p>
                      <a:r>
                        <a:rPr lang="en-US"/>
                        <a:t>InsertDate</a:t>
                      </a:r>
                    </a:p>
                  </a:txBody>
                  <a:tcPr/>
                </a:tc>
                <a:tc>
                  <a:txBody>
                    <a:bodyPr/>
                    <a:lstStyle/>
                    <a:p>
                      <a:r>
                        <a:rPr lang="en-US"/>
                        <a:t>Rejection_flag</a:t>
                      </a:r>
                    </a:p>
                  </a:txBody>
                  <a:tcPr/>
                </a:tc>
                <a:extLst>
                  <a:ext uri="{0D108BD9-81ED-4DB2-BD59-A6C34878D82A}">
                    <a16:rowId xmlns:a16="http://schemas.microsoft.com/office/drawing/2014/main" val="2813072921"/>
                  </a:ext>
                </a:extLst>
              </a:tr>
              <a:tr h="370840">
                <a:tc>
                  <a:txBody>
                    <a:bodyPr/>
                    <a:lstStyle/>
                    <a:p>
                      <a:r>
                        <a:rPr lang="en-US"/>
                        <a:t>1152  [ CO ]</a:t>
                      </a:r>
                    </a:p>
                  </a:txBody>
                  <a:tcPr/>
                </a:tc>
                <a:tc>
                  <a:txBody>
                    <a:bodyPr/>
                    <a:lstStyle/>
                    <a:p>
                      <a:r>
                        <a:rPr lang="en-US"/>
                        <a:t>CO1010</a:t>
                      </a:r>
                    </a:p>
                  </a:txBody>
                  <a:tcPr/>
                </a:tc>
                <a:tc>
                  <a:txBody>
                    <a:bodyPr/>
                    <a:lstStyle/>
                    <a:p>
                      <a:r>
                        <a:rPr lang="en-US"/>
                        <a:t>1565295</a:t>
                      </a:r>
                    </a:p>
                  </a:txBody>
                  <a:tcPr/>
                </a:tc>
                <a:tc>
                  <a:txBody>
                    <a:bodyPr/>
                    <a:lstStyle/>
                    <a:p>
                      <a:r>
                        <a:rPr lang="ar-EG" sz="1600"/>
                        <a:t>تم الرفض من مرحلة المراجعة الأولية</a:t>
                      </a:r>
                      <a:endParaRPr lang="en-US" sz="1600"/>
                    </a:p>
                  </a:txBody>
                  <a:tcPr/>
                </a:tc>
                <a:tc>
                  <a:txBody>
                    <a:bodyPr/>
                    <a:lstStyle/>
                    <a:p>
                      <a:r>
                        <a:rPr lang="en-US" sz="1600"/>
                        <a:t>2026-02-25 11:15:07</a:t>
                      </a:r>
                    </a:p>
                  </a:txBody>
                  <a:tcPr/>
                </a:tc>
                <a:tc>
                  <a:txBody>
                    <a:bodyPr/>
                    <a:lstStyle/>
                    <a:p>
                      <a:r>
                        <a:rPr lang="ar-EG"/>
                        <a:t>2</a:t>
                      </a:r>
                      <a:endParaRPr lang="en-US"/>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b="1">
                <a:solidFill>
                  <a:srgbClr val="FFFF00"/>
                </a:solidFill>
              </a:rPr>
              <a:t>[FK] from Flow_Rejection_Main</a:t>
            </a:r>
          </a:p>
        </p:txBody>
      </p:sp>
    </p:spTree>
    <p:extLst>
      <p:ext uri="{BB962C8B-B14F-4D97-AF65-F5344CB8AC3E}">
        <p14:creationId xmlns:p14="http://schemas.microsoft.com/office/powerpoint/2010/main" val="25945814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C371A-EF07-CBCD-1233-CFDD455359D4}"/>
              </a:ext>
            </a:extLst>
          </p:cNvPr>
          <p:cNvSpPr>
            <a:spLocks noGrp="1"/>
          </p:cNvSpPr>
          <p:nvPr>
            <p:ph type="title"/>
          </p:nvPr>
        </p:nvSpPr>
        <p:spPr>
          <a:xfrm>
            <a:off x="913795" y="0"/>
            <a:ext cx="10353762" cy="970450"/>
          </a:xfrm>
        </p:spPr>
        <p:txBody>
          <a:bodyPr/>
          <a:lstStyle/>
          <a:p>
            <a:r>
              <a:rPr lang="en-US" b="1">
                <a:solidFill>
                  <a:srgbClr val="FFFF00"/>
                </a:solidFill>
              </a:rPr>
              <a:t>TDWF</a:t>
            </a:r>
            <a:r>
              <a:rPr lang="en-US"/>
              <a:t>.</a:t>
            </a:r>
            <a:r>
              <a:rPr lang="en-US" b="1">
                <a:solidFill>
                  <a:srgbClr val="FF0000"/>
                </a:solidFill>
              </a:rPr>
              <a:t>Flow_Rejections_SubOne [cont.1]</a:t>
            </a:r>
            <a:endParaRPr lang="en-US"/>
          </a:p>
        </p:txBody>
      </p:sp>
      <p:sp>
        <p:nvSpPr>
          <p:cNvPr id="3" name="Content Placeholder 2">
            <a:extLst>
              <a:ext uri="{FF2B5EF4-FFF2-40B4-BE49-F238E27FC236}">
                <a16:creationId xmlns:a16="http://schemas.microsoft.com/office/drawing/2014/main" id="{0B200E3E-059A-C3FB-2BFA-B1B945F5D940}"/>
              </a:ext>
            </a:extLst>
          </p:cNvPr>
          <p:cNvSpPr>
            <a:spLocks noGrp="1"/>
          </p:cNvSpPr>
          <p:nvPr>
            <p:ph idx="1"/>
          </p:nvPr>
        </p:nvSpPr>
        <p:spPr>
          <a:xfrm>
            <a:off x="176980" y="970451"/>
            <a:ext cx="12929419" cy="5705652"/>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pPr lvl="1"/>
            <a:r>
              <a:rPr lang="en-US" b="1">
                <a:solidFill>
                  <a:schemeClr val="tx1"/>
                </a:solidFill>
              </a:rPr>
              <a:t>The CO rejected at screen [ </a:t>
            </a:r>
            <a:r>
              <a:rPr lang="ar-EG" b="1">
                <a:solidFill>
                  <a:schemeClr val="tx1"/>
                </a:solidFill>
              </a:rPr>
              <a:t>: طلب قرض</a:t>
            </a:r>
            <a:r>
              <a:rPr lang="en-US" b="1">
                <a:solidFill>
                  <a:schemeClr val="tx1"/>
                </a:solidFill>
              </a:rPr>
              <a:t> </a:t>
            </a:r>
            <a:r>
              <a:rPr lang="ar-EG" b="1">
                <a:solidFill>
                  <a:schemeClr val="tx1"/>
                </a:solidFill>
              </a:rPr>
              <a:t>2</a:t>
            </a:r>
            <a:r>
              <a:rPr lang="en-US" b="1">
                <a:solidFill>
                  <a:schemeClr val="tx1"/>
                </a:solidFill>
              </a:rPr>
              <a:t>] </a:t>
            </a:r>
            <a:r>
              <a:rPr lang="ar-EG" b="1">
                <a:solidFill>
                  <a:schemeClr val="tx1"/>
                </a:solidFill>
              </a:rPr>
              <a:t>صله العميل بالضامن</a:t>
            </a:r>
            <a:endParaRPr lang="en-US" b="1">
              <a:solidFill>
                <a:schemeClr val="tx1"/>
              </a:solidFill>
            </a:endParaRPr>
          </a:p>
          <a:p>
            <a:pPr lvl="1"/>
            <a:r>
              <a:rPr lang="en-US" b="1">
                <a:solidFill>
                  <a:schemeClr val="tx1"/>
                </a:solidFill>
              </a:rPr>
              <a:t>The CO rejected </a:t>
            </a:r>
            <a:r>
              <a:rPr lang="ar-EG" b="1">
                <a:solidFill>
                  <a:schemeClr val="tx1"/>
                </a:solidFill>
              </a:rPr>
              <a:t>الاسم الاول</a:t>
            </a:r>
            <a:endParaRPr lang="en-US" b="1">
              <a:solidFill>
                <a:schemeClr val="tx1"/>
              </a:solidFill>
            </a:endParaRPr>
          </a:p>
          <a:p>
            <a:pPr lvl="1"/>
            <a:r>
              <a:rPr lang="en-US" b="1">
                <a:solidFill>
                  <a:schemeClr val="tx1"/>
                </a:solidFill>
              </a:rPr>
              <a:t>The CO rejected </a:t>
            </a:r>
            <a:r>
              <a:rPr lang="ar-EG" b="1">
                <a:solidFill>
                  <a:schemeClr val="tx1"/>
                </a:solidFill>
              </a:rPr>
              <a:t>اسم الشخص</a:t>
            </a:r>
            <a:endParaRPr lang="en-US" b="1">
              <a:solidFill>
                <a:schemeClr val="tx1"/>
              </a:solidFill>
            </a:endParaRPr>
          </a:p>
          <a:p>
            <a:endParaRPr lang="en-US"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87413163-944C-737B-8975-BCC4417383FE}"/>
              </a:ext>
            </a:extLst>
          </p:cNvPr>
          <p:cNvGraphicFramePr>
            <a:graphicFrameLocks noGrp="1"/>
          </p:cNvGraphicFramePr>
          <p:nvPr>
            <p:extLst>
              <p:ext uri="{D42A27DB-BD31-4B8C-83A1-F6EECF244321}">
                <p14:modId xmlns:p14="http://schemas.microsoft.com/office/powerpoint/2010/main" val="863933099"/>
              </p:ext>
            </p:extLst>
          </p:nvPr>
        </p:nvGraphicFramePr>
        <p:xfrm>
          <a:off x="442452" y="2931924"/>
          <a:ext cx="11425085" cy="148336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1232553221"/>
                    </a:ext>
                  </a:extLst>
                </a:gridCol>
                <a:gridCol w="1897626">
                  <a:extLst>
                    <a:ext uri="{9D8B030D-6E8A-4147-A177-3AD203B41FA5}">
                      <a16:colId xmlns:a16="http://schemas.microsoft.com/office/drawing/2014/main" val="753264519"/>
                    </a:ext>
                  </a:extLst>
                </a:gridCol>
                <a:gridCol w="1425678">
                  <a:extLst>
                    <a:ext uri="{9D8B030D-6E8A-4147-A177-3AD203B41FA5}">
                      <a16:colId xmlns:a16="http://schemas.microsoft.com/office/drawing/2014/main" val="1508910083"/>
                    </a:ext>
                  </a:extLst>
                </a:gridCol>
                <a:gridCol w="1291078">
                  <a:extLst>
                    <a:ext uri="{9D8B030D-6E8A-4147-A177-3AD203B41FA5}">
                      <a16:colId xmlns:a16="http://schemas.microsoft.com/office/drawing/2014/main" val="1295832117"/>
                    </a:ext>
                  </a:extLst>
                </a:gridCol>
                <a:gridCol w="1973232">
                  <a:extLst>
                    <a:ext uri="{9D8B030D-6E8A-4147-A177-3AD203B41FA5}">
                      <a16:colId xmlns:a16="http://schemas.microsoft.com/office/drawing/2014/main" val="3577669660"/>
                    </a:ext>
                  </a:extLst>
                </a:gridCol>
                <a:gridCol w="1632155">
                  <a:extLst>
                    <a:ext uri="{9D8B030D-6E8A-4147-A177-3AD203B41FA5}">
                      <a16:colId xmlns:a16="http://schemas.microsoft.com/office/drawing/2014/main" val="3223476129"/>
                    </a:ext>
                  </a:extLst>
                </a:gridCol>
                <a:gridCol w="1632155">
                  <a:extLst>
                    <a:ext uri="{9D8B030D-6E8A-4147-A177-3AD203B41FA5}">
                      <a16:colId xmlns:a16="http://schemas.microsoft.com/office/drawing/2014/main" val="488725321"/>
                    </a:ext>
                  </a:extLst>
                </a:gridCol>
              </a:tblGrid>
              <a:tr h="370840">
                <a:tc>
                  <a:txBody>
                    <a:bodyPr/>
                    <a:lstStyle/>
                    <a:p>
                      <a:pPr algn="ctr"/>
                      <a:r>
                        <a:rPr lang="en-US" b="1"/>
                        <a:t>Tabs code</a:t>
                      </a:r>
                    </a:p>
                  </a:txBody>
                  <a:tcPr/>
                </a:tc>
                <a:tc>
                  <a:txBody>
                    <a:bodyPr/>
                    <a:lstStyle/>
                    <a:p>
                      <a:pPr algn="ctr"/>
                      <a:r>
                        <a:rPr lang="en-US" b="1"/>
                        <a:t>Field_name</a:t>
                      </a:r>
                    </a:p>
                  </a:txBody>
                  <a:tcPr/>
                </a:tc>
                <a:tc>
                  <a:txBody>
                    <a:bodyPr/>
                    <a:lstStyle/>
                    <a:p>
                      <a:pPr algn="ctr"/>
                      <a:r>
                        <a:rPr lang="en-US" b="1"/>
                        <a:t>Field_code</a:t>
                      </a:r>
                    </a:p>
                  </a:txBody>
                  <a:tcPr/>
                </a:tc>
                <a:tc>
                  <a:txBody>
                    <a:bodyPr/>
                    <a:lstStyle/>
                    <a:p>
                      <a:pPr algn="ctr"/>
                      <a:r>
                        <a:rPr lang="en-US" b="1"/>
                        <a:t>UserId</a:t>
                      </a:r>
                    </a:p>
                  </a:txBody>
                  <a:tcPr/>
                </a:tc>
                <a:tc>
                  <a:txBody>
                    <a:bodyPr/>
                    <a:lstStyle/>
                    <a:p>
                      <a:pPr algn="ctr"/>
                      <a:r>
                        <a:rPr lang="en-US" b="1"/>
                        <a:t>Phase_back_to</a:t>
                      </a:r>
                    </a:p>
                  </a:txBody>
                  <a:tcPr/>
                </a:tc>
                <a:tc>
                  <a:txBody>
                    <a:bodyPr/>
                    <a:lstStyle/>
                    <a:p>
                      <a:pPr algn="ctr"/>
                      <a:r>
                        <a:rPr lang="en-US" b="1"/>
                        <a:t>Comment</a:t>
                      </a:r>
                    </a:p>
                  </a:txBody>
                  <a:tcPr/>
                </a:tc>
                <a:tc>
                  <a:txBody>
                    <a:bodyPr/>
                    <a:lstStyle/>
                    <a:p>
                      <a:pPr algn="ctr"/>
                      <a:r>
                        <a:rPr lang="en-US" b="1"/>
                        <a:t>FRM_ID</a:t>
                      </a:r>
                    </a:p>
                  </a:txBody>
                  <a:tcPr/>
                </a:tc>
                <a:extLst>
                  <a:ext uri="{0D108BD9-81ED-4DB2-BD59-A6C34878D82A}">
                    <a16:rowId xmlns:a16="http://schemas.microsoft.com/office/drawing/2014/main" val="2212852566"/>
                  </a:ext>
                </a:extLst>
              </a:tr>
              <a:tr h="370840">
                <a:tc>
                  <a:txBody>
                    <a:bodyPr/>
                    <a:lstStyle/>
                    <a:p>
                      <a:pPr algn="ctr"/>
                      <a:r>
                        <a:rPr lang="en-US" b="1"/>
                        <a:t>2 [flow_tab]</a:t>
                      </a:r>
                    </a:p>
                  </a:txBody>
                  <a:tcPr/>
                </a:tc>
                <a:tc>
                  <a:txBody>
                    <a:bodyPr/>
                    <a:lstStyle/>
                    <a:p>
                      <a:pPr algn="ctr"/>
                      <a:r>
                        <a:rPr lang="ar-EG" b="1"/>
                        <a:t>صله العميل بالضامن</a:t>
                      </a:r>
                      <a:endParaRPr lang="en-US" b="1"/>
                    </a:p>
                  </a:txBody>
                  <a:tcPr/>
                </a:tc>
                <a:tc>
                  <a:txBody>
                    <a:bodyPr/>
                    <a:lstStyle/>
                    <a:p>
                      <a:pPr algn="ctr"/>
                      <a:r>
                        <a:rPr lang="en-US" b="1"/>
                        <a:t>1</a:t>
                      </a:r>
                    </a:p>
                  </a:txBody>
                  <a:tcPr/>
                </a:tc>
                <a:tc>
                  <a:txBody>
                    <a:bodyPr/>
                    <a:lstStyle/>
                    <a:p>
                      <a:pPr algn="ct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2950472985"/>
                  </a:ext>
                </a:extLst>
              </a:tr>
              <a:tr h="370840">
                <a:tc>
                  <a:txBody>
                    <a:bodyPr/>
                    <a:lstStyle/>
                    <a:p>
                      <a:pPr algn="ctr"/>
                      <a:r>
                        <a:rPr lang="en-US" b="1"/>
                        <a:t>3</a:t>
                      </a:r>
                    </a:p>
                  </a:txBody>
                  <a:tcPr/>
                </a:tc>
                <a:tc>
                  <a:txBody>
                    <a:bodyPr/>
                    <a:lstStyle/>
                    <a:p>
                      <a:pPr algn="ctr"/>
                      <a:r>
                        <a:rPr lang="ar-EG" b="1"/>
                        <a:t>الاسم الاول</a:t>
                      </a:r>
                      <a:endParaRPr lang="en-US" b="1"/>
                    </a:p>
                  </a:txBody>
                  <a:tcPr/>
                </a:tc>
                <a:tc>
                  <a:txBody>
                    <a:bodyPr/>
                    <a:lstStyle/>
                    <a:p>
                      <a:pPr algn="ctr"/>
                      <a:r>
                        <a:rPr lang="en-US" b="1"/>
                        <a:t>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81440603"/>
                  </a:ext>
                </a:extLst>
              </a:tr>
              <a:tr h="370840">
                <a:tc>
                  <a:txBody>
                    <a:bodyPr/>
                    <a:lstStyle/>
                    <a:p>
                      <a:pPr algn="ctr"/>
                      <a:r>
                        <a:rPr lang="en-US" b="1"/>
                        <a:t>1</a:t>
                      </a:r>
                    </a:p>
                  </a:txBody>
                  <a:tcPr/>
                </a:tc>
                <a:tc>
                  <a:txBody>
                    <a:bodyPr/>
                    <a:lstStyle/>
                    <a:p>
                      <a:pPr algn="ctr"/>
                      <a:r>
                        <a:rPr lang="ar-EG" b="1"/>
                        <a:t>اسم الشخص</a:t>
                      </a:r>
                      <a:endParaRPr lang="en-US" b="1"/>
                    </a:p>
                  </a:txBody>
                  <a:tcPr/>
                </a:tc>
                <a:tc>
                  <a:txBody>
                    <a:bodyPr/>
                    <a:lstStyle/>
                    <a:p>
                      <a:pPr algn="ctr"/>
                      <a:r>
                        <a:rPr lang="en-US" b="1"/>
                        <a:t>11</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36126872"/>
                  </a:ext>
                </a:extLst>
              </a:tr>
            </a:tbl>
          </a:graphicData>
        </a:graphic>
      </p:graphicFrame>
    </p:spTree>
    <p:extLst>
      <p:ext uri="{BB962C8B-B14F-4D97-AF65-F5344CB8AC3E}">
        <p14:creationId xmlns:p14="http://schemas.microsoft.com/office/powerpoint/2010/main" val="1958758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D9EC3-54AC-A34D-B2AB-577F638FA025}"/>
              </a:ext>
            </a:extLst>
          </p:cNvPr>
          <p:cNvSpPr>
            <a:spLocks noGrp="1"/>
          </p:cNvSpPr>
          <p:nvPr>
            <p:ph type="title"/>
          </p:nvPr>
        </p:nvSpPr>
        <p:spPr>
          <a:xfrm>
            <a:off x="697485" y="2192592"/>
            <a:ext cx="10560450" cy="1710813"/>
          </a:xfrm>
        </p:spPr>
        <p:txBody>
          <a:bodyPr>
            <a:normAutofit/>
          </a:bodyPr>
          <a:lstStyle/>
          <a:p>
            <a:r>
              <a:rPr lang="en-US" sz="6000" b="1">
                <a:solidFill>
                  <a:srgbClr val="FF0000"/>
                </a:solidFill>
              </a:rPr>
              <a:t>Field Visit</a:t>
            </a:r>
          </a:p>
        </p:txBody>
      </p:sp>
    </p:spTree>
    <p:extLst>
      <p:ext uri="{BB962C8B-B14F-4D97-AF65-F5344CB8AC3E}">
        <p14:creationId xmlns:p14="http://schemas.microsoft.com/office/powerpoint/2010/main" val="39683165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818560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a:t>
            </a:r>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Tree>
    <p:extLst>
      <p:ext uri="{BB962C8B-B14F-4D97-AF65-F5344CB8AC3E}">
        <p14:creationId xmlns:p14="http://schemas.microsoft.com/office/powerpoint/2010/main" val="7424721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E618-24B7-7516-347D-AD9E19426B9C}"/>
              </a:ext>
            </a:extLst>
          </p:cNvPr>
          <p:cNvSpPr>
            <a:spLocks noGrp="1"/>
          </p:cNvSpPr>
          <p:nvPr>
            <p:ph type="title"/>
          </p:nvPr>
        </p:nvSpPr>
        <p:spPr>
          <a:xfrm>
            <a:off x="913795" y="0"/>
            <a:ext cx="10353762" cy="619432"/>
          </a:xfrm>
        </p:spPr>
        <p:txBody>
          <a:bodyPr>
            <a:normAutofit fontScale="90000"/>
          </a:bodyPr>
          <a:lstStyle/>
          <a:p>
            <a:r>
              <a:rPr lang="en-US" sz="3600" b="1">
                <a:solidFill>
                  <a:srgbClr val="FFFF00"/>
                </a:solidFill>
              </a:rPr>
              <a:t>TDWF</a:t>
            </a:r>
            <a:r>
              <a:rPr lang="en-US" sz="3600"/>
              <a:t>.</a:t>
            </a:r>
            <a:r>
              <a:rPr lang="en-US" sz="3600" b="1">
                <a:solidFill>
                  <a:srgbClr val="FF0000"/>
                </a:solidFill>
              </a:rPr>
              <a:t>Flow_FieldVisits_Organization</a:t>
            </a:r>
          </a:p>
        </p:txBody>
      </p:sp>
      <p:sp>
        <p:nvSpPr>
          <p:cNvPr id="3" name="Content Placeholder 2">
            <a:extLst>
              <a:ext uri="{FF2B5EF4-FFF2-40B4-BE49-F238E27FC236}">
                <a16:creationId xmlns:a16="http://schemas.microsoft.com/office/drawing/2014/main" id="{DECBC9C4-8640-2904-C224-4A5A8CBE068C}"/>
              </a:ext>
            </a:extLst>
          </p:cNvPr>
          <p:cNvSpPr>
            <a:spLocks noGrp="1"/>
          </p:cNvSpPr>
          <p:nvPr>
            <p:ph idx="1"/>
          </p:nvPr>
        </p:nvSpPr>
        <p:spPr>
          <a:xfrm>
            <a:off x="235974" y="619432"/>
            <a:ext cx="11759381" cy="5928851"/>
          </a:xfrm>
        </p:spPr>
        <p:txBody>
          <a:bodyPr/>
          <a:lstStyle/>
          <a:p>
            <a:r>
              <a:rPr lang="en-US"/>
              <a:t>int FVORG_ID [ PK ]</a:t>
            </a:r>
          </a:p>
          <a:p>
            <a:r>
              <a:rPr lang="en-US"/>
              <a:t>string OrgSignID { get; set; }</a:t>
            </a:r>
            <a:endParaRPr lang="ar-EG"/>
          </a:p>
          <a:p>
            <a:pPr lvl="1"/>
            <a:r>
              <a:rPr lang="en-US"/>
              <a:t>StaticList In Front contains [ </a:t>
            </a:r>
            <a:r>
              <a:rPr lang="ar-EG"/>
              <a:t>يوجد , لايوجد</a:t>
            </a:r>
            <a:r>
              <a:rPr lang="en-US"/>
              <a:t>]</a:t>
            </a:r>
          </a:p>
          <a:p>
            <a:r>
              <a:rPr lang="en-US"/>
              <a:t>int WorkerCountPermanent</a:t>
            </a:r>
          </a:p>
          <a:p>
            <a:r>
              <a:rPr lang="en-US"/>
              <a:t>int WorkerCountTemporary </a:t>
            </a:r>
          </a:p>
          <a:p>
            <a:r>
              <a:rPr lang="en-US"/>
              <a:t>string Residence_Type</a:t>
            </a:r>
          </a:p>
          <a:p>
            <a:pPr lvl="1"/>
            <a:r>
              <a:rPr lang="ar-EG"/>
              <a:t>تمليك</a:t>
            </a:r>
          </a:p>
          <a:p>
            <a:pPr lvl="1"/>
            <a:r>
              <a:rPr lang="ar-EG"/>
              <a:t>ايجار جديد</a:t>
            </a:r>
          </a:p>
          <a:p>
            <a:pPr lvl="1"/>
            <a:r>
              <a:rPr lang="ar-EG"/>
              <a:t>ايجار قديم</a:t>
            </a:r>
            <a:endParaRPr lang="en-US"/>
          </a:p>
          <a:p>
            <a:r>
              <a:rPr lang="en-US"/>
              <a:t>string OrgRate</a:t>
            </a:r>
          </a:p>
          <a:p>
            <a:r>
              <a:rPr lang="en-US"/>
              <a:t>string GPSAddress</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p:txBody>
      </p:sp>
      <p:pic>
        <p:nvPicPr>
          <p:cNvPr id="5" name="Picture 4">
            <a:extLst>
              <a:ext uri="{FF2B5EF4-FFF2-40B4-BE49-F238E27FC236}">
                <a16:creationId xmlns:a16="http://schemas.microsoft.com/office/drawing/2014/main" id="{9886995A-FAA9-850F-11A2-1D4C6E84B282}"/>
              </a:ext>
            </a:extLst>
          </p:cNvPr>
          <p:cNvPicPr>
            <a:picLocks noChangeAspect="1"/>
          </p:cNvPicPr>
          <p:nvPr/>
        </p:nvPicPr>
        <p:blipFill>
          <a:blip r:embed="rId2"/>
          <a:stretch>
            <a:fillRect/>
          </a:stretch>
        </p:blipFill>
        <p:spPr>
          <a:xfrm>
            <a:off x="3628103" y="3583857"/>
            <a:ext cx="8563897" cy="505395"/>
          </a:xfrm>
          <a:prstGeom prst="rect">
            <a:avLst/>
          </a:prstGeom>
        </p:spPr>
      </p:pic>
      <p:sp>
        <p:nvSpPr>
          <p:cNvPr id="6" name="TextBox 5">
            <a:extLst>
              <a:ext uri="{FF2B5EF4-FFF2-40B4-BE49-F238E27FC236}">
                <a16:creationId xmlns:a16="http://schemas.microsoft.com/office/drawing/2014/main" id="{12D08005-EDE7-6D82-2D84-7DDF9889A442}"/>
              </a:ext>
            </a:extLst>
          </p:cNvPr>
          <p:cNvSpPr txBox="1"/>
          <p:nvPr/>
        </p:nvSpPr>
        <p:spPr>
          <a:xfrm>
            <a:off x="8170606" y="3146805"/>
            <a:ext cx="3382297" cy="369332"/>
          </a:xfrm>
          <a:prstGeom prst="rect">
            <a:avLst/>
          </a:prstGeom>
          <a:noFill/>
        </p:spPr>
        <p:txBody>
          <a:bodyPr wrap="square" rtlCol="0">
            <a:spAutoFit/>
          </a:bodyPr>
          <a:lstStyle/>
          <a:p>
            <a:pPr algn="r" rtl="1"/>
            <a:r>
              <a:rPr lang="ar-EG"/>
              <a:t>بيانات المنشأة / تفاصيل الزيارة</a:t>
            </a:r>
          </a:p>
        </p:txBody>
      </p:sp>
    </p:spTree>
    <p:extLst>
      <p:ext uri="{BB962C8B-B14F-4D97-AF65-F5344CB8AC3E}">
        <p14:creationId xmlns:p14="http://schemas.microsoft.com/office/powerpoint/2010/main" val="9624851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en-US" b="1">
                <a:solidFill>
                  <a:srgbClr val="FFFF00"/>
                </a:solidFill>
              </a:rPr>
              <a:t>TDWF</a:t>
            </a:r>
            <a:r>
              <a:rPr lang="en-US"/>
              <a:t>.</a:t>
            </a:r>
            <a:r>
              <a:rPr lang="en-US" b="1">
                <a:solidFill>
                  <a:srgbClr val="FF0000"/>
                </a:solidFill>
              </a:rPr>
              <a:t>Flow_FieldVisits_Guarantor</a:t>
            </a: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1"/>
            <a:ext cx="11129905" cy="5742038"/>
          </a:xfrm>
        </p:spPr>
        <p:txBody>
          <a:bodyPr>
            <a:normAutofit/>
          </a:bodyPr>
          <a:lstStyle/>
          <a:p>
            <a:r>
              <a:rPr lang="en-US"/>
              <a:t>int FVG_ID</a:t>
            </a:r>
          </a:p>
          <a:p>
            <a:r>
              <a:rPr lang="en-US"/>
              <a:t>DateTime? Guarantor_visit_date </a:t>
            </a:r>
          </a:p>
          <a:p>
            <a:r>
              <a:rPr lang="en-US"/>
              <a:t>public string Residence_Type  //StaticList In Front contains Only (1,2,3)</a:t>
            </a:r>
          </a:p>
          <a:p>
            <a:r>
              <a:rPr lang="en-US"/>
              <a:t>string Address_guarantor </a:t>
            </a:r>
          </a:p>
          <a:p>
            <a:r>
              <a:rPr lang="en-US"/>
              <a:t>string Job </a:t>
            </a:r>
          </a:p>
          <a:p>
            <a:r>
              <a:rPr lang="en-US"/>
              <a:t>string WorkDestination </a:t>
            </a:r>
          </a:p>
          <a:p>
            <a:r>
              <a:rPr lang="en-US"/>
              <a:t>string SalarySource </a:t>
            </a:r>
          </a:p>
          <a:p>
            <a:r>
              <a:rPr lang="en-US"/>
              <a:t>decimal NetSalary </a:t>
            </a:r>
          </a:p>
          <a:p>
            <a:r>
              <a:rPr lang="en-US"/>
              <a:t>string CO_Recommendation </a:t>
            </a:r>
          </a:p>
          <a:p>
            <a:r>
              <a:rPr lang="en-US"/>
              <a:t>decimal? FVM_ID [FK]</a:t>
            </a:r>
          </a:p>
        </p:txBody>
      </p:sp>
      <p:pic>
        <p:nvPicPr>
          <p:cNvPr id="5" name="Picture 4">
            <a:extLst>
              <a:ext uri="{FF2B5EF4-FFF2-40B4-BE49-F238E27FC236}">
                <a16:creationId xmlns:a16="http://schemas.microsoft.com/office/drawing/2014/main" id="{AEFF8E35-7E85-AC32-B3FF-25C857161294}"/>
              </a:ext>
            </a:extLst>
          </p:cNvPr>
          <p:cNvPicPr>
            <a:picLocks noChangeAspect="1"/>
          </p:cNvPicPr>
          <p:nvPr/>
        </p:nvPicPr>
        <p:blipFill>
          <a:blip r:embed="rId2"/>
          <a:stretch>
            <a:fillRect/>
          </a:stretch>
        </p:blipFill>
        <p:spPr>
          <a:xfrm>
            <a:off x="3615900" y="5126276"/>
            <a:ext cx="8438447" cy="498137"/>
          </a:xfrm>
          <a:prstGeom prst="rect">
            <a:avLst/>
          </a:prstGeom>
        </p:spPr>
      </p:pic>
    </p:spTree>
    <p:extLst>
      <p:ext uri="{BB962C8B-B14F-4D97-AF65-F5344CB8AC3E}">
        <p14:creationId xmlns:p14="http://schemas.microsoft.com/office/powerpoint/2010/main" val="375647336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5" name="Picture 4">
            <a:extLst>
              <a:ext uri="{FF2B5EF4-FFF2-40B4-BE49-F238E27FC236}">
                <a16:creationId xmlns:a16="http://schemas.microsoft.com/office/drawing/2014/main" id="{D436D572-C0E1-A8B1-490F-E2AEF4864485}"/>
              </a:ext>
            </a:extLst>
          </p:cNvPr>
          <p:cNvPicPr>
            <a:picLocks noChangeAspect="1"/>
          </p:cNvPicPr>
          <p:nvPr/>
        </p:nvPicPr>
        <p:blipFill>
          <a:blip r:embed="rId2"/>
          <a:stretch>
            <a:fillRect/>
          </a:stretch>
        </p:blipFill>
        <p:spPr>
          <a:xfrm>
            <a:off x="1887900" y="5067523"/>
            <a:ext cx="10196209" cy="880994"/>
          </a:xfrm>
          <a:prstGeom prst="rect">
            <a:avLst/>
          </a:prstGeom>
        </p:spPr>
      </p:pic>
    </p:spTree>
    <p:extLst>
      <p:ext uri="{BB962C8B-B14F-4D97-AF65-F5344CB8AC3E}">
        <p14:creationId xmlns:p14="http://schemas.microsoft.com/office/powerpoint/2010/main" val="1480361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550606" y="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648929"/>
            <a:ext cx="12123173" cy="6096000"/>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41108283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285135" y="747252"/>
            <a:ext cx="11572568" cy="5968180"/>
          </a:xfrm>
        </p:spPr>
        <p:txBody>
          <a:bodyPr/>
          <a:lstStyle/>
          <a:p>
            <a:r>
              <a:rPr lang="en-US"/>
              <a:t>If funding is more than or equal </a:t>
            </a:r>
            <a:r>
              <a:rPr lang="en-US" b="1">
                <a:solidFill>
                  <a:srgbClr val="FF0000"/>
                </a:solidFill>
              </a:rPr>
              <a:t>125K</a:t>
            </a:r>
          </a:p>
          <a:p>
            <a:endParaRPr lang="en-US"/>
          </a:p>
          <a:p>
            <a:endParaRPr lang="en-US"/>
          </a:p>
          <a:p>
            <a:endParaRPr lang="en-US"/>
          </a:p>
        </p:txBody>
      </p:sp>
    </p:spTree>
    <p:extLst>
      <p:ext uri="{BB962C8B-B14F-4D97-AF65-F5344CB8AC3E}">
        <p14:creationId xmlns:p14="http://schemas.microsoft.com/office/powerpoint/2010/main" val="25045532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377126" y="560439"/>
            <a:ext cx="4028294" cy="4198904"/>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a:t>
            </a:r>
          </a:p>
          <a:p>
            <a:endParaRPr lang="en-US"/>
          </a:p>
          <a:p>
            <a:r>
              <a:rPr lang="en-US"/>
              <a:t>Note: tabs_code refer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6479458" y="833284"/>
            <a:ext cx="455531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25032" y="3429000"/>
            <a:ext cx="3805084" cy="369332"/>
          </a:xfrm>
          <a:prstGeom prst="rect">
            <a:avLst/>
          </a:prstGeom>
          <a:noFill/>
        </p:spPr>
        <p:txBody>
          <a:bodyPr wrap="square" rtlCol="0">
            <a:spAutoFit/>
          </a:bodyPr>
          <a:lstStyle/>
          <a:p>
            <a:r>
              <a:rPr lang="en-US"/>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752061"/>
          </a:xfrm>
        </p:spPr>
        <p:txBody>
          <a:bodyPr>
            <a:normAutofit/>
          </a:bodyPr>
          <a:lstStyle/>
          <a:p>
            <a:r>
              <a:rPr lang="en-US" sz="3600" b="1">
                <a:solidFill>
                  <a:srgbClr val="FFFF00"/>
                </a:solidFill>
              </a:rPr>
              <a:t>SWF</a:t>
            </a:r>
            <a:r>
              <a:rPr lang="en-US" sz="3600"/>
              <a:t>.</a:t>
            </a:r>
            <a:r>
              <a:rPr lang="en-US" sz="3600" b="1">
                <a:solidFill>
                  <a:srgbClr val="FF0000"/>
                </a:solidFill>
              </a:rPr>
              <a:t>Flow_Actions </a:t>
            </a:r>
            <a:r>
              <a:rPr lang="en-US" sz="3600" b="1">
                <a:solidFill>
                  <a:schemeClr val="tx1"/>
                </a:solidFill>
              </a:rPr>
              <a:t>,</a:t>
            </a:r>
            <a:r>
              <a:rPr lang="en-US" sz="3600" b="1">
                <a:solidFill>
                  <a:srgbClr val="FF0000"/>
                </a:solidFill>
              </a:rPr>
              <a:t> </a:t>
            </a:r>
            <a:r>
              <a:rPr lang="en-US" sz="3600" b="1">
                <a:solidFill>
                  <a:srgbClr val="FFFF00"/>
                </a:solidFill>
              </a:rPr>
              <a:t>SWF</a:t>
            </a:r>
            <a:r>
              <a:rPr lang="en-US" sz="3600"/>
              <a:t>.</a:t>
            </a:r>
            <a:r>
              <a:rPr lang="en-US" sz="36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238538" y="752061"/>
            <a:ext cx="11767931" cy="6036365"/>
          </a:xfrm>
        </p:spPr>
        <p:txBody>
          <a:bodyPr/>
          <a:lstStyle/>
          <a:p>
            <a:r>
              <a:rPr lang="en-US"/>
              <a:t>Code_FA: int [PK, identity]</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0" y="1173526"/>
            <a:ext cx="7551174" cy="39271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7620000" y="1650598"/>
            <a:ext cx="4572000"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r>
              <a:rPr lang="en-US" sz="1800"/>
              <a:t>ICollection&lt;Flow_Actions&gt; Flow_Actions</a:t>
            </a:r>
          </a:p>
          <a:p>
            <a:r>
              <a:rPr lang="en-US" sz="1800"/>
              <a:t>ICollection&lt;Flow_Products&gt; Flow_Products</a:t>
            </a:r>
          </a:p>
          <a:p>
            <a:r>
              <a:rPr lang="en-US" sz="1800"/>
              <a:t>ICollection&lt;Flow_Tabs_available&gt; Flow_Tabs_available</a:t>
            </a:r>
          </a:p>
          <a:p>
            <a:r>
              <a:rPr lang="en-US" sz="1800"/>
              <a:t>ICollection&lt;Flow_Action_workflow&gt;  Flow_Action_workflow</a:t>
            </a:r>
          </a:p>
          <a:p>
            <a:r>
              <a:rPr lang="en-US" sz="1800"/>
              <a:t>ICollection&lt;Flow_Request_Deportation&gt; Flow_Request_Deportation</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lnSpcReduction="10000"/>
          </a:bodyPr>
          <a:lstStyle/>
          <a:p>
            <a:r>
              <a:rPr lang="en-US" sz="1700"/>
              <a:t>product</a:t>
            </a:r>
            <a:r>
              <a:rPr lang="en-US" sz="1700" err="1"/>
              <a:t>_Id</a:t>
            </a:r>
            <a:r>
              <a:rPr lang="en-US" sz="1700"/>
              <a:t>: int , </a:t>
            </a:r>
            <a:r>
              <a:rPr lang="en-US" sz="1700" b="1">
                <a:solidFill>
                  <a:srgbClr val="FFFF00"/>
                </a:solidFill>
              </a:rPr>
              <a:t>PK</a:t>
            </a:r>
          </a:p>
          <a:p>
            <a:r>
              <a:rPr lang="en-US" sz="1700" err="1"/>
              <a:t>Loan_code</a:t>
            </a:r>
            <a:r>
              <a:rPr lang="en-US" sz="1700"/>
              <a:t>: int</a:t>
            </a:r>
          </a:p>
          <a:p>
            <a:pPr lvl="1"/>
            <a:r>
              <a:rPr lang="en-US" sz="1500"/>
              <a:t>Not unique</a:t>
            </a:r>
          </a:p>
          <a:p>
            <a:r>
              <a:rPr lang="en-US" sz="1700"/>
              <a:t>Layer</a:t>
            </a:r>
            <a:r>
              <a:rPr lang="en-US" sz="1700" err="1"/>
              <a:t>_code</a:t>
            </a:r>
            <a:r>
              <a:rPr lang="en-US" sz="1700"/>
              <a:t>: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4562061" y="825937"/>
            <a:ext cx="7588564"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4562061" y="1602659"/>
            <a:ext cx="7629938"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4562060" y="2150209"/>
            <a:ext cx="7629939"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3480619" y="1548025"/>
            <a:ext cx="871138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3480619" y="2142876"/>
            <a:ext cx="871138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5262936" y="2732811"/>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937055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13730419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4363507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[FK]</a:t>
            </a:r>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21206716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913795" y="471949"/>
            <a:ext cx="10353762" cy="5319252"/>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22092669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129308197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52313492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18156714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8282871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4308980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p:txBody>
          <a:bodyPr/>
          <a:lstStyle/>
          <a:p>
            <a:r>
              <a:rPr lang="en-US" b="1">
                <a:solidFill>
                  <a:srgbClr val="FFFF00"/>
                </a:solidFill>
              </a:rPr>
              <a:t>Security</a:t>
            </a:r>
            <a:r>
              <a:rPr lang="en-US"/>
              <a:t>.</a:t>
            </a:r>
            <a:r>
              <a:rPr lang="en-US" b="1">
                <a:solidFill>
                  <a:srgbClr val="FF0000"/>
                </a:solidFill>
              </a:rPr>
              <a:t>SEC_Menu</a:t>
            </a:r>
            <a:endParaRPr lang="en-US"/>
          </a:p>
        </p:txBody>
      </p:sp>
      <p:pic>
        <p:nvPicPr>
          <p:cNvPr id="5" name="Content Placeholder 4">
            <a:extLst>
              <a:ext uri="{FF2B5EF4-FFF2-40B4-BE49-F238E27FC236}">
                <a16:creationId xmlns:a16="http://schemas.microsoft.com/office/drawing/2014/main" id="{A6EED765-6B26-3831-32AB-6C4D7F9CBE7E}"/>
              </a:ext>
            </a:extLst>
          </p:cNvPr>
          <p:cNvPicPr>
            <a:picLocks noGrp="1" noChangeAspect="1"/>
          </p:cNvPicPr>
          <p:nvPr>
            <p:ph idx="1"/>
          </p:nvPr>
        </p:nvPicPr>
        <p:blipFill>
          <a:blip r:embed="rId2"/>
          <a:stretch>
            <a:fillRect/>
          </a:stretch>
        </p:blipFill>
        <p:spPr>
          <a:xfrm>
            <a:off x="663301" y="1580050"/>
            <a:ext cx="7985453" cy="21955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lnSpcReduction="10000"/>
          </a:bodyPr>
          <a:lstStyle/>
          <a:p>
            <a:r>
              <a:rPr lang="en-US"/>
              <a:t>int Code_FID  [PK]</a:t>
            </a:r>
          </a:p>
          <a:p>
            <a:r>
              <a:rPr lang="en-US" b="1">
                <a:effectLst/>
              </a:rPr>
              <a:t>Cust_IDNO: string // customer nationalId</a:t>
            </a:r>
          </a:p>
          <a:p>
            <a:r>
              <a:rPr lang="en-US" b="1"/>
              <a:t>Inquiry_Date: DateTime</a:t>
            </a:r>
            <a:r>
              <a:rPr lang="en-US"/>
              <a:t> // </a:t>
            </a:r>
          </a:p>
          <a:p>
            <a:r>
              <a:rPr lang="en-US" b="1">
                <a:effectLst/>
              </a:rPr>
              <a:t>Score: int   	// </a:t>
            </a:r>
            <a:r>
              <a:rPr lang="ar-EG">
                <a:effectLst/>
              </a:rPr>
              <a:t>هو رقم يعبر عن مدى التزام العميل</a:t>
            </a:r>
          </a:p>
          <a:p>
            <a:r>
              <a:rPr lang="en-US">
                <a:effectLst/>
              </a:rPr>
              <a:t>Open_credits // </a:t>
            </a:r>
            <a:r>
              <a:rPr lang="ar-EG">
                <a:effectLst/>
              </a:rPr>
              <a:t>أي عدد القروض أو البطاقات الائتمانية التي يستخدمها العميل حالياً ولم يغلقها.</a:t>
            </a:r>
            <a:endParaRPr lang="en-US">
              <a:effectLst/>
            </a:endParaRPr>
          </a:p>
          <a:p>
            <a:r>
              <a:rPr lang="en-US"/>
              <a:t>Days_Due: int </a:t>
            </a:r>
            <a:r>
              <a:rPr lang="ar-EG" sz="1800"/>
              <a:t>أيام التأخير؛ ويقصد بها عدد الأيام التي تأخر فيها العميل عن سداد الأقساط المستحقة عليه (مؤشر خطر إذا كان الرقم </a:t>
            </a:r>
            <a:r>
              <a:rPr lang="ar-EG"/>
              <a:t>كبيراً).</a:t>
            </a:r>
            <a:endParaRPr lang="en-US"/>
          </a:p>
          <a:p>
            <a:r>
              <a:rPr lang="en-US"/>
              <a:t>NO_OF_INQUIRES: </a:t>
            </a:r>
            <a:r>
              <a:rPr lang="ar-EG"/>
              <a:t>عدد الكرات التى تم فيها الاستعلام عن هذا الرقم</a:t>
            </a:r>
            <a:endParaRPr lang="en-US"/>
          </a:p>
          <a:p>
            <a:r>
              <a:rPr lang="en-US"/>
              <a:t>Request_id</a:t>
            </a:r>
          </a:p>
          <a:p>
            <a:r>
              <a:rPr lang="en-US"/>
              <a:t>REF_NO</a:t>
            </a:r>
          </a:p>
          <a:p>
            <a:r>
              <a:rPr lang="en-US"/>
              <a:t>NotFound , int : </a:t>
            </a:r>
            <a:r>
              <a:rPr lang="ar-EG"/>
              <a:t>حالة العميل</a:t>
            </a:r>
          </a:p>
          <a:p>
            <a:pPr lvl="1"/>
            <a:r>
              <a:rPr lang="en-US"/>
              <a:t>0 : </a:t>
            </a:r>
            <a:r>
              <a:rPr lang="ar-EG"/>
              <a:t>يوجد للعميل هذا بيانات فى الأيزكور</a:t>
            </a:r>
          </a:p>
          <a:p>
            <a:pPr lvl="1"/>
            <a:r>
              <a:rPr lang="en-US"/>
              <a:t>1 : </a:t>
            </a:r>
            <a:r>
              <a:rPr lang="ar-EG"/>
              <a:t>العميل هذا لا توجد له بيانات فى الايزكور لأنه لم يأخذ قروض من اى بنك او اى جهة من قبل </a:t>
            </a:r>
          </a:p>
          <a:p>
            <a:pPr lvl="1"/>
            <a:r>
              <a:rPr lang="en-US"/>
              <a:t>2 :</a:t>
            </a:r>
            <a:r>
              <a:rPr lang="ar-EG"/>
              <a:t> </a:t>
            </a:r>
            <a:r>
              <a:rPr lang="en-US"/>
              <a:t> </a:t>
            </a:r>
            <a:r>
              <a:rPr lang="ar-EG"/>
              <a:t>  يوجد مشكلة في الاتصال او اى مشكله أخرى لم تمكننى من الاستعلام عنه وبالتالي لايتم ترحيل الطلب الا اذا تم التحميل</a:t>
            </a:r>
            <a:r>
              <a:rPr lang="en-US"/>
              <a:t> </a:t>
            </a:r>
          </a:p>
          <a:p>
            <a:r>
              <a:rPr lang="en-US"/>
              <a:t>New_ISCORE</a:t>
            </a:r>
          </a:p>
          <a:p>
            <a:r>
              <a:rPr lang="en-US"/>
              <a:t>File_Code</a:t>
            </a:r>
          </a:p>
        </p:txBody>
      </p:sp>
    </p:spTree>
    <p:extLst>
      <p:ext uri="{BB962C8B-B14F-4D97-AF65-F5344CB8AC3E}">
        <p14:creationId xmlns:p14="http://schemas.microsoft.com/office/powerpoint/2010/main" val="344985806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3795" y="68826"/>
            <a:ext cx="10353762" cy="786581"/>
          </a:xfrm>
        </p:spPr>
        <p:txBody>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a:t>
            </a:r>
          </a:p>
          <a:p>
            <a:r>
              <a:rPr lang="en-US"/>
              <a:t>string Description_Ar</a:t>
            </a:r>
          </a:p>
          <a:p>
            <a:r>
              <a:rPr lang="en-US"/>
              <a:t>string Description_Eng</a:t>
            </a:r>
          </a:p>
          <a:p>
            <a:r>
              <a:rPr lang="en-US"/>
              <a:t>int Doc_classification [FK fom Flow_Tabs]</a:t>
            </a:r>
          </a:p>
          <a:p>
            <a:r>
              <a:rPr lang="en-US"/>
              <a:t>int Doc_Size</a:t>
            </a:r>
          </a:p>
          <a:p>
            <a:r>
              <a:rPr lang="en-US"/>
              <a:t>int CodeMigrations</a:t>
            </a:r>
          </a:p>
          <a:p>
            <a:endParaRPr lang="en-US"/>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4691455" y="3086976"/>
            <a:ext cx="6989268" cy="2938048"/>
          </a:xfrm>
          <a:prstGeom prst="rect">
            <a:avLst/>
          </a:prstGeom>
        </p:spPr>
      </p:pic>
    </p:spTree>
    <p:extLst>
      <p:ext uri="{BB962C8B-B14F-4D97-AF65-F5344CB8AC3E}">
        <p14:creationId xmlns:p14="http://schemas.microsoft.com/office/powerpoint/2010/main" val="32453116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72E88-56D6-F4F3-472B-D482E887A937}"/>
              </a:ext>
            </a:extLst>
          </p:cNvPr>
          <p:cNvSpPr>
            <a:spLocks noGrp="1"/>
          </p:cNvSpPr>
          <p:nvPr>
            <p:ph type="title"/>
          </p:nvPr>
        </p:nvSpPr>
        <p:spPr>
          <a:xfrm>
            <a:off x="919119" y="0"/>
            <a:ext cx="10353762" cy="629265"/>
          </a:xfrm>
        </p:spPr>
        <p:txBody>
          <a:bodyPr>
            <a:normAutofit fontScale="90000"/>
          </a:bodyPr>
          <a:lstStyle/>
          <a:p>
            <a:r>
              <a:rPr lang="en-US" b="1">
                <a:solidFill>
                  <a:srgbClr val="FFFF00"/>
                </a:solidFill>
              </a:rPr>
              <a:t>TWF</a:t>
            </a:r>
            <a:r>
              <a:rPr lang="en-US"/>
              <a:t>.</a:t>
            </a:r>
            <a:r>
              <a:rPr lang="en-US" b="1">
                <a:solidFill>
                  <a:srgbClr val="FF0000"/>
                </a:solidFill>
              </a:rPr>
              <a:t>Flow_MandatoryDoc</a:t>
            </a:r>
          </a:p>
        </p:txBody>
      </p:sp>
      <p:sp>
        <p:nvSpPr>
          <p:cNvPr id="3" name="Content Placeholder 2">
            <a:extLst>
              <a:ext uri="{FF2B5EF4-FFF2-40B4-BE49-F238E27FC236}">
                <a16:creationId xmlns:a16="http://schemas.microsoft.com/office/drawing/2014/main" id="{DBE5C30A-8295-7927-5E27-77F91F2780F8}"/>
              </a:ext>
            </a:extLst>
          </p:cNvPr>
          <p:cNvSpPr>
            <a:spLocks noGrp="1"/>
          </p:cNvSpPr>
          <p:nvPr>
            <p:ph idx="1"/>
          </p:nvPr>
        </p:nvSpPr>
        <p:spPr>
          <a:xfrm>
            <a:off x="304800" y="629265"/>
            <a:ext cx="11661058" cy="6096000"/>
          </a:xfrm>
        </p:spPr>
        <p:txBody>
          <a:bodyPr/>
          <a:lstStyle/>
          <a:p>
            <a:r>
              <a:rPr lang="en-US"/>
              <a:t>int MD_code_identity </a:t>
            </a:r>
          </a:p>
          <a:p>
            <a:r>
              <a:rPr lang="en-US"/>
              <a:t>int MD_code </a:t>
            </a:r>
          </a:p>
          <a:p>
            <a:r>
              <a:rPr lang="en-US"/>
              <a:t>int product_Id </a:t>
            </a:r>
          </a:p>
          <a:p>
            <a:r>
              <a:rPr lang="en-US"/>
              <a:t>int Document_Id </a:t>
            </a:r>
          </a:p>
          <a:p>
            <a:r>
              <a:rPr lang="en-US"/>
              <a:t>int jobId </a:t>
            </a:r>
          </a:p>
          <a:p>
            <a:r>
              <a:rPr lang="en-US"/>
              <a:t>bool Mandatory </a:t>
            </a:r>
          </a:p>
          <a:p>
            <a:r>
              <a:rPr lang="en-US"/>
              <a:t>int Loan_code </a:t>
            </a:r>
          </a:p>
        </p:txBody>
      </p:sp>
    </p:spTree>
    <p:extLst>
      <p:ext uri="{BB962C8B-B14F-4D97-AF65-F5344CB8AC3E}">
        <p14:creationId xmlns:p14="http://schemas.microsoft.com/office/powerpoint/2010/main" val="352168555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978963200"/>
              </p:ext>
            </p:extLst>
          </p:nvPr>
        </p:nvGraphicFramePr>
        <p:xfrm>
          <a:off x="586658" y="1022554"/>
          <a:ext cx="8127999" cy="185420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r>
                        <a:rPr lang="en-US"/>
                        <a:t>Loan officer (LO) </a:t>
                      </a:r>
                      <a:r>
                        <a:rPr lang="ar-EG"/>
                        <a:t>مسؤول تمويل</a:t>
                      </a:r>
                      <a:endParaRPr lang="en-US"/>
                    </a:p>
                  </a:txBody>
                  <a:tcPr/>
                </a:tc>
                <a:tc>
                  <a:txBody>
                    <a:bodyPr/>
                    <a:lstStyle/>
                    <a:p>
                      <a:r>
                        <a:rPr lang="en-US"/>
                        <a:t>10</a:t>
                      </a:r>
                    </a:p>
                  </a:txBody>
                  <a:tcPr/>
                </a:tc>
                <a:tc>
                  <a:txBody>
                    <a:bodyPr/>
                    <a:lstStyle/>
                    <a:p>
                      <a:r>
                        <a:rPr lang="en-US"/>
                        <a:t>0</a:t>
                      </a:r>
                    </a:p>
                  </a:txBody>
                  <a:tcPr/>
                </a:tc>
                <a:extLst>
                  <a:ext uri="{0D108BD9-81ED-4DB2-BD59-A6C34878D82A}">
                    <a16:rowId xmlns:a16="http://schemas.microsoft.com/office/drawing/2014/main" val="2991341697"/>
                  </a:ext>
                </a:extLst>
              </a:tr>
              <a:tr h="370840">
                <a:tc>
                  <a:txBody>
                    <a:bodyPr/>
                    <a:lstStyle/>
                    <a:p>
                      <a:r>
                        <a:rPr lang="en-US"/>
                        <a:t>Branch Manager </a:t>
                      </a:r>
                      <a:r>
                        <a:rPr lang="ar-EG"/>
                        <a:t>مدير فرع</a:t>
                      </a:r>
                      <a:endParaRPr lang="en-US"/>
                    </a:p>
                  </a:txBody>
                  <a:tcPr/>
                </a:tc>
                <a:tc>
                  <a:txBody>
                    <a:bodyPr/>
                    <a:lstStyle/>
                    <a:p>
                      <a:r>
                        <a:rPr lang="en-US"/>
                        <a:t>13</a:t>
                      </a:r>
                    </a:p>
                  </a:txBody>
                  <a:tcPr/>
                </a:tc>
                <a:tc>
                  <a:txBody>
                    <a:bodyPr/>
                    <a:lstStyle/>
                    <a:p>
                      <a:r>
                        <a:rPr lang="en-US"/>
                        <a:t>3</a:t>
                      </a:r>
                    </a:p>
                  </a:txBody>
                  <a:tcPr/>
                </a:tc>
                <a:extLst>
                  <a:ext uri="{0D108BD9-81ED-4DB2-BD59-A6C34878D82A}">
                    <a16:rowId xmlns:a16="http://schemas.microsoft.com/office/drawing/2014/main" val="3437649632"/>
                  </a:ext>
                </a:extLst>
              </a:tr>
              <a:tr h="370840">
                <a:tc>
                  <a:txBody>
                    <a:bodyPr/>
                    <a:lstStyle/>
                    <a:p>
                      <a:r>
                        <a:rPr lang="en-US"/>
                        <a:t>Teller (money man) </a:t>
                      </a:r>
                      <a:r>
                        <a:rPr lang="ar-EG"/>
                        <a:t>صراف</a:t>
                      </a:r>
                      <a:endParaRPr lang="en-US"/>
                    </a:p>
                  </a:txBody>
                  <a:tcPr/>
                </a:tc>
                <a:tc>
                  <a:txBody>
                    <a:bodyPr/>
                    <a:lstStyle/>
                    <a:p>
                      <a:r>
                        <a:rPr lang="en-US"/>
                        <a:t>12</a:t>
                      </a:r>
                    </a:p>
                  </a:txBody>
                  <a:tcPr/>
                </a:tc>
                <a:tc>
                  <a:txBody>
                    <a:bodyPr/>
                    <a:lstStyle/>
                    <a:p>
                      <a:r>
                        <a:rPr lang="ar-EG"/>
                        <a:t>2</a:t>
                      </a:r>
                      <a:endParaRPr lang="en-US"/>
                    </a:p>
                  </a:txBody>
                  <a:tcPr/>
                </a:tc>
                <a:extLst>
                  <a:ext uri="{0D108BD9-81ED-4DB2-BD59-A6C34878D82A}">
                    <a16:rowId xmlns:a16="http://schemas.microsoft.com/office/drawing/2014/main" val="4123986371"/>
                  </a:ext>
                </a:extLst>
              </a:tr>
              <a:tr h="370840">
                <a:tc>
                  <a:txBody>
                    <a:bodyPr/>
                    <a:lstStyle/>
                    <a:p>
                      <a:r>
                        <a:rPr lang="en-US"/>
                        <a:t>CO</a:t>
                      </a:r>
                    </a:p>
                  </a:txBody>
                  <a:tcPr/>
                </a:tc>
                <a:tc>
                  <a:txBody>
                    <a:bodyPr/>
                    <a:lstStyle/>
                    <a:p>
                      <a:r>
                        <a:rPr lang="en-US"/>
                        <a:t>1</a:t>
                      </a:r>
                    </a:p>
                  </a:txBody>
                  <a:tcPr/>
                </a:tc>
                <a:tc>
                  <a:txBody>
                    <a:bodyPr/>
                    <a:lstStyle/>
                    <a:p>
                      <a:r>
                        <a:rPr lang="en-US"/>
                        <a:t>1</a:t>
                      </a:r>
                    </a:p>
                  </a:txBody>
                  <a:tcPr/>
                </a:tc>
                <a:extLst>
                  <a:ext uri="{0D108BD9-81ED-4DB2-BD59-A6C34878D82A}">
                    <a16:rowId xmlns:a16="http://schemas.microsoft.com/office/drawing/2014/main" val="1665867047"/>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When CO reject the FundingRequest</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198783" y="642730"/>
            <a:ext cx="11068774" cy="5877339"/>
          </a:xfrm>
        </p:spPr>
        <p:txBody>
          <a:bodyPr/>
          <a:lstStyle/>
          <a:p>
            <a:r>
              <a:rPr lang="en-US"/>
              <a:t>TDWF.Flow_Request_Deportation</a:t>
            </a:r>
          </a:p>
          <a:p>
            <a:pPr lvl="1"/>
            <a:endParaRPr lang="en-US"/>
          </a:p>
          <a:p>
            <a:endParaRPr lang="en-US"/>
          </a:p>
        </p:txBody>
      </p:sp>
    </p:spTree>
    <p:extLst>
      <p:ext uri="{BB962C8B-B14F-4D97-AF65-F5344CB8AC3E}">
        <p14:creationId xmlns:p14="http://schemas.microsoft.com/office/powerpoint/2010/main" val="40857038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C3EEF-AB22-5FAD-E7FB-766816AE7007}"/>
              </a:ext>
            </a:extLst>
          </p:cNvPr>
          <p:cNvSpPr>
            <a:spLocks noGrp="1"/>
          </p:cNvSpPr>
          <p:nvPr>
            <p:ph type="title"/>
          </p:nvPr>
        </p:nvSpPr>
        <p:spPr>
          <a:xfrm>
            <a:off x="913795" y="0"/>
            <a:ext cx="10353762" cy="737419"/>
          </a:xfrm>
        </p:spPr>
        <p:txBody>
          <a:bodyPr/>
          <a:lstStyle/>
          <a:p>
            <a:r>
              <a:rPr lang="en-US" b="1"/>
              <a:t>Front Places</a:t>
            </a:r>
          </a:p>
        </p:txBody>
      </p:sp>
      <p:sp>
        <p:nvSpPr>
          <p:cNvPr id="3" name="Content Placeholder 2">
            <a:extLst>
              <a:ext uri="{FF2B5EF4-FFF2-40B4-BE49-F238E27FC236}">
                <a16:creationId xmlns:a16="http://schemas.microsoft.com/office/drawing/2014/main" id="{3A6C8A89-D75F-3D76-3338-8061FC380E18}"/>
              </a:ext>
            </a:extLst>
          </p:cNvPr>
          <p:cNvSpPr>
            <a:spLocks noGrp="1"/>
          </p:cNvSpPr>
          <p:nvPr>
            <p:ph idx="1"/>
          </p:nvPr>
        </p:nvSpPr>
        <p:spPr>
          <a:xfrm>
            <a:off x="294968" y="737419"/>
            <a:ext cx="11700387" cy="5958349"/>
          </a:xfrm>
        </p:spPr>
        <p:txBody>
          <a:bodyPr/>
          <a:lstStyle/>
          <a:p>
            <a:r>
              <a:rPr lang="en-US"/>
              <a:t>app\Modules\Transaction\funding\</a:t>
            </a:r>
            <a:r>
              <a:rPr lang="en-US" b="1">
                <a:solidFill>
                  <a:srgbClr val="FFFF00"/>
                </a:solidFill>
              </a:rPr>
              <a:t>funding.component.ts</a:t>
            </a:r>
          </a:p>
          <a:p>
            <a:endParaRPr lang="en-US"/>
          </a:p>
        </p:txBody>
      </p:sp>
    </p:spTree>
    <p:extLst>
      <p:ext uri="{BB962C8B-B14F-4D97-AF65-F5344CB8AC3E}">
        <p14:creationId xmlns:p14="http://schemas.microsoft.com/office/powerpoint/2010/main" val="280693133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p:txBody>
          <a:bodyPr/>
          <a:lstStyle/>
          <a:p>
            <a:r>
              <a:rPr lang="en-US"/>
              <a:t>Places</a:t>
            </a:r>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p:txBody>
          <a:bodyPr/>
          <a:lstStyle/>
          <a:p>
            <a:r>
              <a:rPr lang="en-US"/>
              <a:t>_Flow_Rejections_mainService.GetAllRejectionFieldsByRequest_id(Request_id)</a:t>
            </a:r>
          </a:p>
          <a:p>
            <a:endParaRPr lang="en-US"/>
          </a:p>
        </p:txBody>
      </p:sp>
    </p:spTree>
    <p:extLst>
      <p:ext uri="{BB962C8B-B14F-4D97-AF65-F5344CB8AC3E}">
        <p14:creationId xmlns:p14="http://schemas.microsoft.com/office/powerpoint/2010/main" val="320439395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27286</TotalTime>
  <Words>5713</Words>
  <Application>Microsoft Office PowerPoint</Application>
  <PresentationFormat>Widescreen</PresentationFormat>
  <Paragraphs>859</Paragraphs>
  <Slides>98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98</vt:i4>
      </vt:variant>
    </vt:vector>
  </HeadingPairs>
  <TitlesOfParts>
    <vt:vector size="104" baseType="lpstr">
      <vt:lpstr>Arial</vt:lpstr>
      <vt:lpstr>Calisto MT</vt:lpstr>
      <vt:lpstr>Tahoma</vt:lpstr>
      <vt:lpstr>Wingdings</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إدخال طلب (Funding Request)</vt:lpstr>
      <vt:lpstr>طلب تمويل تجديد</vt:lpstr>
      <vt:lpstr>مراجعة أولية</vt:lpstr>
      <vt:lpstr>زيارة ميدانية</vt:lpstr>
      <vt:lpstr>التحليل الائتماني</vt:lpstr>
      <vt:lpstr>تحميل المستندات</vt:lpstr>
      <vt:lpstr>المراجعة المركزية</vt:lpstr>
      <vt:lpstr>الصرف</vt:lpstr>
      <vt:lpstr>Region at </vt:lpstr>
      <vt:lpstr>Governorate at common</vt:lpstr>
      <vt:lpstr>Original_Region entity at common</vt:lpstr>
      <vt:lpstr>Trans.Trans_GPS_Tracking</vt:lpstr>
      <vt:lpstr>Lookup.Branch</vt:lpstr>
      <vt:lpstr>SWF. Flow_Branch_Type</vt:lpstr>
      <vt:lpstr>SWF.Flow_repayment_cycle [دورية السداد]</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SWF.Flow_status</vt:lpstr>
      <vt:lpstr>TDWF.Flow_Request_Deportation</vt:lpstr>
      <vt:lpstr>TDWF.Flow_Request_Deportation [cont. 1]</vt:lpstr>
      <vt:lpstr>TDWF.Flow_Request_Deportation [cont. 2]</vt:lpstr>
      <vt:lpstr>TDWF.Flow_Request_Deportation [cont. 3]</vt:lpstr>
      <vt:lpstr>TDWF.Flow_Request_Deportation [cont. 4]</vt:lpstr>
      <vt:lpstr>TDWF.Flow_Request_Deportation [cont. 5]</vt:lpstr>
      <vt:lpstr>TDWF.Flow_Requests_Log</vt:lpstr>
      <vt:lpstr>TDWF.Flow_Requests_Log (cont.1)</vt:lpstr>
      <vt:lpstr>TDWF.Flow_Requests_Log (cont.2)</vt:lpstr>
      <vt:lpstr>TDWF.Flow_Rejections_main</vt:lpstr>
      <vt:lpstr>TDWF.Flow_Rejections_SubOne</vt:lpstr>
      <vt:lpstr>TDWF.Flow_Rejections_SubOne [cont.1]</vt:lpstr>
      <vt:lpstr>Field Visit</vt:lpstr>
      <vt:lpstr>TDWF.Flow_FieldVisits_main</vt:lpstr>
      <vt:lpstr>TDWF.Flow_FieldVisits_Client</vt:lpstr>
      <vt:lpstr>TDWF.Flow_FieldVisits_Organization</vt:lpstr>
      <vt:lpstr>TDWF.Flow_FieldVisits_Guarantor</vt:lpstr>
      <vt:lpstr>TDWF.Flow_FieldVisits_FieldInquiry</vt:lpstr>
      <vt:lpstr>TDWF.Flow_FieldVisits_FinancialAnalysis [التحليل المالي]</vt:lpstr>
      <vt:lpstr>TDWF.Flow_FieldVisits_StatisticsData</vt:lpstr>
      <vt:lpstr>SWF.Flow_Tabs [الشاشات]</vt:lpstr>
      <vt:lpstr>SWF.Flow_Screen_components</vt:lpstr>
      <vt:lpstr>SWF.Flow_Actions , SWF.Flow_Action_workflow</vt:lpstr>
      <vt:lpstr>SWF.Flow_Types</vt:lpstr>
      <vt:lpstr>TWT.Flow_Products</vt:lpstr>
      <vt:lpstr>TWF.Flow_Customers</vt:lpstr>
      <vt:lpstr>TWF.Flow_Contact_Us</vt:lpstr>
      <vt:lpstr>TWF.Flow_Enterprises</vt:lpstr>
      <vt:lpstr>SWF.Flow_Sectors</vt:lpstr>
      <vt:lpstr>SWF.Flow_Main_activity</vt:lpstr>
      <vt:lpstr>SWF.Flow_Sub_activities</vt:lpstr>
      <vt:lpstr>Company entity</vt:lpstr>
      <vt:lpstr>Acc_Chart_Account entity</vt:lpstr>
      <vt:lpstr>SWF.Flow_Relationships</vt:lpstr>
      <vt:lpstr>SWF.Flow_Purpose_loan</vt:lpstr>
      <vt:lpstr>SWF.Flow_Customers_jobs</vt:lpstr>
      <vt:lpstr>SWF.Flow_districts</vt:lpstr>
      <vt:lpstr>SWF.Flow_Sections</vt:lpstr>
      <vt:lpstr>SWF.Flow_Identity_Expiry</vt:lpstr>
      <vt:lpstr>Security.SEC_Group</vt:lpstr>
      <vt:lpstr>Security.SEC_Menu</vt:lpstr>
      <vt:lpstr>Trans.Trans_BusDate [ تاريخ اليومية ] </vt:lpstr>
      <vt:lpstr>TWF.Flow_ISCORE_Data</vt:lpstr>
      <vt:lpstr>TWF. Flow_Risks</vt:lpstr>
      <vt:lpstr>Security. SEC_Access_tokens</vt:lpstr>
      <vt:lpstr>SWF.Flow_Types_documents</vt:lpstr>
      <vt:lpstr>SWF.Flow_definition_expenditure</vt:lpstr>
      <vt:lpstr>TWF.Flow_select_definitioExp</vt:lpstr>
      <vt:lpstr>TWF.Flow_MandatoryDoc</vt:lpstr>
      <vt:lpstr>BranchGovernRegion VM</vt:lpstr>
      <vt:lpstr>Amounts of Funding request</vt:lpstr>
      <vt:lpstr>Jobs</vt:lpstr>
      <vt:lpstr>When CO reject the FundingRequest</vt:lpstr>
      <vt:lpstr>Front Places</vt:lpstr>
      <vt:lpstr>Places</vt:lpstr>
      <vt:lpstr>Micro Login Sequence</vt:lpstr>
      <vt:lpstr>View Models</vt:lpstr>
      <vt:lpstr>FundingData</vt:lpstr>
      <vt:lpstr>FundingDataVM</vt:lpstr>
      <vt:lpstr>ProdVM</vt:lpstr>
      <vt:lpstr>PowerPoint Presentation</vt:lpstr>
      <vt:lpstr>PowerPoint Presentation</vt:lpstr>
      <vt:lpstr>TransactionVM</vt:lpstr>
      <vt:lpstr>LoginVM</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568</cp:revision>
  <dcterms:created xsi:type="dcterms:W3CDTF">2026-02-01T18:13:26Z</dcterms:created>
  <dcterms:modified xsi:type="dcterms:W3CDTF">2026-03-11T09:45:54Z</dcterms:modified>
</cp:coreProperties>
</file>