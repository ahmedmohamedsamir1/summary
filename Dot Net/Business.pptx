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5"/>
  </p:notesMasterIdLst>
  <p:sldIdLst>
    <p:sldId id="256" r:id="rId2"/>
    <p:sldId id="263" r:id="rId3"/>
    <p:sldId id="262" r:id="rId4"/>
    <p:sldId id="392" r:id="rId5"/>
    <p:sldId id="394" r:id="rId6"/>
    <p:sldId id="568" r:id="rId7"/>
    <p:sldId id="402" r:id="rId8"/>
    <p:sldId id="569" r:id="rId9"/>
    <p:sldId id="404" r:id="rId10"/>
    <p:sldId id="552" r:id="rId11"/>
    <p:sldId id="551" r:id="rId12"/>
    <p:sldId id="570" r:id="rId13"/>
    <p:sldId id="406" r:id="rId14"/>
    <p:sldId id="407" r:id="rId15"/>
    <p:sldId id="408" r:id="rId16"/>
    <p:sldId id="411" r:id="rId17"/>
    <p:sldId id="422" r:id="rId18"/>
    <p:sldId id="423" r:id="rId19"/>
    <p:sldId id="413" r:id="rId20"/>
    <p:sldId id="424" r:id="rId21"/>
    <p:sldId id="409" r:id="rId22"/>
    <p:sldId id="447" r:id="rId23"/>
    <p:sldId id="473" r:id="rId24"/>
    <p:sldId id="478" r:id="rId25"/>
    <p:sldId id="582" r:id="rId26"/>
    <p:sldId id="482" r:id="rId27"/>
    <p:sldId id="483" r:id="rId28"/>
    <p:sldId id="484" r:id="rId29"/>
    <p:sldId id="474" r:id="rId30"/>
    <p:sldId id="528" r:id="rId31"/>
    <p:sldId id="485" r:id="rId32"/>
    <p:sldId id="393" r:id="rId33"/>
    <p:sldId id="475" r:id="rId34"/>
    <p:sldId id="477" r:id="rId35"/>
    <p:sldId id="487" r:id="rId36"/>
    <p:sldId id="503" r:id="rId37"/>
    <p:sldId id="488" r:id="rId38"/>
    <p:sldId id="489" r:id="rId39"/>
    <p:sldId id="490" r:id="rId40"/>
    <p:sldId id="491" r:id="rId41"/>
    <p:sldId id="492" r:id="rId42"/>
    <p:sldId id="502" r:id="rId43"/>
    <p:sldId id="476" r:id="rId44"/>
    <p:sldId id="500" r:id="rId45"/>
    <p:sldId id="504" r:id="rId46"/>
    <p:sldId id="507" r:id="rId47"/>
    <p:sldId id="505" r:id="rId48"/>
    <p:sldId id="506" r:id="rId49"/>
    <p:sldId id="508" r:id="rId50"/>
    <p:sldId id="495" r:id="rId51"/>
    <p:sldId id="349" r:id="rId52"/>
    <p:sldId id="351" r:id="rId53"/>
    <p:sldId id="353" r:id="rId54"/>
    <p:sldId id="510" r:id="rId55"/>
    <p:sldId id="512" r:id="rId56"/>
    <p:sldId id="513" r:id="rId57"/>
    <p:sldId id="514" r:id="rId58"/>
    <p:sldId id="352" r:id="rId59"/>
    <p:sldId id="509" r:id="rId60"/>
    <p:sldId id="497" r:id="rId61"/>
    <p:sldId id="515" r:id="rId62"/>
    <p:sldId id="516" r:id="rId63"/>
    <p:sldId id="354" r:id="rId64"/>
    <p:sldId id="355" r:id="rId65"/>
    <p:sldId id="517" r:id="rId66"/>
    <p:sldId id="501" r:id="rId67"/>
    <p:sldId id="370" r:id="rId68"/>
    <p:sldId id="571" r:id="rId69"/>
    <p:sldId id="371" r:id="rId70"/>
    <p:sldId id="518" r:id="rId71"/>
    <p:sldId id="534" r:id="rId72"/>
    <p:sldId id="536" r:id="rId73"/>
    <p:sldId id="537" r:id="rId74"/>
    <p:sldId id="535" r:id="rId75"/>
    <p:sldId id="596" r:id="rId76"/>
    <p:sldId id="600" r:id="rId77"/>
    <p:sldId id="598" r:id="rId78"/>
    <p:sldId id="597" r:id="rId79"/>
    <p:sldId id="601" r:id="rId80"/>
    <p:sldId id="604" r:id="rId81"/>
    <p:sldId id="602" r:id="rId82"/>
    <p:sldId id="599" r:id="rId83"/>
    <p:sldId id="608" r:id="rId84"/>
    <p:sldId id="603" r:id="rId85"/>
    <p:sldId id="607" r:id="rId86"/>
    <p:sldId id="609" r:id="rId87"/>
    <p:sldId id="611" r:id="rId88"/>
    <p:sldId id="612" r:id="rId89"/>
    <p:sldId id="610" r:id="rId90"/>
    <p:sldId id="605" r:id="rId91"/>
    <p:sldId id="606" r:id="rId92"/>
    <p:sldId id="396" r:id="rId93"/>
    <p:sldId id="395" r:id="rId94"/>
    <p:sldId id="308" r:id="rId95"/>
    <p:sldId id="278" r:id="rId96"/>
    <p:sldId id="271" r:id="rId97"/>
    <p:sldId id="292" r:id="rId98"/>
    <p:sldId id="472" r:id="rId99"/>
    <p:sldId id="279" r:id="rId100"/>
    <p:sldId id="305" r:id="rId101"/>
    <p:sldId id="280" r:id="rId102"/>
    <p:sldId id="318" r:id="rId103"/>
    <p:sldId id="285" r:id="rId104"/>
    <p:sldId id="286" r:id="rId105"/>
    <p:sldId id="287" r:id="rId106"/>
    <p:sldId id="369" r:id="rId107"/>
    <p:sldId id="372" r:id="rId108"/>
    <p:sldId id="316" r:id="rId109"/>
    <p:sldId id="325" r:id="rId110"/>
    <p:sldId id="347" r:id="rId111"/>
    <p:sldId id="373" r:id="rId112"/>
    <p:sldId id="545" r:id="rId113"/>
    <p:sldId id="388" r:id="rId114"/>
    <p:sldId id="306" r:id="rId115"/>
    <p:sldId id="358" r:id="rId116"/>
    <p:sldId id="281" r:id="rId117"/>
    <p:sldId id="314" r:id="rId118"/>
    <p:sldId id="294" r:id="rId119"/>
    <p:sldId id="331" r:id="rId120"/>
    <p:sldId id="330" r:id="rId121"/>
    <p:sldId id="324" r:id="rId122"/>
    <p:sldId id="304" r:id="rId123"/>
    <p:sldId id="310" r:id="rId124"/>
    <p:sldId id="311" r:id="rId125"/>
    <p:sldId id="312" r:id="rId126"/>
    <p:sldId id="293" r:id="rId127"/>
    <p:sldId id="296" r:id="rId128"/>
    <p:sldId id="297" r:id="rId129"/>
    <p:sldId id="299" r:id="rId130"/>
    <p:sldId id="298" r:id="rId131"/>
    <p:sldId id="421" r:id="rId132"/>
    <p:sldId id="389" r:id="rId133"/>
    <p:sldId id="467" r:id="rId134"/>
    <p:sldId id="469" r:id="rId135"/>
    <p:sldId id="470" r:id="rId136"/>
    <p:sldId id="471" r:id="rId137"/>
    <p:sldId id="468" r:id="rId138"/>
    <p:sldId id="580" r:id="rId139"/>
    <p:sldId id="283" r:id="rId140"/>
    <p:sldId id="566" r:id="rId141"/>
    <p:sldId id="374" r:id="rId142"/>
    <p:sldId id="581" r:id="rId143"/>
    <p:sldId id="359" r:id="rId144"/>
    <p:sldId id="307" r:id="rId145"/>
    <p:sldId id="288" r:id="rId146"/>
    <p:sldId id="282" r:id="rId147"/>
    <p:sldId id="397" r:id="rId148"/>
    <p:sldId id="400" r:id="rId149"/>
    <p:sldId id="465" r:id="rId150"/>
    <p:sldId id="399" r:id="rId151"/>
    <p:sldId id="300" r:id="rId152"/>
    <p:sldId id="463" r:id="rId153"/>
    <p:sldId id="464" r:id="rId154"/>
    <p:sldId id="460" r:id="rId155"/>
    <p:sldId id="301" r:id="rId156"/>
    <p:sldId id="462" r:id="rId157"/>
    <p:sldId id="542" r:id="rId158"/>
    <p:sldId id="398" r:id="rId159"/>
    <p:sldId id="319" r:id="rId160"/>
    <p:sldId id="403" r:id="rId161"/>
    <p:sldId id="338" r:id="rId162"/>
    <p:sldId id="339" r:id="rId163"/>
    <p:sldId id="356" r:id="rId164"/>
    <p:sldId id="357" r:id="rId165"/>
    <p:sldId id="384" r:id="rId166"/>
    <p:sldId id="343" r:id="rId167"/>
    <p:sldId id="382" r:id="rId168"/>
    <p:sldId id="587" r:id="rId169"/>
    <p:sldId id="377" r:id="rId170"/>
    <p:sldId id="378" r:id="rId171"/>
    <p:sldId id="588" r:id="rId172"/>
    <p:sldId id="385" r:id="rId173"/>
    <p:sldId id="426" r:id="rId174"/>
    <p:sldId id="448" r:id="rId175"/>
    <p:sldId id="432" r:id="rId176"/>
    <p:sldId id="303" r:id="rId177"/>
    <p:sldId id="428" r:id="rId178"/>
    <p:sldId id="433" r:id="rId179"/>
    <p:sldId id="434" r:id="rId180"/>
    <p:sldId id="435" r:id="rId181"/>
    <p:sldId id="436" r:id="rId182"/>
    <p:sldId id="439" r:id="rId183"/>
    <p:sldId id="441" r:id="rId184"/>
    <p:sldId id="443" r:id="rId185"/>
    <p:sldId id="444" r:id="rId186"/>
    <p:sldId id="440" r:id="rId187"/>
    <p:sldId id="437" r:id="rId188"/>
    <p:sldId id="445" r:id="rId189"/>
    <p:sldId id="429" r:id="rId190"/>
    <p:sldId id="438" r:id="rId191"/>
    <p:sldId id="427" r:id="rId192"/>
    <p:sldId id="450" r:id="rId193"/>
    <p:sldId id="453" r:id="rId194"/>
    <p:sldId id="452" r:id="rId195"/>
    <p:sldId id="454" r:id="rId196"/>
    <p:sldId id="455" r:id="rId197"/>
    <p:sldId id="451" r:id="rId198"/>
    <p:sldId id="461" r:id="rId199"/>
    <p:sldId id="459" r:id="rId200"/>
    <p:sldId id="456" r:id="rId201"/>
    <p:sldId id="458" r:id="rId202"/>
    <p:sldId id="479" r:id="rId203"/>
    <p:sldId id="481" r:id="rId204"/>
    <p:sldId id="480" r:id="rId205"/>
    <p:sldId id="449" r:id="rId206"/>
    <p:sldId id="276" r:id="rId207"/>
    <p:sldId id="289" r:id="rId208"/>
    <p:sldId id="290" r:id="rId209"/>
    <p:sldId id="376" r:id="rId210"/>
    <p:sldId id="361" r:id="rId211"/>
    <p:sldId id="362" r:id="rId212"/>
    <p:sldId id="321" r:id="rId213"/>
    <p:sldId id="360" r:id="rId214"/>
    <p:sldId id="366" r:id="rId215"/>
    <p:sldId id="405" r:id="rId216"/>
    <p:sldId id="383" r:id="rId217"/>
    <p:sldId id="585" r:id="rId218"/>
    <p:sldId id="418" r:id="rId219"/>
    <p:sldId id="583" r:id="rId220"/>
    <p:sldId id="419" r:id="rId221"/>
    <p:sldId id="420" r:id="rId222"/>
    <p:sldId id="446" r:id="rId223"/>
    <p:sldId id="417" r:id="rId224"/>
    <p:sldId id="520" r:id="rId225"/>
    <p:sldId id="522" r:id="rId226"/>
    <p:sldId id="523" r:id="rId227"/>
    <p:sldId id="521" r:id="rId228"/>
    <p:sldId id="530" r:id="rId229"/>
    <p:sldId id="525" r:id="rId230"/>
    <p:sldId id="531" r:id="rId231"/>
    <p:sldId id="544" r:id="rId232"/>
    <p:sldId id="543" r:id="rId233"/>
    <p:sldId id="527" r:id="rId234"/>
    <p:sldId id="532" r:id="rId235"/>
    <p:sldId id="529" r:id="rId236"/>
    <p:sldId id="533" r:id="rId237"/>
    <p:sldId id="526" r:id="rId238"/>
    <p:sldId id="546" r:id="rId239"/>
    <p:sldId id="539" r:id="rId240"/>
    <p:sldId id="309" r:id="rId241"/>
    <p:sldId id="549" r:id="rId242"/>
    <p:sldId id="548" r:id="rId243"/>
    <p:sldId id="547" r:id="rId244"/>
    <p:sldId id="538" r:id="rId245"/>
    <p:sldId id="541" r:id="rId246"/>
    <p:sldId id="540" r:id="rId247"/>
    <p:sldId id="335" r:id="rId248"/>
    <p:sldId id="375" r:id="rId249"/>
    <p:sldId id="340" r:id="rId250"/>
    <p:sldId id="345" r:id="rId251"/>
    <p:sldId id="336" r:id="rId252"/>
    <p:sldId id="341" r:id="rId253"/>
    <p:sldId id="337" r:id="rId254"/>
    <p:sldId id="295" r:id="rId255"/>
    <p:sldId id="344" r:id="rId256"/>
    <p:sldId id="363" r:id="rId257"/>
    <p:sldId id="550" r:id="rId258"/>
    <p:sldId id="553" r:id="rId259"/>
    <p:sldId id="555" r:id="rId260"/>
    <p:sldId id="556" r:id="rId261"/>
    <p:sldId id="557" r:id="rId262"/>
    <p:sldId id="563" r:id="rId263"/>
    <p:sldId id="554" r:id="rId264"/>
    <p:sldId id="558" r:id="rId265"/>
    <p:sldId id="559" r:id="rId266"/>
    <p:sldId id="562" r:id="rId267"/>
    <p:sldId id="560" r:id="rId268"/>
    <p:sldId id="561" r:id="rId269"/>
    <p:sldId id="575" r:id="rId270"/>
    <p:sldId id="573" r:id="rId271"/>
    <p:sldId id="572" r:id="rId272"/>
    <p:sldId id="564" r:id="rId273"/>
    <p:sldId id="578" r:id="rId274"/>
    <p:sldId id="591" r:id="rId275"/>
    <p:sldId id="586" r:id="rId276"/>
    <p:sldId id="576" r:id="rId277"/>
    <p:sldId id="589" r:id="rId278"/>
    <p:sldId id="590" r:id="rId279"/>
    <p:sldId id="579" r:id="rId280"/>
    <p:sldId id="593" r:id="rId281"/>
    <p:sldId id="577" r:id="rId282"/>
    <p:sldId id="565" r:id="rId283"/>
    <p:sldId id="592" r:id="rId2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9" d="100"/>
          <a:sy n="79" d="100"/>
        </p:scale>
        <p:origin x="110" y="3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presProps" Target="presProps.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theme" Target="theme/theme1.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tableStyles" Target="tableStyles.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D8830A-F3A4-4377-9D99-844FAD6C58AC}" type="datetimeFigureOut">
              <a:rPr lang="en-US" smtClean="0"/>
              <a:t>10/11/2026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1409AD-54BE-42E0-891F-A9D402D6A6AB}" type="slidenum">
              <a:rPr lang="en-US" smtClean="0"/>
              <a:t>‹#›</a:t>
            </a:fld>
            <a:endParaRPr lang="en-US"/>
          </a:p>
        </p:txBody>
      </p:sp>
    </p:spTree>
    <p:extLst>
      <p:ext uri="{BB962C8B-B14F-4D97-AF65-F5344CB8AC3E}">
        <p14:creationId xmlns:p14="http://schemas.microsoft.com/office/powerpoint/2010/main" val="2525631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1409AD-54BE-42E0-891F-A9D402D6A6AB}" type="slidenum">
              <a:rPr lang="en-US" smtClean="0"/>
              <a:t>64</a:t>
            </a:fld>
            <a:endParaRPr lang="en-US"/>
          </a:p>
        </p:txBody>
      </p:sp>
    </p:spTree>
    <p:extLst>
      <p:ext uri="{BB962C8B-B14F-4D97-AF65-F5344CB8AC3E}">
        <p14:creationId xmlns:p14="http://schemas.microsoft.com/office/powerpoint/2010/main" val="279870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44FA5D-EF1D-489D-8D8F-1FF7B7B6D702}"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2493938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44FA5D-EF1D-489D-8D8F-1FF7B7B6D702}"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246452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44FA5D-EF1D-489D-8D8F-1FF7B7B6D702}"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1049630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44FA5D-EF1D-489D-8D8F-1FF7B7B6D702}"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2249481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44FA5D-EF1D-489D-8D8F-1FF7B7B6D702}"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1658179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44FA5D-EF1D-489D-8D8F-1FF7B7B6D702}"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1026115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44FA5D-EF1D-489D-8D8F-1FF7B7B6D702}"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4289134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44FA5D-EF1D-489D-8D8F-1FF7B7B6D702}"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1390454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44FA5D-EF1D-489D-8D8F-1FF7B7B6D702}"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3872041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44FA5D-EF1D-489D-8D8F-1FF7B7B6D702}"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1024592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44FA5D-EF1D-489D-8D8F-1FF7B7B6D702}"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3026523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44FA5D-EF1D-489D-8D8F-1FF7B7B6D702}"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8E705E-6DF9-4328-B377-5AB614CB69E7}"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1138017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44FA5D-EF1D-489D-8D8F-1FF7B7B6D702}"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3137713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744FA5D-EF1D-489D-8D8F-1FF7B7B6D702}"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29396637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744FA5D-EF1D-489D-8D8F-1FF7B7B6D702}"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8607423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44FA5D-EF1D-489D-8D8F-1FF7B7B6D702}"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22305320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44FA5D-EF1D-489D-8D8F-1FF7B7B6D702}"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8E705E-6DF9-4328-B377-5AB614CB69E7}" type="slidenum">
              <a:rPr lang="en-US" smtClean="0"/>
              <a:t>‹#›</a:t>
            </a:fld>
            <a:endParaRPr lang="en-US"/>
          </a:p>
        </p:txBody>
      </p:sp>
    </p:spTree>
    <p:extLst>
      <p:ext uri="{BB962C8B-B14F-4D97-AF65-F5344CB8AC3E}">
        <p14:creationId xmlns:p14="http://schemas.microsoft.com/office/powerpoint/2010/main" val="3442241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744FA5D-EF1D-489D-8D8F-1FF7B7B6D702}" type="datetimeFigureOut">
              <a:rPr lang="en-US" smtClean="0"/>
              <a:t>10/11/2026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E98E705E-6DF9-4328-B377-5AB614CB69E7}" type="slidenum">
              <a:rPr lang="en-US" smtClean="0"/>
              <a:t>‹#›</a:t>
            </a:fld>
            <a:endParaRPr lang="en-US"/>
          </a:p>
        </p:txBody>
      </p:sp>
    </p:spTree>
    <p:extLst>
      <p:ext uri="{BB962C8B-B14F-4D97-AF65-F5344CB8AC3E}">
        <p14:creationId xmlns:p14="http://schemas.microsoft.com/office/powerpoint/2010/main" val="284156418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coretest-uploadfile.tamweely.local:4154/api/UploadFile/UploadDocument"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D839B-EB92-2791-93AA-8C045F8A0743}"/>
              </a:ext>
            </a:extLst>
          </p:cNvPr>
          <p:cNvSpPr>
            <a:spLocks noGrp="1"/>
          </p:cNvSpPr>
          <p:nvPr>
            <p:ph type="ctrTitle"/>
          </p:nvPr>
        </p:nvSpPr>
        <p:spPr/>
        <p:txBody>
          <a:bodyPr/>
          <a:lstStyle/>
          <a:p>
            <a:r>
              <a:rPr lang="en-US"/>
              <a:t>Micro Business </a:t>
            </a:r>
          </a:p>
        </p:txBody>
      </p:sp>
      <p:sp>
        <p:nvSpPr>
          <p:cNvPr id="3" name="Subtitle 2">
            <a:extLst>
              <a:ext uri="{FF2B5EF4-FFF2-40B4-BE49-F238E27FC236}">
                <a16:creationId xmlns:a16="http://schemas.microsoft.com/office/drawing/2014/main" id="{E6FF182E-6C62-3F43-8E29-C22EA2C57AED}"/>
              </a:ext>
            </a:extLst>
          </p:cNvPr>
          <p:cNvSpPr>
            <a:spLocks noGrp="1"/>
          </p:cNvSpPr>
          <p:nvPr>
            <p:ph type="subTitle" idx="1"/>
          </p:nvPr>
        </p:nvSpPr>
        <p:spPr/>
        <p:txBody>
          <a:bodyPr/>
          <a:lstStyle/>
          <a:p>
            <a:r>
              <a:rPr lang="en-US"/>
              <a:t>By. Ahmed Mohamed Samir</a:t>
            </a:r>
          </a:p>
        </p:txBody>
      </p:sp>
    </p:spTree>
    <p:extLst>
      <p:ext uri="{BB962C8B-B14F-4D97-AF65-F5344CB8AC3E}">
        <p14:creationId xmlns:p14="http://schemas.microsoft.com/office/powerpoint/2010/main" val="1422452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6BFB9-CD17-9F48-9D2D-CDB2C527E941}"/>
              </a:ext>
            </a:extLst>
          </p:cNvPr>
          <p:cNvSpPr>
            <a:spLocks noGrp="1"/>
          </p:cNvSpPr>
          <p:nvPr>
            <p:ph type="title"/>
          </p:nvPr>
        </p:nvSpPr>
        <p:spPr>
          <a:xfrm>
            <a:off x="1031782" y="2458550"/>
            <a:ext cx="10353762" cy="970450"/>
          </a:xfrm>
        </p:spPr>
        <p:txBody>
          <a:bodyPr>
            <a:normAutofit/>
          </a:bodyPr>
          <a:lstStyle/>
          <a:p>
            <a:r>
              <a:rPr lang="en-US" sz="4400" b="1">
                <a:solidFill>
                  <a:srgbClr val="FF0000"/>
                </a:solidFill>
              </a:rPr>
              <a:t>MICRO, Core, Master</a:t>
            </a:r>
          </a:p>
        </p:txBody>
      </p:sp>
    </p:spTree>
    <p:extLst>
      <p:ext uri="{BB962C8B-B14F-4D97-AF65-F5344CB8AC3E}">
        <p14:creationId xmlns:p14="http://schemas.microsoft.com/office/powerpoint/2010/main" val="102923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3EBA-13F1-0001-D2A2-41EE1A618A96}"/>
              </a:ext>
            </a:extLst>
          </p:cNvPr>
          <p:cNvSpPr>
            <a:spLocks noGrp="1"/>
          </p:cNvSpPr>
          <p:nvPr>
            <p:ph type="title"/>
          </p:nvPr>
        </p:nvSpPr>
        <p:spPr>
          <a:xfrm>
            <a:off x="913795" y="0"/>
            <a:ext cx="10353762" cy="521110"/>
          </a:xfrm>
        </p:spPr>
        <p:txBody>
          <a:bodyPr>
            <a:noAutofit/>
          </a:bodyPr>
          <a:lstStyle/>
          <a:p>
            <a:r>
              <a:rPr lang="en-US" sz="2800" b="1">
                <a:solidFill>
                  <a:srgbClr val="FF0000"/>
                </a:solidFill>
              </a:rPr>
              <a:t>Micro, Master, Core Flow Steps</a:t>
            </a:r>
          </a:p>
        </p:txBody>
      </p:sp>
      <p:sp>
        <p:nvSpPr>
          <p:cNvPr id="3" name="Content Placeholder 2">
            <a:extLst>
              <a:ext uri="{FF2B5EF4-FFF2-40B4-BE49-F238E27FC236}">
                <a16:creationId xmlns:a16="http://schemas.microsoft.com/office/drawing/2014/main" id="{62A0C5F3-D5BE-7FF0-05F1-97D23484FB8C}"/>
              </a:ext>
            </a:extLst>
          </p:cNvPr>
          <p:cNvSpPr>
            <a:spLocks noGrp="1"/>
          </p:cNvSpPr>
          <p:nvPr>
            <p:ph idx="1"/>
          </p:nvPr>
        </p:nvSpPr>
        <p:spPr>
          <a:xfrm>
            <a:off x="0" y="521110"/>
            <a:ext cx="12192000" cy="6336890"/>
          </a:xfrm>
        </p:spPr>
        <p:txBody>
          <a:bodyPr>
            <a:normAutofit/>
          </a:bodyPr>
          <a:lstStyle/>
          <a:p>
            <a:endParaRPr lang="ar-EG" sz="1700" b="1">
              <a:solidFill>
                <a:srgbClr val="FF0000"/>
              </a:solidFill>
            </a:endParaRPr>
          </a:p>
          <a:p>
            <a:r>
              <a:rPr lang="ar-EG" sz="1700" b="1">
                <a:solidFill>
                  <a:srgbClr val="FF0000"/>
                </a:solidFill>
              </a:rPr>
              <a:t>مسار عمل صغير</a:t>
            </a:r>
            <a:r>
              <a:rPr lang="en-US" sz="1700" b="1">
                <a:solidFill>
                  <a:srgbClr val="FF0000"/>
                </a:solidFill>
              </a:rPr>
              <a:t> : TypeCode == 1</a:t>
            </a:r>
            <a:endParaRPr lang="ar-EG" sz="1700" b="1">
              <a:solidFill>
                <a:srgbClr val="FF0000"/>
              </a:solidFill>
            </a:endParaRPr>
          </a:p>
          <a:p>
            <a:pPr marL="871200" lvl="1" indent="-457200">
              <a:buFont typeface="+mj-lt"/>
              <a:buAutoNum type="arabicPeriod"/>
            </a:pPr>
            <a:r>
              <a:rPr lang="en-US" sz="1700" b="1">
                <a:solidFill>
                  <a:srgbClr val="FF0000"/>
                </a:solidFill>
              </a:rPr>
              <a:t>Funding Request: </a:t>
            </a:r>
            <a:r>
              <a:rPr lang="ar-EG" sz="1700" b="1">
                <a:solidFill>
                  <a:srgbClr val="00B0F0"/>
                </a:solidFill>
              </a:rPr>
              <a:t>طلب تمويل</a:t>
            </a:r>
            <a:r>
              <a:rPr lang="en-US" sz="1700" b="1">
                <a:solidFill>
                  <a:srgbClr val="00B0F0"/>
                </a:solidFill>
              </a:rPr>
              <a:t>, </a:t>
            </a:r>
            <a:r>
              <a:rPr lang="en-US" sz="1700" b="1"/>
              <a:t>LO, R111</a:t>
            </a:r>
          </a:p>
          <a:p>
            <a:pPr marL="871200" lvl="1" indent="-457200">
              <a:buFont typeface="+mj-lt"/>
              <a:buAutoNum type="arabicPeriod"/>
            </a:pPr>
            <a:r>
              <a:rPr lang="en-US" sz="1700" b="1">
                <a:solidFill>
                  <a:srgbClr val="FF0000"/>
                </a:solidFill>
              </a:rPr>
              <a:t>Initial Review:</a:t>
            </a:r>
            <a:r>
              <a:rPr lang="en-US" sz="1700" b="1">
                <a:solidFill>
                  <a:srgbClr val="00B0F0"/>
                </a:solidFill>
              </a:rPr>
              <a:t> </a:t>
            </a:r>
            <a:r>
              <a:rPr lang="ar-EG" sz="1700" b="1">
                <a:solidFill>
                  <a:srgbClr val="00B0F0"/>
                </a:solidFill>
              </a:rPr>
              <a:t>مراجعة أولية</a:t>
            </a:r>
            <a:r>
              <a:rPr lang="en-US" sz="1700" b="1">
                <a:solidFill>
                  <a:srgbClr val="00B0F0"/>
                </a:solidFill>
              </a:rPr>
              <a:t>, </a:t>
            </a:r>
            <a:r>
              <a:rPr lang="en-US" sz="1700" b="1">
                <a:solidFill>
                  <a:schemeClr val="tx1"/>
                </a:solidFill>
              </a:rPr>
              <a:t>CO, CO1010</a:t>
            </a:r>
            <a:r>
              <a:rPr lang="en-US" sz="1700" b="1">
                <a:solidFill>
                  <a:srgbClr val="FF0000"/>
                </a:solidFill>
              </a:rPr>
              <a:t>	</a:t>
            </a:r>
            <a:endParaRPr lang="ar-EG" sz="1700" b="1">
              <a:solidFill>
                <a:srgbClr val="FF0000"/>
              </a:solidFill>
            </a:endParaRPr>
          </a:p>
          <a:p>
            <a:pPr marL="871200" lvl="1" indent="-457200">
              <a:buFont typeface="+mj-lt"/>
              <a:buAutoNum type="arabicPeriod"/>
            </a:pPr>
            <a:r>
              <a:rPr lang="en-US" sz="1700" b="1">
                <a:solidFill>
                  <a:srgbClr val="FF0000"/>
                </a:solidFill>
              </a:rPr>
              <a:t>Field visit: </a:t>
            </a:r>
            <a:r>
              <a:rPr lang="ar-EG" sz="1700" b="1">
                <a:solidFill>
                  <a:srgbClr val="00B0F0"/>
                </a:solidFill>
              </a:rPr>
              <a:t>زيارة ميدانية</a:t>
            </a:r>
            <a:r>
              <a:rPr lang="en-US" sz="1700" b="1">
                <a:solidFill>
                  <a:srgbClr val="00B0F0"/>
                </a:solidFill>
              </a:rPr>
              <a:t>,</a:t>
            </a:r>
            <a:r>
              <a:rPr lang="en-US" sz="1700" b="1">
                <a:solidFill>
                  <a:srgbClr val="FF0000"/>
                </a:solidFill>
              </a:rPr>
              <a:t> </a:t>
            </a:r>
            <a:r>
              <a:rPr lang="en-US" sz="1700" b="1">
                <a:solidFill>
                  <a:schemeClr val="tx1"/>
                </a:solidFill>
              </a:rPr>
              <a:t>CO, CO1311</a:t>
            </a:r>
          </a:p>
          <a:p>
            <a:pPr marL="871200" lvl="1" indent="-457200">
              <a:buFont typeface="+mj-lt"/>
              <a:buAutoNum type="arabicPeriod"/>
            </a:pPr>
            <a:r>
              <a:rPr lang="en-US" sz="1700" b="1">
                <a:solidFill>
                  <a:srgbClr val="FF0000"/>
                </a:solidFill>
              </a:rPr>
              <a:t>Critical analysis: </a:t>
            </a:r>
            <a:r>
              <a:rPr lang="ar-EG" sz="1700" b="1">
                <a:solidFill>
                  <a:srgbClr val="FF0000"/>
                </a:solidFill>
              </a:rPr>
              <a:t> </a:t>
            </a:r>
            <a:r>
              <a:rPr lang="ar-EG" sz="1700" b="1">
                <a:solidFill>
                  <a:srgbClr val="00B0F0"/>
                </a:solidFill>
              </a:rPr>
              <a:t>,تحليل الائتماني</a:t>
            </a:r>
            <a:r>
              <a:rPr lang="en-US" sz="1700" b="1"/>
              <a:t>CO, CA1211</a:t>
            </a:r>
          </a:p>
          <a:p>
            <a:pPr marL="871200" lvl="1" indent="-457200">
              <a:buFont typeface="+mj-lt"/>
              <a:buAutoNum type="arabicPeriod"/>
            </a:pPr>
            <a:r>
              <a:rPr lang="en-US" sz="1700" b="1">
                <a:solidFill>
                  <a:srgbClr val="FF0000"/>
                </a:solidFill>
              </a:rPr>
              <a:t>Uploading Documents: </a:t>
            </a:r>
            <a:r>
              <a:rPr lang="ar-EG" sz="1700" b="1">
                <a:solidFill>
                  <a:srgbClr val="00B0F0"/>
                </a:solidFill>
              </a:rPr>
              <a:t>تحميل المستندات</a:t>
            </a:r>
            <a:r>
              <a:rPr lang="en-US" sz="1700" b="1">
                <a:solidFill>
                  <a:srgbClr val="00B0F0"/>
                </a:solidFill>
              </a:rPr>
              <a:t>,</a:t>
            </a:r>
            <a:r>
              <a:rPr lang="en-US" sz="1700" b="1">
                <a:solidFill>
                  <a:srgbClr val="FF0000"/>
                </a:solidFill>
              </a:rPr>
              <a:t> </a:t>
            </a:r>
            <a:r>
              <a:rPr lang="en-US" sz="1700" b="1"/>
              <a:t>BM, DU77</a:t>
            </a:r>
          </a:p>
          <a:p>
            <a:pPr marL="871200" lvl="1" indent="-457200">
              <a:buFont typeface="+mj-lt"/>
              <a:buAutoNum type="arabicPeriod"/>
            </a:pPr>
            <a:r>
              <a:rPr lang="en-US" sz="1700" b="1">
                <a:solidFill>
                  <a:srgbClr val="FF0000"/>
                </a:solidFill>
              </a:rPr>
              <a:t>Central Review: </a:t>
            </a:r>
            <a:r>
              <a:rPr lang="ar-EG" sz="1700" b="1">
                <a:solidFill>
                  <a:srgbClr val="00B0F0"/>
                </a:solidFill>
              </a:rPr>
              <a:t>المراجعة المركزية</a:t>
            </a:r>
            <a:r>
              <a:rPr lang="en-US" sz="1700" b="1">
                <a:solidFill>
                  <a:srgbClr val="00B0F0"/>
                </a:solidFill>
              </a:rPr>
              <a:t>,</a:t>
            </a:r>
            <a:r>
              <a:rPr lang="en-US" sz="1700" b="1"/>
              <a:t>Operator: Credit,</a:t>
            </a:r>
            <a:r>
              <a:rPr lang="ar-EG" sz="1700" b="1"/>
              <a:t> </a:t>
            </a:r>
            <a:r>
              <a:rPr lang="en-US" sz="1700" b="1"/>
              <a:t>LR55</a:t>
            </a:r>
          </a:p>
          <a:p>
            <a:pPr marL="871200" lvl="1" indent="-457200">
              <a:buFont typeface="+mj-lt"/>
              <a:buAutoNum type="arabicPeriod"/>
            </a:pPr>
            <a:r>
              <a:rPr lang="ar-EG" sz="1700" b="1">
                <a:solidFill>
                  <a:srgbClr val="FF0000"/>
                </a:solidFill>
              </a:rPr>
              <a:t>إتمام توقيع</a:t>
            </a:r>
            <a:endParaRPr lang="en-US" sz="1700" b="1">
              <a:solidFill>
                <a:srgbClr val="FF0000"/>
              </a:solidFill>
            </a:endParaRPr>
          </a:p>
          <a:p>
            <a:pPr marL="871200" lvl="1" indent="-457200">
              <a:buFont typeface="+mj-lt"/>
              <a:buAutoNum type="arabicPeriod"/>
            </a:pPr>
            <a:r>
              <a:rPr lang="ar-EG" sz="1700" b="1">
                <a:solidFill>
                  <a:srgbClr val="FF0000"/>
                </a:solidFill>
              </a:rPr>
              <a:t>تم الصرف</a:t>
            </a:r>
          </a:p>
          <a:p>
            <a:endParaRPr lang="en-US" sz="2000" b="1">
              <a:solidFill>
                <a:srgbClr val="FF0000"/>
              </a:solidFill>
            </a:endParaRPr>
          </a:p>
          <a:p>
            <a:endParaRPr lang="en-US" b="1">
              <a:solidFill>
                <a:srgbClr val="FF0000"/>
              </a:solidFill>
            </a:endParaRPr>
          </a:p>
          <a:p>
            <a:endParaRPr lang="ar-EG" sz="2000" b="1">
              <a:solidFill>
                <a:srgbClr val="FF0000"/>
              </a:solidFill>
            </a:endParaRPr>
          </a:p>
        </p:txBody>
      </p:sp>
      <p:sp>
        <p:nvSpPr>
          <p:cNvPr id="4" name="Rectangle 3">
            <a:extLst>
              <a:ext uri="{FF2B5EF4-FFF2-40B4-BE49-F238E27FC236}">
                <a16:creationId xmlns:a16="http://schemas.microsoft.com/office/drawing/2014/main" id="{1720E16C-0590-F8DD-125B-06D9B001EE98}"/>
              </a:ext>
            </a:extLst>
          </p:cNvPr>
          <p:cNvSpPr/>
          <p:nvPr/>
        </p:nvSpPr>
        <p:spPr>
          <a:xfrm>
            <a:off x="6192078" y="786890"/>
            <a:ext cx="5999922" cy="441376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nSpc>
                <a:spcPct val="150000"/>
              </a:lnSpc>
            </a:pPr>
            <a:r>
              <a:rPr lang="ar-EG" b="1">
                <a:solidFill>
                  <a:srgbClr val="FF0000"/>
                </a:solidFill>
              </a:rPr>
              <a:t>مسار عمل كبير</a:t>
            </a:r>
            <a:r>
              <a:rPr lang="en-US" b="1">
                <a:solidFill>
                  <a:srgbClr val="FF0000"/>
                </a:solidFill>
              </a:rPr>
              <a:t> : TypeCode == </a:t>
            </a:r>
            <a:r>
              <a:rPr lang="ar-EG" b="1">
                <a:solidFill>
                  <a:srgbClr val="FF0000"/>
                </a:solidFill>
              </a:rPr>
              <a:t>2</a:t>
            </a:r>
          </a:p>
          <a:p>
            <a:pPr marL="871200" lvl="1" indent="-457200">
              <a:lnSpc>
                <a:spcPct val="150000"/>
              </a:lnSpc>
              <a:buFont typeface="+mj-lt"/>
              <a:buAutoNum type="arabicPeriod"/>
            </a:pPr>
            <a:r>
              <a:rPr lang="en-US" sz="1600" b="1">
                <a:solidFill>
                  <a:srgbClr val="FF0000"/>
                </a:solidFill>
              </a:rPr>
              <a:t>Funding Request: </a:t>
            </a:r>
            <a:r>
              <a:rPr lang="ar-EG" sz="1600" b="1">
                <a:solidFill>
                  <a:srgbClr val="00B0F0"/>
                </a:solidFill>
              </a:rPr>
              <a:t>طلب تمويل</a:t>
            </a:r>
            <a:r>
              <a:rPr lang="en-US" sz="1600" b="1">
                <a:solidFill>
                  <a:srgbClr val="00B0F0"/>
                </a:solidFill>
              </a:rPr>
              <a:t>, </a:t>
            </a:r>
            <a:r>
              <a:rPr lang="en-US" sz="1600" b="1"/>
              <a:t>LO, R111</a:t>
            </a:r>
          </a:p>
          <a:p>
            <a:pPr marL="871200" lvl="1" indent="-457200">
              <a:lnSpc>
                <a:spcPct val="150000"/>
              </a:lnSpc>
              <a:buFont typeface="+mj-lt"/>
              <a:buAutoNum type="arabicPeriod"/>
            </a:pPr>
            <a:r>
              <a:rPr lang="en-US" sz="1600" b="1">
                <a:solidFill>
                  <a:srgbClr val="FF0000"/>
                </a:solidFill>
              </a:rPr>
              <a:t>Initial Review:</a:t>
            </a:r>
            <a:r>
              <a:rPr lang="en-US" sz="1600" b="1">
                <a:solidFill>
                  <a:srgbClr val="00B0F0"/>
                </a:solidFill>
              </a:rPr>
              <a:t> </a:t>
            </a:r>
            <a:r>
              <a:rPr lang="ar-EG" sz="1600" b="1">
                <a:solidFill>
                  <a:srgbClr val="00B0F0"/>
                </a:solidFill>
              </a:rPr>
              <a:t>مراجعة أولية</a:t>
            </a:r>
            <a:r>
              <a:rPr lang="en-US" sz="1600" b="1">
                <a:solidFill>
                  <a:srgbClr val="00B0F0"/>
                </a:solidFill>
              </a:rPr>
              <a:t>, </a:t>
            </a:r>
            <a:r>
              <a:rPr lang="en-US" sz="1600" b="1">
                <a:solidFill>
                  <a:schemeClr val="tx1"/>
                </a:solidFill>
              </a:rPr>
              <a:t>CO, CO1010</a:t>
            </a:r>
            <a:r>
              <a:rPr lang="en-US" sz="1600" b="1">
                <a:solidFill>
                  <a:srgbClr val="FF0000"/>
                </a:solidFill>
              </a:rPr>
              <a:t>	</a:t>
            </a:r>
            <a:endParaRPr lang="ar-EG" sz="1600" b="1">
              <a:solidFill>
                <a:srgbClr val="FF0000"/>
              </a:solidFill>
            </a:endParaRPr>
          </a:p>
          <a:p>
            <a:pPr marL="871200" lvl="1" indent="-457200">
              <a:lnSpc>
                <a:spcPct val="150000"/>
              </a:lnSpc>
              <a:buFont typeface="+mj-lt"/>
              <a:buAutoNum type="arabicPeriod"/>
            </a:pPr>
            <a:r>
              <a:rPr lang="en-US" sz="1600" b="1">
                <a:solidFill>
                  <a:srgbClr val="FF0000"/>
                </a:solidFill>
              </a:rPr>
              <a:t>Field visit: </a:t>
            </a:r>
            <a:r>
              <a:rPr lang="ar-EG" sz="1600" b="1">
                <a:solidFill>
                  <a:srgbClr val="00B0F0"/>
                </a:solidFill>
              </a:rPr>
              <a:t>زيارة ميدانية</a:t>
            </a:r>
            <a:r>
              <a:rPr lang="en-US" sz="1600" b="1">
                <a:solidFill>
                  <a:srgbClr val="00B0F0"/>
                </a:solidFill>
              </a:rPr>
              <a:t>,</a:t>
            </a:r>
            <a:r>
              <a:rPr lang="en-US" sz="1600" b="1">
                <a:solidFill>
                  <a:srgbClr val="FF0000"/>
                </a:solidFill>
              </a:rPr>
              <a:t> </a:t>
            </a:r>
            <a:r>
              <a:rPr lang="en-US" sz="1600" b="1">
                <a:solidFill>
                  <a:schemeClr val="tx1"/>
                </a:solidFill>
              </a:rPr>
              <a:t>CO, CO1311</a:t>
            </a:r>
          </a:p>
          <a:p>
            <a:pPr marL="871200" lvl="1" indent="-457200">
              <a:lnSpc>
                <a:spcPct val="150000"/>
              </a:lnSpc>
              <a:buFont typeface="+mj-lt"/>
              <a:buAutoNum type="arabicPeriod"/>
            </a:pPr>
            <a:r>
              <a:rPr lang="en-US" sz="1600" b="1">
                <a:solidFill>
                  <a:srgbClr val="FF0000"/>
                </a:solidFill>
              </a:rPr>
              <a:t>Critical analysis: </a:t>
            </a:r>
            <a:r>
              <a:rPr lang="ar-EG" sz="1600" b="1">
                <a:solidFill>
                  <a:srgbClr val="FF0000"/>
                </a:solidFill>
              </a:rPr>
              <a:t> </a:t>
            </a:r>
            <a:r>
              <a:rPr lang="ar-EG" sz="1600" b="1">
                <a:solidFill>
                  <a:srgbClr val="00B0F0"/>
                </a:solidFill>
              </a:rPr>
              <a:t>,تحليل الائتماني</a:t>
            </a:r>
            <a:r>
              <a:rPr lang="en-US" sz="1600" b="1"/>
              <a:t>CO, CA1211</a:t>
            </a:r>
            <a:endParaRPr lang="ar-EG" sz="1600" b="1"/>
          </a:p>
          <a:p>
            <a:pPr marL="871200" lvl="1" indent="-457200">
              <a:lnSpc>
                <a:spcPct val="150000"/>
              </a:lnSpc>
              <a:buFont typeface="+mj-lt"/>
              <a:buAutoNum type="arabicPeriod"/>
            </a:pPr>
            <a:r>
              <a:rPr lang="en-US" sz="1600" b="1">
                <a:solidFill>
                  <a:srgbClr val="FF0000"/>
                </a:solidFill>
                <a:highlight>
                  <a:srgbClr val="800080"/>
                </a:highlight>
              </a:rPr>
              <a:t>Branch Manager Review</a:t>
            </a:r>
            <a:r>
              <a:rPr lang="en-US" sz="1600" b="1">
                <a:highlight>
                  <a:srgbClr val="800080"/>
                </a:highlight>
              </a:rPr>
              <a:t>: </a:t>
            </a:r>
            <a:r>
              <a:rPr lang="ar-EG" sz="1600" b="1">
                <a:solidFill>
                  <a:srgbClr val="00B0F0"/>
                </a:solidFill>
                <a:highlight>
                  <a:srgbClr val="800080"/>
                </a:highlight>
              </a:rPr>
              <a:t>مراجعة مدير الفرع</a:t>
            </a:r>
            <a:r>
              <a:rPr lang="en-US" sz="1600" b="1">
                <a:highlight>
                  <a:srgbClr val="800080"/>
                </a:highlight>
              </a:rPr>
              <a:t>,  BM, BMFR1</a:t>
            </a:r>
          </a:p>
          <a:p>
            <a:pPr marL="871200" lvl="1" indent="-457200">
              <a:lnSpc>
                <a:spcPct val="150000"/>
              </a:lnSpc>
              <a:buFont typeface="+mj-lt"/>
              <a:buAutoNum type="arabicPeriod"/>
            </a:pPr>
            <a:r>
              <a:rPr lang="en-US" sz="1600" b="1">
                <a:solidFill>
                  <a:srgbClr val="FF0000"/>
                </a:solidFill>
                <a:highlight>
                  <a:srgbClr val="800080"/>
                </a:highlight>
              </a:rPr>
              <a:t>Central Committee: </a:t>
            </a:r>
            <a:r>
              <a:rPr lang="ar-EG" sz="1600" b="1">
                <a:solidFill>
                  <a:srgbClr val="00B0F0"/>
                </a:solidFill>
                <a:highlight>
                  <a:srgbClr val="800080"/>
                </a:highlight>
              </a:rPr>
              <a:t>لجنة مركزية</a:t>
            </a:r>
            <a:r>
              <a:rPr lang="en-US" sz="1600" b="1">
                <a:solidFill>
                  <a:srgbClr val="00B0F0"/>
                </a:solidFill>
                <a:highlight>
                  <a:srgbClr val="800080"/>
                </a:highlight>
              </a:rPr>
              <a:t>,</a:t>
            </a:r>
            <a:r>
              <a:rPr lang="en-US" sz="1600" b="1">
                <a:solidFill>
                  <a:srgbClr val="FF0000"/>
                </a:solidFill>
                <a:highlight>
                  <a:srgbClr val="800080"/>
                </a:highlight>
              </a:rPr>
              <a:t> </a:t>
            </a:r>
            <a:r>
              <a:rPr lang="en-US" sz="1600" b="1">
                <a:highlight>
                  <a:srgbClr val="800080"/>
                </a:highlight>
              </a:rPr>
              <a:t> BM, CMR</a:t>
            </a:r>
          </a:p>
          <a:p>
            <a:pPr marL="871200" lvl="1" indent="-457200">
              <a:lnSpc>
                <a:spcPct val="150000"/>
              </a:lnSpc>
              <a:buFont typeface="+mj-lt"/>
              <a:buAutoNum type="arabicPeriod"/>
            </a:pPr>
            <a:r>
              <a:rPr lang="en-US" sz="1600" b="1">
                <a:solidFill>
                  <a:srgbClr val="FF0000"/>
                </a:solidFill>
              </a:rPr>
              <a:t>Uploading Documents: </a:t>
            </a:r>
            <a:r>
              <a:rPr lang="ar-EG" sz="1600" b="1">
                <a:solidFill>
                  <a:srgbClr val="00B0F0"/>
                </a:solidFill>
              </a:rPr>
              <a:t>تحميل المستندات</a:t>
            </a:r>
            <a:r>
              <a:rPr lang="en-US" sz="1600" b="1">
                <a:solidFill>
                  <a:srgbClr val="00B0F0"/>
                </a:solidFill>
              </a:rPr>
              <a:t>,</a:t>
            </a:r>
            <a:r>
              <a:rPr lang="en-US" sz="1600" b="1">
                <a:solidFill>
                  <a:srgbClr val="FF0000"/>
                </a:solidFill>
              </a:rPr>
              <a:t> </a:t>
            </a:r>
            <a:r>
              <a:rPr lang="en-US" sz="1600" b="1"/>
              <a:t>BM, DU77</a:t>
            </a:r>
          </a:p>
          <a:p>
            <a:pPr marL="871200" lvl="1" indent="-457200">
              <a:lnSpc>
                <a:spcPct val="150000"/>
              </a:lnSpc>
              <a:buFont typeface="+mj-lt"/>
              <a:buAutoNum type="arabicPeriod"/>
            </a:pPr>
            <a:r>
              <a:rPr lang="en-US" sz="1600" b="1">
                <a:solidFill>
                  <a:srgbClr val="FF0000"/>
                </a:solidFill>
              </a:rPr>
              <a:t>Central Review: </a:t>
            </a:r>
            <a:r>
              <a:rPr lang="ar-EG" sz="1600" b="1">
                <a:solidFill>
                  <a:srgbClr val="00B0F0"/>
                </a:solidFill>
              </a:rPr>
              <a:t>المراجعة المركزية</a:t>
            </a:r>
            <a:r>
              <a:rPr lang="en-US" sz="1600" b="1">
                <a:solidFill>
                  <a:srgbClr val="00B0F0"/>
                </a:solidFill>
              </a:rPr>
              <a:t>,</a:t>
            </a:r>
            <a:r>
              <a:rPr lang="en-US" sz="1600" b="1">
                <a:solidFill>
                  <a:srgbClr val="FF0000"/>
                </a:solidFill>
              </a:rPr>
              <a:t> </a:t>
            </a:r>
            <a:r>
              <a:rPr lang="en-US" sz="1600" b="1"/>
              <a:t>Credit, LR55</a:t>
            </a:r>
          </a:p>
          <a:p>
            <a:pPr marL="871200" lvl="1" indent="-457200">
              <a:lnSpc>
                <a:spcPct val="150000"/>
              </a:lnSpc>
              <a:buFont typeface="+mj-lt"/>
              <a:buAutoNum type="arabicPeriod"/>
            </a:pPr>
            <a:r>
              <a:rPr lang="ar-EG" sz="1600" b="1">
                <a:solidFill>
                  <a:srgbClr val="FF0000"/>
                </a:solidFill>
              </a:rPr>
              <a:t>إتمام توقيع</a:t>
            </a:r>
            <a:r>
              <a:rPr lang="en-US" sz="1600" b="1">
                <a:solidFill>
                  <a:srgbClr val="FF0000"/>
                </a:solidFill>
              </a:rPr>
              <a:t>: </a:t>
            </a:r>
            <a:r>
              <a:rPr lang="en-US" sz="1600" b="1">
                <a:solidFill>
                  <a:srgbClr val="00B0F0"/>
                </a:solidFill>
              </a:rPr>
              <a:t>BM</a:t>
            </a:r>
            <a:r>
              <a:rPr lang="en-US" sz="1600" b="1">
                <a:solidFill>
                  <a:srgbClr val="FF0000"/>
                </a:solidFill>
              </a:rPr>
              <a:t>, </a:t>
            </a:r>
            <a:r>
              <a:rPr lang="en-US" sz="1600" b="1"/>
              <a:t>BMSC66</a:t>
            </a:r>
            <a:endParaRPr lang="ar-EG" sz="1600" b="1">
              <a:solidFill>
                <a:srgbClr val="FF0000"/>
              </a:solidFill>
            </a:endParaRPr>
          </a:p>
          <a:p>
            <a:pPr marL="871200" lvl="1" indent="-457200">
              <a:lnSpc>
                <a:spcPct val="150000"/>
              </a:lnSpc>
              <a:buFont typeface="+mj-lt"/>
              <a:buAutoNum type="arabicPeriod"/>
            </a:pPr>
            <a:r>
              <a:rPr lang="ar-EG" sz="1600" b="1">
                <a:solidFill>
                  <a:srgbClr val="FF0000"/>
                </a:solidFill>
              </a:rPr>
              <a:t>تم الصرف</a:t>
            </a:r>
          </a:p>
          <a:p>
            <a:pPr algn="ctr">
              <a:lnSpc>
                <a:spcPct val="150000"/>
              </a:lnSpc>
            </a:pPr>
            <a:endParaRPr lang="en-US"/>
          </a:p>
        </p:txBody>
      </p:sp>
    </p:spTree>
    <p:extLst>
      <p:ext uri="{BB962C8B-B14F-4D97-AF65-F5344CB8AC3E}">
        <p14:creationId xmlns:p14="http://schemas.microsoft.com/office/powerpoint/2010/main" val="2591581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70FC1-AD9B-23A6-4690-E0F607A0D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AA768-FBB9-9408-CCB8-E656544B163C}"/>
              </a:ext>
            </a:extLst>
          </p:cNvPr>
          <p:cNvSpPr>
            <a:spLocks noGrp="1"/>
          </p:cNvSpPr>
          <p:nvPr>
            <p:ph type="title"/>
          </p:nvPr>
        </p:nvSpPr>
        <p:spPr>
          <a:xfrm>
            <a:off x="1031782" y="2468075"/>
            <a:ext cx="10353762" cy="970450"/>
          </a:xfrm>
        </p:spPr>
        <p:txBody>
          <a:bodyPr>
            <a:normAutofit/>
          </a:bodyPr>
          <a:lstStyle/>
          <a:p>
            <a:r>
              <a:rPr lang="en-US" sz="4400" b="1">
                <a:solidFill>
                  <a:srgbClr val="FF0000"/>
                </a:solidFill>
              </a:rPr>
              <a:t>Start Funding Request: R111</a:t>
            </a:r>
          </a:p>
        </p:txBody>
      </p:sp>
    </p:spTree>
    <p:extLst>
      <p:ext uri="{BB962C8B-B14F-4D97-AF65-F5344CB8AC3E}">
        <p14:creationId xmlns:p14="http://schemas.microsoft.com/office/powerpoint/2010/main" val="1472293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C5F02-B149-6B8C-A2BB-05927BB91BAD}"/>
              </a:ext>
            </a:extLst>
          </p:cNvPr>
          <p:cNvSpPr>
            <a:spLocks noGrp="1"/>
          </p:cNvSpPr>
          <p:nvPr>
            <p:ph type="title"/>
          </p:nvPr>
        </p:nvSpPr>
        <p:spPr>
          <a:xfrm>
            <a:off x="913795" y="0"/>
            <a:ext cx="10353762" cy="675861"/>
          </a:xfrm>
        </p:spPr>
        <p:txBody>
          <a:bodyPr>
            <a:normAutofit fontScale="90000"/>
          </a:bodyPr>
          <a:lstStyle/>
          <a:p>
            <a:r>
              <a:rPr lang="en-US" b="1">
                <a:solidFill>
                  <a:srgbClr val="FF0000"/>
                </a:solidFill>
              </a:rPr>
              <a:t>LO click on </a:t>
            </a:r>
            <a:r>
              <a:rPr lang="ar-EG" b="1">
                <a:solidFill>
                  <a:srgbClr val="FF0000"/>
                </a:solidFill>
              </a:rPr>
              <a:t>طلب جديد</a:t>
            </a:r>
            <a:endParaRPr lang="en-US" b="1">
              <a:solidFill>
                <a:srgbClr val="FF0000"/>
              </a:solidFill>
            </a:endParaRPr>
          </a:p>
        </p:txBody>
      </p:sp>
      <p:sp>
        <p:nvSpPr>
          <p:cNvPr id="3" name="Content Placeholder 2">
            <a:extLst>
              <a:ext uri="{FF2B5EF4-FFF2-40B4-BE49-F238E27FC236}">
                <a16:creationId xmlns:a16="http://schemas.microsoft.com/office/drawing/2014/main" id="{326039B0-7092-AF3F-0630-AA862CE806BE}"/>
              </a:ext>
            </a:extLst>
          </p:cNvPr>
          <p:cNvSpPr>
            <a:spLocks noGrp="1"/>
          </p:cNvSpPr>
          <p:nvPr>
            <p:ph idx="1"/>
          </p:nvPr>
        </p:nvSpPr>
        <p:spPr>
          <a:xfrm>
            <a:off x="218660" y="675861"/>
            <a:ext cx="11847443" cy="6013174"/>
          </a:xfrm>
        </p:spPr>
        <p:txBody>
          <a:bodyPr/>
          <a:lstStyle/>
          <a:p>
            <a:r>
              <a:rPr lang="ar-EG"/>
              <a:t>علشان اجيب بعض البيانات الخاصة بتحميل شاشة طلب التمويل</a:t>
            </a:r>
            <a:endParaRPr lang="en-US"/>
          </a:p>
          <a:p>
            <a:r>
              <a:rPr lang="en-US"/>
              <a:t>Flow_Funding_requestController/</a:t>
            </a:r>
            <a:r>
              <a:rPr lang="en-US" b="1">
                <a:solidFill>
                  <a:srgbClr val="00B0F0"/>
                </a:solidFill>
              </a:rPr>
              <a:t>GetAllFundingLoadList</a:t>
            </a:r>
            <a:r>
              <a:rPr lang="en-US"/>
              <a:t>/{BranchId}/{UserId}</a:t>
            </a:r>
          </a:p>
          <a:p>
            <a:pPr lvl="1"/>
            <a:r>
              <a:rPr lang="en-US" b="1">
                <a:solidFill>
                  <a:srgbClr val="FFC000"/>
                </a:solidFill>
              </a:rPr>
              <a:t>FundindPageLoadVM</a:t>
            </a:r>
            <a:r>
              <a:rPr lang="en-US"/>
              <a:t> </a:t>
            </a:r>
            <a:r>
              <a:rPr lang="en-US" b="1"/>
              <a:t>Flow_Funding_requestService</a:t>
            </a:r>
            <a:r>
              <a:rPr lang="en-US"/>
              <a:t> </a:t>
            </a:r>
            <a:r>
              <a:rPr lang="en-US" b="1">
                <a:solidFill>
                  <a:srgbClr val="00B0F0"/>
                </a:solidFill>
              </a:rPr>
              <a:t>GetAllFundingLoadList</a:t>
            </a:r>
            <a:r>
              <a:rPr lang="en-US"/>
              <a:t>(branchId, userId)</a:t>
            </a:r>
          </a:p>
          <a:p>
            <a:endParaRPr lang="en-US"/>
          </a:p>
          <a:p>
            <a:endParaRPr lang="en-US"/>
          </a:p>
        </p:txBody>
      </p:sp>
      <p:pic>
        <p:nvPicPr>
          <p:cNvPr id="6" name="Picture 5">
            <a:extLst>
              <a:ext uri="{FF2B5EF4-FFF2-40B4-BE49-F238E27FC236}">
                <a16:creationId xmlns:a16="http://schemas.microsoft.com/office/drawing/2014/main" id="{D8900D31-80D8-DAA8-4039-0741586F2C0C}"/>
              </a:ext>
            </a:extLst>
          </p:cNvPr>
          <p:cNvPicPr>
            <a:picLocks noChangeAspect="1"/>
          </p:cNvPicPr>
          <p:nvPr/>
        </p:nvPicPr>
        <p:blipFill>
          <a:blip r:embed="rId2"/>
          <a:stretch>
            <a:fillRect/>
          </a:stretch>
        </p:blipFill>
        <p:spPr>
          <a:xfrm>
            <a:off x="84668" y="2269505"/>
            <a:ext cx="8067111" cy="4331090"/>
          </a:xfrm>
          <a:prstGeom prst="rect">
            <a:avLst/>
          </a:prstGeom>
        </p:spPr>
      </p:pic>
    </p:spTree>
    <p:extLst>
      <p:ext uri="{BB962C8B-B14F-4D97-AF65-F5344CB8AC3E}">
        <p14:creationId xmlns:p14="http://schemas.microsoft.com/office/powerpoint/2010/main" val="2797667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D2F75-0EC9-D744-91B8-8B68F9F71A10}"/>
              </a:ext>
            </a:extLst>
          </p:cNvPr>
          <p:cNvSpPr>
            <a:spLocks noGrp="1"/>
          </p:cNvSpPr>
          <p:nvPr>
            <p:ph type="title"/>
          </p:nvPr>
        </p:nvSpPr>
        <p:spPr>
          <a:xfrm>
            <a:off x="913795" y="36922"/>
            <a:ext cx="10353762" cy="530345"/>
          </a:xfrm>
        </p:spPr>
        <p:txBody>
          <a:bodyPr>
            <a:normAutofit fontScale="90000"/>
          </a:bodyPr>
          <a:lstStyle/>
          <a:p>
            <a:r>
              <a:rPr lang="en-US" sz="3200"/>
              <a:t>Request Loaded Data [</a:t>
            </a:r>
            <a:r>
              <a:rPr lang="ar-EG" sz="3200"/>
              <a:t>البيانات الخاصة بطلب التمويل</a:t>
            </a:r>
            <a:r>
              <a:rPr lang="en-US" sz="3200"/>
              <a:t>]</a:t>
            </a:r>
          </a:p>
        </p:txBody>
      </p:sp>
      <p:sp>
        <p:nvSpPr>
          <p:cNvPr id="3" name="Content Placeholder 2">
            <a:extLst>
              <a:ext uri="{FF2B5EF4-FFF2-40B4-BE49-F238E27FC236}">
                <a16:creationId xmlns:a16="http://schemas.microsoft.com/office/drawing/2014/main" id="{9CA37D26-B095-6F0F-9620-23B8088C3CFF}"/>
              </a:ext>
            </a:extLst>
          </p:cNvPr>
          <p:cNvSpPr>
            <a:spLocks noGrp="1"/>
          </p:cNvSpPr>
          <p:nvPr>
            <p:ph idx="1"/>
          </p:nvPr>
        </p:nvSpPr>
        <p:spPr>
          <a:xfrm>
            <a:off x="107004" y="567267"/>
            <a:ext cx="11955293" cy="6253811"/>
          </a:xfrm>
        </p:spPr>
        <p:txBody>
          <a:bodyPr/>
          <a:lstStyle/>
          <a:p>
            <a:r>
              <a:rPr lang="en-US"/>
              <a:t>Load Purpose_loan [</a:t>
            </a:r>
            <a:r>
              <a:rPr lang="ar-EG"/>
              <a:t>الغرض من التمويل</a:t>
            </a:r>
            <a:r>
              <a:rPr lang="en-US"/>
              <a:t>] drop down</a:t>
            </a:r>
          </a:p>
          <a:p>
            <a:r>
              <a:rPr lang="en-US"/>
              <a:t>Load Relationships</a:t>
            </a:r>
          </a:p>
          <a:p>
            <a:r>
              <a:rPr lang="en-US"/>
              <a:t>Approximation: [1.00] from generalSetting</a:t>
            </a:r>
          </a:p>
          <a:p>
            <a:r>
              <a:rPr lang="en-US" sz="1700"/>
              <a:t>FinanceAmount_Approximation [1000.00] from General Setting</a:t>
            </a:r>
          </a:p>
          <a:p>
            <a:endParaRPr lang="en-US"/>
          </a:p>
          <a:p>
            <a:r>
              <a:rPr lang="en-US"/>
              <a:t>Load </a:t>
            </a:r>
            <a:r>
              <a:rPr lang="en-US" b="1">
                <a:solidFill>
                  <a:srgbClr val="00B0F0"/>
                </a:solidFill>
              </a:rPr>
              <a:t>BranchProduct</a:t>
            </a:r>
          </a:p>
          <a:p>
            <a:r>
              <a:rPr lang="en-US"/>
              <a:t>Load </a:t>
            </a:r>
            <a:r>
              <a:rPr lang="en-US" b="1">
                <a:solidFill>
                  <a:srgbClr val="00B0F0"/>
                </a:solidFill>
              </a:rPr>
              <a:t>AllProducts</a:t>
            </a:r>
          </a:p>
          <a:p>
            <a:pPr lvl="1"/>
            <a:r>
              <a:rPr lang="en-US"/>
              <a:t>.Where(s =&gt; s.Confirm_Score == 0);</a:t>
            </a:r>
            <a:endParaRPr lang="en-US" b="1">
              <a:solidFill>
                <a:srgbClr val="00B0F0"/>
              </a:solidFill>
            </a:endParaRPr>
          </a:p>
          <a:p>
            <a:r>
              <a:rPr lang="en-US"/>
              <a:t>Load </a:t>
            </a:r>
            <a:r>
              <a:rPr lang="en-US" b="1">
                <a:solidFill>
                  <a:srgbClr val="00B0F0"/>
                </a:solidFill>
              </a:rPr>
              <a:t>EmpProduct</a:t>
            </a:r>
          </a:p>
          <a:p>
            <a:r>
              <a:rPr lang="en-US"/>
              <a:t>Load</a:t>
            </a:r>
            <a:r>
              <a:rPr lang="en-US" b="1">
                <a:solidFill>
                  <a:srgbClr val="00B0F0"/>
                </a:solidFill>
              </a:rPr>
              <a:t> Exempted_products</a:t>
            </a:r>
            <a:endParaRPr lang="en-US"/>
          </a:p>
          <a:p>
            <a:endParaRPr lang="en-US"/>
          </a:p>
        </p:txBody>
      </p:sp>
      <p:pic>
        <p:nvPicPr>
          <p:cNvPr id="5" name="Picture 4">
            <a:extLst>
              <a:ext uri="{FF2B5EF4-FFF2-40B4-BE49-F238E27FC236}">
                <a16:creationId xmlns:a16="http://schemas.microsoft.com/office/drawing/2014/main" id="{5E5DA2BC-8923-AB36-1B93-52EC625C070B}"/>
              </a:ext>
            </a:extLst>
          </p:cNvPr>
          <p:cNvPicPr>
            <a:picLocks noChangeAspect="1"/>
          </p:cNvPicPr>
          <p:nvPr/>
        </p:nvPicPr>
        <p:blipFill>
          <a:blip r:embed="rId2"/>
          <a:stretch>
            <a:fillRect/>
          </a:stretch>
        </p:blipFill>
        <p:spPr>
          <a:xfrm>
            <a:off x="6499598" y="4408469"/>
            <a:ext cx="5585399" cy="1808168"/>
          </a:xfrm>
          <a:prstGeom prst="rect">
            <a:avLst/>
          </a:prstGeom>
        </p:spPr>
      </p:pic>
      <p:pic>
        <p:nvPicPr>
          <p:cNvPr id="7" name="Picture 6">
            <a:extLst>
              <a:ext uri="{FF2B5EF4-FFF2-40B4-BE49-F238E27FC236}">
                <a16:creationId xmlns:a16="http://schemas.microsoft.com/office/drawing/2014/main" id="{00AAB2BC-1C17-48AE-A964-59509654638F}"/>
              </a:ext>
            </a:extLst>
          </p:cNvPr>
          <p:cNvPicPr>
            <a:picLocks noChangeAspect="1"/>
          </p:cNvPicPr>
          <p:nvPr/>
        </p:nvPicPr>
        <p:blipFill>
          <a:blip r:embed="rId3"/>
          <a:stretch>
            <a:fillRect/>
          </a:stretch>
        </p:blipFill>
        <p:spPr>
          <a:xfrm>
            <a:off x="6499598" y="1735305"/>
            <a:ext cx="5585398" cy="2647763"/>
          </a:xfrm>
          <a:prstGeom prst="rect">
            <a:avLst/>
          </a:prstGeom>
        </p:spPr>
      </p:pic>
    </p:spTree>
    <p:extLst>
      <p:ext uri="{BB962C8B-B14F-4D97-AF65-F5344CB8AC3E}">
        <p14:creationId xmlns:p14="http://schemas.microsoft.com/office/powerpoint/2010/main" val="71994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DB6E-98E4-04D6-32A1-81DE6C3C3280}"/>
              </a:ext>
            </a:extLst>
          </p:cNvPr>
          <p:cNvSpPr>
            <a:spLocks noGrp="1"/>
          </p:cNvSpPr>
          <p:nvPr>
            <p:ph type="title"/>
          </p:nvPr>
        </p:nvSpPr>
        <p:spPr>
          <a:xfrm>
            <a:off x="913795" y="0"/>
            <a:ext cx="10353762" cy="654627"/>
          </a:xfrm>
        </p:spPr>
        <p:txBody>
          <a:bodyPr>
            <a:normAutofit fontScale="90000"/>
          </a:bodyPr>
          <a:lstStyle/>
          <a:p>
            <a:r>
              <a:rPr lang="en-US" b="1">
                <a:solidFill>
                  <a:srgbClr val="FF0000"/>
                </a:solidFill>
              </a:rPr>
              <a:t>LO Select Funding Type [ </a:t>
            </a:r>
            <a:r>
              <a:rPr lang="ar-EG" b="1">
                <a:solidFill>
                  <a:srgbClr val="FF0000"/>
                </a:solidFill>
              </a:rPr>
              <a:t>نوع التمويل</a:t>
            </a:r>
            <a:r>
              <a:rPr lang="en-US" b="1">
                <a:solidFill>
                  <a:srgbClr val="FF0000"/>
                </a:solidFill>
              </a:rPr>
              <a:t> ]</a:t>
            </a:r>
          </a:p>
        </p:txBody>
      </p:sp>
      <p:sp>
        <p:nvSpPr>
          <p:cNvPr id="3" name="Content Placeholder 2">
            <a:extLst>
              <a:ext uri="{FF2B5EF4-FFF2-40B4-BE49-F238E27FC236}">
                <a16:creationId xmlns:a16="http://schemas.microsoft.com/office/drawing/2014/main" id="{0E9EE910-A036-D8E1-199B-70594B8C7B8F}"/>
              </a:ext>
            </a:extLst>
          </p:cNvPr>
          <p:cNvSpPr>
            <a:spLocks noGrp="1"/>
          </p:cNvSpPr>
          <p:nvPr>
            <p:ph idx="1"/>
          </p:nvPr>
        </p:nvSpPr>
        <p:spPr>
          <a:xfrm>
            <a:off x="166254" y="654627"/>
            <a:ext cx="11940021" cy="6047509"/>
          </a:xfrm>
        </p:spPr>
        <p:txBody>
          <a:bodyPr/>
          <a:lstStyle/>
          <a:p>
            <a:r>
              <a:rPr lang="ar-EG"/>
              <a:t>بجيب كل البيانات الخاصة بالمنتج</a:t>
            </a:r>
            <a:endParaRPr lang="en-US"/>
          </a:p>
          <a:p>
            <a:r>
              <a:rPr lang="en-US"/>
              <a:t>Flow_Funding_requestController/</a:t>
            </a:r>
            <a:r>
              <a:rPr lang="en-US" b="1">
                <a:solidFill>
                  <a:srgbClr val="FFFF00"/>
                </a:solidFill>
              </a:rPr>
              <a:t>GetAllTypeDocuments</a:t>
            </a:r>
          </a:p>
          <a:p>
            <a:r>
              <a:rPr lang="en-US" sz="1800" b="1">
                <a:solidFill>
                  <a:srgbClr val="FFC000"/>
                </a:solidFill>
              </a:rPr>
              <a:t>TypeDocumentVM</a:t>
            </a:r>
            <a:r>
              <a:rPr lang="en-US" sz="1800"/>
              <a:t> </a:t>
            </a:r>
            <a:r>
              <a:rPr lang="en-US" sz="1800" b="1"/>
              <a:t>Flow_Funding_requestService.</a:t>
            </a:r>
            <a:r>
              <a:rPr lang="en-US" sz="1800" b="1">
                <a:solidFill>
                  <a:srgbClr val="00B0F0"/>
                </a:solidFill>
                <a:effectLst/>
              </a:rPr>
              <a:t>GetAllTypeDocuments</a:t>
            </a:r>
            <a:r>
              <a:rPr lang="en-US" sz="1800">
                <a:effectLst/>
              </a:rPr>
              <a:t> </a:t>
            </a:r>
            <a:r>
              <a:rPr lang="en-US" sz="1800" b="1">
                <a:effectLst/>
              </a:rPr>
              <a:t>(</a:t>
            </a:r>
            <a:r>
              <a:rPr lang="en-US" sz="1800" b="1"/>
              <a:t>[FromBody] </a:t>
            </a:r>
            <a:r>
              <a:rPr lang="en-US" sz="1800" b="1">
                <a:solidFill>
                  <a:srgbClr val="00B0F0"/>
                </a:solidFill>
              </a:rPr>
              <a:t>ProdcutData</a:t>
            </a:r>
            <a:r>
              <a:rPr lang="en-US" sz="1800" b="1"/>
              <a:t> entity)</a:t>
            </a:r>
          </a:p>
          <a:p>
            <a:endParaRPr lang="en-US"/>
          </a:p>
          <a:p>
            <a:endParaRPr lang="en-US"/>
          </a:p>
        </p:txBody>
      </p:sp>
      <p:pic>
        <p:nvPicPr>
          <p:cNvPr id="5" name="Picture 4">
            <a:extLst>
              <a:ext uri="{FF2B5EF4-FFF2-40B4-BE49-F238E27FC236}">
                <a16:creationId xmlns:a16="http://schemas.microsoft.com/office/drawing/2014/main" id="{854FA3C6-35E2-E50A-0BBE-06D6612ADC54}"/>
              </a:ext>
            </a:extLst>
          </p:cNvPr>
          <p:cNvPicPr>
            <a:picLocks noChangeAspect="1"/>
          </p:cNvPicPr>
          <p:nvPr/>
        </p:nvPicPr>
        <p:blipFill>
          <a:blip r:embed="rId2"/>
          <a:stretch>
            <a:fillRect/>
          </a:stretch>
        </p:blipFill>
        <p:spPr>
          <a:xfrm>
            <a:off x="292873" y="2425004"/>
            <a:ext cx="6024996" cy="3408300"/>
          </a:xfrm>
          <a:prstGeom prst="rect">
            <a:avLst/>
          </a:prstGeom>
        </p:spPr>
      </p:pic>
      <p:pic>
        <p:nvPicPr>
          <p:cNvPr id="6" name="Picture 5">
            <a:extLst>
              <a:ext uri="{FF2B5EF4-FFF2-40B4-BE49-F238E27FC236}">
                <a16:creationId xmlns:a16="http://schemas.microsoft.com/office/drawing/2014/main" id="{15AF2B9D-89A6-1D00-4423-E6634B600C23}"/>
              </a:ext>
            </a:extLst>
          </p:cNvPr>
          <p:cNvPicPr>
            <a:picLocks noChangeAspect="1"/>
          </p:cNvPicPr>
          <p:nvPr/>
        </p:nvPicPr>
        <p:blipFill>
          <a:blip r:embed="rId3"/>
          <a:stretch>
            <a:fillRect/>
          </a:stretch>
        </p:blipFill>
        <p:spPr>
          <a:xfrm>
            <a:off x="6444487" y="2425004"/>
            <a:ext cx="2941575" cy="1874682"/>
          </a:xfrm>
          <a:prstGeom prst="rect">
            <a:avLst/>
          </a:prstGeom>
        </p:spPr>
      </p:pic>
    </p:spTree>
    <p:extLst>
      <p:ext uri="{BB962C8B-B14F-4D97-AF65-F5344CB8AC3E}">
        <p14:creationId xmlns:p14="http://schemas.microsoft.com/office/powerpoint/2010/main" val="2828748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F613-CA7D-C215-F703-4ACF98D72C26}"/>
              </a:ext>
            </a:extLst>
          </p:cNvPr>
          <p:cNvSpPr>
            <a:spLocks noGrp="1"/>
          </p:cNvSpPr>
          <p:nvPr>
            <p:ph type="title"/>
          </p:nvPr>
        </p:nvSpPr>
        <p:spPr>
          <a:xfrm>
            <a:off x="919119" y="0"/>
            <a:ext cx="10353762" cy="739302"/>
          </a:xfrm>
        </p:spPr>
        <p:txBody>
          <a:bodyPr/>
          <a:lstStyle/>
          <a:p>
            <a:r>
              <a:rPr lang="ar-EG"/>
              <a:t>لو المنتج الذي تم اختياره بدون عائد</a:t>
            </a:r>
            <a:endParaRPr lang="en-US"/>
          </a:p>
        </p:txBody>
      </p:sp>
      <p:sp>
        <p:nvSpPr>
          <p:cNvPr id="7" name="Content Placeholder 6">
            <a:extLst>
              <a:ext uri="{FF2B5EF4-FFF2-40B4-BE49-F238E27FC236}">
                <a16:creationId xmlns:a16="http://schemas.microsoft.com/office/drawing/2014/main" id="{C341F8AE-D078-85D5-E61D-99EAC1264345}"/>
              </a:ext>
            </a:extLst>
          </p:cNvPr>
          <p:cNvSpPr>
            <a:spLocks noGrp="1"/>
          </p:cNvSpPr>
          <p:nvPr>
            <p:ph idx="1"/>
          </p:nvPr>
        </p:nvSpPr>
        <p:spPr>
          <a:xfrm>
            <a:off x="214009" y="739302"/>
            <a:ext cx="11877472" cy="5788497"/>
          </a:xfrm>
        </p:spPr>
        <p:txBody>
          <a:bodyPr/>
          <a:lstStyle/>
          <a:p>
            <a:r>
              <a:rPr lang="en-US" b="1">
                <a:solidFill>
                  <a:srgbClr val="FFFF00"/>
                </a:solidFill>
              </a:rPr>
              <a:t>TWF</a:t>
            </a:r>
            <a:r>
              <a:rPr lang="en-US"/>
              <a:t>.Flow_Product_Return</a:t>
            </a:r>
          </a:p>
          <a:p>
            <a:r>
              <a:rPr lang="en-US" sz="1800" b="1"/>
              <a:t>In case of </a:t>
            </a:r>
            <a:r>
              <a:rPr lang="en-US" sz="1800" b="1">
                <a:solidFill>
                  <a:srgbClr val="FF0000"/>
                </a:solidFill>
              </a:rPr>
              <a:t>Product</a:t>
            </a:r>
            <a:r>
              <a:rPr lang="en-US" sz="1800" b="1"/>
              <a:t>.</a:t>
            </a:r>
            <a:r>
              <a:rPr lang="en-US" sz="1800" b="1">
                <a:solidFill>
                  <a:srgbClr val="00B0F0"/>
                </a:solidFill>
              </a:rPr>
              <a:t>Flow_Product_Return</a:t>
            </a:r>
            <a:r>
              <a:rPr lang="en-US" sz="1800" b="1"/>
              <a:t>.Where(x.product_Id == product_Id)</a:t>
            </a:r>
          </a:p>
          <a:p>
            <a:endParaRPr lang="en-US"/>
          </a:p>
          <a:p>
            <a:endParaRPr lang="en-US"/>
          </a:p>
        </p:txBody>
      </p:sp>
      <p:pic>
        <p:nvPicPr>
          <p:cNvPr id="8" name="Content Placeholder 4">
            <a:extLst>
              <a:ext uri="{FF2B5EF4-FFF2-40B4-BE49-F238E27FC236}">
                <a16:creationId xmlns:a16="http://schemas.microsoft.com/office/drawing/2014/main" id="{7686F1DA-71F5-00B7-C79A-BF4DD0E8D1FC}"/>
              </a:ext>
            </a:extLst>
          </p:cNvPr>
          <p:cNvPicPr>
            <a:picLocks noChangeAspect="1"/>
          </p:cNvPicPr>
          <p:nvPr/>
        </p:nvPicPr>
        <p:blipFill>
          <a:blip r:embed="rId2"/>
          <a:stretch>
            <a:fillRect/>
          </a:stretch>
        </p:blipFill>
        <p:spPr>
          <a:xfrm>
            <a:off x="7215118" y="1897967"/>
            <a:ext cx="4495368" cy="3296603"/>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287417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542CE-17C1-F04D-F144-2D6F30D0443F}"/>
              </a:ext>
            </a:extLst>
          </p:cNvPr>
          <p:cNvSpPr>
            <a:spLocks noGrp="1"/>
          </p:cNvSpPr>
          <p:nvPr>
            <p:ph type="title"/>
          </p:nvPr>
        </p:nvSpPr>
        <p:spPr>
          <a:xfrm>
            <a:off x="1007608" y="0"/>
            <a:ext cx="10353762" cy="501445"/>
          </a:xfrm>
        </p:spPr>
        <p:txBody>
          <a:bodyPr>
            <a:normAutofit fontScale="90000"/>
          </a:bodyPr>
          <a:lstStyle/>
          <a:p>
            <a:r>
              <a:rPr lang="en-US" b="1">
                <a:solidFill>
                  <a:srgbClr val="FF0000"/>
                </a:solidFill>
              </a:rPr>
              <a:t>When click on </a:t>
            </a:r>
            <a:r>
              <a:rPr lang="ar-EG" b="1">
                <a:solidFill>
                  <a:srgbClr val="FF0000"/>
                </a:solidFill>
              </a:rPr>
              <a:t>اسم العميل </a:t>
            </a:r>
            <a:r>
              <a:rPr lang="en-US" b="1">
                <a:solidFill>
                  <a:srgbClr val="FF0000"/>
                </a:solidFill>
              </a:rPr>
              <a:t> After write customer Id</a:t>
            </a:r>
          </a:p>
        </p:txBody>
      </p:sp>
      <p:sp>
        <p:nvSpPr>
          <p:cNvPr id="3" name="Content Placeholder 2">
            <a:extLst>
              <a:ext uri="{FF2B5EF4-FFF2-40B4-BE49-F238E27FC236}">
                <a16:creationId xmlns:a16="http://schemas.microsoft.com/office/drawing/2014/main" id="{84F5B264-3616-3D8F-D554-F0882EF8CDA5}"/>
              </a:ext>
            </a:extLst>
          </p:cNvPr>
          <p:cNvSpPr>
            <a:spLocks noGrp="1"/>
          </p:cNvSpPr>
          <p:nvPr>
            <p:ph idx="1"/>
          </p:nvPr>
        </p:nvSpPr>
        <p:spPr>
          <a:xfrm>
            <a:off x="245806" y="501445"/>
            <a:ext cx="11700387" cy="6096000"/>
          </a:xfrm>
        </p:spPr>
        <p:txBody>
          <a:bodyPr>
            <a:normAutofit/>
          </a:bodyPr>
          <a:lstStyle/>
          <a:p>
            <a:r>
              <a:rPr lang="en-US" sz="1800" b="1">
                <a:solidFill>
                  <a:srgbClr val="FFC000"/>
                </a:solidFill>
              </a:rPr>
              <a:t>Flow_Funding_requestController</a:t>
            </a:r>
            <a:r>
              <a:rPr lang="en-US" sz="1800"/>
              <a:t>/</a:t>
            </a:r>
            <a:r>
              <a:rPr lang="en-US" sz="1800" b="1">
                <a:solidFill>
                  <a:srgbClr val="00B0F0"/>
                </a:solidFill>
              </a:rPr>
              <a:t>Flow_Funding_requestController</a:t>
            </a:r>
            <a:r>
              <a:rPr lang="en-US" sz="1800"/>
              <a:t>/</a:t>
            </a:r>
            <a:r>
              <a:rPr lang="en-US" sz="1800" b="1">
                <a:solidFill>
                  <a:srgbClr val="FFFF00"/>
                </a:solidFill>
              </a:rPr>
              <a:t>CustomerData</a:t>
            </a:r>
            <a:r>
              <a:rPr lang="en-US" sz="1800"/>
              <a:t> // </a:t>
            </a:r>
            <a:r>
              <a:rPr lang="en-US" sz="1800" b="1">
                <a:solidFill>
                  <a:srgbClr val="92D050"/>
                </a:solidFill>
              </a:rPr>
              <a:t>POST</a:t>
            </a:r>
          </a:p>
          <a:p>
            <a:r>
              <a:rPr lang="en-US" sz="1800" b="1">
                <a:solidFill>
                  <a:srgbClr val="FFC000"/>
                </a:solidFill>
              </a:rPr>
              <a:t>CustomerData</a:t>
            </a:r>
            <a:r>
              <a:rPr lang="en-US" sz="1800"/>
              <a:t> </a:t>
            </a:r>
            <a:r>
              <a:rPr lang="en-US" sz="1800" b="1"/>
              <a:t>CustomerData</a:t>
            </a:r>
            <a:r>
              <a:rPr lang="en-US" sz="1800"/>
              <a:t>(</a:t>
            </a:r>
            <a:r>
              <a:rPr lang="en-US" sz="1800" b="1">
                <a:solidFill>
                  <a:srgbClr val="00B0F0"/>
                </a:solidFill>
              </a:rPr>
              <a:t>CustVM</a:t>
            </a:r>
            <a:r>
              <a:rPr lang="en-US" sz="1800"/>
              <a:t> entity)</a:t>
            </a:r>
          </a:p>
          <a:p>
            <a:r>
              <a:rPr lang="en-US" sz="1800"/>
              <a:t>What CustomerData method do</a:t>
            </a:r>
          </a:p>
          <a:p>
            <a:r>
              <a:rPr lang="en-US" sz="1800"/>
              <a:t>Check if the NID is existed at vendor</a:t>
            </a:r>
          </a:p>
          <a:p>
            <a:r>
              <a:rPr lang="en-US" sz="1800"/>
              <a:t>Check if this Product Allow Or Not Allow To This Gender</a:t>
            </a:r>
          </a:p>
          <a:p>
            <a:pPr lvl="1"/>
            <a:r>
              <a:rPr lang="en-US" sz="1600"/>
              <a:t>The 13</a:t>
            </a:r>
            <a:r>
              <a:rPr lang="en-US" sz="1600" baseline="30000"/>
              <a:t>th</a:t>
            </a:r>
            <a:r>
              <a:rPr lang="en-US" sz="1600"/>
              <a:t> digit from id if odd male else female</a:t>
            </a:r>
          </a:p>
          <a:p>
            <a:r>
              <a:rPr lang="en-US" sz="1800"/>
              <a:t>Check if Qid is for company employees of blacklist</a:t>
            </a:r>
          </a:p>
          <a:p>
            <a:endParaRPr lang="en-US" sz="1800"/>
          </a:p>
          <a:p>
            <a:endParaRPr lang="en-US" sz="1800"/>
          </a:p>
        </p:txBody>
      </p:sp>
      <p:pic>
        <p:nvPicPr>
          <p:cNvPr id="5" name="Picture 4">
            <a:extLst>
              <a:ext uri="{FF2B5EF4-FFF2-40B4-BE49-F238E27FC236}">
                <a16:creationId xmlns:a16="http://schemas.microsoft.com/office/drawing/2014/main" id="{DA78AC0E-02C3-ABA5-1F39-04A535A82B57}"/>
              </a:ext>
            </a:extLst>
          </p:cNvPr>
          <p:cNvPicPr>
            <a:picLocks noChangeAspect="1"/>
          </p:cNvPicPr>
          <p:nvPr/>
        </p:nvPicPr>
        <p:blipFill>
          <a:blip r:embed="rId2"/>
          <a:stretch>
            <a:fillRect/>
          </a:stretch>
        </p:blipFill>
        <p:spPr>
          <a:xfrm>
            <a:off x="8238337" y="1258421"/>
            <a:ext cx="3208595" cy="3201133"/>
          </a:xfrm>
          <a:prstGeom prst="rect">
            <a:avLst/>
          </a:prstGeom>
        </p:spPr>
      </p:pic>
    </p:spTree>
    <p:extLst>
      <p:ext uri="{BB962C8B-B14F-4D97-AF65-F5344CB8AC3E}">
        <p14:creationId xmlns:p14="http://schemas.microsoft.com/office/powerpoint/2010/main" val="3687390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16BE2-0582-DCC4-E9B2-BD0212AAC27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3BA8AF8-06F1-DAC9-446D-874494A5D3E9}"/>
              </a:ext>
            </a:extLst>
          </p:cNvPr>
          <p:cNvPicPr>
            <a:picLocks noGrp="1" noChangeAspect="1"/>
          </p:cNvPicPr>
          <p:nvPr>
            <p:ph idx="1"/>
          </p:nvPr>
        </p:nvPicPr>
        <p:blipFill>
          <a:blip r:embed="rId2"/>
          <a:stretch>
            <a:fillRect/>
          </a:stretch>
        </p:blipFill>
        <p:spPr>
          <a:xfrm>
            <a:off x="3022600" y="1731963"/>
            <a:ext cx="5404347" cy="4696116"/>
          </a:xfrm>
          <a:prstGeom prst="rect">
            <a:avLst/>
          </a:prstGeom>
        </p:spPr>
      </p:pic>
    </p:spTree>
    <p:extLst>
      <p:ext uri="{BB962C8B-B14F-4D97-AF65-F5344CB8AC3E}">
        <p14:creationId xmlns:p14="http://schemas.microsoft.com/office/powerpoint/2010/main" val="3772268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BFD1-4672-1A17-0632-493AD79F59BB}"/>
              </a:ext>
            </a:extLst>
          </p:cNvPr>
          <p:cNvSpPr>
            <a:spLocks noGrp="1"/>
          </p:cNvSpPr>
          <p:nvPr>
            <p:ph type="title"/>
          </p:nvPr>
        </p:nvSpPr>
        <p:spPr>
          <a:xfrm>
            <a:off x="913795" y="609600"/>
            <a:ext cx="3078749" cy="970450"/>
          </a:xfrm>
        </p:spPr>
        <p:txBody>
          <a:bodyPr anchor="b">
            <a:normAutofit/>
          </a:bodyPr>
          <a:lstStyle/>
          <a:p>
            <a:pPr algn="l"/>
            <a:endParaRPr lang="en-US" sz="2800">
              <a:ln>
                <a:solidFill>
                  <a:srgbClr val="404040">
                    <a:alpha val="10000"/>
                  </a:srgbClr>
                </a:solidFill>
              </a:ln>
              <a:solidFill>
                <a:srgbClr val="DADADA"/>
              </a:solidFill>
            </a:endParaRPr>
          </a:p>
        </p:txBody>
      </p:sp>
      <p:sp>
        <p:nvSpPr>
          <p:cNvPr id="13" name="Content Placeholder 12">
            <a:extLst>
              <a:ext uri="{FF2B5EF4-FFF2-40B4-BE49-F238E27FC236}">
                <a16:creationId xmlns:a16="http://schemas.microsoft.com/office/drawing/2014/main" id="{638DEBEA-0463-FFF1-48F0-E107746FA10B}"/>
              </a:ext>
            </a:extLst>
          </p:cNvPr>
          <p:cNvSpPr>
            <a:spLocks noGrp="1"/>
          </p:cNvSpPr>
          <p:nvPr>
            <p:ph idx="1"/>
          </p:nvPr>
        </p:nvSpPr>
        <p:spPr>
          <a:xfrm>
            <a:off x="913795" y="1732449"/>
            <a:ext cx="3078749" cy="4482084"/>
          </a:xfrm>
        </p:spPr>
        <p:txBody>
          <a:bodyPr anchor="t">
            <a:normAutofit/>
          </a:bodyPr>
          <a:lstStyle/>
          <a:p>
            <a:endParaRPr lang="en-US" sz="1600">
              <a:ln>
                <a:solidFill>
                  <a:srgbClr val="404040">
                    <a:alpha val="10000"/>
                  </a:srgbClr>
                </a:solidFill>
              </a:ln>
              <a:solidFill>
                <a:srgbClr val="DADADA"/>
              </a:solidFill>
            </a:endParaRPr>
          </a:p>
        </p:txBody>
      </p:sp>
      <p:pic>
        <p:nvPicPr>
          <p:cNvPr id="9" name="Content Placeholder 8">
            <a:extLst>
              <a:ext uri="{FF2B5EF4-FFF2-40B4-BE49-F238E27FC236}">
                <a16:creationId xmlns:a16="http://schemas.microsoft.com/office/drawing/2014/main" id="{1430FBCB-30FE-D5A0-0E81-24AA10B36D91}"/>
              </a:ext>
            </a:extLst>
          </p:cNvPr>
          <p:cNvPicPr>
            <a:picLocks noChangeAspect="1"/>
          </p:cNvPicPr>
          <p:nvPr/>
        </p:nvPicPr>
        <p:blipFill>
          <a:blip r:embed="rId2"/>
          <a:stretch>
            <a:fillRect/>
          </a:stretch>
        </p:blipFill>
        <p:spPr>
          <a:xfrm>
            <a:off x="5647266" y="63836"/>
            <a:ext cx="5300133" cy="6730328"/>
          </a:xfrm>
          <a:prstGeom prst="rect">
            <a:avLst/>
          </a:prstGeom>
        </p:spPr>
      </p:pic>
    </p:spTree>
    <p:extLst>
      <p:ext uri="{BB962C8B-B14F-4D97-AF65-F5344CB8AC3E}">
        <p14:creationId xmlns:p14="http://schemas.microsoft.com/office/powerpoint/2010/main" val="2403816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57A80-D410-C560-1C27-44EE788EA4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8BFB82-F051-CB22-AD1E-54106E84E1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85970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A38A9-93CC-20BE-DD83-AFEF1C083C0F}"/>
              </a:ext>
            </a:extLst>
          </p:cNvPr>
          <p:cNvSpPr>
            <a:spLocks noGrp="1"/>
          </p:cNvSpPr>
          <p:nvPr>
            <p:ph type="title"/>
          </p:nvPr>
        </p:nvSpPr>
        <p:spPr>
          <a:xfrm>
            <a:off x="913795" y="0"/>
            <a:ext cx="10353762" cy="491613"/>
          </a:xfrm>
        </p:spPr>
        <p:txBody>
          <a:bodyPr>
            <a:normAutofit fontScale="90000"/>
          </a:bodyPr>
          <a:lstStyle/>
          <a:p>
            <a:r>
              <a:rPr lang="en-US" b="1"/>
              <a:t>At customer, </a:t>
            </a:r>
            <a:r>
              <a:rPr lang="ar-EG" b="1"/>
              <a:t>بيانات الاتصال</a:t>
            </a:r>
            <a:endParaRPr lang="en-US" b="1"/>
          </a:p>
        </p:txBody>
      </p:sp>
      <p:sp>
        <p:nvSpPr>
          <p:cNvPr id="3" name="Content Placeholder 2">
            <a:extLst>
              <a:ext uri="{FF2B5EF4-FFF2-40B4-BE49-F238E27FC236}">
                <a16:creationId xmlns:a16="http://schemas.microsoft.com/office/drawing/2014/main" id="{B2975744-ADBD-F2FD-8991-FAE7F3B9F632}"/>
              </a:ext>
            </a:extLst>
          </p:cNvPr>
          <p:cNvSpPr>
            <a:spLocks noGrp="1"/>
          </p:cNvSpPr>
          <p:nvPr>
            <p:ph idx="1"/>
          </p:nvPr>
        </p:nvSpPr>
        <p:spPr>
          <a:xfrm>
            <a:off x="285135" y="884903"/>
            <a:ext cx="11808541" cy="5830529"/>
          </a:xfrm>
        </p:spPr>
        <p:txBody>
          <a:bodyPr/>
          <a:lstStyle/>
          <a:p>
            <a:r>
              <a:rPr lang="en-US"/>
              <a:t>When user enter </a:t>
            </a:r>
            <a:r>
              <a:rPr lang="ar-EG"/>
              <a:t>نوع الاتصال والرقم</a:t>
            </a:r>
          </a:p>
          <a:p>
            <a:r>
              <a:rPr lang="en-US">
                <a:effectLst/>
              </a:rPr>
              <a:t>Transactions/Flow_Contact_UsController/</a:t>
            </a:r>
            <a:r>
              <a:rPr lang="en-US" b="1">
                <a:solidFill>
                  <a:srgbClr val="00B0F0"/>
                </a:solidFill>
                <a:effectLst/>
              </a:rPr>
              <a:t>GetOne</a:t>
            </a:r>
            <a:r>
              <a:rPr lang="en-US">
                <a:effectLst/>
              </a:rPr>
              <a:t>/</a:t>
            </a:r>
            <a:r>
              <a:rPr lang="en-US"/>
              <a:t>{Mob_num}</a:t>
            </a:r>
          </a:p>
          <a:p>
            <a:r>
              <a:rPr lang="en-US" b="1">
                <a:solidFill>
                  <a:srgbClr val="00B0F0"/>
                </a:solidFill>
              </a:rPr>
              <a:t>Flow_Contact_Us</a:t>
            </a:r>
            <a:r>
              <a:rPr lang="en-US"/>
              <a:t> </a:t>
            </a:r>
            <a:r>
              <a:rPr lang="en-US" b="1"/>
              <a:t>GetOne </a:t>
            </a:r>
            <a:r>
              <a:rPr lang="en-US"/>
              <a:t>(</a:t>
            </a:r>
            <a:r>
              <a:rPr lang="en-US" b="1"/>
              <a:t>string</a:t>
            </a:r>
            <a:r>
              <a:rPr lang="en-US"/>
              <a:t> </a:t>
            </a:r>
            <a:r>
              <a:rPr lang="en-US" b="1">
                <a:solidFill>
                  <a:srgbClr val="FFC000"/>
                </a:solidFill>
              </a:rPr>
              <a:t>Mob_num</a:t>
            </a:r>
            <a:r>
              <a:rPr lang="en-US">
                <a:solidFill>
                  <a:srgbClr val="FFC000"/>
                </a:solidFill>
              </a:rPr>
              <a:t> </a:t>
            </a:r>
            <a:r>
              <a:rPr lang="en-US"/>
              <a:t>)</a:t>
            </a:r>
            <a:endParaRPr lang="en-US">
              <a:effectLst/>
            </a:endParaRPr>
          </a:p>
          <a:p>
            <a:endParaRPr lang="en-US">
              <a:effectLst/>
            </a:endParaRPr>
          </a:p>
          <a:p>
            <a:endParaRPr lang="en-US">
              <a:effectLst/>
            </a:endParaRPr>
          </a:p>
          <a:p>
            <a:endParaRPr lang="en-US"/>
          </a:p>
        </p:txBody>
      </p:sp>
    </p:spTree>
    <p:extLst>
      <p:ext uri="{BB962C8B-B14F-4D97-AF65-F5344CB8AC3E}">
        <p14:creationId xmlns:p14="http://schemas.microsoft.com/office/powerpoint/2010/main" val="2326501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DA3CE-DA2E-9430-1A3E-1F8540972CEC}"/>
              </a:ext>
            </a:extLst>
          </p:cNvPr>
          <p:cNvSpPr>
            <a:spLocks noGrp="1"/>
          </p:cNvSpPr>
          <p:nvPr>
            <p:ph type="title"/>
          </p:nvPr>
        </p:nvSpPr>
        <p:spPr>
          <a:xfrm>
            <a:off x="913795" y="0"/>
            <a:ext cx="10353762" cy="658761"/>
          </a:xfrm>
        </p:spPr>
        <p:txBody>
          <a:bodyPr>
            <a:normAutofit fontScale="90000"/>
          </a:bodyPr>
          <a:lstStyle/>
          <a:p>
            <a:r>
              <a:rPr lang="en-US" b="1"/>
              <a:t>After user fill all customer data and add it</a:t>
            </a:r>
          </a:p>
        </p:txBody>
      </p:sp>
      <p:sp>
        <p:nvSpPr>
          <p:cNvPr id="3" name="Content Placeholder 2">
            <a:extLst>
              <a:ext uri="{FF2B5EF4-FFF2-40B4-BE49-F238E27FC236}">
                <a16:creationId xmlns:a16="http://schemas.microsoft.com/office/drawing/2014/main" id="{108035D6-B5DC-7C81-6E83-2DB4477B0A57}"/>
              </a:ext>
            </a:extLst>
          </p:cNvPr>
          <p:cNvSpPr>
            <a:spLocks noGrp="1"/>
          </p:cNvSpPr>
          <p:nvPr>
            <p:ph idx="1"/>
          </p:nvPr>
        </p:nvSpPr>
        <p:spPr>
          <a:xfrm>
            <a:off x="265470" y="658761"/>
            <a:ext cx="11680723" cy="6037007"/>
          </a:xfrm>
        </p:spPr>
        <p:txBody>
          <a:bodyPr/>
          <a:lstStyle/>
          <a:p>
            <a:r>
              <a:rPr lang="en-US"/>
              <a:t>api/FlowChart/Transactions/</a:t>
            </a:r>
            <a:r>
              <a:rPr lang="en-US" b="1">
                <a:solidFill>
                  <a:srgbClr val="FFFF00"/>
                </a:solidFill>
              </a:rPr>
              <a:t>Flow_CustomersController</a:t>
            </a:r>
            <a:r>
              <a:rPr lang="en-US"/>
              <a:t>/</a:t>
            </a:r>
            <a:r>
              <a:rPr lang="en-US" b="1">
                <a:solidFill>
                  <a:srgbClr val="00B0F0"/>
                </a:solidFill>
              </a:rPr>
              <a:t>Post</a:t>
            </a:r>
          </a:p>
          <a:p>
            <a:r>
              <a:rPr lang="en-US" b="1">
                <a:solidFill>
                  <a:srgbClr val="00B0F0"/>
                </a:solidFill>
              </a:rPr>
              <a:t>Post </a:t>
            </a:r>
            <a:r>
              <a:rPr lang="en-US"/>
              <a:t>( [FromBody] </a:t>
            </a:r>
            <a:r>
              <a:rPr lang="en-US" b="1">
                <a:solidFill>
                  <a:srgbClr val="FFC000"/>
                </a:solidFill>
              </a:rPr>
              <a:t>Flow_Customers</a:t>
            </a:r>
            <a:r>
              <a:rPr lang="en-US"/>
              <a:t> entity)</a:t>
            </a:r>
          </a:p>
        </p:txBody>
      </p:sp>
    </p:spTree>
    <p:extLst>
      <p:ext uri="{BB962C8B-B14F-4D97-AF65-F5344CB8AC3E}">
        <p14:creationId xmlns:p14="http://schemas.microsoft.com/office/powerpoint/2010/main" val="2965316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1A4E5-1439-3252-8CC6-ED45F081ADBB}"/>
              </a:ext>
            </a:extLst>
          </p:cNvPr>
          <p:cNvSpPr>
            <a:spLocks noGrp="1"/>
          </p:cNvSpPr>
          <p:nvPr>
            <p:ph type="title"/>
          </p:nvPr>
        </p:nvSpPr>
        <p:spPr>
          <a:xfrm>
            <a:off x="913795" y="0"/>
            <a:ext cx="10353762" cy="589935"/>
          </a:xfrm>
        </p:spPr>
        <p:txBody>
          <a:bodyPr>
            <a:normAutofit fontScale="90000"/>
          </a:bodyPr>
          <a:lstStyle/>
          <a:p>
            <a:r>
              <a:rPr lang="en-US" b="1">
                <a:solidFill>
                  <a:srgbClr val="FF0000"/>
                </a:solidFill>
              </a:rPr>
              <a:t>When Saving Request</a:t>
            </a:r>
            <a:r>
              <a:rPr lang="ar-EG" b="1">
                <a:solidFill>
                  <a:srgbClr val="FF0000"/>
                </a:solidFill>
              </a:rPr>
              <a:t> </a:t>
            </a:r>
            <a:r>
              <a:rPr lang="en-US" b="1">
                <a:solidFill>
                  <a:srgbClr val="FF0000"/>
                </a:solidFill>
              </a:rPr>
              <a:t>for the first time VIA LO</a:t>
            </a:r>
          </a:p>
        </p:txBody>
      </p:sp>
      <p:sp>
        <p:nvSpPr>
          <p:cNvPr id="3" name="Content Placeholder 2">
            <a:extLst>
              <a:ext uri="{FF2B5EF4-FFF2-40B4-BE49-F238E27FC236}">
                <a16:creationId xmlns:a16="http://schemas.microsoft.com/office/drawing/2014/main" id="{4A0CC8FF-23CB-0649-2B82-6F3D7DF74DCD}"/>
              </a:ext>
            </a:extLst>
          </p:cNvPr>
          <p:cNvSpPr>
            <a:spLocks noGrp="1"/>
          </p:cNvSpPr>
          <p:nvPr>
            <p:ph idx="1"/>
          </p:nvPr>
        </p:nvSpPr>
        <p:spPr>
          <a:xfrm>
            <a:off x="85724" y="589934"/>
            <a:ext cx="12106275" cy="6201391"/>
          </a:xfrm>
        </p:spPr>
        <p:txBody>
          <a:bodyPr>
            <a:normAutofit/>
          </a:bodyPr>
          <a:lstStyle/>
          <a:p>
            <a:r>
              <a:rPr lang="en-US"/>
              <a:t>Transactions/</a:t>
            </a:r>
            <a:r>
              <a:rPr lang="en-US" b="1">
                <a:solidFill>
                  <a:srgbClr val="92D050"/>
                </a:solidFill>
              </a:rPr>
              <a:t>Flow_Funding_requestController</a:t>
            </a:r>
            <a:r>
              <a:rPr lang="en-US"/>
              <a:t>/</a:t>
            </a:r>
            <a:r>
              <a:rPr lang="en-US" b="1">
                <a:solidFill>
                  <a:srgbClr val="FFFF00"/>
                </a:solidFill>
              </a:rPr>
              <a:t>InsertFunding</a:t>
            </a:r>
          </a:p>
          <a:p>
            <a:r>
              <a:rPr lang="en-US" b="1">
                <a:solidFill>
                  <a:srgbClr val="00B050"/>
                </a:solidFill>
              </a:rPr>
              <a:t>FundingVM</a:t>
            </a:r>
            <a:r>
              <a:rPr lang="en-US"/>
              <a:t>  </a:t>
            </a:r>
            <a:r>
              <a:rPr lang="en-US" b="1">
                <a:solidFill>
                  <a:srgbClr val="00B0F0"/>
                </a:solidFill>
              </a:rPr>
              <a:t>Flow_Funding_requestService</a:t>
            </a:r>
            <a:r>
              <a:rPr lang="en-US"/>
              <a:t>. </a:t>
            </a:r>
            <a:r>
              <a:rPr lang="en-US" b="1">
                <a:solidFill>
                  <a:srgbClr val="FFFF00"/>
                </a:solidFill>
              </a:rPr>
              <a:t>InsertFunding</a:t>
            </a:r>
            <a:r>
              <a:rPr lang="en-US"/>
              <a:t>( </a:t>
            </a:r>
            <a:r>
              <a:rPr lang="en-US" b="1"/>
              <a:t>[FromBody]</a:t>
            </a:r>
            <a:r>
              <a:rPr lang="en-US"/>
              <a:t> </a:t>
            </a:r>
            <a:r>
              <a:rPr lang="en-US" b="1">
                <a:solidFill>
                  <a:srgbClr val="FFC000"/>
                </a:solidFill>
              </a:rPr>
              <a:t>FundingDataVM</a:t>
            </a:r>
            <a:r>
              <a:rPr lang="en-US"/>
              <a:t> </a:t>
            </a:r>
            <a:r>
              <a:rPr lang="en-US" b="1"/>
              <a:t>entity</a:t>
            </a:r>
            <a:r>
              <a:rPr lang="en-US"/>
              <a:t> )</a:t>
            </a:r>
          </a:p>
          <a:p>
            <a:endParaRPr lang="en-US"/>
          </a:p>
          <a:p>
            <a:endParaRPr lang="en-US"/>
          </a:p>
          <a:p>
            <a:endParaRPr lang="en-US"/>
          </a:p>
          <a:p>
            <a:endParaRPr lang="en-US"/>
          </a:p>
          <a:p>
            <a:endParaRPr lang="en-US"/>
          </a:p>
          <a:p>
            <a:pPr marL="36900" indent="0">
              <a:buNone/>
            </a:pPr>
            <a:endParaRPr lang="en-US"/>
          </a:p>
          <a:p>
            <a:pPr marL="36900" indent="0">
              <a:buNone/>
            </a:pPr>
            <a:endParaRPr lang="en-US" sz="1800" b="1"/>
          </a:p>
          <a:p>
            <a:endParaRPr lang="en-US" sz="1800" b="1">
              <a:solidFill>
                <a:srgbClr val="FFFF00"/>
              </a:solidFill>
            </a:endParaRPr>
          </a:p>
          <a:p>
            <a:r>
              <a:rPr lang="en-US" sz="1800" b="1">
                <a:solidFill>
                  <a:srgbClr val="FFFF00"/>
                </a:solidFill>
              </a:rPr>
              <a:t>FundingVM.</a:t>
            </a:r>
            <a:r>
              <a:rPr lang="en-US" sz="1800" b="1">
                <a:solidFill>
                  <a:srgbClr val="FF0000"/>
                </a:solidFill>
              </a:rPr>
              <a:t>Flag = 5 // </a:t>
            </a:r>
            <a:r>
              <a:rPr lang="ar-EG" sz="1800" b="1"/>
              <a:t>لا يوجد مدير لهذا الفرع</a:t>
            </a:r>
            <a:r>
              <a:rPr lang="en-US" sz="1800" b="1">
                <a:solidFill>
                  <a:srgbClr val="FF0000"/>
                </a:solidFill>
              </a:rPr>
              <a:t> </a:t>
            </a:r>
            <a:endParaRPr lang="en-US" sz="1800" b="1">
              <a:solidFill>
                <a:srgbClr val="FFFF00"/>
              </a:solidFill>
            </a:endParaRPr>
          </a:p>
        </p:txBody>
      </p:sp>
      <p:pic>
        <p:nvPicPr>
          <p:cNvPr id="5" name="Picture 4">
            <a:extLst>
              <a:ext uri="{FF2B5EF4-FFF2-40B4-BE49-F238E27FC236}">
                <a16:creationId xmlns:a16="http://schemas.microsoft.com/office/drawing/2014/main" id="{5575F7A6-A8F9-09A0-6B4C-5AE0045CEA57}"/>
              </a:ext>
            </a:extLst>
          </p:cNvPr>
          <p:cNvPicPr>
            <a:picLocks noChangeAspect="1"/>
          </p:cNvPicPr>
          <p:nvPr/>
        </p:nvPicPr>
        <p:blipFill>
          <a:blip r:embed="rId2"/>
          <a:stretch>
            <a:fillRect/>
          </a:stretch>
        </p:blipFill>
        <p:spPr>
          <a:xfrm>
            <a:off x="6295474" y="1724652"/>
            <a:ext cx="5125001" cy="2651226"/>
          </a:xfrm>
          <a:prstGeom prst="rect">
            <a:avLst/>
          </a:prstGeom>
        </p:spPr>
      </p:pic>
      <p:pic>
        <p:nvPicPr>
          <p:cNvPr id="7" name="Picture 6">
            <a:extLst>
              <a:ext uri="{FF2B5EF4-FFF2-40B4-BE49-F238E27FC236}">
                <a16:creationId xmlns:a16="http://schemas.microsoft.com/office/drawing/2014/main" id="{9C329998-6CAF-F76A-BF51-662D6CBA3DA2}"/>
              </a:ext>
            </a:extLst>
          </p:cNvPr>
          <p:cNvPicPr>
            <a:picLocks noChangeAspect="1"/>
          </p:cNvPicPr>
          <p:nvPr/>
        </p:nvPicPr>
        <p:blipFill>
          <a:blip r:embed="rId3"/>
          <a:stretch>
            <a:fillRect/>
          </a:stretch>
        </p:blipFill>
        <p:spPr>
          <a:xfrm>
            <a:off x="4476750" y="5788434"/>
            <a:ext cx="7715249" cy="1002891"/>
          </a:xfrm>
          <a:prstGeom prst="rect">
            <a:avLst/>
          </a:prstGeom>
        </p:spPr>
      </p:pic>
      <p:pic>
        <p:nvPicPr>
          <p:cNvPr id="9" name="Picture 8">
            <a:extLst>
              <a:ext uri="{FF2B5EF4-FFF2-40B4-BE49-F238E27FC236}">
                <a16:creationId xmlns:a16="http://schemas.microsoft.com/office/drawing/2014/main" id="{33BDEECE-03BD-4804-0001-AF1F9A1671B1}"/>
              </a:ext>
            </a:extLst>
          </p:cNvPr>
          <p:cNvPicPr>
            <a:picLocks noChangeAspect="1"/>
          </p:cNvPicPr>
          <p:nvPr/>
        </p:nvPicPr>
        <p:blipFill>
          <a:blip r:embed="rId4"/>
          <a:stretch>
            <a:fillRect/>
          </a:stretch>
        </p:blipFill>
        <p:spPr>
          <a:xfrm>
            <a:off x="257034" y="1558370"/>
            <a:ext cx="5639492" cy="3239814"/>
          </a:xfrm>
          <a:prstGeom prst="rect">
            <a:avLst/>
          </a:prstGeom>
        </p:spPr>
      </p:pic>
      <p:sp>
        <p:nvSpPr>
          <p:cNvPr id="4" name="TextBox 3">
            <a:extLst>
              <a:ext uri="{FF2B5EF4-FFF2-40B4-BE49-F238E27FC236}">
                <a16:creationId xmlns:a16="http://schemas.microsoft.com/office/drawing/2014/main" id="{E16C5DF7-5662-A9FD-A7FB-CD9E6EDF8B96}"/>
              </a:ext>
            </a:extLst>
          </p:cNvPr>
          <p:cNvSpPr txBox="1"/>
          <p:nvPr/>
        </p:nvSpPr>
        <p:spPr>
          <a:xfrm>
            <a:off x="6295474" y="4446620"/>
            <a:ext cx="5639492" cy="1200329"/>
          </a:xfrm>
          <a:prstGeom prst="rect">
            <a:avLst/>
          </a:prstGeom>
          <a:noFill/>
        </p:spPr>
        <p:txBody>
          <a:bodyPr wrap="square" rtlCol="0">
            <a:spAutoFit/>
          </a:bodyPr>
          <a:lstStyle/>
          <a:p>
            <a:r>
              <a:rPr lang="en-US" b="1"/>
              <a:t>IsNew : true</a:t>
            </a:r>
          </a:p>
          <a:p>
            <a:r>
              <a:rPr lang="en-US" b="1"/>
              <a:t>status : 1 == </a:t>
            </a:r>
            <a:r>
              <a:rPr lang="en-US" b="1">
                <a:solidFill>
                  <a:srgbClr val="FFFF00"/>
                </a:solidFill>
              </a:rPr>
              <a:t>FixedStatus.Status_1_Is_Save </a:t>
            </a:r>
          </a:p>
          <a:p>
            <a:r>
              <a:rPr lang="en-US"/>
              <a:t>Flag : 0 </a:t>
            </a:r>
          </a:p>
          <a:p>
            <a:r>
              <a:rPr lang="en-US"/>
              <a:t>Trans_GPS_Tracking = null</a:t>
            </a:r>
          </a:p>
        </p:txBody>
      </p:sp>
    </p:spTree>
    <p:extLst>
      <p:ext uri="{BB962C8B-B14F-4D97-AF65-F5344CB8AC3E}">
        <p14:creationId xmlns:p14="http://schemas.microsoft.com/office/powerpoint/2010/main" val="2031890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2C3D9-9F06-AA65-15CE-E98FCAD22830}"/>
              </a:ext>
            </a:extLst>
          </p:cNvPr>
          <p:cNvSpPr>
            <a:spLocks noGrp="1"/>
          </p:cNvSpPr>
          <p:nvPr>
            <p:ph type="title"/>
          </p:nvPr>
        </p:nvSpPr>
        <p:spPr>
          <a:xfrm>
            <a:off x="70876" y="0"/>
            <a:ext cx="12039600" cy="782320"/>
          </a:xfrm>
        </p:spPr>
        <p:txBody>
          <a:bodyPr>
            <a:normAutofit/>
          </a:bodyPr>
          <a:lstStyle/>
          <a:p>
            <a:r>
              <a:rPr lang="en-US" sz="3200" b="1">
                <a:solidFill>
                  <a:srgbClr val="FF0000"/>
                </a:solidFill>
              </a:rPr>
              <a:t>When Saving Request</a:t>
            </a:r>
            <a:r>
              <a:rPr lang="ar-EG" sz="3200" b="1">
                <a:solidFill>
                  <a:srgbClr val="FF0000"/>
                </a:solidFill>
              </a:rPr>
              <a:t> </a:t>
            </a:r>
            <a:r>
              <a:rPr lang="en-US" sz="3200" b="1">
                <a:solidFill>
                  <a:srgbClr val="FF0000"/>
                </a:solidFill>
              </a:rPr>
              <a:t>for the first time VIA LO [cont.1]</a:t>
            </a:r>
            <a:endParaRPr lang="en-US" sz="3200"/>
          </a:p>
        </p:txBody>
      </p:sp>
      <p:sp>
        <p:nvSpPr>
          <p:cNvPr id="3" name="Content Placeholder 2">
            <a:extLst>
              <a:ext uri="{FF2B5EF4-FFF2-40B4-BE49-F238E27FC236}">
                <a16:creationId xmlns:a16="http://schemas.microsoft.com/office/drawing/2014/main" id="{0DC52855-C59B-9C76-5E2C-7AAC835F2585}"/>
              </a:ext>
            </a:extLst>
          </p:cNvPr>
          <p:cNvSpPr>
            <a:spLocks noGrp="1"/>
          </p:cNvSpPr>
          <p:nvPr>
            <p:ph idx="1"/>
          </p:nvPr>
        </p:nvSpPr>
        <p:spPr>
          <a:xfrm>
            <a:off x="0" y="782320"/>
            <a:ext cx="12115800" cy="5989955"/>
          </a:xfrm>
        </p:spPr>
        <p:txBody>
          <a:bodyPr>
            <a:normAutofit/>
          </a:bodyPr>
          <a:lstStyle/>
          <a:p>
            <a:r>
              <a:rPr lang="en-US" b="1" err="1"/>
              <a:t>Flow_Funding_</a:t>
            </a:r>
            <a:r>
              <a:rPr lang="en-US" b="1"/>
              <a:t>Request fields that will get a value</a:t>
            </a:r>
          </a:p>
          <a:p>
            <a:r>
              <a:rPr lang="en-US" sz="1700" b="1"/>
              <a:t>Open_date = _Trans_BusDate.Queryable().FirstOrDefault(ex =&gt; ex.BranchId == Funding_request.BranchId).</a:t>
            </a:r>
            <a:r>
              <a:rPr lang="en-US" sz="1700" b="1">
                <a:solidFill>
                  <a:srgbClr val="00B0F0"/>
                </a:solidFill>
              </a:rPr>
              <a:t>BusDate</a:t>
            </a:r>
            <a:r>
              <a:rPr lang="en-US" sz="1700" b="1"/>
              <a:t>;</a:t>
            </a:r>
          </a:p>
          <a:p>
            <a:r>
              <a:rPr lang="en-US" sz="1800" b="1">
                <a:solidFill>
                  <a:srgbClr val="FFFF00"/>
                </a:solidFill>
              </a:rPr>
              <a:t>FRC</a:t>
            </a:r>
            <a:r>
              <a:rPr lang="en-US" sz="1800" b="1" err="1">
                <a:solidFill>
                  <a:srgbClr val="FFFF00"/>
                </a:solidFill>
              </a:rPr>
              <a:t>_Id</a:t>
            </a:r>
            <a:r>
              <a:rPr lang="en-US" sz="1800"/>
              <a:t> = </a:t>
            </a:r>
            <a:r>
              <a:rPr lang="en-US" sz="1800" err="1"/>
              <a:t>Product.</a:t>
            </a:r>
            <a:r>
              <a:rPr lang="en-US" sz="1800" b="1" err="1">
                <a:solidFill>
                  <a:srgbClr val="FFFF00"/>
                </a:solidFill>
              </a:rPr>
              <a:t>FRC_ID</a:t>
            </a:r>
            <a:r>
              <a:rPr lang="en-US" sz="1800"/>
              <a:t>;</a:t>
            </a:r>
          </a:p>
          <a:p>
            <a:r>
              <a:rPr lang="en-US" sz="1800" b="1">
                <a:solidFill>
                  <a:srgbClr val="FFFF00"/>
                </a:solidFill>
              </a:rPr>
              <a:t>APP</a:t>
            </a:r>
            <a:r>
              <a:rPr lang="en-US" sz="1800" b="1" err="1">
                <a:solidFill>
                  <a:srgbClr val="FFFF00"/>
                </a:solidFill>
              </a:rPr>
              <a:t>_FEE</a:t>
            </a:r>
            <a:r>
              <a:rPr lang="en-US" sz="1800" b="1"/>
              <a:t> = </a:t>
            </a:r>
            <a:r>
              <a:rPr lang="en-US" sz="1800" b="1" err="1"/>
              <a:t>IsNew</a:t>
            </a:r>
            <a:r>
              <a:rPr lang="en-US" sz="1800" b="1"/>
              <a:t> == true ? </a:t>
            </a:r>
            <a:r>
              <a:rPr lang="en-US" sz="1800" b="1" err="1"/>
              <a:t>Product.</a:t>
            </a:r>
            <a:r>
              <a:rPr lang="en-US" sz="1800" b="1" err="1">
                <a:solidFill>
                  <a:srgbClr val="FFFF00"/>
                </a:solidFill>
              </a:rPr>
              <a:t>Com_submit_new_app</a:t>
            </a:r>
            <a:r>
              <a:rPr lang="en-US" sz="1800" b="1"/>
              <a:t> : </a:t>
            </a:r>
            <a:r>
              <a:rPr lang="en-US" sz="1800" b="1" err="1"/>
              <a:t>Product.</a:t>
            </a:r>
            <a:r>
              <a:rPr lang="en-US" sz="1800" b="1" err="1">
                <a:solidFill>
                  <a:srgbClr val="FFFF00"/>
                </a:solidFill>
              </a:rPr>
              <a:t>Com_submit_renew_app</a:t>
            </a:r>
            <a:r>
              <a:rPr lang="en-US" sz="1800" b="1"/>
              <a:t>;</a:t>
            </a:r>
          </a:p>
          <a:p>
            <a:r>
              <a:rPr lang="en-US" sz="1800" b="1">
                <a:solidFill>
                  <a:srgbClr val="FFFF00"/>
                </a:solidFill>
              </a:rPr>
              <a:t>RATE</a:t>
            </a:r>
            <a:r>
              <a:rPr lang="en-US" sz="1800" b="1"/>
              <a:t> = </a:t>
            </a:r>
            <a:r>
              <a:rPr lang="en-US" sz="1800" b="1" err="1"/>
              <a:t>IsNew</a:t>
            </a:r>
            <a:r>
              <a:rPr lang="en-US" sz="1800" b="1"/>
              <a:t> == true ? </a:t>
            </a:r>
            <a:r>
              <a:rPr lang="en-US" sz="1800" b="1" err="1"/>
              <a:t>Product.</a:t>
            </a:r>
            <a:r>
              <a:rPr lang="en-US" sz="1800" b="1" err="1">
                <a:solidFill>
                  <a:srgbClr val="FFFF00"/>
                </a:solidFill>
              </a:rPr>
              <a:t>Fixed_return_new</a:t>
            </a:r>
            <a:r>
              <a:rPr lang="en-US" sz="1800" b="1" err="1"/>
              <a:t>:Product.</a:t>
            </a:r>
            <a:r>
              <a:rPr lang="en-US" sz="1800" b="1" err="1">
                <a:solidFill>
                  <a:srgbClr val="FFFF00"/>
                </a:solidFill>
              </a:rPr>
              <a:t>Fixed_return_renew</a:t>
            </a:r>
            <a:r>
              <a:rPr lang="en-US" sz="1800" b="1"/>
              <a:t>;</a:t>
            </a:r>
          </a:p>
          <a:p>
            <a:r>
              <a:rPr lang="en-US" sz="1600" b="1">
                <a:solidFill>
                  <a:srgbClr val="FFFF00"/>
                </a:solidFill>
              </a:rPr>
              <a:t>DEBTNO</a:t>
            </a:r>
            <a:r>
              <a:rPr lang="en-US" sz="1600" b="1"/>
              <a:t>=</a:t>
            </a:r>
            <a:r>
              <a:rPr lang="en-US" sz="1600" b="1" err="1"/>
              <a:t>Flow_Funding_request.where</a:t>
            </a:r>
            <a:r>
              <a:rPr lang="en-US" sz="1600" b="1"/>
              <a:t>(c =&gt; </a:t>
            </a:r>
            <a:r>
              <a:rPr lang="en-US" sz="1600" b="1" err="1"/>
              <a:t>c.Customer_ID</a:t>
            </a:r>
            <a:r>
              <a:rPr lang="en-US" sz="1600" b="1"/>
              <a:t> == </a:t>
            </a:r>
            <a:r>
              <a:rPr lang="en-US" sz="1600" b="1" err="1"/>
              <a:t>entity.Funding_request.Customer_ID</a:t>
            </a:r>
            <a:r>
              <a:rPr lang="en-US" sz="1600" b="1"/>
              <a:t>).Count()+1</a:t>
            </a:r>
          </a:p>
          <a:p>
            <a:pPr lvl="1"/>
            <a:r>
              <a:rPr lang="en-US" sz="1600" b="1"/>
              <a:t>Where entity is </a:t>
            </a:r>
            <a:r>
              <a:rPr lang="en-US" sz="1600" b="1" err="1"/>
              <a:t>FundingDataVM</a:t>
            </a:r>
            <a:endParaRPr lang="en-US" sz="1600" b="1"/>
          </a:p>
          <a:p>
            <a:r>
              <a:rPr lang="en-US" sz="1800" b="1">
                <a:solidFill>
                  <a:srgbClr val="00B0F0"/>
                </a:solidFill>
              </a:rPr>
              <a:t>RequestId: identity</a:t>
            </a:r>
          </a:p>
          <a:p>
            <a:r>
              <a:rPr lang="en-US" sz="1800" b="1"/>
              <a:t>UserId: Lo Id // </a:t>
            </a:r>
            <a:r>
              <a:rPr lang="ar-EG" sz="1800" b="1"/>
              <a:t>المسئول الأول</a:t>
            </a:r>
            <a:endParaRPr lang="en-US" sz="1800" b="1">
              <a:solidFill>
                <a:srgbClr val="00B0F0"/>
              </a:solidFill>
            </a:endParaRPr>
          </a:p>
          <a:p>
            <a:r>
              <a:rPr lang="en-US" sz="1800" b="1">
                <a:solidFill>
                  <a:srgbClr val="FFC000"/>
                </a:solidFill>
              </a:rPr>
              <a:t>BranchId: branch of LO</a:t>
            </a:r>
          </a:p>
          <a:p>
            <a:r>
              <a:rPr lang="en-US" sz="1800" b="1">
                <a:solidFill>
                  <a:srgbClr val="FF0000"/>
                </a:solidFill>
              </a:rPr>
              <a:t>ComId: </a:t>
            </a:r>
            <a:r>
              <a:rPr lang="en-US" sz="1800" b="1">
                <a:solidFill>
                  <a:srgbClr val="FFFF00"/>
                </a:solidFill>
              </a:rPr>
              <a:t>FK</a:t>
            </a:r>
            <a:r>
              <a:rPr lang="en-US" sz="1800" b="1">
                <a:solidFill>
                  <a:srgbClr val="FF0000"/>
                </a:solidFill>
              </a:rPr>
              <a:t> </a:t>
            </a:r>
            <a:r>
              <a:rPr lang="en-US" sz="1800" b="1">
                <a:solidFill>
                  <a:srgbClr val="FFFF00"/>
                </a:solidFill>
              </a:rPr>
              <a:t>from</a:t>
            </a:r>
            <a:r>
              <a:rPr lang="en-US" sz="1800" b="1">
                <a:solidFill>
                  <a:srgbClr val="FF0000"/>
                </a:solidFill>
              </a:rPr>
              <a:t> </a:t>
            </a:r>
            <a:r>
              <a:rPr lang="en-US" sz="1800" b="1">
                <a:solidFill>
                  <a:srgbClr val="FFFF00"/>
                </a:solidFill>
              </a:rPr>
              <a:t>Lookup</a:t>
            </a:r>
            <a:r>
              <a:rPr lang="en-US" sz="1800" b="1">
                <a:solidFill>
                  <a:srgbClr val="FF0000"/>
                </a:solidFill>
              </a:rPr>
              <a:t>.Company</a:t>
            </a:r>
          </a:p>
          <a:p>
            <a:r>
              <a:rPr lang="en-US" sz="1800" b="1">
                <a:solidFill>
                  <a:srgbClr val="00B0F0"/>
                </a:solidFill>
              </a:rPr>
              <a:t>ProductId: </a:t>
            </a:r>
            <a:r>
              <a:rPr lang="en-US" sz="1800" b="1">
                <a:solidFill>
                  <a:srgbClr val="FFFF00"/>
                </a:solidFill>
              </a:rPr>
              <a:t>FK</a:t>
            </a:r>
            <a:r>
              <a:rPr lang="en-US" sz="1800" b="1">
                <a:solidFill>
                  <a:srgbClr val="00B0F0"/>
                </a:solidFill>
              </a:rPr>
              <a:t> </a:t>
            </a:r>
            <a:r>
              <a:rPr lang="en-US" sz="1800" b="1">
                <a:solidFill>
                  <a:srgbClr val="FFFF00"/>
                </a:solidFill>
              </a:rPr>
              <a:t>from Product</a:t>
            </a:r>
          </a:p>
          <a:p>
            <a:r>
              <a:rPr lang="en-US" sz="1800" b="1">
                <a:solidFill>
                  <a:srgbClr val="FF0000"/>
                </a:solidFill>
              </a:rPr>
              <a:t>CustomerId: FK</a:t>
            </a:r>
            <a:endParaRPr lang="en-US" sz="1800" b="1"/>
          </a:p>
          <a:p>
            <a:r>
              <a:rPr lang="en-US" sz="1800" b="1">
                <a:solidFill>
                  <a:srgbClr val="00B0F0"/>
                </a:solidFill>
              </a:rPr>
              <a:t>EnterpriseId: FK</a:t>
            </a:r>
            <a:endParaRPr lang="en-US" sz="1800" b="1"/>
          </a:p>
        </p:txBody>
      </p:sp>
    </p:spTree>
    <p:extLst>
      <p:ext uri="{BB962C8B-B14F-4D97-AF65-F5344CB8AC3E}">
        <p14:creationId xmlns:p14="http://schemas.microsoft.com/office/powerpoint/2010/main" val="2895491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8819-EA0B-65C3-E69D-2B0CB4A3D82C}"/>
              </a:ext>
            </a:extLst>
          </p:cNvPr>
          <p:cNvSpPr>
            <a:spLocks noGrp="1"/>
          </p:cNvSpPr>
          <p:nvPr>
            <p:ph type="title"/>
          </p:nvPr>
        </p:nvSpPr>
        <p:spPr>
          <a:xfrm>
            <a:off x="1" y="1"/>
            <a:ext cx="12192000" cy="457200"/>
          </a:xfrm>
        </p:spPr>
        <p:txBody>
          <a:bodyPr>
            <a:normAutofit fontScale="90000"/>
          </a:bodyPr>
          <a:lstStyle/>
          <a:p>
            <a:r>
              <a:rPr lang="en-US" sz="3200" b="1">
                <a:solidFill>
                  <a:srgbClr val="FF0000"/>
                </a:solidFill>
              </a:rPr>
              <a:t>When Saving Request</a:t>
            </a:r>
            <a:r>
              <a:rPr lang="ar-EG" sz="3200" b="1">
                <a:solidFill>
                  <a:srgbClr val="FF0000"/>
                </a:solidFill>
              </a:rPr>
              <a:t> </a:t>
            </a:r>
            <a:r>
              <a:rPr lang="en-US" sz="3200" b="1">
                <a:solidFill>
                  <a:srgbClr val="FF0000"/>
                </a:solidFill>
              </a:rPr>
              <a:t>for the first time VIA LO [cont.2]</a:t>
            </a:r>
            <a:endParaRPr lang="en-US" sz="3200"/>
          </a:p>
        </p:txBody>
      </p:sp>
      <p:sp>
        <p:nvSpPr>
          <p:cNvPr id="3" name="Content Placeholder 2">
            <a:extLst>
              <a:ext uri="{FF2B5EF4-FFF2-40B4-BE49-F238E27FC236}">
                <a16:creationId xmlns:a16="http://schemas.microsoft.com/office/drawing/2014/main" id="{A65C00B7-4A95-E412-85DF-B956235438D4}"/>
              </a:ext>
            </a:extLst>
          </p:cNvPr>
          <p:cNvSpPr>
            <a:spLocks noGrp="1"/>
          </p:cNvSpPr>
          <p:nvPr>
            <p:ph idx="1"/>
          </p:nvPr>
        </p:nvSpPr>
        <p:spPr>
          <a:xfrm>
            <a:off x="194732" y="609599"/>
            <a:ext cx="11794067" cy="6028267"/>
          </a:xfrm>
        </p:spPr>
        <p:txBody>
          <a:bodyPr>
            <a:normAutofit/>
          </a:bodyPr>
          <a:lstStyle/>
          <a:p>
            <a:r>
              <a:rPr lang="en-US" sz="1800" b="1"/>
              <a:t>Flow_Funding_Request fields that will get a value</a:t>
            </a:r>
            <a:endParaRPr lang="en-US" sz="1800" b="1">
              <a:solidFill>
                <a:srgbClr val="FFC000"/>
              </a:solidFill>
            </a:endParaRPr>
          </a:p>
          <a:p>
            <a:r>
              <a:rPr lang="en-US" sz="1800" b="1">
                <a:solidFill>
                  <a:srgbClr val="FFC000"/>
                </a:solidFill>
              </a:rPr>
              <a:t>RequiredAmount</a:t>
            </a:r>
          </a:p>
          <a:p>
            <a:r>
              <a:rPr lang="en-US" sz="1800" b="1">
                <a:solidFill>
                  <a:srgbClr val="FFC000"/>
                </a:solidFill>
              </a:rPr>
              <a:t>FinancingAmount</a:t>
            </a:r>
          </a:p>
          <a:p>
            <a:r>
              <a:rPr lang="en-US" sz="1800" b="1">
                <a:solidFill>
                  <a:srgbClr val="FFC000"/>
                </a:solidFill>
              </a:rPr>
              <a:t>ActualFinancing</a:t>
            </a:r>
          </a:p>
          <a:p>
            <a:r>
              <a:rPr lang="en-US" sz="1800" b="1">
                <a:solidFill>
                  <a:srgbClr val="FFC000"/>
                </a:solidFill>
              </a:rPr>
              <a:t>RepaymentPeriod</a:t>
            </a:r>
          </a:p>
          <a:p>
            <a:r>
              <a:rPr lang="en-US" sz="1800" b="1">
                <a:solidFill>
                  <a:srgbClr val="FFC000"/>
                </a:solidFill>
              </a:rPr>
              <a:t>Request_Status</a:t>
            </a:r>
            <a:r>
              <a:rPr lang="en-US" sz="1800" b="1"/>
              <a:t>,</a:t>
            </a:r>
          </a:p>
          <a:p>
            <a:r>
              <a:rPr lang="en-US" sz="1800" b="1">
                <a:solidFill>
                  <a:srgbClr val="00B050"/>
                </a:solidFill>
              </a:rPr>
              <a:t>StatusCode: 0 , FK from Flow_Status // request at LO</a:t>
            </a:r>
            <a:endParaRPr lang="en-US" sz="1800" b="1"/>
          </a:p>
          <a:p>
            <a:r>
              <a:rPr lang="en-US" sz="1800" b="1"/>
              <a:t> </a:t>
            </a:r>
            <a:r>
              <a:rPr lang="en-US" sz="1800" b="1">
                <a:solidFill>
                  <a:schemeClr val="tx1"/>
                </a:solidFill>
              </a:rPr>
              <a:t>Layer_code [ from product ]</a:t>
            </a:r>
            <a:r>
              <a:rPr lang="en-US" sz="1800" b="1"/>
              <a:t>,</a:t>
            </a:r>
          </a:p>
          <a:p>
            <a:r>
              <a:rPr lang="en-US" sz="1800" b="1"/>
              <a:t> </a:t>
            </a:r>
            <a:r>
              <a:rPr lang="en-US" sz="1800" b="1">
                <a:solidFill>
                  <a:srgbClr val="00B0F0"/>
                </a:solidFill>
              </a:rPr>
              <a:t>LoanCode[ from product]</a:t>
            </a:r>
            <a:r>
              <a:rPr lang="en-US" sz="1800" b="1"/>
              <a:t>,</a:t>
            </a:r>
          </a:p>
          <a:p>
            <a:r>
              <a:rPr lang="en-US" sz="1800" b="1">
                <a:solidFill>
                  <a:srgbClr val="FFC000"/>
                </a:solidFill>
              </a:rPr>
              <a:t>Code_ED: FK from SWF.</a:t>
            </a:r>
            <a:r>
              <a:rPr lang="en-US" sz="1800" b="1">
                <a:solidFill>
                  <a:srgbClr val="FF0000"/>
                </a:solidFill>
              </a:rPr>
              <a:t>Flow_Exchange_Destinations</a:t>
            </a:r>
            <a:r>
              <a:rPr lang="en-US" sz="1800" b="1">
                <a:solidFill>
                  <a:srgbClr val="FFC000"/>
                </a:solidFill>
              </a:rPr>
              <a:t> [</a:t>
            </a:r>
            <a:r>
              <a:rPr lang="ar-EG" sz="1800" b="1">
                <a:solidFill>
                  <a:srgbClr val="FFC000"/>
                </a:solidFill>
              </a:rPr>
              <a:t>كود جهة الصرف</a:t>
            </a:r>
            <a:r>
              <a:rPr lang="en-US" sz="1800" b="1">
                <a:solidFill>
                  <a:srgbClr val="FFC000"/>
                </a:solidFill>
              </a:rPr>
              <a:t>]</a:t>
            </a:r>
            <a:r>
              <a:rPr lang="en-US" sz="1800" b="1"/>
              <a:t>,</a:t>
            </a:r>
          </a:p>
          <a:p>
            <a:r>
              <a:rPr lang="en-US" sz="1800" b="1">
                <a:solidFill>
                  <a:srgbClr val="FFFF00"/>
                </a:solidFill>
              </a:rPr>
              <a:t>Curr_code FK from [ Account.Acc_Currencie] , // 1 Egyptian Pound, 2 Dollar</a:t>
            </a:r>
          </a:p>
          <a:p>
            <a:r>
              <a:rPr lang="en-US" sz="1800" b="1"/>
              <a:t>purposeId,</a:t>
            </a:r>
          </a:p>
          <a:p>
            <a:r>
              <a:rPr lang="en-US" sz="1800" b="1"/>
              <a:t>CreationDate</a:t>
            </a:r>
          </a:p>
          <a:p>
            <a:endParaRPr lang="en-US" sz="1800" b="1"/>
          </a:p>
          <a:p>
            <a:endParaRPr lang="en-US" sz="1800" b="1"/>
          </a:p>
          <a:p>
            <a:endParaRPr lang="en-US" sz="1800"/>
          </a:p>
          <a:p>
            <a:endParaRPr lang="en-US" sz="1800"/>
          </a:p>
        </p:txBody>
      </p:sp>
    </p:spTree>
    <p:extLst>
      <p:ext uri="{BB962C8B-B14F-4D97-AF65-F5344CB8AC3E}">
        <p14:creationId xmlns:p14="http://schemas.microsoft.com/office/powerpoint/2010/main" val="2219598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BBE9-C26B-C693-218A-1D8D57EF2909}"/>
              </a:ext>
            </a:extLst>
          </p:cNvPr>
          <p:cNvSpPr>
            <a:spLocks noGrp="1"/>
          </p:cNvSpPr>
          <p:nvPr>
            <p:ph type="title"/>
          </p:nvPr>
        </p:nvSpPr>
        <p:spPr>
          <a:xfrm>
            <a:off x="919119" y="0"/>
            <a:ext cx="10353762" cy="541867"/>
          </a:xfrm>
        </p:spPr>
        <p:txBody>
          <a:bodyPr>
            <a:noAutofit/>
          </a:bodyPr>
          <a:lstStyle/>
          <a:p>
            <a:r>
              <a:rPr lang="en-US" sz="3200" b="1">
                <a:solidFill>
                  <a:srgbClr val="FF0000"/>
                </a:solidFill>
              </a:rPr>
              <a:t>When Saving Request</a:t>
            </a:r>
            <a:r>
              <a:rPr lang="ar-EG" sz="3200" b="1">
                <a:solidFill>
                  <a:srgbClr val="FF0000"/>
                </a:solidFill>
              </a:rPr>
              <a:t> </a:t>
            </a:r>
            <a:r>
              <a:rPr lang="en-US" sz="3200" b="1">
                <a:solidFill>
                  <a:srgbClr val="FF0000"/>
                </a:solidFill>
              </a:rPr>
              <a:t>for the first time VIA LO [cont.3]</a:t>
            </a:r>
            <a:endParaRPr lang="en-US" sz="3200"/>
          </a:p>
        </p:txBody>
      </p:sp>
      <p:sp>
        <p:nvSpPr>
          <p:cNvPr id="3" name="Content Placeholder 2">
            <a:extLst>
              <a:ext uri="{FF2B5EF4-FFF2-40B4-BE49-F238E27FC236}">
                <a16:creationId xmlns:a16="http://schemas.microsoft.com/office/drawing/2014/main" id="{7F278B08-83AD-784C-ADE8-D13C09451A40}"/>
              </a:ext>
            </a:extLst>
          </p:cNvPr>
          <p:cNvSpPr>
            <a:spLocks noGrp="1"/>
          </p:cNvSpPr>
          <p:nvPr>
            <p:ph idx="1"/>
          </p:nvPr>
        </p:nvSpPr>
        <p:spPr>
          <a:xfrm>
            <a:off x="160867" y="719667"/>
            <a:ext cx="11895666" cy="6062133"/>
          </a:xfrm>
        </p:spPr>
        <p:txBody>
          <a:bodyPr numCol="2">
            <a:normAutofit/>
          </a:bodyPr>
          <a:lstStyle/>
          <a:p>
            <a:r>
              <a:rPr lang="en-US" sz="1600" b="1"/>
              <a:t>Flag_History: bool, 1</a:t>
            </a:r>
          </a:p>
          <a:p>
            <a:r>
              <a:rPr lang="en-US" sz="1600" b="1"/>
              <a:t>PenaltyAmount: 0</a:t>
            </a:r>
          </a:p>
          <a:p>
            <a:r>
              <a:rPr lang="en-US" sz="1600" b="1"/>
              <a:t>Grant: bool, 0</a:t>
            </a:r>
          </a:p>
          <a:p>
            <a:r>
              <a:rPr lang="en-US" sz="1600" b="1"/>
              <a:t>Yield_periodicity: 0 // ?????</a:t>
            </a:r>
          </a:p>
          <a:p>
            <a:r>
              <a:rPr lang="en-US" sz="1600" b="1"/>
              <a:t>WriteOffFlag: 0</a:t>
            </a:r>
          </a:p>
          <a:p>
            <a:r>
              <a:rPr lang="en-US" sz="1600" b="1"/>
              <a:t>Securitization: 0</a:t>
            </a:r>
          </a:p>
          <a:p>
            <a:r>
              <a:rPr lang="en-US" sz="1600" b="1"/>
              <a:t>IsDisbursmented: 0</a:t>
            </a:r>
          </a:p>
          <a:p>
            <a:endParaRPr lang="en-US" sz="1600" b="1"/>
          </a:p>
          <a:p>
            <a:pPr marL="36900" indent="0">
              <a:buNone/>
            </a:pPr>
            <a:endParaRPr lang="en-US" sz="1600" b="1"/>
          </a:p>
          <a:p>
            <a:pPr marL="36900" indent="0">
              <a:buNone/>
            </a:pPr>
            <a:endParaRPr lang="en-US" sz="1600" b="1"/>
          </a:p>
          <a:p>
            <a:pPr marL="36900" indent="0">
              <a:buNone/>
            </a:pPr>
            <a:endParaRPr lang="en-US" sz="1600" b="1"/>
          </a:p>
          <a:p>
            <a:pPr marL="36900" indent="0">
              <a:buNone/>
            </a:pPr>
            <a:endParaRPr lang="en-US" sz="1600" b="1"/>
          </a:p>
          <a:p>
            <a:pPr marL="36900" indent="0">
              <a:buNone/>
            </a:pPr>
            <a:endParaRPr lang="en-US" sz="1600" b="1"/>
          </a:p>
          <a:p>
            <a:endParaRPr lang="en-US" sz="1600" b="1"/>
          </a:p>
          <a:p>
            <a:endParaRPr lang="en-US" sz="1600" b="1"/>
          </a:p>
          <a:p>
            <a:endParaRPr lang="en-US" sz="1600" b="1"/>
          </a:p>
          <a:p>
            <a:r>
              <a:rPr lang="en-US" sz="1500" b="1"/>
              <a:t>AccountCode: NULL</a:t>
            </a:r>
          </a:p>
          <a:p>
            <a:r>
              <a:rPr lang="en-US" sz="1500" b="1"/>
              <a:t>DEPT_VALUE: NULL</a:t>
            </a:r>
          </a:p>
          <a:p>
            <a:r>
              <a:rPr lang="en-US" sz="1500" b="1"/>
              <a:t>PRIMIUM_VALUE: NULL</a:t>
            </a:r>
          </a:p>
          <a:p>
            <a:r>
              <a:rPr lang="en-US" sz="1500" b="1"/>
              <a:t>F_PRIMIUM_DATE: NULL</a:t>
            </a:r>
          </a:p>
          <a:p>
            <a:r>
              <a:rPr lang="en-US" sz="1500" b="1"/>
              <a:t>L_PRIMIUM_DATE: NULL</a:t>
            </a:r>
          </a:p>
          <a:p>
            <a:r>
              <a:rPr lang="en-US" sz="1500" b="1"/>
              <a:t>BUSDATE: NULL // </a:t>
            </a:r>
            <a:r>
              <a:rPr lang="ar-EG" sz="1500" b="1"/>
              <a:t>تاريخ الصرف</a:t>
            </a:r>
            <a:endParaRPr lang="en-US" sz="1500" b="1"/>
          </a:p>
          <a:p>
            <a:r>
              <a:rPr lang="en-US" sz="1500" b="1"/>
              <a:t>EXPDATE: NULL</a:t>
            </a:r>
          </a:p>
          <a:p>
            <a:r>
              <a:rPr lang="en-US" sz="1500" b="1"/>
              <a:t>Com_RATE: NULL // assigned at disbursement </a:t>
            </a:r>
          </a:p>
          <a:p>
            <a:r>
              <a:rPr lang="en-US" sz="1500" b="1"/>
              <a:t>Bank_code: NULL</a:t>
            </a:r>
          </a:p>
          <a:p>
            <a:r>
              <a:rPr lang="en-US" sz="1500" b="1"/>
              <a:t>VisitCount: NULL</a:t>
            </a:r>
          </a:p>
          <a:p>
            <a:r>
              <a:rPr lang="en-US" sz="1500" b="1"/>
              <a:t>GuarVisitCount: NULL</a:t>
            </a:r>
          </a:p>
          <a:p>
            <a:endParaRPr lang="en-US" sz="1500" b="1"/>
          </a:p>
          <a:p>
            <a:r>
              <a:rPr lang="en-US" sz="1500" b="1">
                <a:solidFill>
                  <a:srgbClr val="FFFF00"/>
                </a:solidFill>
              </a:rPr>
              <a:t>Approv_value: NULL</a:t>
            </a:r>
          </a:p>
          <a:p>
            <a:r>
              <a:rPr lang="en-US" sz="1500" b="1">
                <a:solidFill>
                  <a:srgbClr val="FFFF00"/>
                </a:solidFill>
              </a:rPr>
              <a:t>Approved_Amount: NULL</a:t>
            </a:r>
          </a:p>
          <a:p>
            <a:r>
              <a:rPr lang="en-US" sz="1500" b="1">
                <a:solidFill>
                  <a:srgbClr val="FFFF00"/>
                </a:solidFill>
              </a:rPr>
              <a:t>TOTAL_AMOUNT: NULL</a:t>
            </a:r>
          </a:p>
          <a:p>
            <a:r>
              <a:rPr lang="en-US" sz="1500" b="1">
                <a:solidFill>
                  <a:srgbClr val="FFFF00"/>
                </a:solidFill>
              </a:rPr>
              <a:t>NO_Months: NULL</a:t>
            </a:r>
          </a:p>
          <a:p>
            <a:endParaRPr lang="en-US" sz="1600"/>
          </a:p>
        </p:txBody>
      </p:sp>
    </p:spTree>
    <p:extLst>
      <p:ext uri="{BB962C8B-B14F-4D97-AF65-F5344CB8AC3E}">
        <p14:creationId xmlns:p14="http://schemas.microsoft.com/office/powerpoint/2010/main" val="2145784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31D8-27AD-5C2C-63C0-7B11B9F38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DE566-8C0C-C337-CD4A-5046BF63C3A1}"/>
              </a:ext>
            </a:extLst>
          </p:cNvPr>
          <p:cNvSpPr>
            <a:spLocks noGrp="1"/>
          </p:cNvSpPr>
          <p:nvPr>
            <p:ph type="title"/>
          </p:nvPr>
        </p:nvSpPr>
        <p:spPr>
          <a:xfrm>
            <a:off x="70876" y="0"/>
            <a:ext cx="12039600" cy="782320"/>
          </a:xfrm>
        </p:spPr>
        <p:txBody>
          <a:bodyPr>
            <a:normAutofit/>
          </a:bodyPr>
          <a:lstStyle/>
          <a:p>
            <a:r>
              <a:rPr lang="en-US" sz="3200" b="1">
                <a:solidFill>
                  <a:srgbClr val="FF0000"/>
                </a:solidFill>
              </a:rPr>
              <a:t>When Saving Request</a:t>
            </a:r>
            <a:r>
              <a:rPr lang="ar-EG" sz="3200" b="1">
                <a:solidFill>
                  <a:srgbClr val="FF0000"/>
                </a:solidFill>
              </a:rPr>
              <a:t> </a:t>
            </a:r>
            <a:r>
              <a:rPr lang="en-US" sz="3200" b="1">
                <a:solidFill>
                  <a:srgbClr val="FF0000"/>
                </a:solidFill>
              </a:rPr>
              <a:t>for the first time VIA LO [cont.4]</a:t>
            </a:r>
            <a:endParaRPr lang="en-US" sz="3200"/>
          </a:p>
        </p:txBody>
      </p:sp>
      <p:sp>
        <p:nvSpPr>
          <p:cNvPr id="3" name="Content Placeholder 2">
            <a:extLst>
              <a:ext uri="{FF2B5EF4-FFF2-40B4-BE49-F238E27FC236}">
                <a16:creationId xmlns:a16="http://schemas.microsoft.com/office/drawing/2014/main" id="{464C7ACA-90EB-6B16-ECB8-BF31D3956B30}"/>
              </a:ext>
            </a:extLst>
          </p:cNvPr>
          <p:cNvSpPr>
            <a:spLocks noGrp="1"/>
          </p:cNvSpPr>
          <p:nvPr>
            <p:ph idx="1"/>
          </p:nvPr>
        </p:nvSpPr>
        <p:spPr>
          <a:xfrm>
            <a:off x="0" y="782320"/>
            <a:ext cx="12192000" cy="5872479"/>
          </a:xfrm>
        </p:spPr>
        <p:txBody>
          <a:bodyPr/>
          <a:lstStyle/>
          <a:p>
            <a:r>
              <a:rPr lang="en-US" b="1"/>
              <a:t>Deportation Fields that will have a value</a:t>
            </a:r>
          </a:p>
          <a:p>
            <a:r>
              <a:rPr lang="en-US" sz="1600" b="1"/>
              <a:t>FRD_ID</a:t>
            </a:r>
          </a:p>
          <a:p>
            <a:r>
              <a:rPr lang="en-US" sz="1600" b="1"/>
              <a:t>Request_id</a:t>
            </a:r>
          </a:p>
          <a:p>
            <a:r>
              <a:rPr lang="en-US" sz="1600" b="1">
                <a:solidFill>
                  <a:srgbClr val="FFFF00"/>
                </a:solidFill>
              </a:rPr>
              <a:t>UserId_from </a:t>
            </a:r>
            <a:r>
              <a:rPr lang="en-US" sz="1600" b="1"/>
              <a:t>= LO ID</a:t>
            </a:r>
          </a:p>
          <a:p>
            <a:r>
              <a:rPr lang="en-US" sz="1600" b="1">
                <a:solidFill>
                  <a:srgbClr val="FFFF00"/>
                </a:solidFill>
              </a:rPr>
              <a:t>UserId_TO</a:t>
            </a:r>
            <a:r>
              <a:rPr lang="en-US" sz="1600" b="1"/>
              <a:t> = LO ID</a:t>
            </a:r>
          </a:p>
          <a:p>
            <a:r>
              <a:rPr lang="en-US" sz="1600" b="1">
                <a:solidFill>
                  <a:srgbClr val="FFFF00"/>
                </a:solidFill>
              </a:rPr>
              <a:t>UserId_BM</a:t>
            </a:r>
            <a:r>
              <a:rPr lang="en-US" sz="1600" b="1"/>
              <a:t> = BranchManager.UserId</a:t>
            </a:r>
          </a:p>
          <a:p>
            <a:r>
              <a:rPr lang="en-US" sz="1600" b="1">
                <a:solidFill>
                  <a:srgbClr val="FFFF00"/>
                </a:solidFill>
              </a:rPr>
              <a:t>BranchId</a:t>
            </a:r>
          </a:p>
          <a:p>
            <a:r>
              <a:rPr lang="en-US" sz="1600" b="1">
                <a:solidFill>
                  <a:srgbClr val="FFFF00"/>
                </a:solidFill>
              </a:rPr>
              <a:t>JobId: 10: JobId of LO</a:t>
            </a:r>
          </a:p>
          <a:p>
            <a:r>
              <a:rPr lang="en-US" sz="1600" b="1"/>
              <a:t>Deportation.</a:t>
            </a:r>
            <a:r>
              <a:rPr lang="en-US" sz="1600" b="1">
                <a:solidFill>
                  <a:srgbClr val="FFFF00"/>
                </a:solidFill>
              </a:rPr>
              <a:t>Name_step_from</a:t>
            </a:r>
            <a:r>
              <a:rPr lang="en-US" sz="1600" b="1"/>
              <a:t> </a:t>
            </a:r>
            <a:r>
              <a:rPr lang="en-US" sz="1600"/>
              <a:t>= CurrentActionStep;</a:t>
            </a:r>
          </a:p>
          <a:p>
            <a:r>
              <a:rPr lang="en-US" sz="1600" b="1"/>
              <a:t>Deportation.</a:t>
            </a:r>
            <a:r>
              <a:rPr lang="en-US" sz="1600" b="1">
                <a:solidFill>
                  <a:srgbClr val="FFFF00"/>
                </a:solidFill>
              </a:rPr>
              <a:t>Name_step_to</a:t>
            </a:r>
            <a:r>
              <a:rPr lang="en-US" sz="1600"/>
              <a:t> = CurrentActionStep;</a:t>
            </a:r>
          </a:p>
          <a:p>
            <a:pPr lvl="1"/>
            <a:r>
              <a:rPr lang="en-US" sz="1600"/>
              <a:t>CurrentActionsForAllType = base.Queryable().Where(x =&gt; x.Definition_number == Definition_number);</a:t>
            </a:r>
          </a:p>
          <a:p>
            <a:pPr lvl="1"/>
            <a:r>
              <a:rPr lang="en-US" sz="1600"/>
              <a:t>CurrentActionStep = CurrentActionsForAllType.FirstOrDefault(x =&gt; x.Type_code= Product.Type_code).Name_stepAR;</a:t>
            </a:r>
          </a:p>
          <a:p>
            <a:r>
              <a:rPr lang="en-US" sz="1600" b="1"/>
              <a:t>Deportation.</a:t>
            </a:r>
            <a:r>
              <a:rPr lang="en-US" sz="1600" b="1">
                <a:solidFill>
                  <a:srgbClr val="FFFF00"/>
                </a:solidFill>
              </a:rPr>
              <a:t>Status_one</a:t>
            </a:r>
            <a:r>
              <a:rPr lang="en-US" sz="1600" b="1"/>
              <a:t> = FixedStatus.Status_One_Inprocess // “inporoccess”</a:t>
            </a:r>
          </a:p>
          <a:p>
            <a:r>
              <a:rPr lang="en-US" sz="1600" b="1"/>
              <a:t>Deportation.</a:t>
            </a:r>
            <a:r>
              <a:rPr lang="en-US" sz="1600" b="1">
                <a:solidFill>
                  <a:srgbClr val="FFFF00"/>
                </a:solidFill>
              </a:rPr>
              <a:t>Status_two</a:t>
            </a:r>
            <a:r>
              <a:rPr lang="en-US" sz="1600" b="1"/>
              <a:t> = FixedStatus.Status_R111	// R111</a:t>
            </a:r>
          </a:p>
          <a:p>
            <a:r>
              <a:rPr lang="fr-FR" sz="1600" b="1"/>
              <a:t>Deportation.</a:t>
            </a:r>
            <a:r>
              <a:rPr lang="fr-FR" sz="1600" b="1">
                <a:solidFill>
                  <a:srgbClr val="FFFF00"/>
                </a:solidFill>
              </a:rPr>
              <a:t>Type_code</a:t>
            </a:r>
            <a:r>
              <a:rPr lang="fr-FR" sz="1600" b="1"/>
              <a:t> = </a:t>
            </a:r>
            <a:r>
              <a:rPr lang="en-US" sz="1600" b="1"/>
              <a:t>FundingDataVM.status</a:t>
            </a:r>
            <a:r>
              <a:rPr lang="fr-FR" sz="1600" b="1"/>
              <a:t> == 1 ? Product.Type_code : Deportation.Type_code;</a:t>
            </a:r>
            <a:endParaRPr lang="en-US" sz="1600" b="1"/>
          </a:p>
          <a:p>
            <a:endParaRPr lang="fr-FR" sz="1600"/>
          </a:p>
        </p:txBody>
      </p:sp>
    </p:spTree>
    <p:extLst>
      <p:ext uri="{BB962C8B-B14F-4D97-AF65-F5344CB8AC3E}">
        <p14:creationId xmlns:p14="http://schemas.microsoft.com/office/powerpoint/2010/main" val="3423757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1F8F7-F572-0F53-2EB7-2D86D2AD441D}"/>
              </a:ext>
            </a:extLst>
          </p:cNvPr>
          <p:cNvSpPr>
            <a:spLocks noGrp="1"/>
          </p:cNvSpPr>
          <p:nvPr>
            <p:ph type="title"/>
          </p:nvPr>
        </p:nvSpPr>
        <p:spPr>
          <a:xfrm>
            <a:off x="0" y="0"/>
            <a:ext cx="12192000" cy="970450"/>
          </a:xfrm>
        </p:spPr>
        <p:txBody>
          <a:bodyPr>
            <a:normAutofit/>
          </a:bodyPr>
          <a:lstStyle/>
          <a:p>
            <a:r>
              <a:rPr lang="en-US" sz="3200" b="1">
                <a:solidFill>
                  <a:srgbClr val="FF0000"/>
                </a:solidFill>
              </a:rPr>
              <a:t>When Saving Request</a:t>
            </a:r>
            <a:r>
              <a:rPr lang="ar-EG" sz="3200" b="1">
                <a:solidFill>
                  <a:srgbClr val="FF0000"/>
                </a:solidFill>
              </a:rPr>
              <a:t> </a:t>
            </a:r>
            <a:r>
              <a:rPr lang="en-US" sz="3200" b="1">
                <a:solidFill>
                  <a:srgbClr val="FF0000"/>
                </a:solidFill>
              </a:rPr>
              <a:t>for the first time VIA LO [cont.5]</a:t>
            </a:r>
            <a:endParaRPr lang="en-US" sz="3200"/>
          </a:p>
        </p:txBody>
      </p:sp>
      <p:sp>
        <p:nvSpPr>
          <p:cNvPr id="3" name="Content Placeholder 2">
            <a:extLst>
              <a:ext uri="{FF2B5EF4-FFF2-40B4-BE49-F238E27FC236}">
                <a16:creationId xmlns:a16="http://schemas.microsoft.com/office/drawing/2014/main" id="{4750DADC-200A-7BA3-082A-C02E8D75769A}"/>
              </a:ext>
            </a:extLst>
          </p:cNvPr>
          <p:cNvSpPr>
            <a:spLocks noGrp="1"/>
          </p:cNvSpPr>
          <p:nvPr>
            <p:ph idx="1"/>
          </p:nvPr>
        </p:nvSpPr>
        <p:spPr>
          <a:xfrm>
            <a:off x="211667" y="970451"/>
            <a:ext cx="11870266" cy="5650482"/>
          </a:xfrm>
        </p:spPr>
        <p:txBody>
          <a:bodyPr>
            <a:normAutofit/>
          </a:bodyPr>
          <a:lstStyle/>
          <a:p>
            <a:r>
              <a:rPr lang="en-US" sz="2400" b="1">
                <a:solidFill>
                  <a:srgbClr val="FFFF00"/>
                </a:solidFill>
              </a:rPr>
              <a:t>Deportation Fields that will have a value</a:t>
            </a:r>
          </a:p>
          <a:p>
            <a:r>
              <a:rPr lang="en-US" sz="1800" b="1"/>
              <a:t>Date_creation_request</a:t>
            </a:r>
          </a:p>
          <a:p>
            <a:r>
              <a:rPr lang="en-US" sz="1800" b="1"/>
              <a:t>Customer_ID_C</a:t>
            </a:r>
          </a:p>
          <a:p>
            <a:r>
              <a:rPr lang="en-US" sz="1800" b="1"/>
              <a:t>Cust_QID</a:t>
            </a:r>
          </a:p>
          <a:p>
            <a:r>
              <a:rPr lang="en-US" sz="1800" b="1"/>
              <a:t>Cust_Full_name</a:t>
            </a:r>
          </a:p>
          <a:p>
            <a:r>
              <a:rPr lang="en-US" sz="1800" b="1"/>
              <a:t>Enterprise_ID</a:t>
            </a:r>
          </a:p>
          <a:p>
            <a:r>
              <a:rPr lang="en-US" sz="1800" b="1"/>
              <a:t>Product_id</a:t>
            </a:r>
          </a:p>
          <a:p>
            <a:r>
              <a:rPr lang="en-US" sz="1800" b="1"/>
              <a:t>Product_name</a:t>
            </a:r>
          </a:p>
          <a:p>
            <a:r>
              <a:rPr lang="en-US" sz="1800" b="1"/>
              <a:t>Code_action: null</a:t>
            </a:r>
          </a:p>
          <a:p>
            <a:r>
              <a:rPr lang="en-US" sz="1800" b="1"/>
              <a:t>Date_Assigned: null</a:t>
            </a:r>
          </a:p>
          <a:p>
            <a:endParaRPr lang="en-US" sz="1800" b="1"/>
          </a:p>
        </p:txBody>
      </p:sp>
    </p:spTree>
    <p:extLst>
      <p:ext uri="{BB962C8B-B14F-4D97-AF65-F5344CB8AC3E}">
        <p14:creationId xmlns:p14="http://schemas.microsoft.com/office/powerpoint/2010/main" val="1731501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2272-256B-EAEC-4613-699507FCF80D}"/>
              </a:ext>
            </a:extLst>
          </p:cNvPr>
          <p:cNvSpPr>
            <a:spLocks noGrp="1"/>
          </p:cNvSpPr>
          <p:nvPr>
            <p:ph type="title"/>
          </p:nvPr>
        </p:nvSpPr>
        <p:spPr>
          <a:xfrm>
            <a:off x="101600" y="0"/>
            <a:ext cx="11836400" cy="609600"/>
          </a:xfrm>
        </p:spPr>
        <p:txBody>
          <a:bodyPr>
            <a:normAutofit fontScale="90000"/>
          </a:bodyPr>
          <a:lstStyle/>
          <a:p>
            <a:r>
              <a:rPr lang="en-US" b="1">
                <a:solidFill>
                  <a:srgbClr val="FF0000"/>
                </a:solidFill>
              </a:rPr>
              <a:t>When Saving Request</a:t>
            </a:r>
            <a:r>
              <a:rPr lang="ar-EG" b="1">
                <a:solidFill>
                  <a:srgbClr val="FF0000"/>
                </a:solidFill>
              </a:rPr>
              <a:t> </a:t>
            </a:r>
            <a:r>
              <a:rPr lang="en-US" b="1">
                <a:solidFill>
                  <a:srgbClr val="FF0000"/>
                </a:solidFill>
              </a:rPr>
              <a:t>for the first time VIA LO [cont.6]</a:t>
            </a:r>
            <a:endParaRPr lang="en-US"/>
          </a:p>
        </p:txBody>
      </p:sp>
      <p:sp>
        <p:nvSpPr>
          <p:cNvPr id="3" name="Content Placeholder 2">
            <a:extLst>
              <a:ext uri="{FF2B5EF4-FFF2-40B4-BE49-F238E27FC236}">
                <a16:creationId xmlns:a16="http://schemas.microsoft.com/office/drawing/2014/main" id="{FC29389E-DC0D-9CA6-FC33-F9DC923F7EF5}"/>
              </a:ext>
            </a:extLst>
          </p:cNvPr>
          <p:cNvSpPr>
            <a:spLocks noGrp="1"/>
          </p:cNvSpPr>
          <p:nvPr>
            <p:ph idx="1"/>
          </p:nvPr>
        </p:nvSpPr>
        <p:spPr>
          <a:xfrm>
            <a:off x="101600" y="1056640"/>
            <a:ext cx="11988800" cy="5527039"/>
          </a:xfrm>
        </p:spPr>
        <p:txBody>
          <a:bodyPr>
            <a:normAutofit/>
          </a:bodyPr>
          <a:lstStyle/>
          <a:p>
            <a:r>
              <a:rPr lang="en-US" sz="2800" b="1">
                <a:solidFill>
                  <a:srgbClr val="FFFF00"/>
                </a:solidFill>
              </a:rPr>
              <a:t>Flow_Requests_Log</a:t>
            </a:r>
          </a:p>
          <a:p>
            <a:r>
              <a:rPr lang="en-US" sz="1800" b="1"/>
              <a:t>FRL_ID: PK</a:t>
            </a:r>
          </a:p>
          <a:p>
            <a:r>
              <a:rPr lang="en-US" sz="1800" b="1"/>
              <a:t>FRD_ID: FK from request_deportation</a:t>
            </a:r>
          </a:p>
          <a:p>
            <a:r>
              <a:rPr lang="en-US" sz="1800" b="1"/>
              <a:t>Date_Creation: date.now</a:t>
            </a:r>
          </a:p>
          <a:p>
            <a:r>
              <a:rPr lang="en-US" sz="1800" b="1"/>
              <a:t>Daily_date: date.now</a:t>
            </a:r>
          </a:p>
          <a:p>
            <a:r>
              <a:rPr lang="en-US" sz="1800" b="1"/>
              <a:t>Step_name: </a:t>
            </a:r>
            <a:r>
              <a:rPr lang="ar-EG" sz="1800" b="1"/>
              <a:t>طلب التمويل</a:t>
            </a:r>
          </a:p>
          <a:p>
            <a:r>
              <a:rPr lang="en-US" sz="1800" b="1"/>
              <a:t>Definition_number: </a:t>
            </a:r>
            <a:r>
              <a:rPr lang="en-US" sz="1800" b="1">
                <a:solidFill>
                  <a:srgbClr val="FFFF00"/>
                </a:solidFill>
              </a:rPr>
              <a:t>R111</a:t>
            </a:r>
          </a:p>
          <a:p>
            <a:r>
              <a:rPr lang="en-US" sz="1800" b="1"/>
              <a:t>ActionFlag: null;</a:t>
            </a:r>
          </a:p>
        </p:txBody>
      </p:sp>
    </p:spTree>
    <p:extLst>
      <p:ext uri="{BB962C8B-B14F-4D97-AF65-F5344CB8AC3E}">
        <p14:creationId xmlns:p14="http://schemas.microsoft.com/office/powerpoint/2010/main" val="500657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F925A-1C6B-71FD-EFF0-729F6442B7D5}"/>
              </a:ext>
            </a:extLst>
          </p:cNvPr>
          <p:cNvSpPr>
            <a:spLocks noGrp="1"/>
          </p:cNvSpPr>
          <p:nvPr>
            <p:ph type="title"/>
          </p:nvPr>
        </p:nvSpPr>
        <p:spPr>
          <a:xfrm>
            <a:off x="-5324" y="0"/>
            <a:ext cx="12191999" cy="504825"/>
          </a:xfrm>
        </p:spPr>
        <p:txBody>
          <a:bodyPr>
            <a:normAutofit fontScale="90000"/>
          </a:bodyPr>
          <a:lstStyle/>
          <a:p>
            <a:r>
              <a:rPr lang="en-US" b="1">
                <a:solidFill>
                  <a:srgbClr val="FF0000"/>
                </a:solidFill>
              </a:rPr>
              <a:t>When Saving Request</a:t>
            </a:r>
            <a:r>
              <a:rPr lang="ar-EG" b="1">
                <a:solidFill>
                  <a:srgbClr val="FF0000"/>
                </a:solidFill>
              </a:rPr>
              <a:t> </a:t>
            </a:r>
            <a:r>
              <a:rPr lang="en-US" b="1">
                <a:solidFill>
                  <a:srgbClr val="FF0000"/>
                </a:solidFill>
              </a:rPr>
              <a:t>for the first time VIA LO [cont.7]</a:t>
            </a:r>
            <a:endParaRPr lang="en-US"/>
          </a:p>
        </p:txBody>
      </p:sp>
      <p:sp>
        <p:nvSpPr>
          <p:cNvPr id="3" name="Content Placeholder 2">
            <a:extLst>
              <a:ext uri="{FF2B5EF4-FFF2-40B4-BE49-F238E27FC236}">
                <a16:creationId xmlns:a16="http://schemas.microsoft.com/office/drawing/2014/main" id="{1C0ECF39-8ABD-698C-FEA9-498E5C3ABB85}"/>
              </a:ext>
            </a:extLst>
          </p:cNvPr>
          <p:cNvSpPr>
            <a:spLocks noGrp="1"/>
          </p:cNvSpPr>
          <p:nvPr>
            <p:ph idx="1"/>
          </p:nvPr>
        </p:nvSpPr>
        <p:spPr>
          <a:xfrm>
            <a:off x="104776" y="695325"/>
            <a:ext cx="11953874" cy="6057900"/>
          </a:xfrm>
        </p:spPr>
        <p:txBody>
          <a:bodyPr/>
          <a:lstStyle/>
          <a:p>
            <a:r>
              <a:rPr lang="en-US" b="1"/>
              <a:t>At </a:t>
            </a:r>
            <a:r>
              <a:rPr lang="en-US" b="1">
                <a:solidFill>
                  <a:srgbClr val="FF0000"/>
                </a:solidFill>
              </a:rPr>
              <a:t>TWF</a:t>
            </a:r>
            <a:r>
              <a:rPr lang="en-US" b="1"/>
              <a:t>.</a:t>
            </a:r>
            <a:r>
              <a:rPr lang="en-US" b="1">
                <a:solidFill>
                  <a:srgbClr val="FFFF00"/>
                </a:solidFill>
              </a:rPr>
              <a:t>Flow_ISCORE_Data </a:t>
            </a:r>
            <a:r>
              <a:rPr lang="en-US" b="1"/>
              <a:t>you will two records one for customer and one for guarantor</a:t>
            </a:r>
          </a:p>
          <a:p>
            <a:pPr lvl="1"/>
            <a:r>
              <a:rPr lang="en-US" b="1"/>
              <a:t>Cust_IDNO</a:t>
            </a:r>
          </a:p>
          <a:p>
            <a:pPr lvl="1"/>
            <a:r>
              <a:rPr lang="en-US" sz="1600" b="1"/>
              <a:t>Code_FID: PK</a:t>
            </a:r>
          </a:p>
          <a:p>
            <a:pPr lvl="1"/>
            <a:r>
              <a:rPr lang="en-US" sz="1600" b="1"/>
              <a:t>Inquiry_Date</a:t>
            </a:r>
          </a:p>
          <a:p>
            <a:pPr lvl="1"/>
            <a:r>
              <a:rPr lang="en-US" sz="1600" b="1"/>
              <a:t>Score</a:t>
            </a:r>
          </a:p>
          <a:p>
            <a:pPr lvl="1"/>
            <a:r>
              <a:rPr lang="en-US" sz="1600" b="1"/>
              <a:t>Open_Credits</a:t>
            </a:r>
          </a:p>
          <a:p>
            <a:pPr lvl="1"/>
            <a:r>
              <a:rPr lang="en-US" sz="1600" b="1"/>
              <a:t>Days_Due</a:t>
            </a:r>
          </a:p>
          <a:p>
            <a:pPr lvl="1"/>
            <a:r>
              <a:rPr lang="en-US" sz="1600" b="1"/>
              <a:t>No_Of_Inquiries</a:t>
            </a:r>
          </a:p>
          <a:p>
            <a:pPr lvl="1"/>
            <a:r>
              <a:rPr lang="en-US" sz="1600" b="1"/>
              <a:t>Request_id</a:t>
            </a:r>
          </a:p>
          <a:p>
            <a:pPr lvl="1"/>
            <a:r>
              <a:rPr lang="en-US" sz="1600" b="1"/>
              <a:t>Ref_NO</a:t>
            </a:r>
          </a:p>
          <a:p>
            <a:pPr lvl="1"/>
            <a:r>
              <a:rPr lang="en-US" sz="1600" b="1"/>
              <a:t>NotFound: 2</a:t>
            </a:r>
          </a:p>
          <a:p>
            <a:pPr lvl="1"/>
            <a:r>
              <a:rPr lang="en-US" sz="1600" b="1"/>
              <a:t>New_ISCORE: 1 [ always one ]</a:t>
            </a:r>
          </a:p>
          <a:p>
            <a:pPr lvl="1"/>
            <a:r>
              <a:rPr lang="en-US" sz="1600" b="1"/>
              <a:t>File Code: </a:t>
            </a:r>
            <a:r>
              <a:rPr lang="en-US" sz="1200" b="1"/>
              <a:t>Mjk4MDkzMDE0MTI4NzQoMzQzMjBhOTItNzVmOC00N2M1LWI1ZDYtMjk1M2RjZWRkMGM2KS5wZGY=</a:t>
            </a:r>
          </a:p>
          <a:p>
            <a:r>
              <a:rPr lang="en-US" sz="1900" b="1"/>
              <a:t>Note: you will find </a:t>
            </a:r>
            <a:r>
              <a:rPr lang="en-US" sz="1900" b="1">
                <a:solidFill>
                  <a:srgbClr val="FFFF00"/>
                </a:solidFill>
              </a:rPr>
              <a:t>FileCode</a:t>
            </a:r>
            <a:r>
              <a:rPr lang="en-US" sz="1900" b="1"/>
              <a:t> here is equal to </a:t>
            </a:r>
            <a:r>
              <a:rPr lang="en-US" b="1">
                <a:solidFill>
                  <a:srgbClr val="FF0000"/>
                </a:solidFill>
              </a:rPr>
              <a:t>TWF</a:t>
            </a:r>
            <a:r>
              <a:rPr lang="en-US" b="1">
                <a:solidFill>
                  <a:srgbClr val="FFFF00"/>
                </a:solidFill>
              </a:rPr>
              <a:t>.</a:t>
            </a:r>
            <a:r>
              <a:rPr lang="en-US" b="1">
                <a:solidFill>
                  <a:schemeClr val="tx1"/>
                </a:solidFill>
              </a:rPr>
              <a:t>TWF_Download</a:t>
            </a:r>
            <a:r>
              <a:rPr lang="en-US" b="1">
                <a:solidFill>
                  <a:srgbClr val="FFFF00"/>
                </a:solidFill>
              </a:rPr>
              <a:t>.Doc_id</a:t>
            </a:r>
            <a:endParaRPr lang="en-US" sz="1900" b="1">
              <a:solidFill>
                <a:srgbClr val="FFFF00"/>
              </a:solidFill>
            </a:endParaRPr>
          </a:p>
          <a:p>
            <a:endParaRPr lang="en-US"/>
          </a:p>
          <a:p>
            <a:endParaRPr lang="en-US"/>
          </a:p>
          <a:p>
            <a:endParaRPr lang="en-US"/>
          </a:p>
          <a:p>
            <a:endParaRPr lang="en-US"/>
          </a:p>
        </p:txBody>
      </p:sp>
    </p:spTree>
    <p:extLst>
      <p:ext uri="{BB962C8B-B14F-4D97-AF65-F5344CB8AC3E}">
        <p14:creationId xmlns:p14="http://schemas.microsoft.com/office/powerpoint/2010/main" val="3847782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242EC-EC85-C88C-52AE-7A449A3AC296}"/>
              </a:ext>
            </a:extLst>
          </p:cNvPr>
          <p:cNvSpPr>
            <a:spLocks noGrp="1"/>
          </p:cNvSpPr>
          <p:nvPr>
            <p:ph type="title"/>
          </p:nvPr>
        </p:nvSpPr>
        <p:spPr>
          <a:xfrm>
            <a:off x="0" y="0"/>
            <a:ext cx="12192000" cy="638175"/>
          </a:xfrm>
        </p:spPr>
        <p:txBody>
          <a:bodyPr>
            <a:normAutofit/>
          </a:bodyPr>
          <a:lstStyle/>
          <a:p>
            <a:r>
              <a:rPr lang="en-US" sz="3200" b="1">
                <a:solidFill>
                  <a:srgbClr val="FF0000"/>
                </a:solidFill>
              </a:rPr>
              <a:t>When Saving Request</a:t>
            </a:r>
            <a:r>
              <a:rPr lang="ar-EG" sz="3200" b="1">
                <a:solidFill>
                  <a:srgbClr val="FF0000"/>
                </a:solidFill>
              </a:rPr>
              <a:t> </a:t>
            </a:r>
            <a:r>
              <a:rPr lang="en-US" sz="3200" b="1">
                <a:solidFill>
                  <a:srgbClr val="FF0000"/>
                </a:solidFill>
              </a:rPr>
              <a:t>for the first time VIA LO [cont.8]</a:t>
            </a:r>
            <a:endParaRPr lang="en-US" sz="3200"/>
          </a:p>
        </p:txBody>
      </p:sp>
      <p:sp>
        <p:nvSpPr>
          <p:cNvPr id="3" name="Content Placeholder 2">
            <a:extLst>
              <a:ext uri="{FF2B5EF4-FFF2-40B4-BE49-F238E27FC236}">
                <a16:creationId xmlns:a16="http://schemas.microsoft.com/office/drawing/2014/main" id="{73CBDAEA-FD6C-6F1E-7A7D-C5C4F18832EE}"/>
              </a:ext>
            </a:extLst>
          </p:cNvPr>
          <p:cNvSpPr>
            <a:spLocks noGrp="1"/>
          </p:cNvSpPr>
          <p:nvPr>
            <p:ph idx="1"/>
          </p:nvPr>
        </p:nvSpPr>
        <p:spPr>
          <a:xfrm>
            <a:off x="76200" y="638175"/>
            <a:ext cx="12049125" cy="6086475"/>
          </a:xfrm>
        </p:spPr>
        <p:txBody>
          <a:bodyPr>
            <a:normAutofit/>
          </a:bodyPr>
          <a:lstStyle/>
          <a:p>
            <a:r>
              <a:rPr lang="en-US" sz="2400" b="1">
                <a:solidFill>
                  <a:srgbClr val="00B0F0"/>
                </a:solidFill>
              </a:rPr>
              <a:t>TWF_Download: the table that represent the uploaded docs for request</a:t>
            </a:r>
          </a:p>
          <a:p>
            <a:r>
              <a:rPr lang="en-US" b="1">
                <a:solidFill>
                  <a:srgbClr val="FFFF00"/>
                </a:solidFill>
              </a:rPr>
              <a:t>You will have two records one for customer and one for guarantor these are docs related to iscore docs</a:t>
            </a:r>
          </a:p>
          <a:p>
            <a:pPr lvl="1"/>
            <a:r>
              <a:rPr lang="en-US" b="1">
                <a:solidFill>
                  <a:srgbClr val="FFFF00"/>
                </a:solidFill>
              </a:rPr>
              <a:t>Id_Down: PK, identity</a:t>
            </a:r>
          </a:p>
          <a:p>
            <a:pPr lvl="1"/>
            <a:r>
              <a:rPr lang="en-US" b="1">
                <a:solidFill>
                  <a:srgbClr val="FFFF00"/>
                </a:solidFill>
              </a:rPr>
              <a:t>Screen_name: C</a:t>
            </a:r>
          </a:p>
          <a:p>
            <a:pPr lvl="1"/>
            <a:r>
              <a:rPr lang="en-US" b="1">
                <a:solidFill>
                  <a:srgbClr val="FFFF00"/>
                </a:solidFill>
              </a:rPr>
              <a:t>Doc_id: string, </a:t>
            </a:r>
            <a:r>
              <a:rPr lang="en-US" sz="1400" b="1">
                <a:solidFill>
                  <a:srgbClr val="FFFF00"/>
                </a:solidFill>
              </a:rPr>
              <a:t>Mjk4MDkzMDE0MTI4NzQoMzQzMjBhOTItNzVmOC00N2M1LWI1ZDYtMjk1M2RjZWRkMGM2KS5wZGY=</a:t>
            </a:r>
            <a:endParaRPr lang="en-US" b="1">
              <a:solidFill>
                <a:srgbClr val="FFFF00"/>
              </a:solidFill>
            </a:endParaRPr>
          </a:p>
          <a:p>
            <a:pPr lvl="1"/>
            <a:r>
              <a:rPr lang="en-US" b="1">
                <a:solidFill>
                  <a:srgbClr val="FFFF00"/>
                </a:solidFill>
              </a:rPr>
              <a:t>RequestId: 1693427</a:t>
            </a:r>
          </a:p>
          <a:p>
            <a:pPr lvl="1"/>
            <a:r>
              <a:rPr lang="en-US" b="1">
                <a:solidFill>
                  <a:srgbClr val="FFFF00"/>
                </a:solidFill>
              </a:rPr>
              <a:t>Bus_Date</a:t>
            </a:r>
          </a:p>
          <a:p>
            <a:pPr lvl="1"/>
            <a:r>
              <a:rPr lang="en-US" b="1">
                <a:solidFill>
                  <a:srgbClr val="FFFF00"/>
                </a:solidFill>
              </a:rPr>
              <a:t>Uploaded_Date</a:t>
            </a:r>
          </a:p>
          <a:p>
            <a:pPr lvl="1"/>
            <a:r>
              <a:rPr lang="en-US" b="1">
                <a:solidFill>
                  <a:srgbClr val="FFFF00"/>
                </a:solidFill>
              </a:rPr>
              <a:t>Field_ID: null</a:t>
            </a:r>
          </a:p>
          <a:p>
            <a:endParaRPr lang="en-US" b="1">
              <a:solidFill>
                <a:srgbClr val="FFFF00"/>
              </a:solidFill>
            </a:endParaRPr>
          </a:p>
          <a:p>
            <a:endParaRPr lang="en-US" b="1">
              <a:solidFill>
                <a:srgbClr val="FFFF00"/>
              </a:solidFill>
            </a:endParaRPr>
          </a:p>
        </p:txBody>
      </p:sp>
      <p:pic>
        <p:nvPicPr>
          <p:cNvPr id="5" name="Picture 4">
            <a:extLst>
              <a:ext uri="{FF2B5EF4-FFF2-40B4-BE49-F238E27FC236}">
                <a16:creationId xmlns:a16="http://schemas.microsoft.com/office/drawing/2014/main" id="{1CF501E0-27A7-25BE-0D3E-58DEB0DF5CDE}"/>
              </a:ext>
            </a:extLst>
          </p:cNvPr>
          <p:cNvPicPr>
            <a:picLocks noChangeAspect="1"/>
          </p:cNvPicPr>
          <p:nvPr/>
        </p:nvPicPr>
        <p:blipFill>
          <a:blip r:embed="rId2"/>
          <a:stretch>
            <a:fillRect/>
          </a:stretch>
        </p:blipFill>
        <p:spPr>
          <a:xfrm>
            <a:off x="264389" y="5907378"/>
            <a:ext cx="9358171" cy="624894"/>
          </a:xfrm>
          <a:prstGeom prst="rect">
            <a:avLst/>
          </a:prstGeom>
        </p:spPr>
      </p:pic>
    </p:spTree>
    <p:extLst>
      <p:ext uri="{BB962C8B-B14F-4D97-AF65-F5344CB8AC3E}">
        <p14:creationId xmlns:p14="http://schemas.microsoft.com/office/powerpoint/2010/main" val="1316869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FDE5B-CE16-81BE-2438-76B88F9A6A1E}"/>
              </a:ext>
            </a:extLst>
          </p:cNvPr>
          <p:cNvSpPr>
            <a:spLocks noGrp="1"/>
          </p:cNvSpPr>
          <p:nvPr>
            <p:ph type="title"/>
          </p:nvPr>
        </p:nvSpPr>
        <p:spPr>
          <a:xfrm>
            <a:off x="37538" y="0"/>
            <a:ext cx="12106275" cy="495300"/>
          </a:xfrm>
        </p:spPr>
        <p:txBody>
          <a:bodyPr>
            <a:normAutofit fontScale="90000"/>
          </a:bodyPr>
          <a:lstStyle/>
          <a:p>
            <a:r>
              <a:rPr lang="en-US" b="1">
                <a:solidFill>
                  <a:srgbClr val="FF0000"/>
                </a:solidFill>
              </a:rPr>
              <a:t>When Saving Request</a:t>
            </a:r>
            <a:r>
              <a:rPr lang="ar-EG" b="1">
                <a:solidFill>
                  <a:srgbClr val="FF0000"/>
                </a:solidFill>
              </a:rPr>
              <a:t> </a:t>
            </a:r>
            <a:r>
              <a:rPr lang="en-US" b="1">
                <a:solidFill>
                  <a:srgbClr val="FF0000"/>
                </a:solidFill>
              </a:rPr>
              <a:t>for the first time VIA LO [cont.9]</a:t>
            </a:r>
            <a:endParaRPr lang="en-US"/>
          </a:p>
        </p:txBody>
      </p:sp>
      <p:sp>
        <p:nvSpPr>
          <p:cNvPr id="3" name="Content Placeholder 2">
            <a:extLst>
              <a:ext uri="{FF2B5EF4-FFF2-40B4-BE49-F238E27FC236}">
                <a16:creationId xmlns:a16="http://schemas.microsoft.com/office/drawing/2014/main" id="{8B9CE791-0387-BC12-EE17-8265ED58A2D5}"/>
              </a:ext>
            </a:extLst>
          </p:cNvPr>
          <p:cNvSpPr>
            <a:spLocks noGrp="1"/>
          </p:cNvSpPr>
          <p:nvPr>
            <p:ph idx="1"/>
          </p:nvPr>
        </p:nvSpPr>
        <p:spPr>
          <a:xfrm>
            <a:off x="114300" y="609599"/>
            <a:ext cx="12029513" cy="6124575"/>
          </a:xfrm>
        </p:spPr>
        <p:txBody>
          <a:bodyPr/>
          <a:lstStyle/>
          <a:p>
            <a:r>
              <a:rPr lang="en-US" sz="1600" b="1"/>
              <a:t>IQueryable&lt;</a:t>
            </a:r>
            <a:r>
              <a:rPr lang="en-US" sz="1600" b="1">
                <a:solidFill>
                  <a:srgbClr val="FFFF00"/>
                </a:solidFill>
              </a:rPr>
              <a:t>JoinMandatoryDocAndTypeDocuments</a:t>
            </a:r>
            <a:r>
              <a:rPr lang="en-US" sz="1600" b="1"/>
              <a:t>&gt; </a:t>
            </a:r>
            <a:r>
              <a:rPr lang="en-US" sz="1600" b="1">
                <a:solidFill>
                  <a:srgbClr val="00B050"/>
                </a:solidFill>
              </a:rPr>
              <a:t>Flow_DownloadService.</a:t>
            </a:r>
            <a:r>
              <a:rPr lang="en-US" sz="1600" b="1">
                <a:solidFill>
                  <a:srgbClr val="00B0F0"/>
                </a:solidFill>
              </a:rPr>
              <a:t>GetAllDocumentsLo</a:t>
            </a:r>
            <a:r>
              <a:rPr lang="en-US" sz="1600" b="1"/>
              <a:t>( </a:t>
            </a:r>
            <a:r>
              <a:rPr lang="en-US" sz="1400" b="1"/>
              <a:t>product_Id</a:t>
            </a:r>
            <a:r>
              <a:rPr lang="en-US" sz="1200" b="1"/>
              <a:t>, </a:t>
            </a:r>
            <a:r>
              <a:rPr lang="en-US" sz="1400" b="1"/>
              <a:t>jobId</a:t>
            </a:r>
            <a:r>
              <a:rPr lang="en-US" sz="1200" b="1"/>
              <a:t>, </a:t>
            </a:r>
            <a:r>
              <a:rPr lang="en-US" sz="1400" b="1"/>
              <a:t>Request_id</a:t>
            </a:r>
            <a:r>
              <a:rPr lang="en-US" sz="1600" b="1"/>
              <a:t>)</a:t>
            </a:r>
          </a:p>
          <a:p>
            <a:r>
              <a:rPr lang="en-US" sz="1600" b="1"/>
              <a:t>It returns the uploaded docs + required docs</a:t>
            </a:r>
          </a:p>
        </p:txBody>
      </p:sp>
    </p:spTree>
    <p:extLst>
      <p:ext uri="{BB962C8B-B14F-4D97-AF65-F5344CB8AC3E}">
        <p14:creationId xmlns:p14="http://schemas.microsoft.com/office/powerpoint/2010/main" val="540123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C270A8C-4A88-7C3A-C4FB-3CF19225BB96}"/>
              </a:ext>
            </a:extLst>
          </p:cNvPr>
          <p:cNvPicPr>
            <a:picLocks noGrp="1" noChangeAspect="1"/>
          </p:cNvPicPr>
          <p:nvPr>
            <p:ph idx="1"/>
          </p:nvPr>
        </p:nvPicPr>
        <p:blipFill>
          <a:blip r:embed="rId2"/>
          <a:stretch>
            <a:fillRect/>
          </a:stretch>
        </p:blipFill>
        <p:spPr>
          <a:xfrm>
            <a:off x="919184" y="983657"/>
            <a:ext cx="10403811" cy="552414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038068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5670F-345F-4FE8-D56B-2FB2D0C1503F}"/>
              </a:ext>
            </a:extLst>
          </p:cNvPr>
          <p:cNvSpPr>
            <a:spLocks noGrp="1"/>
          </p:cNvSpPr>
          <p:nvPr>
            <p:ph type="title"/>
          </p:nvPr>
        </p:nvSpPr>
        <p:spPr>
          <a:xfrm>
            <a:off x="209550" y="0"/>
            <a:ext cx="11982449" cy="504825"/>
          </a:xfrm>
        </p:spPr>
        <p:txBody>
          <a:bodyPr>
            <a:noAutofit/>
          </a:bodyPr>
          <a:lstStyle/>
          <a:p>
            <a:r>
              <a:rPr lang="en-US" sz="2800" b="1">
                <a:solidFill>
                  <a:srgbClr val="FFFF00"/>
                </a:solidFill>
              </a:rPr>
              <a:t>When Saving Request</a:t>
            </a:r>
            <a:r>
              <a:rPr lang="ar-EG" sz="2800" b="1">
                <a:solidFill>
                  <a:srgbClr val="FFFF00"/>
                </a:solidFill>
              </a:rPr>
              <a:t> </a:t>
            </a:r>
            <a:r>
              <a:rPr lang="en-US" sz="2800" b="1">
                <a:solidFill>
                  <a:srgbClr val="FFFF00"/>
                </a:solidFill>
              </a:rPr>
              <a:t>for the first time VIA LO [cont.10]</a:t>
            </a:r>
          </a:p>
        </p:txBody>
      </p:sp>
      <p:sp>
        <p:nvSpPr>
          <p:cNvPr id="3" name="Content Placeholder 2">
            <a:extLst>
              <a:ext uri="{FF2B5EF4-FFF2-40B4-BE49-F238E27FC236}">
                <a16:creationId xmlns:a16="http://schemas.microsoft.com/office/drawing/2014/main" id="{04796D8E-5438-9382-9910-FDC233CF0311}"/>
              </a:ext>
            </a:extLst>
          </p:cNvPr>
          <p:cNvSpPr>
            <a:spLocks noGrp="1"/>
          </p:cNvSpPr>
          <p:nvPr>
            <p:ph idx="1"/>
          </p:nvPr>
        </p:nvSpPr>
        <p:spPr>
          <a:xfrm>
            <a:off x="85726" y="504824"/>
            <a:ext cx="12106274" cy="6353175"/>
          </a:xfrm>
        </p:spPr>
        <p:txBody>
          <a:bodyPr/>
          <a:lstStyle/>
          <a:p>
            <a:r>
              <a:rPr lang="en-US" b="1"/>
              <a:t>Documents tab [ </a:t>
            </a:r>
            <a:r>
              <a:rPr lang="ar-EG" b="1"/>
              <a:t>المستندات</a:t>
            </a:r>
            <a:r>
              <a:rPr lang="en-US" b="1"/>
              <a:t> ]</a:t>
            </a:r>
            <a:endParaRPr lang="ar-EG" b="1"/>
          </a:p>
          <a:p>
            <a:endParaRPr lang="ar-EG" b="1"/>
          </a:p>
          <a:p>
            <a:endParaRPr lang="ar-EG" b="1"/>
          </a:p>
          <a:p>
            <a:pPr marL="36900" indent="0">
              <a:buNone/>
            </a:pPr>
            <a:endParaRPr lang="ar-EG" b="1"/>
          </a:p>
          <a:p>
            <a:r>
              <a:rPr lang="en-US">
                <a:effectLst/>
              </a:rPr>
              <a:t>After click on </a:t>
            </a:r>
            <a:r>
              <a:rPr lang="ar-EG">
                <a:effectLst/>
              </a:rPr>
              <a:t>تحميل ملف </a:t>
            </a:r>
            <a:r>
              <a:rPr lang="en-US">
                <a:effectLst/>
              </a:rPr>
              <a:t> </a:t>
            </a:r>
          </a:p>
          <a:p>
            <a:pPr lvl="1"/>
            <a:r>
              <a:rPr lang="en-US">
                <a:solidFill>
                  <a:srgbClr val="E98052"/>
                </a:solidFill>
                <a:effectLst/>
                <a:hlinkClick r:id="rId2">
                  <a:extLst>
                    <a:ext uri="{A12FA001-AC4F-418D-AE19-62706E023703}">
                      <ahyp:hlinkClr xmlns:ahyp="http://schemas.microsoft.com/office/drawing/2018/hyperlinkcolor" val="tx"/>
                    </a:ext>
                  </a:extLst>
                </a:hlinkClick>
              </a:rPr>
              <a:t>https://coretest-uploadfile.tamweely.local:4154//api/UploadFile/</a:t>
            </a:r>
            <a:r>
              <a:rPr lang="en-US" b="1">
                <a:solidFill>
                  <a:srgbClr val="FFFF00"/>
                </a:solidFill>
                <a:effectLst/>
                <a:hlinkClick r:id="rId2">
                  <a:extLst>
                    <a:ext uri="{A12FA001-AC4F-418D-AE19-62706E023703}">
                      <ahyp:hlinkClr xmlns:ahyp="http://schemas.microsoft.com/office/drawing/2018/hyperlinkcolor" val="tx"/>
                    </a:ext>
                  </a:extLst>
                </a:hlinkClick>
              </a:rPr>
              <a:t>UploadDocument</a:t>
            </a:r>
            <a:endParaRPr lang="en-US" b="1">
              <a:solidFill>
                <a:srgbClr val="FFFF00"/>
              </a:solidFill>
              <a:effectLst/>
            </a:endParaRPr>
          </a:p>
          <a:p>
            <a:pPr lvl="1"/>
            <a:r>
              <a:rPr lang="en-US" b="1">
                <a:solidFill>
                  <a:srgbClr val="FFC000"/>
                </a:solidFill>
                <a:effectLst/>
              </a:rPr>
              <a:t>The </a:t>
            </a:r>
            <a:r>
              <a:rPr lang="en-US"/>
              <a:t>response</a:t>
            </a:r>
            <a:r>
              <a:rPr lang="en-US" b="1">
                <a:solidFill>
                  <a:srgbClr val="FFC000"/>
                </a:solidFill>
                <a:effectLst/>
              </a:rPr>
              <a:t> </a:t>
            </a:r>
            <a:r>
              <a:rPr lang="en-US" b="1">
                <a:solidFill>
                  <a:schemeClr val="tx1"/>
                </a:solidFill>
              </a:rPr>
              <a:t>{   </a:t>
            </a:r>
          </a:p>
          <a:p>
            <a:pPr marL="756000" lvl="2" indent="0">
              <a:buNone/>
            </a:pPr>
            <a:r>
              <a:rPr lang="en-US" b="1">
                <a:solidFill>
                  <a:schemeClr val="tx1"/>
                </a:solidFill>
              </a:rPr>
              <a:t> "success": true,  </a:t>
            </a:r>
          </a:p>
          <a:p>
            <a:pPr marL="756000" lvl="2" indent="0">
              <a:buNone/>
            </a:pPr>
            <a:r>
              <a:rPr lang="en-US" b="1">
                <a:solidFill>
                  <a:schemeClr val="tx1"/>
                </a:solidFill>
              </a:rPr>
              <a:t>  "FileID": </a:t>
            </a:r>
            <a:r>
              <a:rPr lang="en-US" sz="1400" b="1">
                <a:solidFill>
                  <a:schemeClr val="tx1"/>
                </a:solidFill>
              </a:rPr>
              <a:t>[  "TmF0aW9uYWxfSWQxKGZkMWQzYTg4LThmMWQtNGMwNi1iMTMzLWRmZmMzMzA5YTcwNCkuanBn"    ]</a:t>
            </a:r>
          </a:p>
          <a:p>
            <a:pPr marL="756000" lvl="2" indent="0">
              <a:buNone/>
            </a:pPr>
            <a:r>
              <a:rPr lang="en-US" b="1">
                <a:solidFill>
                  <a:schemeClr val="tx1"/>
                </a:solidFill>
              </a:rPr>
              <a:t>}</a:t>
            </a:r>
            <a:endParaRPr lang="en-US" sz="1600" b="1"/>
          </a:p>
          <a:p>
            <a:endParaRPr lang="en-US" sz="1600" b="1"/>
          </a:p>
          <a:p>
            <a:pPr marL="36900" indent="0">
              <a:buNone/>
            </a:pPr>
            <a:endParaRPr lang="en-US" sz="1600" b="1"/>
          </a:p>
        </p:txBody>
      </p:sp>
      <p:pic>
        <p:nvPicPr>
          <p:cNvPr id="5" name="Picture 4">
            <a:extLst>
              <a:ext uri="{FF2B5EF4-FFF2-40B4-BE49-F238E27FC236}">
                <a16:creationId xmlns:a16="http://schemas.microsoft.com/office/drawing/2014/main" id="{540959A6-3BAE-9DDC-9F16-D6E31FCA4792}"/>
              </a:ext>
            </a:extLst>
          </p:cNvPr>
          <p:cNvPicPr>
            <a:picLocks noChangeAspect="1"/>
          </p:cNvPicPr>
          <p:nvPr/>
        </p:nvPicPr>
        <p:blipFill>
          <a:blip r:embed="rId3"/>
          <a:stretch>
            <a:fillRect/>
          </a:stretch>
        </p:blipFill>
        <p:spPr>
          <a:xfrm>
            <a:off x="443569" y="876301"/>
            <a:ext cx="6014381" cy="1349208"/>
          </a:xfrm>
          <a:prstGeom prst="rect">
            <a:avLst/>
          </a:prstGeom>
        </p:spPr>
      </p:pic>
    </p:spTree>
    <p:extLst>
      <p:ext uri="{BB962C8B-B14F-4D97-AF65-F5344CB8AC3E}">
        <p14:creationId xmlns:p14="http://schemas.microsoft.com/office/powerpoint/2010/main" val="3010344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D604E-1F68-0808-3438-481338B84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84B2C-9797-1BE5-5602-03E855790B26}"/>
              </a:ext>
            </a:extLst>
          </p:cNvPr>
          <p:cNvSpPr>
            <a:spLocks noGrp="1"/>
          </p:cNvSpPr>
          <p:nvPr>
            <p:ph type="title"/>
          </p:nvPr>
        </p:nvSpPr>
        <p:spPr>
          <a:xfrm>
            <a:off x="209550" y="0"/>
            <a:ext cx="11982449" cy="504825"/>
          </a:xfrm>
        </p:spPr>
        <p:txBody>
          <a:bodyPr>
            <a:noAutofit/>
          </a:bodyPr>
          <a:lstStyle/>
          <a:p>
            <a:r>
              <a:rPr lang="en-US" sz="2800" b="1">
                <a:solidFill>
                  <a:srgbClr val="FFFF00"/>
                </a:solidFill>
              </a:rPr>
              <a:t>When Saving Request</a:t>
            </a:r>
            <a:r>
              <a:rPr lang="ar-EG" sz="2800" b="1">
                <a:solidFill>
                  <a:srgbClr val="FFFF00"/>
                </a:solidFill>
              </a:rPr>
              <a:t> </a:t>
            </a:r>
            <a:r>
              <a:rPr lang="en-US" sz="2800" b="1">
                <a:solidFill>
                  <a:srgbClr val="FFFF00"/>
                </a:solidFill>
              </a:rPr>
              <a:t>for the first time VIA LO [cont.10]</a:t>
            </a:r>
          </a:p>
        </p:txBody>
      </p:sp>
      <p:sp>
        <p:nvSpPr>
          <p:cNvPr id="3" name="Content Placeholder 2">
            <a:extLst>
              <a:ext uri="{FF2B5EF4-FFF2-40B4-BE49-F238E27FC236}">
                <a16:creationId xmlns:a16="http://schemas.microsoft.com/office/drawing/2014/main" id="{F7537EEE-FC8E-7CCB-DDC1-672EA7C4A0A0}"/>
              </a:ext>
            </a:extLst>
          </p:cNvPr>
          <p:cNvSpPr>
            <a:spLocks noGrp="1"/>
          </p:cNvSpPr>
          <p:nvPr>
            <p:ph idx="1"/>
          </p:nvPr>
        </p:nvSpPr>
        <p:spPr>
          <a:xfrm>
            <a:off x="85726" y="504824"/>
            <a:ext cx="12106274" cy="6353175"/>
          </a:xfrm>
        </p:spPr>
        <p:txBody>
          <a:bodyPr/>
          <a:lstStyle/>
          <a:p>
            <a:r>
              <a:rPr lang="en-US" sz="2400" b="1">
                <a:solidFill>
                  <a:srgbClr val="FFC000"/>
                </a:solidFill>
              </a:rPr>
              <a:t>AT Documents tab [ </a:t>
            </a:r>
            <a:r>
              <a:rPr lang="ar-EG" sz="2400" b="1">
                <a:solidFill>
                  <a:srgbClr val="FFC000"/>
                </a:solidFill>
              </a:rPr>
              <a:t>المستندات</a:t>
            </a:r>
            <a:r>
              <a:rPr lang="en-US" sz="2400" b="1">
                <a:solidFill>
                  <a:srgbClr val="FFC000"/>
                </a:solidFill>
              </a:rPr>
              <a:t> ]</a:t>
            </a:r>
            <a:endParaRPr lang="ar-EG" sz="2400" b="1">
              <a:solidFill>
                <a:srgbClr val="FFC000"/>
              </a:solidFill>
            </a:endParaRPr>
          </a:p>
          <a:p>
            <a:pPr marL="415800" indent="-342900"/>
            <a:r>
              <a:rPr lang="en-US" b="1">
                <a:solidFill>
                  <a:schemeClr val="tx1"/>
                </a:solidFill>
              </a:rPr>
              <a:t>After click on </a:t>
            </a:r>
            <a:r>
              <a:rPr lang="ar-EG" b="1">
                <a:solidFill>
                  <a:schemeClr val="tx1"/>
                </a:solidFill>
              </a:rPr>
              <a:t>تعديل</a:t>
            </a:r>
            <a:endParaRPr lang="ar-EG" b="1">
              <a:solidFill>
                <a:srgbClr val="FFFF00"/>
              </a:solidFill>
            </a:endParaRPr>
          </a:p>
          <a:p>
            <a:pPr lvl="1"/>
            <a:r>
              <a:rPr lang="en-US" sz="1400" b="1"/>
              <a:t>Flow_Funding_requestService.</a:t>
            </a:r>
            <a:r>
              <a:rPr lang="en-US" sz="1400" b="1">
                <a:solidFill>
                  <a:srgbClr val="FFFF00"/>
                </a:solidFill>
              </a:rPr>
              <a:t>InsertDocument</a:t>
            </a:r>
            <a:r>
              <a:rPr lang="en-US" sz="1400" b="1"/>
              <a:t> (List&lt;documentsFiles&gt; filesupload, decimal id, List&lt;Flow_Download&gt; OldDocs)</a:t>
            </a:r>
          </a:p>
          <a:p>
            <a:pPr lvl="1"/>
            <a:r>
              <a:rPr lang="en-US" sz="1600" b="1">
                <a:solidFill>
                  <a:schemeClr val="tx1"/>
                </a:solidFill>
              </a:rPr>
              <a:t>The uploaded docs will be  saved  on </a:t>
            </a:r>
            <a:r>
              <a:rPr lang="en-US" sz="1600" b="1">
                <a:solidFill>
                  <a:srgbClr val="FF0000"/>
                </a:solidFill>
              </a:rPr>
              <a:t>TWF</a:t>
            </a:r>
            <a:r>
              <a:rPr lang="en-US" sz="1600" b="1">
                <a:solidFill>
                  <a:schemeClr val="tx1"/>
                </a:solidFill>
              </a:rPr>
              <a:t>.</a:t>
            </a:r>
            <a:r>
              <a:rPr lang="en-US" sz="1600" b="1">
                <a:solidFill>
                  <a:srgbClr val="FFFF00"/>
                </a:solidFill>
              </a:rPr>
              <a:t>TWF_Download table</a:t>
            </a:r>
            <a:endParaRPr lang="en-US" sz="1600" b="1"/>
          </a:p>
          <a:p>
            <a:pPr lvl="1"/>
            <a:endParaRPr lang="en-US" sz="1400" b="1"/>
          </a:p>
          <a:p>
            <a:pPr lvl="1"/>
            <a:endParaRPr lang="en-US" sz="1400" b="1"/>
          </a:p>
          <a:p>
            <a:endParaRPr lang="en-US" sz="1800" b="1"/>
          </a:p>
          <a:p>
            <a:r>
              <a:rPr lang="en-US" sz="1800" b="1"/>
              <a:t>Screen_name</a:t>
            </a:r>
          </a:p>
          <a:p>
            <a:pPr lvl="1"/>
            <a:r>
              <a:rPr lang="en-US" sz="1600" b="1"/>
              <a:t>DG444 : </a:t>
            </a:r>
            <a:r>
              <a:rPr lang="ar-EG" sz="1600" b="1"/>
              <a:t>مستندات الضامن </a:t>
            </a:r>
            <a:r>
              <a:rPr lang="en-US" sz="1600" b="1"/>
              <a:t>	 // Scr_DefCode from </a:t>
            </a:r>
            <a:r>
              <a:rPr lang="en-US" sz="1600" b="1">
                <a:solidFill>
                  <a:srgbClr val="FFC000"/>
                </a:solidFill>
              </a:rPr>
              <a:t>flow_tabs</a:t>
            </a:r>
          </a:p>
          <a:p>
            <a:pPr lvl="1"/>
            <a:r>
              <a:rPr lang="en-US" sz="1600" b="1"/>
              <a:t>DG333 : </a:t>
            </a:r>
            <a:r>
              <a:rPr lang="ar-EG" sz="1600" b="1"/>
              <a:t>مستندات العميل</a:t>
            </a:r>
            <a:r>
              <a:rPr lang="en-US" sz="1600" b="1"/>
              <a:t>     // Scr_DefCode from </a:t>
            </a:r>
            <a:r>
              <a:rPr lang="en-US" sz="1600" b="1">
                <a:solidFill>
                  <a:srgbClr val="FFC000"/>
                </a:solidFill>
              </a:rPr>
              <a:t>flow_tabs</a:t>
            </a:r>
            <a:endParaRPr lang="en-US" sz="1600" b="1"/>
          </a:p>
          <a:p>
            <a:r>
              <a:rPr lang="en-US" sz="1800" b="1"/>
              <a:t>Field_ID</a:t>
            </a:r>
          </a:p>
          <a:p>
            <a:pPr lvl="1"/>
            <a:r>
              <a:rPr lang="en-US" sz="1600" b="1"/>
              <a:t>1000 : </a:t>
            </a:r>
            <a:r>
              <a:rPr lang="ar-EG" sz="1600" b="1"/>
              <a:t>بطاقة الرقم القومي-ضامن </a:t>
            </a:r>
            <a:r>
              <a:rPr lang="en-US" sz="1600" b="1"/>
              <a:t>  // docId  From </a:t>
            </a:r>
            <a:r>
              <a:rPr lang="en-US" sz="1600" b="1">
                <a:solidFill>
                  <a:srgbClr val="FFC000"/>
                </a:solidFill>
              </a:rPr>
              <a:t>types_documents</a:t>
            </a:r>
            <a:r>
              <a:rPr lang="en-US" sz="1600" b="1"/>
              <a:t> </a:t>
            </a:r>
          </a:p>
          <a:p>
            <a:pPr lvl="1"/>
            <a:r>
              <a:rPr lang="en-US" sz="1600" b="1"/>
              <a:t>1       : </a:t>
            </a:r>
            <a:r>
              <a:rPr lang="ar-EG" sz="1600" b="1"/>
              <a:t>بطاقة الرقم القومى</a:t>
            </a:r>
            <a:r>
              <a:rPr lang="en-US" sz="1600" b="1"/>
              <a:t>		// docId from </a:t>
            </a:r>
            <a:r>
              <a:rPr lang="en-US" sz="1600" b="1">
                <a:solidFill>
                  <a:srgbClr val="FFC000"/>
                </a:solidFill>
              </a:rPr>
              <a:t>types_documents </a:t>
            </a:r>
          </a:p>
        </p:txBody>
      </p:sp>
      <p:pic>
        <p:nvPicPr>
          <p:cNvPr id="6" name="Picture 5">
            <a:extLst>
              <a:ext uri="{FF2B5EF4-FFF2-40B4-BE49-F238E27FC236}">
                <a16:creationId xmlns:a16="http://schemas.microsoft.com/office/drawing/2014/main" id="{1C099926-3DEA-8114-7388-6AABB12140C2}"/>
              </a:ext>
            </a:extLst>
          </p:cNvPr>
          <p:cNvPicPr>
            <a:picLocks noChangeAspect="1"/>
          </p:cNvPicPr>
          <p:nvPr/>
        </p:nvPicPr>
        <p:blipFill>
          <a:blip r:embed="rId2"/>
          <a:stretch>
            <a:fillRect/>
          </a:stretch>
        </p:blipFill>
        <p:spPr>
          <a:xfrm>
            <a:off x="209550" y="2280060"/>
            <a:ext cx="10012871" cy="653225"/>
          </a:xfrm>
          <a:prstGeom prst="rect">
            <a:avLst/>
          </a:prstGeom>
        </p:spPr>
      </p:pic>
    </p:spTree>
    <p:extLst>
      <p:ext uri="{BB962C8B-B14F-4D97-AF65-F5344CB8AC3E}">
        <p14:creationId xmlns:p14="http://schemas.microsoft.com/office/powerpoint/2010/main" val="818641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CC46B-DEF5-4455-CE0D-CBA5022A1FFD}"/>
              </a:ext>
            </a:extLst>
          </p:cNvPr>
          <p:cNvSpPr>
            <a:spLocks noGrp="1"/>
          </p:cNvSpPr>
          <p:nvPr>
            <p:ph type="title"/>
          </p:nvPr>
        </p:nvSpPr>
        <p:spPr>
          <a:xfrm>
            <a:off x="0" y="1"/>
            <a:ext cx="12192000" cy="584200"/>
          </a:xfrm>
        </p:spPr>
        <p:txBody>
          <a:bodyPr>
            <a:normAutofit fontScale="90000"/>
          </a:bodyPr>
          <a:lstStyle/>
          <a:p>
            <a:r>
              <a:rPr lang="en-US" sz="3600" b="1"/>
              <a:t>The uploaded files in this stage</a:t>
            </a:r>
          </a:p>
        </p:txBody>
      </p:sp>
      <p:pic>
        <p:nvPicPr>
          <p:cNvPr id="5" name="Content Placeholder 4">
            <a:extLst>
              <a:ext uri="{FF2B5EF4-FFF2-40B4-BE49-F238E27FC236}">
                <a16:creationId xmlns:a16="http://schemas.microsoft.com/office/drawing/2014/main" id="{D76CF295-7C23-9ED2-EAC9-6B9550CB4AB7}"/>
              </a:ext>
            </a:extLst>
          </p:cNvPr>
          <p:cNvPicPr>
            <a:picLocks noGrp="1" noChangeAspect="1"/>
          </p:cNvPicPr>
          <p:nvPr>
            <p:ph idx="1"/>
          </p:nvPr>
        </p:nvPicPr>
        <p:blipFill>
          <a:blip r:embed="rId2"/>
          <a:stretch>
            <a:fillRect/>
          </a:stretch>
        </p:blipFill>
        <p:spPr>
          <a:xfrm>
            <a:off x="1034509" y="584201"/>
            <a:ext cx="8771460" cy="105833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2303037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22B82-19C2-AF50-6606-C2065C475936}"/>
              </a:ext>
            </a:extLst>
          </p:cNvPr>
          <p:cNvSpPr>
            <a:spLocks noGrp="1"/>
          </p:cNvSpPr>
          <p:nvPr>
            <p:ph type="title"/>
          </p:nvPr>
        </p:nvSpPr>
        <p:spPr>
          <a:xfrm>
            <a:off x="-5324" y="0"/>
            <a:ext cx="12192000" cy="552450"/>
          </a:xfrm>
        </p:spPr>
        <p:txBody>
          <a:bodyPr>
            <a:normAutofit fontScale="90000"/>
          </a:bodyPr>
          <a:lstStyle/>
          <a:p>
            <a:r>
              <a:rPr lang="en-US" sz="3200" b="1">
                <a:solidFill>
                  <a:srgbClr val="FF0000"/>
                </a:solidFill>
              </a:rPr>
              <a:t>When Saving Request</a:t>
            </a:r>
            <a:r>
              <a:rPr lang="ar-EG" sz="3200" b="1">
                <a:solidFill>
                  <a:srgbClr val="FF0000"/>
                </a:solidFill>
              </a:rPr>
              <a:t> </a:t>
            </a:r>
            <a:r>
              <a:rPr lang="en-US" sz="3200" b="1">
                <a:solidFill>
                  <a:srgbClr val="FF0000"/>
                </a:solidFill>
              </a:rPr>
              <a:t>for the first time VIA LO [cont.9]</a:t>
            </a:r>
            <a:endParaRPr lang="en-US" sz="3200"/>
          </a:p>
        </p:txBody>
      </p:sp>
      <p:sp>
        <p:nvSpPr>
          <p:cNvPr id="3" name="Content Placeholder 2">
            <a:extLst>
              <a:ext uri="{FF2B5EF4-FFF2-40B4-BE49-F238E27FC236}">
                <a16:creationId xmlns:a16="http://schemas.microsoft.com/office/drawing/2014/main" id="{48D177F6-EE9F-EF64-46F3-5458301A62F0}"/>
              </a:ext>
            </a:extLst>
          </p:cNvPr>
          <p:cNvSpPr>
            <a:spLocks noGrp="1"/>
          </p:cNvSpPr>
          <p:nvPr>
            <p:ph idx="1"/>
          </p:nvPr>
        </p:nvSpPr>
        <p:spPr>
          <a:xfrm>
            <a:off x="85726" y="552451"/>
            <a:ext cx="12001500" cy="6048374"/>
          </a:xfrm>
        </p:spPr>
        <p:txBody>
          <a:bodyPr>
            <a:normAutofit/>
          </a:bodyPr>
          <a:lstStyle/>
          <a:p>
            <a:r>
              <a:rPr lang="en-US" sz="2600" b="1"/>
              <a:t>TWF.Flow_Customers</a:t>
            </a:r>
          </a:p>
          <a:p>
            <a:pPr lvl="1"/>
            <a:r>
              <a:rPr lang="en-US" sz="2000" b="1"/>
              <a:t>Csutomer fields are filled</a:t>
            </a:r>
          </a:p>
          <a:p>
            <a:pPr lvl="1"/>
            <a:endParaRPr lang="en-US" sz="2000" b="1"/>
          </a:p>
        </p:txBody>
      </p:sp>
    </p:spTree>
    <p:extLst>
      <p:ext uri="{BB962C8B-B14F-4D97-AF65-F5344CB8AC3E}">
        <p14:creationId xmlns:p14="http://schemas.microsoft.com/office/powerpoint/2010/main" val="2093535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6A4B-45E8-E054-30AA-41B509625B82}"/>
              </a:ext>
            </a:extLst>
          </p:cNvPr>
          <p:cNvSpPr>
            <a:spLocks noGrp="1"/>
          </p:cNvSpPr>
          <p:nvPr>
            <p:ph type="title"/>
          </p:nvPr>
        </p:nvSpPr>
        <p:spPr>
          <a:xfrm>
            <a:off x="0" y="0"/>
            <a:ext cx="12191999" cy="970450"/>
          </a:xfrm>
        </p:spPr>
        <p:txBody>
          <a:bodyPr>
            <a:normAutofit fontScale="90000"/>
          </a:bodyPr>
          <a:lstStyle/>
          <a:p>
            <a:r>
              <a:rPr lang="en-US" b="1">
                <a:solidFill>
                  <a:srgbClr val="FF0000"/>
                </a:solidFill>
              </a:rPr>
              <a:t>When Saving Request</a:t>
            </a:r>
            <a:r>
              <a:rPr lang="ar-EG" b="1">
                <a:solidFill>
                  <a:srgbClr val="FF0000"/>
                </a:solidFill>
              </a:rPr>
              <a:t> </a:t>
            </a:r>
            <a:r>
              <a:rPr lang="en-US" b="1">
                <a:solidFill>
                  <a:srgbClr val="FF0000"/>
                </a:solidFill>
              </a:rPr>
              <a:t>for the first time VIA LO [cont.9]</a:t>
            </a:r>
            <a:endParaRPr lang="en-US"/>
          </a:p>
        </p:txBody>
      </p:sp>
      <p:sp>
        <p:nvSpPr>
          <p:cNvPr id="3" name="Content Placeholder 2">
            <a:extLst>
              <a:ext uri="{FF2B5EF4-FFF2-40B4-BE49-F238E27FC236}">
                <a16:creationId xmlns:a16="http://schemas.microsoft.com/office/drawing/2014/main" id="{CDA55EBE-A62D-458B-C36F-98673DF15EAF}"/>
              </a:ext>
            </a:extLst>
          </p:cNvPr>
          <p:cNvSpPr>
            <a:spLocks noGrp="1"/>
          </p:cNvSpPr>
          <p:nvPr>
            <p:ph idx="1"/>
          </p:nvPr>
        </p:nvSpPr>
        <p:spPr>
          <a:xfrm>
            <a:off x="419100" y="970451"/>
            <a:ext cx="11477625" cy="5382724"/>
          </a:xfrm>
        </p:spPr>
        <p:txBody>
          <a:bodyPr/>
          <a:lstStyle/>
          <a:p>
            <a:r>
              <a:rPr lang="en-US" b="1">
                <a:solidFill>
                  <a:srgbClr val="FFFF00"/>
                </a:solidFill>
              </a:rPr>
              <a:t>TWF</a:t>
            </a:r>
            <a:r>
              <a:rPr lang="en-US"/>
              <a:t>.</a:t>
            </a:r>
            <a:r>
              <a:rPr lang="en-US" b="1">
                <a:solidFill>
                  <a:srgbClr val="00B0F0"/>
                </a:solidFill>
              </a:rPr>
              <a:t>Flow_Funding_Guaranter</a:t>
            </a:r>
          </a:p>
          <a:p>
            <a:pPr lvl="1"/>
            <a:r>
              <a:rPr lang="en-US" b="1"/>
              <a:t>requestId : from request</a:t>
            </a:r>
          </a:p>
          <a:p>
            <a:pPr lvl="1"/>
            <a:r>
              <a:rPr lang="en-US" b="1"/>
              <a:t>guarantorId : from Flow_Customer</a:t>
            </a:r>
          </a:p>
          <a:p>
            <a:endParaRPr lang="en-US" b="1"/>
          </a:p>
          <a:p>
            <a:endParaRPr lang="en-US" b="1"/>
          </a:p>
          <a:p>
            <a:endParaRPr lang="en-US" b="1"/>
          </a:p>
          <a:p>
            <a:endParaRPr lang="en-US" b="1"/>
          </a:p>
        </p:txBody>
      </p:sp>
    </p:spTree>
    <p:extLst>
      <p:ext uri="{BB962C8B-B14F-4D97-AF65-F5344CB8AC3E}">
        <p14:creationId xmlns:p14="http://schemas.microsoft.com/office/powerpoint/2010/main" val="963250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D6253-F525-76C3-5D24-33CE0FAA73CD}"/>
              </a:ext>
            </a:extLst>
          </p:cNvPr>
          <p:cNvSpPr>
            <a:spLocks noGrp="1"/>
          </p:cNvSpPr>
          <p:nvPr>
            <p:ph type="title"/>
          </p:nvPr>
        </p:nvSpPr>
        <p:spPr>
          <a:xfrm>
            <a:off x="913795" y="0"/>
            <a:ext cx="10353762" cy="601133"/>
          </a:xfrm>
        </p:spPr>
        <p:txBody>
          <a:bodyPr>
            <a:normAutofit fontScale="90000"/>
          </a:bodyPr>
          <a:lstStyle/>
          <a:p>
            <a:r>
              <a:rPr lang="en-US"/>
              <a:t>After LO </a:t>
            </a:r>
            <a:r>
              <a:rPr lang="ar-EG"/>
              <a:t>حفظ وإرسال</a:t>
            </a:r>
            <a:endParaRPr lang="en-US"/>
          </a:p>
        </p:txBody>
      </p:sp>
      <p:sp>
        <p:nvSpPr>
          <p:cNvPr id="3" name="Content Placeholder 2">
            <a:extLst>
              <a:ext uri="{FF2B5EF4-FFF2-40B4-BE49-F238E27FC236}">
                <a16:creationId xmlns:a16="http://schemas.microsoft.com/office/drawing/2014/main" id="{06923255-3289-6E8E-D7D0-D69DA289740C}"/>
              </a:ext>
            </a:extLst>
          </p:cNvPr>
          <p:cNvSpPr>
            <a:spLocks noGrp="1"/>
          </p:cNvSpPr>
          <p:nvPr>
            <p:ph idx="1"/>
          </p:nvPr>
        </p:nvSpPr>
        <p:spPr>
          <a:xfrm>
            <a:off x="203200" y="601132"/>
            <a:ext cx="11895667" cy="6142567"/>
          </a:xfrm>
        </p:spPr>
        <p:txBody>
          <a:bodyPr>
            <a:normAutofit/>
          </a:bodyPr>
          <a:lstStyle/>
          <a:p>
            <a:r>
              <a:rPr lang="en-US" b="1">
                <a:solidFill>
                  <a:srgbClr val="FFFF00"/>
                </a:solidFill>
              </a:rPr>
              <a:t>The Funding_request</a:t>
            </a:r>
          </a:p>
          <a:p>
            <a:pPr lvl="1"/>
            <a:r>
              <a:rPr lang="en-US"/>
              <a:t>Status_code:  from </a:t>
            </a:r>
            <a:r>
              <a:rPr lang="en-US" b="1">
                <a:solidFill>
                  <a:srgbClr val="FFC000"/>
                </a:solidFill>
              </a:rPr>
              <a:t>0</a:t>
            </a:r>
            <a:r>
              <a:rPr lang="en-US"/>
              <a:t> [at LO] to </a:t>
            </a:r>
            <a:r>
              <a:rPr lang="en-US" b="1">
                <a:solidFill>
                  <a:srgbClr val="FFC000"/>
                </a:solidFill>
              </a:rPr>
              <a:t>56</a:t>
            </a:r>
            <a:r>
              <a:rPr lang="en-US"/>
              <a:t> // deported to CO</a:t>
            </a:r>
          </a:p>
          <a:p>
            <a:r>
              <a:rPr lang="en-US" b="1">
                <a:solidFill>
                  <a:srgbClr val="FFFF00"/>
                </a:solidFill>
              </a:rPr>
              <a:t>Request_Deportation</a:t>
            </a:r>
          </a:p>
          <a:p>
            <a:pPr lvl="1"/>
            <a:r>
              <a:rPr lang="en-US" b="1"/>
              <a:t>UserId_to = 5642    // from LO UserId to CO UserId</a:t>
            </a:r>
          </a:p>
          <a:p>
            <a:pPr lvl="1"/>
            <a:r>
              <a:rPr lang="en-US" b="1"/>
              <a:t>Name_step_to:	from</a:t>
            </a:r>
            <a:r>
              <a:rPr lang="ar-EG" b="1"/>
              <a:t> </a:t>
            </a:r>
            <a:r>
              <a:rPr lang="ar-EG" b="1">
                <a:solidFill>
                  <a:srgbClr val="FFC000"/>
                </a:solidFill>
              </a:rPr>
              <a:t>طلب تمويل</a:t>
            </a:r>
            <a:r>
              <a:rPr lang="ar-EG" b="1"/>
              <a:t> </a:t>
            </a:r>
            <a:r>
              <a:rPr lang="en-US" b="1"/>
              <a:t> TO</a:t>
            </a:r>
            <a:r>
              <a:rPr lang="ar-EG" b="1"/>
              <a:t> </a:t>
            </a:r>
            <a:r>
              <a:rPr lang="en-US" b="1"/>
              <a:t> </a:t>
            </a:r>
            <a:r>
              <a:rPr lang="ar-EG" b="1">
                <a:solidFill>
                  <a:srgbClr val="FFC000"/>
                </a:solidFill>
              </a:rPr>
              <a:t>مراجعة أولية</a:t>
            </a:r>
            <a:endParaRPr lang="en-US" b="1">
              <a:solidFill>
                <a:srgbClr val="FFC000"/>
              </a:solidFill>
            </a:endParaRPr>
          </a:p>
          <a:p>
            <a:pPr lvl="1"/>
            <a:r>
              <a:rPr lang="en-US" b="1"/>
              <a:t>Code_action (from: Flow_Actions): </a:t>
            </a:r>
            <a:r>
              <a:rPr lang="en-US" sz="2000" b="1"/>
              <a:t>from </a:t>
            </a:r>
            <a:r>
              <a:rPr lang="en-US" sz="2000" b="1">
                <a:solidFill>
                  <a:srgbClr val="FFC000"/>
                </a:solidFill>
              </a:rPr>
              <a:t>null</a:t>
            </a:r>
            <a:r>
              <a:rPr lang="en-US" sz="2000" b="1"/>
              <a:t> to </a:t>
            </a:r>
            <a:r>
              <a:rPr lang="en-US" sz="2000" b="1">
                <a:solidFill>
                  <a:srgbClr val="FFC000"/>
                </a:solidFill>
              </a:rPr>
              <a:t>1</a:t>
            </a:r>
            <a:r>
              <a:rPr lang="en-US" sz="2000" b="1"/>
              <a:t> </a:t>
            </a:r>
            <a:endParaRPr lang="en-US" b="1"/>
          </a:p>
          <a:p>
            <a:pPr lvl="1"/>
            <a:r>
              <a:rPr lang="en-US" b="1"/>
              <a:t>Status_one: from </a:t>
            </a:r>
            <a:r>
              <a:rPr lang="en-US" b="1">
                <a:solidFill>
                  <a:srgbClr val="FFFF00"/>
                </a:solidFill>
              </a:rPr>
              <a:t>Inprocess</a:t>
            </a:r>
            <a:r>
              <a:rPr lang="en-US" b="1"/>
              <a:t> to  </a:t>
            </a:r>
            <a:r>
              <a:rPr lang="en-US" b="1">
                <a:solidFill>
                  <a:srgbClr val="FFC000"/>
                </a:solidFill>
              </a:rPr>
              <a:t>Approved</a:t>
            </a:r>
            <a:r>
              <a:rPr lang="en-US" b="1"/>
              <a:t>  --- means the Name_step_from  : </a:t>
            </a:r>
            <a:r>
              <a:rPr lang="ar-EG" b="1"/>
              <a:t>طلب تمويل</a:t>
            </a:r>
            <a:r>
              <a:rPr lang="en-US" b="1"/>
              <a:t> is approved</a:t>
            </a:r>
          </a:p>
          <a:p>
            <a:pPr lvl="1"/>
            <a:r>
              <a:rPr lang="en-US" b="1"/>
              <a:t>Status_two: from </a:t>
            </a:r>
            <a:r>
              <a:rPr lang="en-US" b="1">
                <a:solidFill>
                  <a:srgbClr val="FFFF00"/>
                </a:solidFill>
              </a:rPr>
              <a:t>R111</a:t>
            </a:r>
            <a:r>
              <a:rPr lang="en-US" b="1"/>
              <a:t> to  </a:t>
            </a:r>
            <a:r>
              <a:rPr lang="en-US" b="1">
                <a:solidFill>
                  <a:srgbClr val="FFFF00"/>
                </a:solidFill>
              </a:rPr>
              <a:t>CO1010 (</a:t>
            </a:r>
            <a:r>
              <a:rPr lang="ar-EG" b="1">
                <a:solidFill>
                  <a:srgbClr val="FFFF00"/>
                </a:solidFill>
              </a:rPr>
              <a:t>مراجعة اولية</a:t>
            </a:r>
            <a:r>
              <a:rPr lang="en-US" b="1">
                <a:solidFill>
                  <a:srgbClr val="FFFF00"/>
                </a:solidFill>
              </a:rPr>
              <a:t>) -- </a:t>
            </a:r>
            <a:r>
              <a:rPr lang="ar-EG" b="1">
                <a:solidFill>
                  <a:srgbClr val="FFFF00"/>
                </a:solidFill>
              </a:rPr>
              <a:t>المرحلة الحالية</a:t>
            </a:r>
            <a:endParaRPr lang="en-US" b="1">
              <a:solidFill>
                <a:srgbClr val="FFFF00"/>
              </a:solidFill>
            </a:endParaRPr>
          </a:p>
          <a:p>
            <a:pPr lvl="1"/>
            <a:r>
              <a:rPr lang="en-US" b="1"/>
              <a:t>Date_Assigned: from </a:t>
            </a:r>
            <a:r>
              <a:rPr lang="en-US" b="1">
                <a:solidFill>
                  <a:srgbClr val="FFFF00"/>
                </a:solidFill>
              </a:rPr>
              <a:t>NULL</a:t>
            </a:r>
            <a:r>
              <a:rPr lang="en-US" b="1"/>
              <a:t> to </a:t>
            </a:r>
            <a:r>
              <a:rPr lang="en-US" b="1">
                <a:solidFill>
                  <a:srgbClr val="FFC000"/>
                </a:solidFill>
              </a:rPr>
              <a:t>current datetime</a:t>
            </a:r>
          </a:p>
          <a:p>
            <a:r>
              <a:rPr lang="en-US" b="1">
                <a:solidFill>
                  <a:srgbClr val="FFFF00"/>
                </a:solidFill>
              </a:rPr>
              <a:t>Requests_Log</a:t>
            </a:r>
          </a:p>
          <a:p>
            <a:endParaRPr lang="en-US"/>
          </a:p>
          <a:p>
            <a:pPr lvl="1"/>
            <a:endParaRPr lang="en-US" b="1"/>
          </a:p>
          <a:p>
            <a:pPr lvl="1"/>
            <a:r>
              <a:rPr lang="en-US" b="1"/>
              <a:t>Action_Flag : at first row from NULL to 5 [ </a:t>
            </a:r>
            <a:r>
              <a:rPr lang="ar-EG" b="1"/>
              <a:t>حفظ وإرسال</a:t>
            </a:r>
            <a:r>
              <a:rPr lang="en-US" b="1"/>
              <a:t> ]</a:t>
            </a:r>
          </a:p>
          <a:p>
            <a:pPr lvl="1"/>
            <a:r>
              <a:rPr lang="en-US" b="1"/>
              <a:t>Another record is added with UserId of CO</a:t>
            </a:r>
          </a:p>
        </p:txBody>
      </p:sp>
      <p:pic>
        <p:nvPicPr>
          <p:cNvPr id="5" name="Picture 4">
            <a:extLst>
              <a:ext uri="{FF2B5EF4-FFF2-40B4-BE49-F238E27FC236}">
                <a16:creationId xmlns:a16="http://schemas.microsoft.com/office/drawing/2014/main" id="{DFAD650E-9FED-64E5-83DC-37AED2A121DC}"/>
              </a:ext>
            </a:extLst>
          </p:cNvPr>
          <p:cNvPicPr>
            <a:picLocks noChangeAspect="1"/>
          </p:cNvPicPr>
          <p:nvPr/>
        </p:nvPicPr>
        <p:blipFill>
          <a:blip r:embed="rId2"/>
          <a:stretch>
            <a:fillRect/>
          </a:stretch>
        </p:blipFill>
        <p:spPr>
          <a:xfrm>
            <a:off x="913795" y="4850108"/>
            <a:ext cx="9097862" cy="769642"/>
          </a:xfrm>
          <a:prstGeom prst="rect">
            <a:avLst/>
          </a:prstGeom>
        </p:spPr>
      </p:pic>
    </p:spTree>
    <p:extLst>
      <p:ext uri="{BB962C8B-B14F-4D97-AF65-F5344CB8AC3E}">
        <p14:creationId xmlns:p14="http://schemas.microsoft.com/office/powerpoint/2010/main" val="29247041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8DED3-07BA-BECA-F8FF-ECBBE0C54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D3EC3-DE1F-12C6-50CC-07453929124E}"/>
              </a:ext>
            </a:extLst>
          </p:cNvPr>
          <p:cNvSpPr>
            <a:spLocks noGrp="1"/>
          </p:cNvSpPr>
          <p:nvPr>
            <p:ph type="title"/>
          </p:nvPr>
        </p:nvSpPr>
        <p:spPr>
          <a:xfrm>
            <a:off x="1031782" y="2458550"/>
            <a:ext cx="10353762" cy="970450"/>
          </a:xfrm>
        </p:spPr>
        <p:txBody>
          <a:bodyPr>
            <a:normAutofit/>
          </a:bodyPr>
          <a:lstStyle/>
          <a:p>
            <a:r>
              <a:rPr lang="en-US" sz="4400" b="1">
                <a:solidFill>
                  <a:srgbClr val="FF0000"/>
                </a:solidFill>
              </a:rPr>
              <a:t>End Funding Request (R111)</a:t>
            </a:r>
          </a:p>
        </p:txBody>
      </p:sp>
    </p:spTree>
    <p:extLst>
      <p:ext uri="{BB962C8B-B14F-4D97-AF65-F5344CB8AC3E}">
        <p14:creationId xmlns:p14="http://schemas.microsoft.com/office/powerpoint/2010/main" val="30330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F341B-E257-736A-69A6-9CAC11F89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F745D-A560-F65F-FFDC-8C72CAD6CD3F}"/>
              </a:ext>
            </a:extLst>
          </p:cNvPr>
          <p:cNvSpPr>
            <a:spLocks noGrp="1"/>
          </p:cNvSpPr>
          <p:nvPr>
            <p:ph type="title"/>
          </p:nvPr>
        </p:nvSpPr>
        <p:spPr>
          <a:xfrm>
            <a:off x="457200" y="2458550"/>
            <a:ext cx="11210925" cy="970450"/>
          </a:xfrm>
        </p:spPr>
        <p:txBody>
          <a:bodyPr>
            <a:normAutofit/>
          </a:bodyPr>
          <a:lstStyle/>
          <a:p>
            <a:r>
              <a:rPr lang="en-US" sz="4400" b="1">
                <a:solidFill>
                  <a:srgbClr val="FF0000"/>
                </a:solidFill>
              </a:rPr>
              <a:t>Start Initial Review </a:t>
            </a:r>
            <a:r>
              <a:rPr lang="ar-EG" sz="4400" b="1">
                <a:solidFill>
                  <a:srgbClr val="FF0000"/>
                </a:solidFill>
              </a:rPr>
              <a:t>مراجعة أولية</a:t>
            </a:r>
            <a:r>
              <a:rPr lang="en-US" sz="4400" b="1">
                <a:solidFill>
                  <a:srgbClr val="FF0000"/>
                </a:solidFill>
              </a:rPr>
              <a:t> (CO1010)</a:t>
            </a:r>
          </a:p>
        </p:txBody>
      </p:sp>
    </p:spTree>
    <p:extLst>
      <p:ext uri="{BB962C8B-B14F-4D97-AF65-F5344CB8AC3E}">
        <p14:creationId xmlns:p14="http://schemas.microsoft.com/office/powerpoint/2010/main" val="3185877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BB91-98CE-6A6A-A990-7656F7DC21F9}"/>
              </a:ext>
            </a:extLst>
          </p:cNvPr>
          <p:cNvSpPr>
            <a:spLocks noGrp="1"/>
          </p:cNvSpPr>
          <p:nvPr>
            <p:ph type="title"/>
          </p:nvPr>
        </p:nvSpPr>
        <p:spPr>
          <a:xfrm>
            <a:off x="913795" y="0"/>
            <a:ext cx="10353762" cy="497150"/>
          </a:xfrm>
        </p:spPr>
        <p:txBody>
          <a:bodyPr>
            <a:normAutofit fontScale="90000"/>
          </a:bodyPr>
          <a:lstStyle/>
          <a:p>
            <a:r>
              <a:rPr lang="en-US" b="1"/>
              <a:t>When CO Opens Funding Request</a:t>
            </a:r>
          </a:p>
        </p:txBody>
      </p:sp>
      <p:sp>
        <p:nvSpPr>
          <p:cNvPr id="3" name="Content Placeholder 2">
            <a:extLst>
              <a:ext uri="{FF2B5EF4-FFF2-40B4-BE49-F238E27FC236}">
                <a16:creationId xmlns:a16="http://schemas.microsoft.com/office/drawing/2014/main" id="{D9EE0995-A5DD-AC4E-353E-B1364B70A2EF}"/>
              </a:ext>
            </a:extLst>
          </p:cNvPr>
          <p:cNvSpPr>
            <a:spLocks noGrp="1"/>
          </p:cNvSpPr>
          <p:nvPr>
            <p:ph idx="1"/>
          </p:nvPr>
        </p:nvSpPr>
        <p:spPr>
          <a:xfrm>
            <a:off x="147484" y="497151"/>
            <a:ext cx="11838039" cy="6257610"/>
          </a:xfrm>
        </p:spPr>
        <p:txBody>
          <a:bodyPr/>
          <a:lstStyle/>
          <a:p>
            <a:endParaRPr lang="en-US"/>
          </a:p>
          <a:p>
            <a:r>
              <a:rPr lang="en-US"/>
              <a:t>Flow_Funding_dataController/GetOne</a:t>
            </a:r>
          </a:p>
          <a:p>
            <a:pPr lvl="1"/>
            <a:r>
              <a:rPr lang="en-US"/>
              <a:t>Flow_Funding_dataService. GetOne</a:t>
            </a:r>
          </a:p>
          <a:p>
            <a:endParaRPr lang="en-US"/>
          </a:p>
        </p:txBody>
      </p:sp>
    </p:spTree>
    <p:extLst>
      <p:ext uri="{BB962C8B-B14F-4D97-AF65-F5344CB8AC3E}">
        <p14:creationId xmlns:p14="http://schemas.microsoft.com/office/powerpoint/2010/main" val="3256329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90605-7D5A-E861-FE0C-BEEBF65E4208}"/>
              </a:ext>
            </a:extLst>
          </p:cNvPr>
          <p:cNvSpPr>
            <a:spLocks noGrp="1"/>
          </p:cNvSpPr>
          <p:nvPr>
            <p:ph type="title"/>
          </p:nvPr>
        </p:nvSpPr>
        <p:spPr>
          <a:xfrm>
            <a:off x="913795" y="1"/>
            <a:ext cx="10353762" cy="462116"/>
          </a:xfrm>
        </p:spPr>
        <p:txBody>
          <a:bodyPr>
            <a:normAutofit fontScale="90000"/>
          </a:bodyPr>
          <a:lstStyle/>
          <a:p>
            <a:r>
              <a:rPr lang="en-US" b="1"/>
              <a:t>When CO click on tab </a:t>
            </a:r>
            <a:r>
              <a:rPr lang="ar-EG" b="1"/>
              <a:t>مراجعة المسئول الأول</a:t>
            </a:r>
            <a:endParaRPr lang="en-US" b="1"/>
          </a:p>
        </p:txBody>
      </p:sp>
      <p:sp>
        <p:nvSpPr>
          <p:cNvPr id="3" name="Content Placeholder 2">
            <a:extLst>
              <a:ext uri="{FF2B5EF4-FFF2-40B4-BE49-F238E27FC236}">
                <a16:creationId xmlns:a16="http://schemas.microsoft.com/office/drawing/2014/main" id="{43A62BFF-3B5F-763E-6A94-66AC171FCDEB}"/>
              </a:ext>
            </a:extLst>
          </p:cNvPr>
          <p:cNvSpPr>
            <a:spLocks noGrp="1"/>
          </p:cNvSpPr>
          <p:nvPr>
            <p:ph idx="1"/>
          </p:nvPr>
        </p:nvSpPr>
        <p:spPr>
          <a:xfrm>
            <a:off x="88490" y="702732"/>
            <a:ext cx="11975691" cy="6061861"/>
          </a:xfrm>
        </p:spPr>
        <p:txBody>
          <a:bodyPr/>
          <a:lstStyle/>
          <a:p>
            <a:r>
              <a:rPr lang="en-US" sz="1800" b="1"/>
              <a:t>Flow_Funding_dataController/PageLoad/{</a:t>
            </a:r>
            <a:r>
              <a:rPr lang="en-US" sz="1800" b="1">
                <a:solidFill>
                  <a:srgbClr val="FFFF00"/>
                </a:solidFill>
              </a:rPr>
              <a:t>Request_id</a:t>
            </a:r>
            <a:r>
              <a:rPr lang="en-US" sz="1800" b="1"/>
              <a:t>}/{</a:t>
            </a:r>
            <a:r>
              <a:rPr lang="en-US" sz="1800" b="1">
                <a:solidFill>
                  <a:srgbClr val="FFFF00"/>
                </a:solidFill>
              </a:rPr>
              <a:t>Scr_DefCode</a:t>
            </a:r>
            <a:r>
              <a:rPr lang="en-US" sz="1800" b="1"/>
              <a:t>}</a:t>
            </a:r>
            <a:endParaRPr lang="ar-EG" sz="1800" b="1"/>
          </a:p>
          <a:p>
            <a:pPr lvl="1"/>
            <a:r>
              <a:rPr lang="en-US" b="1">
                <a:solidFill>
                  <a:srgbClr val="FFFF00"/>
                </a:solidFill>
              </a:rPr>
              <a:t>PageLoadVM Flow_Funding_dataService</a:t>
            </a:r>
            <a:r>
              <a:rPr lang="en-US"/>
              <a:t>.</a:t>
            </a:r>
            <a:r>
              <a:rPr lang="en-US" b="1">
                <a:solidFill>
                  <a:srgbClr val="00B0F0"/>
                </a:solidFill>
              </a:rPr>
              <a:t>PageLoad</a:t>
            </a:r>
            <a:r>
              <a:rPr lang="en-US" b="1"/>
              <a:t>(reqID, Scr_DefCode);</a:t>
            </a:r>
            <a:r>
              <a:rPr lang="ar-EG" b="1"/>
              <a:t> </a:t>
            </a:r>
          </a:p>
          <a:p>
            <a:pPr lvl="2"/>
            <a:r>
              <a:rPr lang="en-US" b="1"/>
              <a:t>Scr_DefCode = CO1010</a:t>
            </a:r>
            <a:endParaRPr lang="en-US"/>
          </a:p>
          <a:p>
            <a:pPr lvl="2"/>
            <a:r>
              <a:rPr lang="en-US" b="1">
                <a:solidFill>
                  <a:srgbClr val="FFFF00"/>
                </a:solidFill>
              </a:rPr>
              <a:t>PageLoadVM.</a:t>
            </a:r>
            <a:r>
              <a:rPr lang="en-US"/>
              <a:t>Tabs </a:t>
            </a:r>
          </a:p>
          <a:p>
            <a:pPr lvl="3"/>
            <a:r>
              <a:rPr lang="en-US" b="1"/>
              <a:t>GetOnlyThisTabs =  { "R111", "C333", "G444", "E555", "D222", "DC333", "DG444", "DE555" };</a:t>
            </a:r>
          </a:p>
          <a:p>
            <a:pPr lvl="3"/>
            <a:r>
              <a:rPr lang="en-US" b="1"/>
              <a:t>PreviousStepsForThisRequest = </a:t>
            </a:r>
            <a:r>
              <a:rPr lang="en-US" sz="1350" b="1"/>
              <a:t>from _</a:t>
            </a:r>
            <a:r>
              <a:rPr lang="en-US" sz="1350" b="1">
                <a:solidFill>
                  <a:srgbClr val="FFFF00"/>
                </a:solidFill>
              </a:rPr>
              <a:t>RequestLog get distict </a:t>
            </a:r>
            <a:r>
              <a:rPr lang="en-US" sz="1350" b="1"/>
              <a:t>Definition_number of the request and add then into GetOnlyThisTabs</a:t>
            </a:r>
            <a:endParaRPr lang="ar-EG" sz="1350" b="1"/>
          </a:p>
          <a:p>
            <a:r>
              <a:rPr lang="en-US"/>
              <a:t>When you select from select input </a:t>
            </a:r>
            <a:r>
              <a:rPr lang="ar-EG"/>
              <a:t>اختر الشاشة</a:t>
            </a:r>
            <a:endParaRPr lang="en-US"/>
          </a:p>
          <a:p>
            <a:pPr lvl="1"/>
            <a:r>
              <a:rPr lang="en-US" b="1">
                <a:solidFill>
                  <a:srgbClr val="FFFF00"/>
                </a:solidFill>
                <a:effectLst/>
              </a:rPr>
              <a:t>Flow_Link_Screen_componentsController</a:t>
            </a:r>
            <a:r>
              <a:rPr lang="en-US" b="1">
                <a:effectLst/>
              </a:rPr>
              <a:t>/GetFields</a:t>
            </a:r>
            <a:r>
              <a:rPr lang="en-US" b="1"/>
              <a:t>/{tabs_code}</a:t>
            </a:r>
          </a:p>
          <a:p>
            <a:pPr lvl="2"/>
            <a:r>
              <a:rPr lang="en-US" b="1">
                <a:solidFill>
                  <a:srgbClr val="00B0F0"/>
                </a:solidFill>
              </a:rPr>
              <a:t>IQueryable&lt;Flow_Screen_components&gt;</a:t>
            </a:r>
            <a:r>
              <a:rPr lang="en-US"/>
              <a:t> </a:t>
            </a:r>
            <a:r>
              <a:rPr lang="en-US" b="1"/>
              <a:t>Flow_Link_Screen_componentsService.GetFields()</a:t>
            </a:r>
            <a:endParaRPr lang="ar-EG" b="1"/>
          </a:p>
          <a:p>
            <a:endParaRPr lang="ar-EG" b="1"/>
          </a:p>
        </p:txBody>
      </p:sp>
    </p:spTree>
    <p:extLst>
      <p:ext uri="{BB962C8B-B14F-4D97-AF65-F5344CB8AC3E}">
        <p14:creationId xmlns:p14="http://schemas.microsoft.com/office/powerpoint/2010/main" val="3323580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6CFAF-AE31-355A-6EA3-FA0EC95AA236}"/>
              </a:ext>
            </a:extLst>
          </p:cNvPr>
          <p:cNvSpPr>
            <a:spLocks noGrp="1"/>
          </p:cNvSpPr>
          <p:nvPr>
            <p:ph type="title"/>
          </p:nvPr>
        </p:nvSpPr>
        <p:spPr>
          <a:xfrm>
            <a:off x="913795" y="0"/>
            <a:ext cx="10353762" cy="970450"/>
          </a:xfrm>
        </p:spPr>
        <p:txBody>
          <a:bodyPr/>
          <a:lstStyle/>
          <a:p>
            <a:r>
              <a:rPr lang="en-US" b="1"/>
              <a:t>When CO click on tab </a:t>
            </a:r>
            <a:r>
              <a:rPr lang="ar-EG" b="1"/>
              <a:t>المستندات</a:t>
            </a:r>
            <a:endParaRPr lang="en-US"/>
          </a:p>
        </p:txBody>
      </p:sp>
      <p:sp>
        <p:nvSpPr>
          <p:cNvPr id="3" name="Content Placeholder 2">
            <a:extLst>
              <a:ext uri="{FF2B5EF4-FFF2-40B4-BE49-F238E27FC236}">
                <a16:creationId xmlns:a16="http://schemas.microsoft.com/office/drawing/2014/main" id="{94CA1D14-49F2-BCD2-A368-E7289CD48278}"/>
              </a:ext>
            </a:extLst>
          </p:cNvPr>
          <p:cNvSpPr>
            <a:spLocks noGrp="1"/>
          </p:cNvSpPr>
          <p:nvPr>
            <p:ph idx="1"/>
          </p:nvPr>
        </p:nvSpPr>
        <p:spPr>
          <a:xfrm>
            <a:off x="142874" y="970450"/>
            <a:ext cx="11953875" cy="5754199"/>
          </a:xfrm>
        </p:spPr>
        <p:txBody>
          <a:bodyPr/>
          <a:lstStyle/>
          <a:p>
            <a:r>
              <a:rPr lang="en-US"/>
              <a:t>Flow_DownloadController/</a:t>
            </a:r>
            <a:r>
              <a:rPr lang="en-US" b="1">
                <a:solidFill>
                  <a:srgbClr val="FFFF00"/>
                </a:solidFill>
              </a:rPr>
              <a:t>GetAllDownloadDocumentsFunding</a:t>
            </a:r>
            <a:r>
              <a:rPr lang="en-US"/>
              <a:t>/{Request_id}</a:t>
            </a:r>
          </a:p>
          <a:p>
            <a:pPr lvl="1"/>
            <a:r>
              <a:rPr lang="en-US" b="1">
                <a:solidFill>
                  <a:srgbClr val="FFFF00"/>
                </a:solidFill>
              </a:rPr>
              <a:t>Flow_DownloadService</a:t>
            </a:r>
            <a:r>
              <a:rPr lang="en-US"/>
              <a:t>. </a:t>
            </a:r>
            <a:r>
              <a:rPr lang="en-US" b="1">
                <a:solidFill>
                  <a:srgbClr val="00B0F0"/>
                </a:solidFill>
              </a:rPr>
              <a:t>GetAllDownloadDocumentsFunding</a:t>
            </a:r>
            <a:r>
              <a:rPr lang="en-US"/>
              <a:t>( </a:t>
            </a:r>
            <a:r>
              <a:rPr lang="en-US" b="1"/>
              <a:t>Request_id </a:t>
            </a:r>
            <a:r>
              <a:rPr lang="en-US"/>
              <a:t>)</a:t>
            </a:r>
          </a:p>
          <a:p>
            <a:endParaRPr lang="en-US"/>
          </a:p>
          <a:p>
            <a:endParaRPr lang="en-US"/>
          </a:p>
          <a:p>
            <a:endParaRPr lang="en-US"/>
          </a:p>
          <a:p>
            <a:endParaRPr lang="en-US"/>
          </a:p>
        </p:txBody>
      </p:sp>
      <p:pic>
        <p:nvPicPr>
          <p:cNvPr id="5" name="Picture 4">
            <a:extLst>
              <a:ext uri="{FF2B5EF4-FFF2-40B4-BE49-F238E27FC236}">
                <a16:creationId xmlns:a16="http://schemas.microsoft.com/office/drawing/2014/main" id="{733157A1-8258-F50D-333D-4BD9DC6987F0}"/>
              </a:ext>
            </a:extLst>
          </p:cNvPr>
          <p:cNvPicPr>
            <a:picLocks noChangeAspect="1"/>
          </p:cNvPicPr>
          <p:nvPr/>
        </p:nvPicPr>
        <p:blipFill>
          <a:blip r:embed="rId2"/>
          <a:stretch>
            <a:fillRect/>
          </a:stretch>
        </p:blipFill>
        <p:spPr>
          <a:xfrm>
            <a:off x="353977" y="1940900"/>
            <a:ext cx="8131245" cy="1813717"/>
          </a:xfrm>
          <a:prstGeom prst="rect">
            <a:avLst/>
          </a:prstGeom>
        </p:spPr>
      </p:pic>
      <p:pic>
        <p:nvPicPr>
          <p:cNvPr id="7" name="Picture 6">
            <a:extLst>
              <a:ext uri="{FF2B5EF4-FFF2-40B4-BE49-F238E27FC236}">
                <a16:creationId xmlns:a16="http://schemas.microsoft.com/office/drawing/2014/main" id="{D7221DAF-456A-1D3F-2AA3-60C8526510B1}"/>
              </a:ext>
            </a:extLst>
          </p:cNvPr>
          <p:cNvPicPr>
            <a:picLocks noChangeAspect="1"/>
          </p:cNvPicPr>
          <p:nvPr/>
        </p:nvPicPr>
        <p:blipFill>
          <a:blip r:embed="rId3"/>
          <a:stretch>
            <a:fillRect/>
          </a:stretch>
        </p:blipFill>
        <p:spPr>
          <a:xfrm>
            <a:off x="353977" y="3847549"/>
            <a:ext cx="8131245" cy="1524132"/>
          </a:xfrm>
          <a:prstGeom prst="rect">
            <a:avLst/>
          </a:prstGeom>
        </p:spPr>
      </p:pic>
    </p:spTree>
    <p:extLst>
      <p:ext uri="{BB962C8B-B14F-4D97-AF65-F5344CB8AC3E}">
        <p14:creationId xmlns:p14="http://schemas.microsoft.com/office/powerpoint/2010/main" val="7705147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A0FF-B4D8-69AA-F196-F0B4ADE51C93}"/>
              </a:ext>
            </a:extLst>
          </p:cNvPr>
          <p:cNvSpPr>
            <a:spLocks noGrp="1"/>
          </p:cNvSpPr>
          <p:nvPr>
            <p:ph type="title"/>
          </p:nvPr>
        </p:nvSpPr>
        <p:spPr>
          <a:xfrm>
            <a:off x="913795" y="0"/>
            <a:ext cx="10353762" cy="643467"/>
          </a:xfrm>
        </p:spPr>
        <p:txBody>
          <a:bodyPr>
            <a:normAutofit fontScale="90000"/>
          </a:bodyPr>
          <a:lstStyle/>
          <a:p>
            <a:r>
              <a:rPr lang="en-US"/>
              <a:t>When CO click on </a:t>
            </a:r>
            <a:r>
              <a:rPr lang="ar-EG"/>
              <a:t>أسباب الرفض</a:t>
            </a:r>
            <a:r>
              <a:rPr lang="en-US"/>
              <a:t> </a:t>
            </a:r>
          </a:p>
        </p:txBody>
      </p:sp>
      <p:sp>
        <p:nvSpPr>
          <p:cNvPr id="3" name="Content Placeholder 2">
            <a:extLst>
              <a:ext uri="{FF2B5EF4-FFF2-40B4-BE49-F238E27FC236}">
                <a16:creationId xmlns:a16="http://schemas.microsoft.com/office/drawing/2014/main" id="{F39ECB69-2E62-1D39-9EFD-A0C2C61AA525}"/>
              </a:ext>
            </a:extLst>
          </p:cNvPr>
          <p:cNvSpPr>
            <a:spLocks noGrp="1"/>
          </p:cNvSpPr>
          <p:nvPr>
            <p:ph idx="1"/>
          </p:nvPr>
        </p:nvSpPr>
        <p:spPr>
          <a:xfrm>
            <a:off x="118532" y="643467"/>
            <a:ext cx="11997267" cy="6155266"/>
          </a:xfrm>
        </p:spPr>
        <p:txBody>
          <a:bodyPr>
            <a:normAutofit/>
          </a:bodyPr>
          <a:lstStyle/>
          <a:p>
            <a:r>
              <a:rPr lang="en-US" sz="1400" b="1">
                <a:solidFill>
                  <a:srgbClr val="00B0F0"/>
                </a:solidFill>
              </a:rPr>
              <a:t>Flow_Rejections_mainController</a:t>
            </a:r>
            <a:r>
              <a:rPr lang="en-US" sz="1400"/>
              <a:t>/</a:t>
            </a:r>
            <a:r>
              <a:rPr lang="en-US" sz="1400" b="1">
                <a:solidFill>
                  <a:srgbClr val="FFFF00"/>
                </a:solidFill>
              </a:rPr>
              <a:t>GetAllReasonsRejectionByRequest_id</a:t>
            </a:r>
            <a:r>
              <a:rPr lang="en-US" sz="1400" b="1"/>
              <a:t>/{Request_id}</a:t>
            </a:r>
          </a:p>
          <a:p>
            <a:pPr lvl="1"/>
            <a:r>
              <a:rPr lang="en-US" sz="1400" b="1">
                <a:solidFill>
                  <a:srgbClr val="FFC000"/>
                </a:solidFill>
              </a:rPr>
              <a:t>IQueryable&lt;Flow_Rejections_mainFieldVM&gt; </a:t>
            </a:r>
            <a:r>
              <a:rPr lang="en-US" sz="1400" b="1">
                <a:solidFill>
                  <a:srgbClr val="00B050"/>
                </a:solidFill>
              </a:rPr>
              <a:t>Flow_Rejections_mainService</a:t>
            </a:r>
            <a:r>
              <a:rPr lang="en-US" sz="1400" b="1"/>
              <a:t>.</a:t>
            </a:r>
            <a:r>
              <a:rPr lang="en-US" sz="1400" b="1">
                <a:solidFill>
                  <a:srgbClr val="00B0F0"/>
                </a:solidFill>
              </a:rPr>
              <a:t>GetAllReasonsRejectionByRequest_id</a:t>
            </a:r>
            <a:r>
              <a:rPr lang="en-US" sz="1400" b="1"/>
              <a:t> ( Request_id )</a:t>
            </a:r>
          </a:p>
          <a:p>
            <a:endParaRPr lang="en-US" sz="1800" b="1"/>
          </a:p>
          <a:p>
            <a:endParaRPr lang="en-US" sz="1800" b="1"/>
          </a:p>
          <a:p>
            <a:endParaRPr lang="en-US" sz="1800" b="1"/>
          </a:p>
          <a:p>
            <a:endParaRPr lang="en-US" sz="1800" b="1"/>
          </a:p>
        </p:txBody>
      </p:sp>
      <p:pic>
        <p:nvPicPr>
          <p:cNvPr id="5" name="Picture 4">
            <a:extLst>
              <a:ext uri="{FF2B5EF4-FFF2-40B4-BE49-F238E27FC236}">
                <a16:creationId xmlns:a16="http://schemas.microsoft.com/office/drawing/2014/main" id="{B1FF9F35-A0E1-F95A-EBF3-A06247B0E78B}"/>
              </a:ext>
            </a:extLst>
          </p:cNvPr>
          <p:cNvPicPr>
            <a:picLocks noChangeAspect="1"/>
          </p:cNvPicPr>
          <p:nvPr/>
        </p:nvPicPr>
        <p:blipFill>
          <a:blip r:embed="rId2"/>
          <a:stretch>
            <a:fillRect/>
          </a:stretch>
        </p:blipFill>
        <p:spPr>
          <a:xfrm>
            <a:off x="632756" y="1594731"/>
            <a:ext cx="3168777" cy="3794302"/>
          </a:xfrm>
          <a:prstGeom prst="rect">
            <a:avLst/>
          </a:prstGeom>
        </p:spPr>
      </p:pic>
    </p:spTree>
    <p:extLst>
      <p:ext uri="{BB962C8B-B14F-4D97-AF65-F5344CB8AC3E}">
        <p14:creationId xmlns:p14="http://schemas.microsoft.com/office/powerpoint/2010/main" val="2748835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6EC0-8C73-9F7F-970D-B1055F11CF04}"/>
              </a:ext>
            </a:extLst>
          </p:cNvPr>
          <p:cNvSpPr>
            <a:spLocks noGrp="1"/>
          </p:cNvSpPr>
          <p:nvPr>
            <p:ph type="title"/>
          </p:nvPr>
        </p:nvSpPr>
        <p:spPr>
          <a:xfrm>
            <a:off x="913795" y="0"/>
            <a:ext cx="10353762" cy="657225"/>
          </a:xfrm>
        </p:spPr>
        <p:txBody>
          <a:bodyPr>
            <a:normAutofit fontScale="90000"/>
          </a:bodyPr>
          <a:lstStyle/>
          <a:p>
            <a:r>
              <a:rPr lang="en-US" b="1"/>
              <a:t>When CO at tab </a:t>
            </a:r>
            <a:r>
              <a:rPr lang="ar-EG" b="1"/>
              <a:t>مراجعة المسئول الأول</a:t>
            </a:r>
            <a:r>
              <a:rPr lang="en-US" b="1"/>
              <a:t> </a:t>
            </a:r>
          </a:p>
        </p:txBody>
      </p:sp>
      <p:sp>
        <p:nvSpPr>
          <p:cNvPr id="3" name="Content Placeholder 2">
            <a:extLst>
              <a:ext uri="{FF2B5EF4-FFF2-40B4-BE49-F238E27FC236}">
                <a16:creationId xmlns:a16="http://schemas.microsoft.com/office/drawing/2014/main" id="{57F0992C-AEE0-8787-657D-00DC1BD86218}"/>
              </a:ext>
            </a:extLst>
          </p:cNvPr>
          <p:cNvSpPr>
            <a:spLocks noGrp="1"/>
          </p:cNvSpPr>
          <p:nvPr>
            <p:ph idx="1"/>
          </p:nvPr>
        </p:nvSpPr>
        <p:spPr>
          <a:xfrm>
            <a:off x="190500" y="657225"/>
            <a:ext cx="11887200" cy="6086475"/>
          </a:xfrm>
        </p:spPr>
        <p:txBody>
          <a:bodyPr/>
          <a:lstStyle/>
          <a:p>
            <a:endParaRPr lang="en-US"/>
          </a:p>
          <a:p>
            <a:endParaRPr lang="en-US"/>
          </a:p>
          <a:p>
            <a:endParaRPr lang="en-US"/>
          </a:p>
          <a:p>
            <a:endParaRPr lang="en-US"/>
          </a:p>
          <a:p>
            <a:endParaRPr lang="en-US"/>
          </a:p>
          <a:p>
            <a:endParaRPr lang="en-US"/>
          </a:p>
          <a:p>
            <a:endParaRPr lang="en-US"/>
          </a:p>
          <a:p>
            <a:r>
              <a:rPr lang="en-US"/>
              <a:t>When click on </a:t>
            </a:r>
            <a:r>
              <a:rPr lang="ar-EG"/>
              <a:t>رفض الطلب</a:t>
            </a:r>
            <a:endParaRPr lang="en-US"/>
          </a:p>
          <a:p>
            <a:pPr lvl="1"/>
            <a:r>
              <a:rPr lang="en-US" b="1">
                <a:effectLst/>
              </a:rPr>
              <a:t>Flow_Funding_requestController/ExecuteFieldsRejected</a:t>
            </a:r>
          </a:p>
          <a:p>
            <a:pPr lvl="1"/>
            <a:r>
              <a:rPr lang="en-US" b="1">
                <a:solidFill>
                  <a:srgbClr val="00B0F0"/>
                </a:solidFill>
              </a:rPr>
              <a:t>DeportationVM</a:t>
            </a:r>
            <a:r>
              <a:rPr lang="en-US"/>
              <a:t> </a:t>
            </a:r>
            <a:r>
              <a:rPr lang="en-US" b="1"/>
              <a:t>ExecuteFieldsRejected ( </a:t>
            </a:r>
            <a:r>
              <a:rPr lang="en-US" b="1">
                <a:solidFill>
                  <a:srgbClr val="00B0F0"/>
                </a:solidFill>
              </a:rPr>
              <a:t>DeportationVM</a:t>
            </a:r>
            <a:r>
              <a:rPr lang="en-US" b="1"/>
              <a:t> entity )</a:t>
            </a:r>
          </a:p>
          <a:p>
            <a:pPr lvl="1"/>
            <a:endParaRPr lang="en-US" b="1"/>
          </a:p>
        </p:txBody>
      </p:sp>
      <p:pic>
        <p:nvPicPr>
          <p:cNvPr id="5" name="Picture 4">
            <a:extLst>
              <a:ext uri="{FF2B5EF4-FFF2-40B4-BE49-F238E27FC236}">
                <a16:creationId xmlns:a16="http://schemas.microsoft.com/office/drawing/2014/main" id="{AF6998D9-8F8A-50FA-E797-00370AA12D6B}"/>
              </a:ext>
            </a:extLst>
          </p:cNvPr>
          <p:cNvPicPr>
            <a:picLocks noChangeAspect="1"/>
          </p:cNvPicPr>
          <p:nvPr/>
        </p:nvPicPr>
        <p:blipFill>
          <a:blip r:embed="rId2"/>
          <a:stretch>
            <a:fillRect/>
          </a:stretch>
        </p:blipFill>
        <p:spPr>
          <a:xfrm>
            <a:off x="190500" y="870346"/>
            <a:ext cx="7559695" cy="2758679"/>
          </a:xfrm>
          <a:prstGeom prst="rect">
            <a:avLst/>
          </a:prstGeom>
        </p:spPr>
      </p:pic>
      <p:pic>
        <p:nvPicPr>
          <p:cNvPr id="7" name="Picture 6">
            <a:extLst>
              <a:ext uri="{FF2B5EF4-FFF2-40B4-BE49-F238E27FC236}">
                <a16:creationId xmlns:a16="http://schemas.microsoft.com/office/drawing/2014/main" id="{7E0F4122-76DD-77C0-AB7C-1011DCEADC66}"/>
              </a:ext>
            </a:extLst>
          </p:cNvPr>
          <p:cNvPicPr>
            <a:picLocks noChangeAspect="1"/>
          </p:cNvPicPr>
          <p:nvPr/>
        </p:nvPicPr>
        <p:blipFill>
          <a:blip r:embed="rId3"/>
          <a:stretch>
            <a:fillRect/>
          </a:stretch>
        </p:blipFill>
        <p:spPr>
          <a:xfrm>
            <a:off x="7843077" y="3700462"/>
            <a:ext cx="4158423" cy="2990893"/>
          </a:xfrm>
          <a:prstGeom prst="rect">
            <a:avLst/>
          </a:prstGeom>
        </p:spPr>
      </p:pic>
    </p:spTree>
    <p:extLst>
      <p:ext uri="{BB962C8B-B14F-4D97-AF65-F5344CB8AC3E}">
        <p14:creationId xmlns:p14="http://schemas.microsoft.com/office/powerpoint/2010/main" val="1764680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D51E6-84DA-A11C-7CA6-EFAA8318AE03}"/>
              </a:ext>
            </a:extLst>
          </p:cNvPr>
          <p:cNvSpPr>
            <a:spLocks noGrp="1"/>
          </p:cNvSpPr>
          <p:nvPr>
            <p:ph type="title"/>
          </p:nvPr>
        </p:nvSpPr>
        <p:spPr>
          <a:xfrm>
            <a:off x="919119" y="31242"/>
            <a:ext cx="10353762" cy="696891"/>
          </a:xfrm>
        </p:spPr>
        <p:txBody>
          <a:bodyPr>
            <a:normAutofit fontScale="90000"/>
          </a:bodyPr>
          <a:lstStyle/>
          <a:p>
            <a:r>
              <a:rPr lang="en-US" b="1"/>
              <a:t>When CO at tab </a:t>
            </a:r>
            <a:r>
              <a:rPr lang="ar-EG" b="1"/>
              <a:t>مراجعة المسئول الأول</a:t>
            </a:r>
            <a:r>
              <a:rPr lang="en-US" b="1"/>
              <a:t>  [ cont.]</a:t>
            </a:r>
          </a:p>
        </p:txBody>
      </p:sp>
      <p:sp>
        <p:nvSpPr>
          <p:cNvPr id="3" name="Content Placeholder 2">
            <a:extLst>
              <a:ext uri="{FF2B5EF4-FFF2-40B4-BE49-F238E27FC236}">
                <a16:creationId xmlns:a16="http://schemas.microsoft.com/office/drawing/2014/main" id="{226B7F0C-8BDF-D83C-0100-7A86ACE7A731}"/>
              </a:ext>
            </a:extLst>
          </p:cNvPr>
          <p:cNvSpPr>
            <a:spLocks noGrp="1"/>
          </p:cNvSpPr>
          <p:nvPr>
            <p:ph idx="1"/>
          </p:nvPr>
        </p:nvSpPr>
        <p:spPr>
          <a:xfrm>
            <a:off x="78926" y="728132"/>
            <a:ext cx="12113074" cy="5994401"/>
          </a:xfrm>
        </p:spPr>
        <p:txBody>
          <a:bodyPr>
            <a:normAutofit fontScale="92500" lnSpcReduction="20000"/>
          </a:bodyPr>
          <a:lstStyle/>
          <a:p>
            <a:r>
              <a:rPr lang="en-US" sz="2800" b="1">
                <a:solidFill>
                  <a:srgbClr val="FF0000"/>
                </a:solidFill>
              </a:rPr>
              <a:t>After request is rejected via CO </a:t>
            </a:r>
            <a:r>
              <a:rPr lang="ar-EG" sz="2800" b="1">
                <a:solidFill>
                  <a:srgbClr val="FF0000"/>
                </a:solidFill>
              </a:rPr>
              <a:t>رفض</a:t>
            </a:r>
            <a:endParaRPr lang="en-US" sz="2800" b="1">
              <a:solidFill>
                <a:srgbClr val="00B0F0"/>
              </a:solidFill>
            </a:endParaRPr>
          </a:p>
          <a:p>
            <a:r>
              <a:rPr lang="en-US" b="1">
                <a:solidFill>
                  <a:srgbClr val="FFFF00"/>
                </a:solidFill>
              </a:rPr>
              <a:t>TDWF</a:t>
            </a:r>
            <a:r>
              <a:rPr lang="en-US" b="1"/>
              <a:t>.</a:t>
            </a:r>
            <a:r>
              <a:rPr lang="en-US" b="1">
                <a:solidFill>
                  <a:srgbClr val="FFC000"/>
                </a:solidFill>
              </a:rPr>
              <a:t>Flow_Rejections_main</a:t>
            </a:r>
          </a:p>
          <a:p>
            <a:pPr lvl="1"/>
            <a:r>
              <a:rPr lang="en-US" b="1">
                <a:solidFill>
                  <a:srgbClr val="FFFF00"/>
                </a:solidFill>
              </a:rPr>
              <a:t>UserId</a:t>
            </a:r>
            <a:r>
              <a:rPr lang="en-US" b="1"/>
              <a:t>: the CO id who reject the request</a:t>
            </a:r>
          </a:p>
          <a:p>
            <a:pPr lvl="1"/>
            <a:r>
              <a:rPr lang="en-US" b="1">
                <a:solidFill>
                  <a:srgbClr val="FFFF00"/>
                </a:solidFill>
              </a:rPr>
              <a:t>Reject_by_phase</a:t>
            </a:r>
            <a:r>
              <a:rPr lang="en-US" b="1"/>
              <a:t>: CO1010 // The stage at which the request was rejected</a:t>
            </a:r>
            <a:endParaRPr lang="ar-EG" b="1"/>
          </a:p>
          <a:p>
            <a:pPr lvl="1"/>
            <a:r>
              <a:rPr lang="en-US" b="1">
                <a:solidFill>
                  <a:srgbClr val="FFFF00"/>
                </a:solidFill>
              </a:rPr>
              <a:t>RequestId</a:t>
            </a:r>
            <a:r>
              <a:rPr lang="en-US" b="1"/>
              <a:t>: the request </a:t>
            </a:r>
          </a:p>
          <a:p>
            <a:pPr lvl="1"/>
            <a:r>
              <a:rPr lang="en-US" b="1">
                <a:solidFill>
                  <a:srgbClr val="FFFF00"/>
                </a:solidFill>
              </a:rPr>
              <a:t>Remarks</a:t>
            </a:r>
            <a:r>
              <a:rPr lang="en-US" b="1"/>
              <a:t>: </a:t>
            </a:r>
            <a:r>
              <a:rPr lang="ar-EG" b="1"/>
              <a:t>تم الرفض من مرحلة المراجعة الأولية</a:t>
            </a:r>
            <a:endParaRPr lang="en-US" b="1"/>
          </a:p>
          <a:p>
            <a:pPr lvl="1"/>
            <a:r>
              <a:rPr lang="en-US" b="1">
                <a:solidFill>
                  <a:srgbClr val="FFFF00"/>
                </a:solidFill>
              </a:rPr>
              <a:t>InsertDate</a:t>
            </a:r>
            <a:r>
              <a:rPr lang="en-US" b="1"/>
              <a:t>: date</a:t>
            </a:r>
          </a:p>
          <a:p>
            <a:pPr lvl="1"/>
            <a:r>
              <a:rPr lang="en-US" b="1">
                <a:solidFill>
                  <a:srgbClr val="FFFF00"/>
                </a:solidFill>
              </a:rPr>
              <a:t>Rejection_flag</a:t>
            </a:r>
            <a:r>
              <a:rPr lang="en-US" b="1"/>
              <a:t>: 2 </a:t>
            </a:r>
          </a:p>
          <a:p>
            <a:r>
              <a:rPr lang="en-US" b="1">
                <a:solidFill>
                  <a:srgbClr val="FFFF00"/>
                </a:solidFill>
              </a:rPr>
              <a:t>TDWF</a:t>
            </a:r>
            <a:r>
              <a:rPr lang="en-US"/>
              <a:t>.</a:t>
            </a:r>
            <a:r>
              <a:rPr lang="en-US" sz="2200" b="1">
                <a:solidFill>
                  <a:srgbClr val="FFC000"/>
                </a:solidFill>
              </a:rPr>
              <a:t>Flow_Rejections_SubOne</a:t>
            </a:r>
          </a:p>
          <a:p>
            <a:pPr lvl="1"/>
            <a:r>
              <a:rPr lang="en-US" b="1">
                <a:solidFill>
                  <a:srgbClr val="FFFF00"/>
                </a:solidFill>
              </a:rPr>
              <a:t>FRSO_ID</a:t>
            </a:r>
            <a:r>
              <a:rPr lang="en-US"/>
              <a:t> </a:t>
            </a:r>
            <a:r>
              <a:rPr lang="en-US" b="1"/>
              <a:t>[PK]</a:t>
            </a:r>
          </a:p>
          <a:p>
            <a:pPr lvl="1"/>
            <a:r>
              <a:rPr lang="en-US" b="1">
                <a:solidFill>
                  <a:srgbClr val="FFFF00"/>
                </a:solidFill>
              </a:rPr>
              <a:t>tabs_code</a:t>
            </a:r>
            <a:r>
              <a:rPr lang="en-US" b="1"/>
              <a:t> [FK] </a:t>
            </a:r>
            <a:r>
              <a:rPr lang="en-US" b="1">
                <a:solidFill>
                  <a:srgbClr val="FFFF00"/>
                </a:solidFill>
              </a:rPr>
              <a:t>from Flow_Tabs</a:t>
            </a:r>
          </a:p>
          <a:p>
            <a:pPr lvl="1"/>
            <a:r>
              <a:rPr lang="en-US" b="1">
                <a:solidFill>
                  <a:srgbClr val="FFFF00"/>
                </a:solidFill>
              </a:rPr>
              <a:t>Field_name</a:t>
            </a:r>
          </a:p>
          <a:p>
            <a:pPr lvl="1"/>
            <a:r>
              <a:rPr lang="en-US" b="1">
                <a:solidFill>
                  <a:srgbClr val="FFFF00"/>
                </a:solidFill>
              </a:rPr>
              <a:t>Field_code</a:t>
            </a:r>
          </a:p>
          <a:p>
            <a:pPr lvl="1"/>
            <a:r>
              <a:rPr lang="en-US" b="1">
                <a:solidFill>
                  <a:srgbClr val="FFFF00"/>
                </a:solidFill>
              </a:rPr>
              <a:t>UserId</a:t>
            </a:r>
            <a:r>
              <a:rPr lang="en-US" b="1"/>
              <a:t>: LO User who will receive the rejection</a:t>
            </a:r>
          </a:p>
          <a:p>
            <a:pPr lvl="1"/>
            <a:r>
              <a:rPr lang="en-US" b="1">
                <a:solidFill>
                  <a:srgbClr val="FFFF00"/>
                </a:solidFill>
              </a:rPr>
              <a:t>Phase_back_to</a:t>
            </a:r>
            <a:r>
              <a:rPr lang="en-US" b="1"/>
              <a:t>: string </a:t>
            </a:r>
          </a:p>
          <a:p>
            <a:pPr lvl="1"/>
            <a:r>
              <a:rPr lang="en-US" b="1">
                <a:solidFill>
                  <a:srgbClr val="FFFF00"/>
                </a:solidFill>
              </a:rPr>
              <a:t>Comment</a:t>
            </a:r>
            <a:r>
              <a:rPr lang="en-US" b="1"/>
              <a:t>: string</a:t>
            </a:r>
          </a:p>
          <a:p>
            <a:pPr lvl="1"/>
            <a:r>
              <a:rPr lang="en-US" b="1">
                <a:solidFill>
                  <a:srgbClr val="00B0F0"/>
                </a:solidFill>
              </a:rPr>
              <a:t>FRM_ID</a:t>
            </a:r>
            <a:r>
              <a:rPr lang="en-US" b="1"/>
              <a:t> </a:t>
            </a:r>
            <a:r>
              <a:rPr lang="en-US" b="1">
                <a:solidFill>
                  <a:srgbClr val="FFFF00"/>
                </a:solidFill>
              </a:rPr>
              <a:t>[FK] from Flow_Rejection_Main</a:t>
            </a:r>
            <a:endParaRPr lang="en-US" b="1"/>
          </a:p>
          <a:p>
            <a:endParaRPr lang="en-US" b="1"/>
          </a:p>
        </p:txBody>
      </p:sp>
      <p:graphicFrame>
        <p:nvGraphicFramePr>
          <p:cNvPr id="4" name="Table 3">
            <a:extLst>
              <a:ext uri="{FF2B5EF4-FFF2-40B4-BE49-F238E27FC236}">
                <a16:creationId xmlns:a16="http://schemas.microsoft.com/office/drawing/2014/main" id="{D3D1A445-A00D-FB58-863B-86E29C7B9CD7}"/>
              </a:ext>
            </a:extLst>
          </p:cNvPr>
          <p:cNvGraphicFramePr>
            <a:graphicFrameLocks noGrp="1"/>
          </p:cNvGraphicFramePr>
          <p:nvPr>
            <p:extLst>
              <p:ext uri="{D42A27DB-BD31-4B8C-83A1-F6EECF244321}">
                <p14:modId xmlns:p14="http://schemas.microsoft.com/office/powerpoint/2010/main" val="2977439263"/>
              </p:ext>
            </p:extLst>
          </p:nvPr>
        </p:nvGraphicFramePr>
        <p:xfrm>
          <a:off x="5857875" y="2262293"/>
          <a:ext cx="6255199" cy="1463040"/>
        </p:xfrm>
        <a:graphic>
          <a:graphicData uri="http://schemas.openxmlformats.org/drawingml/2006/table">
            <a:tbl>
              <a:tblPr firstRow="1" bandRow="1">
                <a:tableStyleId>{5C22544A-7EE6-4342-B048-85BDC9FD1C3A}</a:tableStyleId>
              </a:tblPr>
              <a:tblGrid>
                <a:gridCol w="794687">
                  <a:extLst>
                    <a:ext uri="{9D8B030D-6E8A-4147-A177-3AD203B41FA5}">
                      <a16:colId xmlns:a16="http://schemas.microsoft.com/office/drawing/2014/main" val="953148366"/>
                    </a:ext>
                  </a:extLst>
                </a:gridCol>
                <a:gridCol w="5460512">
                  <a:extLst>
                    <a:ext uri="{9D8B030D-6E8A-4147-A177-3AD203B41FA5}">
                      <a16:colId xmlns:a16="http://schemas.microsoft.com/office/drawing/2014/main" val="1910439298"/>
                    </a:ext>
                  </a:extLst>
                </a:gridCol>
              </a:tblGrid>
              <a:tr h="330020">
                <a:tc gridSpan="2">
                  <a:txBody>
                    <a:bodyPr/>
                    <a:lstStyle/>
                    <a:p>
                      <a:pPr algn="ctr"/>
                      <a:r>
                        <a:rPr lang="en-US"/>
                        <a:t>Rejection_Flag</a:t>
                      </a:r>
                    </a:p>
                  </a:txBody>
                  <a:tcPr/>
                </a:tc>
                <a:tc hMerge="1">
                  <a:txBody>
                    <a:bodyPr/>
                    <a:lstStyle/>
                    <a:p>
                      <a:endParaRPr lang="en-US"/>
                    </a:p>
                  </a:txBody>
                  <a:tcPr/>
                </a:tc>
                <a:extLst>
                  <a:ext uri="{0D108BD9-81ED-4DB2-BD59-A6C34878D82A}">
                    <a16:rowId xmlns:a16="http://schemas.microsoft.com/office/drawing/2014/main" val="1543311661"/>
                  </a:ext>
                </a:extLst>
              </a:tr>
              <a:tr h="322951">
                <a:tc>
                  <a:txBody>
                    <a:bodyPr/>
                    <a:lstStyle/>
                    <a:p>
                      <a:r>
                        <a:rPr lang="en-US"/>
                        <a:t>1</a:t>
                      </a:r>
                    </a:p>
                  </a:txBody>
                  <a:tcPr/>
                </a:tc>
                <a:tc>
                  <a:txBody>
                    <a:bodyPr/>
                    <a:lstStyle/>
                    <a:p>
                      <a:r>
                        <a:rPr lang="ar-EG"/>
                        <a:t>رفض نهائي</a:t>
                      </a:r>
                      <a:endParaRPr lang="en-US"/>
                    </a:p>
                  </a:txBody>
                  <a:tcPr/>
                </a:tc>
                <a:extLst>
                  <a:ext uri="{0D108BD9-81ED-4DB2-BD59-A6C34878D82A}">
                    <a16:rowId xmlns:a16="http://schemas.microsoft.com/office/drawing/2014/main" val="3601044299"/>
                  </a:ext>
                </a:extLst>
              </a:tr>
              <a:tr h="322951">
                <a:tc>
                  <a:txBody>
                    <a:bodyPr/>
                    <a:lstStyle/>
                    <a:p>
                      <a:r>
                        <a:rPr lang="ar-EG"/>
                        <a:t>2</a:t>
                      </a:r>
                      <a:endParaRPr lang="en-US"/>
                    </a:p>
                  </a:txBody>
                  <a:tcPr/>
                </a:tc>
                <a:tc>
                  <a:txBody>
                    <a:bodyPr/>
                    <a:lstStyle/>
                    <a:p>
                      <a:r>
                        <a:rPr lang="ar-EG"/>
                        <a:t>رفض حقول من مراجعة أولية أو من مراجعة مركزية</a:t>
                      </a:r>
                      <a:endParaRPr lang="en-US"/>
                    </a:p>
                  </a:txBody>
                  <a:tcPr/>
                </a:tc>
                <a:extLst>
                  <a:ext uri="{0D108BD9-81ED-4DB2-BD59-A6C34878D82A}">
                    <a16:rowId xmlns:a16="http://schemas.microsoft.com/office/drawing/2014/main" val="2503362686"/>
                  </a:ext>
                </a:extLst>
              </a:tr>
              <a:tr h="322951">
                <a:tc>
                  <a:txBody>
                    <a:bodyPr/>
                    <a:lstStyle/>
                    <a:p>
                      <a:r>
                        <a:rPr lang="ar-EG"/>
                        <a:t>3</a:t>
                      </a:r>
                      <a:endParaRPr lang="en-US"/>
                    </a:p>
                  </a:txBody>
                  <a:tcPr/>
                </a:tc>
                <a:tc>
                  <a:txBody>
                    <a:bodyPr/>
                    <a:lstStyle/>
                    <a:p>
                      <a:r>
                        <a:rPr lang="ar-EG"/>
                        <a:t>رفض عادي كتابة سبب فقط</a:t>
                      </a:r>
                      <a:endParaRPr lang="en-US"/>
                    </a:p>
                  </a:txBody>
                  <a:tcPr/>
                </a:tc>
                <a:extLst>
                  <a:ext uri="{0D108BD9-81ED-4DB2-BD59-A6C34878D82A}">
                    <a16:rowId xmlns:a16="http://schemas.microsoft.com/office/drawing/2014/main" val="650885445"/>
                  </a:ext>
                </a:extLst>
              </a:tr>
            </a:tbl>
          </a:graphicData>
        </a:graphic>
      </p:graphicFrame>
      <p:pic>
        <p:nvPicPr>
          <p:cNvPr id="6" name="Picture 5">
            <a:extLst>
              <a:ext uri="{FF2B5EF4-FFF2-40B4-BE49-F238E27FC236}">
                <a16:creationId xmlns:a16="http://schemas.microsoft.com/office/drawing/2014/main" id="{E2734B91-4B27-4585-74E9-2E4BCAB5C100}"/>
              </a:ext>
            </a:extLst>
          </p:cNvPr>
          <p:cNvPicPr>
            <a:picLocks noChangeAspect="1"/>
          </p:cNvPicPr>
          <p:nvPr/>
        </p:nvPicPr>
        <p:blipFill>
          <a:blip r:embed="rId2"/>
          <a:stretch>
            <a:fillRect/>
          </a:stretch>
        </p:blipFill>
        <p:spPr>
          <a:xfrm>
            <a:off x="5857875" y="3881150"/>
            <a:ext cx="6255199" cy="744570"/>
          </a:xfrm>
          <a:prstGeom prst="rect">
            <a:avLst/>
          </a:prstGeom>
        </p:spPr>
      </p:pic>
    </p:spTree>
    <p:extLst>
      <p:ext uri="{BB962C8B-B14F-4D97-AF65-F5344CB8AC3E}">
        <p14:creationId xmlns:p14="http://schemas.microsoft.com/office/powerpoint/2010/main" val="1647375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4C9A5-ACA6-3F62-0E99-3199FEA9FE32}"/>
              </a:ext>
            </a:extLst>
          </p:cNvPr>
          <p:cNvSpPr>
            <a:spLocks noGrp="1"/>
          </p:cNvSpPr>
          <p:nvPr>
            <p:ph type="title"/>
          </p:nvPr>
        </p:nvSpPr>
        <p:spPr>
          <a:xfrm>
            <a:off x="161925" y="0"/>
            <a:ext cx="11811000" cy="714375"/>
          </a:xfrm>
        </p:spPr>
        <p:txBody>
          <a:bodyPr/>
          <a:lstStyle/>
          <a:p>
            <a:r>
              <a:rPr lang="en-US" b="1"/>
              <a:t>When CO at tab </a:t>
            </a:r>
            <a:r>
              <a:rPr lang="ar-EG" b="1"/>
              <a:t>مراجعة المسئول الأول</a:t>
            </a:r>
            <a:r>
              <a:rPr lang="en-US" b="1"/>
              <a:t>  [ cont.2]</a:t>
            </a:r>
            <a:endParaRPr lang="en-US"/>
          </a:p>
        </p:txBody>
      </p:sp>
      <p:sp>
        <p:nvSpPr>
          <p:cNvPr id="3" name="Content Placeholder 2">
            <a:extLst>
              <a:ext uri="{FF2B5EF4-FFF2-40B4-BE49-F238E27FC236}">
                <a16:creationId xmlns:a16="http://schemas.microsoft.com/office/drawing/2014/main" id="{0389F2EF-209D-DE21-1689-60751F70E51B}"/>
              </a:ext>
            </a:extLst>
          </p:cNvPr>
          <p:cNvSpPr>
            <a:spLocks noGrp="1"/>
          </p:cNvSpPr>
          <p:nvPr>
            <p:ph idx="1"/>
          </p:nvPr>
        </p:nvSpPr>
        <p:spPr>
          <a:xfrm>
            <a:off x="161924" y="714374"/>
            <a:ext cx="12030075" cy="6143625"/>
          </a:xfrm>
        </p:spPr>
        <p:txBody>
          <a:bodyPr/>
          <a:lstStyle/>
          <a:p>
            <a:r>
              <a:rPr lang="en-US" b="1">
                <a:solidFill>
                  <a:srgbClr val="FF0000"/>
                </a:solidFill>
              </a:rPr>
              <a:t>After request is rejected via CO </a:t>
            </a:r>
            <a:r>
              <a:rPr lang="ar-EG" b="1">
                <a:solidFill>
                  <a:srgbClr val="FF0000"/>
                </a:solidFill>
              </a:rPr>
              <a:t>رفض</a:t>
            </a:r>
            <a:endParaRPr lang="en-US" b="1">
              <a:solidFill>
                <a:srgbClr val="FF0000"/>
              </a:solidFill>
            </a:endParaRPr>
          </a:p>
          <a:p>
            <a:r>
              <a:rPr lang="en-US" b="1">
                <a:solidFill>
                  <a:srgbClr val="FF0000"/>
                </a:solidFill>
              </a:rPr>
              <a:t>Flow_Request</a:t>
            </a:r>
          </a:p>
          <a:p>
            <a:pPr lvl="1"/>
            <a:r>
              <a:rPr lang="en-US" sz="1600" b="1">
                <a:solidFill>
                  <a:srgbClr val="FFFF00"/>
                </a:solidFill>
              </a:rPr>
              <a:t>Status_code</a:t>
            </a:r>
            <a:r>
              <a:rPr lang="en-US" sz="1600" b="1">
                <a:solidFill>
                  <a:srgbClr val="FF0000"/>
                </a:solidFill>
              </a:rPr>
              <a:t>:</a:t>
            </a:r>
            <a:r>
              <a:rPr lang="en-US" b="1">
                <a:solidFill>
                  <a:srgbClr val="FF0000"/>
                </a:solidFill>
              </a:rPr>
              <a:t> 56 why it means it still deported at CO but it </a:t>
            </a:r>
          </a:p>
          <a:p>
            <a:r>
              <a:rPr lang="en-US" b="1">
                <a:solidFill>
                  <a:srgbClr val="FFC000"/>
                </a:solidFill>
              </a:rPr>
              <a:t>Flow_Request_Deportation</a:t>
            </a:r>
          </a:p>
          <a:p>
            <a:pPr lvl="1"/>
            <a:r>
              <a:rPr lang="en-US" sz="1600" b="1">
                <a:solidFill>
                  <a:srgbClr val="FFFF00"/>
                </a:solidFill>
              </a:rPr>
              <a:t>Code_action</a:t>
            </a:r>
            <a:r>
              <a:rPr lang="en-US" sz="1600" b="1"/>
              <a:t>: 2  -- from flow_action, type code is 1</a:t>
            </a:r>
          </a:p>
          <a:p>
            <a:pPr lvl="1"/>
            <a:r>
              <a:rPr lang="en-US" sz="1600" b="1">
                <a:solidFill>
                  <a:srgbClr val="FFFF00"/>
                </a:solidFill>
              </a:rPr>
              <a:t>Name_step_from</a:t>
            </a:r>
            <a:r>
              <a:rPr lang="en-US" sz="1600" b="1"/>
              <a:t>: </a:t>
            </a:r>
            <a:r>
              <a:rPr lang="ar-EG" sz="1600" b="1"/>
              <a:t>مراجعة أولية</a:t>
            </a:r>
          </a:p>
          <a:p>
            <a:pPr lvl="1"/>
            <a:r>
              <a:rPr lang="en-US" sz="1600" b="1">
                <a:solidFill>
                  <a:srgbClr val="FFFF00"/>
                </a:solidFill>
              </a:rPr>
              <a:t>Name_step_to</a:t>
            </a:r>
            <a:r>
              <a:rPr lang="en-US" sz="1600" b="1"/>
              <a:t>: </a:t>
            </a:r>
            <a:r>
              <a:rPr lang="ar-EG" sz="1600" b="1"/>
              <a:t>طلب تمويل</a:t>
            </a:r>
          </a:p>
          <a:p>
            <a:pPr lvl="1"/>
            <a:r>
              <a:rPr lang="en-US" sz="1600" b="1">
                <a:solidFill>
                  <a:srgbClr val="FFFF00"/>
                </a:solidFill>
              </a:rPr>
              <a:t>UserIdTO</a:t>
            </a:r>
            <a:r>
              <a:rPr lang="en-US" sz="1600" b="1"/>
              <a:t>: LO </a:t>
            </a:r>
          </a:p>
          <a:p>
            <a:pPr lvl="1"/>
            <a:r>
              <a:rPr lang="en-US" sz="1600" b="1">
                <a:solidFill>
                  <a:srgbClr val="FFFF00"/>
                </a:solidFill>
              </a:rPr>
              <a:t>Status_</a:t>
            </a:r>
            <a:r>
              <a:rPr lang="en-US" sz="1600" b="1"/>
              <a:t>one: reject</a:t>
            </a:r>
          </a:p>
          <a:p>
            <a:pPr lvl="1"/>
            <a:r>
              <a:rPr lang="en-US" sz="1600" b="1">
                <a:solidFill>
                  <a:srgbClr val="FFFF00"/>
                </a:solidFill>
              </a:rPr>
              <a:t>Status_two</a:t>
            </a:r>
            <a:r>
              <a:rPr lang="en-US" sz="1600" b="1"/>
              <a:t>: R111</a:t>
            </a:r>
            <a:endParaRPr lang="ar-EG" sz="1600" b="1"/>
          </a:p>
          <a:p>
            <a:r>
              <a:rPr lang="en-US" sz="1800" b="1">
                <a:solidFill>
                  <a:srgbClr val="FFC000"/>
                </a:solidFill>
              </a:rPr>
              <a:t>TDWF.Flow_Requests_Log</a:t>
            </a:r>
          </a:p>
          <a:p>
            <a:pPr lvl="1"/>
            <a:r>
              <a:rPr lang="en-US" sz="1600" b="1">
                <a:solidFill>
                  <a:srgbClr val="FFC000"/>
                </a:solidFill>
              </a:rPr>
              <a:t>Last record</a:t>
            </a:r>
          </a:p>
          <a:p>
            <a:pPr lvl="2"/>
            <a:r>
              <a:rPr lang="en-US" sz="1400" b="1">
                <a:solidFill>
                  <a:srgbClr val="FFC000"/>
                </a:solidFill>
              </a:rPr>
              <a:t>Action</a:t>
            </a:r>
            <a:r>
              <a:rPr lang="ar-EG" sz="1400" b="1">
                <a:solidFill>
                  <a:srgbClr val="FFC000"/>
                </a:solidFill>
              </a:rPr>
              <a:t>_</a:t>
            </a:r>
            <a:r>
              <a:rPr lang="en-US" sz="1400" b="1">
                <a:solidFill>
                  <a:srgbClr val="FFC000"/>
                </a:solidFill>
              </a:rPr>
              <a:t>Flag from NULL to 0 [ </a:t>
            </a:r>
            <a:r>
              <a:rPr lang="ar-EG" sz="1400" b="1">
                <a:solidFill>
                  <a:srgbClr val="FFC000"/>
                </a:solidFill>
              </a:rPr>
              <a:t>رفض</a:t>
            </a:r>
            <a:r>
              <a:rPr lang="en-US" sz="1400" b="1">
                <a:solidFill>
                  <a:srgbClr val="FFC000"/>
                </a:solidFill>
              </a:rPr>
              <a:t> ]</a:t>
            </a:r>
            <a:endParaRPr lang="ar-EG" sz="1400" b="1">
              <a:solidFill>
                <a:srgbClr val="FFC000"/>
              </a:solidFill>
            </a:endParaRPr>
          </a:p>
          <a:p>
            <a:pPr lvl="1"/>
            <a:r>
              <a:rPr lang="en-US" sz="1600" b="1">
                <a:solidFill>
                  <a:srgbClr val="FFC000"/>
                </a:solidFill>
              </a:rPr>
              <a:t>New Record</a:t>
            </a:r>
          </a:p>
          <a:p>
            <a:pPr lvl="2"/>
            <a:r>
              <a:rPr lang="en-US" sz="1400" b="1">
                <a:solidFill>
                  <a:srgbClr val="FFC000"/>
                </a:solidFill>
              </a:rPr>
              <a:t>UserId: LO id</a:t>
            </a:r>
          </a:p>
          <a:p>
            <a:pPr lvl="2"/>
            <a:r>
              <a:rPr lang="en-US" sz="1400" b="1">
                <a:solidFill>
                  <a:srgbClr val="FFC000"/>
                </a:solidFill>
              </a:rPr>
              <a:t>Action</a:t>
            </a:r>
            <a:r>
              <a:rPr lang="ar-EG" sz="1400" b="1">
                <a:solidFill>
                  <a:srgbClr val="FFC000"/>
                </a:solidFill>
              </a:rPr>
              <a:t>_</a:t>
            </a:r>
            <a:r>
              <a:rPr lang="en-US" sz="1400" b="1">
                <a:solidFill>
                  <a:srgbClr val="FFC000"/>
                </a:solidFill>
              </a:rPr>
              <a:t>Flag: NULL</a:t>
            </a:r>
            <a:endParaRPr lang="en-US" b="1">
              <a:solidFill>
                <a:srgbClr val="FFC000"/>
              </a:solidFill>
            </a:endParaRPr>
          </a:p>
        </p:txBody>
      </p:sp>
      <p:pic>
        <p:nvPicPr>
          <p:cNvPr id="5" name="Picture 4">
            <a:extLst>
              <a:ext uri="{FF2B5EF4-FFF2-40B4-BE49-F238E27FC236}">
                <a16:creationId xmlns:a16="http://schemas.microsoft.com/office/drawing/2014/main" id="{9CA5A45B-26BE-A242-D303-DD3592A9E702}"/>
              </a:ext>
            </a:extLst>
          </p:cNvPr>
          <p:cNvPicPr>
            <a:picLocks noChangeAspect="1"/>
          </p:cNvPicPr>
          <p:nvPr/>
        </p:nvPicPr>
        <p:blipFill>
          <a:blip r:embed="rId2"/>
          <a:stretch>
            <a:fillRect/>
          </a:stretch>
        </p:blipFill>
        <p:spPr>
          <a:xfrm>
            <a:off x="3637238" y="5770214"/>
            <a:ext cx="8469037" cy="1002061"/>
          </a:xfrm>
          <a:prstGeom prst="rect">
            <a:avLst/>
          </a:prstGeom>
        </p:spPr>
      </p:pic>
    </p:spTree>
    <p:extLst>
      <p:ext uri="{BB962C8B-B14F-4D97-AF65-F5344CB8AC3E}">
        <p14:creationId xmlns:p14="http://schemas.microsoft.com/office/powerpoint/2010/main" val="22665985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A8F1-ACCD-1998-99E3-BCFF261F6359}"/>
              </a:ext>
            </a:extLst>
          </p:cNvPr>
          <p:cNvSpPr>
            <a:spLocks noGrp="1"/>
          </p:cNvSpPr>
          <p:nvPr>
            <p:ph type="title"/>
          </p:nvPr>
        </p:nvSpPr>
        <p:spPr>
          <a:xfrm>
            <a:off x="913795" y="0"/>
            <a:ext cx="10353762" cy="638175"/>
          </a:xfrm>
        </p:spPr>
        <p:txBody>
          <a:bodyPr>
            <a:normAutofit fontScale="90000"/>
          </a:bodyPr>
          <a:lstStyle/>
          <a:p>
            <a:r>
              <a:rPr lang="en-US" b="1"/>
              <a:t>The Rejected requests at LO </a:t>
            </a:r>
          </a:p>
        </p:txBody>
      </p:sp>
      <p:sp>
        <p:nvSpPr>
          <p:cNvPr id="3" name="Content Placeholder 2">
            <a:extLst>
              <a:ext uri="{FF2B5EF4-FFF2-40B4-BE49-F238E27FC236}">
                <a16:creationId xmlns:a16="http://schemas.microsoft.com/office/drawing/2014/main" id="{1496237D-11BA-8175-2A82-5FFFA4BFB8D4}"/>
              </a:ext>
            </a:extLst>
          </p:cNvPr>
          <p:cNvSpPr>
            <a:spLocks noGrp="1"/>
          </p:cNvSpPr>
          <p:nvPr>
            <p:ph idx="1"/>
          </p:nvPr>
        </p:nvSpPr>
        <p:spPr>
          <a:xfrm>
            <a:off x="219074" y="638175"/>
            <a:ext cx="11839575" cy="6096000"/>
          </a:xfrm>
        </p:spPr>
        <p:txBody>
          <a:bodyPr/>
          <a:lstStyle/>
          <a:p>
            <a:r>
              <a:rPr lang="en-US"/>
              <a:t>When LO open a request from rejected requests</a:t>
            </a:r>
          </a:p>
          <a:p>
            <a:pPr lvl="1"/>
            <a:r>
              <a:rPr lang="en-US"/>
              <a:t>Flow_Funding_requestController/GetAllFundingLoadList/{BranchId}/{UserId}</a:t>
            </a:r>
          </a:p>
          <a:p>
            <a:pPr lvl="1"/>
            <a:r>
              <a:rPr lang="en-US"/>
              <a:t>Flow_Funding_requestController/GetOneFundingRequest/{Request_id}</a:t>
            </a:r>
          </a:p>
          <a:p>
            <a:r>
              <a:rPr lang="en-US"/>
              <a:t>When LO click on tab </a:t>
            </a:r>
            <a:r>
              <a:rPr lang="ar-EG"/>
              <a:t>اسباب الرفض</a:t>
            </a:r>
          </a:p>
          <a:p>
            <a:pPr lvl="1"/>
            <a:r>
              <a:rPr lang="en-US"/>
              <a:t>Flow_Rejections_mainController/</a:t>
            </a:r>
            <a:r>
              <a:rPr lang="en-US" b="1">
                <a:solidFill>
                  <a:srgbClr val="FFFF00"/>
                </a:solidFill>
              </a:rPr>
              <a:t>GetAllReasonsRejectionByRequest_id</a:t>
            </a:r>
            <a:r>
              <a:rPr lang="en-US"/>
              <a:t>/{Request_id}</a:t>
            </a:r>
          </a:p>
          <a:p>
            <a:pPr lvl="1"/>
            <a:endParaRPr lang="ar-EG"/>
          </a:p>
          <a:p>
            <a:endParaRPr lang="en-US"/>
          </a:p>
          <a:p>
            <a:r>
              <a:rPr lang="en-US"/>
              <a:t>When LO click on tab </a:t>
            </a:r>
            <a:r>
              <a:rPr lang="ar-EG"/>
              <a:t>التعليقات</a:t>
            </a:r>
            <a:endParaRPr lang="en-US"/>
          </a:p>
          <a:p>
            <a:pPr lvl="1"/>
            <a:r>
              <a:rPr lang="en-US"/>
              <a:t>Flow_Rejections_mainController/GetAllRejectionCommentsByRequest_id/{Request_id}</a:t>
            </a:r>
            <a:endParaRPr lang="ar-EG"/>
          </a:p>
          <a:p>
            <a:pPr lvl="1"/>
            <a:endParaRPr lang="ar-EG"/>
          </a:p>
          <a:p>
            <a:endParaRPr lang="ar-EG"/>
          </a:p>
          <a:p>
            <a:endParaRPr lang="en-US"/>
          </a:p>
          <a:p>
            <a:endParaRPr lang="en-US"/>
          </a:p>
        </p:txBody>
      </p:sp>
      <p:pic>
        <p:nvPicPr>
          <p:cNvPr id="11" name="Picture 10">
            <a:extLst>
              <a:ext uri="{FF2B5EF4-FFF2-40B4-BE49-F238E27FC236}">
                <a16:creationId xmlns:a16="http://schemas.microsoft.com/office/drawing/2014/main" id="{87E6C6CB-0612-6AF5-6A05-B2C996AF8ED7}"/>
              </a:ext>
            </a:extLst>
          </p:cNvPr>
          <p:cNvPicPr>
            <a:picLocks noChangeAspect="1"/>
          </p:cNvPicPr>
          <p:nvPr/>
        </p:nvPicPr>
        <p:blipFill>
          <a:blip r:embed="rId2"/>
          <a:stretch>
            <a:fillRect/>
          </a:stretch>
        </p:blipFill>
        <p:spPr>
          <a:xfrm>
            <a:off x="306771" y="2745069"/>
            <a:ext cx="9312447" cy="815411"/>
          </a:xfrm>
          <a:prstGeom prst="rect">
            <a:avLst/>
          </a:prstGeom>
        </p:spPr>
      </p:pic>
      <p:pic>
        <p:nvPicPr>
          <p:cNvPr id="13" name="Picture 12">
            <a:extLst>
              <a:ext uri="{FF2B5EF4-FFF2-40B4-BE49-F238E27FC236}">
                <a16:creationId xmlns:a16="http://schemas.microsoft.com/office/drawing/2014/main" id="{8206F191-0068-1FA8-8AB6-60DA7D0D9D54}"/>
              </a:ext>
            </a:extLst>
          </p:cNvPr>
          <p:cNvPicPr>
            <a:picLocks noChangeAspect="1"/>
          </p:cNvPicPr>
          <p:nvPr/>
        </p:nvPicPr>
        <p:blipFill>
          <a:blip r:embed="rId3"/>
          <a:stretch>
            <a:fillRect/>
          </a:stretch>
        </p:blipFill>
        <p:spPr>
          <a:xfrm>
            <a:off x="306771" y="4371000"/>
            <a:ext cx="9243861" cy="914479"/>
          </a:xfrm>
          <a:prstGeom prst="rect">
            <a:avLst/>
          </a:prstGeom>
        </p:spPr>
      </p:pic>
    </p:spTree>
    <p:extLst>
      <p:ext uri="{BB962C8B-B14F-4D97-AF65-F5344CB8AC3E}">
        <p14:creationId xmlns:p14="http://schemas.microsoft.com/office/powerpoint/2010/main" val="32181441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7D577-CA65-D019-B126-B4BC3F9A9259}"/>
              </a:ext>
            </a:extLst>
          </p:cNvPr>
          <p:cNvSpPr>
            <a:spLocks noGrp="1"/>
          </p:cNvSpPr>
          <p:nvPr>
            <p:ph type="title"/>
          </p:nvPr>
        </p:nvSpPr>
        <p:spPr>
          <a:xfrm>
            <a:off x="913795" y="0"/>
            <a:ext cx="10353762" cy="457200"/>
          </a:xfrm>
        </p:spPr>
        <p:txBody>
          <a:bodyPr>
            <a:normAutofit fontScale="90000"/>
          </a:bodyPr>
          <a:lstStyle/>
          <a:p>
            <a:r>
              <a:rPr lang="en-US" b="1">
                <a:solidFill>
                  <a:srgbClr val="FFFF00"/>
                </a:solidFill>
              </a:rPr>
              <a:t>After CO Accept the request</a:t>
            </a:r>
          </a:p>
        </p:txBody>
      </p:sp>
      <p:sp>
        <p:nvSpPr>
          <p:cNvPr id="3" name="Content Placeholder 2">
            <a:extLst>
              <a:ext uri="{FF2B5EF4-FFF2-40B4-BE49-F238E27FC236}">
                <a16:creationId xmlns:a16="http://schemas.microsoft.com/office/drawing/2014/main" id="{36C0EB40-0CD3-EC17-FE17-63523088F6D2}"/>
              </a:ext>
            </a:extLst>
          </p:cNvPr>
          <p:cNvSpPr>
            <a:spLocks noGrp="1"/>
          </p:cNvSpPr>
          <p:nvPr>
            <p:ph idx="1"/>
          </p:nvPr>
        </p:nvSpPr>
        <p:spPr>
          <a:xfrm>
            <a:off x="133350" y="542925"/>
            <a:ext cx="11849100" cy="6134100"/>
          </a:xfrm>
        </p:spPr>
        <p:txBody>
          <a:bodyPr/>
          <a:lstStyle/>
          <a:p>
            <a:r>
              <a:rPr lang="en-US" b="1">
                <a:solidFill>
                  <a:srgbClr val="FF0000"/>
                </a:solidFill>
              </a:rPr>
              <a:t>Flow_Request</a:t>
            </a:r>
          </a:p>
          <a:p>
            <a:pPr lvl="1"/>
            <a:r>
              <a:rPr lang="en-US" sz="1600" b="1">
                <a:solidFill>
                  <a:srgbClr val="FFFF00"/>
                </a:solidFill>
              </a:rPr>
              <a:t>NO change</a:t>
            </a:r>
            <a:endParaRPr lang="en-US" b="1">
              <a:solidFill>
                <a:srgbClr val="FF0000"/>
              </a:solidFill>
            </a:endParaRPr>
          </a:p>
          <a:p>
            <a:r>
              <a:rPr lang="en-US" b="1">
                <a:solidFill>
                  <a:srgbClr val="FFC000"/>
                </a:solidFill>
              </a:rPr>
              <a:t>Flow_Request_Deportation</a:t>
            </a:r>
          </a:p>
          <a:p>
            <a:pPr lvl="1"/>
            <a:r>
              <a:rPr lang="en-US" sz="1600" b="1">
                <a:solidFill>
                  <a:srgbClr val="FFFF00"/>
                </a:solidFill>
              </a:rPr>
              <a:t>Code_action</a:t>
            </a:r>
            <a:r>
              <a:rPr lang="en-US" sz="1600" b="1"/>
              <a:t>: 2  -- from flow_action, type code is 1</a:t>
            </a:r>
          </a:p>
          <a:p>
            <a:pPr lvl="1"/>
            <a:r>
              <a:rPr lang="en-US" sz="1600" b="1">
                <a:solidFill>
                  <a:srgbClr val="FFFF00"/>
                </a:solidFill>
              </a:rPr>
              <a:t>Name_step_from</a:t>
            </a:r>
            <a:r>
              <a:rPr lang="en-US" sz="1600" b="1"/>
              <a:t>: </a:t>
            </a:r>
            <a:r>
              <a:rPr lang="ar-EG" sz="1600" b="1"/>
              <a:t>مراجعة أولية</a:t>
            </a:r>
          </a:p>
          <a:p>
            <a:pPr lvl="1"/>
            <a:r>
              <a:rPr lang="en-US" sz="1600" b="1">
                <a:solidFill>
                  <a:srgbClr val="FFFF00"/>
                </a:solidFill>
              </a:rPr>
              <a:t>Name_step_to</a:t>
            </a:r>
            <a:r>
              <a:rPr lang="en-US" sz="1600" b="1"/>
              <a:t>: </a:t>
            </a:r>
            <a:r>
              <a:rPr lang="ar-EG" sz="1600" b="1"/>
              <a:t>زيارة ميدانية</a:t>
            </a:r>
          </a:p>
          <a:p>
            <a:pPr lvl="1"/>
            <a:r>
              <a:rPr lang="en-US" sz="1600" b="1">
                <a:solidFill>
                  <a:srgbClr val="FFFF00"/>
                </a:solidFill>
              </a:rPr>
              <a:t>UserId_TO</a:t>
            </a:r>
            <a:r>
              <a:rPr lang="en-US" sz="1600" b="1"/>
              <a:t>: CO</a:t>
            </a:r>
          </a:p>
          <a:p>
            <a:pPr lvl="1"/>
            <a:r>
              <a:rPr lang="en-US" sz="1600" b="1">
                <a:solidFill>
                  <a:srgbClr val="FFFF00"/>
                </a:solidFill>
              </a:rPr>
              <a:t>Status_two</a:t>
            </a:r>
            <a:r>
              <a:rPr lang="en-US" sz="1600" b="1"/>
              <a:t>: CO1311 </a:t>
            </a:r>
            <a:endParaRPr lang="ar-EG" sz="1600" b="1"/>
          </a:p>
          <a:p>
            <a:r>
              <a:rPr lang="en-US" sz="1800" b="1">
                <a:solidFill>
                  <a:srgbClr val="FFC000"/>
                </a:solidFill>
              </a:rPr>
              <a:t>TDWF.Flow_Requests_Log</a:t>
            </a:r>
          </a:p>
          <a:p>
            <a:pPr lvl="1"/>
            <a:r>
              <a:rPr lang="en-US" sz="1600" b="1">
                <a:solidFill>
                  <a:srgbClr val="FFC000"/>
                </a:solidFill>
              </a:rPr>
              <a:t>Last record</a:t>
            </a:r>
          </a:p>
          <a:p>
            <a:pPr lvl="2"/>
            <a:r>
              <a:rPr lang="en-US" sz="1400" b="1">
                <a:solidFill>
                  <a:srgbClr val="FFC000"/>
                </a:solidFill>
              </a:rPr>
              <a:t>Action</a:t>
            </a:r>
            <a:r>
              <a:rPr lang="ar-EG" sz="1400" b="1">
                <a:solidFill>
                  <a:srgbClr val="FFC000"/>
                </a:solidFill>
              </a:rPr>
              <a:t>_</a:t>
            </a:r>
            <a:r>
              <a:rPr lang="en-US" sz="1400" b="1">
                <a:solidFill>
                  <a:srgbClr val="FFC000"/>
                </a:solidFill>
              </a:rPr>
              <a:t>Flag from NULL to 1 [</a:t>
            </a:r>
            <a:r>
              <a:rPr lang="ar-EG" sz="1400" b="1">
                <a:solidFill>
                  <a:srgbClr val="FFC000"/>
                </a:solidFill>
              </a:rPr>
              <a:t>قبول</a:t>
            </a:r>
            <a:r>
              <a:rPr lang="en-US" sz="1400" b="1">
                <a:solidFill>
                  <a:srgbClr val="FFC000"/>
                </a:solidFill>
              </a:rPr>
              <a:t> ]</a:t>
            </a:r>
            <a:endParaRPr lang="ar-EG" sz="1400" b="1">
              <a:solidFill>
                <a:srgbClr val="FFC000"/>
              </a:solidFill>
            </a:endParaRPr>
          </a:p>
          <a:p>
            <a:pPr lvl="1"/>
            <a:r>
              <a:rPr lang="en-US" sz="1600" b="1">
                <a:solidFill>
                  <a:srgbClr val="FFC000"/>
                </a:solidFill>
              </a:rPr>
              <a:t>New Record</a:t>
            </a:r>
          </a:p>
          <a:p>
            <a:pPr lvl="2"/>
            <a:r>
              <a:rPr lang="en-US" sz="1400" b="1">
                <a:solidFill>
                  <a:srgbClr val="FFC000"/>
                </a:solidFill>
              </a:rPr>
              <a:t>UserId: CO</a:t>
            </a:r>
          </a:p>
          <a:p>
            <a:pPr lvl="2"/>
            <a:r>
              <a:rPr lang="en-US" sz="1400" b="1">
                <a:solidFill>
                  <a:srgbClr val="FFC000"/>
                </a:solidFill>
              </a:rPr>
              <a:t>Action</a:t>
            </a:r>
            <a:r>
              <a:rPr lang="ar-EG" sz="1400" b="1">
                <a:solidFill>
                  <a:srgbClr val="FFC000"/>
                </a:solidFill>
              </a:rPr>
              <a:t>_</a:t>
            </a:r>
            <a:r>
              <a:rPr lang="en-US" sz="1400" b="1">
                <a:solidFill>
                  <a:srgbClr val="FFC000"/>
                </a:solidFill>
              </a:rPr>
              <a:t>Flag: NULL</a:t>
            </a:r>
            <a:endParaRPr lang="en-US" b="1">
              <a:solidFill>
                <a:srgbClr val="FFC000"/>
              </a:solidFill>
            </a:endParaRPr>
          </a:p>
        </p:txBody>
      </p:sp>
      <p:pic>
        <p:nvPicPr>
          <p:cNvPr id="5" name="Picture 4">
            <a:extLst>
              <a:ext uri="{FF2B5EF4-FFF2-40B4-BE49-F238E27FC236}">
                <a16:creationId xmlns:a16="http://schemas.microsoft.com/office/drawing/2014/main" id="{682853A9-BCED-1BDF-C973-F640B6F5D2BB}"/>
              </a:ext>
            </a:extLst>
          </p:cNvPr>
          <p:cNvPicPr>
            <a:picLocks noChangeAspect="1"/>
          </p:cNvPicPr>
          <p:nvPr/>
        </p:nvPicPr>
        <p:blipFill>
          <a:blip r:embed="rId2"/>
          <a:stretch>
            <a:fillRect/>
          </a:stretch>
        </p:blipFill>
        <p:spPr>
          <a:xfrm>
            <a:off x="4592696" y="4964385"/>
            <a:ext cx="6948615" cy="1217340"/>
          </a:xfrm>
          <a:prstGeom prst="rect">
            <a:avLst/>
          </a:prstGeom>
        </p:spPr>
      </p:pic>
    </p:spTree>
    <p:extLst>
      <p:ext uri="{BB962C8B-B14F-4D97-AF65-F5344CB8AC3E}">
        <p14:creationId xmlns:p14="http://schemas.microsoft.com/office/powerpoint/2010/main" val="3124514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A15FF-3061-D83A-8C31-44311D56C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94C84-7B3C-DB38-FA1F-0A332A714585}"/>
              </a:ext>
            </a:extLst>
          </p:cNvPr>
          <p:cNvSpPr>
            <a:spLocks noGrp="1"/>
          </p:cNvSpPr>
          <p:nvPr>
            <p:ph type="title"/>
          </p:nvPr>
        </p:nvSpPr>
        <p:spPr>
          <a:xfrm>
            <a:off x="1031782" y="2458550"/>
            <a:ext cx="10353762" cy="970450"/>
          </a:xfrm>
        </p:spPr>
        <p:txBody>
          <a:bodyPr>
            <a:normAutofit/>
          </a:bodyPr>
          <a:lstStyle/>
          <a:p>
            <a:r>
              <a:rPr lang="en-US" sz="4400" b="1">
                <a:solidFill>
                  <a:srgbClr val="FF0000"/>
                </a:solidFill>
              </a:rPr>
              <a:t>End Initial Review </a:t>
            </a:r>
            <a:r>
              <a:rPr lang="ar-EG" sz="4400" b="1">
                <a:solidFill>
                  <a:srgbClr val="FF0000"/>
                </a:solidFill>
              </a:rPr>
              <a:t>مراجعة أولية</a:t>
            </a:r>
            <a:r>
              <a:rPr lang="en-US" sz="4400" b="1">
                <a:solidFill>
                  <a:srgbClr val="FF0000"/>
                </a:solidFill>
              </a:rPr>
              <a:t> (CO1010)</a:t>
            </a:r>
          </a:p>
        </p:txBody>
      </p:sp>
    </p:spTree>
    <p:extLst>
      <p:ext uri="{BB962C8B-B14F-4D97-AF65-F5344CB8AC3E}">
        <p14:creationId xmlns:p14="http://schemas.microsoft.com/office/powerpoint/2010/main" val="39186117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C5C0A-74B9-69D7-5583-20207D7ED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8F644-B176-F5D3-AF45-CBC79F9C4549}"/>
              </a:ext>
            </a:extLst>
          </p:cNvPr>
          <p:cNvSpPr>
            <a:spLocks noGrp="1"/>
          </p:cNvSpPr>
          <p:nvPr>
            <p:ph type="title"/>
          </p:nvPr>
        </p:nvSpPr>
        <p:spPr>
          <a:xfrm>
            <a:off x="1031782" y="2458550"/>
            <a:ext cx="10353762" cy="970450"/>
          </a:xfrm>
        </p:spPr>
        <p:txBody>
          <a:bodyPr>
            <a:normAutofit/>
          </a:bodyPr>
          <a:lstStyle/>
          <a:p>
            <a:r>
              <a:rPr lang="en-US" b="1">
                <a:solidFill>
                  <a:srgbClr val="FF0000"/>
                </a:solidFill>
              </a:rPr>
              <a:t>Start Field visit: </a:t>
            </a:r>
            <a:r>
              <a:rPr lang="ar-EG" b="1">
                <a:solidFill>
                  <a:srgbClr val="FF0000"/>
                </a:solidFill>
              </a:rPr>
              <a:t>زيارة ميدانية</a:t>
            </a:r>
            <a:r>
              <a:rPr lang="en-US" b="1">
                <a:solidFill>
                  <a:srgbClr val="FF0000"/>
                </a:solidFill>
              </a:rPr>
              <a:t>, </a:t>
            </a:r>
            <a:r>
              <a:rPr lang="en-US" b="1">
                <a:solidFill>
                  <a:srgbClr val="FFFF00"/>
                </a:solidFill>
              </a:rPr>
              <a:t>CO1311</a:t>
            </a:r>
            <a:r>
              <a:rPr lang="en-US" b="1">
                <a:solidFill>
                  <a:srgbClr val="FF0000"/>
                </a:solidFill>
              </a:rPr>
              <a:t>, CO</a:t>
            </a:r>
            <a:endParaRPr lang="en-US">
              <a:solidFill>
                <a:srgbClr val="FF0000"/>
              </a:solidFill>
              <a:effectLst/>
            </a:endParaRPr>
          </a:p>
        </p:txBody>
      </p:sp>
    </p:spTree>
    <p:extLst>
      <p:ext uri="{BB962C8B-B14F-4D97-AF65-F5344CB8AC3E}">
        <p14:creationId xmlns:p14="http://schemas.microsoft.com/office/powerpoint/2010/main" val="3413285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A003-7456-A034-2C91-F2FC6D7582E4}"/>
              </a:ext>
            </a:extLst>
          </p:cNvPr>
          <p:cNvSpPr>
            <a:spLocks noGrp="1"/>
          </p:cNvSpPr>
          <p:nvPr>
            <p:ph type="title"/>
          </p:nvPr>
        </p:nvSpPr>
        <p:spPr>
          <a:xfrm>
            <a:off x="913795" y="8594"/>
            <a:ext cx="10353762" cy="629581"/>
          </a:xfrm>
        </p:spPr>
        <p:txBody>
          <a:bodyPr>
            <a:normAutofit fontScale="90000"/>
          </a:bodyPr>
          <a:lstStyle/>
          <a:p>
            <a:r>
              <a:rPr lang="ar-EG" b="1"/>
              <a:t>الزيارة الميدانية للعميل</a:t>
            </a:r>
            <a:endParaRPr lang="en-US" b="1"/>
          </a:p>
        </p:txBody>
      </p:sp>
      <p:sp>
        <p:nvSpPr>
          <p:cNvPr id="3" name="Content Placeholder 2">
            <a:extLst>
              <a:ext uri="{FF2B5EF4-FFF2-40B4-BE49-F238E27FC236}">
                <a16:creationId xmlns:a16="http://schemas.microsoft.com/office/drawing/2014/main" id="{088A071D-B684-3367-DEB4-34388210BDD2}"/>
              </a:ext>
            </a:extLst>
          </p:cNvPr>
          <p:cNvSpPr>
            <a:spLocks noGrp="1"/>
          </p:cNvSpPr>
          <p:nvPr>
            <p:ph idx="1"/>
          </p:nvPr>
        </p:nvSpPr>
        <p:spPr>
          <a:xfrm>
            <a:off x="95250" y="761999"/>
            <a:ext cx="11934825" cy="5819775"/>
          </a:xfrm>
        </p:spPr>
        <p:txBody>
          <a:bodyPr/>
          <a:lstStyle/>
          <a:p>
            <a:r>
              <a:rPr lang="en-US" sz="2400" b="1"/>
              <a:t>When CO click on </a:t>
            </a:r>
            <a:r>
              <a:rPr lang="ar-EG" sz="2400" b="1"/>
              <a:t>لم يستدل عليه</a:t>
            </a:r>
            <a:r>
              <a:rPr lang="en-US" sz="2400" b="1"/>
              <a:t> </a:t>
            </a:r>
            <a:endParaRPr lang="en-US" sz="2400" b="1">
              <a:solidFill>
                <a:srgbClr val="FFFF00"/>
              </a:solidFill>
              <a:effectLst/>
            </a:endParaRPr>
          </a:p>
          <a:p>
            <a:pPr lvl="1"/>
            <a:r>
              <a:rPr lang="en-US" b="1">
                <a:solidFill>
                  <a:srgbClr val="FFFF00"/>
                </a:solidFill>
                <a:effectLst/>
              </a:rPr>
              <a:t>Flow_Funding_requestController</a:t>
            </a:r>
            <a:r>
              <a:rPr lang="en-US" b="1">
                <a:effectLst/>
              </a:rPr>
              <a:t>/</a:t>
            </a:r>
            <a:r>
              <a:rPr lang="en-US" b="1">
                <a:solidFill>
                  <a:srgbClr val="00B0F0"/>
                </a:solidFill>
                <a:effectLst/>
              </a:rPr>
              <a:t>CalculateVisitCount</a:t>
            </a:r>
            <a:r>
              <a:rPr lang="en-US" b="1"/>
              <a:t>/{RequestID}</a:t>
            </a:r>
            <a:endParaRPr lang="ar-EG" b="1"/>
          </a:p>
          <a:p>
            <a:pPr lvl="2"/>
            <a:r>
              <a:rPr lang="en-US" b="1"/>
              <a:t>Flow_Funding_requestService. </a:t>
            </a:r>
            <a:r>
              <a:rPr lang="en-US" b="1">
                <a:solidFill>
                  <a:srgbClr val="FFFF00"/>
                </a:solidFill>
              </a:rPr>
              <a:t>GetOneRowOfFlowFundingRequest</a:t>
            </a:r>
            <a:endParaRPr lang="ar-EG" b="1">
              <a:solidFill>
                <a:srgbClr val="FFFF00"/>
              </a:solidFill>
            </a:endParaRPr>
          </a:p>
          <a:p>
            <a:r>
              <a:rPr lang="en-US" b="1"/>
              <a:t>Funding_Request</a:t>
            </a:r>
          </a:p>
          <a:p>
            <a:pPr lvl="1"/>
            <a:r>
              <a:rPr lang="en-US" b="1"/>
              <a:t>VisitCount from Null to 1</a:t>
            </a:r>
          </a:p>
          <a:p>
            <a:endParaRPr lang="ar-EG"/>
          </a:p>
          <a:p>
            <a:endParaRPr lang="en-US"/>
          </a:p>
          <a:p>
            <a:endParaRPr lang="en-US"/>
          </a:p>
          <a:p>
            <a:endParaRPr lang="en-US"/>
          </a:p>
          <a:p>
            <a:r>
              <a:rPr lang="en-US"/>
              <a:t>If </a:t>
            </a:r>
            <a:r>
              <a:rPr lang="en-US" b="1"/>
              <a:t>VisitCount reached to 3 the request will be </a:t>
            </a:r>
            <a:r>
              <a:rPr lang="ar-EG" b="1"/>
              <a:t>رفض نهائي</a:t>
            </a:r>
            <a:endParaRPr lang="en-US"/>
          </a:p>
        </p:txBody>
      </p:sp>
      <p:pic>
        <p:nvPicPr>
          <p:cNvPr id="5" name="Picture 4">
            <a:extLst>
              <a:ext uri="{FF2B5EF4-FFF2-40B4-BE49-F238E27FC236}">
                <a16:creationId xmlns:a16="http://schemas.microsoft.com/office/drawing/2014/main" id="{A8C37974-79C9-20A5-AC2D-838E62257979}"/>
              </a:ext>
            </a:extLst>
          </p:cNvPr>
          <p:cNvPicPr>
            <a:picLocks noChangeAspect="1"/>
          </p:cNvPicPr>
          <p:nvPr/>
        </p:nvPicPr>
        <p:blipFill>
          <a:blip r:embed="rId2"/>
          <a:stretch>
            <a:fillRect/>
          </a:stretch>
        </p:blipFill>
        <p:spPr>
          <a:xfrm>
            <a:off x="5250106" y="2428595"/>
            <a:ext cx="2872989" cy="1729890"/>
          </a:xfrm>
          <a:prstGeom prst="rect">
            <a:avLst/>
          </a:prstGeom>
        </p:spPr>
      </p:pic>
      <p:pic>
        <p:nvPicPr>
          <p:cNvPr id="7" name="Picture 6">
            <a:extLst>
              <a:ext uri="{FF2B5EF4-FFF2-40B4-BE49-F238E27FC236}">
                <a16:creationId xmlns:a16="http://schemas.microsoft.com/office/drawing/2014/main" id="{6FB33D3F-B23C-5EB8-A981-59FCC949E0F3}"/>
              </a:ext>
            </a:extLst>
          </p:cNvPr>
          <p:cNvPicPr>
            <a:picLocks noChangeAspect="1"/>
          </p:cNvPicPr>
          <p:nvPr/>
        </p:nvPicPr>
        <p:blipFill>
          <a:blip r:embed="rId3"/>
          <a:stretch>
            <a:fillRect/>
          </a:stretch>
        </p:blipFill>
        <p:spPr>
          <a:xfrm>
            <a:off x="161925" y="2976452"/>
            <a:ext cx="4054191" cy="1044030"/>
          </a:xfrm>
          <a:prstGeom prst="rect">
            <a:avLst/>
          </a:prstGeom>
        </p:spPr>
      </p:pic>
    </p:spTree>
    <p:extLst>
      <p:ext uri="{BB962C8B-B14F-4D97-AF65-F5344CB8AC3E}">
        <p14:creationId xmlns:p14="http://schemas.microsoft.com/office/powerpoint/2010/main" val="27357227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23897-C7C0-8F83-3B66-4B6FB3797FDB}"/>
              </a:ext>
            </a:extLst>
          </p:cNvPr>
          <p:cNvSpPr>
            <a:spLocks noGrp="1"/>
          </p:cNvSpPr>
          <p:nvPr>
            <p:ph type="title"/>
          </p:nvPr>
        </p:nvSpPr>
        <p:spPr>
          <a:xfrm>
            <a:off x="913795" y="96351"/>
            <a:ext cx="10353762" cy="513250"/>
          </a:xfrm>
        </p:spPr>
        <p:txBody>
          <a:bodyPr>
            <a:noAutofit/>
          </a:bodyPr>
          <a:lstStyle/>
          <a:p>
            <a:r>
              <a:rPr lang="ar-EG" b="1">
                <a:solidFill>
                  <a:srgbClr val="FFFF00"/>
                </a:solidFill>
              </a:rPr>
              <a:t>الزيارة الميدانية للعميل</a:t>
            </a:r>
            <a:endParaRPr lang="en-US" b="1">
              <a:solidFill>
                <a:srgbClr val="FFFF00"/>
              </a:solidFill>
            </a:endParaRPr>
          </a:p>
        </p:txBody>
      </p:sp>
      <p:sp>
        <p:nvSpPr>
          <p:cNvPr id="3" name="Content Placeholder 2">
            <a:extLst>
              <a:ext uri="{FF2B5EF4-FFF2-40B4-BE49-F238E27FC236}">
                <a16:creationId xmlns:a16="http://schemas.microsoft.com/office/drawing/2014/main" id="{C0A0EE21-933B-65E9-41A5-73C82D04B47D}"/>
              </a:ext>
            </a:extLst>
          </p:cNvPr>
          <p:cNvSpPr>
            <a:spLocks noGrp="1"/>
          </p:cNvSpPr>
          <p:nvPr>
            <p:ph idx="1"/>
          </p:nvPr>
        </p:nvSpPr>
        <p:spPr>
          <a:xfrm>
            <a:off x="85725" y="1152527"/>
            <a:ext cx="12020550" cy="5248274"/>
          </a:xfrm>
        </p:spPr>
        <p:txBody>
          <a:bodyPr/>
          <a:lstStyle/>
          <a:p>
            <a:pPr marL="36900" indent="0" algn="ctr">
              <a:buNone/>
            </a:pPr>
            <a:r>
              <a:rPr lang="ar-EG" sz="3200" b="1">
                <a:solidFill>
                  <a:srgbClr val="FFFF00"/>
                </a:solidFill>
              </a:rPr>
              <a:t>بيانات التمويل والعميل</a:t>
            </a:r>
          </a:p>
          <a:p>
            <a:r>
              <a:rPr lang="en-US" b="1"/>
              <a:t>When CO click on </a:t>
            </a:r>
            <a:r>
              <a:rPr lang="ar-EG" b="1"/>
              <a:t>لم يستدل عليه</a:t>
            </a:r>
            <a:r>
              <a:rPr lang="en-US" b="1"/>
              <a:t> </a:t>
            </a:r>
          </a:p>
          <a:p>
            <a:r>
              <a:rPr lang="ar-EG" b="1"/>
              <a:t>بيانات التمويل والعميل</a:t>
            </a:r>
            <a:endParaRPr lang="en-US" b="1"/>
          </a:p>
        </p:txBody>
      </p:sp>
      <p:pic>
        <p:nvPicPr>
          <p:cNvPr id="5" name="Picture 4">
            <a:extLst>
              <a:ext uri="{FF2B5EF4-FFF2-40B4-BE49-F238E27FC236}">
                <a16:creationId xmlns:a16="http://schemas.microsoft.com/office/drawing/2014/main" id="{BBDDE2B9-1B65-96BD-7303-0C3536FF51E4}"/>
              </a:ext>
            </a:extLst>
          </p:cNvPr>
          <p:cNvPicPr>
            <a:picLocks noChangeAspect="1"/>
          </p:cNvPicPr>
          <p:nvPr/>
        </p:nvPicPr>
        <p:blipFill>
          <a:blip r:embed="rId2"/>
          <a:stretch>
            <a:fillRect/>
          </a:stretch>
        </p:blipFill>
        <p:spPr>
          <a:xfrm>
            <a:off x="200024" y="3180684"/>
            <a:ext cx="8271009" cy="2743865"/>
          </a:xfrm>
          <a:prstGeom prst="rect">
            <a:avLst/>
          </a:prstGeom>
        </p:spPr>
      </p:pic>
    </p:spTree>
    <p:extLst>
      <p:ext uri="{BB962C8B-B14F-4D97-AF65-F5344CB8AC3E}">
        <p14:creationId xmlns:p14="http://schemas.microsoft.com/office/powerpoint/2010/main" val="3989406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6BF1C-E005-B043-6632-FB35E1BBF8DE}"/>
              </a:ext>
            </a:extLst>
          </p:cNvPr>
          <p:cNvSpPr>
            <a:spLocks noGrp="1"/>
          </p:cNvSpPr>
          <p:nvPr>
            <p:ph type="title"/>
          </p:nvPr>
        </p:nvSpPr>
        <p:spPr>
          <a:xfrm>
            <a:off x="913795" y="0"/>
            <a:ext cx="10353762" cy="590550"/>
          </a:xfrm>
        </p:spPr>
        <p:txBody>
          <a:bodyPr>
            <a:normAutofit fontScale="90000"/>
          </a:bodyPr>
          <a:lstStyle/>
          <a:p>
            <a:r>
              <a:rPr lang="ar-EG" b="1">
                <a:solidFill>
                  <a:srgbClr val="FFFF00"/>
                </a:solidFill>
              </a:rPr>
              <a:t>الزيارة الميدانية للعميل</a:t>
            </a:r>
            <a:endParaRPr lang="en-US" b="1"/>
          </a:p>
        </p:txBody>
      </p:sp>
      <p:sp>
        <p:nvSpPr>
          <p:cNvPr id="3" name="Content Placeholder 2">
            <a:extLst>
              <a:ext uri="{FF2B5EF4-FFF2-40B4-BE49-F238E27FC236}">
                <a16:creationId xmlns:a16="http://schemas.microsoft.com/office/drawing/2014/main" id="{F82B91BF-32FD-68EB-53DB-11A965D1D544}"/>
              </a:ext>
            </a:extLst>
          </p:cNvPr>
          <p:cNvSpPr>
            <a:spLocks noGrp="1"/>
          </p:cNvSpPr>
          <p:nvPr>
            <p:ph idx="1"/>
          </p:nvPr>
        </p:nvSpPr>
        <p:spPr>
          <a:xfrm>
            <a:off x="85725" y="590551"/>
            <a:ext cx="12001500" cy="6162674"/>
          </a:xfrm>
        </p:spPr>
        <p:txBody>
          <a:bodyPr/>
          <a:lstStyle/>
          <a:p>
            <a:pPr marL="36900" indent="0" algn="ctr">
              <a:buNone/>
            </a:pPr>
            <a:r>
              <a:rPr lang="ar-EG" sz="2800" b="1">
                <a:effectLst/>
              </a:rPr>
              <a:t>القرار الائتماني</a:t>
            </a:r>
            <a:endParaRPr lang="en-US" sz="2800" b="1">
              <a:effectLst/>
            </a:endParaRPr>
          </a:p>
          <a:p>
            <a:endParaRPr lang="en-US">
              <a:effectLst/>
            </a:endParaRPr>
          </a:p>
          <a:p>
            <a:endParaRPr lang="en-US">
              <a:effectLst/>
            </a:endParaRPr>
          </a:p>
          <a:p>
            <a:endParaRPr lang="en-US">
              <a:effectLst/>
            </a:endParaRPr>
          </a:p>
          <a:p>
            <a:endParaRPr lang="en-US">
              <a:effectLst/>
            </a:endParaRPr>
          </a:p>
          <a:p>
            <a:endParaRPr lang="en-US">
              <a:effectLst/>
            </a:endParaRPr>
          </a:p>
          <a:p>
            <a:endParaRPr lang="en-US">
              <a:effectLst/>
            </a:endParaRPr>
          </a:p>
          <a:p>
            <a:r>
              <a:rPr lang="en-US" b="1">
                <a:effectLst/>
              </a:rPr>
              <a:t>After fill </a:t>
            </a:r>
            <a:r>
              <a:rPr lang="ar-EG" b="1">
                <a:effectLst/>
              </a:rPr>
              <a:t>المبلغ الموصي به و عدد الشهور</a:t>
            </a:r>
            <a:endParaRPr lang="en-US" b="1">
              <a:effectLst/>
            </a:endParaRPr>
          </a:p>
          <a:p>
            <a:pPr lvl="1"/>
            <a:r>
              <a:rPr lang="en-US" b="1">
                <a:effectLst/>
              </a:rPr>
              <a:t>Flow_repayment_cycleController/GetOne</a:t>
            </a:r>
            <a:r>
              <a:rPr lang="en-US" b="1"/>
              <a:t>/{FRC_Id}</a:t>
            </a:r>
            <a:endParaRPr lang="ar-EG" b="1"/>
          </a:p>
          <a:p>
            <a:pPr lvl="2"/>
            <a:r>
              <a:rPr lang="en-US" sz="1800" b="1"/>
              <a:t>IFlow_repayment_cycleService. GetOne(FRC_Id)</a:t>
            </a:r>
          </a:p>
          <a:p>
            <a:endParaRPr lang="ar-EG"/>
          </a:p>
          <a:p>
            <a:endParaRPr lang="ar-EG"/>
          </a:p>
        </p:txBody>
      </p:sp>
      <p:pic>
        <p:nvPicPr>
          <p:cNvPr id="7" name="Picture 6">
            <a:extLst>
              <a:ext uri="{FF2B5EF4-FFF2-40B4-BE49-F238E27FC236}">
                <a16:creationId xmlns:a16="http://schemas.microsoft.com/office/drawing/2014/main" id="{5B9FA8EC-156A-0903-C5B4-943914B7E1FC}"/>
              </a:ext>
            </a:extLst>
          </p:cNvPr>
          <p:cNvPicPr>
            <a:picLocks noChangeAspect="1"/>
          </p:cNvPicPr>
          <p:nvPr/>
        </p:nvPicPr>
        <p:blipFill>
          <a:blip r:embed="rId2"/>
          <a:stretch>
            <a:fillRect/>
          </a:stretch>
        </p:blipFill>
        <p:spPr>
          <a:xfrm>
            <a:off x="287398" y="1159580"/>
            <a:ext cx="6332769" cy="685859"/>
          </a:xfrm>
          <a:prstGeom prst="rect">
            <a:avLst/>
          </a:prstGeom>
        </p:spPr>
      </p:pic>
      <p:pic>
        <p:nvPicPr>
          <p:cNvPr id="9" name="Picture 8">
            <a:extLst>
              <a:ext uri="{FF2B5EF4-FFF2-40B4-BE49-F238E27FC236}">
                <a16:creationId xmlns:a16="http://schemas.microsoft.com/office/drawing/2014/main" id="{9FF1923D-8C61-D62B-C360-6DA2DA02EA49}"/>
              </a:ext>
            </a:extLst>
          </p:cNvPr>
          <p:cNvPicPr>
            <a:picLocks noChangeAspect="1"/>
          </p:cNvPicPr>
          <p:nvPr/>
        </p:nvPicPr>
        <p:blipFill>
          <a:blip r:embed="rId3"/>
          <a:stretch>
            <a:fillRect/>
          </a:stretch>
        </p:blipFill>
        <p:spPr>
          <a:xfrm>
            <a:off x="287398" y="1947705"/>
            <a:ext cx="6332769" cy="1828958"/>
          </a:xfrm>
          <a:prstGeom prst="rect">
            <a:avLst/>
          </a:prstGeom>
        </p:spPr>
      </p:pic>
    </p:spTree>
    <p:extLst>
      <p:ext uri="{BB962C8B-B14F-4D97-AF65-F5344CB8AC3E}">
        <p14:creationId xmlns:p14="http://schemas.microsoft.com/office/powerpoint/2010/main" val="39106698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5036-2F64-0448-307E-A3C523E4DE1C}"/>
              </a:ext>
            </a:extLst>
          </p:cNvPr>
          <p:cNvSpPr>
            <a:spLocks noGrp="1"/>
          </p:cNvSpPr>
          <p:nvPr>
            <p:ph type="title"/>
          </p:nvPr>
        </p:nvSpPr>
        <p:spPr>
          <a:xfrm>
            <a:off x="913795" y="0"/>
            <a:ext cx="10353762" cy="666750"/>
          </a:xfrm>
        </p:spPr>
        <p:txBody>
          <a:bodyPr>
            <a:normAutofit fontScale="90000"/>
          </a:bodyPr>
          <a:lstStyle/>
          <a:p>
            <a:r>
              <a:rPr lang="ar-EG" b="1">
                <a:solidFill>
                  <a:srgbClr val="FFFF00"/>
                </a:solidFill>
              </a:rPr>
              <a:t>الزيارة الميدانية للعميل</a:t>
            </a:r>
            <a:endParaRPr lang="en-US"/>
          </a:p>
        </p:txBody>
      </p:sp>
      <p:sp>
        <p:nvSpPr>
          <p:cNvPr id="3" name="Content Placeholder 2">
            <a:extLst>
              <a:ext uri="{FF2B5EF4-FFF2-40B4-BE49-F238E27FC236}">
                <a16:creationId xmlns:a16="http://schemas.microsoft.com/office/drawing/2014/main" id="{467F3233-199C-84C6-FA47-20D4F58CFCD3}"/>
              </a:ext>
            </a:extLst>
          </p:cNvPr>
          <p:cNvSpPr>
            <a:spLocks noGrp="1"/>
          </p:cNvSpPr>
          <p:nvPr>
            <p:ph idx="1"/>
          </p:nvPr>
        </p:nvSpPr>
        <p:spPr>
          <a:xfrm>
            <a:off x="152400" y="666751"/>
            <a:ext cx="11896725" cy="6105524"/>
          </a:xfrm>
        </p:spPr>
        <p:txBody>
          <a:bodyPr/>
          <a:lstStyle/>
          <a:p>
            <a:pPr marL="36900" indent="0" algn="ctr">
              <a:buNone/>
            </a:pPr>
            <a:r>
              <a:rPr lang="ar-EG" sz="3200" b="1">
                <a:solidFill>
                  <a:srgbClr val="FFFF00"/>
                </a:solidFill>
              </a:rPr>
              <a:t>المستندات</a:t>
            </a:r>
            <a:endParaRPr lang="ar-EG"/>
          </a:p>
          <a:p>
            <a:endParaRPr lang="en-US"/>
          </a:p>
        </p:txBody>
      </p:sp>
      <p:pic>
        <p:nvPicPr>
          <p:cNvPr id="5" name="Picture 4">
            <a:extLst>
              <a:ext uri="{FF2B5EF4-FFF2-40B4-BE49-F238E27FC236}">
                <a16:creationId xmlns:a16="http://schemas.microsoft.com/office/drawing/2014/main" id="{4115BA89-B3EC-804F-F921-521DCB7B2453}"/>
              </a:ext>
            </a:extLst>
          </p:cNvPr>
          <p:cNvPicPr>
            <a:picLocks noChangeAspect="1"/>
          </p:cNvPicPr>
          <p:nvPr/>
        </p:nvPicPr>
        <p:blipFill>
          <a:blip r:embed="rId2"/>
          <a:stretch>
            <a:fillRect/>
          </a:stretch>
        </p:blipFill>
        <p:spPr>
          <a:xfrm>
            <a:off x="913795" y="2195381"/>
            <a:ext cx="7734970" cy="1524132"/>
          </a:xfrm>
          <a:prstGeom prst="rect">
            <a:avLst/>
          </a:prstGeom>
        </p:spPr>
      </p:pic>
    </p:spTree>
    <p:extLst>
      <p:ext uri="{BB962C8B-B14F-4D97-AF65-F5344CB8AC3E}">
        <p14:creationId xmlns:p14="http://schemas.microsoft.com/office/powerpoint/2010/main" val="2266877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6C779-4736-AFF9-8D91-CF82D468E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25265-927C-6B28-217A-FD4D08CC320F}"/>
              </a:ext>
            </a:extLst>
          </p:cNvPr>
          <p:cNvSpPr>
            <a:spLocks noGrp="1"/>
          </p:cNvSpPr>
          <p:nvPr>
            <p:ph type="title"/>
          </p:nvPr>
        </p:nvSpPr>
        <p:spPr>
          <a:xfrm>
            <a:off x="913795" y="0"/>
            <a:ext cx="10353762" cy="666750"/>
          </a:xfrm>
        </p:spPr>
        <p:txBody>
          <a:bodyPr>
            <a:normAutofit fontScale="90000"/>
          </a:bodyPr>
          <a:lstStyle/>
          <a:p>
            <a:r>
              <a:rPr lang="ar-EG" b="1">
                <a:solidFill>
                  <a:srgbClr val="FFFF00"/>
                </a:solidFill>
              </a:rPr>
              <a:t>الزيارة الميدانية للعميل</a:t>
            </a:r>
            <a:endParaRPr lang="en-US"/>
          </a:p>
        </p:txBody>
      </p:sp>
      <p:sp>
        <p:nvSpPr>
          <p:cNvPr id="3" name="Content Placeholder 2">
            <a:extLst>
              <a:ext uri="{FF2B5EF4-FFF2-40B4-BE49-F238E27FC236}">
                <a16:creationId xmlns:a16="http://schemas.microsoft.com/office/drawing/2014/main" id="{672EC321-3ADD-2486-FE3F-DCD8A4E5D930}"/>
              </a:ext>
            </a:extLst>
          </p:cNvPr>
          <p:cNvSpPr>
            <a:spLocks noGrp="1"/>
          </p:cNvSpPr>
          <p:nvPr>
            <p:ph idx="1"/>
          </p:nvPr>
        </p:nvSpPr>
        <p:spPr>
          <a:xfrm>
            <a:off x="152400" y="666751"/>
            <a:ext cx="11896725" cy="6105524"/>
          </a:xfrm>
        </p:spPr>
        <p:txBody>
          <a:bodyPr/>
          <a:lstStyle/>
          <a:p>
            <a:pPr marL="36900" indent="0" algn="ctr">
              <a:buNone/>
            </a:pPr>
            <a:r>
              <a:rPr lang="ar-EG" sz="2800" b="1">
                <a:solidFill>
                  <a:srgbClr val="FFFF00"/>
                </a:solidFill>
                <a:effectLst/>
              </a:rPr>
              <a:t>الإستعلام الميدانى للعميل</a:t>
            </a:r>
            <a:endParaRPr lang="ar-EG" sz="2800" b="1">
              <a:solidFill>
                <a:srgbClr val="FFFF00"/>
              </a:solidFill>
            </a:endParaRPr>
          </a:p>
          <a:p>
            <a:endParaRPr lang="en-US"/>
          </a:p>
        </p:txBody>
      </p:sp>
      <p:pic>
        <p:nvPicPr>
          <p:cNvPr id="6" name="Picture 5">
            <a:extLst>
              <a:ext uri="{FF2B5EF4-FFF2-40B4-BE49-F238E27FC236}">
                <a16:creationId xmlns:a16="http://schemas.microsoft.com/office/drawing/2014/main" id="{E4C70BA5-5F11-5566-2BF9-B71DDD258857}"/>
              </a:ext>
            </a:extLst>
          </p:cNvPr>
          <p:cNvPicPr>
            <a:picLocks noChangeAspect="1"/>
          </p:cNvPicPr>
          <p:nvPr/>
        </p:nvPicPr>
        <p:blipFill>
          <a:blip r:embed="rId2"/>
          <a:stretch>
            <a:fillRect/>
          </a:stretch>
        </p:blipFill>
        <p:spPr>
          <a:xfrm>
            <a:off x="1763696" y="1455204"/>
            <a:ext cx="7712108" cy="4976291"/>
          </a:xfrm>
          <a:prstGeom prst="rect">
            <a:avLst/>
          </a:prstGeom>
        </p:spPr>
      </p:pic>
    </p:spTree>
    <p:extLst>
      <p:ext uri="{BB962C8B-B14F-4D97-AF65-F5344CB8AC3E}">
        <p14:creationId xmlns:p14="http://schemas.microsoft.com/office/powerpoint/2010/main" val="12239377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118E-BDBA-8351-5C9D-FF6B2FF0035C}"/>
              </a:ext>
            </a:extLst>
          </p:cNvPr>
          <p:cNvSpPr>
            <a:spLocks noGrp="1"/>
          </p:cNvSpPr>
          <p:nvPr>
            <p:ph type="title"/>
          </p:nvPr>
        </p:nvSpPr>
        <p:spPr>
          <a:xfrm>
            <a:off x="913795" y="0"/>
            <a:ext cx="10353762" cy="685800"/>
          </a:xfrm>
        </p:spPr>
        <p:txBody>
          <a:bodyPr>
            <a:normAutofit fontScale="90000"/>
          </a:bodyPr>
          <a:lstStyle/>
          <a:p>
            <a:r>
              <a:rPr lang="ar-EG" b="1">
                <a:solidFill>
                  <a:srgbClr val="FFFF00"/>
                </a:solidFill>
              </a:rPr>
              <a:t>حفظ جميع بيانات الزيارة الميدانية للعميل</a:t>
            </a:r>
            <a:endParaRPr lang="en-US" b="1">
              <a:solidFill>
                <a:srgbClr val="FFFF00"/>
              </a:solidFill>
            </a:endParaRPr>
          </a:p>
        </p:txBody>
      </p:sp>
      <p:sp>
        <p:nvSpPr>
          <p:cNvPr id="3" name="Content Placeholder 2">
            <a:extLst>
              <a:ext uri="{FF2B5EF4-FFF2-40B4-BE49-F238E27FC236}">
                <a16:creationId xmlns:a16="http://schemas.microsoft.com/office/drawing/2014/main" id="{5F66CF50-A131-CA1B-8DDF-851740C2174C}"/>
              </a:ext>
            </a:extLst>
          </p:cNvPr>
          <p:cNvSpPr>
            <a:spLocks noGrp="1"/>
          </p:cNvSpPr>
          <p:nvPr>
            <p:ph idx="1"/>
          </p:nvPr>
        </p:nvSpPr>
        <p:spPr>
          <a:xfrm>
            <a:off x="133350" y="685801"/>
            <a:ext cx="11944350" cy="5915024"/>
          </a:xfrm>
        </p:spPr>
        <p:txBody>
          <a:bodyPr/>
          <a:lstStyle/>
          <a:p>
            <a:pPr latinLnBrk="1"/>
            <a:r>
              <a:rPr lang="en-US" b="1">
                <a:solidFill>
                  <a:srgbClr val="FFFF00"/>
                </a:solidFill>
                <a:effectLst/>
              </a:rPr>
              <a:t>Flow_FieldVisits_mainController</a:t>
            </a:r>
            <a:r>
              <a:rPr lang="en-US">
                <a:effectLst/>
              </a:rPr>
              <a:t>/</a:t>
            </a:r>
            <a:r>
              <a:rPr lang="en-US" b="1">
                <a:solidFill>
                  <a:srgbClr val="00B0F0"/>
                </a:solidFill>
                <a:effectLst/>
              </a:rPr>
              <a:t>InsertOrUpdateFlow_FieldVisits_ClientsWithDocuments</a:t>
            </a:r>
          </a:p>
          <a:p>
            <a:endParaRPr lang="en-US"/>
          </a:p>
          <a:p>
            <a:endParaRPr lang="en-US"/>
          </a:p>
          <a:p>
            <a:r>
              <a:rPr lang="en-US"/>
              <a:t>TWF.TWF_Download</a:t>
            </a:r>
          </a:p>
          <a:p>
            <a:pPr lvl="1"/>
            <a:r>
              <a:rPr lang="en-US" b="1"/>
              <a:t>These two records Due to : </a:t>
            </a:r>
            <a:r>
              <a:rPr lang="ar-EG" b="1"/>
              <a:t>الصورة الداخلية والخارجية للمنشأة</a:t>
            </a:r>
            <a:endParaRPr lang="en-US" b="1"/>
          </a:p>
          <a:p>
            <a:pPr lvl="1"/>
            <a:r>
              <a:rPr lang="en-US" b="1"/>
              <a:t>715:  </a:t>
            </a:r>
            <a:r>
              <a:rPr lang="ar-EG" b="1"/>
              <a:t>صورة خارجية للنشاط</a:t>
            </a:r>
            <a:r>
              <a:rPr lang="en-US" b="1"/>
              <a:t> FK from </a:t>
            </a:r>
            <a:r>
              <a:rPr lang="en-US" b="1">
                <a:solidFill>
                  <a:srgbClr val="00B0F0"/>
                </a:solidFill>
              </a:rPr>
              <a:t>Flow_Types_documents</a:t>
            </a:r>
          </a:p>
          <a:p>
            <a:pPr lvl="1"/>
            <a:r>
              <a:rPr lang="en-US" b="1">
                <a:solidFill>
                  <a:srgbClr val="00B0F0"/>
                </a:solidFill>
              </a:rPr>
              <a:t>716: </a:t>
            </a:r>
            <a:r>
              <a:rPr lang="ar-EG" b="1">
                <a:solidFill>
                  <a:srgbClr val="00B0F0"/>
                </a:solidFill>
              </a:rPr>
              <a:t>صورة داخلية للنشاط</a:t>
            </a:r>
          </a:p>
          <a:p>
            <a:pPr lvl="1"/>
            <a:endParaRPr lang="en-US" b="1">
              <a:solidFill>
                <a:srgbClr val="00B0F0"/>
              </a:solidFill>
            </a:endParaRPr>
          </a:p>
        </p:txBody>
      </p:sp>
      <p:pic>
        <p:nvPicPr>
          <p:cNvPr id="5" name="Picture 4">
            <a:extLst>
              <a:ext uri="{FF2B5EF4-FFF2-40B4-BE49-F238E27FC236}">
                <a16:creationId xmlns:a16="http://schemas.microsoft.com/office/drawing/2014/main" id="{C1EFA9A2-87AA-26E1-BD94-DFD7C332E161}"/>
              </a:ext>
            </a:extLst>
          </p:cNvPr>
          <p:cNvPicPr>
            <a:picLocks noChangeAspect="1"/>
          </p:cNvPicPr>
          <p:nvPr/>
        </p:nvPicPr>
        <p:blipFill>
          <a:blip r:embed="rId2"/>
          <a:stretch>
            <a:fillRect/>
          </a:stretch>
        </p:blipFill>
        <p:spPr>
          <a:xfrm>
            <a:off x="200025" y="3962400"/>
            <a:ext cx="10267754" cy="685823"/>
          </a:xfrm>
          <a:prstGeom prst="rect">
            <a:avLst/>
          </a:prstGeom>
        </p:spPr>
      </p:pic>
    </p:spTree>
    <p:extLst>
      <p:ext uri="{BB962C8B-B14F-4D97-AF65-F5344CB8AC3E}">
        <p14:creationId xmlns:p14="http://schemas.microsoft.com/office/powerpoint/2010/main" val="31011444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6B48B-EFF6-9D5B-45F9-6BD0A1B93ED7}"/>
              </a:ext>
            </a:extLst>
          </p:cNvPr>
          <p:cNvSpPr>
            <a:spLocks noGrp="1"/>
          </p:cNvSpPr>
          <p:nvPr>
            <p:ph type="title"/>
          </p:nvPr>
        </p:nvSpPr>
        <p:spPr>
          <a:xfrm>
            <a:off x="913795" y="0"/>
            <a:ext cx="10353762" cy="589935"/>
          </a:xfrm>
        </p:spPr>
        <p:txBody>
          <a:bodyPr>
            <a:normAutofit/>
          </a:bodyPr>
          <a:lstStyle/>
          <a:p>
            <a:r>
              <a:rPr lang="en-US" sz="3200" b="1">
                <a:solidFill>
                  <a:srgbClr val="FFFF00"/>
                </a:solidFill>
              </a:rPr>
              <a:t>TDWF</a:t>
            </a:r>
            <a:r>
              <a:rPr lang="en-US" sz="3200"/>
              <a:t>.</a:t>
            </a:r>
            <a:r>
              <a:rPr lang="en-US" sz="3200" b="1">
                <a:solidFill>
                  <a:srgbClr val="FF0000"/>
                </a:solidFill>
              </a:rPr>
              <a:t>Flow_FieldVisits_main</a:t>
            </a:r>
          </a:p>
        </p:txBody>
      </p:sp>
      <p:sp>
        <p:nvSpPr>
          <p:cNvPr id="3" name="Content Placeholder 2">
            <a:extLst>
              <a:ext uri="{FF2B5EF4-FFF2-40B4-BE49-F238E27FC236}">
                <a16:creationId xmlns:a16="http://schemas.microsoft.com/office/drawing/2014/main" id="{76D46CF0-F957-43D0-AD4F-051D1296BFE6}"/>
              </a:ext>
            </a:extLst>
          </p:cNvPr>
          <p:cNvSpPr>
            <a:spLocks noGrp="1"/>
          </p:cNvSpPr>
          <p:nvPr>
            <p:ph idx="1"/>
          </p:nvPr>
        </p:nvSpPr>
        <p:spPr>
          <a:xfrm>
            <a:off x="285134" y="1022555"/>
            <a:ext cx="11906865" cy="5574890"/>
          </a:xfrm>
        </p:spPr>
        <p:txBody>
          <a:bodyPr/>
          <a:lstStyle/>
          <a:p>
            <a:r>
              <a:rPr lang="en-US" sz="2200" b="1">
                <a:solidFill>
                  <a:srgbClr val="92D050"/>
                </a:solidFill>
              </a:rPr>
              <a:t>Once CO make any changes for the first time row is added into this table</a:t>
            </a:r>
          </a:p>
          <a:p>
            <a:endParaRPr lang="en-US"/>
          </a:p>
          <a:p>
            <a:r>
              <a:rPr lang="en-US"/>
              <a:t>FVM_ID: int , identity</a:t>
            </a:r>
          </a:p>
          <a:p>
            <a:r>
              <a:rPr lang="en-US"/>
              <a:t>Request_id : decimal? [FK, Flow_Funding_request]</a:t>
            </a:r>
          </a:p>
          <a:p>
            <a:r>
              <a:rPr lang="en-US"/>
              <a:t>UserId: int? [FK, from User] // the CO</a:t>
            </a:r>
          </a:p>
          <a:p>
            <a:r>
              <a:rPr lang="en-US"/>
              <a:t>ICollection&lt;</a:t>
            </a:r>
            <a:r>
              <a:rPr lang="en-US" b="1">
                <a:solidFill>
                  <a:srgbClr val="00B0F0"/>
                </a:solidFill>
              </a:rPr>
              <a:t>Flow_FieldVisits_Client</a:t>
            </a:r>
            <a:r>
              <a:rPr lang="en-US"/>
              <a:t>&gt; </a:t>
            </a:r>
            <a:r>
              <a:rPr lang="en-US" b="1">
                <a:solidFill>
                  <a:srgbClr val="FFFF00"/>
                </a:solidFill>
              </a:rPr>
              <a:t>Flow_FieldVisits_Client</a:t>
            </a:r>
          </a:p>
          <a:p>
            <a:r>
              <a:rPr lang="en-US"/>
              <a:t>ICollection&lt;</a:t>
            </a:r>
            <a:r>
              <a:rPr lang="en-US" b="1">
                <a:solidFill>
                  <a:srgbClr val="00B0F0"/>
                </a:solidFill>
              </a:rPr>
              <a:t>Flow_FieldVisits_Guarantor</a:t>
            </a:r>
            <a:r>
              <a:rPr lang="en-US"/>
              <a:t>&gt; </a:t>
            </a:r>
            <a:r>
              <a:rPr lang="en-US" b="1">
                <a:solidFill>
                  <a:srgbClr val="FFFF00"/>
                </a:solidFill>
              </a:rPr>
              <a:t>Flow_FieldVisits_Guarantor</a:t>
            </a:r>
          </a:p>
          <a:p>
            <a:r>
              <a:rPr lang="en-US"/>
              <a:t>ICollection&lt;</a:t>
            </a:r>
            <a:r>
              <a:rPr lang="en-US" b="1">
                <a:solidFill>
                  <a:srgbClr val="00B0F0"/>
                </a:solidFill>
              </a:rPr>
              <a:t>Flow_FieldVisits_Organization</a:t>
            </a:r>
            <a:r>
              <a:rPr lang="en-US"/>
              <a:t>&gt; </a:t>
            </a:r>
            <a:r>
              <a:rPr lang="en-US" b="1">
                <a:solidFill>
                  <a:srgbClr val="FFFF00"/>
                </a:solidFill>
              </a:rPr>
              <a:t>Flow_FieldVisits_Organization</a:t>
            </a:r>
          </a:p>
          <a:p>
            <a:r>
              <a:rPr lang="en-US"/>
              <a:t>ICollection&lt;</a:t>
            </a:r>
            <a:r>
              <a:rPr lang="en-US" b="1">
                <a:solidFill>
                  <a:srgbClr val="00B0F0"/>
                </a:solidFill>
              </a:rPr>
              <a:t>Flow_FieldVisits_StatisticsData</a:t>
            </a:r>
            <a:r>
              <a:rPr lang="en-US"/>
              <a:t>&gt; </a:t>
            </a:r>
            <a:r>
              <a:rPr lang="en-US" b="1">
                <a:solidFill>
                  <a:srgbClr val="FFFF00"/>
                </a:solidFill>
              </a:rPr>
              <a:t>Flow_FieldVisits_StatisticsData</a:t>
            </a:r>
          </a:p>
          <a:p>
            <a:r>
              <a:rPr lang="en-US"/>
              <a:t>ICollection&lt;</a:t>
            </a:r>
            <a:r>
              <a:rPr lang="en-US" b="1">
                <a:solidFill>
                  <a:srgbClr val="00B0F0"/>
                </a:solidFill>
              </a:rPr>
              <a:t>Flow_FieldVisits_FinancialAnalysis</a:t>
            </a:r>
            <a:r>
              <a:rPr lang="en-US"/>
              <a:t>&gt; </a:t>
            </a:r>
            <a:r>
              <a:rPr lang="en-US" b="1">
                <a:solidFill>
                  <a:srgbClr val="FFFF00"/>
                </a:solidFill>
              </a:rPr>
              <a:t>Flow_FieldVisits_FinancialAnalysis</a:t>
            </a:r>
          </a:p>
          <a:p>
            <a:r>
              <a:rPr lang="en-US"/>
              <a:t>ICollection&lt;</a:t>
            </a:r>
            <a:r>
              <a:rPr lang="en-US" b="1">
                <a:solidFill>
                  <a:srgbClr val="00B0F0"/>
                </a:solidFill>
              </a:rPr>
              <a:t>Flow_FieldVisits_FieldInquiry</a:t>
            </a:r>
            <a:r>
              <a:rPr lang="en-US"/>
              <a:t>&gt; </a:t>
            </a:r>
            <a:r>
              <a:rPr lang="en-US" b="1">
                <a:solidFill>
                  <a:srgbClr val="FFFF00"/>
                </a:solidFill>
              </a:rPr>
              <a:t>Flow_FieldVisits_FieldInquiry</a:t>
            </a:r>
          </a:p>
          <a:p>
            <a:endParaRPr lang="en-US"/>
          </a:p>
        </p:txBody>
      </p:sp>
      <p:pic>
        <p:nvPicPr>
          <p:cNvPr id="5" name="Picture 4">
            <a:extLst>
              <a:ext uri="{FF2B5EF4-FFF2-40B4-BE49-F238E27FC236}">
                <a16:creationId xmlns:a16="http://schemas.microsoft.com/office/drawing/2014/main" id="{E0011F55-6038-28F8-3FD4-D0BD7E1E7E48}"/>
              </a:ext>
            </a:extLst>
          </p:cNvPr>
          <p:cNvPicPr>
            <a:picLocks noChangeAspect="1"/>
          </p:cNvPicPr>
          <p:nvPr/>
        </p:nvPicPr>
        <p:blipFill>
          <a:blip r:embed="rId2"/>
          <a:stretch>
            <a:fillRect/>
          </a:stretch>
        </p:blipFill>
        <p:spPr>
          <a:xfrm>
            <a:off x="10009239" y="953729"/>
            <a:ext cx="2182760" cy="3028436"/>
          </a:xfrm>
          <a:prstGeom prst="rect">
            <a:avLst/>
          </a:prstGeom>
        </p:spPr>
      </p:pic>
    </p:spTree>
    <p:extLst>
      <p:ext uri="{BB962C8B-B14F-4D97-AF65-F5344CB8AC3E}">
        <p14:creationId xmlns:p14="http://schemas.microsoft.com/office/powerpoint/2010/main" val="28425531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4253-061B-B23B-8A64-31386EC4CA49}"/>
              </a:ext>
            </a:extLst>
          </p:cNvPr>
          <p:cNvSpPr>
            <a:spLocks noGrp="1"/>
          </p:cNvSpPr>
          <p:nvPr>
            <p:ph type="title"/>
          </p:nvPr>
        </p:nvSpPr>
        <p:spPr>
          <a:xfrm>
            <a:off x="913795" y="0"/>
            <a:ext cx="10353762" cy="737419"/>
          </a:xfrm>
        </p:spPr>
        <p:txBody>
          <a:bodyPr/>
          <a:lstStyle/>
          <a:p>
            <a:r>
              <a:rPr lang="en-US" b="1">
                <a:solidFill>
                  <a:srgbClr val="FFFF00"/>
                </a:solidFill>
              </a:rPr>
              <a:t>TDWF</a:t>
            </a:r>
            <a:r>
              <a:rPr lang="en-US"/>
              <a:t>.</a:t>
            </a:r>
            <a:r>
              <a:rPr lang="en-US" b="1">
                <a:solidFill>
                  <a:srgbClr val="FF0000"/>
                </a:solidFill>
              </a:rPr>
              <a:t>Flow_FieldVisits_Client</a:t>
            </a:r>
          </a:p>
        </p:txBody>
      </p:sp>
      <p:sp>
        <p:nvSpPr>
          <p:cNvPr id="3" name="Content Placeholder 2">
            <a:extLst>
              <a:ext uri="{FF2B5EF4-FFF2-40B4-BE49-F238E27FC236}">
                <a16:creationId xmlns:a16="http://schemas.microsoft.com/office/drawing/2014/main" id="{DFE6DFCD-63E0-C297-13AE-96A780EEF552}"/>
              </a:ext>
            </a:extLst>
          </p:cNvPr>
          <p:cNvSpPr>
            <a:spLocks noGrp="1"/>
          </p:cNvSpPr>
          <p:nvPr>
            <p:ph idx="1"/>
          </p:nvPr>
        </p:nvSpPr>
        <p:spPr>
          <a:xfrm>
            <a:off x="157316" y="737419"/>
            <a:ext cx="11857703" cy="5948516"/>
          </a:xfrm>
        </p:spPr>
        <p:txBody>
          <a:bodyPr/>
          <a:lstStyle/>
          <a:p>
            <a:r>
              <a:rPr lang="en-US"/>
              <a:t>int FVC_ID </a:t>
            </a:r>
            <a:r>
              <a:rPr lang="en-US" b="1">
                <a:solidFill>
                  <a:srgbClr val="FFFF00"/>
                </a:solidFill>
              </a:rPr>
              <a:t>[ PK]</a:t>
            </a:r>
          </a:p>
          <a:p>
            <a:r>
              <a:rPr lang="en-US"/>
              <a:t>DateTime? visit_date</a:t>
            </a:r>
          </a:p>
          <a:p>
            <a:r>
              <a:rPr lang="en-US"/>
              <a:t>string Residence_Type: </a:t>
            </a:r>
            <a:r>
              <a:rPr lang="ar-EG"/>
              <a:t>نوع السكن</a:t>
            </a:r>
            <a:endParaRPr lang="en-US"/>
          </a:p>
          <a:p>
            <a:pPr lvl="1"/>
            <a:r>
              <a:rPr lang="ar-EG"/>
              <a:t>إيجار جديد, إيجار قديم, تمليك</a:t>
            </a:r>
            <a:endParaRPr lang="en-US"/>
          </a:p>
          <a:p>
            <a:r>
              <a:rPr lang="en-US"/>
              <a:t>decimal RecommendedAmount</a:t>
            </a:r>
          </a:p>
          <a:p>
            <a:r>
              <a:rPr lang="en-US"/>
              <a:t>decimal recommend_num_months</a:t>
            </a:r>
          </a:p>
          <a:p>
            <a:r>
              <a:rPr lang="en-US"/>
              <a:t>decimal recommended_funding  [calculated]</a:t>
            </a:r>
          </a:p>
          <a:p>
            <a:r>
              <a:rPr lang="en-US"/>
              <a:t>decimal recommend_total_funding [calculated]</a:t>
            </a:r>
          </a:p>
          <a:p>
            <a:r>
              <a:rPr lang="en-US"/>
              <a:t>decimal premium_amount  [calculated]</a:t>
            </a:r>
          </a:p>
          <a:p>
            <a:r>
              <a:rPr lang="en-US"/>
              <a:t>string CO_Recommendation</a:t>
            </a:r>
          </a:p>
          <a:p>
            <a:r>
              <a:rPr lang="en-US"/>
              <a:t>decimal? FVM _ID [ </a:t>
            </a:r>
            <a:r>
              <a:rPr lang="en-US" b="1">
                <a:solidFill>
                  <a:srgbClr val="FFFF00"/>
                </a:solidFill>
              </a:rPr>
              <a:t>FK</a:t>
            </a:r>
            <a:r>
              <a:rPr lang="en-US"/>
              <a:t>, </a:t>
            </a:r>
            <a:r>
              <a:rPr lang="en-US" b="1">
                <a:solidFill>
                  <a:srgbClr val="FF0000"/>
                </a:solidFill>
              </a:rPr>
              <a:t>Flow_FieldVisits_main</a:t>
            </a:r>
            <a:r>
              <a:rPr lang="en-US"/>
              <a:t> ]</a:t>
            </a:r>
          </a:p>
          <a:p>
            <a:endParaRPr lang="en-US"/>
          </a:p>
        </p:txBody>
      </p:sp>
      <p:pic>
        <p:nvPicPr>
          <p:cNvPr id="5" name="Picture 4">
            <a:extLst>
              <a:ext uri="{FF2B5EF4-FFF2-40B4-BE49-F238E27FC236}">
                <a16:creationId xmlns:a16="http://schemas.microsoft.com/office/drawing/2014/main" id="{15691E33-AA6C-F8EA-42C2-DEFF693B432B}"/>
              </a:ext>
            </a:extLst>
          </p:cNvPr>
          <p:cNvPicPr>
            <a:picLocks noChangeAspect="1"/>
          </p:cNvPicPr>
          <p:nvPr/>
        </p:nvPicPr>
        <p:blipFill>
          <a:blip r:embed="rId2"/>
          <a:stretch>
            <a:fillRect/>
          </a:stretch>
        </p:blipFill>
        <p:spPr>
          <a:xfrm>
            <a:off x="137651" y="5619136"/>
            <a:ext cx="11877368" cy="501445"/>
          </a:xfrm>
          <a:prstGeom prst="rect">
            <a:avLst/>
          </a:prstGeom>
        </p:spPr>
      </p:pic>
      <p:sp>
        <p:nvSpPr>
          <p:cNvPr id="4" name="Rectangle 3">
            <a:extLst>
              <a:ext uri="{FF2B5EF4-FFF2-40B4-BE49-F238E27FC236}">
                <a16:creationId xmlns:a16="http://schemas.microsoft.com/office/drawing/2014/main" id="{23FF2310-9F71-B82A-648C-3459879C2F09}"/>
              </a:ext>
            </a:extLst>
          </p:cNvPr>
          <p:cNvSpPr/>
          <p:nvPr/>
        </p:nvSpPr>
        <p:spPr>
          <a:xfrm>
            <a:off x="6499122" y="875069"/>
            <a:ext cx="5535562" cy="44494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457200" indent="-457200">
              <a:buFont typeface="Arial" panose="020B0604020202020204" pitchFamily="34" charset="0"/>
              <a:buChar char="•"/>
            </a:pPr>
            <a:r>
              <a:rPr lang="ar-EG" sz="2800" b="1"/>
              <a:t>القرار الإتماني</a:t>
            </a:r>
            <a:endParaRPr lang="en-US" sz="2800" b="1"/>
          </a:p>
          <a:p>
            <a:pPr marL="914400" lvl="1" indent="-457200">
              <a:buFont typeface="Arial" panose="020B0604020202020204" pitchFamily="34" charset="0"/>
              <a:buChar char="•"/>
            </a:pPr>
            <a:r>
              <a:rPr lang="en-US" sz="2000" b="1"/>
              <a:t>RecommendedAmount</a:t>
            </a:r>
          </a:p>
          <a:p>
            <a:pPr marL="914400" lvl="1" indent="-457200">
              <a:buFont typeface="Arial" panose="020B0604020202020204" pitchFamily="34" charset="0"/>
              <a:buChar char="•"/>
            </a:pPr>
            <a:r>
              <a:rPr lang="en-US" sz="2000" b="1"/>
              <a:t>Recommend_num_months</a:t>
            </a:r>
          </a:p>
          <a:p>
            <a:pPr marL="914400" lvl="1" indent="-457200">
              <a:buFont typeface="Arial" panose="020B0604020202020204" pitchFamily="34" charset="0"/>
              <a:buChar char="•"/>
            </a:pPr>
            <a:r>
              <a:rPr lang="en-US" sz="2000" b="1"/>
              <a:t>Recommended_funding</a:t>
            </a:r>
          </a:p>
          <a:p>
            <a:pPr marL="914400" lvl="1" indent="-457200">
              <a:buFont typeface="Arial" panose="020B0604020202020204" pitchFamily="34" charset="0"/>
              <a:buChar char="•"/>
            </a:pPr>
            <a:r>
              <a:rPr lang="en-US" sz="2000" b="1"/>
              <a:t>premium_amount</a:t>
            </a:r>
            <a:endParaRPr lang="ar-EG" sz="2000" b="1"/>
          </a:p>
          <a:p>
            <a:pPr marL="914400" lvl="1" indent="-457200">
              <a:buFont typeface="Arial" panose="020B0604020202020204" pitchFamily="34" charset="0"/>
              <a:buChar char="•"/>
            </a:pPr>
            <a:r>
              <a:rPr lang="en-US" sz="2000" b="1"/>
              <a:t>recommended_funding</a:t>
            </a:r>
          </a:p>
          <a:p>
            <a:pPr marL="914400" lvl="1" indent="-457200">
              <a:buFont typeface="Arial" panose="020B0604020202020204" pitchFamily="34" charset="0"/>
              <a:buChar char="•"/>
            </a:pPr>
            <a:r>
              <a:rPr lang="en-US" sz="2000" b="1"/>
              <a:t>recommended_total_funding</a:t>
            </a:r>
          </a:p>
          <a:p>
            <a:pPr marL="457200" indent="-457200">
              <a:buFont typeface="Arial" panose="020B0604020202020204" pitchFamily="34" charset="0"/>
              <a:buChar char="•"/>
            </a:pPr>
            <a:r>
              <a:rPr lang="ar-EG" sz="2800" b="1"/>
              <a:t>بيانات التمويل والعميل</a:t>
            </a:r>
          </a:p>
          <a:p>
            <a:pPr marL="914400" lvl="1" indent="-457200">
              <a:buFont typeface="Arial" panose="020B0604020202020204" pitchFamily="34" charset="0"/>
              <a:buChar char="•"/>
            </a:pPr>
            <a:r>
              <a:rPr lang="ar-EG" sz="2000"/>
              <a:t>تاريخ الزيارة</a:t>
            </a:r>
            <a:r>
              <a:rPr lang="en-US" sz="2000"/>
              <a:t>   [ FieldVisit ]</a:t>
            </a:r>
            <a:r>
              <a:rPr lang="ar-EG" sz="2000"/>
              <a:t>		</a:t>
            </a:r>
          </a:p>
          <a:p>
            <a:pPr marL="914400" lvl="1" indent="-457200">
              <a:buFont typeface="Arial" panose="020B0604020202020204" pitchFamily="34" charset="0"/>
              <a:buChar char="•"/>
            </a:pPr>
            <a:r>
              <a:rPr lang="ar-EG" sz="2000"/>
              <a:t>نوع التمليك</a:t>
            </a:r>
            <a:r>
              <a:rPr lang="en-US" sz="2000"/>
              <a:t>     [ Residence_Type ]</a:t>
            </a:r>
            <a:endParaRPr lang="ar-EG" sz="2800" b="1"/>
          </a:p>
          <a:p>
            <a:pPr marL="457200" indent="-457200">
              <a:buFont typeface="Arial" panose="020B0604020202020204" pitchFamily="34" charset="0"/>
              <a:buChar char="•"/>
            </a:pPr>
            <a:r>
              <a:rPr lang="ar-EG" sz="2800" b="1"/>
              <a:t>الاستعلام الميداني للعميل</a:t>
            </a:r>
          </a:p>
          <a:p>
            <a:pPr marL="914400" lvl="1" indent="-457200">
              <a:buFont typeface="Arial" panose="020B0604020202020204" pitchFamily="34" charset="0"/>
              <a:buChar char="•"/>
            </a:pPr>
            <a:r>
              <a:rPr lang="ar-EG" sz="2000" b="1"/>
              <a:t> توصية المسئول الاول</a:t>
            </a:r>
            <a:r>
              <a:rPr lang="en-US" sz="2000" b="1"/>
              <a:t>CO_Recommendation</a:t>
            </a:r>
            <a:endParaRPr lang="ar-EG" sz="2000" b="1"/>
          </a:p>
        </p:txBody>
      </p:sp>
    </p:spTree>
    <p:extLst>
      <p:ext uri="{BB962C8B-B14F-4D97-AF65-F5344CB8AC3E}">
        <p14:creationId xmlns:p14="http://schemas.microsoft.com/office/powerpoint/2010/main" val="42244377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5C1E-46F6-426A-F714-56252D2886C9}"/>
              </a:ext>
            </a:extLst>
          </p:cNvPr>
          <p:cNvSpPr>
            <a:spLocks noGrp="1"/>
          </p:cNvSpPr>
          <p:nvPr>
            <p:ph type="title"/>
          </p:nvPr>
        </p:nvSpPr>
        <p:spPr>
          <a:xfrm>
            <a:off x="913795" y="0"/>
            <a:ext cx="10353762" cy="727587"/>
          </a:xfrm>
        </p:spPr>
        <p:txBody>
          <a:bodyPr/>
          <a:lstStyle/>
          <a:p>
            <a:r>
              <a:rPr lang="en-US" b="1">
                <a:solidFill>
                  <a:srgbClr val="FFFF00"/>
                </a:solidFill>
              </a:rPr>
              <a:t>TDWF</a:t>
            </a:r>
            <a:r>
              <a:rPr lang="en-US"/>
              <a:t>.</a:t>
            </a:r>
            <a:r>
              <a:rPr lang="en-US" b="1">
                <a:solidFill>
                  <a:srgbClr val="FF0000"/>
                </a:solidFill>
              </a:rPr>
              <a:t>Flow_FieldVisits_FieldInquiry</a:t>
            </a:r>
          </a:p>
        </p:txBody>
      </p:sp>
      <p:sp>
        <p:nvSpPr>
          <p:cNvPr id="3" name="Content Placeholder 2">
            <a:extLst>
              <a:ext uri="{FF2B5EF4-FFF2-40B4-BE49-F238E27FC236}">
                <a16:creationId xmlns:a16="http://schemas.microsoft.com/office/drawing/2014/main" id="{2882AB78-D442-5C00-025E-59799755ADA1}"/>
              </a:ext>
            </a:extLst>
          </p:cNvPr>
          <p:cNvSpPr>
            <a:spLocks noGrp="1"/>
          </p:cNvSpPr>
          <p:nvPr>
            <p:ph idx="1"/>
          </p:nvPr>
        </p:nvSpPr>
        <p:spPr>
          <a:xfrm>
            <a:off x="176980" y="727587"/>
            <a:ext cx="11769213" cy="6046839"/>
          </a:xfrm>
        </p:spPr>
        <p:txBody>
          <a:bodyPr/>
          <a:lstStyle/>
          <a:p>
            <a:r>
              <a:rPr lang="en-US" sz="2800" b="1"/>
              <a:t>This table represent </a:t>
            </a:r>
            <a:r>
              <a:rPr lang="ar-EG" sz="2800" b="1"/>
              <a:t>الاستعلام الميداني للعميل والضامن</a:t>
            </a:r>
            <a:endParaRPr lang="en-US" sz="2800" b="1"/>
          </a:p>
          <a:p>
            <a:r>
              <a:rPr lang="en-US"/>
              <a:t>int FVFI_ID </a:t>
            </a:r>
          </a:p>
          <a:p>
            <a:r>
              <a:rPr lang="en-US"/>
              <a:t>string InquiriedPerson_Name  // </a:t>
            </a:r>
            <a:r>
              <a:rPr lang="ar-EG"/>
              <a:t>اسم الشخص المستعلم منه</a:t>
            </a:r>
          </a:p>
          <a:p>
            <a:r>
              <a:rPr lang="en-US"/>
              <a:t>string Relation  // </a:t>
            </a:r>
            <a:r>
              <a:rPr lang="ar-EG"/>
              <a:t>صلته بالعميل او الضامن</a:t>
            </a:r>
          </a:p>
          <a:p>
            <a:r>
              <a:rPr lang="en-US"/>
              <a:t>string Reputation  // </a:t>
            </a:r>
            <a:r>
              <a:rPr lang="ar-EG"/>
              <a:t>او الضامن سمعة العميل</a:t>
            </a:r>
          </a:p>
          <a:p>
            <a:r>
              <a:rPr lang="en-US"/>
              <a:t>string indebtedness  //</a:t>
            </a:r>
            <a:r>
              <a:rPr lang="ar-EG"/>
              <a:t>مديونية العميل او الضامن</a:t>
            </a:r>
          </a:p>
          <a:p>
            <a:r>
              <a:rPr lang="en-US"/>
              <a:t>string Attitude  //</a:t>
            </a:r>
            <a:r>
              <a:rPr lang="ar-EG"/>
              <a:t>سلوك العميل او الضامن</a:t>
            </a:r>
          </a:p>
          <a:p>
            <a:r>
              <a:rPr lang="en-US"/>
              <a:t>int InquiriedPerson_Number  //(</a:t>
            </a:r>
            <a:r>
              <a:rPr lang="ar-EG"/>
              <a:t>رقم المستعلم منه( الأول او الثانى  </a:t>
            </a:r>
          </a:p>
          <a:p>
            <a:r>
              <a:rPr lang="en-US"/>
              <a:t>string InquiriedPerson_About  //( </a:t>
            </a:r>
            <a:r>
              <a:rPr lang="ar-EG"/>
              <a:t>المستعلم منه  عن ( العميل /الضامن </a:t>
            </a:r>
          </a:p>
          <a:p>
            <a:r>
              <a:rPr lang="en-US"/>
              <a:t>decimal? FVM_ID //</a:t>
            </a:r>
            <a:r>
              <a:rPr lang="en-US" b="1">
                <a:solidFill>
                  <a:srgbClr val="FFFF00"/>
                </a:solidFill>
              </a:rPr>
              <a:t>FK_Of_FlowField_VisitsMain_TBL</a:t>
            </a:r>
          </a:p>
        </p:txBody>
      </p:sp>
      <p:pic>
        <p:nvPicPr>
          <p:cNvPr id="6" name="Picture 5">
            <a:extLst>
              <a:ext uri="{FF2B5EF4-FFF2-40B4-BE49-F238E27FC236}">
                <a16:creationId xmlns:a16="http://schemas.microsoft.com/office/drawing/2014/main" id="{96F8F141-4013-6030-5284-56F58F0B79AA}"/>
              </a:ext>
            </a:extLst>
          </p:cNvPr>
          <p:cNvPicPr>
            <a:picLocks noChangeAspect="1"/>
          </p:cNvPicPr>
          <p:nvPr/>
        </p:nvPicPr>
        <p:blipFill>
          <a:blip r:embed="rId2"/>
          <a:stretch>
            <a:fillRect/>
          </a:stretch>
        </p:blipFill>
        <p:spPr>
          <a:xfrm>
            <a:off x="245807" y="5307429"/>
            <a:ext cx="10026493" cy="822984"/>
          </a:xfrm>
          <a:prstGeom prst="rect">
            <a:avLst/>
          </a:prstGeom>
        </p:spPr>
      </p:pic>
    </p:spTree>
    <p:extLst>
      <p:ext uri="{BB962C8B-B14F-4D97-AF65-F5344CB8AC3E}">
        <p14:creationId xmlns:p14="http://schemas.microsoft.com/office/powerpoint/2010/main" val="17265605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E9499-9D8D-93F7-BA1A-E4E727ED2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19DD3-4429-FAEA-96CD-BD8537559D55}"/>
              </a:ext>
            </a:extLst>
          </p:cNvPr>
          <p:cNvSpPr>
            <a:spLocks noGrp="1"/>
          </p:cNvSpPr>
          <p:nvPr>
            <p:ph type="title"/>
          </p:nvPr>
        </p:nvSpPr>
        <p:spPr>
          <a:xfrm>
            <a:off x="913795" y="8594"/>
            <a:ext cx="10353762" cy="629581"/>
          </a:xfrm>
        </p:spPr>
        <p:txBody>
          <a:bodyPr>
            <a:normAutofit fontScale="90000"/>
          </a:bodyPr>
          <a:lstStyle/>
          <a:p>
            <a:r>
              <a:rPr lang="ar-EG" b="1"/>
              <a:t>الزيارة الميدانية للضامن</a:t>
            </a:r>
            <a:endParaRPr lang="en-US" b="1"/>
          </a:p>
        </p:txBody>
      </p:sp>
      <p:sp>
        <p:nvSpPr>
          <p:cNvPr id="3" name="Content Placeholder 2">
            <a:extLst>
              <a:ext uri="{FF2B5EF4-FFF2-40B4-BE49-F238E27FC236}">
                <a16:creationId xmlns:a16="http://schemas.microsoft.com/office/drawing/2014/main" id="{4EB0A544-F9F7-64BE-0789-F4172FDF3E2A}"/>
              </a:ext>
            </a:extLst>
          </p:cNvPr>
          <p:cNvSpPr>
            <a:spLocks noGrp="1"/>
          </p:cNvSpPr>
          <p:nvPr>
            <p:ph idx="1"/>
          </p:nvPr>
        </p:nvSpPr>
        <p:spPr>
          <a:xfrm>
            <a:off x="95250" y="761999"/>
            <a:ext cx="11934825" cy="5819775"/>
          </a:xfrm>
        </p:spPr>
        <p:txBody>
          <a:bodyPr/>
          <a:lstStyle/>
          <a:p>
            <a:r>
              <a:rPr lang="en-US" sz="2400" b="1"/>
              <a:t>When CO click on </a:t>
            </a:r>
            <a:r>
              <a:rPr lang="ar-EG" sz="2400" b="1"/>
              <a:t>لم يستدل عليه</a:t>
            </a:r>
            <a:r>
              <a:rPr lang="en-US" sz="2400" b="1"/>
              <a:t> </a:t>
            </a:r>
            <a:endParaRPr lang="en-US" sz="2400" b="1">
              <a:solidFill>
                <a:srgbClr val="FFFF00"/>
              </a:solidFill>
              <a:effectLst/>
            </a:endParaRPr>
          </a:p>
          <a:p>
            <a:pPr lvl="1"/>
            <a:r>
              <a:rPr lang="en-US" b="1">
                <a:solidFill>
                  <a:srgbClr val="FFFF00"/>
                </a:solidFill>
                <a:effectLst/>
              </a:rPr>
              <a:t>Flow_Funding_requestController</a:t>
            </a:r>
            <a:r>
              <a:rPr lang="en-US" b="1">
                <a:effectLst/>
              </a:rPr>
              <a:t>/</a:t>
            </a:r>
            <a:r>
              <a:rPr lang="en-US" b="1">
                <a:solidFill>
                  <a:srgbClr val="00B0F0"/>
                </a:solidFill>
                <a:effectLst/>
              </a:rPr>
              <a:t>CalculateVisitCount</a:t>
            </a:r>
            <a:r>
              <a:rPr lang="en-US" b="1"/>
              <a:t>/{RequestID}</a:t>
            </a:r>
            <a:endParaRPr lang="ar-EG" b="1"/>
          </a:p>
          <a:p>
            <a:pPr lvl="2"/>
            <a:r>
              <a:rPr lang="en-US" b="1"/>
              <a:t>Flow_Funding_requestService. </a:t>
            </a:r>
            <a:r>
              <a:rPr lang="en-US" b="1">
                <a:solidFill>
                  <a:srgbClr val="FFFF00"/>
                </a:solidFill>
              </a:rPr>
              <a:t>GetOneRowOfFlowFundingRequest</a:t>
            </a:r>
            <a:endParaRPr lang="ar-EG" b="1">
              <a:solidFill>
                <a:srgbClr val="FFFF00"/>
              </a:solidFill>
            </a:endParaRPr>
          </a:p>
          <a:p>
            <a:r>
              <a:rPr lang="en-US" b="1"/>
              <a:t>Funding_Request</a:t>
            </a:r>
          </a:p>
          <a:p>
            <a:pPr lvl="1"/>
            <a:r>
              <a:rPr lang="en-US" b="1"/>
              <a:t>GuarVisitCount from </a:t>
            </a:r>
            <a:r>
              <a:rPr lang="en-US" b="1">
                <a:solidFill>
                  <a:srgbClr val="00B0F0"/>
                </a:solidFill>
              </a:rPr>
              <a:t>Null</a:t>
            </a:r>
            <a:r>
              <a:rPr lang="en-US" b="1"/>
              <a:t> to </a:t>
            </a:r>
            <a:r>
              <a:rPr lang="en-US" b="1">
                <a:solidFill>
                  <a:srgbClr val="00B0F0"/>
                </a:solidFill>
              </a:rPr>
              <a:t>1</a:t>
            </a:r>
          </a:p>
          <a:p>
            <a:endParaRPr lang="ar-EG"/>
          </a:p>
          <a:p>
            <a:endParaRPr lang="en-US"/>
          </a:p>
        </p:txBody>
      </p:sp>
    </p:spTree>
    <p:extLst>
      <p:ext uri="{BB962C8B-B14F-4D97-AF65-F5344CB8AC3E}">
        <p14:creationId xmlns:p14="http://schemas.microsoft.com/office/powerpoint/2010/main" val="1135805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EE4D-F4A0-478A-94EF-B235A3666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F8EC7E-12CC-3F6F-81E2-9C8F96ED820F}"/>
              </a:ext>
            </a:extLst>
          </p:cNvPr>
          <p:cNvSpPr>
            <a:spLocks noGrp="1"/>
          </p:cNvSpPr>
          <p:nvPr>
            <p:ph type="title"/>
          </p:nvPr>
        </p:nvSpPr>
        <p:spPr>
          <a:xfrm>
            <a:off x="913795" y="8594"/>
            <a:ext cx="10353762" cy="629581"/>
          </a:xfrm>
        </p:spPr>
        <p:txBody>
          <a:bodyPr>
            <a:normAutofit fontScale="90000"/>
          </a:bodyPr>
          <a:lstStyle/>
          <a:p>
            <a:r>
              <a:rPr lang="ar-EG" b="1"/>
              <a:t>الزيارة الميدانية للضامن</a:t>
            </a:r>
            <a:endParaRPr lang="en-US" b="1"/>
          </a:p>
        </p:txBody>
      </p:sp>
      <p:sp>
        <p:nvSpPr>
          <p:cNvPr id="3" name="Content Placeholder 2">
            <a:extLst>
              <a:ext uri="{FF2B5EF4-FFF2-40B4-BE49-F238E27FC236}">
                <a16:creationId xmlns:a16="http://schemas.microsoft.com/office/drawing/2014/main" id="{ED56D370-78E7-1799-D367-E2034E8A39A3}"/>
              </a:ext>
            </a:extLst>
          </p:cNvPr>
          <p:cNvSpPr>
            <a:spLocks noGrp="1"/>
          </p:cNvSpPr>
          <p:nvPr>
            <p:ph idx="1"/>
          </p:nvPr>
        </p:nvSpPr>
        <p:spPr>
          <a:xfrm>
            <a:off x="95250" y="761999"/>
            <a:ext cx="11934825" cy="5819775"/>
          </a:xfrm>
        </p:spPr>
        <p:txBody>
          <a:bodyPr/>
          <a:lstStyle/>
          <a:p>
            <a:endParaRPr lang="ar-EG"/>
          </a:p>
          <a:p>
            <a:endParaRPr lang="en-US"/>
          </a:p>
        </p:txBody>
      </p:sp>
      <p:pic>
        <p:nvPicPr>
          <p:cNvPr id="5" name="Picture 4">
            <a:extLst>
              <a:ext uri="{FF2B5EF4-FFF2-40B4-BE49-F238E27FC236}">
                <a16:creationId xmlns:a16="http://schemas.microsoft.com/office/drawing/2014/main" id="{3990F507-DCB2-4746-7A00-F7F9632EE384}"/>
              </a:ext>
            </a:extLst>
          </p:cNvPr>
          <p:cNvPicPr>
            <a:picLocks noChangeAspect="1"/>
          </p:cNvPicPr>
          <p:nvPr/>
        </p:nvPicPr>
        <p:blipFill>
          <a:blip r:embed="rId2"/>
          <a:stretch>
            <a:fillRect/>
          </a:stretch>
        </p:blipFill>
        <p:spPr>
          <a:xfrm>
            <a:off x="95250" y="761999"/>
            <a:ext cx="7209145" cy="2766300"/>
          </a:xfrm>
          <a:prstGeom prst="rect">
            <a:avLst/>
          </a:prstGeom>
        </p:spPr>
      </p:pic>
    </p:spTree>
    <p:extLst>
      <p:ext uri="{BB962C8B-B14F-4D97-AF65-F5344CB8AC3E}">
        <p14:creationId xmlns:p14="http://schemas.microsoft.com/office/powerpoint/2010/main" val="16621563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5B3D-441B-FBC6-1397-DD866A2DF4B5}"/>
              </a:ext>
            </a:extLst>
          </p:cNvPr>
          <p:cNvSpPr>
            <a:spLocks noGrp="1"/>
          </p:cNvSpPr>
          <p:nvPr>
            <p:ph type="title"/>
          </p:nvPr>
        </p:nvSpPr>
        <p:spPr>
          <a:xfrm>
            <a:off x="913795" y="0"/>
            <a:ext cx="10353762" cy="685800"/>
          </a:xfrm>
        </p:spPr>
        <p:txBody>
          <a:bodyPr>
            <a:normAutofit fontScale="90000"/>
          </a:bodyPr>
          <a:lstStyle/>
          <a:p>
            <a:r>
              <a:rPr lang="ar-EG" b="1"/>
              <a:t>الزيارة الميدانية للضامن</a:t>
            </a:r>
            <a:endParaRPr lang="en-US" b="1"/>
          </a:p>
        </p:txBody>
      </p:sp>
      <p:sp>
        <p:nvSpPr>
          <p:cNvPr id="11" name="Content Placeholder 10">
            <a:extLst>
              <a:ext uri="{FF2B5EF4-FFF2-40B4-BE49-F238E27FC236}">
                <a16:creationId xmlns:a16="http://schemas.microsoft.com/office/drawing/2014/main" id="{F3F67EA5-07F1-D2AA-AA16-8FA7DD50AD8E}"/>
              </a:ext>
            </a:extLst>
          </p:cNvPr>
          <p:cNvSpPr>
            <a:spLocks noGrp="1"/>
          </p:cNvSpPr>
          <p:nvPr>
            <p:ph idx="1"/>
          </p:nvPr>
        </p:nvSpPr>
        <p:spPr>
          <a:xfrm>
            <a:off x="913795" y="685801"/>
            <a:ext cx="10353762" cy="5105400"/>
          </a:xfrm>
        </p:spPr>
        <p:txBody>
          <a:bodyPr/>
          <a:lstStyle/>
          <a:p>
            <a:pPr marL="36900" indent="0" algn="ctr">
              <a:buNone/>
            </a:pPr>
            <a:r>
              <a:rPr lang="ar-EG" sz="2800" b="1">
                <a:solidFill>
                  <a:srgbClr val="00B0F0"/>
                </a:solidFill>
              </a:rPr>
              <a:t>الإستعلام الميدانى للضامن</a:t>
            </a:r>
          </a:p>
          <a:p>
            <a:endParaRPr lang="ar-EG" b="1"/>
          </a:p>
          <a:p>
            <a:endParaRPr lang="en-US"/>
          </a:p>
        </p:txBody>
      </p:sp>
      <p:pic>
        <p:nvPicPr>
          <p:cNvPr id="13" name="Picture 12">
            <a:extLst>
              <a:ext uri="{FF2B5EF4-FFF2-40B4-BE49-F238E27FC236}">
                <a16:creationId xmlns:a16="http://schemas.microsoft.com/office/drawing/2014/main" id="{1D96B283-7EA0-E6A2-8DDA-4A8A95C53749}"/>
              </a:ext>
            </a:extLst>
          </p:cNvPr>
          <p:cNvPicPr>
            <a:picLocks noChangeAspect="1"/>
          </p:cNvPicPr>
          <p:nvPr/>
        </p:nvPicPr>
        <p:blipFill>
          <a:blip r:embed="rId2"/>
          <a:stretch>
            <a:fillRect/>
          </a:stretch>
        </p:blipFill>
        <p:spPr>
          <a:xfrm>
            <a:off x="1471050" y="1339741"/>
            <a:ext cx="6606149" cy="4981774"/>
          </a:xfrm>
          <a:prstGeom prst="rect">
            <a:avLst/>
          </a:prstGeom>
        </p:spPr>
      </p:pic>
    </p:spTree>
    <p:extLst>
      <p:ext uri="{BB962C8B-B14F-4D97-AF65-F5344CB8AC3E}">
        <p14:creationId xmlns:p14="http://schemas.microsoft.com/office/powerpoint/2010/main" val="40966486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9B580-A839-92D7-5A02-F3E6200D268C}"/>
              </a:ext>
            </a:extLst>
          </p:cNvPr>
          <p:cNvSpPr>
            <a:spLocks noGrp="1"/>
          </p:cNvSpPr>
          <p:nvPr>
            <p:ph type="title"/>
          </p:nvPr>
        </p:nvSpPr>
        <p:spPr>
          <a:xfrm>
            <a:off x="913795" y="0"/>
            <a:ext cx="10353762" cy="970450"/>
          </a:xfrm>
        </p:spPr>
        <p:txBody>
          <a:bodyPr/>
          <a:lstStyle/>
          <a:p>
            <a:r>
              <a:rPr lang="ar-EG"/>
              <a:t>حفظ جميع بيانات </a:t>
            </a:r>
            <a:r>
              <a:rPr lang="ar-EG" b="1"/>
              <a:t>الزيارة الميدانية للضامن</a:t>
            </a:r>
            <a:endParaRPr lang="en-US"/>
          </a:p>
        </p:txBody>
      </p:sp>
      <p:sp>
        <p:nvSpPr>
          <p:cNvPr id="3" name="Content Placeholder 2">
            <a:extLst>
              <a:ext uri="{FF2B5EF4-FFF2-40B4-BE49-F238E27FC236}">
                <a16:creationId xmlns:a16="http://schemas.microsoft.com/office/drawing/2014/main" id="{4F18C9FC-8977-E3BF-B1E7-664DFC6C3B87}"/>
              </a:ext>
            </a:extLst>
          </p:cNvPr>
          <p:cNvSpPr>
            <a:spLocks noGrp="1"/>
          </p:cNvSpPr>
          <p:nvPr>
            <p:ph idx="1"/>
          </p:nvPr>
        </p:nvSpPr>
        <p:spPr>
          <a:xfrm>
            <a:off x="485775" y="970451"/>
            <a:ext cx="10781782" cy="5401774"/>
          </a:xfrm>
        </p:spPr>
        <p:txBody>
          <a:bodyPr/>
          <a:lstStyle/>
          <a:p>
            <a:r>
              <a:rPr lang="en-US" b="1">
                <a:effectLst/>
              </a:rPr>
              <a:t>Flow_FieldVisits_mainController</a:t>
            </a:r>
            <a:r>
              <a:rPr lang="ar-EG" b="1">
                <a:effectLst/>
              </a:rPr>
              <a:t> </a:t>
            </a:r>
            <a:r>
              <a:rPr lang="en-US" b="1">
                <a:effectLst/>
              </a:rPr>
              <a:t>.InsertOrUpdateFlow_FieldVisits_Guarantor</a:t>
            </a:r>
            <a:endParaRPr lang="en-US" b="1"/>
          </a:p>
        </p:txBody>
      </p:sp>
    </p:spTree>
    <p:extLst>
      <p:ext uri="{BB962C8B-B14F-4D97-AF65-F5344CB8AC3E}">
        <p14:creationId xmlns:p14="http://schemas.microsoft.com/office/powerpoint/2010/main" val="11413640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9F377-C395-FDF2-69FD-EB0A6515CAF5}"/>
              </a:ext>
            </a:extLst>
          </p:cNvPr>
          <p:cNvSpPr>
            <a:spLocks noGrp="1"/>
          </p:cNvSpPr>
          <p:nvPr>
            <p:ph type="title"/>
          </p:nvPr>
        </p:nvSpPr>
        <p:spPr>
          <a:xfrm>
            <a:off x="982621" y="96350"/>
            <a:ext cx="10353762" cy="690231"/>
          </a:xfrm>
        </p:spPr>
        <p:txBody>
          <a:bodyPr>
            <a:normAutofit fontScale="90000"/>
          </a:bodyPr>
          <a:lstStyle/>
          <a:p>
            <a:r>
              <a:rPr lang="ar-EG"/>
              <a:t>حفظ جميع بيانات </a:t>
            </a:r>
            <a:r>
              <a:rPr lang="ar-EG" b="1"/>
              <a:t>الزيارة الميدانية للضامن</a:t>
            </a:r>
            <a:endParaRPr lang="en-US" b="1">
              <a:solidFill>
                <a:srgbClr val="FF0000"/>
              </a:solidFill>
            </a:endParaRPr>
          </a:p>
        </p:txBody>
      </p:sp>
      <p:sp>
        <p:nvSpPr>
          <p:cNvPr id="3" name="Content Placeholder 2">
            <a:extLst>
              <a:ext uri="{FF2B5EF4-FFF2-40B4-BE49-F238E27FC236}">
                <a16:creationId xmlns:a16="http://schemas.microsoft.com/office/drawing/2014/main" id="{70E5C433-07A0-11D2-E82D-5068680F6BFD}"/>
              </a:ext>
            </a:extLst>
          </p:cNvPr>
          <p:cNvSpPr>
            <a:spLocks noGrp="1"/>
          </p:cNvSpPr>
          <p:nvPr>
            <p:ph idx="1"/>
          </p:nvPr>
        </p:nvSpPr>
        <p:spPr>
          <a:xfrm>
            <a:off x="137652" y="786580"/>
            <a:ext cx="11911473" cy="6071419"/>
          </a:xfrm>
        </p:spPr>
        <p:txBody>
          <a:bodyPr>
            <a:normAutofit/>
          </a:bodyPr>
          <a:lstStyle/>
          <a:p>
            <a:r>
              <a:rPr lang="en-US" sz="2800" b="1">
                <a:solidFill>
                  <a:srgbClr val="FFFF00"/>
                </a:solidFill>
              </a:rPr>
              <a:t>TDWF</a:t>
            </a:r>
            <a:r>
              <a:rPr lang="en-US" sz="2800"/>
              <a:t>.</a:t>
            </a:r>
            <a:r>
              <a:rPr lang="en-US" sz="2800" b="1">
                <a:solidFill>
                  <a:srgbClr val="FF0000"/>
                </a:solidFill>
              </a:rPr>
              <a:t>Flow_FieldVisits_Guarantor</a:t>
            </a:r>
            <a:endParaRPr lang="ar-EG" sz="2800">
              <a:solidFill>
                <a:srgbClr val="FF0000"/>
              </a:solidFill>
            </a:endParaRPr>
          </a:p>
          <a:p>
            <a:r>
              <a:rPr lang="en-US" b="1"/>
              <a:t>int FVG_ID</a:t>
            </a:r>
          </a:p>
          <a:p>
            <a:r>
              <a:rPr lang="en-US" b="1"/>
              <a:t>DateTime? Guarantor_visit_date </a:t>
            </a:r>
          </a:p>
          <a:p>
            <a:r>
              <a:rPr lang="en-US" b="1"/>
              <a:t>public string Residence_Type  //StaticList In Front contains Only (1,2,3)</a:t>
            </a:r>
          </a:p>
          <a:p>
            <a:r>
              <a:rPr lang="en-US" b="1"/>
              <a:t>string Address_guarantor </a:t>
            </a:r>
          </a:p>
          <a:p>
            <a:r>
              <a:rPr lang="en-US" b="1"/>
              <a:t>string Job </a:t>
            </a:r>
          </a:p>
          <a:p>
            <a:r>
              <a:rPr lang="en-US" b="1"/>
              <a:t>string WorkDestination </a:t>
            </a:r>
          </a:p>
          <a:p>
            <a:r>
              <a:rPr lang="en-US" b="1"/>
              <a:t>string SalarySource </a:t>
            </a:r>
          </a:p>
          <a:p>
            <a:r>
              <a:rPr lang="en-US" b="1"/>
              <a:t>decimal NetSalary </a:t>
            </a:r>
          </a:p>
          <a:p>
            <a:r>
              <a:rPr lang="en-US" b="1"/>
              <a:t>string CO_Recommendation </a:t>
            </a:r>
          </a:p>
          <a:p>
            <a:r>
              <a:rPr lang="en-US" b="1"/>
              <a:t>decimal? FVM_ID [FK]</a:t>
            </a:r>
          </a:p>
        </p:txBody>
      </p:sp>
      <p:pic>
        <p:nvPicPr>
          <p:cNvPr id="6" name="Picture 5">
            <a:extLst>
              <a:ext uri="{FF2B5EF4-FFF2-40B4-BE49-F238E27FC236}">
                <a16:creationId xmlns:a16="http://schemas.microsoft.com/office/drawing/2014/main" id="{3C4CBC55-2447-DC26-6EF0-4D8D1E52C316}"/>
              </a:ext>
            </a:extLst>
          </p:cNvPr>
          <p:cNvPicPr>
            <a:picLocks noChangeAspect="1"/>
          </p:cNvPicPr>
          <p:nvPr/>
        </p:nvPicPr>
        <p:blipFill>
          <a:blip r:embed="rId2"/>
          <a:stretch>
            <a:fillRect/>
          </a:stretch>
        </p:blipFill>
        <p:spPr>
          <a:xfrm>
            <a:off x="2677032" y="6103869"/>
            <a:ext cx="9372093" cy="502754"/>
          </a:xfrm>
          <a:prstGeom prst="rect">
            <a:avLst/>
          </a:prstGeom>
        </p:spPr>
      </p:pic>
    </p:spTree>
    <p:extLst>
      <p:ext uri="{BB962C8B-B14F-4D97-AF65-F5344CB8AC3E}">
        <p14:creationId xmlns:p14="http://schemas.microsoft.com/office/powerpoint/2010/main" val="12852123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A6EA-75A1-3F18-82FE-A6AC5F435C84}"/>
              </a:ext>
            </a:extLst>
          </p:cNvPr>
          <p:cNvSpPr>
            <a:spLocks noGrp="1"/>
          </p:cNvSpPr>
          <p:nvPr>
            <p:ph type="title"/>
          </p:nvPr>
        </p:nvSpPr>
        <p:spPr>
          <a:xfrm>
            <a:off x="913795" y="0"/>
            <a:ext cx="10353762" cy="685800"/>
          </a:xfrm>
        </p:spPr>
        <p:txBody>
          <a:bodyPr>
            <a:normAutofit fontScale="90000"/>
          </a:bodyPr>
          <a:lstStyle/>
          <a:p>
            <a:r>
              <a:rPr lang="ar-EG"/>
              <a:t>حفظ جميع بيانات </a:t>
            </a:r>
            <a:r>
              <a:rPr lang="ar-EG" b="1"/>
              <a:t>الزيارة الميدانية للضامن</a:t>
            </a:r>
            <a:endParaRPr lang="en-US"/>
          </a:p>
        </p:txBody>
      </p:sp>
      <p:sp>
        <p:nvSpPr>
          <p:cNvPr id="7" name="Content Placeholder 6">
            <a:extLst>
              <a:ext uri="{FF2B5EF4-FFF2-40B4-BE49-F238E27FC236}">
                <a16:creationId xmlns:a16="http://schemas.microsoft.com/office/drawing/2014/main" id="{B37078BD-E8AA-CCD6-55E1-A59432160B7A}"/>
              </a:ext>
            </a:extLst>
          </p:cNvPr>
          <p:cNvSpPr>
            <a:spLocks noGrp="1"/>
          </p:cNvSpPr>
          <p:nvPr>
            <p:ph idx="1"/>
          </p:nvPr>
        </p:nvSpPr>
        <p:spPr>
          <a:xfrm>
            <a:off x="304800" y="685801"/>
            <a:ext cx="10962757" cy="5105400"/>
          </a:xfrm>
        </p:spPr>
        <p:txBody>
          <a:bodyPr/>
          <a:lstStyle/>
          <a:p>
            <a:r>
              <a:rPr lang="en-US"/>
              <a:t> TDWF.</a:t>
            </a:r>
            <a:r>
              <a:rPr lang="en-US" b="1">
                <a:solidFill>
                  <a:srgbClr val="FF0000"/>
                </a:solidFill>
              </a:rPr>
              <a:t>Flow_FieldVisits_FieldInquiry</a:t>
            </a:r>
            <a:endParaRPr lang="ar-EG" b="1">
              <a:solidFill>
                <a:srgbClr val="FF0000"/>
              </a:solidFill>
            </a:endParaRPr>
          </a:p>
          <a:p>
            <a:pPr lvl="1"/>
            <a:r>
              <a:rPr lang="en-US" b="1"/>
              <a:t>The table that carries the result of </a:t>
            </a:r>
            <a:r>
              <a:rPr lang="ar-EG" b="1"/>
              <a:t>الاستعلام الميداني للعميل والضامن</a:t>
            </a:r>
          </a:p>
          <a:p>
            <a:pPr lvl="1"/>
            <a:endParaRPr lang="ar-EG"/>
          </a:p>
          <a:p>
            <a:endParaRPr lang="en-US"/>
          </a:p>
        </p:txBody>
      </p:sp>
      <p:pic>
        <p:nvPicPr>
          <p:cNvPr id="8" name="Content Placeholder 4">
            <a:extLst>
              <a:ext uri="{FF2B5EF4-FFF2-40B4-BE49-F238E27FC236}">
                <a16:creationId xmlns:a16="http://schemas.microsoft.com/office/drawing/2014/main" id="{24C0D9C3-78C9-8002-3C10-54C0DED73982}"/>
              </a:ext>
            </a:extLst>
          </p:cNvPr>
          <p:cNvPicPr>
            <a:picLocks noChangeAspect="1"/>
          </p:cNvPicPr>
          <p:nvPr/>
        </p:nvPicPr>
        <p:blipFill>
          <a:blip r:embed="rId2"/>
          <a:stretch>
            <a:fillRect/>
          </a:stretch>
        </p:blipFill>
        <p:spPr>
          <a:xfrm>
            <a:off x="795261" y="2878930"/>
            <a:ext cx="9679894" cy="819944"/>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0708172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CC2C6-D201-AE0A-4B99-97045789B99B}"/>
              </a:ext>
            </a:extLst>
          </p:cNvPr>
          <p:cNvSpPr>
            <a:spLocks noGrp="1"/>
          </p:cNvSpPr>
          <p:nvPr>
            <p:ph type="title"/>
          </p:nvPr>
        </p:nvSpPr>
        <p:spPr>
          <a:xfrm>
            <a:off x="846062" y="0"/>
            <a:ext cx="10353762" cy="592667"/>
          </a:xfrm>
        </p:spPr>
        <p:txBody>
          <a:bodyPr>
            <a:normAutofit fontScale="90000"/>
          </a:bodyPr>
          <a:lstStyle/>
          <a:p>
            <a:r>
              <a:rPr lang="ar-EG" b="1">
                <a:solidFill>
                  <a:srgbClr val="FF0000"/>
                </a:solidFill>
              </a:rPr>
              <a:t>بيانات المنشأة</a:t>
            </a:r>
            <a:endParaRPr lang="en-US" b="1">
              <a:solidFill>
                <a:srgbClr val="FF0000"/>
              </a:solidFill>
            </a:endParaRPr>
          </a:p>
        </p:txBody>
      </p:sp>
      <p:sp>
        <p:nvSpPr>
          <p:cNvPr id="3" name="Content Placeholder 2">
            <a:extLst>
              <a:ext uri="{FF2B5EF4-FFF2-40B4-BE49-F238E27FC236}">
                <a16:creationId xmlns:a16="http://schemas.microsoft.com/office/drawing/2014/main" id="{E13E4B97-234F-2C54-325A-7AD9C39CB3FB}"/>
              </a:ext>
            </a:extLst>
          </p:cNvPr>
          <p:cNvSpPr>
            <a:spLocks noGrp="1"/>
          </p:cNvSpPr>
          <p:nvPr>
            <p:ph idx="1"/>
          </p:nvPr>
        </p:nvSpPr>
        <p:spPr>
          <a:xfrm>
            <a:off x="203200" y="592667"/>
            <a:ext cx="11658600" cy="5985933"/>
          </a:xfrm>
        </p:spPr>
        <p:txBody>
          <a:bodyPr/>
          <a:lstStyle/>
          <a:p>
            <a:pPr marL="36900" indent="0" algn="ctr">
              <a:buNone/>
            </a:pPr>
            <a:r>
              <a:rPr lang="ar-EG" sz="2400" b="1"/>
              <a:t>تفاصيل الزيارة</a:t>
            </a:r>
            <a:endParaRPr lang="en-US" sz="2400" b="1"/>
          </a:p>
          <a:p>
            <a:endParaRPr lang="en-US"/>
          </a:p>
          <a:p>
            <a:endParaRPr lang="en-US"/>
          </a:p>
          <a:p>
            <a:endParaRPr lang="en-US"/>
          </a:p>
          <a:p>
            <a:endParaRPr lang="en-US"/>
          </a:p>
          <a:p>
            <a:endParaRPr lang="en-US"/>
          </a:p>
          <a:p>
            <a:endParaRPr lang="en-US"/>
          </a:p>
          <a:p>
            <a:r>
              <a:rPr lang="en-US">
                <a:effectLst/>
              </a:rPr>
              <a:t>Flow_FieldVisits_mainController/InserUpdateFlow_FieldVisits_ORG</a:t>
            </a:r>
            <a:endParaRPr lang="en-US"/>
          </a:p>
        </p:txBody>
      </p:sp>
      <p:pic>
        <p:nvPicPr>
          <p:cNvPr id="5" name="Picture 4">
            <a:extLst>
              <a:ext uri="{FF2B5EF4-FFF2-40B4-BE49-F238E27FC236}">
                <a16:creationId xmlns:a16="http://schemas.microsoft.com/office/drawing/2014/main" id="{B68105FF-2AF3-6709-FF0B-371F6D1201A3}"/>
              </a:ext>
            </a:extLst>
          </p:cNvPr>
          <p:cNvPicPr>
            <a:picLocks noChangeAspect="1"/>
          </p:cNvPicPr>
          <p:nvPr/>
        </p:nvPicPr>
        <p:blipFill>
          <a:blip r:embed="rId2"/>
          <a:stretch>
            <a:fillRect/>
          </a:stretch>
        </p:blipFill>
        <p:spPr>
          <a:xfrm>
            <a:off x="704383" y="1057161"/>
            <a:ext cx="10783234" cy="2629128"/>
          </a:xfrm>
          <a:prstGeom prst="rect">
            <a:avLst/>
          </a:prstGeom>
        </p:spPr>
      </p:pic>
    </p:spTree>
    <p:extLst>
      <p:ext uri="{BB962C8B-B14F-4D97-AF65-F5344CB8AC3E}">
        <p14:creationId xmlns:p14="http://schemas.microsoft.com/office/powerpoint/2010/main" val="17250193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89B83-0D3D-2330-602A-2509C1453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9A5A0-9187-6F61-2E22-B9FD3CD5608B}"/>
              </a:ext>
            </a:extLst>
          </p:cNvPr>
          <p:cNvSpPr>
            <a:spLocks noGrp="1"/>
          </p:cNvSpPr>
          <p:nvPr>
            <p:ph type="title"/>
          </p:nvPr>
        </p:nvSpPr>
        <p:spPr>
          <a:xfrm>
            <a:off x="846062" y="0"/>
            <a:ext cx="10353762" cy="592667"/>
          </a:xfrm>
        </p:spPr>
        <p:txBody>
          <a:bodyPr>
            <a:noAutofit/>
          </a:bodyPr>
          <a:lstStyle/>
          <a:p>
            <a:r>
              <a:rPr lang="ar-EG" b="1">
                <a:solidFill>
                  <a:srgbClr val="FF0000"/>
                </a:solidFill>
              </a:rPr>
              <a:t>بيانات المنشأة</a:t>
            </a:r>
            <a:endParaRPr lang="en-US" b="1">
              <a:solidFill>
                <a:srgbClr val="FF0000"/>
              </a:solidFill>
            </a:endParaRPr>
          </a:p>
        </p:txBody>
      </p:sp>
      <p:sp>
        <p:nvSpPr>
          <p:cNvPr id="3" name="Content Placeholder 2">
            <a:extLst>
              <a:ext uri="{FF2B5EF4-FFF2-40B4-BE49-F238E27FC236}">
                <a16:creationId xmlns:a16="http://schemas.microsoft.com/office/drawing/2014/main" id="{3FC798D1-6BD6-988B-FCB0-B61BCF304190}"/>
              </a:ext>
            </a:extLst>
          </p:cNvPr>
          <p:cNvSpPr>
            <a:spLocks noGrp="1"/>
          </p:cNvSpPr>
          <p:nvPr>
            <p:ph idx="1"/>
          </p:nvPr>
        </p:nvSpPr>
        <p:spPr>
          <a:xfrm>
            <a:off x="66675" y="592667"/>
            <a:ext cx="12125325" cy="6170083"/>
          </a:xfrm>
        </p:spPr>
        <p:txBody>
          <a:bodyPr>
            <a:normAutofit/>
          </a:bodyPr>
          <a:lstStyle/>
          <a:p>
            <a:pPr marL="36900" indent="0" algn="ctr">
              <a:buNone/>
            </a:pPr>
            <a:r>
              <a:rPr lang="ar-EG" sz="2800" b="1">
                <a:solidFill>
                  <a:srgbClr val="FFFF00"/>
                </a:solidFill>
              </a:rPr>
              <a:t>تفاصيل الزيارة</a:t>
            </a:r>
            <a:endParaRPr lang="en-US" sz="2800" b="1">
              <a:solidFill>
                <a:srgbClr val="FFFF00"/>
              </a:solidFill>
            </a:endParaRPr>
          </a:p>
          <a:p>
            <a:r>
              <a:rPr lang="en-US" sz="2400" b="1">
                <a:solidFill>
                  <a:srgbClr val="FFFF00"/>
                </a:solidFill>
              </a:rPr>
              <a:t>TDWF</a:t>
            </a:r>
            <a:r>
              <a:rPr lang="en-US" sz="2400" b="1"/>
              <a:t>.</a:t>
            </a:r>
            <a:r>
              <a:rPr lang="en-US" sz="2400" b="1">
                <a:solidFill>
                  <a:srgbClr val="FF0000"/>
                </a:solidFill>
              </a:rPr>
              <a:t>Flow_FieldVisits_Organization</a:t>
            </a:r>
            <a:endParaRPr lang="en-US" sz="2400" b="1"/>
          </a:p>
          <a:p>
            <a:r>
              <a:rPr lang="en-US" sz="1800" b="1"/>
              <a:t>int FVORG_ID [ PK ]</a:t>
            </a:r>
          </a:p>
          <a:p>
            <a:r>
              <a:rPr lang="en-US" sz="1800" b="1"/>
              <a:t>string OrgSignID { get; set; }</a:t>
            </a:r>
            <a:endParaRPr lang="ar-EG" sz="1800" b="1"/>
          </a:p>
          <a:p>
            <a:pPr lvl="1"/>
            <a:r>
              <a:rPr lang="en-US" b="1"/>
              <a:t>StaticList In Front contains [ </a:t>
            </a:r>
            <a:r>
              <a:rPr lang="ar-EG" b="1"/>
              <a:t>يوجد , لايوجد</a:t>
            </a:r>
            <a:r>
              <a:rPr lang="en-US" b="1"/>
              <a:t>]</a:t>
            </a:r>
          </a:p>
          <a:p>
            <a:r>
              <a:rPr lang="en-US" sz="1800" b="1"/>
              <a:t>int WorkerCountPermanent</a:t>
            </a:r>
          </a:p>
          <a:p>
            <a:r>
              <a:rPr lang="en-US" sz="1800" b="1"/>
              <a:t>int WorkerCountTemporary </a:t>
            </a:r>
          </a:p>
          <a:p>
            <a:r>
              <a:rPr lang="en-US" sz="1800" b="1"/>
              <a:t>string Residence_Type</a:t>
            </a:r>
          </a:p>
          <a:p>
            <a:pPr lvl="1"/>
            <a:r>
              <a:rPr lang="ar-EG" b="1"/>
              <a:t>تمليك</a:t>
            </a:r>
            <a:r>
              <a:rPr lang="en-US" b="1"/>
              <a:t>, </a:t>
            </a:r>
            <a:r>
              <a:rPr lang="ar-EG" b="1"/>
              <a:t>ايجار جديد</a:t>
            </a:r>
            <a:r>
              <a:rPr lang="en-US" b="1"/>
              <a:t>, </a:t>
            </a:r>
            <a:r>
              <a:rPr lang="ar-EG" b="1"/>
              <a:t>ايجار قديم</a:t>
            </a:r>
            <a:endParaRPr lang="en-US" b="1"/>
          </a:p>
          <a:p>
            <a:r>
              <a:rPr lang="en-US" sz="1800" b="1"/>
              <a:t>string OrgRate</a:t>
            </a:r>
          </a:p>
          <a:p>
            <a:r>
              <a:rPr lang="en-US" sz="1800" b="1"/>
              <a:t>string GPSAddress</a:t>
            </a:r>
          </a:p>
          <a:p>
            <a:r>
              <a:rPr lang="en-US" sz="1800" b="1"/>
              <a:t>decimal? FVM _ID [ </a:t>
            </a:r>
            <a:r>
              <a:rPr lang="en-US" sz="1800" b="1">
                <a:solidFill>
                  <a:srgbClr val="FFFF00"/>
                </a:solidFill>
              </a:rPr>
              <a:t>FK</a:t>
            </a:r>
            <a:r>
              <a:rPr lang="en-US" sz="1800" b="1"/>
              <a:t>, </a:t>
            </a:r>
            <a:r>
              <a:rPr lang="en-US" sz="1800" b="1">
                <a:solidFill>
                  <a:srgbClr val="FF0000"/>
                </a:solidFill>
              </a:rPr>
              <a:t>Flow_FieldVisits_main</a:t>
            </a:r>
            <a:r>
              <a:rPr lang="en-US" sz="1800" b="1"/>
              <a:t> ]</a:t>
            </a:r>
            <a:endParaRPr lang="en-US" sz="1600" b="1"/>
          </a:p>
        </p:txBody>
      </p:sp>
      <p:pic>
        <p:nvPicPr>
          <p:cNvPr id="6" name="Picture 5">
            <a:extLst>
              <a:ext uri="{FF2B5EF4-FFF2-40B4-BE49-F238E27FC236}">
                <a16:creationId xmlns:a16="http://schemas.microsoft.com/office/drawing/2014/main" id="{3E48BC03-ED51-C6CF-F9B1-FAD5CE47AB21}"/>
              </a:ext>
            </a:extLst>
          </p:cNvPr>
          <p:cNvPicPr>
            <a:picLocks noChangeAspect="1"/>
          </p:cNvPicPr>
          <p:nvPr/>
        </p:nvPicPr>
        <p:blipFill>
          <a:blip r:embed="rId2"/>
          <a:stretch>
            <a:fillRect/>
          </a:stretch>
        </p:blipFill>
        <p:spPr>
          <a:xfrm>
            <a:off x="3057525" y="4541502"/>
            <a:ext cx="9134475" cy="525797"/>
          </a:xfrm>
          <a:prstGeom prst="rect">
            <a:avLst/>
          </a:prstGeom>
        </p:spPr>
      </p:pic>
    </p:spTree>
    <p:extLst>
      <p:ext uri="{BB962C8B-B14F-4D97-AF65-F5344CB8AC3E}">
        <p14:creationId xmlns:p14="http://schemas.microsoft.com/office/powerpoint/2010/main" val="3413962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88B13-A7E7-6DC7-B80B-1F1CBFF8616F}"/>
              </a:ext>
            </a:extLst>
          </p:cNvPr>
          <p:cNvSpPr>
            <a:spLocks noGrp="1"/>
          </p:cNvSpPr>
          <p:nvPr>
            <p:ph type="title"/>
          </p:nvPr>
        </p:nvSpPr>
        <p:spPr>
          <a:xfrm>
            <a:off x="913795" y="0"/>
            <a:ext cx="10353762" cy="542925"/>
          </a:xfrm>
        </p:spPr>
        <p:txBody>
          <a:bodyPr>
            <a:normAutofit fontScale="90000"/>
          </a:bodyPr>
          <a:lstStyle/>
          <a:p>
            <a:r>
              <a:rPr lang="ar-EG" b="1"/>
              <a:t>التحليل المالي</a:t>
            </a:r>
            <a:endParaRPr lang="en-US" b="1"/>
          </a:p>
        </p:txBody>
      </p:sp>
      <p:sp>
        <p:nvSpPr>
          <p:cNvPr id="3" name="Content Placeholder 2">
            <a:extLst>
              <a:ext uri="{FF2B5EF4-FFF2-40B4-BE49-F238E27FC236}">
                <a16:creationId xmlns:a16="http://schemas.microsoft.com/office/drawing/2014/main" id="{D2DCB867-09A1-A4D5-CC6B-806878A74300}"/>
              </a:ext>
            </a:extLst>
          </p:cNvPr>
          <p:cNvSpPr>
            <a:spLocks noGrp="1"/>
          </p:cNvSpPr>
          <p:nvPr>
            <p:ph idx="1"/>
          </p:nvPr>
        </p:nvSpPr>
        <p:spPr>
          <a:xfrm>
            <a:off x="85724" y="542925"/>
            <a:ext cx="11953875" cy="6181725"/>
          </a:xfrm>
        </p:spPr>
        <p:txBody>
          <a:bodyPr>
            <a:normAutofit/>
          </a:bodyPr>
          <a:lstStyle/>
          <a:p>
            <a:pPr marL="36900" indent="0" algn="ctr">
              <a:buNone/>
            </a:pPr>
            <a:r>
              <a:rPr lang="ar-EG" sz="2400" b="1">
                <a:effectLst/>
              </a:rPr>
              <a:t>متوسط المصروفات / الايرادات الشهرية</a:t>
            </a:r>
          </a:p>
          <a:p>
            <a:endParaRPr lang="en-US">
              <a:effectLst/>
            </a:endParaRPr>
          </a:p>
          <a:p>
            <a:endParaRPr lang="en-US">
              <a:effectLst/>
            </a:endParaRPr>
          </a:p>
          <a:p>
            <a:endParaRPr lang="en-US">
              <a:effectLst/>
            </a:endParaRPr>
          </a:p>
          <a:p>
            <a:endParaRPr lang="en-US">
              <a:effectLst/>
            </a:endParaRPr>
          </a:p>
          <a:p>
            <a:endParaRPr lang="en-US">
              <a:effectLst/>
            </a:endParaRPr>
          </a:p>
          <a:p>
            <a:endParaRPr lang="en-US">
              <a:effectLst/>
            </a:endParaRPr>
          </a:p>
          <a:p>
            <a:endParaRPr lang="en-US">
              <a:effectLst/>
            </a:endParaRPr>
          </a:p>
          <a:p>
            <a:endParaRPr lang="en-US">
              <a:effectLst/>
            </a:endParaRPr>
          </a:p>
          <a:p>
            <a:endParaRPr lang="en-US">
              <a:effectLst/>
            </a:endParaRPr>
          </a:p>
          <a:p>
            <a:pPr marL="36900" indent="0">
              <a:buNone/>
            </a:pPr>
            <a:endParaRPr lang="en-US">
              <a:effectLst/>
            </a:endParaRPr>
          </a:p>
          <a:p>
            <a:endParaRPr lang="en-US" b="1">
              <a:solidFill>
                <a:srgbClr val="FFFF00"/>
              </a:solidFill>
              <a:effectLst/>
            </a:endParaRPr>
          </a:p>
          <a:p>
            <a:r>
              <a:rPr lang="en-US" b="1">
                <a:solidFill>
                  <a:srgbClr val="FFFF00"/>
                </a:solidFill>
                <a:effectLst/>
              </a:rPr>
              <a:t>Flow_FieldVisits_mainController</a:t>
            </a:r>
            <a:r>
              <a:rPr lang="en-US">
                <a:effectLst/>
              </a:rPr>
              <a:t>/</a:t>
            </a:r>
            <a:r>
              <a:rPr lang="en-US" b="1">
                <a:solidFill>
                  <a:srgbClr val="00B0F0"/>
                </a:solidFill>
                <a:effectLst/>
              </a:rPr>
              <a:t>InserUpdateFlow_FieldVisits_FinancialAnalysis</a:t>
            </a:r>
            <a:endParaRPr lang="ar-EG" b="1">
              <a:solidFill>
                <a:srgbClr val="00B0F0"/>
              </a:solidFill>
              <a:effectLst/>
            </a:endParaRPr>
          </a:p>
          <a:p>
            <a:endParaRPr lang="en-US"/>
          </a:p>
        </p:txBody>
      </p:sp>
      <p:pic>
        <p:nvPicPr>
          <p:cNvPr id="5" name="Picture 4">
            <a:extLst>
              <a:ext uri="{FF2B5EF4-FFF2-40B4-BE49-F238E27FC236}">
                <a16:creationId xmlns:a16="http://schemas.microsoft.com/office/drawing/2014/main" id="{B5079BDA-0BCF-C3E0-90B7-5455A47C709D}"/>
              </a:ext>
            </a:extLst>
          </p:cNvPr>
          <p:cNvPicPr>
            <a:picLocks noChangeAspect="1"/>
          </p:cNvPicPr>
          <p:nvPr/>
        </p:nvPicPr>
        <p:blipFill>
          <a:blip r:embed="rId2"/>
          <a:stretch>
            <a:fillRect/>
          </a:stretch>
        </p:blipFill>
        <p:spPr>
          <a:xfrm>
            <a:off x="152401" y="1210203"/>
            <a:ext cx="7633717" cy="4437593"/>
          </a:xfrm>
          <a:prstGeom prst="rect">
            <a:avLst/>
          </a:prstGeom>
        </p:spPr>
      </p:pic>
    </p:spTree>
    <p:extLst>
      <p:ext uri="{BB962C8B-B14F-4D97-AF65-F5344CB8AC3E}">
        <p14:creationId xmlns:p14="http://schemas.microsoft.com/office/powerpoint/2010/main" val="30624387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6156C-7AF3-4D81-A6FC-E3F12D668C30}"/>
              </a:ext>
            </a:extLst>
          </p:cNvPr>
          <p:cNvSpPr>
            <a:spLocks noGrp="1"/>
          </p:cNvSpPr>
          <p:nvPr>
            <p:ph type="title"/>
          </p:nvPr>
        </p:nvSpPr>
        <p:spPr>
          <a:xfrm>
            <a:off x="462116" y="514350"/>
            <a:ext cx="11267768" cy="648929"/>
          </a:xfrm>
        </p:spPr>
        <p:txBody>
          <a:bodyPr>
            <a:noAutofit/>
          </a:bodyPr>
          <a:lstStyle/>
          <a:p>
            <a:r>
              <a:rPr lang="en-US" sz="3200" b="1">
                <a:solidFill>
                  <a:srgbClr val="FFFF00"/>
                </a:solidFill>
              </a:rPr>
              <a:t>TDWF</a:t>
            </a:r>
            <a:r>
              <a:rPr lang="en-US" sz="3200"/>
              <a:t>.</a:t>
            </a:r>
            <a:r>
              <a:rPr lang="en-US" sz="3200" b="1">
                <a:solidFill>
                  <a:srgbClr val="FF0000"/>
                </a:solidFill>
              </a:rPr>
              <a:t>Flow_FieldVisits_FinancialAnalysis [</a:t>
            </a:r>
            <a:r>
              <a:rPr lang="ar-EG" sz="3200" b="1">
                <a:solidFill>
                  <a:srgbClr val="FF0000"/>
                </a:solidFill>
              </a:rPr>
              <a:t>التحليل المالي</a:t>
            </a:r>
            <a:r>
              <a:rPr lang="en-US" sz="3200" b="1">
                <a:solidFill>
                  <a:srgbClr val="FF0000"/>
                </a:solidFill>
              </a:rPr>
              <a:t>]</a:t>
            </a:r>
          </a:p>
        </p:txBody>
      </p:sp>
      <p:sp>
        <p:nvSpPr>
          <p:cNvPr id="3" name="Content Placeholder 2">
            <a:extLst>
              <a:ext uri="{FF2B5EF4-FFF2-40B4-BE49-F238E27FC236}">
                <a16:creationId xmlns:a16="http://schemas.microsoft.com/office/drawing/2014/main" id="{2E577319-CB95-5403-3A15-E8EF7DACFB09}"/>
              </a:ext>
            </a:extLst>
          </p:cNvPr>
          <p:cNvSpPr>
            <a:spLocks noGrp="1"/>
          </p:cNvSpPr>
          <p:nvPr>
            <p:ph idx="1"/>
          </p:nvPr>
        </p:nvSpPr>
        <p:spPr>
          <a:xfrm>
            <a:off x="68826" y="1304925"/>
            <a:ext cx="12123173" cy="5440004"/>
          </a:xfrm>
        </p:spPr>
        <p:txBody>
          <a:bodyPr numCol="2"/>
          <a:lstStyle/>
          <a:p>
            <a:r>
              <a:rPr lang="en-US"/>
              <a:t>FVFA_ID: </a:t>
            </a:r>
            <a:r>
              <a:rPr lang="en-US">
                <a:solidFill>
                  <a:srgbClr val="FFFF00"/>
                </a:solidFill>
              </a:rPr>
              <a:t>int, PK</a:t>
            </a:r>
            <a:endParaRPr lang="en-US"/>
          </a:p>
          <a:p>
            <a:r>
              <a:rPr lang="en-US"/>
              <a:t>materials: decimal // </a:t>
            </a:r>
            <a:r>
              <a:rPr lang="ar-EG"/>
              <a:t>الخامات</a:t>
            </a:r>
            <a:endParaRPr lang="en-US"/>
          </a:p>
          <a:p>
            <a:r>
              <a:rPr lang="en-US"/>
              <a:t>Rent: decimal // </a:t>
            </a:r>
            <a:r>
              <a:rPr lang="ar-EG"/>
              <a:t>الإيجار</a:t>
            </a:r>
            <a:endParaRPr lang="en-US"/>
          </a:p>
          <a:p>
            <a:r>
              <a:rPr lang="en-US"/>
              <a:t>Salary: decimal </a:t>
            </a:r>
            <a:r>
              <a:rPr lang="ar-EG"/>
              <a:t>المرتبات</a:t>
            </a:r>
          </a:p>
          <a:p>
            <a:r>
              <a:rPr lang="en-US"/>
              <a:t>Taxs_Insurances : decimal </a:t>
            </a:r>
            <a:r>
              <a:rPr lang="ar-EG"/>
              <a:t>الضرائب والتأمينات</a:t>
            </a:r>
            <a:endParaRPr lang="en-US"/>
          </a:p>
          <a:p>
            <a:r>
              <a:rPr lang="en-US"/>
              <a:t>Transport_Freight : decimal </a:t>
            </a:r>
            <a:r>
              <a:rPr lang="ar-EG"/>
              <a:t>نقل ومشال</a:t>
            </a:r>
            <a:endParaRPr lang="en-US"/>
          </a:p>
          <a:p>
            <a:r>
              <a:rPr lang="en-US"/>
              <a:t>Other_Fin_obligations : decimal </a:t>
            </a:r>
            <a:r>
              <a:rPr lang="ar-EG"/>
              <a:t>إلتزامات أخرى</a:t>
            </a:r>
            <a:endParaRPr lang="en-US"/>
          </a:p>
          <a:p>
            <a:r>
              <a:rPr lang="en-US"/>
              <a:t>Water_Elec : decimal: </a:t>
            </a:r>
            <a:r>
              <a:rPr lang="ar-EG"/>
              <a:t>كهربا ومياه</a:t>
            </a:r>
          </a:p>
          <a:p>
            <a:r>
              <a:rPr lang="en-US" b="1">
                <a:solidFill>
                  <a:srgbClr val="92D050"/>
                </a:solidFill>
              </a:rPr>
              <a:t>Total_AVG_Expenses: </a:t>
            </a:r>
            <a:r>
              <a:rPr lang="ar-EG" b="1">
                <a:effectLst/>
              </a:rPr>
              <a:t>إجمالى المصروفات لكل ما سبق</a:t>
            </a:r>
          </a:p>
          <a:p>
            <a:r>
              <a:rPr lang="en-US"/>
              <a:t>Sales: decimal </a:t>
            </a:r>
            <a:r>
              <a:rPr lang="ar-EG"/>
              <a:t>المبيعات</a:t>
            </a:r>
          </a:p>
          <a:p>
            <a:r>
              <a:rPr lang="en-US"/>
              <a:t>OtherIncomes: decimal </a:t>
            </a:r>
            <a:r>
              <a:rPr lang="ar-EG"/>
              <a:t>ايرادات أخرى</a:t>
            </a:r>
          </a:p>
          <a:p>
            <a:r>
              <a:rPr lang="en-US" b="1">
                <a:solidFill>
                  <a:srgbClr val="92D050"/>
                </a:solidFill>
              </a:rPr>
              <a:t>Total_AVG_Incomes</a:t>
            </a:r>
            <a:r>
              <a:rPr lang="en-US"/>
              <a:t>: decimal </a:t>
            </a:r>
            <a:r>
              <a:rPr lang="ar-EG"/>
              <a:t>إجمالي الايرادات</a:t>
            </a:r>
          </a:p>
          <a:p>
            <a:pPr lvl="1"/>
            <a:r>
              <a:rPr lang="en-US"/>
              <a:t>Equal : Sales + OtherIncomes</a:t>
            </a:r>
            <a:endParaRPr lang="ar-EG"/>
          </a:p>
          <a:p>
            <a:r>
              <a:rPr lang="en-US" sz="2400" b="1">
                <a:solidFill>
                  <a:srgbClr val="92D050"/>
                </a:solidFill>
              </a:rPr>
              <a:t>Fin_NetSalary</a:t>
            </a:r>
            <a:r>
              <a:rPr lang="en-US"/>
              <a:t>: decimal </a:t>
            </a:r>
            <a:r>
              <a:rPr lang="ar-EG"/>
              <a:t>صافي الدخل</a:t>
            </a:r>
            <a:endParaRPr lang="en-US"/>
          </a:p>
          <a:p>
            <a:pPr lvl="1"/>
            <a:r>
              <a:rPr lang="en-US"/>
              <a:t>Equal: Total_AVG_Incomes - Total_AVG_Expenses</a:t>
            </a:r>
            <a:endParaRPr lang="ar-EG"/>
          </a:p>
          <a:p>
            <a:r>
              <a:rPr lang="en-US" sz="2400" b="1">
                <a:solidFill>
                  <a:srgbClr val="92D050"/>
                </a:solidFill>
              </a:rPr>
              <a:t>DebtBurdenRatio</a:t>
            </a:r>
            <a:r>
              <a:rPr lang="en-US"/>
              <a:t>: decimal </a:t>
            </a:r>
            <a:r>
              <a:rPr lang="ar-EG"/>
              <a:t>معدل عبئ الدين</a:t>
            </a:r>
            <a:endParaRPr lang="en-US"/>
          </a:p>
          <a:p>
            <a:pPr lvl="1"/>
            <a:r>
              <a:rPr lang="en-US"/>
              <a:t>Equal: Fin_NetSalary * 0.35</a:t>
            </a:r>
          </a:p>
          <a:p>
            <a:r>
              <a:rPr lang="en-US"/>
              <a:t>Other_Fin_Obligations_For_Iscore: decimal</a:t>
            </a:r>
          </a:p>
          <a:p>
            <a:pPr lvl="1"/>
            <a:r>
              <a:rPr lang="ar-EG" b="1">
                <a:effectLst/>
              </a:rPr>
              <a:t>إلتزامات أٌخرى طبقا للتقيم الائتمانى</a:t>
            </a:r>
            <a:endParaRPr lang="en-US"/>
          </a:p>
          <a:p>
            <a:r>
              <a:rPr lang="en-US"/>
              <a:t>AvailableNetForLoan: decimal </a:t>
            </a:r>
            <a:r>
              <a:rPr lang="ar-EG" b="1">
                <a:effectLst/>
              </a:rPr>
              <a:t>الصافى المتاح للتمويل</a:t>
            </a:r>
            <a:endParaRPr lang="en-US"/>
          </a:p>
          <a:p>
            <a:pPr lvl="1"/>
            <a:r>
              <a:rPr lang="en-US" sz="1600"/>
              <a:t>Equal</a:t>
            </a:r>
            <a:r>
              <a:rPr lang="en-US" b="1">
                <a:effectLst/>
              </a:rPr>
              <a:t>: </a:t>
            </a:r>
            <a:r>
              <a:rPr lang="en-US" sz="1500" b="1">
                <a:solidFill>
                  <a:srgbClr val="92D050"/>
                </a:solidFill>
              </a:rPr>
              <a:t>DebtBurdenRatio - Other_Fin_Obligations_For_Iscore</a:t>
            </a:r>
          </a:p>
          <a:p>
            <a:r>
              <a:rPr lang="en-US"/>
              <a:t>OtherIncomeSource: string</a:t>
            </a:r>
          </a:p>
          <a:p>
            <a:r>
              <a:rPr lang="en-US"/>
              <a:t>TotalOtherIncomeSource: decimal</a:t>
            </a:r>
          </a:p>
        </p:txBody>
      </p:sp>
    </p:spTree>
    <p:extLst>
      <p:ext uri="{BB962C8B-B14F-4D97-AF65-F5344CB8AC3E}">
        <p14:creationId xmlns:p14="http://schemas.microsoft.com/office/powerpoint/2010/main" val="12348044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D80D-581C-0EE7-4E8C-E2B1A4214AB1}"/>
              </a:ext>
            </a:extLst>
          </p:cNvPr>
          <p:cNvSpPr>
            <a:spLocks noGrp="1"/>
          </p:cNvSpPr>
          <p:nvPr>
            <p:ph type="title"/>
          </p:nvPr>
        </p:nvSpPr>
        <p:spPr>
          <a:xfrm>
            <a:off x="285135" y="0"/>
            <a:ext cx="11572568" cy="747252"/>
          </a:xfrm>
        </p:spPr>
        <p:txBody>
          <a:bodyPr/>
          <a:lstStyle/>
          <a:p>
            <a:r>
              <a:rPr lang="en-US" b="1">
                <a:solidFill>
                  <a:srgbClr val="FFFF00"/>
                </a:solidFill>
              </a:rPr>
              <a:t>TDWF</a:t>
            </a:r>
            <a:r>
              <a:rPr lang="en-US"/>
              <a:t>.</a:t>
            </a:r>
            <a:r>
              <a:rPr lang="en-US" b="1">
                <a:solidFill>
                  <a:srgbClr val="FF0000"/>
                </a:solidFill>
              </a:rPr>
              <a:t>Flow_FieldVisits_StatisticsData</a:t>
            </a:r>
          </a:p>
        </p:txBody>
      </p:sp>
      <p:sp>
        <p:nvSpPr>
          <p:cNvPr id="3" name="Content Placeholder 2">
            <a:extLst>
              <a:ext uri="{FF2B5EF4-FFF2-40B4-BE49-F238E27FC236}">
                <a16:creationId xmlns:a16="http://schemas.microsoft.com/office/drawing/2014/main" id="{689EAB26-3973-9D5F-D84E-6F9318D4B11C}"/>
              </a:ext>
            </a:extLst>
          </p:cNvPr>
          <p:cNvSpPr>
            <a:spLocks noGrp="1"/>
          </p:cNvSpPr>
          <p:nvPr>
            <p:ph idx="1"/>
          </p:nvPr>
        </p:nvSpPr>
        <p:spPr>
          <a:xfrm>
            <a:off x="78658" y="747252"/>
            <a:ext cx="11828207" cy="5968180"/>
          </a:xfrm>
        </p:spPr>
        <p:txBody>
          <a:bodyPr>
            <a:normAutofit/>
          </a:bodyPr>
          <a:lstStyle/>
          <a:p>
            <a:r>
              <a:rPr lang="en-US" sz="1800"/>
              <a:t>If funding is more than or equal </a:t>
            </a:r>
            <a:r>
              <a:rPr lang="en-US" sz="1800" b="1">
                <a:solidFill>
                  <a:srgbClr val="FF0000"/>
                </a:solidFill>
              </a:rPr>
              <a:t>125K, </a:t>
            </a:r>
          </a:p>
          <a:p>
            <a:r>
              <a:rPr lang="en-US" sz="1800"/>
              <a:t>FVSD_ID </a:t>
            </a:r>
            <a:r>
              <a:rPr lang="en-US" sz="1800">
                <a:solidFill>
                  <a:srgbClr val="FFFF00"/>
                </a:solidFill>
              </a:rPr>
              <a:t>[ PK ]</a:t>
            </a:r>
          </a:p>
          <a:p>
            <a:r>
              <a:rPr lang="en-US" sz="1800"/>
              <a:t>ProductName</a:t>
            </a:r>
          </a:p>
          <a:p>
            <a:r>
              <a:rPr lang="en-US" sz="1800"/>
              <a:t>SalesQuntity: decimal [ </a:t>
            </a:r>
            <a:r>
              <a:rPr lang="ar-EG" sz="1800"/>
              <a:t>الكمية المباعة</a:t>
            </a:r>
            <a:r>
              <a:rPr lang="en-US" sz="1800"/>
              <a:t> ]</a:t>
            </a:r>
            <a:endParaRPr lang="en-US" sz="1800" b="1">
              <a:solidFill>
                <a:srgbClr val="FF0000"/>
              </a:solidFill>
            </a:endParaRPr>
          </a:p>
          <a:p>
            <a:r>
              <a:rPr lang="en-US" sz="1800"/>
              <a:t>SalesPrice: decimal</a:t>
            </a:r>
          </a:p>
          <a:p>
            <a:r>
              <a:rPr lang="en-US" sz="1800"/>
              <a:t>decimal PurchasePrice //</a:t>
            </a:r>
            <a:r>
              <a:rPr lang="ar-EG" sz="1800"/>
              <a:t>سعر الشراء</a:t>
            </a:r>
            <a:endParaRPr lang="en-US" sz="1800"/>
          </a:p>
          <a:p>
            <a:r>
              <a:rPr lang="en-US" sz="1800"/>
              <a:t>decimal TotalPurchasedAmount  //</a:t>
            </a:r>
            <a:r>
              <a:rPr lang="ar-EG" sz="1800"/>
              <a:t>إجمالى قيمة الشراء </a:t>
            </a:r>
            <a:r>
              <a:rPr lang="en-US" sz="1800"/>
              <a:t> = SalesQuntity * PurchasePrice</a:t>
            </a:r>
          </a:p>
          <a:p>
            <a:r>
              <a:rPr lang="en-US" sz="1800"/>
              <a:t>decimal TotalSaledAmount  // </a:t>
            </a:r>
            <a:r>
              <a:rPr lang="ar-EG" sz="1800"/>
              <a:t>إجمالى قيمة البيع</a:t>
            </a:r>
            <a:r>
              <a:rPr lang="en-US" sz="1800"/>
              <a:t> = = SalesQuntity * SalesPrice</a:t>
            </a:r>
          </a:p>
          <a:p>
            <a:r>
              <a:rPr lang="en-US" sz="1800"/>
              <a:t>decimal OrgNet //</a:t>
            </a:r>
            <a:r>
              <a:rPr lang="ar-EG" sz="1800"/>
              <a:t>الصافى</a:t>
            </a:r>
            <a:r>
              <a:rPr lang="en-US" sz="1800"/>
              <a:t> = TotalSaledAmount - TotalPurchasedAmount</a:t>
            </a:r>
          </a:p>
          <a:p>
            <a:r>
              <a:rPr lang="en-US" sz="1800"/>
              <a:t>decimal ProfitMargin   //</a:t>
            </a:r>
            <a:r>
              <a:rPr lang="ar-EG" sz="1800"/>
              <a:t>هامش الربح</a:t>
            </a:r>
            <a:r>
              <a:rPr lang="en-US" sz="1800"/>
              <a:t> = OrgNet / TotalSaledAmount</a:t>
            </a:r>
          </a:p>
          <a:p>
            <a:r>
              <a:rPr lang="en-US" sz="1800"/>
              <a:t>decimal SalesCostRatio // </a:t>
            </a:r>
            <a:r>
              <a:rPr lang="ar-EG" sz="1800"/>
              <a:t>نسبة تكلفة المبيعات</a:t>
            </a:r>
            <a:r>
              <a:rPr lang="en-US" sz="1800"/>
              <a:t> = 1 - ProfitMargin</a:t>
            </a:r>
          </a:p>
          <a:p>
            <a:r>
              <a:rPr lang="en-US" sz="1800"/>
              <a:t>decimal? FVM_ID  // FK_Of_FlowField_VisitsMain_TBL</a:t>
            </a:r>
          </a:p>
          <a:p>
            <a:endParaRPr lang="en-US"/>
          </a:p>
          <a:p>
            <a:endParaRPr lang="en-US"/>
          </a:p>
        </p:txBody>
      </p:sp>
      <p:pic>
        <p:nvPicPr>
          <p:cNvPr id="5" name="Picture 4">
            <a:extLst>
              <a:ext uri="{FF2B5EF4-FFF2-40B4-BE49-F238E27FC236}">
                <a16:creationId xmlns:a16="http://schemas.microsoft.com/office/drawing/2014/main" id="{C84FCA3E-3617-B6D9-3B55-39DBA5B644D4}"/>
              </a:ext>
            </a:extLst>
          </p:cNvPr>
          <p:cNvPicPr>
            <a:picLocks noChangeAspect="1"/>
          </p:cNvPicPr>
          <p:nvPr/>
        </p:nvPicPr>
        <p:blipFill>
          <a:blip r:embed="rId3"/>
          <a:stretch>
            <a:fillRect/>
          </a:stretch>
        </p:blipFill>
        <p:spPr>
          <a:xfrm>
            <a:off x="285134" y="5809501"/>
            <a:ext cx="11474247" cy="778112"/>
          </a:xfrm>
          <a:prstGeom prst="rect">
            <a:avLst/>
          </a:prstGeom>
        </p:spPr>
      </p:pic>
    </p:spTree>
    <p:extLst>
      <p:ext uri="{BB962C8B-B14F-4D97-AF65-F5344CB8AC3E}">
        <p14:creationId xmlns:p14="http://schemas.microsoft.com/office/powerpoint/2010/main" val="12925011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C257F-AB0F-57B2-0B46-FEDD654C0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C8F17-0CD1-E682-84EA-92939B96FA70}"/>
              </a:ext>
            </a:extLst>
          </p:cNvPr>
          <p:cNvSpPr>
            <a:spLocks noGrp="1"/>
          </p:cNvSpPr>
          <p:nvPr>
            <p:ph type="title"/>
          </p:nvPr>
        </p:nvSpPr>
        <p:spPr>
          <a:xfrm>
            <a:off x="913795" y="0"/>
            <a:ext cx="10353762" cy="457200"/>
          </a:xfrm>
        </p:spPr>
        <p:txBody>
          <a:bodyPr>
            <a:normAutofit fontScale="90000"/>
          </a:bodyPr>
          <a:lstStyle/>
          <a:p>
            <a:r>
              <a:rPr lang="en-US" b="1">
                <a:solidFill>
                  <a:srgbClr val="FFFF00"/>
                </a:solidFill>
              </a:rPr>
              <a:t>After CO Accept the request</a:t>
            </a:r>
          </a:p>
        </p:txBody>
      </p:sp>
      <p:sp>
        <p:nvSpPr>
          <p:cNvPr id="3" name="Content Placeholder 2">
            <a:extLst>
              <a:ext uri="{FF2B5EF4-FFF2-40B4-BE49-F238E27FC236}">
                <a16:creationId xmlns:a16="http://schemas.microsoft.com/office/drawing/2014/main" id="{4D62D349-6C06-D19C-2158-FD07FB775536}"/>
              </a:ext>
            </a:extLst>
          </p:cNvPr>
          <p:cNvSpPr>
            <a:spLocks noGrp="1"/>
          </p:cNvSpPr>
          <p:nvPr>
            <p:ph idx="1"/>
          </p:nvPr>
        </p:nvSpPr>
        <p:spPr>
          <a:xfrm>
            <a:off x="133350" y="542924"/>
            <a:ext cx="12058650" cy="6315075"/>
          </a:xfrm>
        </p:spPr>
        <p:txBody>
          <a:bodyPr>
            <a:normAutofit fontScale="92500" lnSpcReduction="20000"/>
          </a:bodyPr>
          <a:lstStyle/>
          <a:p>
            <a:r>
              <a:rPr lang="en-US" b="1">
                <a:solidFill>
                  <a:srgbClr val="FF0000"/>
                </a:solidFill>
              </a:rPr>
              <a:t>Flow_Request</a:t>
            </a:r>
          </a:p>
          <a:p>
            <a:pPr lvl="1"/>
            <a:r>
              <a:rPr lang="en-US" b="1"/>
              <a:t>Approved_amount: from NULL to </a:t>
            </a:r>
            <a:r>
              <a:rPr lang="en-US" b="1">
                <a:solidFill>
                  <a:srgbClr val="00B0F0"/>
                </a:solidFill>
              </a:rPr>
              <a:t>80000</a:t>
            </a:r>
          </a:p>
          <a:p>
            <a:pPr lvl="1"/>
            <a:r>
              <a:rPr lang="en-US" b="1"/>
              <a:t>Approv_value: from NULL to </a:t>
            </a:r>
            <a:r>
              <a:rPr lang="en-US" b="1">
                <a:solidFill>
                  <a:srgbClr val="00B0F0"/>
                </a:solidFill>
              </a:rPr>
              <a:t>86000</a:t>
            </a:r>
          </a:p>
          <a:p>
            <a:pPr lvl="1"/>
            <a:r>
              <a:rPr lang="en-US" b="1"/>
              <a:t>Total amount: from NULL to </a:t>
            </a:r>
            <a:r>
              <a:rPr lang="en-US" b="1">
                <a:solidFill>
                  <a:srgbClr val="00B0F0"/>
                </a:solidFill>
              </a:rPr>
              <a:t>116640.00</a:t>
            </a:r>
          </a:p>
          <a:p>
            <a:pPr lvl="1"/>
            <a:r>
              <a:rPr lang="en-US" b="1"/>
              <a:t>NO_Months: from NULL to </a:t>
            </a:r>
            <a:r>
              <a:rPr lang="en-US" b="1">
                <a:solidFill>
                  <a:srgbClr val="00B0F0"/>
                </a:solidFill>
              </a:rPr>
              <a:t>15</a:t>
            </a:r>
          </a:p>
          <a:p>
            <a:pPr lvl="1"/>
            <a:r>
              <a:rPr lang="en-US" sz="1600" b="1"/>
              <a:t>Primium_value: from NULL to </a:t>
            </a:r>
            <a:r>
              <a:rPr lang="en-US" b="1">
                <a:solidFill>
                  <a:srgbClr val="00B0F0"/>
                </a:solidFill>
              </a:rPr>
              <a:t>7776.00</a:t>
            </a:r>
          </a:p>
          <a:p>
            <a:r>
              <a:rPr lang="en-US" b="1">
                <a:solidFill>
                  <a:srgbClr val="FFC000"/>
                </a:solidFill>
              </a:rPr>
              <a:t>Flow_Request_Deportation</a:t>
            </a:r>
          </a:p>
          <a:p>
            <a:pPr lvl="1"/>
            <a:r>
              <a:rPr lang="en-US" sz="1600" b="1">
                <a:solidFill>
                  <a:srgbClr val="FFFF00"/>
                </a:solidFill>
              </a:rPr>
              <a:t>Code_action</a:t>
            </a:r>
            <a:r>
              <a:rPr lang="en-US" sz="1600" b="1"/>
              <a:t>: 3  -- from flow_action, type code is 1</a:t>
            </a:r>
          </a:p>
          <a:p>
            <a:pPr lvl="1"/>
            <a:r>
              <a:rPr lang="en-US" sz="1600" b="1">
                <a:solidFill>
                  <a:srgbClr val="FFFF00"/>
                </a:solidFill>
              </a:rPr>
              <a:t>Name_step_from</a:t>
            </a:r>
            <a:r>
              <a:rPr lang="en-US" sz="1600" b="1"/>
              <a:t>: </a:t>
            </a:r>
            <a:r>
              <a:rPr lang="ar-EG" sz="1600" b="1"/>
              <a:t>زيارة ميدانية</a:t>
            </a:r>
          </a:p>
          <a:p>
            <a:pPr lvl="1"/>
            <a:r>
              <a:rPr lang="en-US" sz="1600" b="1">
                <a:solidFill>
                  <a:srgbClr val="FFFF00"/>
                </a:solidFill>
              </a:rPr>
              <a:t>Name_step_to</a:t>
            </a:r>
            <a:r>
              <a:rPr lang="en-US" sz="1600" b="1"/>
              <a:t>: </a:t>
            </a:r>
            <a:r>
              <a:rPr lang="ar-EG" sz="1600" b="1"/>
              <a:t>تحليل ائتماني </a:t>
            </a:r>
            <a:endParaRPr lang="en-US" sz="1600" b="1"/>
          </a:p>
          <a:p>
            <a:pPr lvl="1"/>
            <a:r>
              <a:rPr lang="en-US" sz="1600" b="1">
                <a:solidFill>
                  <a:srgbClr val="FFFF00"/>
                </a:solidFill>
              </a:rPr>
              <a:t>UserId_TO</a:t>
            </a:r>
            <a:r>
              <a:rPr lang="en-US" sz="1600" b="1"/>
              <a:t>: CO</a:t>
            </a:r>
          </a:p>
          <a:p>
            <a:pPr lvl="1"/>
            <a:r>
              <a:rPr lang="en-US" sz="1600" b="1">
                <a:solidFill>
                  <a:srgbClr val="FFFF00"/>
                </a:solidFill>
              </a:rPr>
              <a:t>Status_two</a:t>
            </a:r>
            <a:r>
              <a:rPr lang="en-US" sz="1600" b="1"/>
              <a:t>: CA1211 </a:t>
            </a:r>
            <a:endParaRPr lang="ar-EG" sz="1600" b="1"/>
          </a:p>
          <a:p>
            <a:r>
              <a:rPr lang="en-US" sz="1800" b="1">
                <a:solidFill>
                  <a:srgbClr val="FFC000"/>
                </a:solidFill>
              </a:rPr>
              <a:t>TDWF.Flow_Requests_Log</a:t>
            </a:r>
          </a:p>
          <a:p>
            <a:pPr lvl="1"/>
            <a:r>
              <a:rPr lang="en-US" sz="1700" b="1">
                <a:solidFill>
                  <a:srgbClr val="FFC000"/>
                </a:solidFill>
              </a:rPr>
              <a:t>Last record</a:t>
            </a:r>
          </a:p>
          <a:p>
            <a:pPr lvl="2"/>
            <a:r>
              <a:rPr lang="en-US" sz="1700" b="1">
                <a:solidFill>
                  <a:srgbClr val="FFC000"/>
                </a:solidFill>
              </a:rPr>
              <a:t>Action</a:t>
            </a:r>
            <a:r>
              <a:rPr lang="ar-EG" sz="1700" b="1">
                <a:solidFill>
                  <a:srgbClr val="FFC000"/>
                </a:solidFill>
              </a:rPr>
              <a:t>_</a:t>
            </a:r>
            <a:r>
              <a:rPr lang="en-US" sz="1700" b="1">
                <a:solidFill>
                  <a:srgbClr val="FFC000"/>
                </a:solidFill>
              </a:rPr>
              <a:t>Flag from NULL to 1 [</a:t>
            </a:r>
            <a:r>
              <a:rPr lang="ar-EG" sz="1700" b="1">
                <a:solidFill>
                  <a:srgbClr val="FFC000"/>
                </a:solidFill>
              </a:rPr>
              <a:t>قبول</a:t>
            </a:r>
            <a:r>
              <a:rPr lang="en-US" sz="1700" b="1">
                <a:solidFill>
                  <a:srgbClr val="FFC000"/>
                </a:solidFill>
              </a:rPr>
              <a:t> ]</a:t>
            </a:r>
            <a:endParaRPr lang="ar-EG" sz="1700" b="1">
              <a:solidFill>
                <a:srgbClr val="FFC000"/>
              </a:solidFill>
            </a:endParaRPr>
          </a:p>
          <a:p>
            <a:pPr lvl="1"/>
            <a:r>
              <a:rPr lang="en-US" sz="1700" b="1">
                <a:solidFill>
                  <a:srgbClr val="FFC000"/>
                </a:solidFill>
              </a:rPr>
              <a:t>New Record</a:t>
            </a:r>
          </a:p>
          <a:p>
            <a:pPr lvl="2"/>
            <a:r>
              <a:rPr lang="en-US" sz="1700" b="1">
                <a:solidFill>
                  <a:srgbClr val="FFC000"/>
                </a:solidFill>
              </a:rPr>
              <a:t>UserId: CO</a:t>
            </a:r>
          </a:p>
          <a:p>
            <a:pPr lvl="2"/>
            <a:r>
              <a:rPr lang="en-US" sz="1700" b="1">
                <a:solidFill>
                  <a:srgbClr val="FFC000"/>
                </a:solidFill>
              </a:rPr>
              <a:t>Action</a:t>
            </a:r>
            <a:r>
              <a:rPr lang="ar-EG" sz="1700" b="1">
                <a:solidFill>
                  <a:srgbClr val="FFC000"/>
                </a:solidFill>
              </a:rPr>
              <a:t>_</a:t>
            </a:r>
            <a:r>
              <a:rPr lang="en-US" sz="1700" b="1">
                <a:solidFill>
                  <a:srgbClr val="FFC000"/>
                </a:solidFill>
              </a:rPr>
              <a:t>Flag: NULL</a:t>
            </a:r>
          </a:p>
          <a:p>
            <a:pPr lvl="2"/>
            <a:r>
              <a:rPr lang="en-US" sz="1700" b="1">
                <a:solidFill>
                  <a:srgbClr val="FFC000"/>
                </a:solidFill>
              </a:rPr>
              <a:t>Step_name: CA1211 // </a:t>
            </a:r>
            <a:r>
              <a:rPr lang="ar-EG" sz="1700" b="1">
                <a:solidFill>
                  <a:srgbClr val="FFC000"/>
                </a:solidFill>
              </a:rPr>
              <a:t>تحليل ائتماني</a:t>
            </a:r>
            <a:endParaRPr lang="en-US" sz="1700" b="1">
              <a:solidFill>
                <a:srgbClr val="FFC000"/>
              </a:solidFill>
            </a:endParaRPr>
          </a:p>
        </p:txBody>
      </p:sp>
      <p:pic>
        <p:nvPicPr>
          <p:cNvPr id="6" name="Picture 5">
            <a:extLst>
              <a:ext uri="{FF2B5EF4-FFF2-40B4-BE49-F238E27FC236}">
                <a16:creationId xmlns:a16="http://schemas.microsoft.com/office/drawing/2014/main" id="{11E1A882-4D31-1A15-D336-6F51B567F46E}"/>
              </a:ext>
            </a:extLst>
          </p:cNvPr>
          <p:cNvPicPr>
            <a:picLocks noChangeAspect="1"/>
          </p:cNvPicPr>
          <p:nvPr/>
        </p:nvPicPr>
        <p:blipFill>
          <a:blip r:embed="rId2"/>
          <a:stretch>
            <a:fillRect/>
          </a:stretch>
        </p:blipFill>
        <p:spPr>
          <a:xfrm>
            <a:off x="4906519" y="5294189"/>
            <a:ext cx="7285481" cy="1430462"/>
          </a:xfrm>
          <a:prstGeom prst="rect">
            <a:avLst/>
          </a:prstGeom>
        </p:spPr>
      </p:pic>
    </p:spTree>
    <p:extLst>
      <p:ext uri="{BB962C8B-B14F-4D97-AF65-F5344CB8AC3E}">
        <p14:creationId xmlns:p14="http://schemas.microsoft.com/office/powerpoint/2010/main" val="30790636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A3696-AB65-B5BB-758C-AE16F02CF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B1D12-AE7C-E79B-8518-B5C7FA6070FD}"/>
              </a:ext>
            </a:extLst>
          </p:cNvPr>
          <p:cNvSpPr>
            <a:spLocks noGrp="1"/>
          </p:cNvSpPr>
          <p:nvPr>
            <p:ph type="title"/>
          </p:nvPr>
        </p:nvSpPr>
        <p:spPr>
          <a:xfrm>
            <a:off x="1031782" y="2458550"/>
            <a:ext cx="10353762" cy="970450"/>
          </a:xfrm>
        </p:spPr>
        <p:txBody>
          <a:bodyPr>
            <a:normAutofit/>
          </a:bodyPr>
          <a:lstStyle/>
          <a:p>
            <a:r>
              <a:rPr lang="en-US" b="1">
                <a:solidFill>
                  <a:srgbClr val="FF0000"/>
                </a:solidFill>
              </a:rPr>
              <a:t>End Field visit: </a:t>
            </a:r>
            <a:r>
              <a:rPr lang="ar-EG" b="1">
                <a:solidFill>
                  <a:srgbClr val="FF0000"/>
                </a:solidFill>
              </a:rPr>
              <a:t>زيارة ميدانية</a:t>
            </a:r>
            <a:r>
              <a:rPr lang="en-US" b="1">
                <a:solidFill>
                  <a:srgbClr val="FF0000"/>
                </a:solidFill>
              </a:rPr>
              <a:t>, </a:t>
            </a:r>
            <a:r>
              <a:rPr lang="en-US" b="1">
                <a:solidFill>
                  <a:srgbClr val="FFFF00"/>
                </a:solidFill>
              </a:rPr>
              <a:t>CO1311</a:t>
            </a:r>
            <a:r>
              <a:rPr lang="en-US" b="1">
                <a:solidFill>
                  <a:srgbClr val="FF0000"/>
                </a:solidFill>
              </a:rPr>
              <a:t>, CO</a:t>
            </a:r>
            <a:endParaRPr lang="en-US">
              <a:solidFill>
                <a:srgbClr val="FF0000"/>
              </a:solidFill>
              <a:effectLst/>
            </a:endParaRPr>
          </a:p>
        </p:txBody>
      </p:sp>
    </p:spTree>
    <p:extLst>
      <p:ext uri="{BB962C8B-B14F-4D97-AF65-F5344CB8AC3E}">
        <p14:creationId xmlns:p14="http://schemas.microsoft.com/office/powerpoint/2010/main" val="2408633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9A07-EFBD-CBFB-22D4-72FC64FF91A9}"/>
              </a:ext>
            </a:extLst>
          </p:cNvPr>
          <p:cNvSpPr>
            <a:spLocks noGrp="1"/>
          </p:cNvSpPr>
          <p:nvPr>
            <p:ph type="title"/>
          </p:nvPr>
        </p:nvSpPr>
        <p:spPr>
          <a:xfrm>
            <a:off x="0" y="2514598"/>
            <a:ext cx="12191999" cy="1143001"/>
          </a:xfrm>
        </p:spPr>
        <p:txBody>
          <a:bodyPr>
            <a:noAutofit/>
          </a:bodyPr>
          <a:lstStyle/>
          <a:p>
            <a:r>
              <a:rPr lang="en-US" sz="4400" b="1">
                <a:solidFill>
                  <a:srgbClr val="FF0000"/>
                </a:solidFill>
              </a:rPr>
              <a:t>Start Credit Analysis, CA1211, [ </a:t>
            </a:r>
            <a:r>
              <a:rPr lang="ar-EG" sz="4400" b="1">
                <a:solidFill>
                  <a:srgbClr val="FF0000"/>
                </a:solidFill>
              </a:rPr>
              <a:t>تحليل ائتماني</a:t>
            </a:r>
            <a:r>
              <a:rPr lang="en-US" sz="4400" b="1">
                <a:solidFill>
                  <a:srgbClr val="FF0000"/>
                </a:solidFill>
              </a:rPr>
              <a:t> ]</a:t>
            </a:r>
          </a:p>
        </p:txBody>
      </p:sp>
    </p:spTree>
    <p:extLst>
      <p:ext uri="{BB962C8B-B14F-4D97-AF65-F5344CB8AC3E}">
        <p14:creationId xmlns:p14="http://schemas.microsoft.com/office/powerpoint/2010/main" val="40884894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1E9-B3DB-6A93-82B3-8A8B4E2846D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E51EB57-ECE3-3FD5-3796-65F03C810A96}"/>
              </a:ext>
            </a:extLst>
          </p:cNvPr>
          <p:cNvPicPr>
            <a:picLocks noGrp="1" noChangeAspect="1"/>
          </p:cNvPicPr>
          <p:nvPr>
            <p:ph idx="1"/>
          </p:nvPr>
        </p:nvPicPr>
        <p:blipFill>
          <a:blip r:embed="rId2"/>
          <a:stretch>
            <a:fillRect/>
          </a:stretch>
        </p:blipFill>
        <p:spPr>
          <a:xfrm>
            <a:off x="3863901" y="1800057"/>
            <a:ext cx="7451992" cy="4773575"/>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131675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EDD6-4FB3-03F6-FB39-3886B373950D}"/>
              </a:ext>
            </a:extLst>
          </p:cNvPr>
          <p:cNvSpPr>
            <a:spLocks noGrp="1"/>
          </p:cNvSpPr>
          <p:nvPr>
            <p:ph type="title"/>
          </p:nvPr>
        </p:nvSpPr>
        <p:spPr>
          <a:xfrm>
            <a:off x="176981" y="0"/>
            <a:ext cx="11818374" cy="589935"/>
          </a:xfrm>
        </p:spPr>
        <p:txBody>
          <a:bodyPr>
            <a:normAutofit fontScale="90000"/>
          </a:bodyPr>
          <a:lstStyle/>
          <a:p>
            <a:r>
              <a:rPr lang="en-US" sz="3600" b="1">
                <a:solidFill>
                  <a:srgbClr val="FFFF00"/>
                </a:solidFill>
              </a:rPr>
              <a:t>TDWF</a:t>
            </a:r>
            <a:r>
              <a:rPr lang="en-US" sz="3600"/>
              <a:t>.</a:t>
            </a:r>
            <a:r>
              <a:rPr lang="en-US" sz="3600" b="1">
                <a:solidFill>
                  <a:srgbClr val="FF0000"/>
                </a:solidFill>
              </a:rPr>
              <a:t>Flow_Credit_Analysis</a:t>
            </a:r>
          </a:p>
        </p:txBody>
      </p:sp>
      <p:sp>
        <p:nvSpPr>
          <p:cNvPr id="3" name="Content Placeholder 2">
            <a:extLst>
              <a:ext uri="{FF2B5EF4-FFF2-40B4-BE49-F238E27FC236}">
                <a16:creationId xmlns:a16="http://schemas.microsoft.com/office/drawing/2014/main" id="{B37955A6-9068-9D49-E894-EFF992E845F1}"/>
              </a:ext>
            </a:extLst>
          </p:cNvPr>
          <p:cNvSpPr>
            <a:spLocks noGrp="1"/>
          </p:cNvSpPr>
          <p:nvPr>
            <p:ph idx="1"/>
          </p:nvPr>
        </p:nvSpPr>
        <p:spPr>
          <a:xfrm>
            <a:off x="176980" y="759056"/>
            <a:ext cx="11838040" cy="5956375"/>
          </a:xfrm>
        </p:spPr>
        <p:txBody>
          <a:bodyPr/>
          <a:lstStyle/>
          <a:p>
            <a:r>
              <a:rPr lang="en-US" b="1">
                <a:solidFill>
                  <a:schemeClr val="tx1"/>
                </a:solidFill>
              </a:rPr>
              <a:t>FCA_ID</a:t>
            </a:r>
            <a:r>
              <a:rPr lang="en-US" b="1"/>
              <a:t>: </a:t>
            </a:r>
            <a:r>
              <a:rPr lang="en-US" b="1">
                <a:solidFill>
                  <a:srgbClr val="FF0000"/>
                </a:solidFill>
              </a:rPr>
              <a:t>[PK]</a:t>
            </a:r>
          </a:p>
        </p:txBody>
      </p:sp>
      <p:pic>
        <p:nvPicPr>
          <p:cNvPr id="5" name="Picture 4">
            <a:extLst>
              <a:ext uri="{FF2B5EF4-FFF2-40B4-BE49-F238E27FC236}">
                <a16:creationId xmlns:a16="http://schemas.microsoft.com/office/drawing/2014/main" id="{DF603D51-AFA5-E060-F082-6E1FC4B845E4}"/>
              </a:ext>
            </a:extLst>
          </p:cNvPr>
          <p:cNvPicPr>
            <a:picLocks noChangeAspect="1"/>
          </p:cNvPicPr>
          <p:nvPr/>
        </p:nvPicPr>
        <p:blipFill>
          <a:blip r:embed="rId2"/>
          <a:stretch>
            <a:fillRect/>
          </a:stretch>
        </p:blipFill>
        <p:spPr>
          <a:xfrm>
            <a:off x="3442364" y="589935"/>
            <a:ext cx="8572655" cy="898127"/>
          </a:xfrm>
          <a:prstGeom prst="rect">
            <a:avLst/>
          </a:prstGeom>
        </p:spPr>
      </p:pic>
    </p:spTree>
    <p:extLst>
      <p:ext uri="{BB962C8B-B14F-4D97-AF65-F5344CB8AC3E}">
        <p14:creationId xmlns:p14="http://schemas.microsoft.com/office/powerpoint/2010/main" val="27877885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F7CE9-CF89-4344-8B02-6CB2C2B89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07B31-B017-BA05-3690-032102CB809B}"/>
              </a:ext>
            </a:extLst>
          </p:cNvPr>
          <p:cNvSpPr>
            <a:spLocks noGrp="1"/>
          </p:cNvSpPr>
          <p:nvPr>
            <p:ph type="title"/>
          </p:nvPr>
        </p:nvSpPr>
        <p:spPr>
          <a:xfrm>
            <a:off x="0" y="2514598"/>
            <a:ext cx="12191999" cy="1143001"/>
          </a:xfrm>
        </p:spPr>
        <p:txBody>
          <a:bodyPr>
            <a:noAutofit/>
          </a:bodyPr>
          <a:lstStyle/>
          <a:p>
            <a:r>
              <a:rPr lang="en-US" sz="4400" b="1">
                <a:solidFill>
                  <a:srgbClr val="FF0000"/>
                </a:solidFill>
              </a:rPr>
              <a:t>End Credit Analysis, CA1211, [ </a:t>
            </a:r>
            <a:r>
              <a:rPr lang="ar-EG" sz="4400" b="1">
                <a:solidFill>
                  <a:srgbClr val="FF0000"/>
                </a:solidFill>
              </a:rPr>
              <a:t>تحليل ائتماني</a:t>
            </a:r>
            <a:r>
              <a:rPr lang="en-US" sz="4400" b="1">
                <a:solidFill>
                  <a:srgbClr val="FF0000"/>
                </a:solidFill>
              </a:rPr>
              <a:t> ]</a:t>
            </a:r>
          </a:p>
        </p:txBody>
      </p:sp>
    </p:spTree>
    <p:extLst>
      <p:ext uri="{BB962C8B-B14F-4D97-AF65-F5344CB8AC3E}">
        <p14:creationId xmlns:p14="http://schemas.microsoft.com/office/powerpoint/2010/main" val="5452105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E0D7F-9887-F9D1-A428-D44E77D6A084}"/>
              </a:ext>
            </a:extLst>
          </p:cNvPr>
          <p:cNvSpPr>
            <a:spLocks noGrp="1"/>
          </p:cNvSpPr>
          <p:nvPr>
            <p:ph type="title"/>
          </p:nvPr>
        </p:nvSpPr>
        <p:spPr>
          <a:xfrm>
            <a:off x="438150" y="2581275"/>
            <a:ext cx="11258550" cy="970450"/>
          </a:xfrm>
        </p:spPr>
        <p:txBody>
          <a:bodyPr>
            <a:normAutofit fontScale="90000"/>
          </a:bodyPr>
          <a:lstStyle/>
          <a:p>
            <a:r>
              <a:rPr lang="en-US" b="1">
                <a:solidFill>
                  <a:srgbClr val="FF0000"/>
                </a:solidFill>
              </a:rPr>
              <a:t>Start Uploading Documents: </a:t>
            </a:r>
            <a:r>
              <a:rPr lang="ar-EG" b="1">
                <a:solidFill>
                  <a:srgbClr val="00B0F0"/>
                </a:solidFill>
              </a:rPr>
              <a:t>تحميل المستندات</a:t>
            </a:r>
            <a:r>
              <a:rPr lang="en-US" b="1">
                <a:solidFill>
                  <a:srgbClr val="00B0F0"/>
                </a:solidFill>
              </a:rPr>
              <a:t>,</a:t>
            </a:r>
            <a:r>
              <a:rPr lang="en-US" b="1">
                <a:solidFill>
                  <a:srgbClr val="FF0000"/>
                </a:solidFill>
              </a:rPr>
              <a:t> </a:t>
            </a:r>
            <a:r>
              <a:rPr lang="en-US" b="1"/>
              <a:t>BM, </a:t>
            </a:r>
            <a:r>
              <a:rPr lang="en-US" b="1">
                <a:solidFill>
                  <a:srgbClr val="FF66FF"/>
                </a:solidFill>
              </a:rPr>
              <a:t>DU77</a:t>
            </a:r>
            <a:endParaRPr lang="en-US">
              <a:solidFill>
                <a:srgbClr val="FF66FF"/>
              </a:solidFill>
            </a:endParaRPr>
          </a:p>
        </p:txBody>
      </p:sp>
    </p:spTree>
    <p:extLst>
      <p:ext uri="{BB962C8B-B14F-4D97-AF65-F5344CB8AC3E}">
        <p14:creationId xmlns:p14="http://schemas.microsoft.com/office/powerpoint/2010/main" val="29116329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C30B3-9306-F08D-383A-BC1709B523B7}"/>
              </a:ext>
            </a:extLst>
          </p:cNvPr>
          <p:cNvSpPr>
            <a:spLocks noGrp="1"/>
          </p:cNvSpPr>
          <p:nvPr>
            <p:ph type="title"/>
          </p:nvPr>
        </p:nvSpPr>
        <p:spPr>
          <a:xfrm>
            <a:off x="913795" y="0"/>
            <a:ext cx="10353762" cy="752475"/>
          </a:xfrm>
        </p:spPr>
        <p:txBody>
          <a:bodyPr/>
          <a:lstStyle/>
          <a:p>
            <a:r>
              <a:rPr lang="en-US" b="1"/>
              <a:t>After </a:t>
            </a:r>
            <a:r>
              <a:rPr lang="ar-EG" b="1"/>
              <a:t>حفظ المستندات</a:t>
            </a:r>
            <a:endParaRPr lang="en-US" b="1"/>
          </a:p>
        </p:txBody>
      </p:sp>
      <p:sp>
        <p:nvSpPr>
          <p:cNvPr id="3" name="Content Placeholder 2">
            <a:extLst>
              <a:ext uri="{FF2B5EF4-FFF2-40B4-BE49-F238E27FC236}">
                <a16:creationId xmlns:a16="http://schemas.microsoft.com/office/drawing/2014/main" id="{51351372-44A0-EA98-27BD-33CC008AFFA2}"/>
              </a:ext>
            </a:extLst>
          </p:cNvPr>
          <p:cNvSpPr>
            <a:spLocks noGrp="1"/>
          </p:cNvSpPr>
          <p:nvPr>
            <p:ph idx="1"/>
          </p:nvPr>
        </p:nvSpPr>
        <p:spPr>
          <a:xfrm>
            <a:off x="314326" y="752475"/>
            <a:ext cx="11706224" cy="5924550"/>
          </a:xfrm>
        </p:spPr>
        <p:txBody>
          <a:bodyPr/>
          <a:lstStyle/>
          <a:p>
            <a:r>
              <a:rPr lang="en-US" b="1"/>
              <a:t>Flow_Funding_requestController/UploadBranchManagerDocs</a:t>
            </a:r>
          </a:p>
          <a:p>
            <a:endParaRPr lang="en-US"/>
          </a:p>
          <a:p>
            <a:r>
              <a:rPr lang="en-US" b="1">
                <a:solidFill>
                  <a:srgbClr val="FFFF00"/>
                </a:solidFill>
              </a:rPr>
              <a:t>TWF</a:t>
            </a:r>
            <a:r>
              <a:rPr lang="en-US" b="1"/>
              <a:t>.</a:t>
            </a:r>
            <a:r>
              <a:rPr lang="en-US" b="1">
                <a:solidFill>
                  <a:srgbClr val="00B0F0"/>
                </a:solidFill>
              </a:rPr>
              <a:t>TWF_Download</a:t>
            </a:r>
          </a:p>
          <a:p>
            <a:endParaRPr lang="en-US" b="1">
              <a:solidFill>
                <a:srgbClr val="00B0F0"/>
              </a:solidFill>
            </a:endParaRPr>
          </a:p>
          <a:p>
            <a:endParaRPr lang="en-US" b="1">
              <a:solidFill>
                <a:srgbClr val="00B0F0"/>
              </a:solidFill>
            </a:endParaRPr>
          </a:p>
          <a:p>
            <a:endParaRPr lang="en-US" b="1">
              <a:solidFill>
                <a:srgbClr val="00B0F0"/>
              </a:solidFill>
            </a:endParaRPr>
          </a:p>
        </p:txBody>
      </p:sp>
      <p:pic>
        <p:nvPicPr>
          <p:cNvPr id="5" name="Picture 4">
            <a:extLst>
              <a:ext uri="{FF2B5EF4-FFF2-40B4-BE49-F238E27FC236}">
                <a16:creationId xmlns:a16="http://schemas.microsoft.com/office/drawing/2014/main" id="{957AA0B4-9A25-FFED-19E7-3E912FCADE84}"/>
              </a:ext>
            </a:extLst>
          </p:cNvPr>
          <p:cNvPicPr>
            <a:picLocks noChangeAspect="1"/>
          </p:cNvPicPr>
          <p:nvPr/>
        </p:nvPicPr>
        <p:blipFill>
          <a:blip r:embed="rId2"/>
          <a:stretch>
            <a:fillRect/>
          </a:stretch>
        </p:blipFill>
        <p:spPr>
          <a:xfrm>
            <a:off x="581025" y="2211682"/>
            <a:ext cx="9298981" cy="607718"/>
          </a:xfrm>
          <a:prstGeom prst="rect">
            <a:avLst/>
          </a:prstGeom>
        </p:spPr>
      </p:pic>
    </p:spTree>
    <p:extLst>
      <p:ext uri="{BB962C8B-B14F-4D97-AF65-F5344CB8AC3E}">
        <p14:creationId xmlns:p14="http://schemas.microsoft.com/office/powerpoint/2010/main" val="4767544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9C5AB-A3A4-940C-9677-6292B1218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F9F34-69F6-BDFF-B454-184D555E86C7}"/>
              </a:ext>
            </a:extLst>
          </p:cNvPr>
          <p:cNvSpPr>
            <a:spLocks noGrp="1"/>
          </p:cNvSpPr>
          <p:nvPr>
            <p:ph type="title"/>
          </p:nvPr>
        </p:nvSpPr>
        <p:spPr>
          <a:xfrm>
            <a:off x="913795" y="0"/>
            <a:ext cx="10353762" cy="457200"/>
          </a:xfrm>
        </p:spPr>
        <p:txBody>
          <a:bodyPr>
            <a:normAutofit fontScale="90000"/>
          </a:bodyPr>
          <a:lstStyle/>
          <a:p>
            <a:r>
              <a:rPr lang="en-US" b="1">
                <a:solidFill>
                  <a:srgbClr val="FFFF00"/>
                </a:solidFill>
              </a:rPr>
              <a:t>After BM Accept the request</a:t>
            </a:r>
          </a:p>
        </p:txBody>
      </p:sp>
      <p:sp>
        <p:nvSpPr>
          <p:cNvPr id="3" name="Content Placeholder 2">
            <a:extLst>
              <a:ext uri="{FF2B5EF4-FFF2-40B4-BE49-F238E27FC236}">
                <a16:creationId xmlns:a16="http://schemas.microsoft.com/office/drawing/2014/main" id="{FD36925E-3B1D-5E78-60A3-682CCD627AAC}"/>
              </a:ext>
            </a:extLst>
          </p:cNvPr>
          <p:cNvSpPr>
            <a:spLocks noGrp="1"/>
          </p:cNvSpPr>
          <p:nvPr>
            <p:ph idx="1"/>
          </p:nvPr>
        </p:nvSpPr>
        <p:spPr>
          <a:xfrm>
            <a:off x="133350" y="542924"/>
            <a:ext cx="12058650" cy="6315075"/>
          </a:xfrm>
        </p:spPr>
        <p:txBody>
          <a:bodyPr>
            <a:normAutofit/>
          </a:bodyPr>
          <a:lstStyle/>
          <a:p>
            <a:r>
              <a:rPr lang="en-US" b="1">
                <a:solidFill>
                  <a:srgbClr val="FFC000"/>
                </a:solidFill>
              </a:rPr>
              <a:t>Flow_Request_Deportation</a:t>
            </a:r>
          </a:p>
          <a:p>
            <a:pPr lvl="1"/>
            <a:r>
              <a:rPr lang="en-US" sz="1600" b="1">
                <a:solidFill>
                  <a:srgbClr val="FFFF00"/>
                </a:solidFill>
              </a:rPr>
              <a:t>Code_action</a:t>
            </a:r>
            <a:r>
              <a:rPr lang="en-US" sz="1600" b="1"/>
              <a:t>: 5  -- from flow_action, type code is 1</a:t>
            </a:r>
          </a:p>
          <a:p>
            <a:pPr lvl="1"/>
            <a:r>
              <a:rPr lang="en-US" sz="1600" b="1">
                <a:solidFill>
                  <a:srgbClr val="FFFF00"/>
                </a:solidFill>
              </a:rPr>
              <a:t>Name_step_from</a:t>
            </a:r>
            <a:r>
              <a:rPr lang="en-US" sz="1600" b="1"/>
              <a:t>: </a:t>
            </a:r>
            <a:r>
              <a:rPr lang="ar-EG" sz="1600" b="1"/>
              <a:t>تحميل مستندات</a:t>
            </a:r>
          </a:p>
          <a:p>
            <a:pPr lvl="1"/>
            <a:r>
              <a:rPr lang="en-US" sz="1600" b="1">
                <a:solidFill>
                  <a:srgbClr val="FFFF00"/>
                </a:solidFill>
              </a:rPr>
              <a:t>Name_step_to</a:t>
            </a:r>
            <a:r>
              <a:rPr lang="en-US" sz="1600" b="1"/>
              <a:t>: </a:t>
            </a:r>
            <a:r>
              <a:rPr lang="ar-EG" sz="1600" b="1"/>
              <a:t>مراجعة مركزية </a:t>
            </a:r>
            <a:endParaRPr lang="en-US" sz="1600" b="1"/>
          </a:p>
          <a:p>
            <a:pPr lvl="1"/>
            <a:r>
              <a:rPr lang="en-US" sz="1600" b="1">
                <a:solidFill>
                  <a:srgbClr val="FFFF00"/>
                </a:solidFill>
              </a:rPr>
              <a:t>UserId_TO</a:t>
            </a:r>
            <a:r>
              <a:rPr lang="en-US" sz="1600" b="1"/>
              <a:t>: NULL</a:t>
            </a:r>
          </a:p>
          <a:p>
            <a:pPr lvl="1"/>
            <a:r>
              <a:rPr lang="en-US" sz="1600" b="1">
                <a:solidFill>
                  <a:srgbClr val="FFFF00"/>
                </a:solidFill>
              </a:rPr>
              <a:t>Status_two</a:t>
            </a:r>
            <a:r>
              <a:rPr lang="en-US" sz="1600" b="1"/>
              <a:t>: LR55 </a:t>
            </a:r>
            <a:endParaRPr lang="ar-EG" sz="1600" b="1"/>
          </a:p>
          <a:p>
            <a:r>
              <a:rPr lang="en-US" sz="1800" b="1">
                <a:solidFill>
                  <a:srgbClr val="FFC000"/>
                </a:solidFill>
              </a:rPr>
              <a:t>TDWF.Flow_Requests_Log</a:t>
            </a:r>
          </a:p>
          <a:p>
            <a:pPr lvl="1"/>
            <a:r>
              <a:rPr lang="en-US" sz="1700" b="1">
                <a:solidFill>
                  <a:srgbClr val="FFC000"/>
                </a:solidFill>
              </a:rPr>
              <a:t>Last record</a:t>
            </a:r>
          </a:p>
          <a:p>
            <a:pPr lvl="2"/>
            <a:r>
              <a:rPr lang="en-US" sz="1700" b="1">
                <a:solidFill>
                  <a:srgbClr val="FFC000"/>
                </a:solidFill>
              </a:rPr>
              <a:t>Action</a:t>
            </a:r>
            <a:r>
              <a:rPr lang="ar-EG" sz="1700" b="1">
                <a:solidFill>
                  <a:srgbClr val="FFC000"/>
                </a:solidFill>
              </a:rPr>
              <a:t>_</a:t>
            </a:r>
            <a:r>
              <a:rPr lang="en-US" sz="1700" b="1">
                <a:solidFill>
                  <a:srgbClr val="FFC000"/>
                </a:solidFill>
              </a:rPr>
              <a:t>Flag from NULL to 1 [</a:t>
            </a:r>
            <a:r>
              <a:rPr lang="ar-EG" sz="1700" b="1">
                <a:solidFill>
                  <a:srgbClr val="FFC000"/>
                </a:solidFill>
              </a:rPr>
              <a:t>قبول</a:t>
            </a:r>
            <a:r>
              <a:rPr lang="en-US" sz="1700" b="1">
                <a:solidFill>
                  <a:srgbClr val="FFC000"/>
                </a:solidFill>
              </a:rPr>
              <a:t> ]</a:t>
            </a:r>
            <a:endParaRPr lang="ar-EG" sz="1700" b="1">
              <a:solidFill>
                <a:srgbClr val="FFC000"/>
              </a:solidFill>
            </a:endParaRPr>
          </a:p>
          <a:p>
            <a:pPr lvl="1"/>
            <a:r>
              <a:rPr lang="en-US" sz="1700" b="1">
                <a:solidFill>
                  <a:srgbClr val="FFC000"/>
                </a:solidFill>
              </a:rPr>
              <a:t>New Record</a:t>
            </a:r>
          </a:p>
          <a:p>
            <a:pPr lvl="2"/>
            <a:r>
              <a:rPr lang="en-US" sz="1700" b="1">
                <a:solidFill>
                  <a:srgbClr val="FFC000"/>
                </a:solidFill>
              </a:rPr>
              <a:t>UserId: NULL</a:t>
            </a:r>
          </a:p>
          <a:p>
            <a:pPr lvl="2"/>
            <a:r>
              <a:rPr lang="en-US" sz="1700" b="1">
                <a:solidFill>
                  <a:srgbClr val="FFC000"/>
                </a:solidFill>
              </a:rPr>
              <a:t>Action</a:t>
            </a:r>
            <a:r>
              <a:rPr lang="ar-EG" sz="1700" b="1">
                <a:solidFill>
                  <a:srgbClr val="FFC000"/>
                </a:solidFill>
              </a:rPr>
              <a:t>_</a:t>
            </a:r>
            <a:r>
              <a:rPr lang="en-US" sz="1700" b="1">
                <a:solidFill>
                  <a:srgbClr val="FFC000"/>
                </a:solidFill>
              </a:rPr>
              <a:t>Flag: 1</a:t>
            </a:r>
          </a:p>
          <a:p>
            <a:pPr lvl="2"/>
            <a:r>
              <a:rPr lang="en-US" sz="1700" b="1">
                <a:solidFill>
                  <a:srgbClr val="FFC000"/>
                </a:solidFill>
              </a:rPr>
              <a:t>Step_name: LR55 // </a:t>
            </a:r>
            <a:r>
              <a:rPr lang="ar-EG" sz="1700" b="1">
                <a:solidFill>
                  <a:srgbClr val="FFC000"/>
                </a:solidFill>
              </a:rPr>
              <a:t>مراجعة مركزية</a:t>
            </a:r>
            <a:endParaRPr lang="en-US" sz="1700" b="1">
              <a:solidFill>
                <a:srgbClr val="FFC000"/>
              </a:solidFill>
            </a:endParaRPr>
          </a:p>
        </p:txBody>
      </p:sp>
      <p:pic>
        <p:nvPicPr>
          <p:cNvPr id="5" name="Picture 4">
            <a:extLst>
              <a:ext uri="{FF2B5EF4-FFF2-40B4-BE49-F238E27FC236}">
                <a16:creationId xmlns:a16="http://schemas.microsoft.com/office/drawing/2014/main" id="{6B139F87-11F0-6129-9273-0891E304FDD8}"/>
              </a:ext>
            </a:extLst>
          </p:cNvPr>
          <p:cNvPicPr>
            <a:picLocks noChangeAspect="1"/>
          </p:cNvPicPr>
          <p:nvPr/>
        </p:nvPicPr>
        <p:blipFill>
          <a:blip r:embed="rId2"/>
          <a:stretch>
            <a:fillRect/>
          </a:stretch>
        </p:blipFill>
        <p:spPr>
          <a:xfrm>
            <a:off x="5200459" y="5448300"/>
            <a:ext cx="6858191" cy="1323975"/>
          </a:xfrm>
          <a:prstGeom prst="rect">
            <a:avLst/>
          </a:prstGeom>
        </p:spPr>
      </p:pic>
    </p:spTree>
    <p:extLst>
      <p:ext uri="{BB962C8B-B14F-4D97-AF65-F5344CB8AC3E}">
        <p14:creationId xmlns:p14="http://schemas.microsoft.com/office/powerpoint/2010/main" val="1184037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86646-D55A-5527-CEBD-BB1DD6FB4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1351F-ADF1-CD3F-7578-CCBEB7A655D4}"/>
              </a:ext>
            </a:extLst>
          </p:cNvPr>
          <p:cNvSpPr>
            <a:spLocks noGrp="1"/>
          </p:cNvSpPr>
          <p:nvPr>
            <p:ph type="title"/>
          </p:nvPr>
        </p:nvSpPr>
        <p:spPr>
          <a:xfrm>
            <a:off x="276224" y="2581275"/>
            <a:ext cx="11572875" cy="970450"/>
          </a:xfrm>
        </p:spPr>
        <p:txBody>
          <a:bodyPr>
            <a:normAutofit fontScale="90000"/>
          </a:bodyPr>
          <a:lstStyle/>
          <a:p>
            <a:r>
              <a:rPr lang="en-US" b="1">
                <a:solidFill>
                  <a:srgbClr val="FF0000"/>
                </a:solidFill>
              </a:rPr>
              <a:t>End Uploading Documents: </a:t>
            </a:r>
            <a:r>
              <a:rPr lang="ar-EG" b="1">
                <a:solidFill>
                  <a:srgbClr val="00B0F0"/>
                </a:solidFill>
              </a:rPr>
              <a:t>تحميل المستندات</a:t>
            </a:r>
            <a:r>
              <a:rPr lang="en-US" b="1">
                <a:solidFill>
                  <a:srgbClr val="00B0F0"/>
                </a:solidFill>
              </a:rPr>
              <a:t>,</a:t>
            </a:r>
            <a:r>
              <a:rPr lang="en-US" b="1">
                <a:solidFill>
                  <a:srgbClr val="FF0000"/>
                </a:solidFill>
              </a:rPr>
              <a:t> </a:t>
            </a:r>
            <a:r>
              <a:rPr lang="en-US" b="1"/>
              <a:t>BM, </a:t>
            </a:r>
            <a:r>
              <a:rPr lang="en-US" b="1">
                <a:solidFill>
                  <a:srgbClr val="FF66FF"/>
                </a:solidFill>
              </a:rPr>
              <a:t>DU77</a:t>
            </a:r>
            <a:endParaRPr lang="en-US">
              <a:solidFill>
                <a:srgbClr val="FF66FF"/>
              </a:solidFill>
            </a:endParaRPr>
          </a:p>
        </p:txBody>
      </p:sp>
    </p:spTree>
    <p:extLst>
      <p:ext uri="{BB962C8B-B14F-4D97-AF65-F5344CB8AC3E}">
        <p14:creationId xmlns:p14="http://schemas.microsoft.com/office/powerpoint/2010/main" val="24837192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0B11E-65A8-86F4-FBDD-122ADEF66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1262B-54BC-AE29-095A-5045DCDD0869}"/>
              </a:ext>
            </a:extLst>
          </p:cNvPr>
          <p:cNvSpPr>
            <a:spLocks noGrp="1"/>
          </p:cNvSpPr>
          <p:nvPr>
            <p:ph type="title"/>
          </p:nvPr>
        </p:nvSpPr>
        <p:spPr>
          <a:xfrm>
            <a:off x="276224" y="2581275"/>
            <a:ext cx="11572875" cy="970450"/>
          </a:xfrm>
        </p:spPr>
        <p:txBody>
          <a:bodyPr>
            <a:normAutofit/>
          </a:bodyPr>
          <a:lstStyle/>
          <a:p>
            <a:r>
              <a:rPr lang="en-US" b="1">
                <a:solidFill>
                  <a:srgbClr val="FF0000"/>
                </a:solidFill>
              </a:rPr>
              <a:t>Start </a:t>
            </a:r>
            <a:r>
              <a:rPr lang="ar-EG" b="1">
                <a:solidFill>
                  <a:srgbClr val="FF0000"/>
                </a:solidFill>
              </a:rPr>
              <a:t>مراجعة مدير الفرع</a:t>
            </a:r>
            <a:r>
              <a:rPr lang="en-US" b="1">
                <a:solidFill>
                  <a:srgbClr val="00B0F0"/>
                </a:solidFill>
              </a:rPr>
              <a:t>,</a:t>
            </a:r>
            <a:r>
              <a:rPr lang="en-US" b="1">
                <a:solidFill>
                  <a:srgbClr val="FF0000"/>
                </a:solidFill>
              </a:rPr>
              <a:t> BM</a:t>
            </a:r>
            <a:r>
              <a:rPr lang="en-US" b="1"/>
              <a:t>, </a:t>
            </a:r>
            <a:r>
              <a:rPr lang="en-US" b="1">
                <a:solidFill>
                  <a:srgbClr val="FF66FF"/>
                </a:solidFill>
              </a:rPr>
              <a:t>BMFR1</a:t>
            </a:r>
            <a:endParaRPr lang="en-US">
              <a:solidFill>
                <a:srgbClr val="FF66FF"/>
              </a:solidFill>
            </a:endParaRPr>
          </a:p>
        </p:txBody>
      </p:sp>
    </p:spTree>
    <p:extLst>
      <p:ext uri="{BB962C8B-B14F-4D97-AF65-F5344CB8AC3E}">
        <p14:creationId xmlns:p14="http://schemas.microsoft.com/office/powerpoint/2010/main" val="29557724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0BB8A-613F-51CA-1871-05B5243D4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CBB9F-B570-8DAB-457C-79F3420BAD24}"/>
              </a:ext>
            </a:extLst>
          </p:cNvPr>
          <p:cNvSpPr>
            <a:spLocks noGrp="1"/>
          </p:cNvSpPr>
          <p:nvPr>
            <p:ph type="title"/>
          </p:nvPr>
        </p:nvSpPr>
        <p:spPr>
          <a:xfrm>
            <a:off x="276224" y="2581275"/>
            <a:ext cx="11572875" cy="970450"/>
          </a:xfrm>
        </p:spPr>
        <p:txBody>
          <a:bodyPr>
            <a:normAutofit/>
          </a:bodyPr>
          <a:lstStyle/>
          <a:p>
            <a:r>
              <a:rPr lang="en-US" b="1">
                <a:solidFill>
                  <a:srgbClr val="FF0000"/>
                </a:solidFill>
              </a:rPr>
              <a:t>Start </a:t>
            </a:r>
            <a:r>
              <a:rPr lang="ar-EG" b="1">
                <a:solidFill>
                  <a:srgbClr val="FF0000"/>
                </a:solidFill>
              </a:rPr>
              <a:t>مراجعة مدير الفرع</a:t>
            </a:r>
            <a:r>
              <a:rPr lang="en-US" b="1">
                <a:solidFill>
                  <a:srgbClr val="00B0F0"/>
                </a:solidFill>
              </a:rPr>
              <a:t>,</a:t>
            </a:r>
            <a:r>
              <a:rPr lang="en-US" b="1">
                <a:solidFill>
                  <a:srgbClr val="FF0000"/>
                </a:solidFill>
              </a:rPr>
              <a:t> BM</a:t>
            </a:r>
            <a:r>
              <a:rPr lang="en-US" b="1"/>
              <a:t>, </a:t>
            </a:r>
            <a:r>
              <a:rPr lang="en-US" b="1">
                <a:solidFill>
                  <a:srgbClr val="FF66FF"/>
                </a:solidFill>
              </a:rPr>
              <a:t>BMFR1</a:t>
            </a:r>
            <a:endParaRPr lang="en-US">
              <a:solidFill>
                <a:srgbClr val="FF66FF"/>
              </a:solidFill>
            </a:endParaRPr>
          </a:p>
        </p:txBody>
      </p:sp>
    </p:spTree>
    <p:extLst>
      <p:ext uri="{BB962C8B-B14F-4D97-AF65-F5344CB8AC3E}">
        <p14:creationId xmlns:p14="http://schemas.microsoft.com/office/powerpoint/2010/main" val="14134478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D643-EE91-50D6-0888-48E5A4E90008}"/>
              </a:ext>
            </a:extLst>
          </p:cNvPr>
          <p:cNvSpPr>
            <a:spLocks noGrp="1"/>
          </p:cNvSpPr>
          <p:nvPr>
            <p:ph type="title"/>
          </p:nvPr>
        </p:nvSpPr>
        <p:spPr>
          <a:xfrm>
            <a:off x="378774" y="0"/>
            <a:ext cx="10353762" cy="970450"/>
          </a:xfrm>
        </p:spPr>
        <p:txBody>
          <a:bodyPr/>
          <a:lstStyle/>
          <a:p>
            <a:r>
              <a:rPr lang="en-US"/>
              <a:t>After Approv</a:t>
            </a:r>
          </a:p>
        </p:txBody>
      </p:sp>
      <p:sp>
        <p:nvSpPr>
          <p:cNvPr id="3" name="Content Placeholder 2">
            <a:extLst>
              <a:ext uri="{FF2B5EF4-FFF2-40B4-BE49-F238E27FC236}">
                <a16:creationId xmlns:a16="http://schemas.microsoft.com/office/drawing/2014/main" id="{110BBFF7-D593-154E-42CC-E47C9B52F14B}"/>
              </a:ext>
            </a:extLst>
          </p:cNvPr>
          <p:cNvSpPr>
            <a:spLocks noGrp="1"/>
          </p:cNvSpPr>
          <p:nvPr>
            <p:ph idx="1"/>
          </p:nvPr>
        </p:nvSpPr>
        <p:spPr/>
        <p:txBody>
          <a:bodyPr/>
          <a:lstStyle/>
          <a:p>
            <a:r>
              <a:rPr lang="en-US"/>
              <a:t>JobCode </a:t>
            </a:r>
            <a:r>
              <a:rPr lang="en-US">
                <a:sym typeface="Wingdings" panose="05000000000000000000" pitchFamily="2" charset="2"/>
              </a:rPr>
              <a:t> Going To </a:t>
            </a:r>
            <a:r>
              <a:rPr lang="en-US"/>
              <a:t>888</a:t>
            </a:r>
          </a:p>
        </p:txBody>
      </p:sp>
    </p:spTree>
    <p:extLst>
      <p:ext uri="{BB962C8B-B14F-4D97-AF65-F5344CB8AC3E}">
        <p14:creationId xmlns:p14="http://schemas.microsoft.com/office/powerpoint/2010/main" val="35707451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3D0A8-0F0C-04C2-84A3-8A3017201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39358-9834-D0C7-9CC2-738310BCAEDD}"/>
              </a:ext>
            </a:extLst>
          </p:cNvPr>
          <p:cNvSpPr>
            <a:spLocks noGrp="1"/>
          </p:cNvSpPr>
          <p:nvPr>
            <p:ph type="title"/>
          </p:nvPr>
        </p:nvSpPr>
        <p:spPr>
          <a:xfrm>
            <a:off x="276224" y="2581275"/>
            <a:ext cx="11572875" cy="970450"/>
          </a:xfrm>
        </p:spPr>
        <p:txBody>
          <a:bodyPr>
            <a:normAutofit/>
          </a:bodyPr>
          <a:lstStyle/>
          <a:p>
            <a:r>
              <a:rPr lang="en-US" b="1">
                <a:solidFill>
                  <a:srgbClr val="FF0000"/>
                </a:solidFill>
              </a:rPr>
              <a:t>End </a:t>
            </a:r>
            <a:r>
              <a:rPr lang="ar-EG" b="1">
                <a:solidFill>
                  <a:srgbClr val="FF0000"/>
                </a:solidFill>
              </a:rPr>
              <a:t>مراجعة مدير الفرع</a:t>
            </a:r>
            <a:r>
              <a:rPr lang="en-US" b="1">
                <a:solidFill>
                  <a:srgbClr val="00B0F0"/>
                </a:solidFill>
              </a:rPr>
              <a:t>,</a:t>
            </a:r>
            <a:r>
              <a:rPr lang="en-US" b="1">
                <a:solidFill>
                  <a:srgbClr val="FF0000"/>
                </a:solidFill>
              </a:rPr>
              <a:t> BM</a:t>
            </a:r>
            <a:r>
              <a:rPr lang="en-US" b="1"/>
              <a:t>, </a:t>
            </a:r>
            <a:r>
              <a:rPr lang="en-US" b="1">
                <a:solidFill>
                  <a:srgbClr val="FF66FF"/>
                </a:solidFill>
              </a:rPr>
              <a:t>BMFR1</a:t>
            </a:r>
            <a:endParaRPr lang="en-US">
              <a:solidFill>
                <a:srgbClr val="FF66FF"/>
              </a:solidFill>
            </a:endParaRPr>
          </a:p>
        </p:txBody>
      </p:sp>
    </p:spTree>
    <p:extLst>
      <p:ext uri="{BB962C8B-B14F-4D97-AF65-F5344CB8AC3E}">
        <p14:creationId xmlns:p14="http://schemas.microsoft.com/office/powerpoint/2010/main" val="9411527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5B395-61E4-7010-D08B-CA8874C5F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ADD3F-DE46-2758-4C70-2B8FB8407680}"/>
              </a:ext>
            </a:extLst>
          </p:cNvPr>
          <p:cNvSpPr>
            <a:spLocks noGrp="1"/>
          </p:cNvSpPr>
          <p:nvPr>
            <p:ph type="title"/>
          </p:nvPr>
        </p:nvSpPr>
        <p:spPr>
          <a:xfrm>
            <a:off x="276224" y="2581275"/>
            <a:ext cx="11572875" cy="970450"/>
          </a:xfrm>
        </p:spPr>
        <p:txBody>
          <a:bodyPr>
            <a:normAutofit/>
          </a:bodyPr>
          <a:lstStyle/>
          <a:p>
            <a:r>
              <a:rPr lang="en-US" b="1">
                <a:solidFill>
                  <a:srgbClr val="FF0000"/>
                </a:solidFill>
              </a:rPr>
              <a:t>Start </a:t>
            </a:r>
            <a:r>
              <a:rPr lang="ar-EG" b="1">
                <a:solidFill>
                  <a:srgbClr val="FF0000"/>
                </a:solidFill>
              </a:rPr>
              <a:t>اللجنة المركزية</a:t>
            </a:r>
            <a:endParaRPr lang="en-US">
              <a:solidFill>
                <a:srgbClr val="FF66FF"/>
              </a:solidFill>
            </a:endParaRPr>
          </a:p>
        </p:txBody>
      </p:sp>
    </p:spTree>
    <p:extLst>
      <p:ext uri="{BB962C8B-B14F-4D97-AF65-F5344CB8AC3E}">
        <p14:creationId xmlns:p14="http://schemas.microsoft.com/office/powerpoint/2010/main" val="9118600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38C13-4C47-36CA-26E7-93C95B38D88C}"/>
              </a:ext>
            </a:extLst>
          </p:cNvPr>
          <p:cNvSpPr>
            <a:spLocks noGrp="1"/>
          </p:cNvSpPr>
          <p:nvPr>
            <p:ph type="title"/>
          </p:nvPr>
        </p:nvSpPr>
        <p:spPr>
          <a:xfrm>
            <a:off x="913795" y="96350"/>
            <a:ext cx="10353762" cy="970450"/>
          </a:xfrm>
        </p:spPr>
        <p:txBody>
          <a:bodyPr/>
          <a:lstStyle/>
          <a:p>
            <a:r>
              <a:rPr lang="en-US"/>
              <a:t>SWF.Flow_Votes</a:t>
            </a:r>
          </a:p>
        </p:txBody>
      </p:sp>
      <p:pic>
        <p:nvPicPr>
          <p:cNvPr id="5" name="Content Placeholder 4">
            <a:extLst>
              <a:ext uri="{FF2B5EF4-FFF2-40B4-BE49-F238E27FC236}">
                <a16:creationId xmlns:a16="http://schemas.microsoft.com/office/drawing/2014/main" id="{CFE93069-903E-482E-ADA9-11FB7D87E4FA}"/>
              </a:ext>
            </a:extLst>
          </p:cNvPr>
          <p:cNvPicPr>
            <a:picLocks noGrp="1" noChangeAspect="1"/>
          </p:cNvPicPr>
          <p:nvPr>
            <p:ph idx="1"/>
          </p:nvPr>
        </p:nvPicPr>
        <p:blipFill>
          <a:blip r:embed="rId2"/>
          <a:stretch>
            <a:fillRect/>
          </a:stretch>
        </p:blipFill>
        <p:spPr>
          <a:xfrm>
            <a:off x="3579397" y="1743567"/>
            <a:ext cx="6214704" cy="131428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9361553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1C1A-EB6D-FD3E-A486-DBC410995961}"/>
              </a:ext>
            </a:extLst>
          </p:cNvPr>
          <p:cNvSpPr>
            <a:spLocks noGrp="1"/>
          </p:cNvSpPr>
          <p:nvPr>
            <p:ph type="title"/>
          </p:nvPr>
        </p:nvSpPr>
        <p:spPr>
          <a:xfrm>
            <a:off x="913795" y="0"/>
            <a:ext cx="10353762" cy="729574"/>
          </a:xfrm>
        </p:spPr>
        <p:txBody>
          <a:bodyPr/>
          <a:lstStyle/>
          <a:p>
            <a:r>
              <a:rPr lang="en-US" b="1">
                <a:solidFill>
                  <a:srgbClr val="FFFF00"/>
                </a:solidFill>
              </a:rPr>
              <a:t>SWF</a:t>
            </a:r>
            <a:r>
              <a:rPr lang="en-US" b="1"/>
              <a:t>.</a:t>
            </a:r>
            <a:r>
              <a:rPr lang="en-US" b="1">
                <a:solidFill>
                  <a:srgbClr val="FF66FF"/>
                </a:solidFill>
              </a:rPr>
              <a:t>Flow_Committees</a:t>
            </a:r>
          </a:p>
        </p:txBody>
      </p:sp>
      <p:sp>
        <p:nvSpPr>
          <p:cNvPr id="3" name="Content Placeholder 2">
            <a:extLst>
              <a:ext uri="{FF2B5EF4-FFF2-40B4-BE49-F238E27FC236}">
                <a16:creationId xmlns:a16="http://schemas.microsoft.com/office/drawing/2014/main" id="{B55FD528-23C9-F8C2-5F9C-92A0B09A0453}"/>
              </a:ext>
            </a:extLst>
          </p:cNvPr>
          <p:cNvSpPr>
            <a:spLocks noGrp="1"/>
          </p:cNvSpPr>
          <p:nvPr>
            <p:ph idx="1"/>
          </p:nvPr>
        </p:nvSpPr>
        <p:spPr>
          <a:xfrm>
            <a:off x="262647" y="729574"/>
            <a:ext cx="11004910" cy="5496127"/>
          </a:xfrm>
        </p:spPr>
        <p:txBody>
          <a:bodyPr/>
          <a:lstStyle/>
          <a:p>
            <a:r>
              <a:rPr lang="ar-EG"/>
              <a:t>لجنة فلان</a:t>
            </a:r>
          </a:p>
          <a:p>
            <a:r>
              <a:rPr lang="en-US"/>
              <a:t>committee_Id: PK</a:t>
            </a:r>
          </a:p>
          <a:p>
            <a:r>
              <a:rPr lang="en-US"/>
              <a:t>name_AR:</a:t>
            </a:r>
          </a:p>
          <a:p>
            <a:r>
              <a:rPr lang="en-US"/>
              <a:t>name_Eng</a:t>
            </a:r>
          </a:p>
        </p:txBody>
      </p:sp>
      <p:pic>
        <p:nvPicPr>
          <p:cNvPr id="5" name="Picture 4">
            <a:extLst>
              <a:ext uri="{FF2B5EF4-FFF2-40B4-BE49-F238E27FC236}">
                <a16:creationId xmlns:a16="http://schemas.microsoft.com/office/drawing/2014/main" id="{F601F98B-5EB0-CAE8-C824-E7E06164EAAF}"/>
              </a:ext>
            </a:extLst>
          </p:cNvPr>
          <p:cNvPicPr>
            <a:picLocks noChangeAspect="1"/>
          </p:cNvPicPr>
          <p:nvPr/>
        </p:nvPicPr>
        <p:blipFill>
          <a:blip r:embed="rId2"/>
          <a:stretch>
            <a:fillRect/>
          </a:stretch>
        </p:blipFill>
        <p:spPr>
          <a:xfrm>
            <a:off x="6090676" y="925102"/>
            <a:ext cx="4640733" cy="3014600"/>
          </a:xfrm>
          <a:prstGeom prst="rect">
            <a:avLst/>
          </a:prstGeom>
        </p:spPr>
      </p:pic>
    </p:spTree>
    <p:extLst>
      <p:ext uri="{BB962C8B-B14F-4D97-AF65-F5344CB8AC3E}">
        <p14:creationId xmlns:p14="http://schemas.microsoft.com/office/powerpoint/2010/main" val="14426546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30732-DE61-393F-4BCD-325A5B59C48B}"/>
              </a:ext>
            </a:extLst>
          </p:cNvPr>
          <p:cNvSpPr>
            <a:spLocks noGrp="1"/>
          </p:cNvSpPr>
          <p:nvPr>
            <p:ph type="title"/>
          </p:nvPr>
        </p:nvSpPr>
        <p:spPr>
          <a:xfrm>
            <a:off x="913795" y="0"/>
            <a:ext cx="10353762" cy="807396"/>
          </a:xfrm>
        </p:spPr>
        <p:txBody>
          <a:bodyPr/>
          <a:lstStyle/>
          <a:p>
            <a:r>
              <a:rPr lang="en-US" b="1">
                <a:solidFill>
                  <a:srgbClr val="FFFF00"/>
                </a:solidFill>
              </a:rPr>
              <a:t>SWF</a:t>
            </a:r>
            <a:r>
              <a:rPr lang="en-US"/>
              <a:t>.</a:t>
            </a:r>
            <a:r>
              <a:rPr lang="en-US" b="1">
                <a:solidFill>
                  <a:srgbClr val="92D050"/>
                </a:solidFill>
              </a:rPr>
              <a:t>Flow_Central_Committees</a:t>
            </a:r>
          </a:p>
        </p:txBody>
      </p:sp>
      <p:sp>
        <p:nvSpPr>
          <p:cNvPr id="3" name="Content Placeholder 2">
            <a:extLst>
              <a:ext uri="{FF2B5EF4-FFF2-40B4-BE49-F238E27FC236}">
                <a16:creationId xmlns:a16="http://schemas.microsoft.com/office/drawing/2014/main" id="{F7218646-2F8A-8060-1B1C-B1F2478A89E6}"/>
              </a:ext>
            </a:extLst>
          </p:cNvPr>
          <p:cNvSpPr>
            <a:spLocks noGrp="1"/>
          </p:cNvSpPr>
          <p:nvPr>
            <p:ph idx="1"/>
          </p:nvPr>
        </p:nvSpPr>
        <p:spPr>
          <a:xfrm>
            <a:off x="116732" y="807396"/>
            <a:ext cx="11819106" cy="5710135"/>
          </a:xfrm>
        </p:spPr>
        <p:txBody>
          <a:bodyPr/>
          <a:lstStyle/>
          <a:p>
            <a:r>
              <a:rPr lang="ar-EG"/>
              <a:t>اللجنة كذا خاصة بالمنتج كذا واللجنة الواحدة ممكن تكون لاكتر من منتج والمنتج الواحد ممكن يكون ليه اكتر من لجنة</a:t>
            </a:r>
          </a:p>
          <a:p>
            <a:r>
              <a:rPr lang="en-US"/>
              <a:t>Many to many between Committee_id, ProductId</a:t>
            </a:r>
          </a:p>
          <a:p>
            <a:r>
              <a:rPr lang="en-US"/>
              <a:t>Fields</a:t>
            </a:r>
          </a:p>
          <a:p>
            <a:pPr lvl="1"/>
            <a:r>
              <a:rPr lang="en-US" b="1"/>
              <a:t>Central_Committe_id: </a:t>
            </a:r>
            <a:r>
              <a:rPr lang="en-US" b="1">
                <a:solidFill>
                  <a:srgbClr val="FFFF00"/>
                </a:solidFill>
              </a:rPr>
              <a:t>PK</a:t>
            </a:r>
          </a:p>
          <a:p>
            <a:pPr lvl="1"/>
            <a:r>
              <a:rPr lang="en-US" b="1"/>
              <a:t>Committee_id: </a:t>
            </a:r>
            <a:r>
              <a:rPr lang="en-US" b="1">
                <a:solidFill>
                  <a:srgbClr val="FFFF00"/>
                </a:solidFill>
              </a:rPr>
              <a:t>FK</a:t>
            </a:r>
            <a:r>
              <a:rPr lang="en-US" b="1"/>
              <a:t> from </a:t>
            </a:r>
            <a:r>
              <a:rPr lang="en-US" b="1">
                <a:solidFill>
                  <a:srgbClr val="FF66FF"/>
                </a:solidFill>
              </a:rPr>
              <a:t>Flow_Committees [many]</a:t>
            </a:r>
          </a:p>
          <a:p>
            <a:pPr lvl="1"/>
            <a:r>
              <a:rPr lang="en-US" b="1"/>
              <a:t>ProductId</a:t>
            </a:r>
            <a:r>
              <a:rPr lang="en-US" b="1">
                <a:solidFill>
                  <a:srgbClr val="FF66FF"/>
                </a:solidFill>
              </a:rPr>
              <a:t>: FK  [many]  // only the main layer </a:t>
            </a:r>
            <a:r>
              <a:rPr lang="en-US" b="1">
                <a:solidFill>
                  <a:srgbClr val="FF66FF"/>
                </a:solidFill>
                <a:sym typeface="Wingdings" panose="05000000000000000000" pitchFamily="2" charset="2"/>
              </a:rPr>
              <a:t> layer code = 0</a:t>
            </a:r>
            <a:endParaRPr lang="en-US" b="1">
              <a:solidFill>
                <a:srgbClr val="FF66FF"/>
              </a:solidFill>
            </a:endParaRPr>
          </a:p>
          <a:p>
            <a:pPr lvl="1"/>
            <a:r>
              <a:rPr lang="en-US" b="1"/>
              <a:t>Allow_flag</a:t>
            </a:r>
            <a:r>
              <a:rPr lang="en-US" b="1">
                <a:solidFill>
                  <a:srgbClr val="FF66FF"/>
                </a:solidFill>
              </a:rPr>
              <a:t>: boolean</a:t>
            </a:r>
          </a:p>
          <a:p>
            <a:pPr lvl="1"/>
            <a:r>
              <a:rPr lang="en-US" b="1"/>
              <a:t>Effect_flag</a:t>
            </a:r>
            <a:r>
              <a:rPr lang="en-US" b="1">
                <a:solidFill>
                  <a:srgbClr val="FF66FF"/>
                </a:solidFill>
              </a:rPr>
              <a:t>: boolean</a:t>
            </a:r>
          </a:p>
          <a:p>
            <a:endParaRPr lang="en-US"/>
          </a:p>
          <a:p>
            <a:r>
              <a:rPr lang="en-US" sz="1800" b="1">
                <a:solidFill>
                  <a:srgbClr val="FFFF00"/>
                </a:solidFill>
              </a:rPr>
              <a:t>Committee_id, </a:t>
            </a:r>
            <a:r>
              <a:rPr lang="en-US" sz="1800" b="1">
                <a:solidFill>
                  <a:srgbClr val="00B050"/>
                </a:solidFill>
              </a:rPr>
              <a:t>ProductId</a:t>
            </a:r>
            <a:r>
              <a:rPr lang="en-US" sz="1800" b="1">
                <a:solidFill>
                  <a:srgbClr val="FFFF00"/>
                </a:solidFill>
              </a:rPr>
              <a:t> are together unique</a:t>
            </a:r>
            <a:endParaRPr lang="en-US" sz="1800">
              <a:solidFill>
                <a:srgbClr val="FFFF00"/>
              </a:solidFill>
            </a:endParaRPr>
          </a:p>
        </p:txBody>
      </p:sp>
    </p:spTree>
    <p:extLst>
      <p:ext uri="{BB962C8B-B14F-4D97-AF65-F5344CB8AC3E}">
        <p14:creationId xmlns:p14="http://schemas.microsoft.com/office/powerpoint/2010/main" val="6607353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C47B7-B71B-851F-1181-E0346BA0E0AC}"/>
              </a:ext>
            </a:extLst>
          </p:cNvPr>
          <p:cNvSpPr>
            <a:spLocks noGrp="1"/>
          </p:cNvSpPr>
          <p:nvPr>
            <p:ph type="title"/>
          </p:nvPr>
        </p:nvSpPr>
        <p:spPr>
          <a:xfrm>
            <a:off x="913795" y="96350"/>
            <a:ext cx="10353762" cy="827778"/>
          </a:xfrm>
        </p:spPr>
        <p:txBody>
          <a:bodyPr/>
          <a:lstStyle/>
          <a:p>
            <a:r>
              <a:rPr lang="en-US" b="1">
                <a:solidFill>
                  <a:srgbClr val="FFFF00"/>
                </a:solidFill>
              </a:rPr>
              <a:t>SWF</a:t>
            </a:r>
            <a:r>
              <a:rPr lang="en-US" b="1"/>
              <a:t>.</a:t>
            </a:r>
            <a:r>
              <a:rPr lang="en-US" b="1">
                <a:solidFill>
                  <a:srgbClr val="92D050"/>
                </a:solidFill>
              </a:rPr>
              <a:t>Flow_Central_Committees_Branch</a:t>
            </a:r>
          </a:p>
        </p:txBody>
      </p:sp>
      <p:sp>
        <p:nvSpPr>
          <p:cNvPr id="3" name="Content Placeholder 2">
            <a:extLst>
              <a:ext uri="{FF2B5EF4-FFF2-40B4-BE49-F238E27FC236}">
                <a16:creationId xmlns:a16="http://schemas.microsoft.com/office/drawing/2014/main" id="{11658551-478F-BE55-F7FD-6E178FBD3DE1}"/>
              </a:ext>
            </a:extLst>
          </p:cNvPr>
          <p:cNvSpPr>
            <a:spLocks noGrp="1"/>
          </p:cNvSpPr>
          <p:nvPr>
            <p:ph idx="1"/>
          </p:nvPr>
        </p:nvSpPr>
        <p:spPr>
          <a:xfrm>
            <a:off x="254000" y="924128"/>
            <a:ext cx="11768667" cy="5747605"/>
          </a:xfrm>
        </p:spPr>
        <p:txBody>
          <a:bodyPr/>
          <a:lstStyle/>
          <a:p>
            <a:endParaRPr lang="ar-EG" b="1"/>
          </a:p>
          <a:p>
            <a:r>
              <a:rPr lang="en-US" b="1"/>
              <a:t>FCCB_ID: PK</a:t>
            </a:r>
          </a:p>
          <a:p>
            <a:r>
              <a:rPr lang="en-US" b="1"/>
              <a:t>Central_Committee_id: </a:t>
            </a:r>
            <a:r>
              <a:rPr lang="en-US" b="1">
                <a:solidFill>
                  <a:srgbClr val="FFFF00"/>
                </a:solidFill>
              </a:rPr>
              <a:t>FK</a:t>
            </a:r>
            <a:r>
              <a:rPr lang="en-US" b="1"/>
              <a:t> from SWF.Flow_Central_Committees </a:t>
            </a:r>
          </a:p>
          <a:p>
            <a:r>
              <a:rPr lang="en-US" b="1"/>
              <a:t>BranchId: </a:t>
            </a:r>
          </a:p>
          <a:p>
            <a:endParaRPr lang="en-US" b="1"/>
          </a:p>
          <a:p>
            <a:r>
              <a:rPr lang="en-US" b="1"/>
              <a:t>Central_Committee_id, BranchId are unique togethher</a:t>
            </a:r>
          </a:p>
        </p:txBody>
      </p:sp>
      <p:pic>
        <p:nvPicPr>
          <p:cNvPr id="5" name="Picture 4">
            <a:extLst>
              <a:ext uri="{FF2B5EF4-FFF2-40B4-BE49-F238E27FC236}">
                <a16:creationId xmlns:a16="http://schemas.microsoft.com/office/drawing/2014/main" id="{11D504C2-0E39-6298-5938-D7F3F25326E4}"/>
              </a:ext>
            </a:extLst>
          </p:cNvPr>
          <p:cNvPicPr>
            <a:picLocks noChangeAspect="1"/>
          </p:cNvPicPr>
          <p:nvPr/>
        </p:nvPicPr>
        <p:blipFill>
          <a:blip r:embed="rId2"/>
          <a:stretch>
            <a:fillRect/>
          </a:stretch>
        </p:blipFill>
        <p:spPr>
          <a:xfrm>
            <a:off x="7363803" y="2753444"/>
            <a:ext cx="4456722" cy="1405387"/>
          </a:xfrm>
          <a:prstGeom prst="rect">
            <a:avLst/>
          </a:prstGeom>
        </p:spPr>
      </p:pic>
    </p:spTree>
    <p:extLst>
      <p:ext uri="{BB962C8B-B14F-4D97-AF65-F5344CB8AC3E}">
        <p14:creationId xmlns:p14="http://schemas.microsoft.com/office/powerpoint/2010/main" val="9711713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8E888-BBC8-440A-6DA0-C471A387296D}"/>
              </a:ext>
            </a:extLst>
          </p:cNvPr>
          <p:cNvSpPr>
            <a:spLocks noGrp="1"/>
          </p:cNvSpPr>
          <p:nvPr>
            <p:ph type="title"/>
          </p:nvPr>
        </p:nvSpPr>
        <p:spPr>
          <a:xfrm>
            <a:off x="350196" y="0"/>
            <a:ext cx="11498093" cy="739302"/>
          </a:xfrm>
        </p:spPr>
        <p:txBody>
          <a:bodyPr/>
          <a:lstStyle/>
          <a:p>
            <a:r>
              <a:rPr lang="en-US" b="1">
                <a:solidFill>
                  <a:srgbClr val="FFFF00"/>
                </a:solidFill>
              </a:rPr>
              <a:t>SWF</a:t>
            </a:r>
            <a:r>
              <a:rPr lang="en-US" b="1"/>
              <a:t>.Flow_Register_Committee</a:t>
            </a:r>
          </a:p>
        </p:txBody>
      </p:sp>
      <p:sp>
        <p:nvSpPr>
          <p:cNvPr id="3" name="Content Placeholder 2">
            <a:extLst>
              <a:ext uri="{FF2B5EF4-FFF2-40B4-BE49-F238E27FC236}">
                <a16:creationId xmlns:a16="http://schemas.microsoft.com/office/drawing/2014/main" id="{0AF3DA4D-D105-D975-7405-205F5616396D}"/>
              </a:ext>
            </a:extLst>
          </p:cNvPr>
          <p:cNvSpPr>
            <a:spLocks noGrp="1"/>
          </p:cNvSpPr>
          <p:nvPr>
            <p:ph idx="1"/>
          </p:nvPr>
        </p:nvSpPr>
        <p:spPr>
          <a:xfrm>
            <a:off x="350196" y="739302"/>
            <a:ext cx="11498093" cy="5700409"/>
          </a:xfrm>
        </p:spPr>
        <p:txBody>
          <a:bodyPr/>
          <a:lstStyle/>
          <a:p>
            <a:r>
              <a:rPr lang="en-US"/>
              <a:t>Id_RC: PK</a:t>
            </a:r>
          </a:p>
          <a:p>
            <a:r>
              <a:rPr lang="en-US"/>
              <a:t>committee_Id: </a:t>
            </a:r>
            <a:r>
              <a:rPr lang="en-US" b="1">
                <a:solidFill>
                  <a:srgbClr val="FFFF00"/>
                </a:solidFill>
              </a:rPr>
              <a:t>FK</a:t>
            </a:r>
            <a:r>
              <a:rPr lang="en-US"/>
              <a:t> from </a:t>
            </a:r>
            <a:r>
              <a:rPr lang="en-US" sz="1800" b="1">
                <a:solidFill>
                  <a:srgbClr val="FFFF00"/>
                </a:solidFill>
                <a:latin typeface="+mj-lt"/>
                <a:ea typeface="+mj-ea"/>
              </a:rPr>
              <a:t>Flow_Committees</a:t>
            </a:r>
          </a:p>
          <a:p>
            <a:r>
              <a:rPr lang="en-US"/>
              <a:t>Base_Membership:</a:t>
            </a:r>
            <a:r>
              <a:rPr lang="ar-EG"/>
              <a:t> </a:t>
            </a:r>
            <a:r>
              <a:rPr lang="en-US">
                <a:sym typeface="Wingdings" panose="05000000000000000000" pitchFamily="2" charset="2"/>
              </a:rPr>
              <a:t> </a:t>
            </a:r>
            <a:r>
              <a:rPr lang="en-US"/>
              <a:t>from lookup.user but not FK, and it is all </a:t>
            </a:r>
            <a:r>
              <a:rPr lang="ar-EG"/>
              <a:t>مدير منطقة </a:t>
            </a:r>
            <a:r>
              <a:rPr lang="en-US"/>
              <a:t>, it also </a:t>
            </a:r>
            <a:r>
              <a:rPr lang="ar-EG"/>
              <a:t>مدير اللجنة</a:t>
            </a:r>
            <a:endParaRPr lang="en-US"/>
          </a:p>
          <a:p>
            <a:r>
              <a:rPr lang="en-US"/>
              <a:t>vote_Id: </a:t>
            </a:r>
            <a:r>
              <a:rPr lang="en-US" b="1">
                <a:solidFill>
                  <a:srgbClr val="FFFF00"/>
                </a:solidFill>
              </a:rPr>
              <a:t>FK</a:t>
            </a:r>
            <a:r>
              <a:rPr lang="en-US"/>
              <a:t> from </a:t>
            </a:r>
            <a:r>
              <a:rPr lang="en-US" b="1">
                <a:solidFill>
                  <a:srgbClr val="FFFF00"/>
                </a:solidFill>
              </a:rPr>
              <a:t>Flow_Votes</a:t>
            </a:r>
          </a:p>
          <a:p>
            <a:r>
              <a:rPr lang="en-US"/>
              <a:t>Vote_Result: </a:t>
            </a:r>
          </a:p>
          <a:p>
            <a:pPr lvl="1"/>
            <a:r>
              <a:rPr lang="en-US"/>
              <a:t>1: </a:t>
            </a:r>
            <a:r>
              <a:rPr lang="ar-EG"/>
              <a:t>موافقة</a:t>
            </a:r>
            <a:endParaRPr lang="en-US"/>
          </a:p>
          <a:p>
            <a:pPr lvl="1"/>
            <a:r>
              <a:rPr lang="en-US"/>
              <a:t>2: </a:t>
            </a:r>
            <a:r>
              <a:rPr lang="ar-EG"/>
              <a:t>رفض</a:t>
            </a:r>
            <a:endParaRPr lang="en-US"/>
          </a:p>
          <a:p>
            <a:endParaRPr lang="en-US"/>
          </a:p>
        </p:txBody>
      </p:sp>
    </p:spTree>
    <p:extLst>
      <p:ext uri="{BB962C8B-B14F-4D97-AF65-F5344CB8AC3E}">
        <p14:creationId xmlns:p14="http://schemas.microsoft.com/office/powerpoint/2010/main" val="33842491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46B8B-14B9-0DDC-6FB1-EEAFF2B83318}"/>
              </a:ext>
            </a:extLst>
          </p:cNvPr>
          <p:cNvSpPr>
            <a:spLocks noGrp="1"/>
          </p:cNvSpPr>
          <p:nvPr>
            <p:ph type="title"/>
          </p:nvPr>
        </p:nvSpPr>
        <p:spPr>
          <a:xfrm>
            <a:off x="913795" y="0"/>
            <a:ext cx="10353762" cy="787940"/>
          </a:xfrm>
        </p:spPr>
        <p:txBody>
          <a:bodyPr/>
          <a:lstStyle/>
          <a:p>
            <a:r>
              <a:rPr lang="en-US" b="1"/>
              <a:t>SWF.Flow_Register_Committee_User</a:t>
            </a:r>
          </a:p>
        </p:txBody>
      </p:sp>
      <p:sp>
        <p:nvSpPr>
          <p:cNvPr id="3" name="Content Placeholder 2">
            <a:extLst>
              <a:ext uri="{FF2B5EF4-FFF2-40B4-BE49-F238E27FC236}">
                <a16:creationId xmlns:a16="http://schemas.microsoft.com/office/drawing/2014/main" id="{C66460E1-6AA6-6E6D-0E2E-B85D59055F5C}"/>
              </a:ext>
            </a:extLst>
          </p:cNvPr>
          <p:cNvSpPr>
            <a:spLocks noGrp="1"/>
          </p:cNvSpPr>
          <p:nvPr>
            <p:ph idx="1"/>
          </p:nvPr>
        </p:nvSpPr>
        <p:spPr>
          <a:xfrm>
            <a:off x="0" y="970451"/>
            <a:ext cx="12042843" cy="5566536"/>
          </a:xfrm>
        </p:spPr>
        <p:txBody>
          <a:bodyPr/>
          <a:lstStyle/>
          <a:p>
            <a:r>
              <a:rPr lang="ar-EG"/>
              <a:t>أعضاء اللجنة</a:t>
            </a:r>
            <a:endParaRPr lang="en-US"/>
          </a:p>
          <a:p>
            <a:r>
              <a:rPr lang="en-US"/>
              <a:t>Id_RCU: PK</a:t>
            </a:r>
          </a:p>
          <a:p>
            <a:r>
              <a:rPr lang="en-US"/>
              <a:t>Id_RC: FK from  </a:t>
            </a:r>
            <a:r>
              <a:rPr lang="en-US" b="1">
                <a:solidFill>
                  <a:srgbClr val="FFFF00"/>
                </a:solidFill>
              </a:rPr>
              <a:t>Flow_Register_Committee</a:t>
            </a:r>
            <a:endParaRPr lang="en-US">
              <a:solidFill>
                <a:srgbClr val="FFFF00"/>
              </a:solidFill>
            </a:endParaRPr>
          </a:p>
          <a:p>
            <a:r>
              <a:rPr lang="en-US"/>
              <a:t>UserId:</a:t>
            </a:r>
          </a:p>
          <a:p>
            <a:endParaRPr lang="ar-EG"/>
          </a:p>
          <a:p>
            <a:endParaRPr lang="en-US"/>
          </a:p>
          <a:p>
            <a:r>
              <a:rPr lang="en-US" sz="1800" b="1"/>
              <a:t> public virtual ICollection&lt;Flow_Register_Committee_User&gt; Flow_Register_Committee_User { get; set; } </a:t>
            </a:r>
          </a:p>
        </p:txBody>
      </p:sp>
    </p:spTree>
    <p:extLst>
      <p:ext uri="{BB962C8B-B14F-4D97-AF65-F5344CB8AC3E}">
        <p14:creationId xmlns:p14="http://schemas.microsoft.com/office/powerpoint/2010/main" val="32790064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1F5A0-8360-41D1-5ABE-BE514E7E9C8B}"/>
              </a:ext>
            </a:extLst>
          </p:cNvPr>
          <p:cNvSpPr>
            <a:spLocks noGrp="1"/>
          </p:cNvSpPr>
          <p:nvPr>
            <p:ph type="title"/>
          </p:nvPr>
        </p:nvSpPr>
        <p:spPr>
          <a:xfrm>
            <a:off x="913795" y="0"/>
            <a:ext cx="10353762" cy="970450"/>
          </a:xfrm>
        </p:spPr>
        <p:txBody>
          <a:bodyPr/>
          <a:lstStyle/>
          <a:p>
            <a:r>
              <a:rPr lang="en-US"/>
              <a:t>TDWF.Flow_committe_approved</a:t>
            </a:r>
          </a:p>
        </p:txBody>
      </p:sp>
      <p:sp>
        <p:nvSpPr>
          <p:cNvPr id="3" name="Content Placeholder 2">
            <a:extLst>
              <a:ext uri="{FF2B5EF4-FFF2-40B4-BE49-F238E27FC236}">
                <a16:creationId xmlns:a16="http://schemas.microsoft.com/office/drawing/2014/main" id="{EB12BD8F-318E-1413-4007-A50783BAD96B}"/>
              </a:ext>
            </a:extLst>
          </p:cNvPr>
          <p:cNvSpPr>
            <a:spLocks noGrp="1"/>
          </p:cNvSpPr>
          <p:nvPr>
            <p:ph idx="1"/>
          </p:nvPr>
        </p:nvSpPr>
        <p:spPr>
          <a:xfrm>
            <a:off x="252919" y="970450"/>
            <a:ext cx="11614826" cy="5663813"/>
          </a:xfrm>
        </p:spPr>
        <p:txBody>
          <a:bodyPr/>
          <a:lstStyle/>
          <a:p>
            <a:r>
              <a:rPr lang="en-US"/>
              <a:t>FCA_ID: PK</a:t>
            </a:r>
          </a:p>
          <a:p>
            <a:r>
              <a:rPr lang="en-US"/>
              <a:t>UserId: FK</a:t>
            </a:r>
          </a:p>
          <a:p>
            <a:r>
              <a:rPr lang="en-US"/>
              <a:t>RequestId: FK</a:t>
            </a:r>
          </a:p>
          <a:p>
            <a:r>
              <a:rPr lang="en-US"/>
              <a:t>Creation_date</a:t>
            </a:r>
          </a:p>
          <a:p>
            <a:r>
              <a:rPr lang="en-US"/>
              <a:t>Status</a:t>
            </a:r>
          </a:p>
          <a:p>
            <a:pPr lvl="1"/>
            <a:r>
              <a:rPr lang="en-US"/>
              <a:t>0</a:t>
            </a:r>
          </a:p>
          <a:p>
            <a:pPr lvl="1"/>
            <a:r>
              <a:rPr lang="en-US"/>
              <a:t>1</a:t>
            </a:r>
          </a:p>
        </p:txBody>
      </p:sp>
      <p:pic>
        <p:nvPicPr>
          <p:cNvPr id="5" name="Picture 4">
            <a:extLst>
              <a:ext uri="{FF2B5EF4-FFF2-40B4-BE49-F238E27FC236}">
                <a16:creationId xmlns:a16="http://schemas.microsoft.com/office/drawing/2014/main" id="{E1A1CE3E-ADCC-D55E-2F14-09A2AFFB55F3}"/>
              </a:ext>
            </a:extLst>
          </p:cNvPr>
          <p:cNvPicPr>
            <a:picLocks noChangeAspect="1"/>
          </p:cNvPicPr>
          <p:nvPr/>
        </p:nvPicPr>
        <p:blipFill>
          <a:blip r:embed="rId2"/>
          <a:stretch>
            <a:fillRect/>
          </a:stretch>
        </p:blipFill>
        <p:spPr>
          <a:xfrm>
            <a:off x="6053903" y="1187482"/>
            <a:ext cx="4745470" cy="3705531"/>
          </a:xfrm>
          <a:prstGeom prst="rect">
            <a:avLst/>
          </a:prstGeom>
        </p:spPr>
      </p:pic>
    </p:spTree>
    <p:extLst>
      <p:ext uri="{BB962C8B-B14F-4D97-AF65-F5344CB8AC3E}">
        <p14:creationId xmlns:p14="http://schemas.microsoft.com/office/powerpoint/2010/main" val="22217649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8472F-48BD-6A42-75C3-6ACD923203A2}"/>
              </a:ext>
            </a:extLst>
          </p:cNvPr>
          <p:cNvSpPr>
            <a:spLocks noGrp="1"/>
          </p:cNvSpPr>
          <p:nvPr>
            <p:ph type="title"/>
          </p:nvPr>
        </p:nvSpPr>
        <p:spPr>
          <a:xfrm>
            <a:off x="913795" y="0"/>
            <a:ext cx="10353762" cy="970450"/>
          </a:xfrm>
        </p:spPr>
        <p:txBody>
          <a:bodyPr/>
          <a:lstStyle/>
          <a:p>
            <a:r>
              <a:rPr lang="en-US"/>
              <a:t>Helper Queries for Central Commitee </a:t>
            </a:r>
          </a:p>
        </p:txBody>
      </p:sp>
      <p:sp>
        <p:nvSpPr>
          <p:cNvPr id="3" name="Content Placeholder 2">
            <a:extLst>
              <a:ext uri="{FF2B5EF4-FFF2-40B4-BE49-F238E27FC236}">
                <a16:creationId xmlns:a16="http://schemas.microsoft.com/office/drawing/2014/main" id="{5876E98F-1C40-04BB-21E3-956A922CAE02}"/>
              </a:ext>
            </a:extLst>
          </p:cNvPr>
          <p:cNvSpPr>
            <a:spLocks noGrp="1"/>
          </p:cNvSpPr>
          <p:nvPr>
            <p:ph idx="1"/>
          </p:nvPr>
        </p:nvSpPr>
        <p:spPr>
          <a:xfrm>
            <a:off x="165370" y="894945"/>
            <a:ext cx="11916383" cy="5544766"/>
          </a:xfrm>
        </p:spPr>
        <p:txBody>
          <a:bodyPr/>
          <a:lstStyle/>
          <a:p>
            <a:r>
              <a:rPr lang="en-US"/>
              <a:t>select * from SWF.Flow_Central_Committees_Branch where BranchId=209 and Central_Committe_id in </a:t>
            </a:r>
          </a:p>
          <a:p>
            <a:pPr marL="450000" lvl="1" indent="0">
              <a:buNone/>
            </a:pPr>
            <a:r>
              <a:rPr lang="en-US"/>
              <a:t>(select Central_Committe_id from SWF.Flow_Central_Committees where   product_Id in (80))</a:t>
            </a:r>
          </a:p>
          <a:p>
            <a:endParaRPr lang="en-US"/>
          </a:p>
          <a:p>
            <a:r>
              <a:rPr lang="en-US"/>
              <a:t>SELECT * FROM SWF.Flow_Central_Committees WHERE Central_Committe_id = 21</a:t>
            </a:r>
          </a:p>
          <a:p>
            <a:r>
              <a:rPr lang="en-US"/>
              <a:t>select * from SWF.Flow_Register_Committee where committee_Id = 24  -- </a:t>
            </a:r>
            <a:r>
              <a:rPr lang="ar-EG"/>
              <a:t>العضو الرئيسي</a:t>
            </a:r>
          </a:p>
          <a:p>
            <a:r>
              <a:rPr lang="en-US"/>
              <a:t>select * from SWF.Flow_Register_Committee_User where Id_RC = 18 --- </a:t>
            </a:r>
            <a:r>
              <a:rPr lang="ar-EG"/>
              <a:t>الاعضاء</a:t>
            </a:r>
            <a:endParaRPr lang="en-US"/>
          </a:p>
          <a:p>
            <a:pPr marL="36900" indent="0">
              <a:buNone/>
            </a:pPr>
            <a:endParaRPr lang="en-US"/>
          </a:p>
        </p:txBody>
      </p:sp>
    </p:spTree>
    <p:extLst>
      <p:ext uri="{BB962C8B-B14F-4D97-AF65-F5344CB8AC3E}">
        <p14:creationId xmlns:p14="http://schemas.microsoft.com/office/powerpoint/2010/main" val="9356541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F043D0-1A47-8FBD-B096-A8990C541BBB}"/>
              </a:ext>
            </a:extLst>
          </p:cNvPr>
          <p:cNvSpPr>
            <a:spLocks noGrp="1"/>
          </p:cNvSpPr>
          <p:nvPr>
            <p:ph idx="1"/>
          </p:nvPr>
        </p:nvSpPr>
        <p:spPr>
          <a:xfrm>
            <a:off x="87548" y="369652"/>
            <a:ext cx="11864966" cy="6254884"/>
          </a:xfrm>
        </p:spPr>
        <p:txBody>
          <a:bodyPr>
            <a:normAutofit/>
          </a:bodyPr>
          <a:lstStyle/>
          <a:p>
            <a:pPr marL="36900" indent="0" algn="ctr">
              <a:buNone/>
            </a:pPr>
            <a:r>
              <a:rPr lang="en-US" sz="2800" b="1" u="sng">
                <a:solidFill>
                  <a:srgbClr val="FFC000"/>
                </a:solidFill>
              </a:rPr>
              <a:t>Requests of specific User [Area manager </a:t>
            </a:r>
            <a:r>
              <a:rPr lang="ar-EG" sz="2800" b="1" u="sng">
                <a:solidFill>
                  <a:srgbClr val="FFC000"/>
                </a:solidFill>
              </a:rPr>
              <a:t>مدير منطقة</a:t>
            </a:r>
            <a:r>
              <a:rPr lang="en-US" sz="2800" b="1" u="sng">
                <a:solidFill>
                  <a:srgbClr val="FFC000"/>
                </a:solidFill>
              </a:rPr>
              <a:t>]</a:t>
            </a:r>
          </a:p>
          <a:p>
            <a:pPr marL="36900" indent="0">
              <a:buNone/>
            </a:pPr>
            <a:r>
              <a:rPr lang="en-US"/>
              <a:t>select </a:t>
            </a:r>
            <a:r>
              <a:rPr lang="en-US" sz="1800" b="1">
                <a:solidFill>
                  <a:srgbClr val="FFC000"/>
                </a:solidFill>
              </a:rPr>
              <a:t>REQUEST</a:t>
            </a:r>
            <a:r>
              <a:rPr lang="en-US"/>
              <a:t>.Request_id, RC.</a:t>
            </a:r>
            <a:r>
              <a:rPr lang="en-US" b="1">
                <a:solidFill>
                  <a:srgbClr val="00B0F0"/>
                </a:solidFill>
              </a:rPr>
              <a:t>Base_Membership</a:t>
            </a:r>
            <a:r>
              <a:rPr lang="en-US"/>
              <a:t> [Leader]</a:t>
            </a:r>
          </a:p>
          <a:p>
            <a:pPr marL="36900" indent="0">
              <a:buNone/>
            </a:pPr>
            <a:r>
              <a:rPr lang="en-US" sz="1800" b="1"/>
              <a:t>from TWF.Flow_Funding_request </a:t>
            </a:r>
            <a:r>
              <a:rPr lang="en-US" sz="1600" b="1">
                <a:solidFill>
                  <a:srgbClr val="00B0F0"/>
                </a:solidFill>
              </a:rPr>
              <a:t>REQUEST</a:t>
            </a:r>
            <a:r>
              <a:rPr lang="en-US" sz="1800" b="1"/>
              <a:t> join TDWF.Flow_Request_Deportation D on D.Request_id=</a:t>
            </a:r>
            <a:r>
              <a:rPr lang="ar-EG" sz="1800" b="1"/>
              <a:t> </a:t>
            </a:r>
            <a:r>
              <a:rPr lang="en-US" sz="1800" b="1"/>
              <a:t>REQUEST.Request_id </a:t>
            </a:r>
          </a:p>
          <a:p>
            <a:pPr marL="36900" indent="0">
              <a:buNone/>
            </a:pPr>
            <a:r>
              <a:rPr lang="en-US"/>
              <a:t>outer apply</a:t>
            </a:r>
          </a:p>
          <a:p>
            <a:pPr marL="36900" indent="0">
              <a:buNone/>
            </a:pPr>
            <a:r>
              <a:rPr lang="en-US"/>
              <a:t>	(</a:t>
            </a:r>
          </a:p>
          <a:p>
            <a:pPr marL="36900" indent="0">
              <a:buNone/>
            </a:pPr>
            <a:r>
              <a:rPr lang="en-US"/>
              <a:t>	select Central_Committe_id from SWF.Flow_Central_Committees_Branch where 	BranchId=REQUEST.BranchId and Central_Committe_id in </a:t>
            </a:r>
          </a:p>
          <a:p>
            <a:pPr marL="36900" indent="0">
              <a:buNone/>
            </a:pPr>
            <a:r>
              <a:rPr lang="en-US"/>
              <a:t>	(select Central_Committe_id from SWF.Flow_Central_Committees where   product_Id in (80))</a:t>
            </a:r>
          </a:p>
          <a:p>
            <a:pPr marL="36900" indent="0">
              <a:buNone/>
            </a:pPr>
            <a:r>
              <a:rPr lang="en-US"/>
              <a:t>	) AS CCB</a:t>
            </a:r>
          </a:p>
          <a:p>
            <a:pPr marL="36900" indent="0">
              <a:buNone/>
            </a:pPr>
            <a:r>
              <a:rPr lang="en-US"/>
              <a:t>	join SWF.Flow_Central_Committees CC on CC.Central_Committe_id = CCB.Central_Committe_id</a:t>
            </a:r>
          </a:p>
          <a:p>
            <a:pPr marL="36900" indent="0">
              <a:buNone/>
            </a:pPr>
            <a:r>
              <a:rPr lang="en-US"/>
              <a:t>	join SWF.Flow_Register_Committee RC on RC.committee_Id = CC.committee_Id</a:t>
            </a:r>
          </a:p>
          <a:p>
            <a:pPr marL="36900" indent="0">
              <a:buNone/>
            </a:pPr>
            <a:r>
              <a:rPr lang="en-US"/>
              <a:t>	where  D.Status_two = 'CMR' and D.Type_code = 2 and RC.Base_Membership= </a:t>
            </a:r>
            <a:r>
              <a:rPr lang="en-US" b="1">
                <a:solidFill>
                  <a:srgbClr val="92D050"/>
                </a:solidFill>
              </a:rPr>
              <a:t>15596</a:t>
            </a:r>
          </a:p>
        </p:txBody>
      </p:sp>
    </p:spTree>
    <p:extLst>
      <p:ext uri="{BB962C8B-B14F-4D97-AF65-F5344CB8AC3E}">
        <p14:creationId xmlns:p14="http://schemas.microsoft.com/office/powerpoint/2010/main" val="15494305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175DCD-34D0-8E18-4EAE-54ED59FA72AF}"/>
              </a:ext>
            </a:extLst>
          </p:cNvPr>
          <p:cNvSpPr>
            <a:spLocks noGrp="1"/>
          </p:cNvSpPr>
          <p:nvPr>
            <p:ph idx="1"/>
          </p:nvPr>
        </p:nvSpPr>
        <p:spPr>
          <a:xfrm>
            <a:off x="428017" y="214009"/>
            <a:ext cx="11634280" cy="6196519"/>
          </a:xfrm>
        </p:spPr>
        <p:txBody>
          <a:bodyPr>
            <a:normAutofit/>
          </a:bodyPr>
          <a:lstStyle/>
          <a:p>
            <a:pPr marL="36900" indent="0" algn="ctr">
              <a:buNone/>
            </a:pPr>
            <a:r>
              <a:rPr lang="en-US" sz="2400" b="1">
                <a:solidFill>
                  <a:srgbClr val="FFC000"/>
                </a:solidFill>
              </a:rPr>
              <a:t>leader of specific  request</a:t>
            </a:r>
            <a:endParaRPr lang="en-US"/>
          </a:p>
          <a:p>
            <a:pPr marL="36900" indent="0">
              <a:buNone/>
            </a:pPr>
            <a:r>
              <a:rPr lang="en-US"/>
              <a:t>select REQUEST.Request_id, RC.Base_Membership [Leader]</a:t>
            </a:r>
          </a:p>
          <a:p>
            <a:pPr marL="36900" indent="0">
              <a:buNone/>
            </a:pPr>
            <a:r>
              <a:rPr lang="en-US"/>
              <a:t>from TWF.Flow_Funding_request REQUEST join TDWF.Flow_Request_Deportation D on D.Request_id = REQUEST.Request_id </a:t>
            </a:r>
          </a:p>
          <a:p>
            <a:pPr marL="36900" indent="0">
              <a:buNone/>
            </a:pPr>
            <a:r>
              <a:rPr lang="en-US"/>
              <a:t>outer apply</a:t>
            </a:r>
          </a:p>
          <a:p>
            <a:pPr marL="36900" indent="0">
              <a:buNone/>
            </a:pPr>
            <a:r>
              <a:rPr lang="en-US"/>
              <a:t>   (</a:t>
            </a:r>
          </a:p>
          <a:p>
            <a:pPr marL="36900" indent="0">
              <a:buNone/>
            </a:pPr>
            <a:r>
              <a:rPr lang="en-US"/>
              <a:t>	select Central_Committe_id from SWF.Flow_Central_Committees_Branch where 	BranchId=REQUEST.BranchId and Central_Committe_id in </a:t>
            </a:r>
          </a:p>
          <a:p>
            <a:pPr marL="36900" indent="0">
              <a:buNone/>
            </a:pPr>
            <a:r>
              <a:rPr lang="en-US"/>
              <a:t>	(select Central_Committe_id from SWF.Flow_Central_Committees where   product_Id in (80))</a:t>
            </a:r>
          </a:p>
          <a:p>
            <a:pPr marL="36900" indent="0">
              <a:buNone/>
            </a:pPr>
            <a:r>
              <a:rPr lang="en-US"/>
              <a:t>   )	 AS CCB</a:t>
            </a:r>
          </a:p>
          <a:p>
            <a:pPr marL="36900" indent="0">
              <a:buNone/>
            </a:pPr>
            <a:r>
              <a:rPr lang="en-US"/>
              <a:t>join SWF.Flow_Central_Committees CC on CC.Central_Committe_id = CCB.Central_Committe_id</a:t>
            </a:r>
          </a:p>
          <a:p>
            <a:pPr marL="36900" indent="0">
              <a:buNone/>
            </a:pPr>
            <a:r>
              <a:rPr lang="en-US"/>
              <a:t>join SWF.Flow_Register_Committee RC on RC.committee_Id = CC.committee_Id</a:t>
            </a:r>
          </a:p>
          <a:p>
            <a:pPr marL="36900" indent="0">
              <a:buNone/>
            </a:pPr>
            <a:r>
              <a:rPr lang="en-US"/>
              <a:t>where  D.Status_two = 'CMR' and D.Type_code = 2 and REQUEST.Request_id = </a:t>
            </a:r>
            <a:r>
              <a:rPr lang="en-US" b="1">
                <a:solidFill>
                  <a:srgbClr val="FFC000"/>
                </a:solidFill>
              </a:rPr>
              <a:t>1692042</a:t>
            </a:r>
          </a:p>
        </p:txBody>
      </p:sp>
    </p:spTree>
    <p:extLst>
      <p:ext uri="{BB962C8B-B14F-4D97-AF65-F5344CB8AC3E}">
        <p14:creationId xmlns:p14="http://schemas.microsoft.com/office/powerpoint/2010/main" val="41644641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7F55-C838-1E57-B01F-220EACBE893C}"/>
              </a:ext>
            </a:extLst>
          </p:cNvPr>
          <p:cNvSpPr>
            <a:spLocks noGrp="1"/>
          </p:cNvSpPr>
          <p:nvPr>
            <p:ph type="title"/>
          </p:nvPr>
        </p:nvSpPr>
        <p:spPr>
          <a:xfrm>
            <a:off x="913795" y="0"/>
            <a:ext cx="10353762" cy="680936"/>
          </a:xfrm>
        </p:spPr>
        <p:txBody>
          <a:bodyPr>
            <a:normAutofit fontScale="90000"/>
          </a:bodyPr>
          <a:lstStyle/>
          <a:p>
            <a:r>
              <a:rPr lang="en-US">
                <a:effectLst/>
              </a:rPr>
              <a:t>اللجان المركزية</a:t>
            </a:r>
            <a:endParaRPr lang="en-US"/>
          </a:p>
        </p:txBody>
      </p:sp>
      <p:sp>
        <p:nvSpPr>
          <p:cNvPr id="3" name="Content Placeholder 2">
            <a:extLst>
              <a:ext uri="{FF2B5EF4-FFF2-40B4-BE49-F238E27FC236}">
                <a16:creationId xmlns:a16="http://schemas.microsoft.com/office/drawing/2014/main" id="{E25F4880-426A-0AE2-79D6-83A305A205CB}"/>
              </a:ext>
            </a:extLst>
          </p:cNvPr>
          <p:cNvSpPr>
            <a:spLocks noGrp="1"/>
          </p:cNvSpPr>
          <p:nvPr>
            <p:ph idx="1"/>
          </p:nvPr>
        </p:nvSpPr>
        <p:spPr>
          <a:xfrm>
            <a:off x="155643" y="680937"/>
            <a:ext cx="11111914" cy="5963054"/>
          </a:xfrm>
        </p:spPr>
        <p:txBody>
          <a:bodyPr/>
          <a:lstStyle/>
          <a:p>
            <a:endParaRPr lang="en-US"/>
          </a:p>
        </p:txBody>
      </p:sp>
    </p:spTree>
    <p:extLst>
      <p:ext uri="{BB962C8B-B14F-4D97-AF65-F5344CB8AC3E}">
        <p14:creationId xmlns:p14="http://schemas.microsoft.com/office/powerpoint/2010/main" val="19626078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445F2-FBC5-AABE-6181-03D37D39F3EE}"/>
              </a:ext>
            </a:extLst>
          </p:cNvPr>
          <p:cNvSpPr>
            <a:spLocks noGrp="1"/>
          </p:cNvSpPr>
          <p:nvPr>
            <p:ph type="title"/>
          </p:nvPr>
        </p:nvSpPr>
        <p:spPr>
          <a:xfrm>
            <a:off x="913795" y="0"/>
            <a:ext cx="10353762" cy="970450"/>
          </a:xfrm>
        </p:spPr>
        <p:txBody>
          <a:bodyPr>
            <a:normAutofit/>
          </a:bodyPr>
          <a:lstStyle/>
          <a:p>
            <a:r>
              <a:rPr lang="en-US">
                <a:effectLst/>
              </a:rPr>
              <a:t>أفراد اللجنة المركزية</a:t>
            </a:r>
            <a:endParaRPr lang="en-US"/>
          </a:p>
        </p:txBody>
      </p:sp>
      <p:sp>
        <p:nvSpPr>
          <p:cNvPr id="3" name="Content Placeholder 2">
            <a:extLst>
              <a:ext uri="{FF2B5EF4-FFF2-40B4-BE49-F238E27FC236}">
                <a16:creationId xmlns:a16="http://schemas.microsoft.com/office/drawing/2014/main" id="{533ADA97-0461-A548-0481-1498E9CCE30B}"/>
              </a:ext>
            </a:extLst>
          </p:cNvPr>
          <p:cNvSpPr>
            <a:spLocks noGrp="1"/>
          </p:cNvSpPr>
          <p:nvPr>
            <p:ph idx="1"/>
          </p:nvPr>
        </p:nvSpPr>
        <p:spPr>
          <a:xfrm>
            <a:off x="272374" y="970451"/>
            <a:ext cx="11741286" cy="5595720"/>
          </a:xfrm>
        </p:spPr>
        <p:txBody>
          <a:bodyPr/>
          <a:lstStyle/>
          <a:p>
            <a:r>
              <a:rPr lang="en-US"/>
              <a:t>When opens</a:t>
            </a:r>
          </a:p>
          <a:p>
            <a:pPr lvl="1"/>
            <a:endParaRPr lang="en-US"/>
          </a:p>
          <a:p>
            <a:endParaRPr lang="en-US"/>
          </a:p>
        </p:txBody>
      </p:sp>
    </p:spTree>
    <p:extLst>
      <p:ext uri="{BB962C8B-B14F-4D97-AF65-F5344CB8AC3E}">
        <p14:creationId xmlns:p14="http://schemas.microsoft.com/office/powerpoint/2010/main" val="35243621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80177-28A8-4212-7D05-C858F5E08087}"/>
              </a:ext>
            </a:extLst>
          </p:cNvPr>
          <p:cNvSpPr>
            <a:spLocks noGrp="1"/>
          </p:cNvSpPr>
          <p:nvPr>
            <p:ph type="title"/>
          </p:nvPr>
        </p:nvSpPr>
        <p:spPr>
          <a:xfrm>
            <a:off x="913795" y="0"/>
            <a:ext cx="10353762" cy="540327"/>
          </a:xfrm>
        </p:spPr>
        <p:txBody>
          <a:bodyPr>
            <a:normAutofit fontScale="90000"/>
          </a:bodyPr>
          <a:lstStyle/>
          <a:p>
            <a:r>
              <a:rPr lang="en-US" b="1">
                <a:solidFill>
                  <a:srgbClr val="FFFF00"/>
                </a:solidFill>
              </a:rPr>
              <a:t>TWF</a:t>
            </a:r>
            <a:r>
              <a:rPr lang="en-US"/>
              <a:t>. </a:t>
            </a:r>
            <a:r>
              <a:rPr lang="en-US" b="1">
                <a:solidFill>
                  <a:srgbClr val="FF0000"/>
                </a:solidFill>
              </a:rPr>
              <a:t>Flow_branch_product</a:t>
            </a:r>
          </a:p>
        </p:txBody>
      </p:sp>
      <p:sp>
        <p:nvSpPr>
          <p:cNvPr id="3" name="Content Placeholder 2">
            <a:extLst>
              <a:ext uri="{FF2B5EF4-FFF2-40B4-BE49-F238E27FC236}">
                <a16:creationId xmlns:a16="http://schemas.microsoft.com/office/drawing/2014/main" id="{69D8FD80-A0A3-D6D3-7F33-AABF0C7A0D7A}"/>
              </a:ext>
            </a:extLst>
          </p:cNvPr>
          <p:cNvSpPr>
            <a:spLocks noGrp="1"/>
          </p:cNvSpPr>
          <p:nvPr>
            <p:ph idx="1"/>
          </p:nvPr>
        </p:nvSpPr>
        <p:spPr>
          <a:xfrm>
            <a:off x="571500" y="748146"/>
            <a:ext cx="11101303" cy="5611091"/>
          </a:xfrm>
        </p:spPr>
        <p:txBody>
          <a:bodyPr/>
          <a:lstStyle/>
          <a:p>
            <a:r>
              <a:rPr lang="en-US"/>
              <a:t>BP_code: </a:t>
            </a:r>
            <a:r>
              <a:rPr lang="en-US" b="1">
                <a:solidFill>
                  <a:srgbClr val="FFFF00"/>
                </a:solidFill>
              </a:rPr>
              <a:t>PK, identity</a:t>
            </a:r>
          </a:p>
          <a:p>
            <a:r>
              <a:rPr lang="en-US"/>
              <a:t>BranchId: </a:t>
            </a:r>
            <a:r>
              <a:rPr lang="en-US" b="1">
                <a:solidFill>
                  <a:srgbClr val="FFFF00"/>
                </a:solidFill>
              </a:rPr>
              <a:t>FK</a:t>
            </a:r>
            <a:r>
              <a:rPr lang="en-US"/>
              <a:t> from Branch</a:t>
            </a:r>
          </a:p>
          <a:p>
            <a:r>
              <a:rPr lang="en-US"/>
              <a:t>product_Id: </a:t>
            </a:r>
            <a:r>
              <a:rPr lang="en-US" b="1">
                <a:solidFill>
                  <a:srgbClr val="FFFF00"/>
                </a:solidFill>
              </a:rPr>
              <a:t>FK</a:t>
            </a:r>
            <a:r>
              <a:rPr lang="en-US"/>
              <a:t> from Flow_Products</a:t>
            </a:r>
          </a:p>
        </p:txBody>
      </p:sp>
      <p:pic>
        <p:nvPicPr>
          <p:cNvPr id="5" name="Picture 4">
            <a:extLst>
              <a:ext uri="{FF2B5EF4-FFF2-40B4-BE49-F238E27FC236}">
                <a16:creationId xmlns:a16="http://schemas.microsoft.com/office/drawing/2014/main" id="{FDCE9464-0661-9DD7-6515-DA41C025EAC7}"/>
              </a:ext>
            </a:extLst>
          </p:cNvPr>
          <p:cNvPicPr>
            <a:picLocks noChangeAspect="1"/>
          </p:cNvPicPr>
          <p:nvPr/>
        </p:nvPicPr>
        <p:blipFill>
          <a:blip r:embed="rId2"/>
          <a:stretch>
            <a:fillRect/>
          </a:stretch>
        </p:blipFill>
        <p:spPr>
          <a:xfrm>
            <a:off x="6312058" y="654627"/>
            <a:ext cx="3507350" cy="3415251"/>
          </a:xfrm>
          <a:prstGeom prst="rect">
            <a:avLst/>
          </a:prstGeom>
        </p:spPr>
      </p:pic>
    </p:spTree>
    <p:extLst>
      <p:ext uri="{BB962C8B-B14F-4D97-AF65-F5344CB8AC3E}">
        <p14:creationId xmlns:p14="http://schemas.microsoft.com/office/powerpoint/2010/main" val="29648513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C5594-3909-8F61-D483-11DCA711D120}"/>
              </a:ext>
            </a:extLst>
          </p:cNvPr>
          <p:cNvSpPr>
            <a:spLocks noGrp="1"/>
          </p:cNvSpPr>
          <p:nvPr>
            <p:ph type="title"/>
          </p:nvPr>
        </p:nvSpPr>
        <p:spPr>
          <a:xfrm>
            <a:off x="913795" y="0"/>
            <a:ext cx="10353762" cy="561109"/>
          </a:xfrm>
        </p:spPr>
        <p:txBody>
          <a:bodyPr>
            <a:normAutofit fontScale="90000"/>
          </a:bodyPr>
          <a:lstStyle/>
          <a:p>
            <a:r>
              <a:rPr lang="en-US" b="1">
                <a:solidFill>
                  <a:srgbClr val="FFFF00"/>
                </a:solidFill>
              </a:rPr>
              <a:t>TWF</a:t>
            </a:r>
            <a:r>
              <a:rPr lang="en-US" b="1"/>
              <a:t>.</a:t>
            </a:r>
            <a:r>
              <a:rPr lang="en-US" b="1">
                <a:solidFill>
                  <a:srgbClr val="FF0000"/>
                </a:solidFill>
              </a:rPr>
              <a:t>Flow_Emp_Product</a:t>
            </a:r>
          </a:p>
        </p:txBody>
      </p:sp>
      <p:sp>
        <p:nvSpPr>
          <p:cNvPr id="3" name="Content Placeholder 2">
            <a:extLst>
              <a:ext uri="{FF2B5EF4-FFF2-40B4-BE49-F238E27FC236}">
                <a16:creationId xmlns:a16="http://schemas.microsoft.com/office/drawing/2014/main" id="{D84DCB51-9A0E-95B9-5C2E-B3EF2623CD67}"/>
              </a:ext>
            </a:extLst>
          </p:cNvPr>
          <p:cNvSpPr>
            <a:spLocks noGrp="1"/>
          </p:cNvSpPr>
          <p:nvPr>
            <p:ph idx="1"/>
          </p:nvPr>
        </p:nvSpPr>
        <p:spPr>
          <a:xfrm>
            <a:off x="322118" y="685799"/>
            <a:ext cx="11565082" cy="5839691"/>
          </a:xfrm>
        </p:spPr>
        <p:txBody>
          <a:bodyPr/>
          <a:lstStyle/>
          <a:p>
            <a:r>
              <a:rPr lang="en-US"/>
              <a:t>EP_code_identity: int, </a:t>
            </a:r>
            <a:r>
              <a:rPr lang="en-US" b="1">
                <a:solidFill>
                  <a:srgbClr val="FFFF00"/>
                </a:solidFill>
              </a:rPr>
              <a:t>identity</a:t>
            </a:r>
          </a:p>
          <a:p>
            <a:r>
              <a:rPr lang="en-US"/>
              <a:t>EP_code: </a:t>
            </a:r>
            <a:r>
              <a:rPr lang="en-US" b="1">
                <a:solidFill>
                  <a:srgbClr val="FFFF00"/>
                </a:solidFill>
              </a:rPr>
              <a:t>[ PK ]</a:t>
            </a:r>
          </a:p>
          <a:p>
            <a:r>
              <a:rPr lang="en-US"/>
              <a:t>product_Id,  </a:t>
            </a:r>
            <a:r>
              <a:rPr lang="en-US" b="1">
                <a:solidFill>
                  <a:srgbClr val="FFFF00"/>
                </a:solidFill>
              </a:rPr>
              <a:t>FK</a:t>
            </a:r>
          </a:p>
          <a:p>
            <a:r>
              <a:rPr lang="en-US"/>
              <a:t>BranchId: int, </a:t>
            </a:r>
            <a:r>
              <a:rPr lang="en-US" b="1">
                <a:solidFill>
                  <a:srgbClr val="FFFF00"/>
                </a:solidFill>
              </a:rPr>
              <a:t>FK</a:t>
            </a:r>
            <a:r>
              <a:rPr lang="en-US"/>
              <a:t> </a:t>
            </a:r>
          </a:p>
          <a:p>
            <a:r>
              <a:rPr lang="en-US"/>
              <a:t>UserId: int, </a:t>
            </a:r>
            <a:r>
              <a:rPr lang="en-US" b="1">
                <a:solidFill>
                  <a:srgbClr val="FFFF00"/>
                </a:solidFill>
              </a:rPr>
              <a:t>FK</a:t>
            </a:r>
          </a:p>
          <a:p>
            <a:r>
              <a:rPr lang="en-US"/>
              <a:t>Conditions_renew</a:t>
            </a:r>
          </a:p>
          <a:p>
            <a:pPr lvl="1"/>
            <a:r>
              <a:rPr lang="en-US"/>
              <a:t>1</a:t>
            </a:r>
          </a:p>
          <a:p>
            <a:pPr lvl="1"/>
            <a:r>
              <a:rPr lang="en-US"/>
              <a:t>2</a:t>
            </a:r>
          </a:p>
          <a:p>
            <a:pPr marL="36900" indent="0">
              <a:buNone/>
            </a:pPr>
            <a:endParaRPr lang="en-US"/>
          </a:p>
          <a:p>
            <a:endParaRPr lang="en-US"/>
          </a:p>
        </p:txBody>
      </p:sp>
      <p:pic>
        <p:nvPicPr>
          <p:cNvPr id="5" name="Picture 4">
            <a:extLst>
              <a:ext uri="{FF2B5EF4-FFF2-40B4-BE49-F238E27FC236}">
                <a16:creationId xmlns:a16="http://schemas.microsoft.com/office/drawing/2014/main" id="{44EA9D92-B14C-7E6A-E26E-C21B494D4136}"/>
              </a:ext>
            </a:extLst>
          </p:cNvPr>
          <p:cNvPicPr>
            <a:picLocks noChangeAspect="1"/>
          </p:cNvPicPr>
          <p:nvPr/>
        </p:nvPicPr>
        <p:blipFill>
          <a:blip r:embed="rId2"/>
          <a:stretch>
            <a:fillRect/>
          </a:stretch>
        </p:blipFill>
        <p:spPr>
          <a:xfrm>
            <a:off x="5938237" y="1111827"/>
            <a:ext cx="6121974" cy="2691245"/>
          </a:xfrm>
          <a:prstGeom prst="rect">
            <a:avLst/>
          </a:prstGeom>
        </p:spPr>
      </p:pic>
    </p:spTree>
    <p:extLst>
      <p:ext uri="{BB962C8B-B14F-4D97-AF65-F5344CB8AC3E}">
        <p14:creationId xmlns:p14="http://schemas.microsoft.com/office/powerpoint/2010/main" val="29833690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30D3-0F79-5F7C-895F-52331C63FED7}"/>
              </a:ext>
            </a:extLst>
          </p:cNvPr>
          <p:cNvSpPr>
            <a:spLocks noGrp="1"/>
          </p:cNvSpPr>
          <p:nvPr>
            <p:ph type="title"/>
          </p:nvPr>
        </p:nvSpPr>
        <p:spPr>
          <a:xfrm>
            <a:off x="913795" y="0"/>
            <a:ext cx="10353762" cy="717755"/>
          </a:xfrm>
        </p:spPr>
        <p:txBody>
          <a:bodyPr/>
          <a:lstStyle/>
          <a:p>
            <a:r>
              <a:rPr lang="en-US" b="1">
                <a:solidFill>
                  <a:srgbClr val="FFFF00"/>
                </a:solidFill>
              </a:rPr>
              <a:t>TWF</a:t>
            </a:r>
            <a:r>
              <a:rPr lang="en-US"/>
              <a:t>.</a:t>
            </a:r>
            <a:r>
              <a:rPr lang="en-US" b="1">
                <a:solidFill>
                  <a:srgbClr val="FF0000"/>
                </a:solidFill>
              </a:rPr>
              <a:t>Flow_Contact_Us</a:t>
            </a:r>
          </a:p>
        </p:txBody>
      </p:sp>
      <p:sp>
        <p:nvSpPr>
          <p:cNvPr id="7" name="Content Placeholder 6">
            <a:extLst>
              <a:ext uri="{FF2B5EF4-FFF2-40B4-BE49-F238E27FC236}">
                <a16:creationId xmlns:a16="http://schemas.microsoft.com/office/drawing/2014/main" id="{3073AE93-BA35-FB28-BA39-B0CDEE52D4B1}"/>
              </a:ext>
            </a:extLst>
          </p:cNvPr>
          <p:cNvSpPr>
            <a:spLocks noGrp="1"/>
          </p:cNvSpPr>
          <p:nvPr>
            <p:ph idx="1"/>
          </p:nvPr>
        </p:nvSpPr>
        <p:spPr>
          <a:xfrm>
            <a:off x="913795" y="717755"/>
            <a:ext cx="10353762" cy="5073445"/>
          </a:xfrm>
        </p:spPr>
        <p:txBody>
          <a:bodyPr/>
          <a:lstStyle/>
          <a:p>
            <a:r>
              <a:rPr lang="en-US"/>
              <a:t>Id_contact </a:t>
            </a:r>
            <a:r>
              <a:rPr lang="en-US" b="1">
                <a:solidFill>
                  <a:srgbClr val="FF0000"/>
                </a:solidFill>
              </a:rPr>
              <a:t>[PK]</a:t>
            </a:r>
          </a:p>
          <a:p>
            <a:endParaRPr lang="en-US" b="1">
              <a:solidFill>
                <a:srgbClr val="FF0000"/>
              </a:solidFill>
            </a:endParaRPr>
          </a:p>
        </p:txBody>
      </p:sp>
      <p:pic>
        <p:nvPicPr>
          <p:cNvPr id="8" name="Content Placeholder 4">
            <a:extLst>
              <a:ext uri="{FF2B5EF4-FFF2-40B4-BE49-F238E27FC236}">
                <a16:creationId xmlns:a16="http://schemas.microsoft.com/office/drawing/2014/main" id="{5F698F2B-A00E-4F18-B669-C748A374EDF1}"/>
              </a:ext>
            </a:extLst>
          </p:cNvPr>
          <p:cNvPicPr>
            <a:picLocks noChangeAspect="1"/>
          </p:cNvPicPr>
          <p:nvPr/>
        </p:nvPicPr>
        <p:blipFill>
          <a:blip r:embed="rId2"/>
          <a:stretch>
            <a:fillRect/>
          </a:stretch>
        </p:blipFill>
        <p:spPr>
          <a:xfrm>
            <a:off x="5553042" y="717755"/>
            <a:ext cx="6306106" cy="101297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9127317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3CE53-308B-7AB5-E6DC-09A37427C286}"/>
              </a:ext>
            </a:extLst>
          </p:cNvPr>
          <p:cNvSpPr>
            <a:spLocks noGrp="1"/>
          </p:cNvSpPr>
          <p:nvPr>
            <p:ph type="title"/>
          </p:nvPr>
        </p:nvSpPr>
        <p:spPr>
          <a:xfrm>
            <a:off x="206477" y="0"/>
            <a:ext cx="11779045" cy="599768"/>
          </a:xfrm>
        </p:spPr>
        <p:txBody>
          <a:bodyPr>
            <a:normAutofit fontScale="90000"/>
          </a:bodyPr>
          <a:lstStyle/>
          <a:p>
            <a:r>
              <a:rPr lang="en-US" b="1">
                <a:solidFill>
                  <a:srgbClr val="FFFF00"/>
                </a:solidFill>
              </a:rPr>
              <a:t>Trans</a:t>
            </a:r>
            <a:r>
              <a:rPr lang="en-US"/>
              <a:t>.</a:t>
            </a:r>
            <a:r>
              <a:rPr lang="en-US" b="1">
                <a:solidFill>
                  <a:srgbClr val="FF0000"/>
                </a:solidFill>
              </a:rPr>
              <a:t>Trans</a:t>
            </a:r>
            <a:r>
              <a:rPr lang="en-US" b="1" err="1">
                <a:solidFill>
                  <a:srgbClr val="FF0000"/>
                </a:solidFill>
              </a:rPr>
              <a:t>_GPS_Tracking</a:t>
            </a:r>
            <a:endParaRPr lang="en-US" b="1">
              <a:solidFill>
                <a:srgbClr val="FF0000"/>
              </a:solidFill>
            </a:endParaRPr>
          </a:p>
        </p:txBody>
      </p:sp>
      <p:sp>
        <p:nvSpPr>
          <p:cNvPr id="3" name="Content Placeholder 2">
            <a:extLst>
              <a:ext uri="{FF2B5EF4-FFF2-40B4-BE49-F238E27FC236}">
                <a16:creationId xmlns:a16="http://schemas.microsoft.com/office/drawing/2014/main" id="{21169C85-3764-A8D2-5E7F-25BFA22E03A0}"/>
              </a:ext>
            </a:extLst>
          </p:cNvPr>
          <p:cNvSpPr>
            <a:spLocks noGrp="1"/>
          </p:cNvSpPr>
          <p:nvPr>
            <p:ph idx="1"/>
          </p:nvPr>
        </p:nvSpPr>
        <p:spPr>
          <a:xfrm>
            <a:off x="226142" y="599769"/>
            <a:ext cx="11779045" cy="6115664"/>
          </a:xfrm>
        </p:spPr>
        <p:txBody>
          <a:bodyPr/>
          <a:lstStyle/>
          <a:p>
            <a:r>
              <a:rPr lang="en-US"/>
              <a:t>int </a:t>
            </a:r>
            <a:r>
              <a:rPr lang="en-US" err="1"/>
              <a:t>GPST_Id</a:t>
            </a:r>
            <a:r>
              <a:rPr lang="en-US"/>
              <a:t>  </a:t>
            </a:r>
            <a:r>
              <a:rPr lang="en-US" b="1">
                <a:solidFill>
                  <a:srgbClr val="FFFF00"/>
                </a:solidFill>
              </a:rPr>
              <a:t>[PK]</a:t>
            </a:r>
          </a:p>
          <a:p>
            <a:r>
              <a:rPr lang="en-US"/>
              <a:t>int </a:t>
            </a:r>
            <a:r>
              <a:rPr lang="en-US" err="1"/>
              <a:t>UserID</a:t>
            </a:r>
            <a:r>
              <a:rPr lang="en-US"/>
              <a:t> </a:t>
            </a:r>
          </a:p>
          <a:p>
            <a:r>
              <a:rPr lang="en-US"/>
              <a:t>DateTime </a:t>
            </a:r>
            <a:r>
              <a:rPr lang="en-US" err="1"/>
              <a:t>ActionDate</a:t>
            </a:r>
            <a:r>
              <a:rPr lang="en-US"/>
              <a:t>  </a:t>
            </a:r>
          </a:p>
          <a:p>
            <a:r>
              <a:rPr lang="en-US"/>
              <a:t>string? Step</a:t>
            </a:r>
          </a:p>
          <a:p>
            <a:pPr lvl="1"/>
            <a:r>
              <a:rPr lang="en-US"/>
              <a:t>CO</a:t>
            </a:r>
          </a:p>
          <a:p>
            <a:pPr lvl="1"/>
            <a:r>
              <a:rPr lang="en-US"/>
              <a:t>LO</a:t>
            </a:r>
          </a:p>
          <a:p>
            <a:pPr lvl="1"/>
            <a:r>
              <a:rPr lang="en-US"/>
              <a:t>CO_Organization</a:t>
            </a:r>
          </a:p>
          <a:p>
            <a:r>
              <a:rPr lang="en-US"/>
              <a:t>string  Latitude </a:t>
            </a:r>
          </a:p>
          <a:p>
            <a:r>
              <a:rPr lang="en-US"/>
              <a:t>string Longitude </a:t>
            </a:r>
          </a:p>
          <a:p>
            <a:r>
              <a:rPr lang="en-US"/>
              <a:t>string Address </a:t>
            </a:r>
          </a:p>
          <a:p>
            <a:r>
              <a:rPr lang="en-US"/>
              <a:t>decimal </a:t>
            </a:r>
            <a:r>
              <a:rPr lang="en-US" err="1"/>
              <a:t>RequestID</a:t>
            </a:r>
            <a:r>
              <a:rPr lang="en-US"/>
              <a:t> </a:t>
            </a:r>
          </a:p>
          <a:p>
            <a:r>
              <a:rPr lang="en-US"/>
              <a:t>string Status </a:t>
            </a:r>
          </a:p>
        </p:txBody>
      </p:sp>
      <p:pic>
        <p:nvPicPr>
          <p:cNvPr id="5" name="Picture 4">
            <a:extLst>
              <a:ext uri="{FF2B5EF4-FFF2-40B4-BE49-F238E27FC236}">
                <a16:creationId xmlns:a16="http://schemas.microsoft.com/office/drawing/2014/main" id="{A2DBFF06-BC16-4E23-8254-ED2FF76AD890}"/>
              </a:ext>
            </a:extLst>
          </p:cNvPr>
          <p:cNvPicPr>
            <a:picLocks noChangeAspect="1"/>
          </p:cNvPicPr>
          <p:nvPr/>
        </p:nvPicPr>
        <p:blipFill>
          <a:blip r:embed="rId2"/>
          <a:stretch>
            <a:fillRect/>
          </a:stretch>
        </p:blipFill>
        <p:spPr>
          <a:xfrm>
            <a:off x="4794428" y="608451"/>
            <a:ext cx="1557211" cy="3049150"/>
          </a:xfrm>
          <a:prstGeom prst="rect">
            <a:avLst/>
          </a:prstGeom>
        </p:spPr>
      </p:pic>
      <p:pic>
        <p:nvPicPr>
          <p:cNvPr id="7" name="Picture 6">
            <a:extLst>
              <a:ext uri="{FF2B5EF4-FFF2-40B4-BE49-F238E27FC236}">
                <a16:creationId xmlns:a16="http://schemas.microsoft.com/office/drawing/2014/main" id="{8EE1C9B5-2D0D-41FA-7247-9EB98AE90090}"/>
              </a:ext>
            </a:extLst>
          </p:cNvPr>
          <p:cNvPicPr>
            <a:picLocks noChangeAspect="1"/>
          </p:cNvPicPr>
          <p:nvPr/>
        </p:nvPicPr>
        <p:blipFill>
          <a:blip r:embed="rId3"/>
          <a:stretch>
            <a:fillRect/>
          </a:stretch>
        </p:blipFill>
        <p:spPr>
          <a:xfrm>
            <a:off x="3854245" y="3666283"/>
            <a:ext cx="7541341" cy="2854292"/>
          </a:xfrm>
          <a:prstGeom prst="rect">
            <a:avLst/>
          </a:prstGeom>
        </p:spPr>
      </p:pic>
    </p:spTree>
    <p:extLst>
      <p:ext uri="{BB962C8B-B14F-4D97-AF65-F5344CB8AC3E}">
        <p14:creationId xmlns:p14="http://schemas.microsoft.com/office/powerpoint/2010/main" val="12662576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F588-5A22-7C5C-254E-26F8B556C2F8}"/>
              </a:ext>
            </a:extLst>
          </p:cNvPr>
          <p:cNvSpPr>
            <a:spLocks noGrp="1"/>
          </p:cNvSpPr>
          <p:nvPr>
            <p:ph type="title"/>
          </p:nvPr>
        </p:nvSpPr>
        <p:spPr>
          <a:xfrm>
            <a:off x="913795" y="0"/>
            <a:ext cx="10353762" cy="353961"/>
          </a:xfrm>
        </p:spPr>
        <p:txBody>
          <a:bodyPr>
            <a:noAutofit/>
          </a:bodyPr>
          <a:lstStyle/>
          <a:p>
            <a:r>
              <a:rPr lang="en-US" sz="2800" b="1">
                <a:solidFill>
                  <a:srgbClr val="FFFF00"/>
                </a:solidFill>
              </a:rPr>
              <a:t>Lookup</a:t>
            </a:r>
            <a:r>
              <a:rPr lang="en-US" sz="2800">
                <a:solidFill>
                  <a:srgbClr val="FFFF00"/>
                </a:solidFill>
              </a:rPr>
              <a:t>.</a:t>
            </a:r>
            <a:r>
              <a:rPr lang="en-US" sz="2800" b="1">
                <a:solidFill>
                  <a:srgbClr val="FF0000"/>
                </a:solidFill>
              </a:rPr>
              <a:t>Branch</a:t>
            </a:r>
          </a:p>
        </p:txBody>
      </p:sp>
      <p:sp>
        <p:nvSpPr>
          <p:cNvPr id="3" name="Content Placeholder 2">
            <a:extLst>
              <a:ext uri="{FF2B5EF4-FFF2-40B4-BE49-F238E27FC236}">
                <a16:creationId xmlns:a16="http://schemas.microsoft.com/office/drawing/2014/main" id="{66405C29-9092-F04A-2677-BCF8645824E8}"/>
              </a:ext>
            </a:extLst>
          </p:cNvPr>
          <p:cNvSpPr>
            <a:spLocks noGrp="1"/>
          </p:cNvSpPr>
          <p:nvPr>
            <p:ph idx="1"/>
          </p:nvPr>
        </p:nvSpPr>
        <p:spPr>
          <a:xfrm>
            <a:off x="255639" y="442453"/>
            <a:ext cx="11729884" cy="6243482"/>
          </a:xfrm>
        </p:spPr>
        <p:txBody>
          <a:bodyPr numCol="2">
            <a:normAutofit/>
          </a:bodyPr>
          <a:lstStyle/>
          <a:p>
            <a:r>
              <a:rPr lang="en-US" sz="1800" b="1"/>
              <a:t>int </a:t>
            </a:r>
            <a:r>
              <a:rPr lang="en-US" sz="1800" b="1">
                <a:solidFill>
                  <a:srgbClr val="FFFF00"/>
                </a:solidFill>
              </a:rPr>
              <a:t>BranchId [PK]</a:t>
            </a:r>
          </a:p>
          <a:p>
            <a:r>
              <a:rPr lang="en-US" sz="1800" b="1"/>
              <a:t>BranchNameAR</a:t>
            </a:r>
          </a:p>
          <a:p>
            <a:r>
              <a:rPr lang="en-US" sz="1800" b="1"/>
              <a:t>BranchNameEn</a:t>
            </a:r>
          </a:p>
          <a:p>
            <a:r>
              <a:rPr lang="en-US" sz="1800" b="1"/>
              <a:t>AddressAR</a:t>
            </a:r>
          </a:p>
          <a:p>
            <a:r>
              <a:rPr lang="en-US" sz="1800" b="1"/>
              <a:t>AddressEn</a:t>
            </a:r>
          </a:p>
          <a:p>
            <a:r>
              <a:rPr lang="en-US" sz="1800" b="1" err="1"/>
              <a:t>ExterNum</a:t>
            </a:r>
            <a:endParaRPr lang="en-US" sz="1800" b="1"/>
          </a:p>
          <a:p>
            <a:r>
              <a:rPr lang="en-US" sz="1800" b="1" err="1"/>
              <a:t>PhoneNum</a:t>
            </a:r>
            <a:endParaRPr lang="en-US" sz="1800" b="1"/>
          </a:p>
          <a:p>
            <a:r>
              <a:rPr lang="en-US" sz="1800" b="1"/>
              <a:t>RegionId [FK]</a:t>
            </a:r>
            <a:endParaRPr lang="ar-EG" sz="1800" b="1"/>
          </a:p>
          <a:p>
            <a:r>
              <a:rPr lang="en-US" sz="1800" b="1"/>
              <a:t>OriginalRegionId [FK]</a:t>
            </a:r>
            <a:endParaRPr lang="ar-EG" sz="1800" b="1"/>
          </a:p>
          <a:p>
            <a:r>
              <a:rPr lang="en-US" sz="1800" b="1"/>
              <a:t>GovId </a:t>
            </a:r>
            <a:r>
              <a:rPr lang="en-US" sz="1800" b="1">
                <a:solidFill>
                  <a:srgbClr val="FFFF00"/>
                </a:solidFill>
              </a:rPr>
              <a:t>[FK]</a:t>
            </a:r>
            <a:endParaRPr lang="ar-EG" sz="1800" b="1">
              <a:solidFill>
                <a:srgbClr val="FFFF00"/>
              </a:solidFill>
            </a:endParaRPr>
          </a:p>
          <a:p>
            <a:r>
              <a:rPr lang="en-US" sz="1800" b="1" err="1"/>
              <a:t>Code_</a:t>
            </a:r>
            <a:r>
              <a:rPr lang="en-US" sz="1800" b="1"/>
              <a:t>district </a:t>
            </a:r>
            <a:r>
              <a:rPr lang="en-US" sz="1800" b="1">
                <a:solidFill>
                  <a:srgbClr val="FFFF00"/>
                </a:solidFill>
              </a:rPr>
              <a:t>[FK]</a:t>
            </a:r>
            <a:endParaRPr lang="ar-EG" sz="1800" b="1">
              <a:solidFill>
                <a:srgbClr val="FFFF00"/>
              </a:solidFill>
            </a:endParaRPr>
          </a:p>
          <a:p>
            <a:r>
              <a:rPr lang="en-US" sz="1800" b="1" err="1"/>
              <a:t>Code_</a:t>
            </a:r>
            <a:r>
              <a:rPr lang="en-US" sz="1800" b="1"/>
              <a:t>Section </a:t>
            </a:r>
            <a:r>
              <a:rPr lang="en-US" sz="1800" b="1">
                <a:solidFill>
                  <a:srgbClr val="FFFF00"/>
                </a:solidFill>
              </a:rPr>
              <a:t>[FK]</a:t>
            </a:r>
          </a:p>
          <a:p>
            <a:r>
              <a:rPr lang="en-US" sz="1800" b="1"/>
              <a:t>FBT_ID [FK] (flow branch type)</a:t>
            </a:r>
          </a:p>
          <a:p>
            <a:r>
              <a:rPr lang="en-US" sz="1800" b="1"/>
              <a:t>IP</a:t>
            </a:r>
          </a:p>
          <a:p>
            <a:r>
              <a:rPr lang="en-US" sz="1800" b="1" err="1">
                <a:solidFill>
                  <a:srgbClr val="FFFF00"/>
                </a:solidFill>
              </a:rPr>
              <a:t>Branch_code</a:t>
            </a:r>
            <a:endParaRPr lang="en-US" sz="1800" b="1">
              <a:solidFill>
                <a:srgbClr val="FFFF00"/>
              </a:solidFill>
            </a:endParaRPr>
          </a:p>
          <a:p>
            <a:r>
              <a:rPr lang="en-US" b="1"/>
              <a:t>Latitude</a:t>
            </a:r>
          </a:p>
          <a:p>
            <a:r>
              <a:rPr lang="en-US" b="1"/>
              <a:t>Longitude</a:t>
            </a:r>
          </a:p>
          <a:p>
            <a:endParaRPr lang="en-US" sz="1800" b="1"/>
          </a:p>
        </p:txBody>
      </p:sp>
      <p:pic>
        <p:nvPicPr>
          <p:cNvPr id="5" name="Picture 4">
            <a:extLst>
              <a:ext uri="{FF2B5EF4-FFF2-40B4-BE49-F238E27FC236}">
                <a16:creationId xmlns:a16="http://schemas.microsoft.com/office/drawing/2014/main" id="{91B0352F-7758-F003-E05D-DF54D9006A5B}"/>
              </a:ext>
            </a:extLst>
          </p:cNvPr>
          <p:cNvPicPr>
            <a:picLocks noChangeAspect="1"/>
          </p:cNvPicPr>
          <p:nvPr/>
        </p:nvPicPr>
        <p:blipFill>
          <a:blip r:embed="rId2"/>
          <a:stretch>
            <a:fillRect/>
          </a:stretch>
        </p:blipFill>
        <p:spPr>
          <a:xfrm>
            <a:off x="4516390" y="1335793"/>
            <a:ext cx="6751167" cy="1509965"/>
          </a:xfrm>
          <a:prstGeom prst="rect">
            <a:avLst/>
          </a:prstGeom>
        </p:spPr>
      </p:pic>
    </p:spTree>
    <p:extLst>
      <p:ext uri="{BB962C8B-B14F-4D97-AF65-F5344CB8AC3E}">
        <p14:creationId xmlns:p14="http://schemas.microsoft.com/office/powerpoint/2010/main" val="23130529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9171-CFF6-1A0B-D5F8-FB1D0D257193}"/>
              </a:ext>
            </a:extLst>
          </p:cNvPr>
          <p:cNvSpPr>
            <a:spLocks noGrp="1"/>
          </p:cNvSpPr>
          <p:nvPr>
            <p:ph type="title"/>
          </p:nvPr>
        </p:nvSpPr>
        <p:spPr>
          <a:xfrm>
            <a:off x="815472" y="0"/>
            <a:ext cx="10353762" cy="589935"/>
          </a:xfrm>
        </p:spPr>
        <p:txBody>
          <a:bodyPr>
            <a:normAutofit fontScale="90000"/>
          </a:bodyPr>
          <a:lstStyle/>
          <a:p>
            <a:r>
              <a:rPr lang="en-US" b="1" err="1">
                <a:solidFill>
                  <a:srgbClr val="FFFF00"/>
                </a:solidFill>
                <a:effectLst/>
              </a:rPr>
              <a:t>TWF</a:t>
            </a:r>
            <a:r>
              <a:rPr lang="en-US" b="1" err="1">
                <a:solidFill>
                  <a:srgbClr val="FF0000"/>
                </a:solidFill>
                <a:effectLst/>
              </a:rPr>
              <a:t>.Flow_GeneralSettings</a:t>
            </a:r>
            <a:endParaRPr lang="en-US">
              <a:solidFill>
                <a:srgbClr val="FF0000"/>
              </a:solidFill>
            </a:endParaRPr>
          </a:p>
        </p:txBody>
      </p:sp>
      <p:sp>
        <p:nvSpPr>
          <p:cNvPr id="3" name="Content Placeholder 2">
            <a:extLst>
              <a:ext uri="{FF2B5EF4-FFF2-40B4-BE49-F238E27FC236}">
                <a16:creationId xmlns:a16="http://schemas.microsoft.com/office/drawing/2014/main" id="{24CF6193-02AE-67B5-1622-4AF1A099973F}"/>
              </a:ext>
            </a:extLst>
          </p:cNvPr>
          <p:cNvSpPr>
            <a:spLocks noGrp="1"/>
          </p:cNvSpPr>
          <p:nvPr>
            <p:ph idx="1"/>
          </p:nvPr>
        </p:nvSpPr>
        <p:spPr>
          <a:xfrm>
            <a:off x="0" y="589935"/>
            <a:ext cx="12192000" cy="6268065"/>
          </a:xfrm>
        </p:spPr>
        <p:txBody>
          <a:bodyPr/>
          <a:lstStyle/>
          <a:p>
            <a:r>
              <a:rPr lang="en-US"/>
              <a:t>GeneralSettings_Id : PK</a:t>
            </a:r>
          </a:p>
          <a:p>
            <a:r>
              <a:rPr lang="en-US"/>
              <a:t>FinanceAmount_Approximation: decimal , </a:t>
            </a:r>
            <a:r>
              <a:rPr lang="ar-EG" sz="1650"/>
              <a:t>تقريب قيمة التمويل وليكن لاقرب الف بعد ادخال المبلغ المطلوب فشاشات ادخال طلب وزيارة وتحليل</a:t>
            </a:r>
            <a:endParaRPr lang="en-US" sz="1650"/>
          </a:p>
          <a:p>
            <a:r>
              <a:rPr lang="en-US"/>
              <a:t>AllowInsertFund: int , </a:t>
            </a:r>
            <a:r>
              <a:rPr lang="ar-EG"/>
              <a:t>عند إدخال طلب تمويل </a:t>
            </a:r>
          </a:p>
          <a:p>
            <a:pPr lvl="1"/>
            <a:r>
              <a:rPr lang="en-US"/>
              <a:t>AllowInsertFund == 1 // </a:t>
            </a:r>
            <a:r>
              <a:rPr lang="en-US" b="1"/>
              <a:t>allow insert fund</a:t>
            </a:r>
          </a:p>
          <a:p>
            <a:pPr lvl="1"/>
            <a:r>
              <a:rPr lang="en-US"/>
              <a:t>AllowInsertFund ==0 // </a:t>
            </a:r>
            <a:r>
              <a:rPr lang="en-US" b="1"/>
              <a:t>not allow insert fund</a:t>
            </a:r>
          </a:p>
          <a:p>
            <a:r>
              <a:rPr lang="en-US"/>
              <a:t>Approximation: decimal, </a:t>
            </a:r>
          </a:p>
          <a:p>
            <a:r>
              <a:rPr lang="en-US"/>
              <a:t>AllowActionOnProduct: bool</a:t>
            </a:r>
          </a:p>
          <a:p>
            <a:pPr lvl="1"/>
            <a:r>
              <a:rPr lang="en-US"/>
              <a:t> to allow add and edit on product table</a:t>
            </a:r>
          </a:p>
          <a:p>
            <a:endParaRPr lang="en-US"/>
          </a:p>
          <a:p>
            <a:endParaRPr lang="en-US"/>
          </a:p>
          <a:p>
            <a:pPr lvl="1"/>
            <a:endParaRPr lang="en-US" sz="1400"/>
          </a:p>
        </p:txBody>
      </p:sp>
      <p:pic>
        <p:nvPicPr>
          <p:cNvPr id="5" name="Picture 4">
            <a:extLst>
              <a:ext uri="{FF2B5EF4-FFF2-40B4-BE49-F238E27FC236}">
                <a16:creationId xmlns:a16="http://schemas.microsoft.com/office/drawing/2014/main" id="{B396C214-4048-E7E3-C256-A4EB9D784A3C}"/>
              </a:ext>
            </a:extLst>
          </p:cNvPr>
          <p:cNvPicPr>
            <a:picLocks noChangeAspect="1"/>
          </p:cNvPicPr>
          <p:nvPr/>
        </p:nvPicPr>
        <p:blipFill>
          <a:blip r:embed="rId2"/>
          <a:stretch>
            <a:fillRect/>
          </a:stretch>
        </p:blipFill>
        <p:spPr>
          <a:xfrm>
            <a:off x="5181600" y="3206250"/>
            <a:ext cx="7010399" cy="510172"/>
          </a:xfrm>
          <a:prstGeom prst="rect">
            <a:avLst/>
          </a:prstGeom>
        </p:spPr>
      </p:pic>
      <p:pic>
        <p:nvPicPr>
          <p:cNvPr id="6" name="Picture 5">
            <a:extLst>
              <a:ext uri="{FF2B5EF4-FFF2-40B4-BE49-F238E27FC236}">
                <a16:creationId xmlns:a16="http://schemas.microsoft.com/office/drawing/2014/main" id="{6259D315-42B1-A527-665B-4CDEF3B6F6CE}"/>
              </a:ext>
            </a:extLst>
          </p:cNvPr>
          <p:cNvPicPr>
            <a:picLocks noChangeAspect="1"/>
          </p:cNvPicPr>
          <p:nvPr/>
        </p:nvPicPr>
        <p:blipFill>
          <a:blip r:embed="rId3"/>
          <a:stretch>
            <a:fillRect/>
          </a:stretch>
        </p:blipFill>
        <p:spPr>
          <a:xfrm>
            <a:off x="5181600" y="3775092"/>
            <a:ext cx="7040499" cy="563219"/>
          </a:xfrm>
          <a:prstGeom prst="rect">
            <a:avLst/>
          </a:prstGeom>
        </p:spPr>
      </p:pic>
      <p:pic>
        <p:nvPicPr>
          <p:cNvPr id="8" name="Picture 7">
            <a:extLst>
              <a:ext uri="{FF2B5EF4-FFF2-40B4-BE49-F238E27FC236}">
                <a16:creationId xmlns:a16="http://schemas.microsoft.com/office/drawing/2014/main" id="{0DA809C7-37D9-6FBF-6258-84E1355DF90B}"/>
              </a:ext>
            </a:extLst>
          </p:cNvPr>
          <p:cNvPicPr>
            <a:picLocks noChangeAspect="1"/>
          </p:cNvPicPr>
          <p:nvPr/>
        </p:nvPicPr>
        <p:blipFill>
          <a:blip r:embed="rId4"/>
          <a:stretch>
            <a:fillRect/>
          </a:stretch>
        </p:blipFill>
        <p:spPr>
          <a:xfrm>
            <a:off x="5151500" y="4402983"/>
            <a:ext cx="7040500" cy="529991"/>
          </a:xfrm>
          <a:prstGeom prst="rect">
            <a:avLst/>
          </a:prstGeom>
        </p:spPr>
      </p:pic>
      <p:pic>
        <p:nvPicPr>
          <p:cNvPr id="10" name="Picture 9">
            <a:extLst>
              <a:ext uri="{FF2B5EF4-FFF2-40B4-BE49-F238E27FC236}">
                <a16:creationId xmlns:a16="http://schemas.microsoft.com/office/drawing/2014/main" id="{8A31679D-0D22-2EBC-77A9-DA7BCCA4EADE}"/>
              </a:ext>
            </a:extLst>
          </p:cNvPr>
          <p:cNvPicPr>
            <a:picLocks noChangeAspect="1"/>
          </p:cNvPicPr>
          <p:nvPr/>
        </p:nvPicPr>
        <p:blipFill>
          <a:blip r:embed="rId5"/>
          <a:stretch>
            <a:fillRect/>
          </a:stretch>
        </p:blipFill>
        <p:spPr>
          <a:xfrm>
            <a:off x="5151499" y="4997646"/>
            <a:ext cx="7040500" cy="510172"/>
          </a:xfrm>
          <a:prstGeom prst="rect">
            <a:avLst/>
          </a:prstGeom>
        </p:spPr>
      </p:pic>
      <p:pic>
        <p:nvPicPr>
          <p:cNvPr id="12" name="Picture 11">
            <a:extLst>
              <a:ext uri="{FF2B5EF4-FFF2-40B4-BE49-F238E27FC236}">
                <a16:creationId xmlns:a16="http://schemas.microsoft.com/office/drawing/2014/main" id="{9D90B51C-4BE7-6475-8922-DC2AD22673A5}"/>
              </a:ext>
            </a:extLst>
          </p:cNvPr>
          <p:cNvPicPr>
            <a:picLocks noChangeAspect="1"/>
          </p:cNvPicPr>
          <p:nvPr/>
        </p:nvPicPr>
        <p:blipFill>
          <a:blip r:embed="rId6"/>
          <a:stretch>
            <a:fillRect/>
          </a:stretch>
        </p:blipFill>
        <p:spPr>
          <a:xfrm>
            <a:off x="5151498" y="5572490"/>
            <a:ext cx="7040501" cy="494660"/>
          </a:xfrm>
          <a:prstGeom prst="rect">
            <a:avLst/>
          </a:prstGeom>
        </p:spPr>
      </p:pic>
      <p:pic>
        <p:nvPicPr>
          <p:cNvPr id="14" name="Picture 13">
            <a:extLst>
              <a:ext uri="{FF2B5EF4-FFF2-40B4-BE49-F238E27FC236}">
                <a16:creationId xmlns:a16="http://schemas.microsoft.com/office/drawing/2014/main" id="{A20E6F0E-6C9B-D4B2-FDFB-87B886427429}"/>
              </a:ext>
            </a:extLst>
          </p:cNvPr>
          <p:cNvPicPr>
            <a:picLocks noChangeAspect="1"/>
          </p:cNvPicPr>
          <p:nvPr/>
        </p:nvPicPr>
        <p:blipFill>
          <a:blip r:embed="rId7"/>
          <a:stretch>
            <a:fillRect/>
          </a:stretch>
        </p:blipFill>
        <p:spPr>
          <a:xfrm>
            <a:off x="5143974" y="6199943"/>
            <a:ext cx="7048025" cy="525263"/>
          </a:xfrm>
          <a:prstGeom prst="rect">
            <a:avLst/>
          </a:prstGeom>
        </p:spPr>
      </p:pic>
    </p:spTree>
    <p:extLst>
      <p:ext uri="{BB962C8B-B14F-4D97-AF65-F5344CB8AC3E}">
        <p14:creationId xmlns:p14="http://schemas.microsoft.com/office/powerpoint/2010/main" val="17221417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111A6-E944-912A-48A8-7E38F61C0C6D}"/>
              </a:ext>
            </a:extLst>
          </p:cNvPr>
          <p:cNvSpPr>
            <a:spLocks noGrp="1"/>
          </p:cNvSpPr>
          <p:nvPr>
            <p:ph type="title"/>
          </p:nvPr>
        </p:nvSpPr>
        <p:spPr>
          <a:xfrm>
            <a:off x="913795" y="-95250"/>
            <a:ext cx="10353762" cy="970450"/>
          </a:xfrm>
        </p:spPr>
        <p:txBody>
          <a:bodyPr/>
          <a:lstStyle/>
          <a:p>
            <a:r>
              <a:rPr lang="en-US" b="1">
                <a:solidFill>
                  <a:srgbClr val="FFFF00"/>
                </a:solidFill>
              </a:rPr>
              <a:t>TWF</a:t>
            </a:r>
            <a:r>
              <a:rPr lang="en-US" b="1"/>
              <a:t>.</a:t>
            </a:r>
            <a:r>
              <a:rPr lang="en-US" b="1">
                <a:solidFill>
                  <a:srgbClr val="FF0000"/>
                </a:solidFill>
              </a:rPr>
              <a:t>Flow_Status_Funding_Request</a:t>
            </a:r>
          </a:p>
        </p:txBody>
      </p:sp>
      <p:sp>
        <p:nvSpPr>
          <p:cNvPr id="3" name="Content Placeholder 2">
            <a:extLst>
              <a:ext uri="{FF2B5EF4-FFF2-40B4-BE49-F238E27FC236}">
                <a16:creationId xmlns:a16="http://schemas.microsoft.com/office/drawing/2014/main" id="{9E3997AE-A927-C68E-BD03-9335F7BFBD78}"/>
              </a:ext>
            </a:extLst>
          </p:cNvPr>
          <p:cNvSpPr>
            <a:spLocks noGrp="1"/>
          </p:cNvSpPr>
          <p:nvPr>
            <p:ph idx="1"/>
          </p:nvPr>
        </p:nvSpPr>
        <p:spPr>
          <a:xfrm>
            <a:off x="913795" y="875201"/>
            <a:ext cx="10353762" cy="4916000"/>
          </a:xfrm>
        </p:spPr>
        <p:txBody>
          <a:bodyPr/>
          <a:lstStyle/>
          <a:p>
            <a:r>
              <a:rPr lang="en-US" b="1"/>
              <a:t>int SFR_code </a:t>
            </a:r>
          </a:p>
          <a:p>
            <a:r>
              <a:rPr lang="en-US" b="1"/>
              <a:t>int UserId</a:t>
            </a:r>
          </a:p>
          <a:p>
            <a:r>
              <a:rPr lang="en-US" b="1"/>
              <a:t>int product_Id</a:t>
            </a:r>
          </a:p>
          <a:p>
            <a:r>
              <a:rPr lang="en-US" b="1"/>
              <a:t>string Status</a:t>
            </a:r>
          </a:p>
          <a:p>
            <a:r>
              <a:rPr lang="en-US" b="1"/>
              <a:t>DateTime Creation_date</a:t>
            </a:r>
          </a:p>
        </p:txBody>
      </p:sp>
    </p:spTree>
    <p:extLst>
      <p:ext uri="{BB962C8B-B14F-4D97-AF65-F5344CB8AC3E}">
        <p14:creationId xmlns:p14="http://schemas.microsoft.com/office/powerpoint/2010/main" val="3513864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C5ABE-BF9E-001D-EBAF-5DD540BC2175}"/>
              </a:ext>
            </a:extLst>
          </p:cNvPr>
          <p:cNvSpPr>
            <a:spLocks noGrp="1"/>
          </p:cNvSpPr>
          <p:nvPr>
            <p:ph type="title"/>
          </p:nvPr>
        </p:nvSpPr>
        <p:spPr>
          <a:xfrm>
            <a:off x="913795" y="0"/>
            <a:ext cx="10353762" cy="417443"/>
          </a:xfrm>
        </p:spPr>
        <p:txBody>
          <a:bodyPr>
            <a:normAutofit fontScale="90000"/>
          </a:bodyPr>
          <a:lstStyle/>
          <a:p>
            <a:r>
              <a:rPr lang="en-US" sz="2800" b="1">
                <a:solidFill>
                  <a:srgbClr val="FFFF00"/>
                </a:solidFill>
                <a:effectLst/>
              </a:rPr>
              <a:t>TWF</a:t>
            </a:r>
            <a:r>
              <a:rPr lang="en-US" sz="2800" b="1">
                <a:solidFill>
                  <a:srgbClr val="FF0000"/>
                </a:solidFill>
              </a:rPr>
              <a:t>.Flow_Funding_request 1</a:t>
            </a:r>
            <a:endParaRPr lang="en-US" sz="2800" b="1">
              <a:solidFill>
                <a:srgbClr val="FF0000"/>
              </a:solidFill>
              <a:effectLst/>
            </a:endParaRPr>
          </a:p>
        </p:txBody>
      </p:sp>
      <p:sp>
        <p:nvSpPr>
          <p:cNvPr id="3" name="Content Placeholder 2">
            <a:extLst>
              <a:ext uri="{FF2B5EF4-FFF2-40B4-BE49-F238E27FC236}">
                <a16:creationId xmlns:a16="http://schemas.microsoft.com/office/drawing/2014/main" id="{466D83B8-9737-6D50-1A3C-779CBDBDB609}"/>
              </a:ext>
            </a:extLst>
          </p:cNvPr>
          <p:cNvSpPr>
            <a:spLocks noGrp="1"/>
          </p:cNvSpPr>
          <p:nvPr>
            <p:ph idx="1"/>
          </p:nvPr>
        </p:nvSpPr>
        <p:spPr>
          <a:xfrm>
            <a:off x="206476" y="417444"/>
            <a:ext cx="11985523" cy="6440556"/>
          </a:xfrm>
        </p:spPr>
        <p:txBody>
          <a:bodyPr>
            <a:normAutofit/>
          </a:bodyPr>
          <a:lstStyle/>
          <a:p>
            <a:r>
              <a:rPr lang="en-US" sz="1800" b="1">
                <a:solidFill>
                  <a:srgbClr val="FF0000"/>
                </a:solidFill>
              </a:rPr>
              <a:t>decimal</a:t>
            </a:r>
            <a:r>
              <a:rPr lang="en-US" sz="1800"/>
              <a:t> </a:t>
            </a:r>
            <a:r>
              <a:rPr lang="en-US" sz="1800" err="1"/>
              <a:t>Request_id</a:t>
            </a:r>
            <a:endParaRPr lang="en-US" sz="1800"/>
          </a:p>
          <a:p>
            <a:r>
              <a:rPr lang="en-US" sz="1800" b="1">
                <a:solidFill>
                  <a:srgbClr val="FFFF00"/>
                </a:solidFill>
              </a:rPr>
              <a:t>int</a:t>
            </a:r>
            <a:r>
              <a:rPr lang="en-US" sz="1800"/>
              <a:t> BranchId [FK] // the branch that funding request had done from it </a:t>
            </a:r>
          </a:p>
          <a:p>
            <a:r>
              <a:rPr lang="en-US" sz="1800">
                <a:effectLst/>
              </a:rPr>
              <a:t>ComId [FK] // is always 1 because we have only tamweely</a:t>
            </a:r>
          </a:p>
          <a:p>
            <a:r>
              <a:rPr lang="en-US" sz="1800" err="1">
                <a:effectLst/>
              </a:rPr>
              <a:t>product_Id</a:t>
            </a:r>
            <a:r>
              <a:rPr lang="en-US" sz="1800">
                <a:effectLst/>
              </a:rPr>
              <a:t> [FK] [</a:t>
            </a:r>
            <a:r>
              <a:rPr lang="ar-EG" sz="1800">
                <a:effectLst/>
              </a:rPr>
              <a:t>نوع التمويل</a:t>
            </a:r>
            <a:r>
              <a:rPr lang="en-US" sz="1800">
                <a:effectLst/>
              </a:rPr>
              <a:t>]</a:t>
            </a:r>
            <a:endParaRPr lang="ar-EG" sz="1800">
              <a:effectLst/>
            </a:endParaRPr>
          </a:p>
          <a:p>
            <a:r>
              <a:rPr lang="en-US" sz="1800"/>
              <a:t>bool </a:t>
            </a:r>
            <a:r>
              <a:rPr lang="en-US" sz="1800" err="1"/>
              <a:t>Request_</a:t>
            </a:r>
            <a:r>
              <a:rPr lang="en-US" sz="1800"/>
              <a:t>status (IsNew) [1 new , 0 renew ]</a:t>
            </a:r>
            <a:endParaRPr lang="ar-EG" sz="1800"/>
          </a:p>
          <a:p>
            <a:r>
              <a:rPr lang="en-US" sz="1800"/>
              <a:t>decimal </a:t>
            </a:r>
            <a:r>
              <a:rPr lang="en-US" sz="1800" err="1"/>
              <a:t>Customer_ID</a:t>
            </a:r>
            <a:r>
              <a:rPr lang="en-US" sz="1800"/>
              <a:t> [FK] [</a:t>
            </a:r>
            <a:r>
              <a:rPr lang="ar-EG" sz="1800"/>
              <a:t>رقم العميل</a:t>
            </a:r>
            <a:r>
              <a:rPr lang="en-US" sz="1800"/>
              <a:t>]</a:t>
            </a:r>
            <a:endParaRPr lang="ar-EG" sz="1800"/>
          </a:p>
          <a:p>
            <a:r>
              <a:rPr lang="en-US" sz="1800"/>
              <a:t>decimal? </a:t>
            </a:r>
            <a:r>
              <a:rPr lang="en-US" sz="1800" err="1"/>
              <a:t>Enterprise_ID</a:t>
            </a:r>
            <a:r>
              <a:rPr lang="en-US" sz="1800"/>
              <a:t> [FK] [</a:t>
            </a:r>
            <a:r>
              <a:rPr lang="ar-EG" sz="1800"/>
              <a:t>المنشأة</a:t>
            </a:r>
            <a:r>
              <a:rPr lang="en-US" sz="1800"/>
              <a:t>]</a:t>
            </a:r>
            <a:endParaRPr lang="ar-EG" sz="1800"/>
          </a:p>
          <a:p>
            <a:r>
              <a:rPr lang="en-US" sz="1800"/>
              <a:t>decimal </a:t>
            </a:r>
            <a:r>
              <a:rPr lang="en-US" sz="1800" err="1"/>
              <a:t>Required_amount</a:t>
            </a:r>
            <a:r>
              <a:rPr lang="en-US" sz="1800"/>
              <a:t> // </a:t>
            </a:r>
            <a:r>
              <a:rPr lang="ar-EG" sz="1800"/>
              <a:t> المبلغ الذي طلبه العميل</a:t>
            </a:r>
            <a:endParaRPr lang="en-US" sz="1800"/>
          </a:p>
          <a:p>
            <a:pPr marL="36900" indent="0">
              <a:buNone/>
            </a:pPr>
            <a:br>
              <a:rPr lang="en-US">
                <a:effectLst/>
              </a:rPr>
            </a:br>
            <a:endParaRPr lang="en-US">
              <a:effectLst/>
            </a:endParaRPr>
          </a:p>
          <a:p>
            <a:pPr lvl="1"/>
            <a:endParaRPr lang="en-US" sz="1600"/>
          </a:p>
          <a:p>
            <a:endParaRPr lang="en-US" sz="1800"/>
          </a:p>
          <a:p>
            <a:endParaRPr lang="en-US" sz="1800"/>
          </a:p>
          <a:p>
            <a:endParaRPr lang="en-US" sz="1800"/>
          </a:p>
        </p:txBody>
      </p:sp>
      <p:pic>
        <p:nvPicPr>
          <p:cNvPr id="7" name="Picture 6">
            <a:extLst>
              <a:ext uri="{FF2B5EF4-FFF2-40B4-BE49-F238E27FC236}">
                <a16:creationId xmlns:a16="http://schemas.microsoft.com/office/drawing/2014/main" id="{7041B630-D254-6792-325F-0B621F05EB63}"/>
              </a:ext>
            </a:extLst>
          </p:cNvPr>
          <p:cNvPicPr>
            <a:picLocks noChangeAspect="1"/>
          </p:cNvPicPr>
          <p:nvPr/>
        </p:nvPicPr>
        <p:blipFill>
          <a:blip r:embed="rId2"/>
          <a:stretch>
            <a:fillRect/>
          </a:stretch>
        </p:blipFill>
        <p:spPr>
          <a:xfrm>
            <a:off x="3672489" y="3937260"/>
            <a:ext cx="8313035" cy="594100"/>
          </a:xfrm>
          <a:prstGeom prst="rect">
            <a:avLst/>
          </a:prstGeom>
        </p:spPr>
      </p:pic>
    </p:spTree>
    <p:extLst>
      <p:ext uri="{BB962C8B-B14F-4D97-AF65-F5344CB8AC3E}">
        <p14:creationId xmlns:p14="http://schemas.microsoft.com/office/powerpoint/2010/main" val="153500604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564C4-F863-7A31-B699-66A559808C11}"/>
              </a:ext>
            </a:extLst>
          </p:cNvPr>
          <p:cNvSpPr>
            <a:spLocks noGrp="1"/>
          </p:cNvSpPr>
          <p:nvPr>
            <p:ph type="title"/>
          </p:nvPr>
        </p:nvSpPr>
        <p:spPr>
          <a:xfrm>
            <a:off x="919119" y="0"/>
            <a:ext cx="10353762" cy="511277"/>
          </a:xfrm>
        </p:spPr>
        <p:txBody>
          <a:bodyPr>
            <a:normAutofit fontScale="90000"/>
          </a:bodyPr>
          <a:lstStyle/>
          <a:p>
            <a:r>
              <a:rPr lang="en-US" sz="3200" b="1">
                <a:solidFill>
                  <a:srgbClr val="FFFF00"/>
                </a:solidFill>
                <a:effectLst/>
              </a:rPr>
              <a:t>TWF</a:t>
            </a:r>
            <a:r>
              <a:rPr lang="en-US" sz="3200" b="1">
                <a:solidFill>
                  <a:srgbClr val="FF0000"/>
                </a:solidFill>
              </a:rPr>
              <a:t>.Flow_Funding_request [cont. 2]</a:t>
            </a:r>
            <a:endParaRPr lang="en-US" sz="3200"/>
          </a:p>
        </p:txBody>
      </p:sp>
      <p:sp>
        <p:nvSpPr>
          <p:cNvPr id="3" name="Content Placeholder 2">
            <a:extLst>
              <a:ext uri="{FF2B5EF4-FFF2-40B4-BE49-F238E27FC236}">
                <a16:creationId xmlns:a16="http://schemas.microsoft.com/office/drawing/2014/main" id="{F544E1B6-35EF-A2D0-DB73-3E12457B381D}"/>
              </a:ext>
            </a:extLst>
          </p:cNvPr>
          <p:cNvSpPr>
            <a:spLocks noGrp="1"/>
          </p:cNvSpPr>
          <p:nvPr>
            <p:ph idx="1"/>
          </p:nvPr>
        </p:nvSpPr>
        <p:spPr>
          <a:xfrm>
            <a:off x="0" y="511276"/>
            <a:ext cx="12192000" cy="6346723"/>
          </a:xfrm>
        </p:spPr>
        <p:txBody>
          <a:bodyPr>
            <a:normAutofit/>
          </a:bodyPr>
          <a:lstStyle/>
          <a:p>
            <a:r>
              <a:rPr lang="en-US" sz="1800"/>
              <a:t>decimal </a:t>
            </a:r>
            <a:r>
              <a:rPr lang="en-US" sz="1800" b="1">
                <a:solidFill>
                  <a:srgbClr val="FFFF00"/>
                </a:solidFill>
              </a:rPr>
              <a:t>Financing_amount</a:t>
            </a:r>
            <a:r>
              <a:rPr lang="en-US" sz="1800"/>
              <a:t> //</a:t>
            </a:r>
          </a:p>
          <a:p>
            <a:pPr lvl="1"/>
            <a:r>
              <a:rPr lang="en-US" sz="1700">
                <a:effectLst/>
              </a:rPr>
              <a:t>FinanceAmountBeforeApproximations=	Math.floor((Financing_amount*(1+this.ProductLayer.Ramping_Ratio/100))+this.ProductLayer.Ramping_Amount)</a:t>
            </a:r>
          </a:p>
          <a:p>
            <a:pPr lvl="1"/>
            <a:r>
              <a:rPr lang="en-US">
                <a:effectLst/>
              </a:rPr>
              <a:t>Financing_amount = </a:t>
            </a:r>
            <a:r>
              <a:rPr lang="en-US" sz="1600">
                <a:effectLst/>
              </a:rPr>
              <a:t>Math.ceil(FinanceAmountBeforeApproximations/this.FinanceAmount_Approximation)*this.FinanceAmount_Approximation; </a:t>
            </a:r>
          </a:p>
          <a:p>
            <a:pPr lvl="1"/>
            <a:r>
              <a:rPr lang="en-US">
                <a:effectLst/>
              </a:rPr>
              <a:t>FinanceAmount_Approximation // coming from general setting</a:t>
            </a:r>
            <a:endParaRPr lang="en-US"/>
          </a:p>
          <a:p>
            <a:r>
              <a:rPr lang="en-US"/>
              <a:t>int Actual_financing // </a:t>
            </a:r>
            <a:r>
              <a:rPr lang="ar-EG"/>
              <a:t>المبلغ الذي سوف يقوم العميل بتقسيطه</a:t>
            </a:r>
          </a:p>
          <a:p>
            <a:r>
              <a:rPr lang="en-US"/>
              <a:t>int Repayment period // </a:t>
            </a:r>
            <a:r>
              <a:rPr lang="ar-EG"/>
              <a:t>عدد الاقساط</a:t>
            </a:r>
            <a:endParaRPr lang="en-US"/>
          </a:p>
          <a:p>
            <a:r>
              <a:rPr lang="en-US"/>
              <a:t>purpose_Id [FK] // </a:t>
            </a:r>
            <a:r>
              <a:rPr lang="ar-EG"/>
              <a:t>الهدف من التمويل</a:t>
            </a:r>
            <a:endParaRPr lang="en-US"/>
          </a:p>
          <a:p>
            <a:pPr lvl="1"/>
            <a:r>
              <a:rPr lang="en-US"/>
              <a:t>1 : </a:t>
            </a:r>
            <a:r>
              <a:rPr lang="ar-EG"/>
              <a:t>تمويل رأس مال عامل</a:t>
            </a:r>
            <a:endParaRPr lang="en-US"/>
          </a:p>
          <a:p>
            <a:pPr lvl="1"/>
            <a:r>
              <a:rPr lang="en-US"/>
              <a:t>2: </a:t>
            </a:r>
            <a:r>
              <a:rPr lang="ar-EG"/>
              <a:t>تمويل أدوات إنتاج</a:t>
            </a:r>
            <a:endParaRPr lang="en-US"/>
          </a:p>
          <a:p>
            <a:pPr lvl="1"/>
            <a:r>
              <a:rPr lang="en-US"/>
              <a:t>3: </a:t>
            </a:r>
            <a:r>
              <a:rPr lang="ar-EG"/>
              <a:t>تمويل إحلال وتجديد</a:t>
            </a:r>
            <a:endParaRPr lang="en-US"/>
          </a:p>
          <a:p>
            <a:r>
              <a:rPr lang="en-US"/>
              <a:t>int status_code </a:t>
            </a:r>
            <a:r>
              <a:rPr lang="en-US" b="1">
                <a:solidFill>
                  <a:srgbClr val="FFFF00"/>
                </a:solidFill>
              </a:rPr>
              <a:t>[FK]</a:t>
            </a:r>
            <a:r>
              <a:rPr lang="en-US"/>
              <a:t> // [from Flow_status]</a:t>
            </a:r>
          </a:p>
          <a:p>
            <a:pPr lvl="1"/>
            <a:r>
              <a:rPr lang="en-US"/>
              <a:t>0 : </a:t>
            </a:r>
            <a:r>
              <a:rPr lang="ar-EG"/>
              <a:t>الطلب عند مسؤول التمويل</a:t>
            </a:r>
            <a:endParaRPr lang="en-US"/>
          </a:p>
          <a:p>
            <a:pPr lvl="1"/>
            <a:r>
              <a:rPr lang="en-US"/>
              <a:t>50: </a:t>
            </a:r>
            <a:r>
              <a:rPr lang="ar-EG"/>
              <a:t>اغلاق التمويل</a:t>
            </a:r>
          </a:p>
          <a:p>
            <a:r>
              <a:rPr lang="en-US"/>
              <a:t>DateTime Creation_Data</a:t>
            </a:r>
            <a:endParaRPr lang="ar-EG"/>
          </a:p>
        </p:txBody>
      </p:sp>
      <p:pic>
        <p:nvPicPr>
          <p:cNvPr id="5" name="Picture 4">
            <a:extLst>
              <a:ext uri="{FF2B5EF4-FFF2-40B4-BE49-F238E27FC236}">
                <a16:creationId xmlns:a16="http://schemas.microsoft.com/office/drawing/2014/main" id="{C72AC027-ABDB-4673-3C64-162CD207DE21}"/>
              </a:ext>
            </a:extLst>
          </p:cNvPr>
          <p:cNvPicPr>
            <a:picLocks noChangeAspect="1"/>
          </p:cNvPicPr>
          <p:nvPr/>
        </p:nvPicPr>
        <p:blipFill>
          <a:blip r:embed="rId2"/>
          <a:stretch>
            <a:fillRect/>
          </a:stretch>
        </p:blipFill>
        <p:spPr>
          <a:xfrm>
            <a:off x="4743648" y="3429000"/>
            <a:ext cx="7303482" cy="477279"/>
          </a:xfrm>
          <a:prstGeom prst="rect">
            <a:avLst/>
          </a:prstGeom>
        </p:spPr>
      </p:pic>
      <p:pic>
        <p:nvPicPr>
          <p:cNvPr id="7" name="Picture 6">
            <a:extLst>
              <a:ext uri="{FF2B5EF4-FFF2-40B4-BE49-F238E27FC236}">
                <a16:creationId xmlns:a16="http://schemas.microsoft.com/office/drawing/2014/main" id="{A098AF7A-963B-7C12-3F55-959980149A58}"/>
              </a:ext>
            </a:extLst>
          </p:cNvPr>
          <p:cNvPicPr>
            <a:picLocks noChangeAspect="1"/>
          </p:cNvPicPr>
          <p:nvPr/>
        </p:nvPicPr>
        <p:blipFill>
          <a:blip r:embed="rId3"/>
          <a:stretch>
            <a:fillRect/>
          </a:stretch>
        </p:blipFill>
        <p:spPr>
          <a:xfrm>
            <a:off x="4743648" y="4224331"/>
            <a:ext cx="7303482" cy="477278"/>
          </a:xfrm>
          <a:prstGeom prst="rect">
            <a:avLst/>
          </a:prstGeom>
        </p:spPr>
      </p:pic>
    </p:spTree>
    <p:extLst>
      <p:ext uri="{BB962C8B-B14F-4D97-AF65-F5344CB8AC3E}">
        <p14:creationId xmlns:p14="http://schemas.microsoft.com/office/powerpoint/2010/main" val="10384465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6A461-930C-DBFD-5099-1D67067ACDE7}"/>
              </a:ext>
            </a:extLst>
          </p:cNvPr>
          <p:cNvSpPr>
            <a:spLocks noGrp="1"/>
          </p:cNvSpPr>
          <p:nvPr>
            <p:ph type="title"/>
          </p:nvPr>
        </p:nvSpPr>
        <p:spPr>
          <a:xfrm>
            <a:off x="913795" y="0"/>
            <a:ext cx="10353762" cy="550606"/>
          </a:xfrm>
        </p:spPr>
        <p:txBody>
          <a:bodyPr>
            <a:normAutofit/>
          </a:bodyPr>
          <a:lstStyle/>
          <a:p>
            <a:r>
              <a:rPr lang="en-US" sz="2800" b="1">
                <a:solidFill>
                  <a:srgbClr val="FFFF00"/>
                </a:solidFill>
                <a:effectLst/>
              </a:rPr>
              <a:t>TWF</a:t>
            </a:r>
            <a:r>
              <a:rPr lang="en-US" sz="2800" b="1">
                <a:solidFill>
                  <a:srgbClr val="FF0000"/>
                </a:solidFill>
              </a:rPr>
              <a:t>.Flow_Funding_request [cont. 3]</a:t>
            </a:r>
            <a:endParaRPr lang="en-US" sz="2800"/>
          </a:p>
        </p:txBody>
      </p:sp>
      <p:sp>
        <p:nvSpPr>
          <p:cNvPr id="3" name="Content Placeholder 2">
            <a:extLst>
              <a:ext uri="{FF2B5EF4-FFF2-40B4-BE49-F238E27FC236}">
                <a16:creationId xmlns:a16="http://schemas.microsoft.com/office/drawing/2014/main" id="{4DAEF54E-1369-44D7-AF28-AE5CD2599DDD}"/>
              </a:ext>
            </a:extLst>
          </p:cNvPr>
          <p:cNvSpPr>
            <a:spLocks noGrp="1"/>
          </p:cNvSpPr>
          <p:nvPr>
            <p:ph idx="1"/>
          </p:nvPr>
        </p:nvSpPr>
        <p:spPr>
          <a:xfrm>
            <a:off x="79513" y="550606"/>
            <a:ext cx="12112487" cy="6307394"/>
          </a:xfrm>
        </p:spPr>
        <p:txBody>
          <a:bodyPr>
            <a:normAutofit/>
          </a:bodyPr>
          <a:lstStyle/>
          <a:p>
            <a:r>
              <a:rPr lang="en-US"/>
              <a:t>String </a:t>
            </a:r>
            <a:r>
              <a:rPr lang="en-US" err="1"/>
              <a:t>Account_Code</a:t>
            </a:r>
            <a:r>
              <a:rPr lang="en-US"/>
              <a:t> : </a:t>
            </a:r>
            <a:r>
              <a:rPr lang="ar-EG">
                <a:effectLst/>
              </a:rPr>
              <a:t>يتم الاضافه وقت صرف التمويل</a:t>
            </a:r>
          </a:p>
          <a:p>
            <a:pPr lvl="1"/>
            <a:r>
              <a:rPr lang="en-US" b="1">
                <a:solidFill>
                  <a:srgbClr val="00B050"/>
                </a:solidFill>
              </a:rPr>
              <a:t>It is added </a:t>
            </a:r>
            <a:r>
              <a:rPr lang="en-US" b="1">
                <a:solidFill>
                  <a:srgbClr val="00B050"/>
                </a:solidFill>
                <a:effectLst/>
              </a:rPr>
              <a:t>upon Disbursement</a:t>
            </a:r>
            <a:endParaRPr lang="en-US">
              <a:effectLst/>
            </a:endParaRPr>
          </a:p>
          <a:p>
            <a:pPr lvl="1"/>
            <a:r>
              <a:rPr lang="ar-EG">
                <a:effectLst/>
              </a:rPr>
              <a:t>, رقم حساب الدفعات المقدمة الخاصة بالعميل وده اللى من خلاله العميل بيدفع المصاريف الادارية او الدفعة الاولى او التأمين او العمولة</a:t>
            </a:r>
          </a:p>
          <a:p>
            <a:r>
              <a:rPr lang="en-US">
                <a:effectLst/>
              </a:rPr>
              <a:t>int DEBTNO	  // </a:t>
            </a:r>
            <a:r>
              <a:rPr lang="ar-EG">
                <a:effectLst/>
              </a:rPr>
              <a:t>العميل الواحد قد يكون لديه اكثر من قرض فى نفس الوقت فهذا التسلسل الذي يفرق بين القرض الاول والثانى</a:t>
            </a:r>
          </a:p>
          <a:p>
            <a:pPr lvl="1"/>
            <a:r>
              <a:rPr lang="ar-EG">
                <a:effectLst/>
              </a:rPr>
              <a:t>عدد القروض بالنسبه للعميل هذا لان العميل ممكن يأخذ اكثر من قرض ففي كل مره يأخذ فيها العميل قرض يتم مضاعفة الرقم الموجود في هذا الحقل بمعنى أوضح العميل اخذ اول قرض من الشركة يوضع في هذا الحقل رقم 1  واذا قام بسداد القرض واخذ قرض اخر يتم وضع في هذا الحقل 2 وهكذه</a:t>
            </a:r>
            <a:endParaRPr lang="en-US">
              <a:effectLst/>
            </a:endParaRPr>
          </a:p>
          <a:p>
            <a:r>
              <a:rPr lang="en-US">
                <a:effectLst/>
              </a:rPr>
              <a:t>int </a:t>
            </a:r>
            <a:r>
              <a:rPr lang="en-US" err="1"/>
              <a:t>Layer_code</a:t>
            </a:r>
            <a:r>
              <a:rPr lang="en-US"/>
              <a:t> : </a:t>
            </a:r>
            <a:r>
              <a:rPr lang="ar-EG"/>
              <a:t>شريحة القرض</a:t>
            </a:r>
            <a:endParaRPr lang="en-US"/>
          </a:p>
          <a:p>
            <a:pPr lvl="1"/>
            <a:r>
              <a:rPr lang="en-US">
                <a:effectLst/>
              </a:rPr>
              <a:t>obtained through a inquiry within the table </a:t>
            </a:r>
            <a:r>
              <a:rPr lang="en-US" err="1">
                <a:effectLst/>
              </a:rPr>
              <a:t>Flow_Products</a:t>
            </a:r>
            <a:r>
              <a:rPr lang="en-US">
                <a:effectLst/>
              </a:rPr>
              <a:t>.</a:t>
            </a:r>
          </a:p>
          <a:p>
            <a:r>
              <a:rPr lang="en-US">
                <a:effectLst/>
              </a:rPr>
              <a:t> </a:t>
            </a:r>
            <a:r>
              <a:rPr lang="en-US" sz="1800">
                <a:effectLst/>
              </a:rPr>
              <a:t>decimal? </a:t>
            </a:r>
            <a:r>
              <a:rPr lang="en-US" sz="1800"/>
              <a:t>DEBT_VALUE</a:t>
            </a:r>
            <a:endParaRPr lang="ar-EG" sz="1800"/>
          </a:p>
          <a:p>
            <a:pPr lvl="1"/>
            <a:r>
              <a:rPr lang="en-US" b="1">
                <a:solidFill>
                  <a:srgbClr val="00B050"/>
                </a:solidFill>
              </a:rPr>
              <a:t>It is added </a:t>
            </a:r>
            <a:r>
              <a:rPr lang="en-US" b="1">
                <a:solidFill>
                  <a:srgbClr val="00B050"/>
                </a:solidFill>
                <a:effectLst/>
              </a:rPr>
              <a:t>upon Disbursement</a:t>
            </a:r>
            <a:endParaRPr lang="ar-EG"/>
          </a:p>
          <a:p>
            <a:pPr lvl="1"/>
            <a:r>
              <a:rPr lang="en-US" sz="1750">
                <a:effectLst/>
              </a:rPr>
              <a:t>its value = </a:t>
            </a:r>
            <a:r>
              <a:rPr lang="ar-EG" sz="1750">
                <a:effectLst/>
              </a:rPr>
              <a:t>أصل مبلغ القرض الذي وافق عليه البنك</a:t>
            </a:r>
            <a:r>
              <a:rPr lang="en-US" sz="1750">
                <a:effectLst/>
              </a:rPr>
              <a:t> + </a:t>
            </a:r>
            <a:r>
              <a:rPr lang="ar-EG" sz="1750">
                <a:effectLst/>
              </a:rPr>
              <a:t>المصاريف الإدارية التي تضاف على القرض</a:t>
            </a:r>
            <a:endParaRPr lang="en-US" sz="1750">
              <a:effectLst/>
            </a:endParaRPr>
          </a:p>
          <a:p>
            <a:pPr lvl="1"/>
            <a:r>
              <a:rPr lang="ar-EG">
                <a:effectLst/>
              </a:rPr>
              <a:t>قيمة متناقصة مع السداد ويتم الانقاص من هذا المبلغ مع سداد كل قسط للعميل</a:t>
            </a:r>
          </a:p>
          <a:p>
            <a:r>
              <a:rPr lang="en-US" sz="1800">
                <a:effectLst/>
              </a:rPr>
              <a:t>decimal? </a:t>
            </a:r>
            <a:r>
              <a:rPr lang="en-US" sz="1800"/>
              <a:t>PRIMIUM_VALUE : </a:t>
            </a:r>
            <a:r>
              <a:rPr lang="ar-EG" sz="1800"/>
              <a:t>مبلغ القسط</a:t>
            </a:r>
          </a:p>
          <a:p>
            <a:pPr lvl="1"/>
            <a:r>
              <a:rPr lang="en-US" b="1">
                <a:solidFill>
                  <a:srgbClr val="00B050"/>
                </a:solidFill>
              </a:rPr>
              <a:t>It is added upon Disbursement</a:t>
            </a:r>
            <a:endParaRPr lang="ar-EG" b="1">
              <a:solidFill>
                <a:srgbClr val="00B050"/>
              </a:solidFill>
            </a:endParaRPr>
          </a:p>
          <a:p>
            <a:pPr lvl="1"/>
            <a:r>
              <a:rPr lang="ar-EG">
                <a:effectLst/>
              </a:rPr>
              <a:t>ويكون المصدر من مرحلة الزيارة الميدانية ويكون من خلال حقل قيمة القسط الموجود على شاشة الزيارة الميدانية</a:t>
            </a:r>
            <a:endParaRPr lang="en-US">
              <a:effectLst/>
            </a:endParaRPr>
          </a:p>
        </p:txBody>
      </p:sp>
      <p:pic>
        <p:nvPicPr>
          <p:cNvPr id="8" name="Picture 7">
            <a:extLst>
              <a:ext uri="{FF2B5EF4-FFF2-40B4-BE49-F238E27FC236}">
                <a16:creationId xmlns:a16="http://schemas.microsoft.com/office/drawing/2014/main" id="{A9255937-E1B1-3806-337B-ACC54810377A}"/>
              </a:ext>
            </a:extLst>
          </p:cNvPr>
          <p:cNvPicPr>
            <a:picLocks noChangeAspect="1"/>
          </p:cNvPicPr>
          <p:nvPr/>
        </p:nvPicPr>
        <p:blipFill>
          <a:blip r:embed="rId2"/>
          <a:stretch>
            <a:fillRect/>
          </a:stretch>
        </p:blipFill>
        <p:spPr>
          <a:xfrm>
            <a:off x="5214663" y="3865313"/>
            <a:ext cx="6215337" cy="537721"/>
          </a:xfrm>
          <a:prstGeom prst="rect">
            <a:avLst/>
          </a:prstGeom>
        </p:spPr>
      </p:pic>
    </p:spTree>
    <p:extLst>
      <p:ext uri="{BB962C8B-B14F-4D97-AF65-F5344CB8AC3E}">
        <p14:creationId xmlns:p14="http://schemas.microsoft.com/office/powerpoint/2010/main" val="41737584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9DBB5-DC4F-8BAE-D69E-2EAD6F1EA40F}"/>
              </a:ext>
            </a:extLst>
          </p:cNvPr>
          <p:cNvSpPr>
            <a:spLocks noGrp="1"/>
          </p:cNvSpPr>
          <p:nvPr>
            <p:ph type="title"/>
          </p:nvPr>
        </p:nvSpPr>
        <p:spPr>
          <a:xfrm>
            <a:off x="1003247" y="0"/>
            <a:ext cx="10353762" cy="576470"/>
          </a:xfrm>
        </p:spPr>
        <p:txBody>
          <a:bodyPr>
            <a:normAutofit fontScale="90000"/>
          </a:bodyPr>
          <a:lstStyle/>
          <a:p>
            <a:r>
              <a:rPr lang="en-US" b="1">
                <a:solidFill>
                  <a:srgbClr val="FFFF00"/>
                </a:solidFill>
                <a:effectLst/>
              </a:rPr>
              <a:t>TWF</a:t>
            </a:r>
            <a:r>
              <a:rPr lang="en-US" b="1">
                <a:solidFill>
                  <a:srgbClr val="FF0000"/>
                </a:solidFill>
              </a:rPr>
              <a:t>.Flow_Funding_request [cont. 3]</a:t>
            </a:r>
            <a:endParaRPr lang="en-US"/>
          </a:p>
        </p:txBody>
      </p:sp>
      <p:sp>
        <p:nvSpPr>
          <p:cNvPr id="3" name="Content Placeholder 2">
            <a:extLst>
              <a:ext uri="{FF2B5EF4-FFF2-40B4-BE49-F238E27FC236}">
                <a16:creationId xmlns:a16="http://schemas.microsoft.com/office/drawing/2014/main" id="{EFF156A1-44BA-C0B3-7F82-26C14420681F}"/>
              </a:ext>
            </a:extLst>
          </p:cNvPr>
          <p:cNvSpPr>
            <a:spLocks noGrp="1"/>
          </p:cNvSpPr>
          <p:nvPr>
            <p:ph idx="1"/>
          </p:nvPr>
        </p:nvSpPr>
        <p:spPr>
          <a:xfrm>
            <a:off x="228600" y="576471"/>
            <a:ext cx="11767930" cy="6132442"/>
          </a:xfrm>
        </p:spPr>
        <p:txBody>
          <a:bodyPr/>
          <a:lstStyle/>
          <a:p>
            <a:r>
              <a:rPr lang="en-US">
                <a:effectLst/>
              </a:rPr>
              <a:t>FRC_Id:  its table is </a:t>
            </a:r>
            <a:r>
              <a:rPr lang="en-US"/>
              <a:t>Flow_repayment_cycle</a:t>
            </a:r>
          </a:p>
          <a:p>
            <a:r>
              <a:rPr lang="en-US" sz="1800"/>
              <a:t>F_PRIMIUM_DATE : </a:t>
            </a:r>
            <a:r>
              <a:rPr lang="ar-EG" sz="1800"/>
              <a:t>تاريخ اول قسط</a:t>
            </a:r>
            <a:endParaRPr lang="en-US" sz="1800"/>
          </a:p>
          <a:p>
            <a:pPr lvl="1"/>
            <a:r>
              <a:rPr lang="en-US" sz="1900" b="1">
                <a:solidFill>
                  <a:srgbClr val="00B050"/>
                </a:solidFill>
              </a:rPr>
              <a:t>Addded upon disbursement</a:t>
            </a:r>
          </a:p>
          <a:p>
            <a:pPr lvl="1"/>
            <a:r>
              <a:rPr lang="ar-EG"/>
              <a:t>ويتم تحديد تاريخ اول قسط من خلال معرفة نوع المنتج ودورية السداد المرتبطه به ولو هو شهر مثلا نقوم بإضافة </a:t>
            </a:r>
            <a:r>
              <a:rPr lang="ar-EG" b="1">
                <a:solidFill>
                  <a:srgbClr val="00B0F0"/>
                </a:solidFill>
              </a:rPr>
              <a:t>التاريخ شهر زيادة من تاريخ الصرف</a:t>
            </a:r>
            <a:r>
              <a:rPr lang="ar-EG"/>
              <a:t> وهكذه في لو أسبوع او نصف شهر وهكذه</a:t>
            </a:r>
            <a:endParaRPr lang="en-US"/>
          </a:p>
          <a:p>
            <a:r>
              <a:rPr lang="en-US" sz="1800"/>
              <a:t>L_PRIMIUM_DATE</a:t>
            </a:r>
          </a:p>
          <a:p>
            <a:pPr lvl="1"/>
            <a:r>
              <a:rPr lang="en-US" sz="1900" b="1">
                <a:solidFill>
                  <a:srgbClr val="00B050"/>
                </a:solidFill>
              </a:rPr>
              <a:t>Addded upon disbursement</a:t>
            </a:r>
          </a:p>
          <a:p>
            <a:pPr lvl="1"/>
            <a:r>
              <a:rPr lang="ar-EG"/>
              <a:t>ويتم تحديد تاريخ اخر قسط من خلال عدد الأشهر المحدد من قبل الزيارة الميدنية</a:t>
            </a:r>
            <a:endParaRPr lang="en-US"/>
          </a:p>
          <a:p>
            <a:r>
              <a:rPr lang="en-US" sz="1800"/>
              <a:t>DateTime  BUSDATE : </a:t>
            </a:r>
            <a:r>
              <a:rPr lang="ar-EG" sz="1800"/>
              <a:t>تاريخ الصرف</a:t>
            </a:r>
          </a:p>
          <a:p>
            <a:r>
              <a:rPr lang="en-US" sz="1800"/>
              <a:t>EXPDATE</a:t>
            </a:r>
            <a:r>
              <a:rPr lang="ar-EG" sz="1800"/>
              <a:t> </a:t>
            </a:r>
            <a:r>
              <a:rPr lang="en-US" sz="1800"/>
              <a:t> :  </a:t>
            </a:r>
            <a:r>
              <a:rPr lang="ar-EG" sz="1800"/>
              <a:t>تاريخ انتهاء القرض</a:t>
            </a:r>
            <a:endParaRPr lang="en-US" sz="1800"/>
          </a:p>
          <a:p>
            <a:pPr lvl="1"/>
            <a:r>
              <a:rPr lang="en-US" sz="1900" b="1">
                <a:solidFill>
                  <a:srgbClr val="00B050"/>
                </a:solidFill>
              </a:rPr>
              <a:t>Addded upon disbursement</a:t>
            </a:r>
            <a:endParaRPr lang="ar-EG" sz="1600"/>
          </a:p>
          <a:p>
            <a:pPr lvl="1"/>
            <a:r>
              <a:rPr lang="ar-EG"/>
              <a:t>ويتم تحديد تاريخ انتهاء القرض من خلال عدد الأشهر المحدد من قبل الزيارة الميدنية</a:t>
            </a:r>
          </a:p>
          <a:p>
            <a:pPr lvl="1"/>
            <a:r>
              <a:rPr lang="ar-EG"/>
              <a:t>ويتم التحديث على هذا التاريخ اذا تم السداد قبل انتهار التمويل مثلا اذا سدد سداد معجل</a:t>
            </a:r>
          </a:p>
          <a:p>
            <a:endParaRPr lang="en-US"/>
          </a:p>
        </p:txBody>
      </p:sp>
      <p:pic>
        <p:nvPicPr>
          <p:cNvPr id="5" name="Picture 4">
            <a:extLst>
              <a:ext uri="{FF2B5EF4-FFF2-40B4-BE49-F238E27FC236}">
                <a16:creationId xmlns:a16="http://schemas.microsoft.com/office/drawing/2014/main" id="{0B7D0BBA-3160-ADB4-0E23-67572344D07F}"/>
              </a:ext>
            </a:extLst>
          </p:cNvPr>
          <p:cNvPicPr>
            <a:picLocks noChangeAspect="1"/>
          </p:cNvPicPr>
          <p:nvPr/>
        </p:nvPicPr>
        <p:blipFill>
          <a:blip r:embed="rId2"/>
          <a:stretch>
            <a:fillRect/>
          </a:stretch>
        </p:blipFill>
        <p:spPr>
          <a:xfrm>
            <a:off x="4549249" y="3861503"/>
            <a:ext cx="7642751" cy="489045"/>
          </a:xfrm>
          <a:prstGeom prst="rect">
            <a:avLst/>
          </a:prstGeom>
        </p:spPr>
      </p:pic>
    </p:spTree>
    <p:extLst>
      <p:ext uri="{BB962C8B-B14F-4D97-AF65-F5344CB8AC3E}">
        <p14:creationId xmlns:p14="http://schemas.microsoft.com/office/powerpoint/2010/main" val="140049484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5B4D-5FEA-2016-0B84-B9424D8E1268}"/>
              </a:ext>
            </a:extLst>
          </p:cNvPr>
          <p:cNvSpPr>
            <a:spLocks noGrp="1"/>
          </p:cNvSpPr>
          <p:nvPr>
            <p:ph type="title"/>
          </p:nvPr>
        </p:nvSpPr>
        <p:spPr>
          <a:xfrm>
            <a:off x="521110" y="0"/>
            <a:ext cx="10893931" cy="442452"/>
          </a:xfrm>
        </p:spPr>
        <p:txBody>
          <a:bodyPr>
            <a:noAutofit/>
          </a:bodyPr>
          <a:lstStyle/>
          <a:p>
            <a:r>
              <a:rPr lang="en-US" sz="3200" b="1">
                <a:solidFill>
                  <a:srgbClr val="FFFF00"/>
                </a:solidFill>
                <a:effectLst/>
              </a:rPr>
              <a:t>TWF</a:t>
            </a:r>
            <a:r>
              <a:rPr lang="en-US" sz="3200" b="1">
                <a:solidFill>
                  <a:srgbClr val="FF0000"/>
                </a:solidFill>
              </a:rPr>
              <a:t>.Flow_Funding_request [cont.]</a:t>
            </a:r>
            <a:endParaRPr lang="en-US" sz="3200"/>
          </a:p>
        </p:txBody>
      </p:sp>
      <p:sp>
        <p:nvSpPr>
          <p:cNvPr id="3" name="Content Placeholder 2">
            <a:extLst>
              <a:ext uri="{FF2B5EF4-FFF2-40B4-BE49-F238E27FC236}">
                <a16:creationId xmlns:a16="http://schemas.microsoft.com/office/drawing/2014/main" id="{5AC57097-1A77-E325-EF9A-CFD5C0B7B27A}"/>
              </a:ext>
            </a:extLst>
          </p:cNvPr>
          <p:cNvSpPr>
            <a:spLocks noGrp="1"/>
          </p:cNvSpPr>
          <p:nvPr>
            <p:ph idx="1"/>
          </p:nvPr>
        </p:nvSpPr>
        <p:spPr>
          <a:xfrm>
            <a:off x="167148" y="589935"/>
            <a:ext cx="11867536" cy="6164826"/>
          </a:xfrm>
        </p:spPr>
        <p:txBody>
          <a:bodyPr>
            <a:normAutofit/>
          </a:bodyPr>
          <a:lstStyle/>
          <a:p>
            <a:r>
              <a:rPr lang="en-US" sz="1800"/>
              <a:t>Curr</a:t>
            </a:r>
            <a:r>
              <a:rPr lang="en-US" sz="1800" err="1"/>
              <a:t>_code</a:t>
            </a:r>
            <a:r>
              <a:rPr lang="en-US" sz="1800"/>
              <a:t>: [FK]  </a:t>
            </a:r>
            <a:r>
              <a:rPr lang="ar-EG" sz="1800"/>
              <a:t>العملة</a:t>
            </a:r>
            <a:endParaRPr lang="en-US" sz="1800"/>
          </a:p>
          <a:p>
            <a:r>
              <a:rPr lang="en-US" sz="1800"/>
              <a:t>decimal? Rate: </a:t>
            </a:r>
            <a:r>
              <a:rPr lang="ar-EG" sz="1800"/>
              <a:t>سعر الفائدة الذي سيتم تطبيقه على مبلغ التمويل</a:t>
            </a:r>
            <a:endParaRPr lang="en-US" sz="1800"/>
          </a:p>
          <a:p>
            <a:r>
              <a:rPr lang="en-US" sz="1800"/>
              <a:t>decimal? COM_RAT : </a:t>
            </a:r>
            <a:r>
              <a:rPr lang="ar-EG" sz="1800"/>
              <a:t>هي مبلغ مقطوع للمصاريف الادارية يتم استقطاعها مرة واحدة فقط عند بداية منح القرض أو التعلية</a:t>
            </a:r>
            <a:r>
              <a:rPr lang="en-US" sz="1800"/>
              <a:t> </a:t>
            </a:r>
            <a:endParaRPr lang="ar-EG" sz="1800"/>
          </a:p>
          <a:p>
            <a:r>
              <a:rPr lang="en-US" sz="1800"/>
              <a:t>APP_FEE: </a:t>
            </a:r>
            <a:r>
              <a:rPr lang="ar-EG" sz="1800"/>
              <a:t>عمولة الطلب  وهى رسوم غير مستردة لانها تغطى تكلفة مراجعة الاوراق والاستعلام الائتماني ايز كور</a:t>
            </a:r>
          </a:p>
          <a:p>
            <a:r>
              <a:rPr lang="en-US"/>
              <a:t>int? </a:t>
            </a:r>
            <a:r>
              <a:rPr lang="en-US" err="1"/>
              <a:t>bank_code</a:t>
            </a:r>
            <a:r>
              <a:rPr lang="ar-EG"/>
              <a:t>: </a:t>
            </a:r>
            <a:r>
              <a:rPr lang="en-US"/>
              <a:t> [FK]: </a:t>
            </a:r>
            <a:r>
              <a:rPr lang="ar-EG">
                <a:effectLst/>
              </a:rPr>
              <a:t>المعرّف الفريد للبنك</a:t>
            </a:r>
            <a:endParaRPr lang="en-US" sz="1600"/>
          </a:p>
        </p:txBody>
      </p:sp>
    </p:spTree>
    <p:extLst>
      <p:ext uri="{BB962C8B-B14F-4D97-AF65-F5344CB8AC3E}">
        <p14:creationId xmlns:p14="http://schemas.microsoft.com/office/powerpoint/2010/main" val="418324432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60A8C-DE11-C2D1-F442-EDB1FCABCB17}"/>
              </a:ext>
            </a:extLst>
          </p:cNvPr>
          <p:cNvSpPr>
            <a:spLocks noGrp="1"/>
          </p:cNvSpPr>
          <p:nvPr>
            <p:ph type="title"/>
          </p:nvPr>
        </p:nvSpPr>
        <p:spPr>
          <a:xfrm>
            <a:off x="815473" y="0"/>
            <a:ext cx="10353762" cy="511277"/>
          </a:xfrm>
        </p:spPr>
        <p:txBody>
          <a:bodyPr>
            <a:noAutofit/>
          </a:bodyPr>
          <a:lstStyle/>
          <a:p>
            <a:r>
              <a:rPr lang="en-US" sz="2800" b="1">
                <a:solidFill>
                  <a:srgbClr val="FFFF00"/>
                </a:solidFill>
                <a:effectLst/>
              </a:rPr>
              <a:t>TWF</a:t>
            </a:r>
            <a:r>
              <a:rPr lang="en-US" sz="2800" b="1">
                <a:solidFill>
                  <a:srgbClr val="FF0000"/>
                </a:solidFill>
              </a:rPr>
              <a:t>.Flow_Funding_request [cont.]</a:t>
            </a:r>
            <a:endParaRPr lang="en-US" sz="2800"/>
          </a:p>
        </p:txBody>
      </p:sp>
      <p:sp>
        <p:nvSpPr>
          <p:cNvPr id="3" name="Content Placeholder 2">
            <a:extLst>
              <a:ext uri="{FF2B5EF4-FFF2-40B4-BE49-F238E27FC236}">
                <a16:creationId xmlns:a16="http://schemas.microsoft.com/office/drawing/2014/main" id="{A92D1E62-98B2-C2CA-6447-48C4F3BEB45E}"/>
              </a:ext>
            </a:extLst>
          </p:cNvPr>
          <p:cNvSpPr>
            <a:spLocks noGrp="1"/>
          </p:cNvSpPr>
          <p:nvPr>
            <p:ph idx="1"/>
          </p:nvPr>
        </p:nvSpPr>
        <p:spPr>
          <a:xfrm>
            <a:off x="226142" y="511277"/>
            <a:ext cx="11759381" cy="6213988"/>
          </a:xfrm>
        </p:spPr>
        <p:txBody>
          <a:bodyPr>
            <a:normAutofit/>
          </a:bodyPr>
          <a:lstStyle/>
          <a:p>
            <a:r>
              <a:rPr lang="en-US" sz="1800" err="1"/>
              <a:t>UserId</a:t>
            </a:r>
            <a:r>
              <a:rPr lang="en-US" sz="1800"/>
              <a:t>: FK , </a:t>
            </a:r>
            <a:r>
              <a:rPr lang="ar-EG" sz="1800">
                <a:effectLst/>
              </a:rPr>
              <a:t>كود الموظف الذى انشأ القرض</a:t>
            </a:r>
            <a:endParaRPr lang="en-US" sz="1800">
              <a:effectLst/>
            </a:endParaRPr>
          </a:p>
          <a:p>
            <a:r>
              <a:rPr lang="en-US" sz="1800" err="1"/>
              <a:t>Approv_value</a:t>
            </a:r>
            <a:r>
              <a:rPr lang="en-US" sz="1800"/>
              <a:t> : </a:t>
            </a:r>
            <a:r>
              <a:rPr lang="ar-EG" sz="1800">
                <a:effectLst/>
              </a:rPr>
              <a:t>المبلغ الموصى به من المسئول الاول فقط بدون اى اضافات</a:t>
            </a:r>
            <a:endParaRPr lang="en-US" sz="1800"/>
          </a:p>
          <a:p>
            <a:r>
              <a:rPr lang="en-US" sz="1800" err="1"/>
              <a:t>Approved_Amount</a:t>
            </a:r>
            <a:r>
              <a:rPr lang="en-US" sz="1800"/>
              <a:t> : </a:t>
            </a:r>
            <a:r>
              <a:rPr lang="en-US" sz="1800" b="1">
                <a:solidFill>
                  <a:srgbClr val="00B0F0"/>
                </a:solidFill>
              </a:rPr>
              <a:t>missed at docs</a:t>
            </a:r>
            <a:endParaRPr lang="en-US" sz="1800"/>
          </a:p>
          <a:p>
            <a:r>
              <a:rPr lang="en-US" sz="1800"/>
              <a:t>TOTAL_AMOUNT :  </a:t>
            </a:r>
            <a:r>
              <a:rPr lang="ar-EG" sz="1800"/>
              <a:t>يتم إضافة هذا الحقل من مرحلة الزيارة الميدانية اجمالى المبلغ الموصى به وهو قيمة التمويل المطلوب + الفائده</a:t>
            </a:r>
            <a:endParaRPr lang="en-US" sz="1800" b="1">
              <a:solidFill>
                <a:srgbClr val="00B0F0"/>
              </a:solidFill>
            </a:endParaRPr>
          </a:p>
          <a:p>
            <a:r>
              <a:rPr lang="en-US" sz="1800" err="1"/>
              <a:t>NO_Months</a:t>
            </a:r>
            <a:r>
              <a:rPr lang="en-US" sz="1800"/>
              <a:t> : </a:t>
            </a:r>
            <a:r>
              <a:rPr lang="ar-EG" sz="1800"/>
              <a:t>عدد الأشهر الموصى به  من مسئول التمويل</a:t>
            </a:r>
            <a:endParaRPr lang="en-US" sz="1800"/>
          </a:p>
          <a:p>
            <a:r>
              <a:rPr lang="en-US" sz="1800"/>
              <a:t>Yield</a:t>
            </a:r>
            <a:r>
              <a:rPr lang="en-US" sz="1800" err="1"/>
              <a:t>_periodicity</a:t>
            </a:r>
            <a:r>
              <a:rPr lang="en-US" sz="1800"/>
              <a:t> : </a:t>
            </a:r>
            <a:r>
              <a:rPr lang="ar-EG" sz="1800" b="1">
                <a:solidFill>
                  <a:srgbClr val="00B0F0"/>
                </a:solidFill>
              </a:rPr>
              <a:t>دورية العائد من أجل برنامج الكشك</a:t>
            </a:r>
            <a:endParaRPr lang="en-US" sz="1800" b="1">
              <a:solidFill>
                <a:srgbClr val="00B0F0"/>
              </a:solidFill>
            </a:endParaRPr>
          </a:p>
          <a:p>
            <a:r>
              <a:rPr lang="en-US" sz="1800" err="1"/>
              <a:t>Code_ED</a:t>
            </a:r>
            <a:r>
              <a:rPr lang="en-US" sz="1800"/>
              <a:t> : </a:t>
            </a:r>
            <a:r>
              <a:rPr lang="ar-EG" b="1">
                <a:effectLst/>
              </a:rPr>
              <a:t>المُعرّف الرقمي للجهة المنفذة للصرف</a:t>
            </a:r>
            <a:r>
              <a:rPr lang="ar-EG">
                <a:effectLst/>
              </a:rPr>
              <a:t>.</a:t>
            </a:r>
            <a:endParaRPr lang="en-US" sz="1800"/>
          </a:p>
          <a:p>
            <a:r>
              <a:rPr lang="en-US" sz="1800"/>
              <a:t>Grant : </a:t>
            </a:r>
            <a:r>
              <a:rPr lang="ar-EG" sz="1800"/>
              <a:t>في حالة العميل لديه تمويل قائم وبياخد تمويل جديد علي منتج مختلف بقول التمويل الجديد قائم ولا لا قائم=0 وغير قائم =1</a:t>
            </a:r>
            <a:endParaRPr lang="en-US" sz="1800"/>
          </a:p>
          <a:p>
            <a:r>
              <a:rPr lang="en-US" sz="1800" err="1"/>
              <a:t>PenaltyAmount</a:t>
            </a:r>
            <a:r>
              <a:rPr lang="en-US" sz="1800"/>
              <a:t> : </a:t>
            </a:r>
            <a:r>
              <a:rPr lang="ar-EG" sz="1800"/>
              <a:t>اجمالى الغرامات</a:t>
            </a:r>
            <a:endParaRPr lang="en-US" sz="1800"/>
          </a:p>
          <a:p>
            <a:r>
              <a:rPr lang="en-US" err="1"/>
              <a:t>Flag_History</a:t>
            </a:r>
            <a:endParaRPr lang="en-US"/>
          </a:p>
          <a:p>
            <a:r>
              <a:rPr lang="en-US" err="1"/>
              <a:t>VisitCount</a:t>
            </a:r>
            <a:endParaRPr lang="en-US"/>
          </a:p>
        </p:txBody>
      </p:sp>
    </p:spTree>
    <p:extLst>
      <p:ext uri="{BB962C8B-B14F-4D97-AF65-F5344CB8AC3E}">
        <p14:creationId xmlns:p14="http://schemas.microsoft.com/office/powerpoint/2010/main" val="16108841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059F-40BC-AB46-49D3-FF85B10058C3}"/>
              </a:ext>
            </a:extLst>
          </p:cNvPr>
          <p:cNvSpPr>
            <a:spLocks noGrp="1"/>
          </p:cNvSpPr>
          <p:nvPr>
            <p:ph type="title"/>
          </p:nvPr>
        </p:nvSpPr>
        <p:spPr>
          <a:xfrm>
            <a:off x="398206" y="0"/>
            <a:ext cx="11395587" cy="639097"/>
          </a:xfrm>
        </p:spPr>
        <p:txBody>
          <a:bodyPr>
            <a:noAutofit/>
          </a:bodyPr>
          <a:lstStyle/>
          <a:p>
            <a:r>
              <a:rPr lang="en-US" sz="3600" b="1">
                <a:solidFill>
                  <a:srgbClr val="FFFF00"/>
                </a:solidFill>
                <a:effectLst/>
              </a:rPr>
              <a:t>TWF</a:t>
            </a:r>
            <a:r>
              <a:rPr lang="en-US" sz="3600" b="1">
                <a:solidFill>
                  <a:srgbClr val="FF0000"/>
                </a:solidFill>
              </a:rPr>
              <a:t>.Flow_Funding_request [cont.]</a:t>
            </a:r>
          </a:p>
        </p:txBody>
      </p:sp>
      <p:sp>
        <p:nvSpPr>
          <p:cNvPr id="3" name="Content Placeholder 2">
            <a:extLst>
              <a:ext uri="{FF2B5EF4-FFF2-40B4-BE49-F238E27FC236}">
                <a16:creationId xmlns:a16="http://schemas.microsoft.com/office/drawing/2014/main" id="{94D7ECD7-CC6A-361C-A01B-D83A127F07ED}"/>
              </a:ext>
            </a:extLst>
          </p:cNvPr>
          <p:cNvSpPr>
            <a:spLocks noGrp="1"/>
          </p:cNvSpPr>
          <p:nvPr>
            <p:ph idx="1"/>
          </p:nvPr>
        </p:nvSpPr>
        <p:spPr>
          <a:xfrm>
            <a:off x="432619" y="639097"/>
            <a:ext cx="11395586" cy="6046838"/>
          </a:xfrm>
        </p:spPr>
        <p:txBody>
          <a:bodyPr>
            <a:normAutofit/>
          </a:bodyPr>
          <a:lstStyle/>
          <a:p>
            <a:r>
              <a:rPr lang="en-US" sz="1800" err="1"/>
              <a:t>GuarVisitCount</a:t>
            </a:r>
            <a:r>
              <a:rPr lang="en-US" sz="1800"/>
              <a:t>: </a:t>
            </a:r>
            <a:endParaRPr lang="ar-EG" sz="1800"/>
          </a:p>
          <a:p>
            <a:pPr lvl="1"/>
            <a:r>
              <a:rPr lang="ar-EG" sz="1600"/>
              <a:t>بخزن فيه عدد المرات التي لم يستدل علي الضامن فيه لو  الضامن لم يستدل عليه اكثر من  مراتين بيترفض رفض نهلائي</a:t>
            </a:r>
          </a:p>
          <a:p>
            <a:pPr lvl="1"/>
            <a:endParaRPr lang="en-US" sz="1600"/>
          </a:p>
          <a:p>
            <a:r>
              <a:rPr lang="en-US" sz="1800"/>
              <a:t>BusDate: </a:t>
            </a:r>
            <a:r>
              <a:rPr lang="ar-EG" sz="1800"/>
              <a:t>تاريخ الصرف</a:t>
            </a:r>
          </a:p>
          <a:p>
            <a:r>
              <a:rPr lang="en-US" sz="1800"/>
              <a:t>Open_date : </a:t>
            </a:r>
            <a:r>
              <a:rPr lang="en-US" sz="1800">
                <a:effectLst/>
              </a:rPr>
              <a:t>date of request based on the busdate</a:t>
            </a:r>
            <a:endParaRPr lang="en-US" sz="1800"/>
          </a:p>
          <a:p>
            <a:r>
              <a:rPr lang="en-US" sz="1800"/>
              <a:t>EXPDATE</a:t>
            </a:r>
            <a:r>
              <a:rPr lang="ar-EG" sz="1800"/>
              <a:t> </a:t>
            </a:r>
            <a:r>
              <a:rPr lang="en-US" sz="1800"/>
              <a:t> :  </a:t>
            </a:r>
            <a:r>
              <a:rPr lang="ar-EG" sz="1800"/>
              <a:t>تاريخ انتهاء القرض</a:t>
            </a:r>
            <a:endParaRPr lang="en-US" sz="1800"/>
          </a:p>
          <a:p>
            <a:endParaRPr lang="en-US" sz="1800"/>
          </a:p>
          <a:p>
            <a:endParaRPr lang="en-US" sz="1800"/>
          </a:p>
          <a:p>
            <a:r>
              <a:rPr lang="en-US" sz="1800"/>
              <a:t>Loan</a:t>
            </a:r>
            <a:r>
              <a:rPr lang="en-US" sz="1800" err="1"/>
              <a:t>_code</a:t>
            </a:r>
            <a:r>
              <a:rPr lang="en-US" sz="1800"/>
              <a:t> : </a:t>
            </a:r>
            <a:r>
              <a:rPr lang="ar-EG" sz="1800"/>
              <a:t>كود التمويل</a:t>
            </a:r>
            <a:endParaRPr lang="en-US" sz="1800"/>
          </a:p>
          <a:p>
            <a:r>
              <a:rPr lang="en-US" sz="1800"/>
              <a:t>int </a:t>
            </a:r>
            <a:r>
              <a:rPr lang="en-US" sz="1800" err="1"/>
              <a:t>WriteOffFlag</a:t>
            </a:r>
            <a:r>
              <a:rPr lang="en-US" sz="1800"/>
              <a:t>: </a:t>
            </a:r>
            <a:r>
              <a:rPr lang="ar-EG" sz="1800"/>
              <a:t>التوريق</a:t>
            </a:r>
            <a:endParaRPr lang="en-US" sz="1800"/>
          </a:p>
          <a:p>
            <a:r>
              <a:rPr lang="en-US" sz="1800" err="1"/>
              <a:t>Securitization_Flag</a:t>
            </a:r>
            <a:r>
              <a:rPr lang="en-US" sz="1800"/>
              <a:t> : </a:t>
            </a:r>
            <a:r>
              <a:rPr lang="ar-EG" sz="1800"/>
              <a:t>اعدام</a:t>
            </a:r>
            <a:endParaRPr lang="en-US" sz="1800"/>
          </a:p>
          <a:p>
            <a:r>
              <a:rPr lang="en-US" sz="1800" err="1"/>
              <a:t>IsDisbursmented</a:t>
            </a:r>
            <a:r>
              <a:rPr lang="en-US" sz="1800"/>
              <a:t> : // actually </a:t>
            </a:r>
            <a:r>
              <a:rPr lang="en-US" sz="1800" err="1"/>
              <a:t>recieve</a:t>
            </a:r>
            <a:r>
              <a:rPr lang="en-US" sz="1800"/>
              <a:t> money on his Hand Or not (but  </a:t>
            </a:r>
            <a:r>
              <a:rPr lang="en-US" sz="1800" err="1"/>
              <a:t>StatusCode</a:t>
            </a:r>
            <a:r>
              <a:rPr lang="en-US" sz="1800"/>
              <a:t> is still = 9 )</a:t>
            </a:r>
          </a:p>
        </p:txBody>
      </p:sp>
    </p:spTree>
    <p:extLst>
      <p:ext uri="{BB962C8B-B14F-4D97-AF65-F5344CB8AC3E}">
        <p14:creationId xmlns:p14="http://schemas.microsoft.com/office/powerpoint/2010/main" val="81471008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A6392-F033-9970-55B2-9C4C89012F58}"/>
              </a:ext>
            </a:extLst>
          </p:cNvPr>
          <p:cNvSpPr>
            <a:spLocks noGrp="1"/>
          </p:cNvSpPr>
          <p:nvPr>
            <p:ph type="title"/>
          </p:nvPr>
        </p:nvSpPr>
        <p:spPr>
          <a:xfrm>
            <a:off x="913795" y="0"/>
            <a:ext cx="10353762" cy="550606"/>
          </a:xfrm>
        </p:spPr>
        <p:txBody>
          <a:bodyPr>
            <a:normAutofit fontScale="90000"/>
          </a:bodyPr>
          <a:lstStyle/>
          <a:p>
            <a:r>
              <a:rPr lang="en-US" b="1">
                <a:solidFill>
                  <a:srgbClr val="FFFF00"/>
                </a:solidFill>
              </a:rPr>
              <a:t>TDWF.</a:t>
            </a:r>
            <a:r>
              <a:rPr lang="en-US" b="1">
                <a:solidFill>
                  <a:srgbClr val="FF0000"/>
                </a:solidFill>
              </a:rPr>
              <a:t>Flow_Request_Deportation [cont. 7]</a:t>
            </a:r>
            <a:endParaRPr lang="en-US"/>
          </a:p>
        </p:txBody>
      </p:sp>
      <p:sp>
        <p:nvSpPr>
          <p:cNvPr id="3" name="Content Placeholder 2">
            <a:extLst>
              <a:ext uri="{FF2B5EF4-FFF2-40B4-BE49-F238E27FC236}">
                <a16:creationId xmlns:a16="http://schemas.microsoft.com/office/drawing/2014/main" id="{7B54F582-36BC-1EF5-BD24-0E72C56D3FFC}"/>
              </a:ext>
            </a:extLst>
          </p:cNvPr>
          <p:cNvSpPr>
            <a:spLocks noGrp="1"/>
          </p:cNvSpPr>
          <p:nvPr>
            <p:ph idx="1"/>
          </p:nvPr>
        </p:nvSpPr>
        <p:spPr>
          <a:xfrm>
            <a:off x="167148" y="550606"/>
            <a:ext cx="11867536" cy="6095999"/>
          </a:xfrm>
        </p:spPr>
        <p:txBody>
          <a:bodyPr/>
          <a:lstStyle/>
          <a:p>
            <a:r>
              <a:rPr lang="en-US"/>
              <a:t>After CO  deports the request from </a:t>
            </a:r>
            <a:r>
              <a:rPr lang="en-US" b="1">
                <a:solidFill>
                  <a:srgbClr val="00B0F0"/>
                </a:solidFill>
              </a:rPr>
              <a:t>critical analysis</a:t>
            </a:r>
            <a:r>
              <a:rPr lang="en-US"/>
              <a:t> to </a:t>
            </a:r>
            <a:r>
              <a:rPr lang="en-US" b="1">
                <a:solidFill>
                  <a:srgbClr val="00B0F0"/>
                </a:solidFill>
              </a:rPr>
              <a:t>Branch manager review</a:t>
            </a:r>
          </a:p>
          <a:p>
            <a:pPr lvl="1"/>
            <a:r>
              <a:rPr lang="en-US"/>
              <a:t>UserId_from= 4642  // the CO Id</a:t>
            </a:r>
            <a:endParaRPr lang="ar-EG"/>
          </a:p>
          <a:p>
            <a:pPr lvl="1"/>
            <a:r>
              <a:rPr lang="en-US"/>
              <a:t>UserId_to = 5640    // the BM</a:t>
            </a:r>
            <a:endParaRPr lang="ar-EG"/>
          </a:p>
          <a:p>
            <a:pPr lvl="1"/>
            <a:r>
              <a:rPr lang="en-US"/>
              <a:t>Name_step_from  : </a:t>
            </a:r>
            <a:r>
              <a:rPr lang="ar-EG"/>
              <a:t>تحليل ائتماني</a:t>
            </a:r>
          </a:p>
          <a:p>
            <a:pPr lvl="1"/>
            <a:r>
              <a:rPr lang="en-US"/>
              <a:t>Name_step_to:	 </a:t>
            </a:r>
            <a:r>
              <a:rPr lang="ar-EG"/>
              <a:t>مراجعة مدير الفرع</a:t>
            </a:r>
            <a:endParaRPr lang="en-US"/>
          </a:p>
          <a:p>
            <a:pPr lvl="1"/>
            <a:r>
              <a:rPr lang="en-US"/>
              <a:t>Code_action (from: Flow_Actions): </a:t>
            </a:r>
            <a:r>
              <a:rPr lang="ar-EG" sz="2000" b="1">
                <a:solidFill>
                  <a:srgbClr val="FFFF00"/>
                </a:solidFill>
              </a:rPr>
              <a:t>11</a:t>
            </a:r>
            <a:endParaRPr lang="en-US"/>
          </a:p>
          <a:p>
            <a:pPr lvl="1"/>
            <a:r>
              <a:rPr lang="en-US"/>
              <a:t>Status_one: </a:t>
            </a:r>
            <a:r>
              <a:rPr lang="en-US" b="1">
                <a:solidFill>
                  <a:srgbClr val="00B0F0"/>
                </a:solidFill>
              </a:rPr>
              <a:t>Approved </a:t>
            </a:r>
            <a:r>
              <a:rPr lang="en-US"/>
              <a:t>// means the Name_step_from  is approved</a:t>
            </a:r>
          </a:p>
          <a:p>
            <a:pPr lvl="1"/>
            <a:r>
              <a:rPr lang="en-US"/>
              <a:t>Status_two: </a:t>
            </a:r>
            <a:r>
              <a:rPr lang="en-US" b="1">
                <a:solidFill>
                  <a:srgbClr val="00B0F0"/>
                </a:solidFill>
              </a:rPr>
              <a:t>CA1211</a:t>
            </a:r>
            <a:endParaRPr lang="ar-EG" b="1">
              <a:solidFill>
                <a:srgbClr val="00B0F0"/>
              </a:solidFill>
            </a:endParaRPr>
          </a:p>
          <a:p>
            <a:pPr lvl="1"/>
            <a:endParaRPr lang="en-US"/>
          </a:p>
          <a:p>
            <a:endParaRPr lang="en-US"/>
          </a:p>
          <a:p>
            <a:endParaRPr lang="en-US"/>
          </a:p>
          <a:p>
            <a:endParaRPr lang="en-US"/>
          </a:p>
          <a:p>
            <a:pPr lvl="1"/>
            <a:endParaRPr lang="en-US"/>
          </a:p>
          <a:p>
            <a:endParaRPr lang="en-US"/>
          </a:p>
          <a:p>
            <a:endParaRPr lang="ar-EG"/>
          </a:p>
          <a:p>
            <a:endParaRPr lang="en-US"/>
          </a:p>
        </p:txBody>
      </p:sp>
    </p:spTree>
    <p:extLst>
      <p:ext uri="{BB962C8B-B14F-4D97-AF65-F5344CB8AC3E}">
        <p14:creationId xmlns:p14="http://schemas.microsoft.com/office/powerpoint/2010/main" val="10391199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FCEEF-00B8-A138-A7CE-AC4DD1B13036}"/>
              </a:ext>
            </a:extLst>
          </p:cNvPr>
          <p:cNvSpPr>
            <a:spLocks noGrp="1"/>
          </p:cNvSpPr>
          <p:nvPr>
            <p:ph type="title"/>
          </p:nvPr>
        </p:nvSpPr>
        <p:spPr>
          <a:xfrm>
            <a:off x="913795" y="0"/>
            <a:ext cx="10353762" cy="566530"/>
          </a:xfrm>
        </p:spPr>
        <p:txBody>
          <a:bodyPr>
            <a:normAutofit fontScale="90000"/>
          </a:bodyPr>
          <a:lstStyle/>
          <a:p>
            <a:r>
              <a:rPr lang="en-US" b="1">
                <a:solidFill>
                  <a:srgbClr val="FFFF00"/>
                </a:solidFill>
              </a:rPr>
              <a:t>TDWF.</a:t>
            </a:r>
            <a:r>
              <a:rPr lang="en-US" b="1">
                <a:solidFill>
                  <a:srgbClr val="FF0000"/>
                </a:solidFill>
              </a:rPr>
              <a:t>Flow_Request_Deportation [cont. 8]</a:t>
            </a:r>
            <a:endParaRPr lang="en-US"/>
          </a:p>
        </p:txBody>
      </p:sp>
      <p:sp>
        <p:nvSpPr>
          <p:cNvPr id="3" name="Content Placeholder 2">
            <a:extLst>
              <a:ext uri="{FF2B5EF4-FFF2-40B4-BE49-F238E27FC236}">
                <a16:creationId xmlns:a16="http://schemas.microsoft.com/office/drawing/2014/main" id="{41C45D54-2101-32C3-EBC1-7D99B69946B1}"/>
              </a:ext>
            </a:extLst>
          </p:cNvPr>
          <p:cNvSpPr>
            <a:spLocks noGrp="1"/>
          </p:cNvSpPr>
          <p:nvPr>
            <p:ph idx="1"/>
          </p:nvPr>
        </p:nvSpPr>
        <p:spPr>
          <a:xfrm>
            <a:off x="198782" y="566530"/>
            <a:ext cx="11807687" cy="6132443"/>
          </a:xfrm>
        </p:spPr>
        <p:txBody>
          <a:bodyPr/>
          <a:lstStyle/>
          <a:p>
            <a:r>
              <a:rPr lang="en-US" b="1"/>
              <a:t>If BM Accepts the request from </a:t>
            </a:r>
            <a:r>
              <a:rPr lang="ar-EG" b="1"/>
              <a:t>مراجعة مدير الفرع</a:t>
            </a:r>
            <a:r>
              <a:rPr lang="en-US" b="1"/>
              <a:t> </a:t>
            </a:r>
            <a:endParaRPr lang="ar-EG" b="1"/>
          </a:p>
          <a:p>
            <a:pPr lvl="1"/>
            <a:r>
              <a:rPr lang="en-US"/>
              <a:t>UserId_from= 5640  // the BM Id</a:t>
            </a:r>
            <a:endParaRPr lang="ar-EG"/>
          </a:p>
          <a:p>
            <a:pPr lvl="1"/>
            <a:r>
              <a:rPr lang="en-US"/>
              <a:t>UserId_to = </a:t>
            </a:r>
            <a:r>
              <a:rPr lang="en-US" b="1">
                <a:solidFill>
                  <a:srgbClr val="FFFF00"/>
                </a:solidFill>
              </a:rPr>
              <a:t>NULL</a:t>
            </a:r>
            <a:endParaRPr lang="ar-EG" b="1">
              <a:solidFill>
                <a:srgbClr val="FFFF00"/>
              </a:solidFill>
            </a:endParaRPr>
          </a:p>
          <a:p>
            <a:pPr lvl="1"/>
            <a:r>
              <a:rPr lang="en-US"/>
              <a:t>Name_step_from  : </a:t>
            </a:r>
            <a:r>
              <a:rPr lang="ar-EG"/>
              <a:t>مراجعة مدير الفرع</a:t>
            </a:r>
            <a:endParaRPr lang="en-US"/>
          </a:p>
          <a:p>
            <a:pPr lvl="1"/>
            <a:r>
              <a:rPr lang="en-US"/>
              <a:t>Name_step_to:	 </a:t>
            </a:r>
            <a:r>
              <a:rPr lang="ar-EG"/>
              <a:t>لجنة مركزية</a:t>
            </a:r>
            <a:endParaRPr lang="en-US"/>
          </a:p>
          <a:p>
            <a:pPr lvl="1"/>
            <a:r>
              <a:rPr lang="en-US"/>
              <a:t>Code_action (from: Flow_Actions): </a:t>
            </a:r>
            <a:r>
              <a:rPr lang="en-US" sz="2000" b="1">
                <a:solidFill>
                  <a:srgbClr val="FFFF00"/>
                </a:solidFill>
              </a:rPr>
              <a:t>12</a:t>
            </a:r>
            <a:endParaRPr lang="en-US"/>
          </a:p>
          <a:p>
            <a:pPr lvl="1"/>
            <a:r>
              <a:rPr lang="en-US"/>
              <a:t>Status_one: </a:t>
            </a:r>
            <a:r>
              <a:rPr lang="en-US" b="1">
                <a:solidFill>
                  <a:srgbClr val="00B0F0"/>
                </a:solidFill>
              </a:rPr>
              <a:t>Approved </a:t>
            </a:r>
            <a:r>
              <a:rPr lang="en-US"/>
              <a:t>// means the Name_step_from is approved</a:t>
            </a:r>
          </a:p>
          <a:p>
            <a:pPr lvl="1"/>
            <a:r>
              <a:rPr lang="en-US"/>
              <a:t>Status_two: </a:t>
            </a:r>
            <a:r>
              <a:rPr lang="en-US" b="1">
                <a:solidFill>
                  <a:srgbClr val="00B0F0"/>
                </a:solidFill>
              </a:rPr>
              <a:t>CMR</a:t>
            </a:r>
            <a:endParaRPr lang="ar-EG" b="1">
              <a:solidFill>
                <a:srgbClr val="00B0F0"/>
              </a:solidFill>
            </a:endParaRPr>
          </a:p>
          <a:p>
            <a:endParaRPr lang="en-US"/>
          </a:p>
        </p:txBody>
      </p:sp>
    </p:spTree>
    <p:extLst>
      <p:ext uri="{BB962C8B-B14F-4D97-AF65-F5344CB8AC3E}">
        <p14:creationId xmlns:p14="http://schemas.microsoft.com/office/powerpoint/2010/main" val="26911906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DAF5-9AA4-F8BB-BB37-FF5F2745FCAD}"/>
              </a:ext>
            </a:extLst>
          </p:cNvPr>
          <p:cNvSpPr>
            <a:spLocks noGrp="1"/>
          </p:cNvSpPr>
          <p:nvPr>
            <p:ph type="title"/>
          </p:nvPr>
        </p:nvSpPr>
        <p:spPr>
          <a:xfrm>
            <a:off x="913795" y="0"/>
            <a:ext cx="10353762" cy="427383"/>
          </a:xfrm>
        </p:spPr>
        <p:txBody>
          <a:bodyPr>
            <a:noAutofit/>
          </a:bodyPr>
          <a:lstStyle/>
          <a:p>
            <a:r>
              <a:rPr lang="en-US" sz="3200" b="1">
                <a:solidFill>
                  <a:srgbClr val="FFFF00"/>
                </a:solidFill>
              </a:rPr>
              <a:t>TDWF</a:t>
            </a:r>
            <a:r>
              <a:rPr lang="en-US" sz="3200"/>
              <a:t>.</a:t>
            </a:r>
            <a:r>
              <a:rPr lang="en-US" sz="3200" b="1">
                <a:solidFill>
                  <a:srgbClr val="FF0000"/>
                </a:solidFill>
              </a:rPr>
              <a:t>Flow_Requests_Log</a:t>
            </a:r>
          </a:p>
        </p:txBody>
      </p:sp>
      <p:sp>
        <p:nvSpPr>
          <p:cNvPr id="3" name="Content Placeholder 2">
            <a:extLst>
              <a:ext uri="{FF2B5EF4-FFF2-40B4-BE49-F238E27FC236}">
                <a16:creationId xmlns:a16="http://schemas.microsoft.com/office/drawing/2014/main" id="{5F9EA027-2DD6-BCFE-4F4A-1EFA9C8FD666}"/>
              </a:ext>
            </a:extLst>
          </p:cNvPr>
          <p:cNvSpPr>
            <a:spLocks noGrp="1"/>
          </p:cNvSpPr>
          <p:nvPr>
            <p:ph idx="1"/>
          </p:nvPr>
        </p:nvSpPr>
        <p:spPr>
          <a:xfrm>
            <a:off x="149086" y="583096"/>
            <a:ext cx="11877261" cy="6145695"/>
          </a:xfrm>
        </p:spPr>
        <p:txBody>
          <a:bodyPr>
            <a:normAutofit fontScale="92500" lnSpcReduction="10000"/>
          </a:bodyPr>
          <a:lstStyle/>
          <a:p>
            <a:r>
              <a:rPr lang="en-US" sz="1800"/>
              <a:t>decimal </a:t>
            </a:r>
            <a:r>
              <a:rPr lang="en-US" sz="1800" b="1">
                <a:solidFill>
                  <a:srgbClr val="00B0F0"/>
                </a:solidFill>
              </a:rPr>
              <a:t>FRL_ID</a:t>
            </a:r>
            <a:r>
              <a:rPr lang="en-US" sz="1800"/>
              <a:t> [PK], identity</a:t>
            </a:r>
          </a:p>
          <a:p>
            <a:r>
              <a:rPr lang="en-US" sz="1800"/>
              <a:t>decimal FRD_ID { get; set; }</a:t>
            </a:r>
          </a:p>
          <a:p>
            <a:r>
              <a:rPr lang="en-US" sz="1800"/>
              <a:t>DateTime Date_Creation { get; set; }</a:t>
            </a:r>
          </a:p>
          <a:p>
            <a:r>
              <a:rPr lang="en-US" sz="1800"/>
              <a:t>Nullable&lt;int&gt; UserId { get; set; }</a:t>
            </a:r>
          </a:p>
          <a:p>
            <a:r>
              <a:rPr lang="en-US" sz="1800"/>
              <a:t>DateTime Daily_Date { get; set; }</a:t>
            </a:r>
          </a:p>
          <a:p>
            <a:r>
              <a:rPr lang="en-US" sz="1800"/>
              <a:t>Nullable&lt;int&gt; Action_Flag { get; set; }</a:t>
            </a:r>
          </a:p>
          <a:p>
            <a:pPr lvl="1"/>
            <a:r>
              <a:rPr lang="en-US" sz="1600"/>
              <a:t>0 : </a:t>
            </a:r>
            <a:r>
              <a:rPr lang="ar-EG" sz="1600"/>
              <a:t>رفض</a:t>
            </a:r>
            <a:endParaRPr lang="en-US" sz="1600"/>
          </a:p>
          <a:p>
            <a:pPr lvl="1"/>
            <a:r>
              <a:rPr lang="en-US" sz="1600"/>
              <a:t>1 : </a:t>
            </a:r>
            <a:r>
              <a:rPr lang="ar-EG" sz="1600"/>
              <a:t>قبول</a:t>
            </a:r>
            <a:endParaRPr lang="en-US" sz="1600"/>
          </a:p>
          <a:p>
            <a:pPr lvl="1"/>
            <a:r>
              <a:rPr lang="en-US" sz="1600"/>
              <a:t>2 : </a:t>
            </a:r>
            <a:r>
              <a:rPr lang="ar-EG" sz="1600"/>
              <a:t>رفض نهائي</a:t>
            </a:r>
            <a:endParaRPr lang="en-US" sz="1600"/>
          </a:p>
          <a:p>
            <a:pPr lvl="1"/>
            <a:r>
              <a:rPr lang="en-US" sz="1600"/>
              <a:t>3 : </a:t>
            </a:r>
            <a:r>
              <a:rPr lang="ar-EG" sz="1600"/>
              <a:t>رفض ضامن</a:t>
            </a:r>
            <a:endParaRPr lang="en-US" sz="1600"/>
          </a:p>
          <a:p>
            <a:pPr lvl="1"/>
            <a:r>
              <a:rPr lang="en-US" sz="1600"/>
              <a:t>4 : </a:t>
            </a:r>
            <a:r>
              <a:rPr lang="ar-EG" sz="1600"/>
              <a:t>حفظ</a:t>
            </a:r>
            <a:endParaRPr lang="en-US" sz="1600"/>
          </a:p>
          <a:p>
            <a:pPr lvl="1"/>
            <a:r>
              <a:rPr lang="en-US" sz="1600"/>
              <a:t>5 : </a:t>
            </a:r>
            <a:r>
              <a:rPr lang="ar-EG" sz="1600"/>
              <a:t>حفظ وإرسال</a:t>
            </a:r>
            <a:endParaRPr lang="en-US" sz="1600"/>
          </a:p>
          <a:p>
            <a:pPr lvl="1"/>
            <a:r>
              <a:rPr lang="en-US" sz="1600"/>
              <a:t>Null: </a:t>
            </a:r>
          </a:p>
          <a:p>
            <a:r>
              <a:rPr lang="en-US" sz="1800"/>
              <a:t>string Step_name { get; set; }</a:t>
            </a:r>
            <a:endParaRPr lang="en-US"/>
          </a:p>
          <a:p>
            <a:r>
              <a:rPr lang="en-US" sz="1800"/>
              <a:t>string Definition_number { get; set; } // to use it in filteration in FstReview ##</a:t>
            </a:r>
          </a:p>
          <a:p>
            <a:r>
              <a:rPr lang="en-US" sz="1800"/>
              <a:t>Flow_Request_Deportation Flow_Request_Deportation { get; set; }</a:t>
            </a:r>
          </a:p>
          <a:p>
            <a:r>
              <a:rPr lang="en-US" sz="1800"/>
              <a:t>User Users { get; set; }</a:t>
            </a:r>
          </a:p>
          <a:p>
            <a:endParaRPr lang="en-US" sz="1800"/>
          </a:p>
          <a:p>
            <a:endParaRPr lang="en-US" sz="1800"/>
          </a:p>
        </p:txBody>
      </p:sp>
      <p:pic>
        <p:nvPicPr>
          <p:cNvPr id="8" name="Picture 7">
            <a:extLst>
              <a:ext uri="{FF2B5EF4-FFF2-40B4-BE49-F238E27FC236}">
                <a16:creationId xmlns:a16="http://schemas.microsoft.com/office/drawing/2014/main" id="{5A705ED5-539D-26CC-976C-AC0F502E3A9A}"/>
              </a:ext>
            </a:extLst>
          </p:cNvPr>
          <p:cNvPicPr>
            <a:picLocks noChangeAspect="1"/>
          </p:cNvPicPr>
          <p:nvPr/>
        </p:nvPicPr>
        <p:blipFill>
          <a:blip r:embed="rId2"/>
          <a:stretch>
            <a:fillRect/>
          </a:stretch>
        </p:blipFill>
        <p:spPr>
          <a:xfrm>
            <a:off x="4381721" y="740465"/>
            <a:ext cx="7661193" cy="2017643"/>
          </a:xfrm>
          <a:prstGeom prst="rect">
            <a:avLst/>
          </a:prstGeom>
        </p:spPr>
      </p:pic>
      <p:pic>
        <p:nvPicPr>
          <p:cNvPr id="10" name="Picture 9">
            <a:extLst>
              <a:ext uri="{FF2B5EF4-FFF2-40B4-BE49-F238E27FC236}">
                <a16:creationId xmlns:a16="http://schemas.microsoft.com/office/drawing/2014/main" id="{6DA83F0D-A5E3-2EAE-4147-1D05F64BD3B8}"/>
              </a:ext>
            </a:extLst>
          </p:cNvPr>
          <p:cNvPicPr>
            <a:picLocks noChangeAspect="1"/>
          </p:cNvPicPr>
          <p:nvPr/>
        </p:nvPicPr>
        <p:blipFill>
          <a:blip r:embed="rId3"/>
          <a:stretch>
            <a:fillRect/>
          </a:stretch>
        </p:blipFill>
        <p:spPr>
          <a:xfrm>
            <a:off x="4598725" y="2864694"/>
            <a:ext cx="7227183" cy="902235"/>
          </a:xfrm>
          <a:prstGeom prst="rect">
            <a:avLst/>
          </a:prstGeom>
        </p:spPr>
      </p:pic>
      <p:pic>
        <p:nvPicPr>
          <p:cNvPr id="12" name="Picture 11">
            <a:extLst>
              <a:ext uri="{FF2B5EF4-FFF2-40B4-BE49-F238E27FC236}">
                <a16:creationId xmlns:a16="http://schemas.microsoft.com/office/drawing/2014/main" id="{B37B54F2-4E30-83D6-5610-9B03C569F250}"/>
              </a:ext>
            </a:extLst>
          </p:cNvPr>
          <p:cNvPicPr>
            <a:picLocks noChangeAspect="1"/>
          </p:cNvPicPr>
          <p:nvPr/>
        </p:nvPicPr>
        <p:blipFill>
          <a:blip r:embed="rId4"/>
          <a:stretch>
            <a:fillRect/>
          </a:stretch>
        </p:blipFill>
        <p:spPr>
          <a:xfrm>
            <a:off x="4598725" y="3874603"/>
            <a:ext cx="7058397" cy="1214743"/>
          </a:xfrm>
          <a:prstGeom prst="rect">
            <a:avLst/>
          </a:prstGeom>
        </p:spPr>
      </p:pic>
    </p:spTree>
    <p:extLst>
      <p:ext uri="{BB962C8B-B14F-4D97-AF65-F5344CB8AC3E}">
        <p14:creationId xmlns:p14="http://schemas.microsoft.com/office/powerpoint/2010/main" val="31738252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19C68C-300F-D981-E5B5-31F8DFBDF9FB}"/>
              </a:ext>
            </a:extLst>
          </p:cNvPr>
          <p:cNvSpPr>
            <a:spLocks noGrp="1"/>
          </p:cNvSpPr>
          <p:nvPr>
            <p:ph idx="1"/>
          </p:nvPr>
        </p:nvSpPr>
        <p:spPr>
          <a:xfrm>
            <a:off x="437322" y="636104"/>
            <a:ext cx="11032435" cy="5784361"/>
          </a:xfrm>
        </p:spPr>
        <p:txBody>
          <a:bodyPr/>
          <a:lstStyle/>
          <a:p>
            <a:r>
              <a:rPr lang="en-US"/>
              <a:t>After funding request is done via LO first time</a:t>
            </a:r>
            <a:endParaRPr lang="ar-EG"/>
          </a:p>
          <a:p>
            <a:pPr lvl="1"/>
            <a:r>
              <a:rPr lang="en-US"/>
              <a:t>Action_Flag: NULL</a:t>
            </a:r>
          </a:p>
          <a:p>
            <a:pPr lvl="1"/>
            <a:r>
              <a:rPr lang="en-US"/>
              <a:t>Step_name: </a:t>
            </a:r>
            <a:r>
              <a:rPr lang="ar-EG"/>
              <a:t>طلب تمويل</a:t>
            </a:r>
          </a:p>
          <a:p>
            <a:pPr lvl="1"/>
            <a:r>
              <a:rPr lang="en-US"/>
              <a:t>Definition_number: R111</a:t>
            </a:r>
          </a:p>
          <a:p>
            <a:r>
              <a:rPr lang="en-US"/>
              <a:t>After funding request is save and send VIA LO </a:t>
            </a:r>
            <a:r>
              <a:rPr lang="ar-EG"/>
              <a:t>حفظ وإرسال</a:t>
            </a:r>
          </a:p>
          <a:p>
            <a:endParaRPr lang="ar-EG"/>
          </a:p>
          <a:p>
            <a:endParaRPr lang="ar-EG"/>
          </a:p>
          <a:p>
            <a:endParaRPr lang="ar-EG"/>
          </a:p>
          <a:p>
            <a:r>
              <a:rPr lang="en-US"/>
              <a:t>After funding request is </a:t>
            </a:r>
            <a:r>
              <a:rPr lang="en-US" b="1">
                <a:solidFill>
                  <a:srgbClr val="FF0000"/>
                </a:solidFill>
              </a:rPr>
              <a:t>Rejected</a:t>
            </a:r>
            <a:r>
              <a:rPr lang="en-US"/>
              <a:t> VIA CO </a:t>
            </a:r>
            <a:r>
              <a:rPr lang="ar-EG" b="1">
                <a:solidFill>
                  <a:srgbClr val="FF0000"/>
                </a:solidFill>
              </a:rPr>
              <a:t>رفض</a:t>
            </a:r>
          </a:p>
          <a:p>
            <a:endParaRPr lang="ar-EG"/>
          </a:p>
        </p:txBody>
      </p:sp>
      <p:sp>
        <p:nvSpPr>
          <p:cNvPr id="4" name="Title 1">
            <a:extLst>
              <a:ext uri="{FF2B5EF4-FFF2-40B4-BE49-F238E27FC236}">
                <a16:creationId xmlns:a16="http://schemas.microsoft.com/office/drawing/2014/main" id="{52E6BF61-7FE5-F9C7-3F71-AED941A5895F}"/>
              </a:ext>
            </a:extLst>
          </p:cNvPr>
          <p:cNvSpPr>
            <a:spLocks noGrp="1"/>
          </p:cNvSpPr>
          <p:nvPr>
            <p:ph type="title"/>
          </p:nvPr>
        </p:nvSpPr>
        <p:spPr>
          <a:xfrm>
            <a:off x="913795" y="0"/>
            <a:ext cx="10353762" cy="427383"/>
          </a:xfrm>
        </p:spPr>
        <p:txBody>
          <a:bodyPr>
            <a:noAutofit/>
          </a:bodyPr>
          <a:lstStyle/>
          <a:p>
            <a:r>
              <a:rPr lang="en-US" sz="3200" b="1">
                <a:solidFill>
                  <a:srgbClr val="FFFF00"/>
                </a:solidFill>
              </a:rPr>
              <a:t>TDWF</a:t>
            </a:r>
            <a:r>
              <a:rPr lang="en-US" sz="3200"/>
              <a:t>.</a:t>
            </a:r>
            <a:r>
              <a:rPr lang="en-US" sz="3200" b="1">
                <a:solidFill>
                  <a:srgbClr val="FF0000"/>
                </a:solidFill>
              </a:rPr>
              <a:t>Flow_Requests_Log (cont.1)</a:t>
            </a:r>
          </a:p>
        </p:txBody>
      </p:sp>
      <p:graphicFrame>
        <p:nvGraphicFramePr>
          <p:cNvPr id="6" name="Table 5">
            <a:extLst>
              <a:ext uri="{FF2B5EF4-FFF2-40B4-BE49-F238E27FC236}">
                <a16:creationId xmlns:a16="http://schemas.microsoft.com/office/drawing/2014/main" id="{5D1F7E5C-F8D8-8598-A6B1-AA1BDC6CF1EE}"/>
              </a:ext>
            </a:extLst>
          </p:cNvPr>
          <p:cNvGraphicFramePr>
            <a:graphicFrameLocks noGrp="1"/>
          </p:cNvGraphicFramePr>
          <p:nvPr>
            <p:extLst>
              <p:ext uri="{D42A27DB-BD31-4B8C-83A1-F6EECF244321}">
                <p14:modId xmlns:p14="http://schemas.microsoft.com/office/powerpoint/2010/main" val="3355624214"/>
              </p:ext>
            </p:extLst>
          </p:nvPr>
        </p:nvGraphicFramePr>
        <p:xfrm>
          <a:off x="913795" y="2832983"/>
          <a:ext cx="8004064" cy="1112520"/>
        </p:xfrm>
        <a:graphic>
          <a:graphicData uri="http://schemas.openxmlformats.org/drawingml/2006/table">
            <a:tbl>
              <a:tblPr firstRow="1" bandRow="1">
                <a:tableStyleId>{5C22544A-7EE6-4342-B048-85BDC9FD1C3A}</a:tableStyleId>
              </a:tblPr>
              <a:tblGrid>
                <a:gridCol w="1808088">
                  <a:extLst>
                    <a:ext uri="{9D8B030D-6E8A-4147-A177-3AD203B41FA5}">
                      <a16:colId xmlns:a16="http://schemas.microsoft.com/office/drawing/2014/main" val="13049916"/>
                    </a:ext>
                  </a:extLst>
                </a:gridCol>
                <a:gridCol w="2193944">
                  <a:extLst>
                    <a:ext uri="{9D8B030D-6E8A-4147-A177-3AD203B41FA5}">
                      <a16:colId xmlns:a16="http://schemas.microsoft.com/office/drawing/2014/main" val="2178244922"/>
                    </a:ext>
                  </a:extLst>
                </a:gridCol>
                <a:gridCol w="1843783">
                  <a:extLst>
                    <a:ext uri="{9D8B030D-6E8A-4147-A177-3AD203B41FA5}">
                      <a16:colId xmlns:a16="http://schemas.microsoft.com/office/drawing/2014/main" val="11887222"/>
                    </a:ext>
                  </a:extLst>
                </a:gridCol>
                <a:gridCol w="2158249">
                  <a:extLst>
                    <a:ext uri="{9D8B030D-6E8A-4147-A177-3AD203B41FA5}">
                      <a16:colId xmlns:a16="http://schemas.microsoft.com/office/drawing/2014/main" val="2837542316"/>
                    </a:ext>
                  </a:extLst>
                </a:gridCol>
              </a:tblGrid>
              <a:tr h="370840">
                <a:tc>
                  <a:txBody>
                    <a:bodyPr/>
                    <a:lstStyle/>
                    <a:p>
                      <a:r>
                        <a:rPr lang="en-US"/>
                        <a:t>UserId</a:t>
                      </a:r>
                    </a:p>
                  </a:txBody>
                  <a:tcPr/>
                </a:tc>
                <a:tc>
                  <a:txBody>
                    <a:bodyPr/>
                    <a:lstStyle/>
                    <a:p>
                      <a:r>
                        <a:rPr lang="en-US"/>
                        <a:t>Action_Flag</a:t>
                      </a:r>
                    </a:p>
                  </a:txBody>
                  <a:tcPr/>
                </a:tc>
                <a:tc>
                  <a:txBody>
                    <a:bodyPr/>
                    <a:lstStyle/>
                    <a:p>
                      <a:r>
                        <a:rPr lang="en-US"/>
                        <a:t>Step_name</a:t>
                      </a:r>
                    </a:p>
                  </a:txBody>
                  <a:tcPr/>
                </a:tc>
                <a:tc>
                  <a:txBody>
                    <a:bodyPr/>
                    <a:lstStyle/>
                    <a:p>
                      <a:r>
                        <a:rPr lang="en-US"/>
                        <a:t>Definition_number</a:t>
                      </a:r>
                    </a:p>
                  </a:txBody>
                  <a:tcPr/>
                </a:tc>
                <a:extLst>
                  <a:ext uri="{0D108BD9-81ED-4DB2-BD59-A6C34878D82A}">
                    <a16:rowId xmlns:a16="http://schemas.microsoft.com/office/drawing/2014/main" val="233828588"/>
                  </a:ext>
                </a:extLst>
              </a:tr>
              <a:tr h="370840">
                <a:tc>
                  <a:txBody>
                    <a:bodyPr/>
                    <a:lstStyle/>
                    <a:p>
                      <a:r>
                        <a:rPr lang="en-US"/>
                        <a:t>1132  [ LO ]</a:t>
                      </a:r>
                    </a:p>
                  </a:txBody>
                  <a:tcPr/>
                </a:tc>
                <a:tc>
                  <a:txBody>
                    <a:bodyPr/>
                    <a:lstStyle/>
                    <a:p>
                      <a:r>
                        <a:rPr lang="en-US"/>
                        <a:t>5 [</a:t>
                      </a:r>
                      <a:r>
                        <a:rPr lang="ar-EG" sz="1800"/>
                        <a:t>حفظ وإرسال</a:t>
                      </a:r>
                      <a:r>
                        <a:rPr lang="en-US"/>
                        <a:t> ]</a:t>
                      </a:r>
                    </a:p>
                  </a:txBody>
                  <a:tcPr/>
                </a:tc>
                <a:tc>
                  <a:txBody>
                    <a:bodyPr/>
                    <a:lstStyle/>
                    <a:p>
                      <a:r>
                        <a:rPr lang="ar-EG"/>
                        <a:t>طلب التمويل</a:t>
                      </a:r>
                      <a:endParaRPr lang="en-US"/>
                    </a:p>
                  </a:txBody>
                  <a:tcPr/>
                </a:tc>
                <a:tc>
                  <a:txBody>
                    <a:bodyPr/>
                    <a:lstStyle/>
                    <a:p>
                      <a:r>
                        <a:rPr lang="en-US"/>
                        <a:t>R111</a:t>
                      </a:r>
                    </a:p>
                  </a:txBody>
                  <a:tcPr/>
                </a:tc>
                <a:extLst>
                  <a:ext uri="{0D108BD9-81ED-4DB2-BD59-A6C34878D82A}">
                    <a16:rowId xmlns:a16="http://schemas.microsoft.com/office/drawing/2014/main" val="1392732663"/>
                  </a:ext>
                </a:extLst>
              </a:tr>
              <a:tr h="370840">
                <a:tc>
                  <a:txBody>
                    <a:bodyPr/>
                    <a:lstStyle/>
                    <a:p>
                      <a:r>
                        <a:rPr lang="en-US"/>
                        <a:t>1152  [ CO ]</a:t>
                      </a:r>
                    </a:p>
                  </a:txBody>
                  <a:tcPr/>
                </a:tc>
                <a:tc>
                  <a:txBody>
                    <a:bodyPr/>
                    <a:lstStyle/>
                    <a:p>
                      <a:r>
                        <a:rPr lang="en-US"/>
                        <a:t>NULL</a:t>
                      </a:r>
                    </a:p>
                  </a:txBody>
                  <a:tcPr/>
                </a:tc>
                <a:tc>
                  <a:txBody>
                    <a:bodyPr/>
                    <a:lstStyle/>
                    <a:p>
                      <a:r>
                        <a:rPr lang="ar-EG"/>
                        <a:t>مراجعة اولية</a:t>
                      </a:r>
                      <a:endParaRPr lang="en-US"/>
                    </a:p>
                  </a:txBody>
                  <a:tcPr/>
                </a:tc>
                <a:tc>
                  <a:txBody>
                    <a:bodyPr/>
                    <a:lstStyle/>
                    <a:p>
                      <a:r>
                        <a:rPr lang="en-US"/>
                        <a:t>CO1010</a:t>
                      </a:r>
                    </a:p>
                  </a:txBody>
                  <a:tcPr/>
                </a:tc>
                <a:extLst>
                  <a:ext uri="{0D108BD9-81ED-4DB2-BD59-A6C34878D82A}">
                    <a16:rowId xmlns:a16="http://schemas.microsoft.com/office/drawing/2014/main" val="3515403949"/>
                  </a:ext>
                </a:extLst>
              </a:tr>
            </a:tbl>
          </a:graphicData>
        </a:graphic>
      </p:graphicFrame>
      <p:graphicFrame>
        <p:nvGraphicFramePr>
          <p:cNvPr id="7" name="Table 6">
            <a:extLst>
              <a:ext uri="{FF2B5EF4-FFF2-40B4-BE49-F238E27FC236}">
                <a16:creationId xmlns:a16="http://schemas.microsoft.com/office/drawing/2014/main" id="{46E7303B-A3FB-8C02-B23F-F5F69C37505F}"/>
              </a:ext>
            </a:extLst>
          </p:cNvPr>
          <p:cNvGraphicFramePr>
            <a:graphicFrameLocks noGrp="1"/>
          </p:cNvGraphicFramePr>
          <p:nvPr>
            <p:extLst>
              <p:ext uri="{D42A27DB-BD31-4B8C-83A1-F6EECF244321}">
                <p14:modId xmlns:p14="http://schemas.microsoft.com/office/powerpoint/2010/main" val="908067994"/>
              </p:ext>
            </p:extLst>
          </p:nvPr>
        </p:nvGraphicFramePr>
        <p:xfrm>
          <a:off x="913795" y="4626724"/>
          <a:ext cx="8004064" cy="1483360"/>
        </p:xfrm>
        <a:graphic>
          <a:graphicData uri="http://schemas.openxmlformats.org/drawingml/2006/table">
            <a:tbl>
              <a:tblPr firstRow="1" bandRow="1">
                <a:tableStyleId>{5C22544A-7EE6-4342-B048-85BDC9FD1C3A}</a:tableStyleId>
              </a:tblPr>
              <a:tblGrid>
                <a:gridCol w="1808088">
                  <a:extLst>
                    <a:ext uri="{9D8B030D-6E8A-4147-A177-3AD203B41FA5}">
                      <a16:colId xmlns:a16="http://schemas.microsoft.com/office/drawing/2014/main" val="13049916"/>
                    </a:ext>
                  </a:extLst>
                </a:gridCol>
                <a:gridCol w="2193944">
                  <a:extLst>
                    <a:ext uri="{9D8B030D-6E8A-4147-A177-3AD203B41FA5}">
                      <a16:colId xmlns:a16="http://schemas.microsoft.com/office/drawing/2014/main" val="2178244922"/>
                    </a:ext>
                  </a:extLst>
                </a:gridCol>
                <a:gridCol w="1843783">
                  <a:extLst>
                    <a:ext uri="{9D8B030D-6E8A-4147-A177-3AD203B41FA5}">
                      <a16:colId xmlns:a16="http://schemas.microsoft.com/office/drawing/2014/main" val="11887222"/>
                    </a:ext>
                  </a:extLst>
                </a:gridCol>
                <a:gridCol w="2158249">
                  <a:extLst>
                    <a:ext uri="{9D8B030D-6E8A-4147-A177-3AD203B41FA5}">
                      <a16:colId xmlns:a16="http://schemas.microsoft.com/office/drawing/2014/main" val="2837542316"/>
                    </a:ext>
                  </a:extLst>
                </a:gridCol>
              </a:tblGrid>
              <a:tr h="370840">
                <a:tc>
                  <a:txBody>
                    <a:bodyPr/>
                    <a:lstStyle/>
                    <a:p>
                      <a:r>
                        <a:rPr lang="en-US"/>
                        <a:t>UserId</a:t>
                      </a:r>
                    </a:p>
                  </a:txBody>
                  <a:tcPr/>
                </a:tc>
                <a:tc>
                  <a:txBody>
                    <a:bodyPr/>
                    <a:lstStyle/>
                    <a:p>
                      <a:r>
                        <a:rPr lang="en-US"/>
                        <a:t>Action_Flag</a:t>
                      </a:r>
                    </a:p>
                  </a:txBody>
                  <a:tcPr/>
                </a:tc>
                <a:tc>
                  <a:txBody>
                    <a:bodyPr/>
                    <a:lstStyle/>
                    <a:p>
                      <a:r>
                        <a:rPr lang="en-US"/>
                        <a:t>Step_name</a:t>
                      </a:r>
                    </a:p>
                  </a:txBody>
                  <a:tcPr/>
                </a:tc>
                <a:tc>
                  <a:txBody>
                    <a:bodyPr/>
                    <a:lstStyle/>
                    <a:p>
                      <a:r>
                        <a:rPr lang="en-US"/>
                        <a:t>Definition_number</a:t>
                      </a:r>
                    </a:p>
                  </a:txBody>
                  <a:tcPr/>
                </a:tc>
                <a:extLst>
                  <a:ext uri="{0D108BD9-81ED-4DB2-BD59-A6C34878D82A}">
                    <a16:rowId xmlns:a16="http://schemas.microsoft.com/office/drawing/2014/main" val="233828588"/>
                  </a:ext>
                </a:extLst>
              </a:tr>
              <a:tr h="370840">
                <a:tc>
                  <a:txBody>
                    <a:bodyPr/>
                    <a:lstStyle/>
                    <a:p>
                      <a:r>
                        <a:rPr lang="en-US"/>
                        <a:t>1132  [ LO ]</a:t>
                      </a:r>
                    </a:p>
                  </a:txBody>
                  <a:tcPr/>
                </a:tc>
                <a:tc>
                  <a:txBody>
                    <a:bodyPr/>
                    <a:lstStyle/>
                    <a:p>
                      <a:r>
                        <a:rPr lang="en-US"/>
                        <a:t>5 [</a:t>
                      </a:r>
                      <a:r>
                        <a:rPr lang="ar-EG" sz="1800"/>
                        <a:t>حفظ وإرسال</a:t>
                      </a:r>
                      <a:r>
                        <a:rPr lang="en-US"/>
                        <a:t> ]</a:t>
                      </a:r>
                    </a:p>
                  </a:txBody>
                  <a:tcPr/>
                </a:tc>
                <a:tc>
                  <a:txBody>
                    <a:bodyPr/>
                    <a:lstStyle/>
                    <a:p>
                      <a:r>
                        <a:rPr lang="ar-EG"/>
                        <a:t>طلب التمويل</a:t>
                      </a:r>
                      <a:endParaRPr lang="en-US"/>
                    </a:p>
                  </a:txBody>
                  <a:tcPr/>
                </a:tc>
                <a:tc>
                  <a:txBody>
                    <a:bodyPr/>
                    <a:lstStyle/>
                    <a:p>
                      <a:r>
                        <a:rPr lang="en-US"/>
                        <a:t>R111</a:t>
                      </a:r>
                    </a:p>
                  </a:txBody>
                  <a:tcPr/>
                </a:tc>
                <a:extLst>
                  <a:ext uri="{0D108BD9-81ED-4DB2-BD59-A6C34878D82A}">
                    <a16:rowId xmlns:a16="http://schemas.microsoft.com/office/drawing/2014/main" val="1392732663"/>
                  </a:ext>
                </a:extLst>
              </a:tr>
              <a:tr h="370840">
                <a:tc>
                  <a:txBody>
                    <a:bodyPr/>
                    <a:lstStyle/>
                    <a:p>
                      <a:r>
                        <a:rPr lang="en-US"/>
                        <a:t>1152  [ CO ]</a:t>
                      </a:r>
                    </a:p>
                  </a:txBody>
                  <a:tcPr/>
                </a:tc>
                <a:tc>
                  <a:txBody>
                    <a:bodyPr/>
                    <a:lstStyle/>
                    <a:p>
                      <a:r>
                        <a:rPr lang="en-US"/>
                        <a:t>0 [ </a:t>
                      </a:r>
                      <a:r>
                        <a:rPr lang="ar-EG"/>
                        <a:t>رفض</a:t>
                      </a:r>
                      <a:r>
                        <a:rPr lang="en-US"/>
                        <a:t> ]</a:t>
                      </a:r>
                    </a:p>
                  </a:txBody>
                  <a:tcPr/>
                </a:tc>
                <a:tc>
                  <a:txBody>
                    <a:bodyPr/>
                    <a:lstStyle/>
                    <a:p>
                      <a:r>
                        <a:rPr lang="ar-EG"/>
                        <a:t>مراجعة اولية</a:t>
                      </a:r>
                      <a:endParaRPr lang="en-US"/>
                    </a:p>
                  </a:txBody>
                  <a:tcPr/>
                </a:tc>
                <a:tc>
                  <a:txBody>
                    <a:bodyPr/>
                    <a:lstStyle/>
                    <a:p>
                      <a:r>
                        <a:rPr lang="en-US"/>
                        <a:t>CO1010</a:t>
                      </a:r>
                    </a:p>
                  </a:txBody>
                  <a:tcPr/>
                </a:tc>
                <a:extLst>
                  <a:ext uri="{0D108BD9-81ED-4DB2-BD59-A6C34878D82A}">
                    <a16:rowId xmlns:a16="http://schemas.microsoft.com/office/drawing/2014/main" val="351540394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1132  [ LO ]</a:t>
                      </a:r>
                    </a:p>
                  </a:txBody>
                  <a:tcPr/>
                </a:tc>
                <a:tc>
                  <a:txBody>
                    <a:bodyPr/>
                    <a:lstStyle/>
                    <a:p>
                      <a:r>
                        <a:rPr lang="en-US"/>
                        <a:t>NULL</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ar-EG"/>
                        <a:t>طلب التمويل</a:t>
                      </a:r>
                      <a:endParaRPr lang="en-US"/>
                    </a:p>
                  </a:txBody>
                  <a:tcPr/>
                </a:tc>
                <a:tc>
                  <a:txBody>
                    <a:bodyPr/>
                    <a:lstStyle/>
                    <a:p>
                      <a:r>
                        <a:rPr lang="en-US"/>
                        <a:t>R111</a:t>
                      </a:r>
                    </a:p>
                  </a:txBody>
                  <a:tcPr/>
                </a:tc>
                <a:extLst>
                  <a:ext uri="{0D108BD9-81ED-4DB2-BD59-A6C34878D82A}">
                    <a16:rowId xmlns:a16="http://schemas.microsoft.com/office/drawing/2014/main" val="3942863334"/>
                  </a:ext>
                </a:extLst>
              </a:tr>
            </a:tbl>
          </a:graphicData>
        </a:graphic>
      </p:graphicFrame>
    </p:spTree>
    <p:extLst>
      <p:ext uri="{BB962C8B-B14F-4D97-AF65-F5344CB8AC3E}">
        <p14:creationId xmlns:p14="http://schemas.microsoft.com/office/powerpoint/2010/main" val="36889951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5F7EF-C717-F525-E3B5-A647F9C62BAE}"/>
              </a:ext>
            </a:extLst>
          </p:cNvPr>
          <p:cNvSpPr>
            <a:spLocks noGrp="1"/>
          </p:cNvSpPr>
          <p:nvPr>
            <p:ph type="title"/>
          </p:nvPr>
        </p:nvSpPr>
        <p:spPr>
          <a:xfrm>
            <a:off x="919119" y="0"/>
            <a:ext cx="10353762" cy="668594"/>
          </a:xfrm>
        </p:spPr>
        <p:txBody>
          <a:bodyPr>
            <a:normAutofit/>
          </a:bodyPr>
          <a:lstStyle/>
          <a:p>
            <a:r>
              <a:rPr lang="en-US" sz="3600" b="1" err="1">
                <a:solidFill>
                  <a:srgbClr val="FFFF00"/>
                </a:solidFill>
              </a:rPr>
              <a:t>TDWF</a:t>
            </a:r>
            <a:r>
              <a:rPr lang="en-US" sz="3600" err="1"/>
              <a:t>.</a:t>
            </a:r>
            <a:r>
              <a:rPr lang="en-US" sz="3600" b="1" err="1">
                <a:solidFill>
                  <a:srgbClr val="FF0000"/>
                </a:solidFill>
              </a:rPr>
              <a:t>Flow_Requests_Log</a:t>
            </a:r>
            <a:r>
              <a:rPr lang="en-US" sz="3600" b="1">
                <a:solidFill>
                  <a:srgbClr val="FF0000"/>
                </a:solidFill>
              </a:rPr>
              <a:t> (cont.2)</a:t>
            </a:r>
            <a:endParaRPr lang="en-US" sz="3600"/>
          </a:p>
        </p:txBody>
      </p:sp>
      <p:sp>
        <p:nvSpPr>
          <p:cNvPr id="3" name="Content Placeholder 2">
            <a:extLst>
              <a:ext uri="{FF2B5EF4-FFF2-40B4-BE49-F238E27FC236}">
                <a16:creationId xmlns:a16="http://schemas.microsoft.com/office/drawing/2014/main" id="{8ECCAD4C-762D-4C66-A916-345CE42B2173}"/>
              </a:ext>
            </a:extLst>
          </p:cNvPr>
          <p:cNvSpPr>
            <a:spLocks noGrp="1"/>
          </p:cNvSpPr>
          <p:nvPr>
            <p:ph idx="1"/>
          </p:nvPr>
        </p:nvSpPr>
        <p:spPr>
          <a:xfrm>
            <a:off x="165984" y="668594"/>
            <a:ext cx="11819539" cy="5978012"/>
          </a:xfrm>
        </p:spPr>
        <p:txBody>
          <a:bodyPr/>
          <a:lstStyle/>
          <a:p>
            <a:r>
              <a:rPr lang="en-US"/>
              <a:t>After the CO final reject the funding request</a:t>
            </a:r>
          </a:p>
          <a:p>
            <a:endParaRPr lang="en-US"/>
          </a:p>
        </p:txBody>
      </p:sp>
      <p:pic>
        <p:nvPicPr>
          <p:cNvPr id="7" name="Picture 6">
            <a:extLst>
              <a:ext uri="{FF2B5EF4-FFF2-40B4-BE49-F238E27FC236}">
                <a16:creationId xmlns:a16="http://schemas.microsoft.com/office/drawing/2014/main" id="{F33A026D-B280-75F8-92C3-4B44FCC571DC}"/>
              </a:ext>
            </a:extLst>
          </p:cNvPr>
          <p:cNvPicPr>
            <a:picLocks noChangeAspect="1"/>
          </p:cNvPicPr>
          <p:nvPr/>
        </p:nvPicPr>
        <p:blipFill>
          <a:blip r:embed="rId2"/>
          <a:stretch>
            <a:fillRect/>
          </a:stretch>
        </p:blipFill>
        <p:spPr>
          <a:xfrm>
            <a:off x="2776006" y="1137694"/>
            <a:ext cx="9250010" cy="1202383"/>
          </a:xfrm>
          <a:prstGeom prst="rect">
            <a:avLst/>
          </a:prstGeom>
        </p:spPr>
      </p:pic>
      <p:graphicFrame>
        <p:nvGraphicFramePr>
          <p:cNvPr id="8" name="Table 7">
            <a:extLst>
              <a:ext uri="{FF2B5EF4-FFF2-40B4-BE49-F238E27FC236}">
                <a16:creationId xmlns:a16="http://schemas.microsoft.com/office/drawing/2014/main" id="{C00AE869-6831-005D-E574-2CC0541464E7}"/>
              </a:ext>
            </a:extLst>
          </p:cNvPr>
          <p:cNvGraphicFramePr>
            <a:graphicFrameLocks noGrp="1"/>
          </p:cNvGraphicFramePr>
          <p:nvPr>
            <p:extLst>
              <p:ext uri="{D42A27DB-BD31-4B8C-83A1-F6EECF244321}">
                <p14:modId xmlns:p14="http://schemas.microsoft.com/office/powerpoint/2010/main" val="2194632669"/>
              </p:ext>
            </p:extLst>
          </p:nvPr>
        </p:nvGraphicFramePr>
        <p:xfrm>
          <a:off x="196645" y="2542285"/>
          <a:ext cx="8004064" cy="1483360"/>
        </p:xfrm>
        <a:graphic>
          <a:graphicData uri="http://schemas.openxmlformats.org/drawingml/2006/table">
            <a:tbl>
              <a:tblPr firstRow="1" bandRow="1">
                <a:tableStyleId>{5C22544A-7EE6-4342-B048-85BDC9FD1C3A}</a:tableStyleId>
              </a:tblPr>
              <a:tblGrid>
                <a:gridCol w="1808088">
                  <a:extLst>
                    <a:ext uri="{9D8B030D-6E8A-4147-A177-3AD203B41FA5}">
                      <a16:colId xmlns:a16="http://schemas.microsoft.com/office/drawing/2014/main" val="13049916"/>
                    </a:ext>
                  </a:extLst>
                </a:gridCol>
                <a:gridCol w="2193944">
                  <a:extLst>
                    <a:ext uri="{9D8B030D-6E8A-4147-A177-3AD203B41FA5}">
                      <a16:colId xmlns:a16="http://schemas.microsoft.com/office/drawing/2014/main" val="2178244922"/>
                    </a:ext>
                  </a:extLst>
                </a:gridCol>
                <a:gridCol w="1843783">
                  <a:extLst>
                    <a:ext uri="{9D8B030D-6E8A-4147-A177-3AD203B41FA5}">
                      <a16:colId xmlns:a16="http://schemas.microsoft.com/office/drawing/2014/main" val="11887222"/>
                    </a:ext>
                  </a:extLst>
                </a:gridCol>
                <a:gridCol w="2158249">
                  <a:extLst>
                    <a:ext uri="{9D8B030D-6E8A-4147-A177-3AD203B41FA5}">
                      <a16:colId xmlns:a16="http://schemas.microsoft.com/office/drawing/2014/main" val="2837542316"/>
                    </a:ext>
                  </a:extLst>
                </a:gridCol>
              </a:tblGrid>
              <a:tr h="370840">
                <a:tc>
                  <a:txBody>
                    <a:bodyPr/>
                    <a:lstStyle/>
                    <a:p>
                      <a:pPr algn="ctr"/>
                      <a:r>
                        <a:rPr lang="en-US" b="1"/>
                        <a:t>UserId</a:t>
                      </a:r>
                    </a:p>
                  </a:txBody>
                  <a:tcPr/>
                </a:tc>
                <a:tc>
                  <a:txBody>
                    <a:bodyPr/>
                    <a:lstStyle/>
                    <a:p>
                      <a:pPr algn="ctr"/>
                      <a:r>
                        <a:rPr lang="en-US" b="1"/>
                        <a:t>Action_Flag</a:t>
                      </a:r>
                    </a:p>
                  </a:txBody>
                  <a:tcPr/>
                </a:tc>
                <a:tc>
                  <a:txBody>
                    <a:bodyPr/>
                    <a:lstStyle/>
                    <a:p>
                      <a:pPr algn="ctr"/>
                      <a:r>
                        <a:rPr lang="en-US" b="1"/>
                        <a:t>Step_name</a:t>
                      </a:r>
                    </a:p>
                  </a:txBody>
                  <a:tcPr/>
                </a:tc>
                <a:tc>
                  <a:txBody>
                    <a:bodyPr/>
                    <a:lstStyle/>
                    <a:p>
                      <a:pPr algn="ctr"/>
                      <a:r>
                        <a:rPr lang="en-US" b="1"/>
                        <a:t>Definition_number</a:t>
                      </a:r>
                    </a:p>
                  </a:txBody>
                  <a:tcPr/>
                </a:tc>
                <a:extLst>
                  <a:ext uri="{0D108BD9-81ED-4DB2-BD59-A6C34878D82A}">
                    <a16:rowId xmlns:a16="http://schemas.microsoft.com/office/drawing/2014/main" val="233828588"/>
                  </a:ext>
                </a:extLst>
              </a:tr>
              <a:tr h="370840">
                <a:tc>
                  <a:txBody>
                    <a:bodyPr/>
                    <a:lstStyle/>
                    <a:p>
                      <a:pPr algn="ctr"/>
                      <a:r>
                        <a:rPr lang="en-US" sz="1800" b="1" kern="1200">
                          <a:solidFill>
                            <a:schemeClr val="dk1"/>
                          </a:solidFill>
                          <a:latin typeface="+mn-lt"/>
                          <a:ea typeface="+mn-ea"/>
                          <a:cs typeface="+mn-cs"/>
                        </a:rPr>
                        <a:t>10837</a:t>
                      </a:r>
                      <a:r>
                        <a:rPr lang="en-US" b="1"/>
                        <a:t>  [ LO ]</a:t>
                      </a:r>
                    </a:p>
                  </a:txBody>
                  <a:tcPr/>
                </a:tc>
                <a:tc>
                  <a:txBody>
                    <a:bodyPr/>
                    <a:lstStyle/>
                    <a:p>
                      <a:pPr algn="ctr"/>
                      <a:r>
                        <a:rPr lang="en-US" b="1"/>
                        <a:t>5 [</a:t>
                      </a:r>
                      <a:r>
                        <a:rPr lang="ar-EG" sz="1800" b="1"/>
                        <a:t>حفظ وإرسال</a:t>
                      </a:r>
                      <a:r>
                        <a:rPr lang="en-US" b="1"/>
                        <a:t> ]</a:t>
                      </a:r>
                    </a:p>
                  </a:txBody>
                  <a:tcPr/>
                </a:tc>
                <a:tc>
                  <a:txBody>
                    <a:bodyPr/>
                    <a:lstStyle/>
                    <a:p>
                      <a:pPr algn="ctr"/>
                      <a:r>
                        <a:rPr lang="ar-EG" b="1"/>
                        <a:t>طلب التمويل</a:t>
                      </a:r>
                      <a:endParaRPr lang="en-US" b="1"/>
                    </a:p>
                  </a:txBody>
                  <a:tcPr/>
                </a:tc>
                <a:tc>
                  <a:txBody>
                    <a:bodyPr/>
                    <a:lstStyle/>
                    <a:p>
                      <a:pPr algn="ctr"/>
                      <a:r>
                        <a:rPr lang="en-US" b="1"/>
                        <a:t>R111</a:t>
                      </a:r>
                    </a:p>
                  </a:txBody>
                  <a:tcPr/>
                </a:tc>
                <a:extLst>
                  <a:ext uri="{0D108BD9-81ED-4DB2-BD59-A6C34878D82A}">
                    <a16:rowId xmlns:a16="http://schemas.microsoft.com/office/drawing/2014/main" val="1392732663"/>
                  </a:ext>
                </a:extLst>
              </a:tr>
              <a:tr h="370840">
                <a:tc>
                  <a:txBody>
                    <a:bodyPr/>
                    <a:lstStyle/>
                    <a:p>
                      <a:pPr algn="ctr"/>
                      <a:r>
                        <a:rPr lang="en-US" sz="1800" b="1" kern="1200">
                          <a:solidFill>
                            <a:schemeClr val="dk1"/>
                          </a:solidFill>
                          <a:latin typeface="+mn-lt"/>
                          <a:ea typeface="+mn-ea"/>
                          <a:cs typeface="+mn-cs"/>
                        </a:rPr>
                        <a:t>14154</a:t>
                      </a:r>
                      <a:r>
                        <a:rPr lang="en-US" b="1"/>
                        <a:t>  [ CO ]</a:t>
                      </a:r>
                    </a:p>
                  </a:txBody>
                  <a:tcPr/>
                </a:tc>
                <a:tc>
                  <a:txBody>
                    <a:bodyPr/>
                    <a:lstStyle/>
                    <a:p>
                      <a:pPr algn="ctr"/>
                      <a:r>
                        <a:rPr lang="en-US" b="1"/>
                        <a:t>2 [ </a:t>
                      </a:r>
                      <a:r>
                        <a:rPr lang="ar-EG" b="1"/>
                        <a:t>رفض نهائي</a:t>
                      </a:r>
                      <a:r>
                        <a:rPr lang="en-US" b="1"/>
                        <a:t> ]</a:t>
                      </a:r>
                    </a:p>
                  </a:txBody>
                  <a:tcPr/>
                </a:tc>
                <a:tc>
                  <a:txBody>
                    <a:bodyPr/>
                    <a:lstStyle/>
                    <a:p>
                      <a:pPr algn="ctr"/>
                      <a:r>
                        <a:rPr lang="ar-EG" b="1"/>
                        <a:t>مراجعة اولية</a:t>
                      </a:r>
                      <a:endParaRPr lang="en-US" b="1"/>
                    </a:p>
                  </a:txBody>
                  <a:tcPr/>
                </a:tc>
                <a:tc>
                  <a:txBody>
                    <a:bodyPr/>
                    <a:lstStyle/>
                    <a:p>
                      <a:pPr algn="ctr"/>
                      <a:r>
                        <a:rPr lang="en-US" b="1"/>
                        <a:t>CO1010</a:t>
                      </a:r>
                    </a:p>
                  </a:txBody>
                  <a:tcPr/>
                </a:tc>
                <a:extLst>
                  <a:ext uri="{0D108BD9-81ED-4DB2-BD59-A6C34878D82A}">
                    <a16:rowId xmlns:a16="http://schemas.microsoft.com/office/drawing/2014/main" val="3515403949"/>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a:t>NULL</a:t>
                      </a:r>
                    </a:p>
                  </a:txBody>
                  <a:tcPr/>
                </a:tc>
                <a:tc>
                  <a:txBody>
                    <a:bodyPr/>
                    <a:lstStyle/>
                    <a:p>
                      <a:pPr algn="ctr"/>
                      <a:r>
                        <a:rPr lang="en-US" b="1"/>
                        <a:t>NULL</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ar-EG" b="1"/>
                        <a:t>طلب التمويل</a:t>
                      </a:r>
                      <a:endParaRPr lang="en-US" b="1"/>
                    </a:p>
                  </a:txBody>
                  <a:tcPr/>
                </a:tc>
                <a:tc>
                  <a:txBody>
                    <a:bodyPr/>
                    <a:lstStyle/>
                    <a:p>
                      <a:pPr algn="ctr"/>
                      <a:r>
                        <a:rPr lang="en-US" b="1"/>
                        <a:t>R111</a:t>
                      </a:r>
                    </a:p>
                  </a:txBody>
                  <a:tcPr/>
                </a:tc>
                <a:extLst>
                  <a:ext uri="{0D108BD9-81ED-4DB2-BD59-A6C34878D82A}">
                    <a16:rowId xmlns:a16="http://schemas.microsoft.com/office/drawing/2014/main" val="3942863334"/>
                  </a:ext>
                </a:extLst>
              </a:tr>
            </a:tbl>
          </a:graphicData>
        </a:graphic>
      </p:graphicFrame>
    </p:spTree>
    <p:extLst>
      <p:ext uri="{BB962C8B-B14F-4D97-AF65-F5344CB8AC3E}">
        <p14:creationId xmlns:p14="http://schemas.microsoft.com/office/powerpoint/2010/main" val="4603428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2651A-B07B-5A69-B24A-4F675813132B}"/>
              </a:ext>
            </a:extLst>
          </p:cNvPr>
          <p:cNvSpPr>
            <a:spLocks noGrp="1"/>
          </p:cNvSpPr>
          <p:nvPr>
            <p:ph type="title"/>
          </p:nvPr>
        </p:nvSpPr>
        <p:spPr>
          <a:xfrm>
            <a:off x="1059267" y="-18528"/>
            <a:ext cx="10353762" cy="808237"/>
          </a:xfrm>
        </p:spPr>
        <p:txBody>
          <a:bodyPr/>
          <a:lstStyle/>
          <a:p>
            <a:r>
              <a:rPr lang="en-US" b="1">
                <a:solidFill>
                  <a:srgbClr val="FFFF00"/>
                </a:solidFill>
              </a:rPr>
              <a:t>TDWF</a:t>
            </a:r>
            <a:r>
              <a:rPr lang="en-US"/>
              <a:t>.</a:t>
            </a:r>
            <a:r>
              <a:rPr lang="en-US" b="1">
                <a:solidFill>
                  <a:srgbClr val="FF0000"/>
                </a:solidFill>
              </a:rPr>
              <a:t>Flow_Requests_Log (cont.2)</a:t>
            </a:r>
            <a:endParaRPr lang="en-US"/>
          </a:p>
        </p:txBody>
      </p:sp>
      <p:sp>
        <p:nvSpPr>
          <p:cNvPr id="3" name="Content Placeholder 2">
            <a:extLst>
              <a:ext uri="{FF2B5EF4-FFF2-40B4-BE49-F238E27FC236}">
                <a16:creationId xmlns:a16="http://schemas.microsoft.com/office/drawing/2014/main" id="{B763B7ED-8259-82B3-58EB-6522841B4DC8}"/>
              </a:ext>
            </a:extLst>
          </p:cNvPr>
          <p:cNvSpPr>
            <a:spLocks noGrp="1"/>
          </p:cNvSpPr>
          <p:nvPr>
            <p:ph idx="1"/>
          </p:nvPr>
        </p:nvSpPr>
        <p:spPr/>
        <p:txBody>
          <a:bodyPr/>
          <a:lstStyle/>
          <a:p>
            <a:r>
              <a:rPr lang="en-US"/>
              <a:t>After BM Deports the request from </a:t>
            </a:r>
            <a:r>
              <a:rPr lang="ar-EG"/>
              <a:t>مراجعة مدير الفرع الي اللجنة المركزية</a:t>
            </a:r>
          </a:p>
          <a:p>
            <a:endParaRPr lang="en-US"/>
          </a:p>
        </p:txBody>
      </p:sp>
      <p:graphicFrame>
        <p:nvGraphicFramePr>
          <p:cNvPr id="6" name="Table 5">
            <a:extLst>
              <a:ext uri="{FF2B5EF4-FFF2-40B4-BE49-F238E27FC236}">
                <a16:creationId xmlns:a16="http://schemas.microsoft.com/office/drawing/2014/main" id="{595032BD-0F21-F41C-61DA-4700FE9FEA85}"/>
              </a:ext>
            </a:extLst>
          </p:cNvPr>
          <p:cNvGraphicFramePr>
            <a:graphicFrameLocks noGrp="1"/>
          </p:cNvGraphicFramePr>
          <p:nvPr>
            <p:extLst>
              <p:ext uri="{D42A27DB-BD31-4B8C-83A1-F6EECF244321}">
                <p14:modId xmlns:p14="http://schemas.microsoft.com/office/powerpoint/2010/main" val="4115892749"/>
              </p:ext>
            </p:extLst>
          </p:nvPr>
        </p:nvGraphicFramePr>
        <p:xfrm>
          <a:off x="1059267" y="2278464"/>
          <a:ext cx="8004064" cy="741680"/>
        </p:xfrm>
        <a:graphic>
          <a:graphicData uri="http://schemas.openxmlformats.org/drawingml/2006/table">
            <a:tbl>
              <a:tblPr firstRow="1" bandRow="1">
                <a:tableStyleId>{5C22544A-7EE6-4342-B048-85BDC9FD1C3A}</a:tableStyleId>
              </a:tblPr>
              <a:tblGrid>
                <a:gridCol w="1808088">
                  <a:extLst>
                    <a:ext uri="{9D8B030D-6E8A-4147-A177-3AD203B41FA5}">
                      <a16:colId xmlns:a16="http://schemas.microsoft.com/office/drawing/2014/main" val="13049916"/>
                    </a:ext>
                  </a:extLst>
                </a:gridCol>
                <a:gridCol w="2193944">
                  <a:extLst>
                    <a:ext uri="{9D8B030D-6E8A-4147-A177-3AD203B41FA5}">
                      <a16:colId xmlns:a16="http://schemas.microsoft.com/office/drawing/2014/main" val="2178244922"/>
                    </a:ext>
                  </a:extLst>
                </a:gridCol>
                <a:gridCol w="1843783">
                  <a:extLst>
                    <a:ext uri="{9D8B030D-6E8A-4147-A177-3AD203B41FA5}">
                      <a16:colId xmlns:a16="http://schemas.microsoft.com/office/drawing/2014/main" val="11887222"/>
                    </a:ext>
                  </a:extLst>
                </a:gridCol>
                <a:gridCol w="2158249">
                  <a:extLst>
                    <a:ext uri="{9D8B030D-6E8A-4147-A177-3AD203B41FA5}">
                      <a16:colId xmlns:a16="http://schemas.microsoft.com/office/drawing/2014/main" val="2837542316"/>
                    </a:ext>
                  </a:extLst>
                </a:gridCol>
              </a:tblGrid>
              <a:tr h="370840">
                <a:tc>
                  <a:txBody>
                    <a:bodyPr/>
                    <a:lstStyle/>
                    <a:p>
                      <a:pPr algn="ctr"/>
                      <a:r>
                        <a:rPr lang="en-US" b="1"/>
                        <a:t>UserId</a:t>
                      </a:r>
                    </a:p>
                  </a:txBody>
                  <a:tcPr/>
                </a:tc>
                <a:tc>
                  <a:txBody>
                    <a:bodyPr/>
                    <a:lstStyle/>
                    <a:p>
                      <a:pPr algn="ctr"/>
                      <a:r>
                        <a:rPr lang="en-US" b="1"/>
                        <a:t>Action_Flag</a:t>
                      </a:r>
                    </a:p>
                  </a:txBody>
                  <a:tcPr/>
                </a:tc>
                <a:tc>
                  <a:txBody>
                    <a:bodyPr/>
                    <a:lstStyle/>
                    <a:p>
                      <a:pPr algn="ctr"/>
                      <a:r>
                        <a:rPr lang="en-US" b="1"/>
                        <a:t>Step_name</a:t>
                      </a:r>
                    </a:p>
                  </a:txBody>
                  <a:tcPr/>
                </a:tc>
                <a:tc>
                  <a:txBody>
                    <a:bodyPr/>
                    <a:lstStyle/>
                    <a:p>
                      <a:pPr algn="ctr"/>
                      <a:r>
                        <a:rPr lang="en-US" b="1"/>
                        <a:t>Definition_number</a:t>
                      </a:r>
                    </a:p>
                  </a:txBody>
                  <a:tcPr/>
                </a:tc>
                <a:extLst>
                  <a:ext uri="{0D108BD9-81ED-4DB2-BD59-A6C34878D82A}">
                    <a16:rowId xmlns:a16="http://schemas.microsoft.com/office/drawing/2014/main" val="23382858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a:t>NULL</a:t>
                      </a:r>
                    </a:p>
                  </a:txBody>
                  <a:tcPr/>
                </a:tc>
                <a:tc>
                  <a:txBody>
                    <a:bodyPr/>
                    <a:lstStyle/>
                    <a:p>
                      <a:pPr algn="ctr"/>
                      <a:r>
                        <a:rPr lang="en-US" b="1"/>
                        <a:t>NULL</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ar-EG" b="1"/>
                        <a:t>لجنة مركزية</a:t>
                      </a:r>
                      <a:endParaRPr lang="en-US" b="1"/>
                    </a:p>
                  </a:txBody>
                  <a:tcPr/>
                </a:tc>
                <a:tc>
                  <a:txBody>
                    <a:bodyPr/>
                    <a:lstStyle/>
                    <a:p>
                      <a:pPr algn="ctr"/>
                      <a:r>
                        <a:rPr lang="en-US" b="1"/>
                        <a:t>CMR</a:t>
                      </a:r>
                    </a:p>
                  </a:txBody>
                  <a:tcPr/>
                </a:tc>
                <a:extLst>
                  <a:ext uri="{0D108BD9-81ED-4DB2-BD59-A6C34878D82A}">
                    <a16:rowId xmlns:a16="http://schemas.microsoft.com/office/drawing/2014/main" val="3942863334"/>
                  </a:ext>
                </a:extLst>
              </a:tr>
            </a:tbl>
          </a:graphicData>
        </a:graphic>
      </p:graphicFrame>
    </p:spTree>
    <p:extLst>
      <p:ext uri="{BB962C8B-B14F-4D97-AF65-F5344CB8AC3E}">
        <p14:creationId xmlns:p14="http://schemas.microsoft.com/office/powerpoint/2010/main" val="198700577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A1222-B9CE-533F-D1C7-DDFB77091D7D}"/>
              </a:ext>
            </a:extLst>
          </p:cNvPr>
          <p:cNvSpPr>
            <a:spLocks noGrp="1"/>
          </p:cNvSpPr>
          <p:nvPr>
            <p:ph type="title"/>
          </p:nvPr>
        </p:nvSpPr>
        <p:spPr>
          <a:xfrm>
            <a:off x="913795" y="0"/>
            <a:ext cx="10353762" cy="723900"/>
          </a:xfrm>
        </p:spPr>
        <p:txBody>
          <a:bodyPr/>
          <a:lstStyle/>
          <a:p>
            <a:r>
              <a:rPr lang="en-US"/>
              <a:t>TWF.Flow_Address_CE</a:t>
            </a:r>
          </a:p>
        </p:txBody>
      </p:sp>
      <p:sp>
        <p:nvSpPr>
          <p:cNvPr id="3" name="Content Placeholder 2">
            <a:extLst>
              <a:ext uri="{FF2B5EF4-FFF2-40B4-BE49-F238E27FC236}">
                <a16:creationId xmlns:a16="http://schemas.microsoft.com/office/drawing/2014/main" id="{E14B85AD-15D5-70BC-0C86-7C724A03C86C}"/>
              </a:ext>
            </a:extLst>
          </p:cNvPr>
          <p:cNvSpPr>
            <a:spLocks noGrp="1"/>
          </p:cNvSpPr>
          <p:nvPr>
            <p:ph idx="1"/>
          </p:nvPr>
        </p:nvSpPr>
        <p:spPr>
          <a:xfrm>
            <a:off x="314324" y="723901"/>
            <a:ext cx="11515725" cy="5895974"/>
          </a:xfrm>
        </p:spPr>
        <p:txBody>
          <a:bodyPr/>
          <a:lstStyle/>
          <a:p>
            <a:r>
              <a:rPr lang="en-US"/>
              <a:t>Type</a:t>
            </a:r>
          </a:p>
          <a:p>
            <a:pPr lvl="1"/>
            <a:r>
              <a:rPr lang="en-US"/>
              <a:t>First: </a:t>
            </a:r>
            <a:r>
              <a:rPr lang="ar-EG"/>
              <a:t>العنوان بالبطاقة</a:t>
            </a:r>
            <a:endParaRPr lang="en-US"/>
          </a:p>
          <a:p>
            <a:pPr lvl="1"/>
            <a:r>
              <a:rPr lang="en-US"/>
              <a:t>Second: </a:t>
            </a:r>
            <a:r>
              <a:rPr lang="ar-EG"/>
              <a:t>العنوان الفعلي</a:t>
            </a:r>
            <a:endParaRPr lang="en-US"/>
          </a:p>
          <a:p>
            <a:pPr lvl="1"/>
            <a:r>
              <a:rPr lang="en-US"/>
              <a:t>Work: </a:t>
            </a:r>
            <a:r>
              <a:rPr lang="ar-EG"/>
              <a:t>عنوان العمل</a:t>
            </a:r>
            <a:endParaRPr lang="en-US"/>
          </a:p>
          <a:p>
            <a:pPr lvl="1"/>
            <a:r>
              <a:rPr lang="en-US"/>
              <a:t>Enterprise : </a:t>
            </a:r>
            <a:r>
              <a:rPr lang="ar-EG"/>
              <a:t>عنوان الشركة</a:t>
            </a:r>
            <a:endParaRPr lang="en-US"/>
          </a:p>
          <a:p>
            <a:r>
              <a:rPr lang="en-US"/>
              <a:t>CodeDistrict:</a:t>
            </a:r>
            <a:r>
              <a:rPr lang="ar-EG"/>
              <a:t>أو </a:t>
            </a:r>
            <a:r>
              <a:rPr lang="ar-EG" b="1">
                <a:solidFill>
                  <a:srgbClr val="FF0000"/>
                </a:solidFill>
                <a:sym typeface="Wingdings" panose="05000000000000000000" pitchFamily="2" charset="2"/>
              </a:rPr>
              <a:t>مدينة أو مركز</a:t>
            </a:r>
            <a:r>
              <a:rPr lang="ar-EG"/>
              <a:t> </a:t>
            </a:r>
            <a:endParaRPr lang="en-US"/>
          </a:p>
          <a:p>
            <a:r>
              <a:rPr lang="en-US"/>
              <a:t>CodeSection: </a:t>
            </a:r>
            <a:r>
              <a:rPr lang="ar-EG"/>
              <a:t>القسم أو الحي</a:t>
            </a:r>
            <a:endParaRPr lang="en-US"/>
          </a:p>
          <a:p>
            <a:endParaRPr lang="en-US"/>
          </a:p>
        </p:txBody>
      </p:sp>
    </p:spTree>
    <p:extLst>
      <p:ext uri="{BB962C8B-B14F-4D97-AF65-F5344CB8AC3E}">
        <p14:creationId xmlns:p14="http://schemas.microsoft.com/office/powerpoint/2010/main" val="35770336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7ABC8-546B-6EF6-3EB0-000E23F95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553E8-A0B8-A721-97C5-0C95776050BC}"/>
              </a:ext>
            </a:extLst>
          </p:cNvPr>
          <p:cNvSpPr>
            <a:spLocks noGrp="1"/>
          </p:cNvSpPr>
          <p:nvPr>
            <p:ph type="title"/>
          </p:nvPr>
        </p:nvSpPr>
        <p:spPr>
          <a:xfrm>
            <a:off x="913795" y="1533832"/>
            <a:ext cx="10353762" cy="3451123"/>
          </a:xfrm>
        </p:spPr>
        <p:txBody>
          <a:bodyPr>
            <a:normAutofit/>
          </a:bodyPr>
          <a:lstStyle/>
          <a:p>
            <a:r>
              <a:rPr lang="en-US" sz="8000" b="1">
                <a:solidFill>
                  <a:srgbClr val="FF0000"/>
                </a:solidFill>
              </a:rPr>
              <a:t>start SWF</a:t>
            </a:r>
            <a:br>
              <a:rPr lang="en-US" sz="8000" b="1">
                <a:solidFill>
                  <a:srgbClr val="FF0000"/>
                </a:solidFill>
              </a:rPr>
            </a:br>
            <a:r>
              <a:rPr lang="en-US" sz="4400" b="1">
                <a:solidFill>
                  <a:srgbClr val="00B0F0"/>
                </a:solidFill>
              </a:rPr>
              <a:t>s</a:t>
            </a:r>
            <a:r>
              <a:rPr lang="en-US" b="1">
                <a:solidFill>
                  <a:srgbClr val="00B0F0"/>
                </a:solidFill>
              </a:rPr>
              <a:t>etup work flow</a:t>
            </a:r>
            <a:endParaRPr lang="en-US" sz="8000" b="1">
              <a:solidFill>
                <a:srgbClr val="00B0F0"/>
              </a:solidFill>
            </a:endParaRPr>
          </a:p>
        </p:txBody>
      </p:sp>
    </p:spTree>
    <p:extLst>
      <p:ext uri="{BB962C8B-B14F-4D97-AF65-F5344CB8AC3E}">
        <p14:creationId xmlns:p14="http://schemas.microsoft.com/office/powerpoint/2010/main" val="21262483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4142-D6B2-9151-0018-528E0802A351}"/>
              </a:ext>
            </a:extLst>
          </p:cNvPr>
          <p:cNvSpPr>
            <a:spLocks noGrp="1"/>
          </p:cNvSpPr>
          <p:nvPr>
            <p:ph type="title"/>
          </p:nvPr>
        </p:nvSpPr>
        <p:spPr>
          <a:xfrm>
            <a:off x="919119" y="0"/>
            <a:ext cx="10353762" cy="589935"/>
          </a:xfrm>
        </p:spPr>
        <p:txBody>
          <a:bodyPr>
            <a:normAutofit fontScale="90000"/>
          </a:bodyPr>
          <a:lstStyle/>
          <a:p>
            <a:r>
              <a:rPr lang="en-US" sz="3600" b="1">
                <a:solidFill>
                  <a:srgbClr val="FFFF00"/>
                </a:solidFill>
              </a:rPr>
              <a:t>SWF</a:t>
            </a:r>
            <a:r>
              <a:rPr lang="en-US" sz="3600" b="1"/>
              <a:t>.</a:t>
            </a:r>
            <a:r>
              <a:rPr lang="en-US" sz="3600" b="1">
                <a:solidFill>
                  <a:srgbClr val="FF0000"/>
                </a:solidFill>
              </a:rPr>
              <a:t>Flow_repayment_cycle [</a:t>
            </a:r>
            <a:r>
              <a:rPr lang="ar-EG" sz="3600" b="1">
                <a:solidFill>
                  <a:srgbClr val="FF0000"/>
                </a:solidFill>
              </a:rPr>
              <a:t>دورية السداد</a:t>
            </a:r>
            <a:r>
              <a:rPr lang="en-US" sz="3600" b="1">
                <a:solidFill>
                  <a:srgbClr val="FF0000"/>
                </a:solidFill>
              </a:rPr>
              <a:t>]</a:t>
            </a:r>
          </a:p>
        </p:txBody>
      </p:sp>
      <p:sp>
        <p:nvSpPr>
          <p:cNvPr id="3" name="Content Placeholder 2">
            <a:extLst>
              <a:ext uri="{FF2B5EF4-FFF2-40B4-BE49-F238E27FC236}">
                <a16:creationId xmlns:a16="http://schemas.microsoft.com/office/drawing/2014/main" id="{F7F5CE3E-449F-C96E-814F-C0E920ADD26C}"/>
              </a:ext>
            </a:extLst>
          </p:cNvPr>
          <p:cNvSpPr>
            <a:spLocks noGrp="1"/>
          </p:cNvSpPr>
          <p:nvPr>
            <p:ph idx="1"/>
          </p:nvPr>
        </p:nvSpPr>
        <p:spPr>
          <a:xfrm>
            <a:off x="196644" y="589935"/>
            <a:ext cx="11995355" cy="6125497"/>
          </a:xfrm>
        </p:spPr>
        <p:txBody>
          <a:bodyPr/>
          <a:lstStyle/>
          <a:p>
            <a:r>
              <a:rPr lang="en-US"/>
              <a:t>int FRC_Id   </a:t>
            </a:r>
            <a:r>
              <a:rPr lang="en-US" b="1">
                <a:solidFill>
                  <a:srgbClr val="FFFF00"/>
                </a:solidFill>
              </a:rPr>
              <a:t>[PK]</a:t>
            </a:r>
          </a:p>
          <a:p>
            <a:r>
              <a:rPr lang="en-US"/>
              <a:t>string Name_AR </a:t>
            </a:r>
          </a:p>
          <a:p>
            <a:r>
              <a:rPr lang="en-US"/>
              <a:t>string Name_EN </a:t>
            </a:r>
          </a:p>
          <a:p>
            <a:r>
              <a:rPr lang="en-US"/>
              <a:t>int Count_days: </a:t>
            </a:r>
            <a:r>
              <a:rPr lang="ar-EG"/>
              <a:t>عدد الوحدات الزمنية</a:t>
            </a:r>
            <a:endParaRPr lang="en-US"/>
          </a:p>
          <a:p>
            <a:pPr lvl="1"/>
            <a:r>
              <a:rPr lang="en-US"/>
              <a:t>If </a:t>
            </a:r>
            <a:r>
              <a:rPr lang="en-US" b="1">
                <a:solidFill>
                  <a:srgbClr val="FF0000"/>
                </a:solidFill>
              </a:rPr>
              <a:t>Day_Month</a:t>
            </a:r>
            <a:r>
              <a:rPr lang="en-US"/>
              <a:t> == 1 then </a:t>
            </a:r>
            <a:r>
              <a:rPr lang="en-US" b="1">
                <a:solidFill>
                  <a:srgbClr val="FF0000"/>
                </a:solidFill>
              </a:rPr>
              <a:t>Count_days</a:t>
            </a:r>
            <a:r>
              <a:rPr lang="en-US"/>
              <a:t> refers to number of days</a:t>
            </a:r>
          </a:p>
          <a:p>
            <a:pPr lvl="1"/>
            <a:r>
              <a:rPr lang="en-US"/>
              <a:t>If </a:t>
            </a:r>
            <a:r>
              <a:rPr lang="en-US" b="1">
                <a:solidFill>
                  <a:srgbClr val="FF0000"/>
                </a:solidFill>
              </a:rPr>
              <a:t>Day_Month</a:t>
            </a:r>
            <a:r>
              <a:rPr lang="en-US"/>
              <a:t> == 2 then </a:t>
            </a:r>
            <a:r>
              <a:rPr lang="en-US" b="1">
                <a:solidFill>
                  <a:srgbClr val="FF0000"/>
                </a:solidFill>
              </a:rPr>
              <a:t>Count_days</a:t>
            </a:r>
            <a:r>
              <a:rPr lang="en-US"/>
              <a:t>  refers to number of months</a:t>
            </a:r>
          </a:p>
          <a:p>
            <a:r>
              <a:rPr lang="en-US"/>
              <a:t>int Day_Month</a:t>
            </a:r>
          </a:p>
          <a:p>
            <a:pPr lvl="1"/>
            <a:r>
              <a:rPr lang="en-US"/>
              <a:t>1 refer to day	</a:t>
            </a:r>
          </a:p>
          <a:p>
            <a:pPr lvl="1"/>
            <a:r>
              <a:rPr lang="en-US"/>
              <a:t>2 refers to month</a:t>
            </a:r>
          </a:p>
          <a:p>
            <a:r>
              <a:rPr lang="en-US"/>
              <a:t>int Days_in_months</a:t>
            </a:r>
          </a:p>
          <a:p>
            <a:endParaRPr lang="en-US"/>
          </a:p>
          <a:p>
            <a:r>
              <a:rPr lang="en-US"/>
              <a:t>ICollection&lt;Flow_Products&gt; Flow_Products </a:t>
            </a:r>
          </a:p>
          <a:p>
            <a:r>
              <a:rPr lang="en-US"/>
              <a:t>ICollection&lt;Flow_Funding_request&gt; Flow_Funding_request</a:t>
            </a:r>
          </a:p>
          <a:p>
            <a:endParaRPr lang="en-US"/>
          </a:p>
        </p:txBody>
      </p:sp>
      <p:pic>
        <p:nvPicPr>
          <p:cNvPr id="5" name="Picture 4">
            <a:extLst>
              <a:ext uri="{FF2B5EF4-FFF2-40B4-BE49-F238E27FC236}">
                <a16:creationId xmlns:a16="http://schemas.microsoft.com/office/drawing/2014/main" id="{F1F601CC-3402-F74F-FCCD-2DF199050CBA}"/>
              </a:ext>
            </a:extLst>
          </p:cNvPr>
          <p:cNvPicPr>
            <a:picLocks noChangeAspect="1"/>
          </p:cNvPicPr>
          <p:nvPr/>
        </p:nvPicPr>
        <p:blipFill>
          <a:blip r:embed="rId2"/>
          <a:stretch>
            <a:fillRect/>
          </a:stretch>
        </p:blipFill>
        <p:spPr>
          <a:xfrm>
            <a:off x="5870522" y="681131"/>
            <a:ext cx="6217344" cy="1107912"/>
          </a:xfrm>
          <a:prstGeom prst="rect">
            <a:avLst/>
          </a:prstGeom>
        </p:spPr>
      </p:pic>
    </p:spTree>
    <p:extLst>
      <p:ext uri="{BB962C8B-B14F-4D97-AF65-F5344CB8AC3E}">
        <p14:creationId xmlns:p14="http://schemas.microsoft.com/office/powerpoint/2010/main" val="191244436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68A30-2F6B-26CF-AE2F-2798C10D35AB}"/>
              </a:ext>
            </a:extLst>
          </p:cNvPr>
          <p:cNvSpPr>
            <a:spLocks noGrp="1"/>
          </p:cNvSpPr>
          <p:nvPr>
            <p:ph type="title"/>
          </p:nvPr>
        </p:nvSpPr>
        <p:spPr>
          <a:xfrm>
            <a:off x="913795" y="0"/>
            <a:ext cx="10353762" cy="576470"/>
          </a:xfrm>
        </p:spPr>
        <p:txBody>
          <a:bodyPr>
            <a:normAutofit fontScale="90000"/>
          </a:bodyPr>
          <a:lstStyle/>
          <a:p>
            <a:r>
              <a:rPr lang="en-US" b="1">
                <a:solidFill>
                  <a:srgbClr val="FFFF00"/>
                </a:solidFill>
              </a:rPr>
              <a:t>SWF</a:t>
            </a:r>
            <a:r>
              <a:rPr lang="en-US"/>
              <a:t>.</a:t>
            </a:r>
            <a:r>
              <a:rPr lang="en-US" b="1">
                <a:solidFill>
                  <a:srgbClr val="FF0000"/>
                </a:solidFill>
              </a:rPr>
              <a:t>Flow_User_Status</a:t>
            </a:r>
          </a:p>
        </p:txBody>
      </p:sp>
      <p:sp>
        <p:nvSpPr>
          <p:cNvPr id="3" name="Content Placeholder 2">
            <a:extLst>
              <a:ext uri="{FF2B5EF4-FFF2-40B4-BE49-F238E27FC236}">
                <a16:creationId xmlns:a16="http://schemas.microsoft.com/office/drawing/2014/main" id="{D263FAA2-D07C-6DD0-83DA-30476C308E6B}"/>
              </a:ext>
            </a:extLst>
          </p:cNvPr>
          <p:cNvSpPr>
            <a:spLocks noGrp="1"/>
          </p:cNvSpPr>
          <p:nvPr>
            <p:ph idx="1"/>
          </p:nvPr>
        </p:nvSpPr>
        <p:spPr/>
        <p:txBody>
          <a:bodyPr/>
          <a:lstStyle/>
          <a:p>
            <a:endParaRPr lang="en-US"/>
          </a:p>
          <a:p>
            <a:endParaRPr lang="en-US"/>
          </a:p>
        </p:txBody>
      </p:sp>
      <p:pic>
        <p:nvPicPr>
          <p:cNvPr id="5" name="Picture 4">
            <a:extLst>
              <a:ext uri="{FF2B5EF4-FFF2-40B4-BE49-F238E27FC236}">
                <a16:creationId xmlns:a16="http://schemas.microsoft.com/office/drawing/2014/main" id="{F93A5016-E04B-7121-4AB9-E5239CA2BB85}"/>
              </a:ext>
            </a:extLst>
          </p:cNvPr>
          <p:cNvPicPr>
            <a:picLocks noChangeAspect="1"/>
          </p:cNvPicPr>
          <p:nvPr/>
        </p:nvPicPr>
        <p:blipFill>
          <a:blip r:embed="rId2"/>
          <a:stretch>
            <a:fillRect/>
          </a:stretch>
        </p:blipFill>
        <p:spPr>
          <a:xfrm>
            <a:off x="548066" y="844826"/>
            <a:ext cx="4395849" cy="1775246"/>
          </a:xfrm>
          <a:prstGeom prst="rect">
            <a:avLst/>
          </a:prstGeom>
        </p:spPr>
      </p:pic>
    </p:spTree>
    <p:extLst>
      <p:ext uri="{BB962C8B-B14F-4D97-AF65-F5344CB8AC3E}">
        <p14:creationId xmlns:p14="http://schemas.microsoft.com/office/powerpoint/2010/main" val="45133361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90F1D-7211-4F61-C633-61C22E728B85}"/>
              </a:ext>
            </a:extLst>
          </p:cNvPr>
          <p:cNvSpPr>
            <a:spLocks noGrp="1"/>
          </p:cNvSpPr>
          <p:nvPr>
            <p:ph type="title"/>
          </p:nvPr>
        </p:nvSpPr>
        <p:spPr>
          <a:xfrm>
            <a:off x="913795" y="1"/>
            <a:ext cx="10353762" cy="550606"/>
          </a:xfrm>
        </p:spPr>
        <p:txBody>
          <a:bodyPr>
            <a:normAutofit fontScale="90000"/>
          </a:bodyPr>
          <a:lstStyle/>
          <a:p>
            <a:r>
              <a:rPr lang="en-US" b="1">
                <a:solidFill>
                  <a:srgbClr val="FFFF00"/>
                </a:solidFill>
              </a:rPr>
              <a:t>SWF.</a:t>
            </a:r>
            <a:r>
              <a:rPr lang="en-US" b="1">
                <a:solidFill>
                  <a:srgbClr val="FF0000"/>
                </a:solidFill>
              </a:rPr>
              <a:t>Flow_status</a:t>
            </a:r>
          </a:p>
        </p:txBody>
      </p:sp>
      <p:sp>
        <p:nvSpPr>
          <p:cNvPr id="3" name="Content Placeholder 2">
            <a:extLst>
              <a:ext uri="{FF2B5EF4-FFF2-40B4-BE49-F238E27FC236}">
                <a16:creationId xmlns:a16="http://schemas.microsoft.com/office/drawing/2014/main" id="{65F02D0E-6DBC-AF73-5CDA-680ACC90445A}"/>
              </a:ext>
            </a:extLst>
          </p:cNvPr>
          <p:cNvSpPr>
            <a:spLocks noGrp="1"/>
          </p:cNvSpPr>
          <p:nvPr>
            <p:ph idx="1"/>
          </p:nvPr>
        </p:nvSpPr>
        <p:spPr>
          <a:xfrm>
            <a:off x="97253" y="550607"/>
            <a:ext cx="12267025" cy="6307392"/>
          </a:xfrm>
        </p:spPr>
        <p:txBody>
          <a:bodyPr/>
          <a:lstStyle/>
          <a:p>
            <a:r>
              <a:rPr lang="en-US"/>
              <a:t>Tamweely.Infrastruture.Data.Project_Modules.FlowChart.SetUp , SWF schema</a:t>
            </a:r>
          </a:p>
          <a:p>
            <a:r>
              <a:rPr lang="en-US"/>
              <a:t>int status_code  </a:t>
            </a:r>
            <a:r>
              <a:rPr lang="en-US" b="1">
                <a:solidFill>
                  <a:srgbClr val="FFFF00"/>
                </a:solidFill>
              </a:rPr>
              <a:t>[PK]</a:t>
            </a:r>
          </a:p>
          <a:p>
            <a:r>
              <a:rPr lang="en-US"/>
              <a:t>int </a:t>
            </a:r>
            <a:r>
              <a:rPr lang="en-US" err="1"/>
              <a:t>status_id</a:t>
            </a:r>
            <a:r>
              <a:rPr lang="en-US"/>
              <a:t> </a:t>
            </a:r>
            <a:r>
              <a:rPr lang="en-US" b="1">
                <a:solidFill>
                  <a:srgbClr val="FF0000"/>
                </a:solidFill>
              </a:rPr>
              <a:t>[identity]</a:t>
            </a:r>
          </a:p>
          <a:p>
            <a:r>
              <a:rPr lang="en-US"/>
              <a:t>string name </a:t>
            </a:r>
          </a:p>
        </p:txBody>
      </p:sp>
      <p:pic>
        <p:nvPicPr>
          <p:cNvPr id="5" name="Picture 4">
            <a:extLst>
              <a:ext uri="{FF2B5EF4-FFF2-40B4-BE49-F238E27FC236}">
                <a16:creationId xmlns:a16="http://schemas.microsoft.com/office/drawing/2014/main" id="{25385219-4098-4FB5-D56B-9E4C6C5BB8C6}"/>
              </a:ext>
            </a:extLst>
          </p:cNvPr>
          <p:cNvPicPr>
            <a:picLocks noChangeAspect="1"/>
          </p:cNvPicPr>
          <p:nvPr/>
        </p:nvPicPr>
        <p:blipFill>
          <a:blip r:embed="rId2"/>
          <a:stretch>
            <a:fillRect/>
          </a:stretch>
        </p:blipFill>
        <p:spPr>
          <a:xfrm>
            <a:off x="7520608" y="1670773"/>
            <a:ext cx="4671392" cy="4381692"/>
          </a:xfrm>
          <a:prstGeom prst="rect">
            <a:avLst/>
          </a:prstGeom>
        </p:spPr>
      </p:pic>
      <p:pic>
        <p:nvPicPr>
          <p:cNvPr id="6" name="Picture 5">
            <a:extLst>
              <a:ext uri="{FF2B5EF4-FFF2-40B4-BE49-F238E27FC236}">
                <a16:creationId xmlns:a16="http://schemas.microsoft.com/office/drawing/2014/main" id="{4550F3C6-6EC4-3A36-41C3-C96C4DBFB2E3}"/>
              </a:ext>
            </a:extLst>
          </p:cNvPr>
          <p:cNvPicPr>
            <a:picLocks noChangeAspect="1"/>
          </p:cNvPicPr>
          <p:nvPr/>
        </p:nvPicPr>
        <p:blipFill>
          <a:blip r:embed="rId3"/>
          <a:stretch>
            <a:fillRect/>
          </a:stretch>
        </p:blipFill>
        <p:spPr>
          <a:xfrm>
            <a:off x="97253" y="3174072"/>
            <a:ext cx="7423355" cy="2878393"/>
          </a:xfrm>
          <a:prstGeom prst="rect">
            <a:avLst/>
          </a:prstGeom>
        </p:spPr>
      </p:pic>
    </p:spTree>
    <p:extLst>
      <p:ext uri="{BB962C8B-B14F-4D97-AF65-F5344CB8AC3E}">
        <p14:creationId xmlns:p14="http://schemas.microsoft.com/office/powerpoint/2010/main" val="367894681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A7F0-BDD0-62DB-01D9-1F536CC89E65}"/>
              </a:ext>
            </a:extLst>
          </p:cNvPr>
          <p:cNvSpPr>
            <a:spLocks noGrp="1"/>
          </p:cNvSpPr>
          <p:nvPr>
            <p:ph type="title"/>
          </p:nvPr>
        </p:nvSpPr>
        <p:spPr>
          <a:xfrm>
            <a:off x="913795" y="0"/>
            <a:ext cx="10353762" cy="629265"/>
          </a:xfrm>
        </p:spPr>
        <p:txBody>
          <a:bodyPr>
            <a:normAutofit fontScale="90000"/>
          </a:bodyPr>
          <a:lstStyle/>
          <a:p>
            <a:r>
              <a:rPr lang="en-US" b="1">
                <a:solidFill>
                  <a:srgbClr val="FFFF00"/>
                </a:solidFill>
              </a:rPr>
              <a:t>SWF</a:t>
            </a:r>
            <a:r>
              <a:rPr lang="en-US"/>
              <a:t>.</a:t>
            </a:r>
            <a:r>
              <a:rPr lang="en-US" b="1">
                <a:solidFill>
                  <a:srgbClr val="FF0000"/>
                </a:solidFill>
              </a:rPr>
              <a:t>Flow_Types</a:t>
            </a:r>
          </a:p>
        </p:txBody>
      </p:sp>
      <p:sp>
        <p:nvSpPr>
          <p:cNvPr id="3" name="Content Placeholder 2">
            <a:extLst>
              <a:ext uri="{FF2B5EF4-FFF2-40B4-BE49-F238E27FC236}">
                <a16:creationId xmlns:a16="http://schemas.microsoft.com/office/drawing/2014/main" id="{A09F7DB1-F504-0D08-6D9D-74E2647CAD91}"/>
              </a:ext>
            </a:extLst>
          </p:cNvPr>
          <p:cNvSpPr>
            <a:spLocks noGrp="1"/>
          </p:cNvSpPr>
          <p:nvPr>
            <p:ph idx="1"/>
          </p:nvPr>
        </p:nvSpPr>
        <p:spPr>
          <a:xfrm>
            <a:off x="913794" y="629265"/>
            <a:ext cx="10816089" cy="5161935"/>
          </a:xfrm>
        </p:spPr>
        <p:txBody>
          <a:bodyPr/>
          <a:lstStyle/>
          <a:p>
            <a:r>
              <a:rPr lang="en-US" sz="1800"/>
              <a:t>int Type_code </a:t>
            </a:r>
            <a:r>
              <a:rPr lang="en-US" sz="1800" b="1">
                <a:solidFill>
                  <a:srgbClr val="FFFF00"/>
                </a:solidFill>
              </a:rPr>
              <a:t>[PK]</a:t>
            </a:r>
          </a:p>
          <a:p>
            <a:r>
              <a:rPr lang="en-US" sz="1800"/>
              <a:t>string description</a:t>
            </a:r>
          </a:p>
          <a:p>
            <a:endParaRPr lang="en-US" sz="1800"/>
          </a:p>
          <a:p>
            <a:r>
              <a:rPr lang="en-US" sz="1800"/>
              <a:t>ICollection&lt;Flow_Actions&gt; </a:t>
            </a:r>
            <a:r>
              <a:rPr lang="en-US" sz="1800" b="1">
                <a:solidFill>
                  <a:srgbClr val="00B0F0"/>
                </a:solidFill>
              </a:rPr>
              <a:t>Flow_Actions</a:t>
            </a:r>
          </a:p>
          <a:p>
            <a:r>
              <a:rPr lang="en-US" sz="1800"/>
              <a:t>ICollection&lt;Flow_Products&gt; </a:t>
            </a:r>
            <a:r>
              <a:rPr lang="en-US" sz="1800" b="1">
                <a:solidFill>
                  <a:srgbClr val="00B0F0"/>
                </a:solidFill>
              </a:rPr>
              <a:t>Flow_Products</a:t>
            </a:r>
          </a:p>
          <a:p>
            <a:r>
              <a:rPr lang="en-US" sz="1800"/>
              <a:t>ICollection&lt;Flow_Request_Deportation&gt; </a:t>
            </a:r>
            <a:r>
              <a:rPr lang="en-US" sz="1800" b="1">
                <a:solidFill>
                  <a:srgbClr val="00B0F0"/>
                </a:solidFill>
              </a:rPr>
              <a:t>Flow_Request_Deportation</a:t>
            </a:r>
          </a:p>
          <a:p>
            <a:r>
              <a:rPr lang="en-US" sz="1800"/>
              <a:t>ICollection&lt;Flow_Tabs_available&gt; Flow_Tabs_available</a:t>
            </a:r>
          </a:p>
          <a:p>
            <a:r>
              <a:rPr lang="en-US" sz="1800"/>
              <a:t>ICollection&lt;Flow_Action_workflow&gt;  Flow_Action_workflow</a:t>
            </a:r>
          </a:p>
          <a:p>
            <a:endParaRPr lang="en-US"/>
          </a:p>
        </p:txBody>
      </p:sp>
      <p:pic>
        <p:nvPicPr>
          <p:cNvPr id="7" name="Picture 6">
            <a:extLst>
              <a:ext uri="{FF2B5EF4-FFF2-40B4-BE49-F238E27FC236}">
                <a16:creationId xmlns:a16="http://schemas.microsoft.com/office/drawing/2014/main" id="{0CAECF5C-0FAB-5F50-CAF8-361FBEF9EAD4}"/>
              </a:ext>
            </a:extLst>
          </p:cNvPr>
          <p:cNvPicPr>
            <a:picLocks noChangeAspect="1"/>
          </p:cNvPicPr>
          <p:nvPr/>
        </p:nvPicPr>
        <p:blipFill>
          <a:blip r:embed="rId2"/>
          <a:stretch>
            <a:fillRect/>
          </a:stretch>
        </p:blipFill>
        <p:spPr>
          <a:xfrm>
            <a:off x="8248465" y="1049190"/>
            <a:ext cx="3344372" cy="1366517"/>
          </a:xfrm>
          <a:prstGeom prst="rect">
            <a:avLst/>
          </a:prstGeom>
        </p:spPr>
      </p:pic>
    </p:spTree>
    <p:extLst>
      <p:ext uri="{BB962C8B-B14F-4D97-AF65-F5344CB8AC3E}">
        <p14:creationId xmlns:p14="http://schemas.microsoft.com/office/powerpoint/2010/main" val="88574155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44BE0-7FCA-9F05-5A0B-F1E727580102}"/>
              </a:ext>
            </a:extLst>
          </p:cNvPr>
          <p:cNvSpPr>
            <a:spLocks noGrp="1"/>
          </p:cNvSpPr>
          <p:nvPr>
            <p:ph type="title"/>
          </p:nvPr>
        </p:nvSpPr>
        <p:spPr>
          <a:xfrm>
            <a:off x="913795" y="0"/>
            <a:ext cx="10353762" cy="491613"/>
          </a:xfrm>
        </p:spPr>
        <p:txBody>
          <a:bodyPr>
            <a:normAutofit fontScale="90000"/>
          </a:bodyPr>
          <a:lstStyle/>
          <a:p>
            <a:r>
              <a:rPr lang="en-US" b="1">
                <a:solidFill>
                  <a:srgbClr val="FFFF00"/>
                </a:solidFill>
              </a:rPr>
              <a:t>SWF</a:t>
            </a:r>
            <a:r>
              <a:rPr lang="en-US" b="1"/>
              <a:t>.</a:t>
            </a:r>
            <a:r>
              <a:rPr lang="en-US" b="1">
                <a:solidFill>
                  <a:srgbClr val="FF0000"/>
                </a:solidFill>
              </a:rPr>
              <a:t>Flow_Purpose_loan</a:t>
            </a:r>
          </a:p>
        </p:txBody>
      </p:sp>
      <p:sp>
        <p:nvSpPr>
          <p:cNvPr id="3" name="Content Placeholder 2">
            <a:extLst>
              <a:ext uri="{FF2B5EF4-FFF2-40B4-BE49-F238E27FC236}">
                <a16:creationId xmlns:a16="http://schemas.microsoft.com/office/drawing/2014/main" id="{A1BB4664-5AD0-3304-20B3-8D964D0DDC14}"/>
              </a:ext>
            </a:extLst>
          </p:cNvPr>
          <p:cNvSpPr>
            <a:spLocks noGrp="1"/>
          </p:cNvSpPr>
          <p:nvPr>
            <p:ph idx="1"/>
          </p:nvPr>
        </p:nvSpPr>
        <p:spPr>
          <a:xfrm>
            <a:off x="363794" y="737419"/>
            <a:ext cx="11484077" cy="5053781"/>
          </a:xfrm>
        </p:spPr>
        <p:txBody>
          <a:bodyPr/>
          <a:lstStyle/>
          <a:p>
            <a:r>
              <a:rPr lang="en-US"/>
              <a:t>purpose_Id: int,  [Key]</a:t>
            </a:r>
          </a:p>
          <a:p>
            <a:r>
              <a:rPr lang="en-US"/>
              <a:t>purpose: string </a:t>
            </a:r>
          </a:p>
          <a:p>
            <a:endParaRPr lang="en-US"/>
          </a:p>
          <a:p>
            <a:endParaRPr lang="en-US"/>
          </a:p>
          <a:p>
            <a:endParaRPr lang="en-US"/>
          </a:p>
        </p:txBody>
      </p:sp>
      <p:pic>
        <p:nvPicPr>
          <p:cNvPr id="5" name="Picture 4">
            <a:extLst>
              <a:ext uri="{FF2B5EF4-FFF2-40B4-BE49-F238E27FC236}">
                <a16:creationId xmlns:a16="http://schemas.microsoft.com/office/drawing/2014/main" id="{4EB67A28-E5BF-56BD-A7EA-172A8BA6C45F}"/>
              </a:ext>
            </a:extLst>
          </p:cNvPr>
          <p:cNvPicPr>
            <a:picLocks noChangeAspect="1"/>
          </p:cNvPicPr>
          <p:nvPr/>
        </p:nvPicPr>
        <p:blipFill>
          <a:blip r:embed="rId2"/>
          <a:stretch>
            <a:fillRect/>
          </a:stretch>
        </p:blipFill>
        <p:spPr>
          <a:xfrm>
            <a:off x="4350456" y="747250"/>
            <a:ext cx="3790951" cy="1956621"/>
          </a:xfrm>
          <a:prstGeom prst="rect">
            <a:avLst/>
          </a:prstGeom>
        </p:spPr>
      </p:pic>
    </p:spTree>
    <p:extLst>
      <p:ext uri="{BB962C8B-B14F-4D97-AF65-F5344CB8AC3E}">
        <p14:creationId xmlns:p14="http://schemas.microsoft.com/office/powerpoint/2010/main" val="27244061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D218-4D33-78EB-31A6-2CF981235BA3}"/>
              </a:ext>
            </a:extLst>
          </p:cNvPr>
          <p:cNvSpPr>
            <a:spLocks noGrp="1"/>
          </p:cNvSpPr>
          <p:nvPr>
            <p:ph type="title"/>
          </p:nvPr>
        </p:nvSpPr>
        <p:spPr>
          <a:xfrm>
            <a:off x="913795" y="0"/>
            <a:ext cx="10353762" cy="639097"/>
          </a:xfrm>
        </p:spPr>
        <p:txBody>
          <a:bodyPr>
            <a:normAutofit fontScale="90000"/>
          </a:bodyPr>
          <a:lstStyle/>
          <a:p>
            <a:r>
              <a:rPr lang="en-US" b="1">
                <a:solidFill>
                  <a:srgbClr val="FFFF00"/>
                </a:solidFill>
              </a:rPr>
              <a:t>SWF</a:t>
            </a:r>
            <a:r>
              <a:rPr lang="en-US"/>
              <a:t>.</a:t>
            </a:r>
            <a:r>
              <a:rPr lang="en-US" b="1">
                <a:solidFill>
                  <a:srgbClr val="FF0000"/>
                </a:solidFill>
              </a:rPr>
              <a:t>Flow_Tabs [</a:t>
            </a:r>
            <a:r>
              <a:rPr lang="ar-EG" b="1">
                <a:solidFill>
                  <a:srgbClr val="FF0000"/>
                </a:solidFill>
              </a:rPr>
              <a:t>الشاشات</a:t>
            </a:r>
            <a:r>
              <a:rPr lang="en-US" b="1">
                <a:solidFill>
                  <a:srgbClr val="FF0000"/>
                </a:solidFill>
              </a:rPr>
              <a:t>]</a:t>
            </a:r>
          </a:p>
        </p:txBody>
      </p:sp>
      <p:sp>
        <p:nvSpPr>
          <p:cNvPr id="3" name="Content Placeholder 2">
            <a:extLst>
              <a:ext uri="{FF2B5EF4-FFF2-40B4-BE49-F238E27FC236}">
                <a16:creationId xmlns:a16="http://schemas.microsoft.com/office/drawing/2014/main" id="{D07FEF39-BF4B-C831-5910-CAC918C3E7CD}"/>
              </a:ext>
            </a:extLst>
          </p:cNvPr>
          <p:cNvSpPr>
            <a:spLocks noGrp="1"/>
          </p:cNvSpPr>
          <p:nvPr>
            <p:ph idx="1"/>
          </p:nvPr>
        </p:nvSpPr>
        <p:spPr>
          <a:xfrm>
            <a:off x="245806" y="737418"/>
            <a:ext cx="11690556" cy="5978013"/>
          </a:xfrm>
        </p:spPr>
        <p:txBody>
          <a:bodyPr/>
          <a:lstStyle/>
          <a:p>
            <a:r>
              <a:rPr lang="en-US"/>
              <a:t>tabs_code </a:t>
            </a:r>
            <a:r>
              <a:rPr lang="en-US" b="1">
                <a:solidFill>
                  <a:srgbClr val="FF0000"/>
                </a:solidFill>
              </a:rPr>
              <a:t>[PK] </a:t>
            </a:r>
          </a:p>
          <a:p>
            <a:r>
              <a:rPr lang="en-US"/>
              <a:t>Description: string</a:t>
            </a:r>
          </a:p>
          <a:p>
            <a:r>
              <a:rPr lang="en-US"/>
              <a:t>Screen_name_Eng: string</a:t>
            </a:r>
          </a:p>
          <a:p>
            <a:r>
              <a:rPr lang="en-US"/>
              <a:t>Scr_DefCode: string </a:t>
            </a:r>
            <a:r>
              <a:rPr lang="en-US" sz="1800"/>
              <a:t>// screen definition code</a:t>
            </a:r>
            <a:endParaRPr lang="en-US"/>
          </a:p>
          <a:p>
            <a:endParaRPr lang="ar-EG"/>
          </a:p>
          <a:p>
            <a:endParaRPr lang="en-US"/>
          </a:p>
        </p:txBody>
      </p:sp>
      <p:pic>
        <p:nvPicPr>
          <p:cNvPr id="7" name="Picture 6">
            <a:extLst>
              <a:ext uri="{FF2B5EF4-FFF2-40B4-BE49-F238E27FC236}">
                <a16:creationId xmlns:a16="http://schemas.microsoft.com/office/drawing/2014/main" id="{072252D4-CE45-CBFE-D823-DE8EF0202B3D}"/>
              </a:ext>
            </a:extLst>
          </p:cNvPr>
          <p:cNvPicPr>
            <a:picLocks noChangeAspect="1"/>
          </p:cNvPicPr>
          <p:nvPr/>
        </p:nvPicPr>
        <p:blipFill>
          <a:blip r:embed="rId2"/>
          <a:stretch>
            <a:fillRect/>
          </a:stretch>
        </p:blipFill>
        <p:spPr>
          <a:xfrm>
            <a:off x="7819576" y="639097"/>
            <a:ext cx="4254435" cy="4385187"/>
          </a:xfrm>
          <a:prstGeom prst="rect">
            <a:avLst/>
          </a:prstGeom>
        </p:spPr>
      </p:pic>
    </p:spTree>
    <p:extLst>
      <p:ext uri="{BB962C8B-B14F-4D97-AF65-F5344CB8AC3E}">
        <p14:creationId xmlns:p14="http://schemas.microsoft.com/office/powerpoint/2010/main" val="15935230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867D-BC17-ABD8-54A2-CC85071ABF21}"/>
              </a:ext>
            </a:extLst>
          </p:cNvPr>
          <p:cNvSpPr>
            <a:spLocks noGrp="1"/>
          </p:cNvSpPr>
          <p:nvPr>
            <p:ph type="title"/>
          </p:nvPr>
        </p:nvSpPr>
        <p:spPr>
          <a:xfrm>
            <a:off x="919119" y="0"/>
            <a:ext cx="10353762" cy="648929"/>
          </a:xfrm>
        </p:spPr>
        <p:txBody>
          <a:bodyPr>
            <a:normAutofit fontScale="90000"/>
          </a:bodyPr>
          <a:lstStyle/>
          <a:p>
            <a:r>
              <a:rPr lang="en-US" b="1">
                <a:solidFill>
                  <a:srgbClr val="FFFF00"/>
                </a:solidFill>
              </a:rPr>
              <a:t>SWF</a:t>
            </a:r>
            <a:r>
              <a:rPr lang="en-US"/>
              <a:t>.</a:t>
            </a:r>
            <a:r>
              <a:rPr lang="en-US" b="1">
                <a:solidFill>
                  <a:srgbClr val="FF0000"/>
                </a:solidFill>
              </a:rPr>
              <a:t>Flow_Screen_components</a:t>
            </a:r>
          </a:p>
        </p:txBody>
      </p:sp>
      <p:sp>
        <p:nvSpPr>
          <p:cNvPr id="3" name="Content Placeholder 2">
            <a:extLst>
              <a:ext uri="{FF2B5EF4-FFF2-40B4-BE49-F238E27FC236}">
                <a16:creationId xmlns:a16="http://schemas.microsoft.com/office/drawing/2014/main" id="{EACFA8A6-1689-F4A2-3D60-756B96143BBA}"/>
              </a:ext>
            </a:extLst>
          </p:cNvPr>
          <p:cNvSpPr>
            <a:spLocks noGrp="1"/>
          </p:cNvSpPr>
          <p:nvPr>
            <p:ph idx="1"/>
          </p:nvPr>
        </p:nvSpPr>
        <p:spPr>
          <a:xfrm>
            <a:off x="226142" y="648929"/>
            <a:ext cx="11749548" cy="6096000"/>
          </a:xfrm>
        </p:spPr>
        <p:txBody>
          <a:bodyPr/>
          <a:lstStyle/>
          <a:p>
            <a:r>
              <a:rPr lang="en-US"/>
              <a:t>screen_code: int </a:t>
            </a:r>
            <a:r>
              <a:rPr lang="en-US" b="1">
                <a:solidFill>
                  <a:srgbClr val="FFFF00"/>
                </a:solidFill>
              </a:rPr>
              <a:t>[PK], identity</a:t>
            </a:r>
          </a:p>
          <a:p>
            <a:r>
              <a:rPr lang="en-US"/>
              <a:t>tabs_code: int , </a:t>
            </a:r>
            <a:r>
              <a:rPr lang="en-US" b="1">
                <a:solidFill>
                  <a:srgbClr val="FFFF00"/>
                </a:solidFill>
              </a:rPr>
              <a:t>[FK] from </a:t>
            </a:r>
            <a:r>
              <a:rPr lang="en-US"/>
              <a:t>Flow_Tabs</a:t>
            </a:r>
            <a:endParaRPr lang="en-US" b="1">
              <a:solidFill>
                <a:srgbClr val="FFFF00"/>
              </a:solidFill>
            </a:endParaRPr>
          </a:p>
          <a:p>
            <a:r>
              <a:rPr lang="en-US"/>
              <a:t>fieldName: string </a:t>
            </a:r>
          </a:p>
          <a:p>
            <a:r>
              <a:rPr lang="en-US"/>
              <a:t>field_code: int // </a:t>
            </a:r>
            <a:r>
              <a:rPr lang="en-US" b="1">
                <a:solidFill>
                  <a:srgbClr val="FFFF00"/>
                </a:solidFill>
              </a:rPr>
              <a:t>field number with each screen</a:t>
            </a:r>
          </a:p>
          <a:p>
            <a:endParaRPr lang="en-US"/>
          </a:p>
          <a:p>
            <a:r>
              <a:rPr lang="en-US"/>
              <a:t>Note: </a:t>
            </a:r>
            <a:r>
              <a:rPr lang="en-US" b="1">
                <a:solidFill>
                  <a:srgbClr val="FFFF00"/>
                </a:solidFill>
              </a:rPr>
              <a:t>tabs_code</a:t>
            </a:r>
            <a:r>
              <a:rPr lang="en-US"/>
              <a:t> refers to the screen</a:t>
            </a:r>
          </a:p>
          <a:p>
            <a:r>
              <a:rPr lang="en-US"/>
              <a:t>The </a:t>
            </a:r>
            <a:r>
              <a:rPr lang="en-US" b="1">
                <a:solidFill>
                  <a:srgbClr val="00B050"/>
                </a:solidFill>
              </a:rPr>
              <a:t>field_code</a:t>
            </a:r>
            <a:r>
              <a:rPr lang="en-US"/>
              <a:t>, </a:t>
            </a:r>
            <a:r>
              <a:rPr lang="en-US" b="1">
                <a:solidFill>
                  <a:srgbClr val="00B050"/>
                </a:solidFill>
              </a:rPr>
              <a:t>tabs_code </a:t>
            </a:r>
            <a:r>
              <a:rPr lang="en-US"/>
              <a:t>are together unique</a:t>
            </a:r>
          </a:p>
          <a:p>
            <a:endParaRPr lang="en-US"/>
          </a:p>
          <a:p>
            <a:endParaRPr lang="en-US"/>
          </a:p>
        </p:txBody>
      </p:sp>
      <p:pic>
        <p:nvPicPr>
          <p:cNvPr id="5" name="Picture 4">
            <a:extLst>
              <a:ext uri="{FF2B5EF4-FFF2-40B4-BE49-F238E27FC236}">
                <a16:creationId xmlns:a16="http://schemas.microsoft.com/office/drawing/2014/main" id="{A9FD775A-C4BE-B9E8-F57F-3CAC5592794F}"/>
              </a:ext>
            </a:extLst>
          </p:cNvPr>
          <p:cNvPicPr>
            <a:picLocks noChangeAspect="1"/>
          </p:cNvPicPr>
          <p:nvPr/>
        </p:nvPicPr>
        <p:blipFill>
          <a:blip r:embed="rId2"/>
          <a:stretch>
            <a:fillRect/>
          </a:stretch>
        </p:blipFill>
        <p:spPr>
          <a:xfrm>
            <a:off x="7315202" y="833284"/>
            <a:ext cx="4650658" cy="2595716"/>
          </a:xfrm>
          <a:prstGeom prst="rect">
            <a:avLst/>
          </a:prstGeom>
        </p:spPr>
      </p:pic>
      <p:sp>
        <p:nvSpPr>
          <p:cNvPr id="6" name="TextBox 5">
            <a:extLst>
              <a:ext uri="{FF2B5EF4-FFF2-40B4-BE49-F238E27FC236}">
                <a16:creationId xmlns:a16="http://schemas.microsoft.com/office/drawing/2014/main" id="{029C1112-E0B3-9E9D-ECBF-277EB116EC39}"/>
              </a:ext>
            </a:extLst>
          </p:cNvPr>
          <p:cNvSpPr txBox="1"/>
          <p:nvPr/>
        </p:nvSpPr>
        <p:spPr>
          <a:xfrm>
            <a:off x="7305372" y="3429000"/>
            <a:ext cx="4650658" cy="369332"/>
          </a:xfrm>
          <a:prstGeom prst="rect">
            <a:avLst/>
          </a:prstGeom>
          <a:noFill/>
        </p:spPr>
        <p:txBody>
          <a:bodyPr wrap="square" rtlCol="0">
            <a:spAutoFit/>
          </a:bodyPr>
          <a:lstStyle/>
          <a:p>
            <a:r>
              <a:rPr lang="en-US" b="1"/>
              <a:t>Description here is from join </a:t>
            </a:r>
          </a:p>
        </p:txBody>
      </p:sp>
    </p:spTree>
    <p:extLst>
      <p:ext uri="{BB962C8B-B14F-4D97-AF65-F5344CB8AC3E}">
        <p14:creationId xmlns:p14="http://schemas.microsoft.com/office/powerpoint/2010/main" val="60402226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D3B53-B836-0405-734D-4B281D1E77AC}"/>
              </a:ext>
            </a:extLst>
          </p:cNvPr>
          <p:cNvSpPr>
            <a:spLocks noGrp="1"/>
          </p:cNvSpPr>
          <p:nvPr>
            <p:ph type="title"/>
          </p:nvPr>
        </p:nvSpPr>
        <p:spPr>
          <a:xfrm>
            <a:off x="0" y="0"/>
            <a:ext cx="12192000" cy="481781"/>
          </a:xfrm>
        </p:spPr>
        <p:txBody>
          <a:bodyPr>
            <a:normAutofit fontScale="90000"/>
          </a:bodyPr>
          <a:lstStyle/>
          <a:p>
            <a:r>
              <a:rPr lang="en-US" sz="3200" b="1">
                <a:solidFill>
                  <a:srgbClr val="FFFF00"/>
                </a:solidFill>
              </a:rPr>
              <a:t>SWF</a:t>
            </a:r>
            <a:r>
              <a:rPr lang="en-US" sz="3200"/>
              <a:t>.</a:t>
            </a:r>
            <a:r>
              <a:rPr lang="en-US" sz="3200" b="1">
                <a:solidFill>
                  <a:srgbClr val="FF0000"/>
                </a:solidFill>
              </a:rPr>
              <a:t>Flow_Actions </a:t>
            </a:r>
            <a:r>
              <a:rPr lang="en-US" sz="3200" b="1">
                <a:solidFill>
                  <a:schemeClr val="tx1"/>
                </a:solidFill>
              </a:rPr>
              <a:t>,</a:t>
            </a:r>
            <a:r>
              <a:rPr lang="en-US" sz="3200" b="1">
                <a:solidFill>
                  <a:srgbClr val="FF0000"/>
                </a:solidFill>
              </a:rPr>
              <a:t> </a:t>
            </a:r>
            <a:r>
              <a:rPr lang="en-US" sz="3200" b="1">
                <a:solidFill>
                  <a:srgbClr val="FFFF00"/>
                </a:solidFill>
              </a:rPr>
              <a:t>SWF</a:t>
            </a:r>
            <a:r>
              <a:rPr lang="en-US" sz="3200"/>
              <a:t>.</a:t>
            </a:r>
            <a:r>
              <a:rPr lang="en-US" sz="3200" b="1">
                <a:solidFill>
                  <a:srgbClr val="FF0000"/>
                </a:solidFill>
              </a:rPr>
              <a:t>Flow_Action_workflow</a:t>
            </a:r>
          </a:p>
        </p:txBody>
      </p:sp>
      <p:sp>
        <p:nvSpPr>
          <p:cNvPr id="3" name="Content Placeholder 2">
            <a:extLst>
              <a:ext uri="{FF2B5EF4-FFF2-40B4-BE49-F238E27FC236}">
                <a16:creationId xmlns:a16="http://schemas.microsoft.com/office/drawing/2014/main" id="{835AAC1E-80E6-763F-4B4B-60C2C3B28629}"/>
              </a:ext>
            </a:extLst>
          </p:cNvPr>
          <p:cNvSpPr>
            <a:spLocks noGrp="1"/>
          </p:cNvSpPr>
          <p:nvPr>
            <p:ph idx="1"/>
          </p:nvPr>
        </p:nvSpPr>
        <p:spPr>
          <a:xfrm>
            <a:off x="0" y="481781"/>
            <a:ext cx="12192000" cy="6306645"/>
          </a:xfrm>
        </p:spPr>
        <p:txBody>
          <a:bodyPr/>
          <a:lstStyle/>
          <a:p>
            <a:r>
              <a:rPr lang="en-US"/>
              <a:t>Code_FA: int [PK, identity]</a:t>
            </a:r>
          </a:p>
          <a:p>
            <a:endParaRPr lang="en-US"/>
          </a:p>
          <a:p>
            <a:endParaRPr lang="en-US"/>
          </a:p>
          <a:p>
            <a:endParaRPr lang="en-US"/>
          </a:p>
          <a:p>
            <a:endParaRPr lang="en-US"/>
          </a:p>
          <a:p>
            <a:endParaRPr lang="en-US"/>
          </a:p>
          <a:p>
            <a:endParaRPr lang="en-US"/>
          </a:p>
          <a:p>
            <a:endParaRPr lang="en-US"/>
          </a:p>
          <a:p>
            <a:endParaRPr lang="en-US"/>
          </a:p>
          <a:p>
            <a:endParaRPr lang="en-US"/>
          </a:p>
          <a:p>
            <a:r>
              <a:rPr lang="en-US" b="1"/>
              <a:t>Flow_Actions: contains options that could be applied into each stage</a:t>
            </a:r>
          </a:p>
          <a:p>
            <a:r>
              <a:rPr lang="en-US" b="1"/>
              <a:t>Flow_Action_workflow: specify the </a:t>
            </a:r>
            <a:r>
              <a:rPr lang="en-US" b="1">
                <a:solidFill>
                  <a:srgbClr val="FFFF00"/>
                </a:solidFill>
              </a:rPr>
              <a:t>NextStep</a:t>
            </a:r>
            <a:r>
              <a:rPr lang="en-US" b="1"/>
              <a:t> </a:t>
            </a:r>
            <a:r>
              <a:rPr lang="en-US" b="1">
                <a:solidFill>
                  <a:srgbClr val="FFC000"/>
                </a:solidFill>
              </a:rPr>
              <a:t>(Code_FA_to)</a:t>
            </a:r>
            <a:r>
              <a:rPr lang="en-US" b="1"/>
              <a:t> based on current step (</a:t>
            </a:r>
            <a:r>
              <a:rPr lang="en-US" b="1">
                <a:solidFill>
                  <a:srgbClr val="FFC000"/>
                </a:solidFill>
              </a:rPr>
              <a:t>Code_FA_from</a:t>
            </a:r>
            <a:r>
              <a:rPr lang="en-US" b="1"/>
              <a:t>) and taken action [ accept / reject ]</a:t>
            </a:r>
          </a:p>
          <a:p>
            <a:endParaRPr lang="en-US"/>
          </a:p>
        </p:txBody>
      </p:sp>
      <p:pic>
        <p:nvPicPr>
          <p:cNvPr id="5" name="Picture 4">
            <a:extLst>
              <a:ext uri="{FF2B5EF4-FFF2-40B4-BE49-F238E27FC236}">
                <a16:creationId xmlns:a16="http://schemas.microsoft.com/office/drawing/2014/main" id="{F154AA93-DA80-428E-5ADA-801AE10A397F}"/>
              </a:ext>
            </a:extLst>
          </p:cNvPr>
          <p:cNvPicPr>
            <a:picLocks noChangeAspect="1"/>
          </p:cNvPicPr>
          <p:nvPr/>
        </p:nvPicPr>
        <p:blipFill>
          <a:blip r:embed="rId2"/>
          <a:stretch>
            <a:fillRect/>
          </a:stretch>
        </p:blipFill>
        <p:spPr>
          <a:xfrm>
            <a:off x="161059" y="963562"/>
            <a:ext cx="7945582" cy="3893573"/>
          </a:xfrm>
          <a:prstGeom prst="rect">
            <a:avLst/>
          </a:prstGeom>
        </p:spPr>
      </p:pic>
      <p:pic>
        <p:nvPicPr>
          <p:cNvPr id="6" name="Picture 5">
            <a:extLst>
              <a:ext uri="{FF2B5EF4-FFF2-40B4-BE49-F238E27FC236}">
                <a16:creationId xmlns:a16="http://schemas.microsoft.com/office/drawing/2014/main" id="{5A0F96E1-B6D0-72A5-7EFE-33820455086B}"/>
              </a:ext>
            </a:extLst>
          </p:cNvPr>
          <p:cNvPicPr>
            <a:picLocks noChangeAspect="1"/>
          </p:cNvPicPr>
          <p:nvPr/>
        </p:nvPicPr>
        <p:blipFill>
          <a:blip r:embed="rId3"/>
          <a:stretch>
            <a:fillRect/>
          </a:stretch>
        </p:blipFill>
        <p:spPr>
          <a:xfrm>
            <a:off x="8267700" y="963562"/>
            <a:ext cx="3849832" cy="2973027"/>
          </a:xfrm>
          <a:prstGeom prst="rect">
            <a:avLst/>
          </a:prstGeom>
        </p:spPr>
      </p:pic>
    </p:spTree>
    <p:extLst>
      <p:ext uri="{BB962C8B-B14F-4D97-AF65-F5344CB8AC3E}">
        <p14:creationId xmlns:p14="http://schemas.microsoft.com/office/powerpoint/2010/main" val="214691003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20BD-154F-81CF-DF90-BBC850095632}"/>
              </a:ext>
            </a:extLst>
          </p:cNvPr>
          <p:cNvSpPr>
            <a:spLocks noGrp="1"/>
          </p:cNvSpPr>
          <p:nvPr>
            <p:ph type="title"/>
          </p:nvPr>
        </p:nvSpPr>
        <p:spPr>
          <a:xfrm>
            <a:off x="913795" y="0"/>
            <a:ext cx="10353762" cy="511277"/>
          </a:xfrm>
        </p:spPr>
        <p:txBody>
          <a:bodyPr>
            <a:normAutofit fontScale="90000"/>
          </a:bodyPr>
          <a:lstStyle/>
          <a:p>
            <a:r>
              <a:rPr lang="en-US" sz="3600" b="1">
                <a:solidFill>
                  <a:srgbClr val="FFFF00"/>
                </a:solidFill>
              </a:rPr>
              <a:t>SWF</a:t>
            </a:r>
            <a:r>
              <a:rPr lang="en-US" sz="3600" b="1"/>
              <a:t>. </a:t>
            </a:r>
            <a:r>
              <a:rPr lang="en-US" sz="3600" b="1">
                <a:solidFill>
                  <a:srgbClr val="FF0000"/>
                </a:solidFill>
              </a:rPr>
              <a:t>Flow_Branch_Type</a:t>
            </a:r>
          </a:p>
        </p:txBody>
      </p:sp>
      <p:sp>
        <p:nvSpPr>
          <p:cNvPr id="3" name="Content Placeholder 2">
            <a:extLst>
              <a:ext uri="{FF2B5EF4-FFF2-40B4-BE49-F238E27FC236}">
                <a16:creationId xmlns:a16="http://schemas.microsoft.com/office/drawing/2014/main" id="{BD156EFC-FDDD-4719-1C2D-1A7E95ADF67A}"/>
              </a:ext>
            </a:extLst>
          </p:cNvPr>
          <p:cNvSpPr>
            <a:spLocks noGrp="1"/>
          </p:cNvSpPr>
          <p:nvPr>
            <p:ph idx="1"/>
          </p:nvPr>
        </p:nvSpPr>
        <p:spPr>
          <a:xfrm>
            <a:off x="337930" y="511277"/>
            <a:ext cx="11678479" cy="6204155"/>
          </a:xfrm>
        </p:spPr>
        <p:txBody>
          <a:bodyPr/>
          <a:lstStyle/>
          <a:p>
            <a:r>
              <a:rPr lang="en-US"/>
              <a:t>int FBT_ID </a:t>
            </a:r>
            <a:r>
              <a:rPr lang="en-US" b="1">
                <a:solidFill>
                  <a:srgbClr val="FFFF00"/>
                </a:solidFill>
              </a:rPr>
              <a:t>[PK]</a:t>
            </a:r>
          </a:p>
          <a:p>
            <a:r>
              <a:rPr lang="en-US"/>
              <a:t>string Type</a:t>
            </a:r>
          </a:p>
          <a:p>
            <a:r>
              <a:rPr lang="en-US"/>
              <a:t>string TypeE</a:t>
            </a:r>
          </a:p>
          <a:p>
            <a:r>
              <a:rPr lang="en-US"/>
              <a:t>ICollection&lt;Branch&gt; </a:t>
            </a:r>
            <a:r>
              <a:rPr lang="en-US" b="1">
                <a:solidFill>
                  <a:srgbClr val="00B0F0"/>
                </a:solidFill>
              </a:rPr>
              <a:t>Branches</a:t>
            </a:r>
          </a:p>
        </p:txBody>
      </p:sp>
      <p:pic>
        <p:nvPicPr>
          <p:cNvPr id="5" name="Picture 4">
            <a:extLst>
              <a:ext uri="{FF2B5EF4-FFF2-40B4-BE49-F238E27FC236}">
                <a16:creationId xmlns:a16="http://schemas.microsoft.com/office/drawing/2014/main" id="{4DD5E613-C8E9-F646-6A0B-58840459A1BB}"/>
              </a:ext>
            </a:extLst>
          </p:cNvPr>
          <p:cNvPicPr>
            <a:picLocks noChangeAspect="1"/>
          </p:cNvPicPr>
          <p:nvPr/>
        </p:nvPicPr>
        <p:blipFill>
          <a:blip r:embed="rId2"/>
          <a:stretch>
            <a:fillRect/>
          </a:stretch>
        </p:blipFill>
        <p:spPr>
          <a:xfrm>
            <a:off x="6090676" y="961101"/>
            <a:ext cx="4036550" cy="1413521"/>
          </a:xfrm>
          <a:prstGeom prst="rect">
            <a:avLst/>
          </a:prstGeom>
        </p:spPr>
      </p:pic>
    </p:spTree>
    <p:extLst>
      <p:ext uri="{BB962C8B-B14F-4D97-AF65-F5344CB8AC3E}">
        <p14:creationId xmlns:p14="http://schemas.microsoft.com/office/powerpoint/2010/main" val="23208407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37158-7743-9EE1-4BAF-D2210E79E2D1}"/>
              </a:ext>
            </a:extLst>
          </p:cNvPr>
          <p:cNvSpPr>
            <a:spLocks noGrp="1"/>
          </p:cNvSpPr>
          <p:nvPr>
            <p:ph type="title"/>
          </p:nvPr>
        </p:nvSpPr>
        <p:spPr>
          <a:xfrm>
            <a:off x="913795" y="0"/>
            <a:ext cx="10353762" cy="747252"/>
          </a:xfrm>
        </p:spPr>
        <p:txBody>
          <a:bodyPr/>
          <a:lstStyle/>
          <a:p>
            <a:r>
              <a:rPr lang="en-US" b="1">
                <a:solidFill>
                  <a:srgbClr val="FFFF00"/>
                </a:solidFill>
              </a:rPr>
              <a:t>SWF</a:t>
            </a:r>
            <a:r>
              <a:rPr lang="en-US"/>
              <a:t>.</a:t>
            </a:r>
            <a:r>
              <a:rPr lang="en-US" b="1">
                <a:solidFill>
                  <a:srgbClr val="FF0000"/>
                </a:solidFill>
              </a:rPr>
              <a:t>Flow_Sectors [ </a:t>
            </a:r>
            <a:r>
              <a:rPr lang="ar-EG" b="1">
                <a:solidFill>
                  <a:srgbClr val="FF0000"/>
                </a:solidFill>
              </a:rPr>
              <a:t>القطاع</a:t>
            </a:r>
            <a:r>
              <a:rPr lang="en-US" b="1">
                <a:solidFill>
                  <a:srgbClr val="FF0000"/>
                </a:solidFill>
              </a:rPr>
              <a:t> ]</a:t>
            </a:r>
          </a:p>
        </p:txBody>
      </p:sp>
      <p:sp>
        <p:nvSpPr>
          <p:cNvPr id="3" name="Content Placeholder 2">
            <a:extLst>
              <a:ext uri="{FF2B5EF4-FFF2-40B4-BE49-F238E27FC236}">
                <a16:creationId xmlns:a16="http://schemas.microsoft.com/office/drawing/2014/main" id="{3191A6B9-0A9D-DC5E-EB63-BEA30659E4E3}"/>
              </a:ext>
            </a:extLst>
          </p:cNvPr>
          <p:cNvSpPr>
            <a:spLocks noGrp="1"/>
          </p:cNvSpPr>
          <p:nvPr>
            <p:ph idx="1"/>
          </p:nvPr>
        </p:nvSpPr>
        <p:spPr>
          <a:xfrm>
            <a:off x="304800" y="747252"/>
            <a:ext cx="11552903" cy="5899353"/>
          </a:xfrm>
        </p:spPr>
        <p:txBody>
          <a:bodyPr/>
          <a:lstStyle/>
          <a:p>
            <a:r>
              <a:rPr lang="en-US"/>
              <a:t>Code_Sectors </a:t>
            </a:r>
          </a:p>
          <a:p>
            <a:r>
              <a:rPr lang="en-US"/>
              <a:t>string name_ar</a:t>
            </a:r>
          </a:p>
          <a:p>
            <a:r>
              <a:rPr lang="en-US"/>
              <a:t>string name_eng</a:t>
            </a:r>
          </a:p>
          <a:p>
            <a:r>
              <a:rPr lang="en-US"/>
              <a:t>public virtual ICollection&lt;Flow_Enterprises&gt; Flow_Enterprises</a:t>
            </a:r>
          </a:p>
          <a:p>
            <a:r>
              <a:rPr lang="en-US"/>
              <a:t>public virtual ICollection&lt;Flow_Main_activity&gt; Flow_Main_activity</a:t>
            </a:r>
          </a:p>
          <a:p>
            <a:endParaRPr lang="en-US"/>
          </a:p>
        </p:txBody>
      </p:sp>
      <p:pic>
        <p:nvPicPr>
          <p:cNvPr id="5" name="Picture 4">
            <a:extLst>
              <a:ext uri="{FF2B5EF4-FFF2-40B4-BE49-F238E27FC236}">
                <a16:creationId xmlns:a16="http://schemas.microsoft.com/office/drawing/2014/main" id="{CCAF1E98-3135-028C-5CA3-C5AD3F870432}"/>
              </a:ext>
            </a:extLst>
          </p:cNvPr>
          <p:cNvPicPr>
            <a:picLocks noChangeAspect="1"/>
          </p:cNvPicPr>
          <p:nvPr/>
        </p:nvPicPr>
        <p:blipFill>
          <a:blip r:embed="rId2"/>
          <a:stretch>
            <a:fillRect/>
          </a:stretch>
        </p:blipFill>
        <p:spPr>
          <a:xfrm>
            <a:off x="8233810" y="674455"/>
            <a:ext cx="3486242" cy="1419851"/>
          </a:xfrm>
          <a:prstGeom prst="rect">
            <a:avLst/>
          </a:prstGeom>
        </p:spPr>
      </p:pic>
    </p:spTree>
    <p:extLst>
      <p:ext uri="{BB962C8B-B14F-4D97-AF65-F5344CB8AC3E}">
        <p14:creationId xmlns:p14="http://schemas.microsoft.com/office/powerpoint/2010/main" val="388377880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DD817-260C-AF04-11DE-8E1E001CB164}"/>
              </a:ext>
            </a:extLst>
          </p:cNvPr>
          <p:cNvSpPr>
            <a:spLocks noGrp="1"/>
          </p:cNvSpPr>
          <p:nvPr>
            <p:ph type="title"/>
          </p:nvPr>
        </p:nvSpPr>
        <p:spPr>
          <a:xfrm>
            <a:off x="919119" y="0"/>
            <a:ext cx="10353762" cy="599768"/>
          </a:xfrm>
        </p:spPr>
        <p:txBody>
          <a:bodyPr>
            <a:normAutofit fontScale="90000"/>
          </a:bodyPr>
          <a:lstStyle/>
          <a:p>
            <a:r>
              <a:rPr lang="en-US" b="1">
                <a:solidFill>
                  <a:srgbClr val="FFFF00"/>
                </a:solidFill>
              </a:rPr>
              <a:t>SWF</a:t>
            </a:r>
            <a:r>
              <a:rPr lang="en-US"/>
              <a:t>.</a:t>
            </a:r>
            <a:r>
              <a:rPr lang="en-US" b="1">
                <a:solidFill>
                  <a:srgbClr val="FF0000"/>
                </a:solidFill>
              </a:rPr>
              <a:t>Flow_Main_activity [</a:t>
            </a:r>
            <a:r>
              <a:rPr lang="ar-EG" b="1">
                <a:solidFill>
                  <a:srgbClr val="FF0000"/>
                </a:solidFill>
              </a:rPr>
              <a:t>النشاط الرئيسي</a:t>
            </a:r>
            <a:r>
              <a:rPr lang="en-US" b="1">
                <a:solidFill>
                  <a:srgbClr val="FF0000"/>
                </a:solidFill>
              </a:rPr>
              <a:t>]</a:t>
            </a:r>
          </a:p>
        </p:txBody>
      </p:sp>
      <p:sp>
        <p:nvSpPr>
          <p:cNvPr id="3" name="Content Placeholder 2">
            <a:extLst>
              <a:ext uri="{FF2B5EF4-FFF2-40B4-BE49-F238E27FC236}">
                <a16:creationId xmlns:a16="http://schemas.microsoft.com/office/drawing/2014/main" id="{F7D378FD-9F52-03D3-BD02-7346B02022EE}"/>
              </a:ext>
            </a:extLst>
          </p:cNvPr>
          <p:cNvSpPr>
            <a:spLocks noGrp="1"/>
          </p:cNvSpPr>
          <p:nvPr>
            <p:ph idx="1"/>
          </p:nvPr>
        </p:nvSpPr>
        <p:spPr>
          <a:xfrm>
            <a:off x="0" y="599769"/>
            <a:ext cx="11267557" cy="6096000"/>
          </a:xfrm>
        </p:spPr>
        <p:txBody>
          <a:bodyPr>
            <a:normAutofit/>
          </a:bodyPr>
          <a:lstStyle/>
          <a:p>
            <a:r>
              <a:rPr lang="en-US"/>
              <a:t> int Code_Main </a:t>
            </a:r>
          </a:p>
          <a:p>
            <a:r>
              <a:rPr lang="en-US"/>
              <a:t> string name_ar </a:t>
            </a:r>
          </a:p>
          <a:p>
            <a:r>
              <a:rPr lang="en-US"/>
              <a:t>string name_eng </a:t>
            </a:r>
          </a:p>
          <a:p>
            <a:r>
              <a:rPr lang="en-US"/>
              <a:t>int Code_Sectors  [ </a:t>
            </a:r>
            <a:r>
              <a:rPr lang="en-US" b="1">
                <a:solidFill>
                  <a:srgbClr val="FFFF00"/>
                </a:solidFill>
              </a:rPr>
              <a:t>FK</a:t>
            </a:r>
            <a:r>
              <a:rPr lang="en-US" b="1">
                <a:solidFill>
                  <a:srgbClr val="FFC000"/>
                </a:solidFill>
              </a:rPr>
              <a:t>, from Flow_Sectors</a:t>
            </a:r>
            <a:r>
              <a:rPr lang="en-US"/>
              <a:t> ] </a:t>
            </a:r>
            <a:r>
              <a:rPr lang="ar-EG"/>
              <a:t>القطاع</a:t>
            </a:r>
            <a:endParaRPr lang="en-US"/>
          </a:p>
          <a:p>
            <a:r>
              <a:rPr lang="en-US"/>
              <a:t>int? Data_Migration </a:t>
            </a:r>
          </a:p>
          <a:p>
            <a:r>
              <a:rPr lang="en-US"/>
              <a:t>virtual ICollection&lt;Flow_Enterprises&gt; Flow_Enterprises </a:t>
            </a:r>
          </a:p>
          <a:p>
            <a:r>
              <a:rPr lang="en-US"/>
              <a:t>Flow_Sectors Flow_Sectors </a:t>
            </a:r>
          </a:p>
          <a:p>
            <a:r>
              <a:rPr lang="en-US"/>
              <a:t>ICollection&lt;</a:t>
            </a:r>
            <a:r>
              <a:rPr lang="en-US">
                <a:solidFill>
                  <a:srgbClr val="FF0000"/>
                </a:solidFill>
              </a:rPr>
              <a:t>Flow_Sub_activities</a:t>
            </a:r>
            <a:r>
              <a:rPr lang="en-US"/>
              <a:t>&gt; Flow_Sub_activities </a:t>
            </a:r>
          </a:p>
          <a:p>
            <a:r>
              <a:rPr lang="en-US"/>
              <a:t>ICollection&lt;Nano_Business_Owner&gt; Nano_Business_Owner </a:t>
            </a:r>
          </a:p>
        </p:txBody>
      </p:sp>
      <p:pic>
        <p:nvPicPr>
          <p:cNvPr id="5" name="Picture 4">
            <a:extLst>
              <a:ext uri="{FF2B5EF4-FFF2-40B4-BE49-F238E27FC236}">
                <a16:creationId xmlns:a16="http://schemas.microsoft.com/office/drawing/2014/main" id="{6381B033-0C5D-35D4-B6AA-90CFA43B0169}"/>
              </a:ext>
            </a:extLst>
          </p:cNvPr>
          <p:cNvPicPr>
            <a:picLocks noChangeAspect="1"/>
          </p:cNvPicPr>
          <p:nvPr/>
        </p:nvPicPr>
        <p:blipFill>
          <a:blip r:embed="rId2"/>
          <a:stretch>
            <a:fillRect/>
          </a:stretch>
        </p:blipFill>
        <p:spPr>
          <a:xfrm>
            <a:off x="6723254" y="738587"/>
            <a:ext cx="5174106" cy="1864727"/>
          </a:xfrm>
          <a:prstGeom prst="rect">
            <a:avLst/>
          </a:prstGeom>
        </p:spPr>
      </p:pic>
    </p:spTree>
    <p:extLst>
      <p:ext uri="{BB962C8B-B14F-4D97-AF65-F5344CB8AC3E}">
        <p14:creationId xmlns:p14="http://schemas.microsoft.com/office/powerpoint/2010/main" val="127095623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48D99-553D-4B5A-62F8-F30EBF2FF581}"/>
              </a:ext>
            </a:extLst>
          </p:cNvPr>
          <p:cNvSpPr>
            <a:spLocks noGrp="1"/>
          </p:cNvSpPr>
          <p:nvPr>
            <p:ph type="title"/>
          </p:nvPr>
        </p:nvSpPr>
        <p:spPr>
          <a:xfrm>
            <a:off x="913795" y="78659"/>
            <a:ext cx="10353762" cy="678426"/>
          </a:xfrm>
        </p:spPr>
        <p:txBody>
          <a:bodyPr>
            <a:normAutofit fontScale="90000"/>
          </a:bodyPr>
          <a:lstStyle/>
          <a:p>
            <a:r>
              <a:rPr lang="en-US" b="1">
                <a:solidFill>
                  <a:srgbClr val="FFFF00"/>
                </a:solidFill>
              </a:rPr>
              <a:t>SWF</a:t>
            </a:r>
            <a:r>
              <a:rPr lang="en-US"/>
              <a:t>.</a:t>
            </a:r>
            <a:r>
              <a:rPr lang="en-US" b="1">
                <a:solidFill>
                  <a:srgbClr val="FF0000"/>
                </a:solidFill>
              </a:rPr>
              <a:t>Flow_Sub_activities</a:t>
            </a:r>
            <a:r>
              <a:rPr lang="ar-EG" b="1">
                <a:solidFill>
                  <a:srgbClr val="FF0000"/>
                </a:solidFill>
              </a:rPr>
              <a:t>  </a:t>
            </a:r>
            <a:r>
              <a:rPr lang="en-US" b="1">
                <a:solidFill>
                  <a:srgbClr val="FF0000"/>
                </a:solidFill>
              </a:rPr>
              <a:t>[</a:t>
            </a:r>
            <a:r>
              <a:rPr lang="ar-EG" b="1">
                <a:solidFill>
                  <a:srgbClr val="FF0000"/>
                </a:solidFill>
              </a:rPr>
              <a:t>النشاط الفرعي</a:t>
            </a:r>
            <a:r>
              <a:rPr lang="en-US" b="1">
                <a:solidFill>
                  <a:srgbClr val="FF0000"/>
                </a:solidFill>
              </a:rPr>
              <a:t>]</a:t>
            </a:r>
          </a:p>
        </p:txBody>
      </p:sp>
      <p:sp>
        <p:nvSpPr>
          <p:cNvPr id="3" name="Content Placeholder 2">
            <a:extLst>
              <a:ext uri="{FF2B5EF4-FFF2-40B4-BE49-F238E27FC236}">
                <a16:creationId xmlns:a16="http://schemas.microsoft.com/office/drawing/2014/main" id="{B622469A-E6CE-8E6D-FEDC-224855C38A77}"/>
              </a:ext>
            </a:extLst>
          </p:cNvPr>
          <p:cNvSpPr>
            <a:spLocks noGrp="1"/>
          </p:cNvSpPr>
          <p:nvPr>
            <p:ph idx="1"/>
          </p:nvPr>
        </p:nvSpPr>
        <p:spPr>
          <a:xfrm>
            <a:off x="363794" y="757085"/>
            <a:ext cx="11670890" cy="5751870"/>
          </a:xfrm>
        </p:spPr>
        <p:txBody>
          <a:bodyPr/>
          <a:lstStyle/>
          <a:p>
            <a:r>
              <a:rPr lang="en-US"/>
              <a:t>Code</a:t>
            </a:r>
          </a:p>
          <a:p>
            <a:r>
              <a:rPr lang="en-US"/>
              <a:t>name_ar</a:t>
            </a:r>
          </a:p>
          <a:p>
            <a:r>
              <a:rPr lang="en-US"/>
              <a:t>name_eng</a:t>
            </a:r>
          </a:p>
          <a:p>
            <a:r>
              <a:rPr lang="en-US"/>
              <a:t>Code_Main </a:t>
            </a:r>
            <a:r>
              <a:rPr lang="en-US" sz="2400" b="1"/>
              <a:t>[</a:t>
            </a:r>
            <a:r>
              <a:rPr lang="en-US" b="1"/>
              <a:t> </a:t>
            </a:r>
            <a:r>
              <a:rPr lang="en-US" b="1">
                <a:solidFill>
                  <a:srgbClr val="FFFF00"/>
                </a:solidFill>
              </a:rPr>
              <a:t>FK, </a:t>
            </a:r>
            <a:r>
              <a:rPr lang="en-US" b="1">
                <a:solidFill>
                  <a:srgbClr val="FFC000"/>
                </a:solidFill>
              </a:rPr>
              <a:t>from flow_main_activities</a:t>
            </a:r>
            <a:r>
              <a:rPr lang="en-US" b="1">
                <a:solidFill>
                  <a:srgbClr val="FFFF00"/>
                </a:solidFill>
              </a:rPr>
              <a:t> </a:t>
            </a:r>
            <a:r>
              <a:rPr lang="en-US" sz="2400" b="1"/>
              <a:t>]</a:t>
            </a:r>
            <a:endParaRPr lang="en-US" b="1"/>
          </a:p>
          <a:p>
            <a:r>
              <a:rPr lang="en-US"/>
              <a:t>Flag_Block</a:t>
            </a:r>
          </a:p>
          <a:p>
            <a:r>
              <a:rPr lang="en-US"/>
              <a:t>Data_Migration</a:t>
            </a:r>
          </a:p>
          <a:p>
            <a:r>
              <a:rPr lang="en-US"/>
              <a:t>Flow_Main_activity Flow_Main_activity</a:t>
            </a:r>
          </a:p>
          <a:p>
            <a:r>
              <a:rPr lang="en-US"/>
              <a:t>ICollection&lt;Flow_Enterprises&gt; Flow_Enterprises</a:t>
            </a:r>
          </a:p>
          <a:p>
            <a:r>
              <a:rPr lang="en-US"/>
              <a:t>ICollection&lt;Nano_Business_Owner&gt; Nano_Business_Owner</a:t>
            </a:r>
          </a:p>
        </p:txBody>
      </p:sp>
      <p:pic>
        <p:nvPicPr>
          <p:cNvPr id="5" name="Picture 4">
            <a:extLst>
              <a:ext uri="{FF2B5EF4-FFF2-40B4-BE49-F238E27FC236}">
                <a16:creationId xmlns:a16="http://schemas.microsoft.com/office/drawing/2014/main" id="{298D9C30-50D0-9E8F-825A-10BEB70F8038}"/>
              </a:ext>
            </a:extLst>
          </p:cNvPr>
          <p:cNvPicPr>
            <a:picLocks noChangeAspect="1"/>
          </p:cNvPicPr>
          <p:nvPr/>
        </p:nvPicPr>
        <p:blipFill>
          <a:blip r:embed="rId2"/>
          <a:stretch>
            <a:fillRect/>
          </a:stretch>
        </p:blipFill>
        <p:spPr>
          <a:xfrm>
            <a:off x="6527612" y="757085"/>
            <a:ext cx="5428415" cy="2738660"/>
          </a:xfrm>
          <a:prstGeom prst="rect">
            <a:avLst/>
          </a:prstGeom>
        </p:spPr>
      </p:pic>
    </p:spTree>
    <p:extLst>
      <p:ext uri="{BB962C8B-B14F-4D97-AF65-F5344CB8AC3E}">
        <p14:creationId xmlns:p14="http://schemas.microsoft.com/office/powerpoint/2010/main" val="383126547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6718-CD91-8036-6E3E-58E76553F235}"/>
              </a:ext>
            </a:extLst>
          </p:cNvPr>
          <p:cNvSpPr>
            <a:spLocks noGrp="1"/>
          </p:cNvSpPr>
          <p:nvPr>
            <p:ph type="title"/>
          </p:nvPr>
        </p:nvSpPr>
        <p:spPr>
          <a:xfrm>
            <a:off x="913795" y="0"/>
            <a:ext cx="10353762" cy="530942"/>
          </a:xfrm>
        </p:spPr>
        <p:txBody>
          <a:bodyPr>
            <a:normAutofit fontScale="90000"/>
          </a:bodyPr>
          <a:lstStyle/>
          <a:p>
            <a:r>
              <a:rPr lang="en-US" b="1">
                <a:solidFill>
                  <a:srgbClr val="FFFF00"/>
                </a:solidFill>
              </a:rPr>
              <a:t>SWF</a:t>
            </a:r>
            <a:r>
              <a:rPr lang="en-US" b="1">
                <a:solidFill>
                  <a:srgbClr val="FF0000"/>
                </a:solidFill>
              </a:rPr>
              <a:t>.Flow_Relationships</a:t>
            </a:r>
          </a:p>
        </p:txBody>
      </p:sp>
      <p:sp>
        <p:nvSpPr>
          <p:cNvPr id="3" name="Content Placeholder 2">
            <a:extLst>
              <a:ext uri="{FF2B5EF4-FFF2-40B4-BE49-F238E27FC236}">
                <a16:creationId xmlns:a16="http://schemas.microsoft.com/office/drawing/2014/main" id="{9D71FCDA-98E2-D135-C67C-DB3B026CF36C}"/>
              </a:ext>
            </a:extLst>
          </p:cNvPr>
          <p:cNvSpPr>
            <a:spLocks noGrp="1"/>
          </p:cNvSpPr>
          <p:nvPr>
            <p:ph idx="1"/>
          </p:nvPr>
        </p:nvSpPr>
        <p:spPr>
          <a:xfrm>
            <a:off x="353961" y="530942"/>
            <a:ext cx="11552904" cy="6115663"/>
          </a:xfrm>
        </p:spPr>
        <p:txBody>
          <a:bodyPr/>
          <a:lstStyle/>
          <a:p>
            <a:r>
              <a:rPr lang="en-US"/>
              <a:t> code_relation: int [PK]</a:t>
            </a:r>
          </a:p>
          <a:p>
            <a:r>
              <a:rPr lang="en-US"/>
              <a:t> name_Ar : string </a:t>
            </a:r>
          </a:p>
          <a:p>
            <a:r>
              <a:rPr lang="en-US"/>
              <a:t> name_Eng : string</a:t>
            </a:r>
            <a:endParaRPr lang="ar-EG"/>
          </a:p>
          <a:p>
            <a:endParaRPr lang="en-US"/>
          </a:p>
        </p:txBody>
      </p:sp>
      <p:pic>
        <p:nvPicPr>
          <p:cNvPr id="7" name="Picture 6">
            <a:extLst>
              <a:ext uri="{FF2B5EF4-FFF2-40B4-BE49-F238E27FC236}">
                <a16:creationId xmlns:a16="http://schemas.microsoft.com/office/drawing/2014/main" id="{95B5E2DA-2922-4310-7254-CE8696B703F4}"/>
              </a:ext>
            </a:extLst>
          </p:cNvPr>
          <p:cNvPicPr>
            <a:picLocks noChangeAspect="1"/>
          </p:cNvPicPr>
          <p:nvPr/>
        </p:nvPicPr>
        <p:blipFill>
          <a:blip r:embed="rId2"/>
          <a:stretch>
            <a:fillRect/>
          </a:stretch>
        </p:blipFill>
        <p:spPr>
          <a:xfrm>
            <a:off x="3988992" y="704793"/>
            <a:ext cx="2107007" cy="1546344"/>
          </a:xfrm>
          <a:prstGeom prst="rect">
            <a:avLst/>
          </a:prstGeom>
        </p:spPr>
      </p:pic>
    </p:spTree>
    <p:extLst>
      <p:ext uri="{BB962C8B-B14F-4D97-AF65-F5344CB8AC3E}">
        <p14:creationId xmlns:p14="http://schemas.microsoft.com/office/powerpoint/2010/main" val="322769398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D2FC7-BCA3-0947-4C4F-377029E22462}"/>
              </a:ext>
            </a:extLst>
          </p:cNvPr>
          <p:cNvSpPr>
            <a:spLocks noGrp="1"/>
          </p:cNvSpPr>
          <p:nvPr>
            <p:ph type="title"/>
          </p:nvPr>
        </p:nvSpPr>
        <p:spPr>
          <a:xfrm>
            <a:off x="919119" y="98323"/>
            <a:ext cx="10353762" cy="766916"/>
          </a:xfrm>
        </p:spPr>
        <p:txBody>
          <a:bodyPr/>
          <a:lstStyle/>
          <a:p>
            <a:r>
              <a:rPr lang="en-US" b="1">
                <a:solidFill>
                  <a:srgbClr val="FFFF00"/>
                </a:solidFill>
                <a:effectLst/>
              </a:rPr>
              <a:t>SWF</a:t>
            </a:r>
            <a:r>
              <a:rPr lang="en-US" b="1">
                <a:effectLst/>
              </a:rPr>
              <a:t>.</a:t>
            </a:r>
            <a:r>
              <a:rPr lang="en-US" b="1">
                <a:solidFill>
                  <a:srgbClr val="FF0000"/>
                </a:solidFill>
                <a:effectLst/>
              </a:rPr>
              <a:t>Flow_Customers_jobs</a:t>
            </a:r>
            <a:endParaRPr lang="en-US">
              <a:solidFill>
                <a:srgbClr val="FF0000"/>
              </a:solidFill>
            </a:endParaRPr>
          </a:p>
        </p:txBody>
      </p:sp>
      <p:sp>
        <p:nvSpPr>
          <p:cNvPr id="7" name="Content Placeholder 6">
            <a:extLst>
              <a:ext uri="{FF2B5EF4-FFF2-40B4-BE49-F238E27FC236}">
                <a16:creationId xmlns:a16="http://schemas.microsoft.com/office/drawing/2014/main" id="{05F54450-0FD0-65BB-EFB7-DDF37D562034}"/>
              </a:ext>
            </a:extLst>
          </p:cNvPr>
          <p:cNvSpPr>
            <a:spLocks noGrp="1"/>
          </p:cNvSpPr>
          <p:nvPr>
            <p:ph idx="1"/>
          </p:nvPr>
        </p:nvSpPr>
        <p:spPr>
          <a:xfrm>
            <a:off x="324466" y="1149639"/>
            <a:ext cx="11326760" cy="5398645"/>
          </a:xfrm>
        </p:spPr>
        <p:txBody>
          <a:bodyPr/>
          <a:lstStyle/>
          <a:p>
            <a:r>
              <a:rPr lang="en-US"/>
              <a:t>public int Code_job </a:t>
            </a:r>
          </a:p>
          <a:p>
            <a:r>
              <a:rPr lang="en-US"/>
              <a:t>public string name_Ar </a:t>
            </a:r>
          </a:p>
          <a:p>
            <a:r>
              <a:rPr lang="en-US"/>
              <a:t>public string name_Eng </a:t>
            </a:r>
          </a:p>
          <a:p>
            <a:r>
              <a:rPr lang="en-US"/>
              <a:t>public int I_score </a:t>
            </a:r>
          </a:p>
        </p:txBody>
      </p:sp>
      <p:pic>
        <p:nvPicPr>
          <p:cNvPr id="8" name="Content Placeholder 4">
            <a:extLst>
              <a:ext uri="{FF2B5EF4-FFF2-40B4-BE49-F238E27FC236}">
                <a16:creationId xmlns:a16="http://schemas.microsoft.com/office/drawing/2014/main" id="{0045C470-86DA-1BAD-F025-6D3EAC01831E}"/>
              </a:ext>
            </a:extLst>
          </p:cNvPr>
          <p:cNvPicPr>
            <a:picLocks noChangeAspect="1"/>
          </p:cNvPicPr>
          <p:nvPr/>
        </p:nvPicPr>
        <p:blipFill>
          <a:blip r:embed="rId2"/>
          <a:stretch>
            <a:fillRect/>
          </a:stretch>
        </p:blipFill>
        <p:spPr>
          <a:xfrm>
            <a:off x="6999937" y="1149639"/>
            <a:ext cx="4464450" cy="2802501"/>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0857435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051E-20B0-456A-27A0-A849223FE5DE}"/>
              </a:ext>
            </a:extLst>
          </p:cNvPr>
          <p:cNvSpPr>
            <a:spLocks noGrp="1"/>
          </p:cNvSpPr>
          <p:nvPr>
            <p:ph type="title"/>
          </p:nvPr>
        </p:nvSpPr>
        <p:spPr>
          <a:xfrm>
            <a:off x="85724" y="0"/>
            <a:ext cx="12106275" cy="550606"/>
          </a:xfrm>
        </p:spPr>
        <p:txBody>
          <a:bodyPr>
            <a:noAutofit/>
          </a:bodyPr>
          <a:lstStyle/>
          <a:p>
            <a:r>
              <a:rPr lang="en-US" sz="3200" b="1">
                <a:solidFill>
                  <a:srgbClr val="FFFF00"/>
                </a:solidFill>
              </a:rPr>
              <a:t>SWF</a:t>
            </a:r>
            <a:r>
              <a:rPr lang="en-US" sz="3200"/>
              <a:t>.</a:t>
            </a:r>
            <a:r>
              <a:rPr lang="en-US" sz="3200" b="1">
                <a:solidFill>
                  <a:srgbClr val="FF0000"/>
                </a:solidFill>
              </a:rPr>
              <a:t>Flow_districts </a:t>
            </a:r>
            <a:r>
              <a:rPr lang="en-US" sz="3200" b="1">
                <a:solidFill>
                  <a:srgbClr val="FF0000"/>
                </a:solidFill>
                <a:sym typeface="Wingdings" panose="05000000000000000000" pitchFamily="2" charset="2"/>
              </a:rPr>
              <a:t> [</a:t>
            </a:r>
            <a:r>
              <a:rPr lang="ar-EG" sz="3200" b="1">
                <a:solidFill>
                  <a:srgbClr val="FF0000"/>
                </a:solidFill>
                <a:sym typeface="Wingdings" panose="05000000000000000000" pitchFamily="2" charset="2"/>
              </a:rPr>
              <a:t>مدينة أو مركز او مركز السجل</a:t>
            </a:r>
            <a:r>
              <a:rPr lang="en-US" sz="3200" b="1">
                <a:solidFill>
                  <a:srgbClr val="FF0000"/>
                </a:solidFill>
                <a:sym typeface="Wingdings" panose="05000000000000000000" pitchFamily="2" charset="2"/>
              </a:rPr>
              <a:t> </a:t>
            </a:r>
            <a:r>
              <a:rPr lang="ar-EG" sz="3200" b="1">
                <a:solidFill>
                  <a:srgbClr val="FF0000"/>
                </a:solidFill>
                <a:sym typeface="Wingdings" panose="05000000000000000000" pitchFamily="2" charset="2"/>
              </a:rPr>
              <a:t>جهة الاصدار أو</a:t>
            </a:r>
            <a:r>
              <a:rPr lang="en-US" sz="3200" b="1">
                <a:solidFill>
                  <a:srgbClr val="FF0000"/>
                </a:solidFill>
                <a:sym typeface="Wingdings" panose="05000000000000000000" pitchFamily="2" charset="2"/>
              </a:rPr>
              <a:t>]</a:t>
            </a:r>
            <a:endParaRPr lang="en-US" sz="3200" b="1">
              <a:solidFill>
                <a:srgbClr val="FF0000"/>
              </a:solidFill>
            </a:endParaRPr>
          </a:p>
        </p:txBody>
      </p:sp>
      <p:sp>
        <p:nvSpPr>
          <p:cNvPr id="3" name="Content Placeholder 2">
            <a:extLst>
              <a:ext uri="{FF2B5EF4-FFF2-40B4-BE49-F238E27FC236}">
                <a16:creationId xmlns:a16="http://schemas.microsoft.com/office/drawing/2014/main" id="{7CABE9C4-1036-08DF-688D-224BA7DC9F6A}"/>
              </a:ext>
            </a:extLst>
          </p:cNvPr>
          <p:cNvSpPr>
            <a:spLocks noGrp="1"/>
          </p:cNvSpPr>
          <p:nvPr>
            <p:ph idx="1"/>
          </p:nvPr>
        </p:nvSpPr>
        <p:spPr>
          <a:xfrm>
            <a:off x="383458" y="550606"/>
            <a:ext cx="11405419" cy="6076335"/>
          </a:xfrm>
        </p:spPr>
        <p:txBody>
          <a:bodyPr/>
          <a:lstStyle/>
          <a:p>
            <a:r>
              <a:rPr lang="en-US"/>
              <a:t>public int Code_district   </a:t>
            </a:r>
            <a:r>
              <a:rPr lang="en-US" b="1"/>
              <a:t>[FK]</a:t>
            </a:r>
          </a:p>
          <a:p>
            <a:r>
              <a:rPr lang="en-US"/>
              <a:t>public string name_ar </a:t>
            </a:r>
          </a:p>
          <a:p>
            <a:r>
              <a:rPr lang="en-US"/>
              <a:t>public string name_eng </a:t>
            </a:r>
          </a:p>
          <a:p>
            <a:r>
              <a:rPr lang="en-US"/>
              <a:t>public int GovId </a:t>
            </a:r>
          </a:p>
          <a:p>
            <a:r>
              <a:rPr lang="en-US"/>
              <a:t>public string District_DB_Code </a:t>
            </a:r>
          </a:p>
        </p:txBody>
      </p:sp>
      <p:pic>
        <p:nvPicPr>
          <p:cNvPr id="5" name="Picture 4">
            <a:extLst>
              <a:ext uri="{FF2B5EF4-FFF2-40B4-BE49-F238E27FC236}">
                <a16:creationId xmlns:a16="http://schemas.microsoft.com/office/drawing/2014/main" id="{DF86862D-330E-AEFE-3F7C-1878620572C9}"/>
              </a:ext>
            </a:extLst>
          </p:cNvPr>
          <p:cNvPicPr>
            <a:picLocks noChangeAspect="1"/>
          </p:cNvPicPr>
          <p:nvPr/>
        </p:nvPicPr>
        <p:blipFill>
          <a:blip r:embed="rId2"/>
          <a:stretch>
            <a:fillRect/>
          </a:stretch>
        </p:blipFill>
        <p:spPr>
          <a:xfrm>
            <a:off x="7236142" y="734029"/>
            <a:ext cx="4552735" cy="2138406"/>
          </a:xfrm>
          <a:prstGeom prst="rect">
            <a:avLst/>
          </a:prstGeom>
        </p:spPr>
      </p:pic>
    </p:spTree>
    <p:extLst>
      <p:ext uri="{BB962C8B-B14F-4D97-AF65-F5344CB8AC3E}">
        <p14:creationId xmlns:p14="http://schemas.microsoft.com/office/powerpoint/2010/main" val="229248489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CF5D2-C14B-752B-7094-17DF4075385B}"/>
              </a:ext>
            </a:extLst>
          </p:cNvPr>
          <p:cNvSpPr>
            <a:spLocks noGrp="1"/>
          </p:cNvSpPr>
          <p:nvPr>
            <p:ph type="title"/>
          </p:nvPr>
        </p:nvSpPr>
        <p:spPr>
          <a:xfrm>
            <a:off x="919119" y="16721"/>
            <a:ext cx="10353762" cy="573214"/>
          </a:xfrm>
        </p:spPr>
        <p:txBody>
          <a:bodyPr>
            <a:normAutofit fontScale="90000"/>
          </a:bodyPr>
          <a:lstStyle/>
          <a:p>
            <a:r>
              <a:rPr lang="en-US" b="1">
                <a:solidFill>
                  <a:srgbClr val="FFFF00"/>
                </a:solidFill>
                <a:effectLst/>
              </a:rPr>
              <a:t>SWF</a:t>
            </a:r>
            <a:r>
              <a:rPr lang="en-US" b="1">
                <a:effectLst/>
              </a:rPr>
              <a:t>.</a:t>
            </a:r>
            <a:r>
              <a:rPr lang="en-US" b="1">
                <a:solidFill>
                  <a:srgbClr val="FF0000"/>
                </a:solidFill>
                <a:effectLst/>
              </a:rPr>
              <a:t>Flow_Sections [</a:t>
            </a:r>
            <a:r>
              <a:rPr lang="ar-EG" b="1">
                <a:solidFill>
                  <a:srgbClr val="FF0000"/>
                </a:solidFill>
                <a:effectLst/>
              </a:rPr>
              <a:t>الحي</a:t>
            </a:r>
            <a:r>
              <a:rPr lang="en-US" b="1">
                <a:solidFill>
                  <a:srgbClr val="FF0000"/>
                </a:solidFill>
                <a:effectLst/>
              </a:rPr>
              <a:t>] [ </a:t>
            </a:r>
            <a:r>
              <a:rPr lang="ar-EG" b="1">
                <a:solidFill>
                  <a:srgbClr val="FF0000"/>
                </a:solidFill>
                <a:effectLst/>
              </a:rPr>
              <a:t>القسم</a:t>
            </a:r>
            <a:r>
              <a:rPr lang="en-US" b="1">
                <a:solidFill>
                  <a:srgbClr val="FF0000"/>
                </a:solidFill>
                <a:effectLst/>
              </a:rPr>
              <a:t> ]</a:t>
            </a:r>
            <a:endParaRPr lang="en-US">
              <a:solidFill>
                <a:srgbClr val="FF0000"/>
              </a:solidFill>
            </a:endParaRPr>
          </a:p>
        </p:txBody>
      </p:sp>
      <p:sp>
        <p:nvSpPr>
          <p:cNvPr id="3" name="Content Placeholder 2">
            <a:extLst>
              <a:ext uri="{FF2B5EF4-FFF2-40B4-BE49-F238E27FC236}">
                <a16:creationId xmlns:a16="http://schemas.microsoft.com/office/drawing/2014/main" id="{EA4AE190-22B5-6065-BB91-B8685FAF1481}"/>
              </a:ext>
            </a:extLst>
          </p:cNvPr>
          <p:cNvSpPr>
            <a:spLocks noGrp="1"/>
          </p:cNvSpPr>
          <p:nvPr>
            <p:ph idx="1"/>
          </p:nvPr>
        </p:nvSpPr>
        <p:spPr>
          <a:xfrm>
            <a:off x="570271" y="704979"/>
            <a:ext cx="11503742" cy="5980956"/>
          </a:xfrm>
        </p:spPr>
        <p:txBody>
          <a:bodyPr/>
          <a:lstStyle/>
          <a:p>
            <a:r>
              <a:rPr lang="en-US"/>
              <a:t>Code_Section [PK]</a:t>
            </a:r>
          </a:p>
          <a:p>
            <a:endParaRPr lang="en-US"/>
          </a:p>
        </p:txBody>
      </p:sp>
      <p:pic>
        <p:nvPicPr>
          <p:cNvPr id="5" name="Picture 4">
            <a:extLst>
              <a:ext uri="{FF2B5EF4-FFF2-40B4-BE49-F238E27FC236}">
                <a16:creationId xmlns:a16="http://schemas.microsoft.com/office/drawing/2014/main" id="{A01B557B-65C1-8D4D-AFB5-EEC7C2124C93}"/>
              </a:ext>
            </a:extLst>
          </p:cNvPr>
          <p:cNvPicPr>
            <a:picLocks noChangeAspect="1"/>
          </p:cNvPicPr>
          <p:nvPr/>
        </p:nvPicPr>
        <p:blipFill>
          <a:blip r:embed="rId2"/>
          <a:stretch>
            <a:fillRect/>
          </a:stretch>
        </p:blipFill>
        <p:spPr>
          <a:xfrm>
            <a:off x="6712176" y="704979"/>
            <a:ext cx="5361837" cy="2647821"/>
          </a:xfrm>
          <a:prstGeom prst="rect">
            <a:avLst/>
          </a:prstGeom>
        </p:spPr>
      </p:pic>
    </p:spTree>
    <p:extLst>
      <p:ext uri="{BB962C8B-B14F-4D97-AF65-F5344CB8AC3E}">
        <p14:creationId xmlns:p14="http://schemas.microsoft.com/office/powerpoint/2010/main" val="113354192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8C28E-61F7-6D4E-F31C-C60F41193EE4}"/>
              </a:ext>
            </a:extLst>
          </p:cNvPr>
          <p:cNvSpPr>
            <a:spLocks noGrp="1"/>
          </p:cNvSpPr>
          <p:nvPr>
            <p:ph type="title"/>
          </p:nvPr>
        </p:nvSpPr>
        <p:spPr>
          <a:xfrm>
            <a:off x="913795" y="0"/>
            <a:ext cx="10353762" cy="648929"/>
          </a:xfrm>
        </p:spPr>
        <p:txBody>
          <a:bodyPr>
            <a:normAutofit fontScale="90000"/>
          </a:bodyPr>
          <a:lstStyle/>
          <a:p>
            <a:r>
              <a:rPr lang="en-US" b="1">
                <a:solidFill>
                  <a:srgbClr val="FFFF00"/>
                </a:solidFill>
                <a:effectLst/>
              </a:rPr>
              <a:t>SWF</a:t>
            </a:r>
            <a:r>
              <a:rPr lang="en-US" b="1">
                <a:effectLst/>
              </a:rPr>
              <a:t>.</a:t>
            </a:r>
            <a:r>
              <a:rPr lang="en-US" b="1">
                <a:solidFill>
                  <a:srgbClr val="FF0000"/>
                </a:solidFill>
                <a:effectLst/>
              </a:rPr>
              <a:t>Flow_Identity_Expiry</a:t>
            </a:r>
            <a:endParaRPr lang="en-US">
              <a:solidFill>
                <a:srgbClr val="FF0000"/>
              </a:solidFill>
            </a:endParaRPr>
          </a:p>
        </p:txBody>
      </p:sp>
      <p:sp>
        <p:nvSpPr>
          <p:cNvPr id="3" name="Content Placeholder 2">
            <a:extLst>
              <a:ext uri="{FF2B5EF4-FFF2-40B4-BE49-F238E27FC236}">
                <a16:creationId xmlns:a16="http://schemas.microsoft.com/office/drawing/2014/main" id="{D4D3C5DB-79B9-56B6-11BF-ABC07DE1220D}"/>
              </a:ext>
            </a:extLst>
          </p:cNvPr>
          <p:cNvSpPr>
            <a:spLocks noGrp="1"/>
          </p:cNvSpPr>
          <p:nvPr>
            <p:ph idx="1"/>
          </p:nvPr>
        </p:nvSpPr>
        <p:spPr>
          <a:xfrm>
            <a:off x="913795" y="648929"/>
            <a:ext cx="10353762" cy="5142271"/>
          </a:xfrm>
        </p:spPr>
        <p:txBody>
          <a:bodyPr/>
          <a:lstStyle/>
          <a:p>
            <a:r>
              <a:rPr lang="en-US"/>
              <a:t>ssn_code : int</a:t>
            </a:r>
          </a:p>
          <a:p>
            <a:r>
              <a:rPr lang="en-US"/>
              <a:t>name_ar: string</a:t>
            </a:r>
          </a:p>
          <a:p>
            <a:r>
              <a:rPr lang="en-US"/>
              <a:t>name_eng: string</a:t>
            </a:r>
          </a:p>
          <a:p>
            <a:r>
              <a:rPr lang="en-US"/>
              <a:t>Expiry_date : string </a:t>
            </a:r>
          </a:p>
          <a:p>
            <a:endParaRPr lang="en-US"/>
          </a:p>
        </p:txBody>
      </p:sp>
      <p:pic>
        <p:nvPicPr>
          <p:cNvPr id="5" name="Picture 4">
            <a:extLst>
              <a:ext uri="{FF2B5EF4-FFF2-40B4-BE49-F238E27FC236}">
                <a16:creationId xmlns:a16="http://schemas.microsoft.com/office/drawing/2014/main" id="{F245421B-EB2A-8CF4-9A6E-F2E8FF8537E8}"/>
              </a:ext>
            </a:extLst>
          </p:cNvPr>
          <p:cNvPicPr>
            <a:picLocks noChangeAspect="1"/>
          </p:cNvPicPr>
          <p:nvPr/>
        </p:nvPicPr>
        <p:blipFill>
          <a:blip r:embed="rId2"/>
          <a:stretch>
            <a:fillRect/>
          </a:stretch>
        </p:blipFill>
        <p:spPr>
          <a:xfrm>
            <a:off x="5801242" y="782700"/>
            <a:ext cx="3698661" cy="568200"/>
          </a:xfrm>
          <a:prstGeom prst="rect">
            <a:avLst/>
          </a:prstGeom>
        </p:spPr>
      </p:pic>
    </p:spTree>
    <p:extLst>
      <p:ext uri="{BB962C8B-B14F-4D97-AF65-F5344CB8AC3E}">
        <p14:creationId xmlns:p14="http://schemas.microsoft.com/office/powerpoint/2010/main" val="36717352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DA8D5-0095-58D3-AF28-931CE4277534}"/>
              </a:ext>
            </a:extLst>
          </p:cNvPr>
          <p:cNvSpPr>
            <a:spLocks noGrp="1"/>
          </p:cNvSpPr>
          <p:nvPr>
            <p:ph type="title"/>
          </p:nvPr>
        </p:nvSpPr>
        <p:spPr>
          <a:xfrm>
            <a:off x="924443" y="0"/>
            <a:ext cx="10353762" cy="970450"/>
          </a:xfrm>
        </p:spPr>
        <p:txBody>
          <a:bodyPr/>
          <a:lstStyle/>
          <a:p>
            <a:r>
              <a:rPr lang="en-US" b="1">
                <a:solidFill>
                  <a:srgbClr val="FFFF00"/>
                </a:solidFill>
              </a:rPr>
              <a:t>SWF</a:t>
            </a:r>
            <a:r>
              <a:rPr lang="en-US" b="1"/>
              <a:t>.</a:t>
            </a:r>
            <a:r>
              <a:rPr lang="en-US" b="1">
                <a:solidFill>
                  <a:srgbClr val="FF0000"/>
                </a:solidFill>
              </a:rPr>
              <a:t>Flow_Exchange_Destinations</a:t>
            </a:r>
          </a:p>
        </p:txBody>
      </p:sp>
      <p:sp>
        <p:nvSpPr>
          <p:cNvPr id="3" name="Content Placeholder 2">
            <a:extLst>
              <a:ext uri="{FF2B5EF4-FFF2-40B4-BE49-F238E27FC236}">
                <a16:creationId xmlns:a16="http://schemas.microsoft.com/office/drawing/2014/main" id="{8A3EAED4-7D60-BC98-B34F-5EF080D5AEDB}"/>
              </a:ext>
            </a:extLst>
          </p:cNvPr>
          <p:cNvSpPr>
            <a:spLocks noGrp="1"/>
          </p:cNvSpPr>
          <p:nvPr>
            <p:ph idx="1"/>
          </p:nvPr>
        </p:nvSpPr>
        <p:spPr>
          <a:xfrm>
            <a:off x="913795" y="970451"/>
            <a:ext cx="10353762" cy="4820750"/>
          </a:xfrm>
        </p:spPr>
        <p:txBody>
          <a:bodyPr/>
          <a:lstStyle/>
          <a:p>
            <a:r>
              <a:rPr lang="en-US"/>
              <a:t>This table represent </a:t>
            </a:r>
            <a:r>
              <a:rPr lang="ar-EG"/>
              <a:t>جهة الصرف</a:t>
            </a:r>
            <a:endParaRPr lang="en-US"/>
          </a:p>
          <a:p>
            <a:r>
              <a:rPr lang="en-US"/>
              <a:t>Code_ED: PK</a:t>
            </a:r>
          </a:p>
          <a:p>
            <a:endParaRPr lang="en-US"/>
          </a:p>
          <a:p>
            <a:endParaRPr lang="en-US"/>
          </a:p>
        </p:txBody>
      </p:sp>
      <p:pic>
        <p:nvPicPr>
          <p:cNvPr id="5" name="Picture 4">
            <a:extLst>
              <a:ext uri="{FF2B5EF4-FFF2-40B4-BE49-F238E27FC236}">
                <a16:creationId xmlns:a16="http://schemas.microsoft.com/office/drawing/2014/main" id="{C8E4F71F-C2E2-1EEA-BA82-D694B54C2E0A}"/>
              </a:ext>
            </a:extLst>
          </p:cNvPr>
          <p:cNvPicPr>
            <a:picLocks noChangeAspect="1"/>
          </p:cNvPicPr>
          <p:nvPr/>
        </p:nvPicPr>
        <p:blipFill>
          <a:blip r:embed="rId2"/>
          <a:stretch>
            <a:fillRect/>
          </a:stretch>
        </p:blipFill>
        <p:spPr>
          <a:xfrm>
            <a:off x="6307909" y="2151079"/>
            <a:ext cx="4970296" cy="2555841"/>
          </a:xfrm>
          <a:prstGeom prst="rect">
            <a:avLst/>
          </a:prstGeom>
        </p:spPr>
      </p:pic>
    </p:spTree>
    <p:extLst>
      <p:ext uri="{BB962C8B-B14F-4D97-AF65-F5344CB8AC3E}">
        <p14:creationId xmlns:p14="http://schemas.microsoft.com/office/powerpoint/2010/main" val="397275113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20DD6-611F-00F5-41D5-4A2E56EA6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13BC6-4B66-06AA-CB66-4A0BD130BC76}"/>
              </a:ext>
            </a:extLst>
          </p:cNvPr>
          <p:cNvSpPr>
            <a:spLocks noGrp="1"/>
          </p:cNvSpPr>
          <p:nvPr>
            <p:ph type="title"/>
          </p:nvPr>
        </p:nvSpPr>
        <p:spPr>
          <a:xfrm>
            <a:off x="913795" y="1533832"/>
            <a:ext cx="10353762" cy="3451123"/>
          </a:xfrm>
        </p:spPr>
        <p:txBody>
          <a:bodyPr>
            <a:normAutofit/>
          </a:bodyPr>
          <a:lstStyle/>
          <a:p>
            <a:r>
              <a:rPr lang="en-US" sz="8000" b="1">
                <a:solidFill>
                  <a:srgbClr val="FF0000"/>
                </a:solidFill>
              </a:rPr>
              <a:t>End SWF</a:t>
            </a:r>
            <a:br>
              <a:rPr lang="en-US" sz="8000" b="1">
                <a:solidFill>
                  <a:srgbClr val="FF0000"/>
                </a:solidFill>
              </a:rPr>
            </a:br>
            <a:r>
              <a:rPr lang="en-US" sz="4400" b="1">
                <a:solidFill>
                  <a:srgbClr val="00B0F0"/>
                </a:solidFill>
              </a:rPr>
              <a:t>s</a:t>
            </a:r>
            <a:r>
              <a:rPr lang="en-US" b="1">
                <a:solidFill>
                  <a:srgbClr val="00B0F0"/>
                </a:solidFill>
              </a:rPr>
              <a:t>etup work flow</a:t>
            </a:r>
            <a:endParaRPr lang="en-US" sz="8000" b="1">
              <a:solidFill>
                <a:srgbClr val="00B0F0"/>
              </a:solidFill>
            </a:endParaRPr>
          </a:p>
        </p:txBody>
      </p:sp>
    </p:spTree>
    <p:extLst>
      <p:ext uri="{BB962C8B-B14F-4D97-AF65-F5344CB8AC3E}">
        <p14:creationId xmlns:p14="http://schemas.microsoft.com/office/powerpoint/2010/main" val="100169531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85EB9-94E1-DC29-9E69-570B212D8362}"/>
              </a:ext>
            </a:extLst>
          </p:cNvPr>
          <p:cNvSpPr>
            <a:spLocks noGrp="1"/>
          </p:cNvSpPr>
          <p:nvPr>
            <p:ph type="title"/>
          </p:nvPr>
        </p:nvSpPr>
        <p:spPr>
          <a:xfrm>
            <a:off x="913795" y="609599"/>
            <a:ext cx="10353762" cy="5000625"/>
          </a:xfrm>
        </p:spPr>
        <p:txBody>
          <a:bodyPr>
            <a:normAutofit/>
          </a:bodyPr>
          <a:lstStyle/>
          <a:p>
            <a:r>
              <a:rPr lang="en-US" sz="6600" b="1">
                <a:solidFill>
                  <a:srgbClr val="FF0000"/>
                </a:solidFill>
              </a:rPr>
              <a:t>Start Risk</a:t>
            </a:r>
          </a:p>
        </p:txBody>
      </p:sp>
    </p:spTree>
    <p:extLst>
      <p:ext uri="{BB962C8B-B14F-4D97-AF65-F5344CB8AC3E}">
        <p14:creationId xmlns:p14="http://schemas.microsoft.com/office/powerpoint/2010/main" val="41572447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456EB-ABEC-E3E4-AA51-27B89F9008AC}"/>
              </a:ext>
            </a:extLst>
          </p:cNvPr>
          <p:cNvSpPr>
            <a:spLocks noGrp="1"/>
          </p:cNvSpPr>
          <p:nvPr>
            <p:ph type="title"/>
          </p:nvPr>
        </p:nvSpPr>
        <p:spPr>
          <a:xfrm>
            <a:off x="913795" y="0"/>
            <a:ext cx="10353762" cy="571500"/>
          </a:xfrm>
        </p:spPr>
        <p:txBody>
          <a:bodyPr>
            <a:normAutofit fontScale="90000"/>
          </a:bodyPr>
          <a:lstStyle/>
          <a:p>
            <a:r>
              <a:rPr lang="en-US" b="1">
                <a:solidFill>
                  <a:srgbClr val="FFFF00"/>
                </a:solidFill>
              </a:rPr>
              <a:t>TWF</a:t>
            </a:r>
            <a:r>
              <a:rPr lang="en-US"/>
              <a:t>.</a:t>
            </a:r>
            <a:r>
              <a:rPr lang="en-US" b="1">
                <a:solidFill>
                  <a:srgbClr val="FF0000"/>
                </a:solidFill>
              </a:rPr>
              <a:t>Flow_Risk_Branch</a:t>
            </a:r>
          </a:p>
        </p:txBody>
      </p:sp>
      <p:sp>
        <p:nvSpPr>
          <p:cNvPr id="3" name="Content Placeholder 2">
            <a:extLst>
              <a:ext uri="{FF2B5EF4-FFF2-40B4-BE49-F238E27FC236}">
                <a16:creationId xmlns:a16="http://schemas.microsoft.com/office/drawing/2014/main" id="{CD70AFB6-9307-A912-862B-A698CD56D0AB}"/>
              </a:ext>
            </a:extLst>
          </p:cNvPr>
          <p:cNvSpPr>
            <a:spLocks noGrp="1"/>
          </p:cNvSpPr>
          <p:nvPr>
            <p:ph idx="1"/>
          </p:nvPr>
        </p:nvSpPr>
        <p:spPr>
          <a:xfrm>
            <a:off x="114300" y="571500"/>
            <a:ext cx="11972925" cy="6076949"/>
          </a:xfrm>
        </p:spPr>
        <p:txBody>
          <a:bodyPr/>
          <a:lstStyle/>
          <a:p>
            <a:r>
              <a:rPr lang="en-US" b="1"/>
              <a:t>Risk_Branch_code: int, PK , identity</a:t>
            </a:r>
          </a:p>
          <a:p>
            <a:r>
              <a:rPr lang="en-US" b="1"/>
              <a:t>product_Id: </a:t>
            </a:r>
            <a:r>
              <a:rPr lang="en-US" b="1">
                <a:solidFill>
                  <a:srgbClr val="FFFF00"/>
                </a:solidFill>
              </a:rPr>
              <a:t>int FK from Product</a:t>
            </a:r>
          </a:p>
          <a:p>
            <a:r>
              <a:rPr lang="en-US" b="1"/>
              <a:t>BranchId: </a:t>
            </a:r>
            <a:r>
              <a:rPr lang="en-US" b="1">
                <a:solidFill>
                  <a:srgbClr val="FFFF00"/>
                </a:solidFill>
              </a:rPr>
              <a:t>int FK form Branch</a:t>
            </a:r>
          </a:p>
          <a:p>
            <a:r>
              <a:rPr lang="en-US" b="1"/>
              <a:t>Ratio_risk: decimal</a:t>
            </a:r>
          </a:p>
          <a:p>
            <a:r>
              <a:rPr lang="en-US" b="1"/>
              <a:t>Date_of_calculation: DateTime</a:t>
            </a:r>
          </a:p>
          <a:p>
            <a:r>
              <a:rPr lang="en-US" b="1"/>
              <a:t>Creation_date: DateTime</a:t>
            </a:r>
          </a:p>
          <a:p>
            <a:endParaRPr lang="en-US" b="1"/>
          </a:p>
        </p:txBody>
      </p:sp>
    </p:spTree>
    <p:extLst>
      <p:ext uri="{BB962C8B-B14F-4D97-AF65-F5344CB8AC3E}">
        <p14:creationId xmlns:p14="http://schemas.microsoft.com/office/powerpoint/2010/main" val="161427192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894A-47F9-82DC-5913-0F9F27D995CE}"/>
              </a:ext>
            </a:extLst>
          </p:cNvPr>
          <p:cNvSpPr>
            <a:spLocks noGrp="1"/>
          </p:cNvSpPr>
          <p:nvPr>
            <p:ph type="title"/>
          </p:nvPr>
        </p:nvSpPr>
        <p:spPr>
          <a:xfrm>
            <a:off x="913795" y="0"/>
            <a:ext cx="10353762" cy="666750"/>
          </a:xfrm>
        </p:spPr>
        <p:txBody>
          <a:bodyPr>
            <a:normAutofit fontScale="90000"/>
          </a:bodyPr>
          <a:lstStyle/>
          <a:p>
            <a:r>
              <a:rPr lang="en-US" b="1">
                <a:solidFill>
                  <a:srgbClr val="FFFF00"/>
                </a:solidFill>
              </a:rPr>
              <a:t>TWF</a:t>
            </a:r>
            <a:r>
              <a:rPr lang="en-US"/>
              <a:t>.</a:t>
            </a:r>
            <a:r>
              <a:rPr lang="en-US" b="1">
                <a:solidFill>
                  <a:srgbClr val="FF0000"/>
                </a:solidFill>
              </a:rPr>
              <a:t>Flow_Risk_Responsible</a:t>
            </a:r>
          </a:p>
        </p:txBody>
      </p:sp>
      <p:sp>
        <p:nvSpPr>
          <p:cNvPr id="3" name="Content Placeholder 2">
            <a:extLst>
              <a:ext uri="{FF2B5EF4-FFF2-40B4-BE49-F238E27FC236}">
                <a16:creationId xmlns:a16="http://schemas.microsoft.com/office/drawing/2014/main" id="{A42D913F-1810-F50D-53E1-5D6E1D46F569}"/>
              </a:ext>
            </a:extLst>
          </p:cNvPr>
          <p:cNvSpPr>
            <a:spLocks noGrp="1"/>
          </p:cNvSpPr>
          <p:nvPr>
            <p:ph idx="1"/>
          </p:nvPr>
        </p:nvSpPr>
        <p:spPr>
          <a:xfrm>
            <a:off x="333375" y="666751"/>
            <a:ext cx="10934182" cy="5915024"/>
          </a:xfrm>
        </p:spPr>
        <p:txBody>
          <a:bodyPr/>
          <a:lstStyle/>
          <a:p>
            <a:r>
              <a:rPr lang="en-US" b="1"/>
              <a:t>Risk_Responsible_code: int</a:t>
            </a:r>
          </a:p>
          <a:p>
            <a:r>
              <a:rPr lang="en-US" b="1"/>
              <a:t>product_Id: int, FK from Product</a:t>
            </a:r>
          </a:p>
          <a:p>
            <a:r>
              <a:rPr lang="en-US" b="1"/>
              <a:t>UserId: int, FK from user</a:t>
            </a:r>
          </a:p>
          <a:p>
            <a:r>
              <a:rPr lang="en-US" b="1"/>
              <a:t>BranchId: int,  FK form branch</a:t>
            </a:r>
          </a:p>
          <a:p>
            <a:r>
              <a:rPr lang="en-US" b="1"/>
              <a:t>Ratio_risk: decimal</a:t>
            </a:r>
          </a:p>
          <a:p>
            <a:r>
              <a:rPr lang="en-US" b="1"/>
              <a:t>Date_of_calculation: DateTime</a:t>
            </a:r>
          </a:p>
          <a:p>
            <a:r>
              <a:rPr lang="en-US" b="1"/>
              <a:t>Creation_date: DateTime</a:t>
            </a:r>
          </a:p>
          <a:p>
            <a:endParaRPr lang="en-US" b="1"/>
          </a:p>
        </p:txBody>
      </p:sp>
    </p:spTree>
    <p:extLst>
      <p:ext uri="{BB962C8B-B14F-4D97-AF65-F5344CB8AC3E}">
        <p14:creationId xmlns:p14="http://schemas.microsoft.com/office/powerpoint/2010/main" val="382307906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7C4B9-9451-CB01-653B-38AD35D0954A}"/>
              </a:ext>
            </a:extLst>
          </p:cNvPr>
          <p:cNvSpPr>
            <a:spLocks noGrp="1"/>
          </p:cNvSpPr>
          <p:nvPr>
            <p:ph type="title"/>
          </p:nvPr>
        </p:nvSpPr>
        <p:spPr>
          <a:xfrm>
            <a:off x="913795" y="0"/>
            <a:ext cx="10353762" cy="542925"/>
          </a:xfrm>
        </p:spPr>
        <p:txBody>
          <a:bodyPr>
            <a:normAutofit fontScale="90000"/>
          </a:bodyPr>
          <a:lstStyle/>
          <a:p>
            <a:r>
              <a:rPr lang="en-US" b="1">
                <a:solidFill>
                  <a:srgbClr val="FFFF00"/>
                </a:solidFill>
              </a:rPr>
              <a:t>TWF</a:t>
            </a:r>
            <a:r>
              <a:rPr lang="en-US" b="1"/>
              <a:t>.</a:t>
            </a:r>
            <a:r>
              <a:rPr lang="en-US" b="1">
                <a:solidFill>
                  <a:srgbClr val="FF0000"/>
                </a:solidFill>
              </a:rPr>
              <a:t>Flow_identi_risks_admin</a:t>
            </a:r>
          </a:p>
        </p:txBody>
      </p:sp>
      <p:sp>
        <p:nvSpPr>
          <p:cNvPr id="3" name="Content Placeholder 2">
            <a:extLst>
              <a:ext uri="{FF2B5EF4-FFF2-40B4-BE49-F238E27FC236}">
                <a16:creationId xmlns:a16="http://schemas.microsoft.com/office/drawing/2014/main" id="{2F9ED29E-9605-F9D3-4AA9-D4F1088381DD}"/>
              </a:ext>
            </a:extLst>
          </p:cNvPr>
          <p:cNvSpPr>
            <a:spLocks noGrp="1"/>
          </p:cNvSpPr>
          <p:nvPr>
            <p:ph idx="1"/>
          </p:nvPr>
        </p:nvSpPr>
        <p:spPr>
          <a:xfrm>
            <a:off x="190500" y="542925"/>
            <a:ext cx="11820525" cy="6181725"/>
          </a:xfrm>
        </p:spPr>
        <p:txBody>
          <a:bodyPr/>
          <a:lstStyle/>
          <a:p>
            <a:r>
              <a:rPr lang="en-US" b="1"/>
              <a:t>R_code: int: PK</a:t>
            </a:r>
          </a:p>
          <a:p>
            <a:r>
              <a:rPr lang="en-US" b="1"/>
              <a:t>R_code_Identity: int, identity</a:t>
            </a:r>
          </a:p>
          <a:p>
            <a:r>
              <a:rPr lang="en-US" b="1"/>
              <a:t>product_Id: int, FK from Product</a:t>
            </a:r>
          </a:p>
          <a:p>
            <a:r>
              <a:rPr lang="en-US" b="1"/>
              <a:t>Number: int</a:t>
            </a:r>
          </a:p>
          <a:p>
            <a:r>
              <a:rPr lang="en-US" b="1"/>
              <a:t>AppointmentMonthsFrom: decimal</a:t>
            </a:r>
          </a:p>
          <a:p>
            <a:r>
              <a:rPr lang="en-US" b="1"/>
              <a:t>AppointmentMonthsTo: decimal</a:t>
            </a:r>
          </a:p>
          <a:p>
            <a:r>
              <a:rPr lang="en-US" b="1"/>
              <a:t>Max_loans: int</a:t>
            </a:r>
          </a:p>
        </p:txBody>
      </p:sp>
      <p:pic>
        <p:nvPicPr>
          <p:cNvPr id="5" name="Picture 4">
            <a:extLst>
              <a:ext uri="{FF2B5EF4-FFF2-40B4-BE49-F238E27FC236}">
                <a16:creationId xmlns:a16="http://schemas.microsoft.com/office/drawing/2014/main" id="{0D768565-F8F2-7D71-B68F-C5E9C8DCCC1F}"/>
              </a:ext>
            </a:extLst>
          </p:cNvPr>
          <p:cNvPicPr>
            <a:picLocks noChangeAspect="1"/>
          </p:cNvPicPr>
          <p:nvPr/>
        </p:nvPicPr>
        <p:blipFill>
          <a:blip r:embed="rId2"/>
          <a:stretch>
            <a:fillRect/>
          </a:stretch>
        </p:blipFill>
        <p:spPr>
          <a:xfrm>
            <a:off x="5124232" y="763844"/>
            <a:ext cx="6724868" cy="1854433"/>
          </a:xfrm>
          <a:prstGeom prst="rect">
            <a:avLst/>
          </a:prstGeom>
        </p:spPr>
      </p:pic>
    </p:spTree>
    <p:extLst>
      <p:ext uri="{BB962C8B-B14F-4D97-AF65-F5344CB8AC3E}">
        <p14:creationId xmlns:p14="http://schemas.microsoft.com/office/powerpoint/2010/main" val="15206110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32EBD-9B17-BE97-1E8B-8DCFCD058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62BCB-7FE3-BB68-89F0-89A33631CA50}"/>
              </a:ext>
            </a:extLst>
          </p:cNvPr>
          <p:cNvSpPr>
            <a:spLocks noGrp="1"/>
          </p:cNvSpPr>
          <p:nvPr>
            <p:ph type="title"/>
          </p:nvPr>
        </p:nvSpPr>
        <p:spPr>
          <a:xfrm>
            <a:off x="913795" y="609599"/>
            <a:ext cx="10353762" cy="5000625"/>
          </a:xfrm>
        </p:spPr>
        <p:txBody>
          <a:bodyPr>
            <a:normAutofit/>
          </a:bodyPr>
          <a:lstStyle/>
          <a:p>
            <a:r>
              <a:rPr lang="en-US" sz="6600" b="1">
                <a:solidFill>
                  <a:srgbClr val="FF0000"/>
                </a:solidFill>
              </a:rPr>
              <a:t>End Risk</a:t>
            </a:r>
          </a:p>
        </p:txBody>
      </p:sp>
    </p:spTree>
    <p:extLst>
      <p:ext uri="{BB962C8B-B14F-4D97-AF65-F5344CB8AC3E}">
        <p14:creationId xmlns:p14="http://schemas.microsoft.com/office/powerpoint/2010/main" val="12912480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65F38-7F35-F22C-4AD6-75F9A46F8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10860-A516-AFB1-0E73-E40CF47D7274}"/>
              </a:ext>
            </a:extLst>
          </p:cNvPr>
          <p:cNvSpPr>
            <a:spLocks noGrp="1"/>
          </p:cNvSpPr>
          <p:nvPr>
            <p:ph type="title"/>
          </p:nvPr>
        </p:nvSpPr>
        <p:spPr>
          <a:xfrm>
            <a:off x="913795" y="609599"/>
            <a:ext cx="10353762" cy="5000625"/>
          </a:xfrm>
        </p:spPr>
        <p:txBody>
          <a:bodyPr>
            <a:normAutofit/>
          </a:bodyPr>
          <a:lstStyle/>
          <a:p>
            <a:r>
              <a:rPr lang="en-US" sz="6600" b="1">
                <a:solidFill>
                  <a:srgbClr val="FF0000"/>
                </a:solidFill>
              </a:rPr>
              <a:t>Start Product</a:t>
            </a:r>
          </a:p>
        </p:txBody>
      </p:sp>
    </p:spTree>
    <p:extLst>
      <p:ext uri="{BB962C8B-B14F-4D97-AF65-F5344CB8AC3E}">
        <p14:creationId xmlns:p14="http://schemas.microsoft.com/office/powerpoint/2010/main" val="178952653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4F211-A475-DBF7-9EED-1D353ADE10A6}"/>
              </a:ext>
            </a:extLst>
          </p:cNvPr>
          <p:cNvSpPr>
            <a:spLocks noGrp="1"/>
          </p:cNvSpPr>
          <p:nvPr>
            <p:ph type="title"/>
          </p:nvPr>
        </p:nvSpPr>
        <p:spPr>
          <a:xfrm>
            <a:off x="913795" y="1"/>
            <a:ext cx="10353762" cy="521110"/>
          </a:xfrm>
        </p:spPr>
        <p:txBody>
          <a:bodyPr>
            <a:normAutofit fontScale="90000"/>
          </a:bodyPr>
          <a:lstStyle/>
          <a:p>
            <a:r>
              <a:rPr lang="en-US" sz="3600" b="1">
                <a:solidFill>
                  <a:srgbClr val="FFFF00"/>
                </a:solidFill>
                <a:effectLst/>
              </a:rPr>
              <a:t>TWF</a:t>
            </a:r>
            <a:r>
              <a:rPr lang="en-US" sz="3600" b="1">
                <a:effectLst/>
              </a:rPr>
              <a:t>.</a:t>
            </a:r>
            <a:r>
              <a:rPr lang="en-US" sz="3600" b="1">
                <a:solidFill>
                  <a:srgbClr val="FF0000"/>
                </a:solidFill>
                <a:effectLst/>
              </a:rPr>
              <a:t>Flow_Products</a:t>
            </a:r>
            <a:endParaRPr lang="en-US" sz="3600">
              <a:solidFill>
                <a:srgbClr val="FF0000"/>
              </a:solidFill>
            </a:endParaRPr>
          </a:p>
        </p:txBody>
      </p:sp>
      <p:sp>
        <p:nvSpPr>
          <p:cNvPr id="3" name="Content Placeholder 2">
            <a:extLst>
              <a:ext uri="{FF2B5EF4-FFF2-40B4-BE49-F238E27FC236}">
                <a16:creationId xmlns:a16="http://schemas.microsoft.com/office/drawing/2014/main" id="{9195FB53-6728-18BE-505F-340013210440}"/>
              </a:ext>
            </a:extLst>
          </p:cNvPr>
          <p:cNvSpPr>
            <a:spLocks noGrp="1"/>
          </p:cNvSpPr>
          <p:nvPr>
            <p:ph idx="1"/>
          </p:nvPr>
        </p:nvSpPr>
        <p:spPr>
          <a:xfrm>
            <a:off x="0" y="707923"/>
            <a:ext cx="12192000" cy="6037006"/>
          </a:xfrm>
        </p:spPr>
        <p:txBody>
          <a:bodyPr>
            <a:normAutofit fontScale="92500" lnSpcReduction="20000"/>
          </a:bodyPr>
          <a:lstStyle/>
          <a:p>
            <a:r>
              <a:rPr lang="en-US" sz="1700"/>
              <a:t>product</a:t>
            </a:r>
            <a:r>
              <a:rPr lang="en-US" sz="1700" err="1"/>
              <a:t>_Id</a:t>
            </a:r>
            <a:r>
              <a:rPr lang="en-US" sz="1700"/>
              <a:t>: int , </a:t>
            </a:r>
            <a:r>
              <a:rPr lang="en-US" sz="1700" b="1"/>
              <a:t>// product_Id= LoanCode+LayerCode</a:t>
            </a:r>
            <a:endParaRPr lang="en-US" sz="1700" b="1">
              <a:solidFill>
                <a:srgbClr val="FFFF00"/>
              </a:solidFill>
            </a:endParaRPr>
          </a:p>
          <a:p>
            <a:r>
              <a:rPr lang="en-US" sz="1700" b="1" err="1"/>
              <a:t>Loan_code</a:t>
            </a:r>
            <a:r>
              <a:rPr lang="en-US" sz="1700" b="1"/>
              <a:t>: int </a:t>
            </a:r>
            <a:r>
              <a:rPr lang="ar-EG" sz="1700" b="1"/>
              <a:t>كود التمويل</a:t>
            </a:r>
            <a:endParaRPr lang="en-US" sz="1700" b="1"/>
          </a:p>
          <a:p>
            <a:pPr lvl="1"/>
            <a:r>
              <a:rPr lang="en-US" sz="1500" b="1"/>
              <a:t>Not unique</a:t>
            </a:r>
          </a:p>
          <a:p>
            <a:pPr lvl="1"/>
            <a:r>
              <a:rPr lang="en-US" sz="1500" b="1"/>
              <a:t>Could be </a:t>
            </a:r>
          </a:p>
          <a:p>
            <a:r>
              <a:rPr lang="en-US" sz="1700" b="1"/>
              <a:t>Layer</a:t>
            </a:r>
            <a:r>
              <a:rPr lang="en-US" sz="1700" b="1" err="1"/>
              <a:t>_code</a:t>
            </a:r>
            <a:r>
              <a:rPr lang="en-US" sz="1700" b="1"/>
              <a:t>: int</a:t>
            </a:r>
            <a:r>
              <a:rPr lang="ar-EG" sz="1700" b="1"/>
              <a:t> </a:t>
            </a:r>
            <a:r>
              <a:rPr lang="en-US" sz="1700" b="1"/>
              <a:t>: </a:t>
            </a:r>
            <a:r>
              <a:rPr lang="ar-EG" sz="1700" b="1"/>
              <a:t>شريحة القرض</a:t>
            </a:r>
            <a:endParaRPr lang="en-US" sz="1700" b="1"/>
          </a:p>
          <a:p>
            <a:r>
              <a:rPr lang="en-US" sz="1700" b="1"/>
              <a:t>Confirm_Score: int</a:t>
            </a:r>
          </a:p>
          <a:p>
            <a:r>
              <a:rPr lang="en-US" sz="1700"/>
              <a:t>Gender</a:t>
            </a:r>
          </a:p>
          <a:p>
            <a:r>
              <a:rPr lang="en-US" sz="1700"/>
              <a:t>name_AR: string</a:t>
            </a:r>
          </a:p>
          <a:p>
            <a:r>
              <a:rPr lang="en-US" sz="1700"/>
              <a:t>name_Eng: string</a:t>
            </a:r>
          </a:p>
          <a:p>
            <a:r>
              <a:rPr lang="en-US" sz="1700"/>
              <a:t>min_loan_amount: decimal</a:t>
            </a:r>
          </a:p>
          <a:p>
            <a:r>
              <a:rPr lang="en-US" sz="1700"/>
              <a:t>max_loan_amount: decimal</a:t>
            </a:r>
          </a:p>
          <a:p>
            <a:r>
              <a:rPr lang="en-US" sz="1700"/>
              <a:t>min_customer_age: decimal</a:t>
            </a:r>
          </a:p>
          <a:p>
            <a:r>
              <a:rPr lang="en-US" sz="1700"/>
              <a:t>max_customer_age: decimal</a:t>
            </a:r>
          </a:p>
          <a:p>
            <a:r>
              <a:rPr lang="en-US" sz="1700"/>
              <a:t>Max_Age_Guarantor</a:t>
            </a:r>
          </a:p>
          <a:p>
            <a:r>
              <a:rPr lang="en-US" sz="1700"/>
              <a:t>Min_Age_Guarantor</a:t>
            </a:r>
          </a:p>
          <a:p>
            <a:r>
              <a:rPr lang="en-US" sz="1700"/>
              <a:t>min_loan_period: decimal</a:t>
            </a:r>
          </a:p>
          <a:p>
            <a:r>
              <a:rPr lang="en-US" sz="1700"/>
              <a:t>max_loan_period: decimal</a:t>
            </a:r>
          </a:p>
          <a:p>
            <a:r>
              <a:rPr lang="en-US" sz="1700"/>
              <a:t>Ramping_Amount: int</a:t>
            </a:r>
          </a:p>
          <a:p>
            <a:r>
              <a:rPr lang="en-US" sz="1700"/>
              <a:t>Ramping_Ratio: decimal</a:t>
            </a:r>
          </a:p>
        </p:txBody>
      </p:sp>
      <p:pic>
        <p:nvPicPr>
          <p:cNvPr id="5" name="Picture 4">
            <a:extLst>
              <a:ext uri="{FF2B5EF4-FFF2-40B4-BE49-F238E27FC236}">
                <a16:creationId xmlns:a16="http://schemas.microsoft.com/office/drawing/2014/main" id="{1FF40305-221F-8654-F2E3-FFFF313A43FD}"/>
              </a:ext>
            </a:extLst>
          </p:cNvPr>
          <p:cNvPicPr>
            <a:picLocks noChangeAspect="1"/>
          </p:cNvPicPr>
          <p:nvPr/>
        </p:nvPicPr>
        <p:blipFill>
          <a:blip r:embed="rId2"/>
          <a:stretch>
            <a:fillRect/>
          </a:stretch>
        </p:blipFill>
        <p:spPr>
          <a:xfrm>
            <a:off x="5009745" y="1847347"/>
            <a:ext cx="7140880" cy="639097"/>
          </a:xfrm>
          <a:prstGeom prst="rect">
            <a:avLst/>
          </a:prstGeom>
        </p:spPr>
      </p:pic>
      <p:pic>
        <p:nvPicPr>
          <p:cNvPr id="7" name="Picture 6">
            <a:extLst>
              <a:ext uri="{FF2B5EF4-FFF2-40B4-BE49-F238E27FC236}">
                <a16:creationId xmlns:a16="http://schemas.microsoft.com/office/drawing/2014/main" id="{496278A0-E80D-F74A-726C-6B068E985577}"/>
              </a:ext>
            </a:extLst>
          </p:cNvPr>
          <p:cNvPicPr>
            <a:picLocks noChangeAspect="1"/>
          </p:cNvPicPr>
          <p:nvPr/>
        </p:nvPicPr>
        <p:blipFill>
          <a:blip r:embed="rId3"/>
          <a:stretch>
            <a:fillRect/>
          </a:stretch>
        </p:blipFill>
        <p:spPr>
          <a:xfrm>
            <a:off x="5051119" y="2624069"/>
            <a:ext cx="7140880" cy="488556"/>
          </a:xfrm>
          <a:prstGeom prst="rect">
            <a:avLst/>
          </a:prstGeom>
        </p:spPr>
      </p:pic>
      <p:pic>
        <p:nvPicPr>
          <p:cNvPr id="9" name="Picture 8">
            <a:extLst>
              <a:ext uri="{FF2B5EF4-FFF2-40B4-BE49-F238E27FC236}">
                <a16:creationId xmlns:a16="http://schemas.microsoft.com/office/drawing/2014/main" id="{919F5981-2F44-83C4-CD88-D9ED8D95874F}"/>
              </a:ext>
            </a:extLst>
          </p:cNvPr>
          <p:cNvPicPr>
            <a:picLocks noChangeAspect="1"/>
          </p:cNvPicPr>
          <p:nvPr/>
        </p:nvPicPr>
        <p:blipFill>
          <a:blip r:embed="rId4"/>
          <a:stretch>
            <a:fillRect/>
          </a:stretch>
        </p:blipFill>
        <p:spPr>
          <a:xfrm>
            <a:off x="5009745" y="3171619"/>
            <a:ext cx="7182254" cy="488556"/>
          </a:xfrm>
          <a:prstGeom prst="rect">
            <a:avLst/>
          </a:prstGeom>
        </p:spPr>
      </p:pic>
      <p:pic>
        <p:nvPicPr>
          <p:cNvPr id="11" name="Picture 10">
            <a:extLst>
              <a:ext uri="{FF2B5EF4-FFF2-40B4-BE49-F238E27FC236}">
                <a16:creationId xmlns:a16="http://schemas.microsoft.com/office/drawing/2014/main" id="{116C0BE6-8A9A-49DD-6C5D-76A11B72563E}"/>
              </a:ext>
            </a:extLst>
          </p:cNvPr>
          <p:cNvPicPr>
            <a:picLocks noChangeAspect="1"/>
          </p:cNvPicPr>
          <p:nvPr/>
        </p:nvPicPr>
        <p:blipFill>
          <a:blip r:embed="rId5"/>
          <a:stretch>
            <a:fillRect/>
          </a:stretch>
        </p:blipFill>
        <p:spPr>
          <a:xfrm>
            <a:off x="4562060" y="3745919"/>
            <a:ext cx="7629940" cy="520800"/>
          </a:xfrm>
          <a:prstGeom prst="rect">
            <a:avLst/>
          </a:prstGeom>
        </p:spPr>
      </p:pic>
      <p:pic>
        <p:nvPicPr>
          <p:cNvPr id="13" name="Picture 12">
            <a:extLst>
              <a:ext uri="{FF2B5EF4-FFF2-40B4-BE49-F238E27FC236}">
                <a16:creationId xmlns:a16="http://schemas.microsoft.com/office/drawing/2014/main" id="{C7EA477B-679D-B66A-783E-E156B2239F92}"/>
              </a:ext>
            </a:extLst>
          </p:cNvPr>
          <p:cNvPicPr>
            <a:picLocks noChangeAspect="1"/>
          </p:cNvPicPr>
          <p:nvPr/>
        </p:nvPicPr>
        <p:blipFill>
          <a:blip r:embed="rId6"/>
          <a:stretch>
            <a:fillRect/>
          </a:stretch>
        </p:blipFill>
        <p:spPr>
          <a:xfrm>
            <a:off x="4562058" y="4384507"/>
            <a:ext cx="7629941" cy="520800"/>
          </a:xfrm>
          <a:prstGeom prst="rect">
            <a:avLst/>
          </a:prstGeom>
        </p:spPr>
      </p:pic>
      <p:pic>
        <p:nvPicPr>
          <p:cNvPr id="15" name="Picture 14">
            <a:extLst>
              <a:ext uri="{FF2B5EF4-FFF2-40B4-BE49-F238E27FC236}">
                <a16:creationId xmlns:a16="http://schemas.microsoft.com/office/drawing/2014/main" id="{2D5B9370-3592-44AE-ACFD-D82AD1F56770}"/>
              </a:ext>
            </a:extLst>
          </p:cNvPr>
          <p:cNvPicPr>
            <a:picLocks noChangeAspect="1"/>
          </p:cNvPicPr>
          <p:nvPr/>
        </p:nvPicPr>
        <p:blipFill>
          <a:blip r:embed="rId7"/>
          <a:stretch>
            <a:fillRect/>
          </a:stretch>
        </p:blipFill>
        <p:spPr>
          <a:xfrm>
            <a:off x="4562058" y="5030524"/>
            <a:ext cx="7637730" cy="520800"/>
          </a:xfrm>
          <a:prstGeom prst="rect">
            <a:avLst/>
          </a:prstGeom>
        </p:spPr>
      </p:pic>
      <p:pic>
        <p:nvPicPr>
          <p:cNvPr id="17" name="Picture 16">
            <a:extLst>
              <a:ext uri="{FF2B5EF4-FFF2-40B4-BE49-F238E27FC236}">
                <a16:creationId xmlns:a16="http://schemas.microsoft.com/office/drawing/2014/main" id="{8E216CC5-6031-6680-C5F8-EB8B296EE3F5}"/>
              </a:ext>
            </a:extLst>
          </p:cNvPr>
          <p:cNvPicPr>
            <a:picLocks noChangeAspect="1"/>
          </p:cNvPicPr>
          <p:nvPr/>
        </p:nvPicPr>
        <p:blipFill>
          <a:blip r:embed="rId8"/>
          <a:stretch>
            <a:fillRect/>
          </a:stretch>
        </p:blipFill>
        <p:spPr>
          <a:xfrm>
            <a:off x="4520283" y="5676541"/>
            <a:ext cx="7637730" cy="600210"/>
          </a:xfrm>
          <a:prstGeom prst="rect">
            <a:avLst/>
          </a:prstGeom>
        </p:spPr>
      </p:pic>
    </p:spTree>
    <p:extLst>
      <p:ext uri="{BB962C8B-B14F-4D97-AF65-F5344CB8AC3E}">
        <p14:creationId xmlns:p14="http://schemas.microsoft.com/office/powerpoint/2010/main" val="35965342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B63B9-B0CA-99A1-9B82-584BCFB214BE}"/>
              </a:ext>
            </a:extLst>
          </p:cNvPr>
          <p:cNvSpPr>
            <a:spLocks noGrp="1"/>
          </p:cNvSpPr>
          <p:nvPr>
            <p:ph type="title"/>
          </p:nvPr>
        </p:nvSpPr>
        <p:spPr>
          <a:xfrm>
            <a:off x="913795" y="0"/>
            <a:ext cx="10353762" cy="642026"/>
          </a:xfrm>
        </p:spPr>
        <p:txBody>
          <a:bodyPr>
            <a:normAutofit fontScale="90000"/>
          </a:bodyPr>
          <a:lstStyle/>
          <a:p>
            <a:r>
              <a:rPr lang="en-US" b="1">
                <a:solidFill>
                  <a:srgbClr val="FFFF00"/>
                </a:solidFill>
                <a:effectLst/>
              </a:rPr>
              <a:t>TWT</a:t>
            </a:r>
            <a:r>
              <a:rPr lang="en-US" b="1">
                <a:effectLst/>
              </a:rPr>
              <a:t>.</a:t>
            </a:r>
            <a:r>
              <a:rPr lang="en-US" b="1">
                <a:solidFill>
                  <a:srgbClr val="FF0000"/>
                </a:solidFill>
                <a:effectLst/>
              </a:rPr>
              <a:t>Flow_Products [cont.]</a:t>
            </a:r>
            <a:endParaRPr lang="en-US"/>
          </a:p>
        </p:txBody>
      </p:sp>
      <p:sp>
        <p:nvSpPr>
          <p:cNvPr id="3" name="Content Placeholder 2">
            <a:extLst>
              <a:ext uri="{FF2B5EF4-FFF2-40B4-BE49-F238E27FC236}">
                <a16:creationId xmlns:a16="http://schemas.microsoft.com/office/drawing/2014/main" id="{ECC3C8EF-2DCD-33AB-B1FE-41BAC102A1E4}"/>
              </a:ext>
            </a:extLst>
          </p:cNvPr>
          <p:cNvSpPr>
            <a:spLocks noGrp="1"/>
          </p:cNvSpPr>
          <p:nvPr>
            <p:ph idx="1"/>
          </p:nvPr>
        </p:nvSpPr>
        <p:spPr>
          <a:xfrm>
            <a:off x="515566" y="642026"/>
            <a:ext cx="10751991" cy="5992237"/>
          </a:xfrm>
        </p:spPr>
        <p:txBody>
          <a:bodyPr/>
          <a:lstStyle/>
          <a:p>
            <a:r>
              <a:rPr lang="en-US"/>
              <a:t>Code_FC:  </a:t>
            </a:r>
            <a:r>
              <a:rPr lang="en-US" b="1">
                <a:solidFill>
                  <a:srgbClr val="FFFF00"/>
                </a:solidFill>
              </a:rPr>
              <a:t>FK from SWF.Flow_Finance_Category</a:t>
            </a:r>
          </a:p>
        </p:txBody>
      </p:sp>
    </p:spTree>
    <p:extLst>
      <p:ext uri="{BB962C8B-B14F-4D97-AF65-F5344CB8AC3E}">
        <p14:creationId xmlns:p14="http://schemas.microsoft.com/office/powerpoint/2010/main" val="322997821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A9946-1970-40D1-FB6F-F16F685D934D}"/>
              </a:ext>
            </a:extLst>
          </p:cNvPr>
          <p:cNvSpPr>
            <a:spLocks noGrp="1"/>
          </p:cNvSpPr>
          <p:nvPr>
            <p:ph type="title"/>
          </p:nvPr>
        </p:nvSpPr>
        <p:spPr>
          <a:xfrm>
            <a:off x="913795" y="0"/>
            <a:ext cx="10353762" cy="560439"/>
          </a:xfrm>
        </p:spPr>
        <p:txBody>
          <a:bodyPr>
            <a:normAutofit fontScale="90000"/>
          </a:bodyPr>
          <a:lstStyle/>
          <a:p>
            <a:r>
              <a:rPr lang="en-US" b="1">
                <a:solidFill>
                  <a:srgbClr val="FFFF00"/>
                </a:solidFill>
                <a:effectLst/>
              </a:rPr>
              <a:t>TWT</a:t>
            </a:r>
            <a:r>
              <a:rPr lang="en-US" b="1">
                <a:effectLst/>
              </a:rPr>
              <a:t>.</a:t>
            </a:r>
            <a:r>
              <a:rPr lang="en-US" b="1">
                <a:solidFill>
                  <a:srgbClr val="FF0000"/>
                </a:solidFill>
                <a:effectLst/>
              </a:rPr>
              <a:t>Flow_Products [cont.]</a:t>
            </a:r>
            <a:endParaRPr lang="en-US"/>
          </a:p>
        </p:txBody>
      </p:sp>
      <p:sp>
        <p:nvSpPr>
          <p:cNvPr id="3" name="Content Placeholder 2">
            <a:extLst>
              <a:ext uri="{FF2B5EF4-FFF2-40B4-BE49-F238E27FC236}">
                <a16:creationId xmlns:a16="http://schemas.microsoft.com/office/drawing/2014/main" id="{44A88316-AC55-1121-3352-0C6FBCA024CE}"/>
              </a:ext>
            </a:extLst>
          </p:cNvPr>
          <p:cNvSpPr>
            <a:spLocks noGrp="1"/>
          </p:cNvSpPr>
          <p:nvPr>
            <p:ph idx="1"/>
          </p:nvPr>
        </p:nvSpPr>
        <p:spPr>
          <a:xfrm>
            <a:off x="108155" y="560439"/>
            <a:ext cx="11906864" cy="6223819"/>
          </a:xfrm>
        </p:spPr>
        <p:txBody>
          <a:bodyPr/>
          <a:lstStyle/>
          <a:p>
            <a:r>
              <a:rPr lang="en-US"/>
              <a:t>int Type_code</a:t>
            </a:r>
          </a:p>
          <a:p>
            <a:pPr lvl="1"/>
            <a:r>
              <a:rPr lang="en-US"/>
              <a:t>1 : </a:t>
            </a:r>
            <a:r>
              <a:rPr lang="ar-EG"/>
              <a:t>مسار عمل صغير</a:t>
            </a:r>
            <a:endParaRPr lang="en-US"/>
          </a:p>
          <a:p>
            <a:pPr lvl="1"/>
            <a:r>
              <a:rPr lang="en-US"/>
              <a:t>2 : </a:t>
            </a:r>
            <a:r>
              <a:rPr lang="ar-EG"/>
              <a:t>مسار عمل كبير</a:t>
            </a:r>
            <a:endParaRPr lang="en-US"/>
          </a:p>
          <a:p>
            <a:pPr lvl="1"/>
            <a:r>
              <a:rPr lang="en-US"/>
              <a:t>Existed also at </a:t>
            </a:r>
            <a:r>
              <a:rPr lang="en-US" b="1">
                <a:solidFill>
                  <a:srgbClr val="00B0F0"/>
                </a:solidFill>
              </a:rPr>
              <a:t>Deportation</a:t>
            </a:r>
          </a:p>
          <a:p>
            <a:endParaRPr lang="en-US"/>
          </a:p>
        </p:txBody>
      </p:sp>
    </p:spTree>
    <p:extLst>
      <p:ext uri="{BB962C8B-B14F-4D97-AF65-F5344CB8AC3E}">
        <p14:creationId xmlns:p14="http://schemas.microsoft.com/office/powerpoint/2010/main" val="25095212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7911E-D2E0-549A-5A12-F51CF309C6EC}"/>
              </a:ext>
            </a:extLst>
          </p:cNvPr>
          <p:cNvSpPr>
            <a:spLocks noGrp="1"/>
          </p:cNvSpPr>
          <p:nvPr>
            <p:ph type="title"/>
          </p:nvPr>
        </p:nvSpPr>
        <p:spPr>
          <a:xfrm>
            <a:off x="913795" y="0"/>
            <a:ext cx="10353762" cy="970450"/>
          </a:xfrm>
        </p:spPr>
        <p:txBody>
          <a:bodyPr/>
          <a:lstStyle/>
          <a:p>
            <a:r>
              <a:rPr lang="en-US" b="1">
                <a:solidFill>
                  <a:srgbClr val="FFFF00"/>
                </a:solidFill>
              </a:rPr>
              <a:t>TWF</a:t>
            </a:r>
            <a:r>
              <a:rPr lang="en-US" b="1"/>
              <a:t>.Flow_Branch_product</a:t>
            </a:r>
          </a:p>
        </p:txBody>
      </p:sp>
      <p:pic>
        <p:nvPicPr>
          <p:cNvPr id="5" name="Content Placeholder 4">
            <a:extLst>
              <a:ext uri="{FF2B5EF4-FFF2-40B4-BE49-F238E27FC236}">
                <a16:creationId xmlns:a16="http://schemas.microsoft.com/office/drawing/2014/main" id="{CD9A96DF-948C-5224-F0C4-F8A3CE1DBB3F}"/>
              </a:ext>
            </a:extLst>
          </p:cNvPr>
          <p:cNvPicPr>
            <a:picLocks noGrp="1" noChangeAspect="1"/>
          </p:cNvPicPr>
          <p:nvPr>
            <p:ph idx="1"/>
          </p:nvPr>
        </p:nvPicPr>
        <p:blipFill>
          <a:blip r:embed="rId2"/>
          <a:stretch>
            <a:fillRect/>
          </a:stretch>
        </p:blipFill>
        <p:spPr>
          <a:xfrm>
            <a:off x="7704371" y="970450"/>
            <a:ext cx="4044660" cy="1601355"/>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425377774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02DAC-375B-F282-ECC0-CF5E9F9EB1E8}"/>
              </a:ext>
            </a:extLst>
          </p:cNvPr>
          <p:cNvSpPr>
            <a:spLocks noGrp="1"/>
          </p:cNvSpPr>
          <p:nvPr>
            <p:ph type="title"/>
          </p:nvPr>
        </p:nvSpPr>
        <p:spPr>
          <a:xfrm>
            <a:off x="913795" y="0"/>
            <a:ext cx="10353762" cy="622852"/>
          </a:xfrm>
        </p:spPr>
        <p:txBody>
          <a:bodyPr>
            <a:normAutofit fontScale="90000"/>
          </a:bodyPr>
          <a:lstStyle/>
          <a:p>
            <a:r>
              <a:rPr lang="en-US" b="1">
                <a:solidFill>
                  <a:srgbClr val="FFFF00"/>
                </a:solidFill>
              </a:rPr>
              <a:t>TWF</a:t>
            </a:r>
            <a:r>
              <a:rPr lang="en-US"/>
              <a:t>.Flow_Exempted_Products</a:t>
            </a:r>
          </a:p>
        </p:txBody>
      </p:sp>
      <p:sp>
        <p:nvSpPr>
          <p:cNvPr id="3" name="Content Placeholder 2">
            <a:extLst>
              <a:ext uri="{FF2B5EF4-FFF2-40B4-BE49-F238E27FC236}">
                <a16:creationId xmlns:a16="http://schemas.microsoft.com/office/drawing/2014/main" id="{59BCA47E-63D7-C8B7-38FF-506F2D764CC5}"/>
              </a:ext>
            </a:extLst>
          </p:cNvPr>
          <p:cNvSpPr>
            <a:spLocks noGrp="1"/>
          </p:cNvSpPr>
          <p:nvPr>
            <p:ph idx="1"/>
          </p:nvPr>
        </p:nvSpPr>
        <p:spPr>
          <a:xfrm>
            <a:off x="417443" y="622853"/>
            <a:ext cx="10850114" cy="5946912"/>
          </a:xfrm>
        </p:spPr>
        <p:txBody>
          <a:bodyPr/>
          <a:lstStyle/>
          <a:p>
            <a:r>
              <a:rPr lang="en-US"/>
              <a:t>Loan_Code</a:t>
            </a:r>
          </a:p>
          <a:p>
            <a:r>
              <a:rPr lang="en-US"/>
              <a:t>Product_Id [FK, Flow_Products]</a:t>
            </a:r>
          </a:p>
          <a:p>
            <a:endParaRPr lang="en-US"/>
          </a:p>
        </p:txBody>
      </p:sp>
    </p:spTree>
    <p:extLst>
      <p:ext uri="{BB962C8B-B14F-4D97-AF65-F5344CB8AC3E}">
        <p14:creationId xmlns:p14="http://schemas.microsoft.com/office/powerpoint/2010/main" val="15714286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BF16B-5632-6543-20D2-952872D818B9}"/>
              </a:ext>
            </a:extLst>
          </p:cNvPr>
          <p:cNvSpPr>
            <a:spLocks noGrp="1"/>
          </p:cNvSpPr>
          <p:nvPr>
            <p:ph type="title"/>
          </p:nvPr>
        </p:nvSpPr>
        <p:spPr>
          <a:xfrm>
            <a:off x="913795" y="0"/>
            <a:ext cx="10353762" cy="491613"/>
          </a:xfrm>
        </p:spPr>
        <p:txBody>
          <a:bodyPr>
            <a:normAutofit fontScale="90000"/>
          </a:bodyPr>
          <a:lstStyle/>
          <a:p>
            <a:r>
              <a:rPr lang="en-US" b="1">
                <a:solidFill>
                  <a:srgbClr val="FFFF00"/>
                </a:solidFill>
              </a:rPr>
              <a:t>TWF</a:t>
            </a:r>
            <a:r>
              <a:rPr lang="en-US"/>
              <a:t>.</a:t>
            </a:r>
            <a:r>
              <a:rPr lang="en-US" b="1">
                <a:solidFill>
                  <a:srgbClr val="FF0000"/>
                </a:solidFill>
              </a:rPr>
              <a:t>Flow_Customers</a:t>
            </a:r>
          </a:p>
        </p:txBody>
      </p:sp>
      <p:sp>
        <p:nvSpPr>
          <p:cNvPr id="3" name="Content Placeholder 2">
            <a:extLst>
              <a:ext uri="{FF2B5EF4-FFF2-40B4-BE49-F238E27FC236}">
                <a16:creationId xmlns:a16="http://schemas.microsoft.com/office/drawing/2014/main" id="{2E6F3D00-E0DA-547C-36CB-2E21C1CFDD29}"/>
              </a:ext>
            </a:extLst>
          </p:cNvPr>
          <p:cNvSpPr>
            <a:spLocks noGrp="1"/>
          </p:cNvSpPr>
          <p:nvPr>
            <p:ph idx="1"/>
          </p:nvPr>
        </p:nvSpPr>
        <p:spPr>
          <a:xfrm>
            <a:off x="108154" y="491613"/>
            <a:ext cx="12083845" cy="6164826"/>
          </a:xfrm>
        </p:spPr>
        <p:txBody>
          <a:bodyPr/>
          <a:lstStyle/>
          <a:p>
            <a:r>
              <a:rPr lang="en-US" b="1"/>
              <a:t>CustomerId</a:t>
            </a:r>
            <a:r>
              <a:rPr lang="en-US"/>
              <a:t> </a:t>
            </a:r>
            <a:r>
              <a:rPr lang="en-US" b="1">
                <a:solidFill>
                  <a:srgbClr val="FFFF00"/>
                </a:solidFill>
              </a:rPr>
              <a:t>[PK]</a:t>
            </a:r>
          </a:p>
          <a:p>
            <a:r>
              <a:rPr lang="en-US" sz="1800"/>
              <a:t>creationUser [FK] from user</a:t>
            </a:r>
          </a:p>
          <a:p>
            <a:r>
              <a:rPr lang="en-US" sz="1800" b="1"/>
              <a:t>Identity_encoded_date: </a:t>
            </a:r>
            <a:r>
              <a:rPr lang="ar-EG" sz="1800" b="1"/>
              <a:t>صادر بتاريخ</a:t>
            </a:r>
            <a:endParaRPr lang="en-US" b="1"/>
          </a:p>
          <a:p>
            <a:endParaRPr lang="en-US" b="1"/>
          </a:p>
        </p:txBody>
      </p:sp>
      <p:pic>
        <p:nvPicPr>
          <p:cNvPr id="5" name="Picture 4">
            <a:extLst>
              <a:ext uri="{FF2B5EF4-FFF2-40B4-BE49-F238E27FC236}">
                <a16:creationId xmlns:a16="http://schemas.microsoft.com/office/drawing/2014/main" id="{025D9512-5EE2-6EA6-52B5-B024211BAE94}"/>
              </a:ext>
            </a:extLst>
          </p:cNvPr>
          <p:cNvPicPr>
            <a:picLocks noChangeAspect="1"/>
          </p:cNvPicPr>
          <p:nvPr/>
        </p:nvPicPr>
        <p:blipFill>
          <a:blip r:embed="rId2"/>
          <a:stretch>
            <a:fillRect/>
          </a:stretch>
        </p:blipFill>
        <p:spPr>
          <a:xfrm>
            <a:off x="4611329" y="1548025"/>
            <a:ext cx="7580671" cy="501444"/>
          </a:xfrm>
          <a:prstGeom prst="rect">
            <a:avLst/>
          </a:prstGeom>
        </p:spPr>
      </p:pic>
      <p:pic>
        <p:nvPicPr>
          <p:cNvPr id="7" name="Picture 6">
            <a:extLst>
              <a:ext uri="{FF2B5EF4-FFF2-40B4-BE49-F238E27FC236}">
                <a16:creationId xmlns:a16="http://schemas.microsoft.com/office/drawing/2014/main" id="{908568C5-2438-725A-6BA0-E2FCF0DC059C}"/>
              </a:ext>
            </a:extLst>
          </p:cNvPr>
          <p:cNvPicPr>
            <a:picLocks noChangeAspect="1"/>
          </p:cNvPicPr>
          <p:nvPr/>
        </p:nvPicPr>
        <p:blipFill>
          <a:blip r:embed="rId3"/>
          <a:stretch>
            <a:fillRect/>
          </a:stretch>
        </p:blipFill>
        <p:spPr>
          <a:xfrm>
            <a:off x="4611329" y="2142876"/>
            <a:ext cx="7580671" cy="501444"/>
          </a:xfrm>
          <a:prstGeom prst="rect">
            <a:avLst/>
          </a:prstGeom>
        </p:spPr>
      </p:pic>
      <p:pic>
        <p:nvPicPr>
          <p:cNvPr id="9" name="Picture 8">
            <a:extLst>
              <a:ext uri="{FF2B5EF4-FFF2-40B4-BE49-F238E27FC236}">
                <a16:creationId xmlns:a16="http://schemas.microsoft.com/office/drawing/2014/main" id="{9C3BAB53-239E-B505-4C2A-B6AB9F9EB67F}"/>
              </a:ext>
            </a:extLst>
          </p:cNvPr>
          <p:cNvPicPr>
            <a:picLocks noChangeAspect="1"/>
          </p:cNvPicPr>
          <p:nvPr/>
        </p:nvPicPr>
        <p:blipFill>
          <a:blip r:embed="rId4"/>
          <a:stretch>
            <a:fillRect/>
          </a:stretch>
        </p:blipFill>
        <p:spPr>
          <a:xfrm>
            <a:off x="6639453" y="2737727"/>
            <a:ext cx="5444393" cy="502560"/>
          </a:xfrm>
          <a:prstGeom prst="rect">
            <a:avLst/>
          </a:prstGeom>
        </p:spPr>
      </p:pic>
    </p:spTree>
    <p:extLst>
      <p:ext uri="{BB962C8B-B14F-4D97-AF65-F5344CB8AC3E}">
        <p14:creationId xmlns:p14="http://schemas.microsoft.com/office/powerpoint/2010/main" val="151675787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C32AC-2553-DF57-69EF-10F25DFBA585}"/>
              </a:ext>
            </a:extLst>
          </p:cNvPr>
          <p:cNvSpPr>
            <a:spLocks noGrp="1"/>
          </p:cNvSpPr>
          <p:nvPr>
            <p:ph type="title"/>
          </p:nvPr>
        </p:nvSpPr>
        <p:spPr>
          <a:xfrm>
            <a:off x="913795" y="0"/>
            <a:ext cx="10353762" cy="609600"/>
          </a:xfrm>
        </p:spPr>
        <p:txBody>
          <a:bodyPr>
            <a:normAutofit fontScale="90000"/>
          </a:bodyPr>
          <a:lstStyle/>
          <a:p>
            <a:r>
              <a:rPr lang="en-US" b="1">
                <a:solidFill>
                  <a:srgbClr val="FF0000"/>
                </a:solidFill>
              </a:rPr>
              <a:t>Company entity</a:t>
            </a:r>
          </a:p>
        </p:txBody>
      </p:sp>
      <p:sp>
        <p:nvSpPr>
          <p:cNvPr id="3" name="Content Placeholder 2">
            <a:extLst>
              <a:ext uri="{FF2B5EF4-FFF2-40B4-BE49-F238E27FC236}">
                <a16:creationId xmlns:a16="http://schemas.microsoft.com/office/drawing/2014/main" id="{301C27C4-CEF0-6A83-1EE8-4CA6A731E206}"/>
              </a:ext>
            </a:extLst>
          </p:cNvPr>
          <p:cNvSpPr>
            <a:spLocks noGrp="1"/>
          </p:cNvSpPr>
          <p:nvPr>
            <p:ph idx="1"/>
          </p:nvPr>
        </p:nvSpPr>
        <p:spPr>
          <a:xfrm>
            <a:off x="285135" y="609600"/>
            <a:ext cx="11700388" cy="6095999"/>
          </a:xfrm>
        </p:spPr>
        <p:txBody>
          <a:bodyPr/>
          <a:lstStyle/>
          <a:p>
            <a:r>
              <a:rPr lang="en-US"/>
              <a:t>int </a:t>
            </a:r>
            <a:r>
              <a:rPr lang="en-US" err="1"/>
              <a:t>ComId</a:t>
            </a:r>
            <a:endParaRPr lang="en-US"/>
          </a:p>
          <a:p>
            <a:r>
              <a:rPr lang="en-US" err="1"/>
              <a:t>ComNameAR</a:t>
            </a:r>
            <a:endParaRPr lang="en-US"/>
          </a:p>
          <a:p>
            <a:r>
              <a:rPr lang="en-US" err="1"/>
              <a:t>ComNameEn</a:t>
            </a:r>
            <a:endParaRPr lang="en-US"/>
          </a:p>
        </p:txBody>
      </p:sp>
    </p:spTree>
    <p:extLst>
      <p:ext uri="{BB962C8B-B14F-4D97-AF65-F5344CB8AC3E}">
        <p14:creationId xmlns:p14="http://schemas.microsoft.com/office/powerpoint/2010/main" val="291106429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06B8-441A-11E8-B385-FD94F50259DC}"/>
              </a:ext>
            </a:extLst>
          </p:cNvPr>
          <p:cNvSpPr>
            <a:spLocks noGrp="1"/>
          </p:cNvSpPr>
          <p:nvPr>
            <p:ph type="title"/>
          </p:nvPr>
        </p:nvSpPr>
        <p:spPr>
          <a:xfrm>
            <a:off x="913795" y="0"/>
            <a:ext cx="10353762" cy="471948"/>
          </a:xfrm>
        </p:spPr>
        <p:txBody>
          <a:bodyPr>
            <a:normAutofit fontScale="90000"/>
          </a:bodyPr>
          <a:lstStyle/>
          <a:p>
            <a:r>
              <a:rPr lang="en-US" b="1" err="1">
                <a:solidFill>
                  <a:srgbClr val="FF0000"/>
                </a:solidFill>
              </a:rPr>
              <a:t>Acc_Chart_Account</a:t>
            </a:r>
            <a:r>
              <a:rPr lang="en-US" b="1">
                <a:solidFill>
                  <a:srgbClr val="FF0000"/>
                </a:solidFill>
              </a:rPr>
              <a:t> entity</a:t>
            </a:r>
          </a:p>
        </p:txBody>
      </p:sp>
      <p:sp>
        <p:nvSpPr>
          <p:cNvPr id="3" name="Content Placeholder 2">
            <a:extLst>
              <a:ext uri="{FF2B5EF4-FFF2-40B4-BE49-F238E27FC236}">
                <a16:creationId xmlns:a16="http://schemas.microsoft.com/office/drawing/2014/main" id="{0C4B6636-C47E-9A5C-7DAD-A3E52C048CAB}"/>
              </a:ext>
            </a:extLst>
          </p:cNvPr>
          <p:cNvSpPr>
            <a:spLocks noGrp="1"/>
          </p:cNvSpPr>
          <p:nvPr>
            <p:ph idx="1"/>
          </p:nvPr>
        </p:nvSpPr>
        <p:spPr>
          <a:xfrm>
            <a:off x="159026" y="606286"/>
            <a:ext cx="11847444" cy="5983357"/>
          </a:xfrm>
        </p:spPr>
        <p:txBody>
          <a:bodyPr/>
          <a:lstStyle/>
          <a:p>
            <a:r>
              <a:rPr lang="en-US"/>
              <a:t>namespace </a:t>
            </a:r>
            <a:r>
              <a:rPr lang="en-US" err="1"/>
              <a:t>Tamweely.Infrastruture.Data.Project_Modules.Accounts</a:t>
            </a:r>
            <a:endParaRPr lang="en-US"/>
          </a:p>
          <a:p>
            <a:endParaRPr lang="en-US"/>
          </a:p>
        </p:txBody>
      </p:sp>
    </p:spTree>
    <p:extLst>
      <p:ext uri="{BB962C8B-B14F-4D97-AF65-F5344CB8AC3E}">
        <p14:creationId xmlns:p14="http://schemas.microsoft.com/office/powerpoint/2010/main" val="99985790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8894-BB3A-3F3F-7F69-8DDD50CF6730}"/>
              </a:ext>
            </a:extLst>
          </p:cNvPr>
          <p:cNvSpPr>
            <a:spLocks noGrp="1"/>
          </p:cNvSpPr>
          <p:nvPr>
            <p:ph type="title"/>
          </p:nvPr>
        </p:nvSpPr>
        <p:spPr>
          <a:xfrm>
            <a:off x="913795" y="609600"/>
            <a:ext cx="10353762" cy="4492336"/>
          </a:xfrm>
        </p:spPr>
        <p:txBody>
          <a:bodyPr>
            <a:normAutofit/>
          </a:bodyPr>
          <a:lstStyle/>
          <a:p>
            <a:r>
              <a:rPr lang="en-US" sz="6600" b="1">
                <a:solidFill>
                  <a:srgbClr val="FF0000"/>
                </a:solidFill>
              </a:rPr>
              <a:t>Start Security</a:t>
            </a:r>
          </a:p>
        </p:txBody>
      </p:sp>
    </p:spTree>
    <p:extLst>
      <p:ext uri="{BB962C8B-B14F-4D97-AF65-F5344CB8AC3E}">
        <p14:creationId xmlns:p14="http://schemas.microsoft.com/office/powerpoint/2010/main" val="13671329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922EA-960E-6291-8AC2-5FC637FC10AC}"/>
              </a:ext>
            </a:extLst>
          </p:cNvPr>
          <p:cNvSpPr>
            <a:spLocks noGrp="1"/>
          </p:cNvSpPr>
          <p:nvPr>
            <p:ph type="title"/>
          </p:nvPr>
        </p:nvSpPr>
        <p:spPr>
          <a:xfrm>
            <a:off x="913795" y="0"/>
            <a:ext cx="10353762" cy="561109"/>
          </a:xfrm>
        </p:spPr>
        <p:txBody>
          <a:bodyPr>
            <a:normAutofit fontScale="90000"/>
          </a:bodyPr>
          <a:lstStyle/>
          <a:p>
            <a:r>
              <a:rPr lang="en-US" b="1">
                <a:solidFill>
                  <a:srgbClr val="FFFF00"/>
                </a:solidFill>
              </a:rPr>
              <a:t>Security</a:t>
            </a:r>
            <a:r>
              <a:rPr lang="en-US"/>
              <a:t>.</a:t>
            </a:r>
            <a:r>
              <a:rPr lang="en-US" b="1">
                <a:solidFill>
                  <a:srgbClr val="FF0000"/>
                </a:solidFill>
              </a:rPr>
              <a:t>Sec_APIs</a:t>
            </a:r>
          </a:p>
        </p:txBody>
      </p:sp>
      <p:sp>
        <p:nvSpPr>
          <p:cNvPr id="3" name="Content Placeholder 2">
            <a:extLst>
              <a:ext uri="{FF2B5EF4-FFF2-40B4-BE49-F238E27FC236}">
                <a16:creationId xmlns:a16="http://schemas.microsoft.com/office/drawing/2014/main" id="{A5971EED-0FE0-775F-39CD-3C17D64BE8AC}"/>
              </a:ext>
            </a:extLst>
          </p:cNvPr>
          <p:cNvSpPr>
            <a:spLocks noGrp="1"/>
          </p:cNvSpPr>
          <p:nvPr>
            <p:ph idx="1"/>
          </p:nvPr>
        </p:nvSpPr>
        <p:spPr>
          <a:xfrm>
            <a:off x="249382" y="561109"/>
            <a:ext cx="11710554" cy="6047509"/>
          </a:xfrm>
        </p:spPr>
        <p:txBody>
          <a:bodyPr/>
          <a:lstStyle/>
          <a:p>
            <a:r>
              <a:rPr lang="en-US"/>
              <a:t>API_ID: </a:t>
            </a:r>
            <a:r>
              <a:rPr lang="en-US" b="1">
                <a:solidFill>
                  <a:srgbClr val="FFFF00"/>
                </a:solidFill>
              </a:rPr>
              <a:t>PK</a:t>
            </a:r>
            <a:r>
              <a:rPr lang="en-US"/>
              <a:t>, </a:t>
            </a:r>
          </a:p>
          <a:p>
            <a:r>
              <a:rPr lang="en-US" b="1"/>
              <a:t>ControllerName: string</a:t>
            </a:r>
          </a:p>
          <a:p>
            <a:r>
              <a:rPr lang="en-US" b="1"/>
              <a:t>ActionName: string</a:t>
            </a:r>
          </a:p>
        </p:txBody>
      </p:sp>
      <p:pic>
        <p:nvPicPr>
          <p:cNvPr id="5" name="Picture 4">
            <a:extLst>
              <a:ext uri="{FF2B5EF4-FFF2-40B4-BE49-F238E27FC236}">
                <a16:creationId xmlns:a16="http://schemas.microsoft.com/office/drawing/2014/main" id="{EC0DF08D-7B2A-55F4-7A73-0529F957AEEB}"/>
              </a:ext>
            </a:extLst>
          </p:cNvPr>
          <p:cNvPicPr>
            <a:picLocks noChangeAspect="1"/>
          </p:cNvPicPr>
          <p:nvPr/>
        </p:nvPicPr>
        <p:blipFill>
          <a:blip r:embed="rId2"/>
          <a:stretch>
            <a:fillRect/>
          </a:stretch>
        </p:blipFill>
        <p:spPr>
          <a:xfrm>
            <a:off x="5811726" y="644236"/>
            <a:ext cx="4436917" cy="2457189"/>
          </a:xfrm>
          <a:prstGeom prst="rect">
            <a:avLst/>
          </a:prstGeom>
        </p:spPr>
      </p:pic>
    </p:spTree>
    <p:extLst>
      <p:ext uri="{BB962C8B-B14F-4D97-AF65-F5344CB8AC3E}">
        <p14:creationId xmlns:p14="http://schemas.microsoft.com/office/powerpoint/2010/main" val="211636621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3BDCE-BF36-0D1C-751F-AB0C9200840C}"/>
              </a:ext>
            </a:extLst>
          </p:cNvPr>
          <p:cNvSpPr>
            <a:spLocks noGrp="1"/>
          </p:cNvSpPr>
          <p:nvPr>
            <p:ph type="title"/>
          </p:nvPr>
        </p:nvSpPr>
        <p:spPr>
          <a:xfrm>
            <a:off x="919119" y="0"/>
            <a:ext cx="10353762" cy="523875"/>
          </a:xfrm>
        </p:spPr>
        <p:txBody>
          <a:bodyPr>
            <a:normAutofit fontScale="90000"/>
          </a:bodyPr>
          <a:lstStyle/>
          <a:p>
            <a:r>
              <a:rPr lang="en-US" b="1">
                <a:solidFill>
                  <a:srgbClr val="FFFF00"/>
                </a:solidFill>
              </a:rPr>
              <a:t>Security</a:t>
            </a:r>
            <a:r>
              <a:rPr lang="en-US" b="1"/>
              <a:t>.</a:t>
            </a:r>
            <a:r>
              <a:rPr lang="en-US" b="1">
                <a:solidFill>
                  <a:srgbClr val="FF0000"/>
                </a:solidFill>
              </a:rPr>
              <a:t>Sec_Api_Pages</a:t>
            </a:r>
          </a:p>
        </p:txBody>
      </p:sp>
      <p:sp>
        <p:nvSpPr>
          <p:cNvPr id="3" name="Content Placeholder 2">
            <a:extLst>
              <a:ext uri="{FF2B5EF4-FFF2-40B4-BE49-F238E27FC236}">
                <a16:creationId xmlns:a16="http://schemas.microsoft.com/office/drawing/2014/main" id="{9C2C54FE-69AA-D409-8571-E0C1DB816B43}"/>
              </a:ext>
            </a:extLst>
          </p:cNvPr>
          <p:cNvSpPr>
            <a:spLocks noGrp="1"/>
          </p:cNvSpPr>
          <p:nvPr>
            <p:ph idx="1"/>
          </p:nvPr>
        </p:nvSpPr>
        <p:spPr>
          <a:xfrm>
            <a:off x="180975" y="742950"/>
            <a:ext cx="11925300" cy="5810249"/>
          </a:xfrm>
        </p:spPr>
        <p:txBody>
          <a:bodyPr>
            <a:normAutofit/>
          </a:bodyPr>
          <a:lstStyle/>
          <a:p>
            <a:endParaRPr lang="en-US" sz="1800" b="1"/>
          </a:p>
          <a:p>
            <a:endParaRPr lang="en-US" sz="1800" b="1"/>
          </a:p>
          <a:p>
            <a:r>
              <a:rPr lang="en-US" sz="1800" b="1"/>
              <a:t>API_PageID: int, identity</a:t>
            </a:r>
          </a:p>
          <a:p>
            <a:r>
              <a:rPr lang="en-US" sz="1800" b="1"/>
              <a:t>API_ID: FK from Sec_APIs</a:t>
            </a:r>
          </a:p>
          <a:p>
            <a:r>
              <a:rPr lang="en-US" sz="1800" b="1"/>
              <a:t>Menu_ID: FK from SEC_Menu</a:t>
            </a:r>
          </a:p>
          <a:p>
            <a:r>
              <a:rPr lang="en-US" sz="1800" b="1"/>
              <a:t>ActionType: FK from SEC_Action</a:t>
            </a:r>
          </a:p>
          <a:p>
            <a:endParaRPr lang="en-US" sz="1800" b="1"/>
          </a:p>
          <a:p>
            <a:r>
              <a:rPr lang="en-US" sz="1800" b="1"/>
              <a:t>HasKey(t =&gt; new { t.API_ID, t.Menu_ID, t.ActionType });</a:t>
            </a:r>
          </a:p>
        </p:txBody>
      </p:sp>
      <p:pic>
        <p:nvPicPr>
          <p:cNvPr id="5" name="Picture 4">
            <a:extLst>
              <a:ext uri="{FF2B5EF4-FFF2-40B4-BE49-F238E27FC236}">
                <a16:creationId xmlns:a16="http://schemas.microsoft.com/office/drawing/2014/main" id="{49C92708-B491-1FBE-15EB-DB7B65593829}"/>
              </a:ext>
            </a:extLst>
          </p:cNvPr>
          <p:cNvPicPr>
            <a:picLocks noChangeAspect="1"/>
          </p:cNvPicPr>
          <p:nvPr/>
        </p:nvPicPr>
        <p:blipFill>
          <a:blip r:embed="rId2"/>
          <a:stretch>
            <a:fillRect/>
          </a:stretch>
        </p:blipFill>
        <p:spPr>
          <a:xfrm>
            <a:off x="7116958" y="890888"/>
            <a:ext cx="3284341" cy="2137983"/>
          </a:xfrm>
          <a:prstGeom prst="rect">
            <a:avLst/>
          </a:prstGeom>
        </p:spPr>
      </p:pic>
    </p:spTree>
    <p:extLst>
      <p:ext uri="{BB962C8B-B14F-4D97-AF65-F5344CB8AC3E}">
        <p14:creationId xmlns:p14="http://schemas.microsoft.com/office/powerpoint/2010/main" val="250547248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D333E-B50C-50ED-F4D7-7D471BF9B2A0}"/>
              </a:ext>
            </a:extLst>
          </p:cNvPr>
          <p:cNvSpPr>
            <a:spLocks noGrp="1"/>
          </p:cNvSpPr>
          <p:nvPr>
            <p:ph type="title"/>
          </p:nvPr>
        </p:nvSpPr>
        <p:spPr>
          <a:xfrm>
            <a:off x="919119" y="32153"/>
            <a:ext cx="10353762" cy="472672"/>
          </a:xfrm>
        </p:spPr>
        <p:txBody>
          <a:bodyPr>
            <a:normAutofit fontScale="90000"/>
          </a:bodyPr>
          <a:lstStyle/>
          <a:p>
            <a:r>
              <a:rPr lang="en-US" sz="3600" b="1">
                <a:solidFill>
                  <a:srgbClr val="FFFF00"/>
                </a:solidFill>
              </a:rPr>
              <a:t>Security</a:t>
            </a:r>
            <a:r>
              <a:rPr lang="en-US" sz="3600"/>
              <a:t>.</a:t>
            </a:r>
            <a:r>
              <a:rPr lang="en-US" sz="3600" b="1">
                <a:solidFill>
                  <a:srgbClr val="FF0000"/>
                </a:solidFill>
              </a:rPr>
              <a:t>SEC_Action</a:t>
            </a:r>
          </a:p>
        </p:txBody>
      </p:sp>
      <p:sp>
        <p:nvSpPr>
          <p:cNvPr id="3" name="Content Placeholder 2">
            <a:extLst>
              <a:ext uri="{FF2B5EF4-FFF2-40B4-BE49-F238E27FC236}">
                <a16:creationId xmlns:a16="http://schemas.microsoft.com/office/drawing/2014/main" id="{ACDF88FE-F832-E264-D80D-91F64111CEEF}"/>
              </a:ext>
            </a:extLst>
          </p:cNvPr>
          <p:cNvSpPr>
            <a:spLocks noGrp="1"/>
          </p:cNvSpPr>
          <p:nvPr>
            <p:ph idx="1"/>
          </p:nvPr>
        </p:nvSpPr>
        <p:spPr>
          <a:xfrm>
            <a:off x="592282" y="794153"/>
            <a:ext cx="10675275" cy="5658602"/>
          </a:xfrm>
        </p:spPr>
        <p:txBody>
          <a:bodyPr/>
          <a:lstStyle/>
          <a:p>
            <a:r>
              <a:rPr lang="en-US"/>
              <a:t>Action_id: PK</a:t>
            </a:r>
          </a:p>
          <a:p>
            <a:r>
              <a:rPr lang="en-US"/>
              <a:t> </a:t>
            </a:r>
          </a:p>
        </p:txBody>
      </p:sp>
      <p:pic>
        <p:nvPicPr>
          <p:cNvPr id="5" name="Picture 4">
            <a:extLst>
              <a:ext uri="{FF2B5EF4-FFF2-40B4-BE49-F238E27FC236}">
                <a16:creationId xmlns:a16="http://schemas.microsoft.com/office/drawing/2014/main" id="{CC42573F-8B82-44F2-E373-FCE72E2D1D65}"/>
              </a:ext>
            </a:extLst>
          </p:cNvPr>
          <p:cNvPicPr>
            <a:picLocks noChangeAspect="1"/>
          </p:cNvPicPr>
          <p:nvPr/>
        </p:nvPicPr>
        <p:blipFill>
          <a:blip r:embed="rId2"/>
          <a:stretch>
            <a:fillRect/>
          </a:stretch>
        </p:blipFill>
        <p:spPr>
          <a:xfrm>
            <a:off x="6682507" y="1881733"/>
            <a:ext cx="4438641" cy="2699792"/>
          </a:xfrm>
          <a:prstGeom prst="rect">
            <a:avLst/>
          </a:prstGeom>
        </p:spPr>
      </p:pic>
    </p:spTree>
    <p:extLst>
      <p:ext uri="{BB962C8B-B14F-4D97-AF65-F5344CB8AC3E}">
        <p14:creationId xmlns:p14="http://schemas.microsoft.com/office/powerpoint/2010/main" val="42901733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F7D08-A393-98DE-9C45-6689A32A2C38}"/>
              </a:ext>
            </a:extLst>
          </p:cNvPr>
          <p:cNvSpPr>
            <a:spLocks noGrp="1"/>
          </p:cNvSpPr>
          <p:nvPr>
            <p:ph type="title"/>
          </p:nvPr>
        </p:nvSpPr>
        <p:spPr>
          <a:xfrm>
            <a:off x="919119" y="0"/>
            <a:ext cx="10353762" cy="668594"/>
          </a:xfrm>
        </p:spPr>
        <p:txBody>
          <a:bodyPr>
            <a:normAutofit fontScale="90000"/>
          </a:bodyPr>
          <a:lstStyle/>
          <a:p>
            <a:r>
              <a:rPr lang="en-US" b="1">
                <a:solidFill>
                  <a:srgbClr val="FFFF00"/>
                </a:solidFill>
              </a:rPr>
              <a:t>Security</a:t>
            </a:r>
            <a:r>
              <a:rPr lang="en-US"/>
              <a:t>.</a:t>
            </a:r>
            <a:r>
              <a:rPr lang="en-US" b="1">
                <a:solidFill>
                  <a:srgbClr val="FF0000"/>
                </a:solidFill>
              </a:rPr>
              <a:t>SEC_Group</a:t>
            </a:r>
          </a:p>
        </p:txBody>
      </p:sp>
      <p:pic>
        <p:nvPicPr>
          <p:cNvPr id="5" name="Content Placeholder 4">
            <a:extLst>
              <a:ext uri="{FF2B5EF4-FFF2-40B4-BE49-F238E27FC236}">
                <a16:creationId xmlns:a16="http://schemas.microsoft.com/office/drawing/2014/main" id="{FDF058CE-131C-13EF-9962-3C2C8DBF70F1}"/>
              </a:ext>
            </a:extLst>
          </p:cNvPr>
          <p:cNvPicPr>
            <a:picLocks noGrp="1" noChangeAspect="1"/>
          </p:cNvPicPr>
          <p:nvPr>
            <p:ph idx="1"/>
          </p:nvPr>
        </p:nvPicPr>
        <p:blipFill>
          <a:blip r:embed="rId2"/>
          <a:stretch>
            <a:fillRect/>
          </a:stretch>
        </p:blipFill>
        <p:spPr>
          <a:xfrm>
            <a:off x="7151521" y="639098"/>
            <a:ext cx="4971651" cy="4102949"/>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91034790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E1DD5-5F0F-CD86-65A3-F4089A446C78}"/>
              </a:ext>
            </a:extLst>
          </p:cNvPr>
          <p:cNvSpPr>
            <a:spLocks noGrp="1"/>
          </p:cNvSpPr>
          <p:nvPr>
            <p:ph type="title"/>
          </p:nvPr>
        </p:nvSpPr>
        <p:spPr>
          <a:xfrm>
            <a:off x="913795" y="0"/>
            <a:ext cx="10353762" cy="628650"/>
          </a:xfrm>
        </p:spPr>
        <p:txBody>
          <a:bodyPr>
            <a:normAutofit fontScale="90000"/>
          </a:bodyPr>
          <a:lstStyle/>
          <a:p>
            <a:r>
              <a:rPr lang="en-US" b="1">
                <a:solidFill>
                  <a:srgbClr val="FFFF00"/>
                </a:solidFill>
              </a:rPr>
              <a:t>Security.</a:t>
            </a:r>
            <a:r>
              <a:rPr lang="en-US" b="1">
                <a:solidFill>
                  <a:srgbClr val="FF0000"/>
                </a:solidFill>
              </a:rPr>
              <a:t>SEC_Group_Action</a:t>
            </a:r>
          </a:p>
        </p:txBody>
      </p:sp>
      <p:sp>
        <p:nvSpPr>
          <p:cNvPr id="3" name="Content Placeholder 2">
            <a:extLst>
              <a:ext uri="{FF2B5EF4-FFF2-40B4-BE49-F238E27FC236}">
                <a16:creationId xmlns:a16="http://schemas.microsoft.com/office/drawing/2014/main" id="{AEA0AD90-16DC-82F8-F534-87DDC02C8657}"/>
              </a:ext>
            </a:extLst>
          </p:cNvPr>
          <p:cNvSpPr>
            <a:spLocks noGrp="1"/>
          </p:cNvSpPr>
          <p:nvPr>
            <p:ph idx="1"/>
          </p:nvPr>
        </p:nvSpPr>
        <p:spPr>
          <a:xfrm>
            <a:off x="333374" y="628650"/>
            <a:ext cx="11420475" cy="6019799"/>
          </a:xfrm>
        </p:spPr>
        <p:txBody>
          <a:bodyPr/>
          <a:lstStyle/>
          <a:p>
            <a:r>
              <a:rPr lang="en-US" b="1"/>
              <a:t>Id_SJA: PK, </a:t>
            </a:r>
            <a:r>
              <a:rPr lang="en-US"/>
              <a:t>Identity</a:t>
            </a:r>
            <a:endParaRPr lang="en-US" b="1"/>
          </a:p>
          <a:p>
            <a:r>
              <a:rPr lang="en-US" b="1"/>
              <a:t>GroupId FK from </a:t>
            </a:r>
            <a:r>
              <a:rPr lang="en-US"/>
              <a:t>SEC_Group</a:t>
            </a:r>
            <a:endParaRPr lang="en-US" b="1"/>
          </a:p>
          <a:p>
            <a:r>
              <a:rPr lang="en-US" b="1"/>
              <a:t>Action_id: FK from </a:t>
            </a:r>
            <a:r>
              <a:rPr lang="en-US"/>
              <a:t>SEC_Action</a:t>
            </a:r>
          </a:p>
          <a:p>
            <a:endParaRPr lang="en-US" b="1"/>
          </a:p>
          <a:p>
            <a:r>
              <a:rPr lang="en-US" b="1"/>
              <a:t>Many to Many between group and action</a:t>
            </a:r>
          </a:p>
          <a:p>
            <a:endParaRPr lang="en-US" b="1"/>
          </a:p>
        </p:txBody>
      </p:sp>
      <p:pic>
        <p:nvPicPr>
          <p:cNvPr id="5" name="Picture 4">
            <a:extLst>
              <a:ext uri="{FF2B5EF4-FFF2-40B4-BE49-F238E27FC236}">
                <a16:creationId xmlns:a16="http://schemas.microsoft.com/office/drawing/2014/main" id="{DA843739-CAB4-16F6-BA53-0D0626DDA120}"/>
              </a:ext>
            </a:extLst>
          </p:cNvPr>
          <p:cNvPicPr>
            <a:picLocks noChangeAspect="1"/>
          </p:cNvPicPr>
          <p:nvPr/>
        </p:nvPicPr>
        <p:blipFill>
          <a:blip r:embed="rId2"/>
          <a:stretch>
            <a:fillRect/>
          </a:stretch>
        </p:blipFill>
        <p:spPr>
          <a:xfrm>
            <a:off x="7181850" y="628650"/>
            <a:ext cx="2562224" cy="2002175"/>
          </a:xfrm>
          <a:prstGeom prst="rect">
            <a:avLst/>
          </a:prstGeom>
        </p:spPr>
      </p:pic>
    </p:spTree>
    <p:extLst>
      <p:ext uri="{BB962C8B-B14F-4D97-AF65-F5344CB8AC3E}">
        <p14:creationId xmlns:p14="http://schemas.microsoft.com/office/powerpoint/2010/main" val="362544043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817A-D038-998F-C036-17D26D5CB3B6}"/>
              </a:ext>
            </a:extLst>
          </p:cNvPr>
          <p:cNvSpPr>
            <a:spLocks noGrp="1"/>
          </p:cNvSpPr>
          <p:nvPr>
            <p:ph type="title"/>
          </p:nvPr>
        </p:nvSpPr>
        <p:spPr>
          <a:xfrm>
            <a:off x="913795" y="0"/>
            <a:ext cx="10353762" cy="552450"/>
          </a:xfrm>
        </p:spPr>
        <p:txBody>
          <a:bodyPr>
            <a:normAutofit fontScale="90000"/>
          </a:bodyPr>
          <a:lstStyle/>
          <a:p>
            <a:r>
              <a:rPr lang="en-US" b="1">
                <a:solidFill>
                  <a:srgbClr val="FFFF00"/>
                </a:solidFill>
              </a:rPr>
              <a:t>Security</a:t>
            </a:r>
            <a:r>
              <a:rPr lang="en-US"/>
              <a:t>.</a:t>
            </a:r>
            <a:r>
              <a:rPr lang="en-US" b="1">
                <a:solidFill>
                  <a:srgbClr val="FF0000"/>
                </a:solidFill>
              </a:rPr>
              <a:t>SEC_User_Action</a:t>
            </a:r>
          </a:p>
        </p:txBody>
      </p:sp>
      <p:sp>
        <p:nvSpPr>
          <p:cNvPr id="3" name="Content Placeholder 2">
            <a:extLst>
              <a:ext uri="{FF2B5EF4-FFF2-40B4-BE49-F238E27FC236}">
                <a16:creationId xmlns:a16="http://schemas.microsoft.com/office/drawing/2014/main" id="{A498DE5A-2579-9127-5EB1-8EB2BD15F365}"/>
              </a:ext>
            </a:extLst>
          </p:cNvPr>
          <p:cNvSpPr>
            <a:spLocks noGrp="1"/>
          </p:cNvSpPr>
          <p:nvPr>
            <p:ph idx="1"/>
          </p:nvPr>
        </p:nvSpPr>
        <p:spPr>
          <a:xfrm>
            <a:off x="123824" y="552451"/>
            <a:ext cx="11934826" cy="6162674"/>
          </a:xfrm>
        </p:spPr>
        <p:txBody>
          <a:bodyPr/>
          <a:lstStyle/>
          <a:p>
            <a:endParaRPr lang="en-US"/>
          </a:p>
          <a:p>
            <a:r>
              <a:rPr lang="en-US" b="1"/>
              <a:t>Id_SUA: int, identity</a:t>
            </a:r>
          </a:p>
          <a:p>
            <a:r>
              <a:rPr lang="en-US"/>
              <a:t>UserId: int, FK from </a:t>
            </a:r>
            <a:r>
              <a:rPr lang="en-US" b="1">
                <a:solidFill>
                  <a:srgbClr val="00B0F0"/>
                </a:solidFill>
              </a:rPr>
              <a:t>User</a:t>
            </a:r>
          </a:p>
          <a:p>
            <a:r>
              <a:rPr lang="en-US"/>
              <a:t>Action_id: int</a:t>
            </a:r>
            <a:r>
              <a:rPr lang="en-US" b="1"/>
              <a:t>, FK from </a:t>
            </a:r>
            <a:r>
              <a:rPr lang="en-US" b="1">
                <a:solidFill>
                  <a:srgbClr val="00B0F0"/>
                </a:solidFill>
              </a:rPr>
              <a:t>SEC_Action</a:t>
            </a:r>
          </a:p>
          <a:p>
            <a:pPr marL="36900" indent="0">
              <a:buNone/>
            </a:pPr>
            <a:endParaRPr lang="en-US"/>
          </a:p>
          <a:p>
            <a:r>
              <a:rPr lang="en-US"/>
              <a:t>HasKey(t =&gt; new { t.</a:t>
            </a:r>
            <a:r>
              <a:rPr lang="en-US" b="1">
                <a:solidFill>
                  <a:srgbClr val="00B0F0"/>
                </a:solidFill>
              </a:rPr>
              <a:t>Id_SUA</a:t>
            </a:r>
            <a:r>
              <a:rPr lang="en-US"/>
              <a:t>, t.</a:t>
            </a:r>
            <a:r>
              <a:rPr lang="en-US" b="1">
                <a:solidFill>
                  <a:srgbClr val="00B0F0"/>
                </a:solidFill>
              </a:rPr>
              <a:t>UserId</a:t>
            </a:r>
            <a:r>
              <a:rPr lang="en-US"/>
              <a:t>, t.</a:t>
            </a:r>
            <a:r>
              <a:rPr lang="en-US" b="1">
                <a:solidFill>
                  <a:srgbClr val="00B0F0"/>
                </a:solidFill>
              </a:rPr>
              <a:t>Action_id</a:t>
            </a:r>
            <a:r>
              <a:rPr lang="en-US"/>
              <a:t> });</a:t>
            </a:r>
          </a:p>
          <a:p>
            <a:endParaRPr lang="en-US"/>
          </a:p>
          <a:p>
            <a:r>
              <a:rPr lang="en-US"/>
              <a:t>Many to many between user and action</a:t>
            </a:r>
          </a:p>
        </p:txBody>
      </p:sp>
      <p:pic>
        <p:nvPicPr>
          <p:cNvPr id="5" name="Picture 4">
            <a:extLst>
              <a:ext uri="{FF2B5EF4-FFF2-40B4-BE49-F238E27FC236}">
                <a16:creationId xmlns:a16="http://schemas.microsoft.com/office/drawing/2014/main" id="{8523F525-26A7-9662-14E7-2A2014B682C0}"/>
              </a:ext>
            </a:extLst>
          </p:cNvPr>
          <p:cNvPicPr>
            <a:picLocks noChangeAspect="1"/>
          </p:cNvPicPr>
          <p:nvPr/>
        </p:nvPicPr>
        <p:blipFill>
          <a:blip r:embed="rId2"/>
          <a:stretch>
            <a:fillRect/>
          </a:stretch>
        </p:blipFill>
        <p:spPr>
          <a:xfrm>
            <a:off x="8863374" y="807659"/>
            <a:ext cx="2404183" cy="1990794"/>
          </a:xfrm>
          <a:prstGeom prst="rect">
            <a:avLst/>
          </a:prstGeom>
        </p:spPr>
      </p:pic>
    </p:spTree>
    <p:extLst>
      <p:ext uri="{BB962C8B-B14F-4D97-AF65-F5344CB8AC3E}">
        <p14:creationId xmlns:p14="http://schemas.microsoft.com/office/powerpoint/2010/main" val="195700379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16D4-6D40-10AE-1446-930D81EC2D53}"/>
              </a:ext>
            </a:extLst>
          </p:cNvPr>
          <p:cNvSpPr>
            <a:spLocks noGrp="1"/>
          </p:cNvSpPr>
          <p:nvPr>
            <p:ph type="title"/>
          </p:nvPr>
        </p:nvSpPr>
        <p:spPr>
          <a:xfrm>
            <a:off x="913795" y="-1"/>
            <a:ext cx="10353762" cy="592667"/>
          </a:xfrm>
        </p:spPr>
        <p:txBody>
          <a:bodyPr>
            <a:normAutofit fontScale="90000"/>
          </a:bodyPr>
          <a:lstStyle/>
          <a:p>
            <a:r>
              <a:rPr lang="en-US" b="1">
                <a:solidFill>
                  <a:srgbClr val="FFFF00"/>
                </a:solidFill>
              </a:rPr>
              <a:t>Security</a:t>
            </a:r>
            <a:r>
              <a:rPr lang="en-US"/>
              <a:t>.</a:t>
            </a:r>
            <a:r>
              <a:rPr lang="en-US" b="1">
                <a:solidFill>
                  <a:srgbClr val="FF0000"/>
                </a:solidFill>
              </a:rPr>
              <a:t>SEC_User_gruop</a:t>
            </a:r>
          </a:p>
        </p:txBody>
      </p:sp>
      <p:sp>
        <p:nvSpPr>
          <p:cNvPr id="3" name="Content Placeholder 2">
            <a:extLst>
              <a:ext uri="{FF2B5EF4-FFF2-40B4-BE49-F238E27FC236}">
                <a16:creationId xmlns:a16="http://schemas.microsoft.com/office/drawing/2014/main" id="{49CE8432-A968-7AB2-66FC-99DBAD218107}"/>
              </a:ext>
            </a:extLst>
          </p:cNvPr>
          <p:cNvSpPr>
            <a:spLocks noGrp="1"/>
          </p:cNvSpPr>
          <p:nvPr>
            <p:ph idx="1"/>
          </p:nvPr>
        </p:nvSpPr>
        <p:spPr>
          <a:xfrm>
            <a:off x="84666" y="668867"/>
            <a:ext cx="12005733" cy="5931957"/>
          </a:xfrm>
        </p:spPr>
        <p:txBody>
          <a:bodyPr/>
          <a:lstStyle/>
          <a:p>
            <a:r>
              <a:rPr lang="en-US"/>
              <a:t>UserId: </a:t>
            </a:r>
            <a:r>
              <a:rPr lang="en-US" b="1">
                <a:solidFill>
                  <a:srgbClr val="FFFF00"/>
                </a:solidFill>
              </a:rPr>
              <a:t>FK</a:t>
            </a:r>
            <a:r>
              <a:rPr lang="en-US"/>
              <a:t> from User</a:t>
            </a:r>
          </a:p>
          <a:p>
            <a:r>
              <a:rPr lang="en-US"/>
              <a:t>Role_id: from </a:t>
            </a:r>
            <a:r>
              <a:rPr lang="en-US" b="1">
                <a:solidFill>
                  <a:srgbClr val="FFFF00"/>
                </a:solidFill>
              </a:rPr>
              <a:t>SEC_Group // </a:t>
            </a:r>
          </a:p>
          <a:p>
            <a:r>
              <a:rPr lang="en-US"/>
              <a:t>UG_id: identity</a:t>
            </a:r>
          </a:p>
          <a:p>
            <a:r>
              <a:rPr lang="en-US"/>
              <a:t>HasKey(t =&gt; new { t.UserId, t.Role_id, t.UG_id });</a:t>
            </a:r>
            <a:endParaRPr lang="ar-EG"/>
          </a:p>
          <a:p>
            <a:endParaRPr lang="ar-EG"/>
          </a:p>
          <a:p>
            <a:endParaRPr lang="ar-EG"/>
          </a:p>
          <a:p>
            <a:endParaRPr lang="ar-EG"/>
          </a:p>
          <a:p>
            <a:r>
              <a:rPr lang="en-US"/>
              <a:t>Note : this table to holds the roles of the users</a:t>
            </a:r>
          </a:p>
          <a:p>
            <a:endParaRPr lang="en-US"/>
          </a:p>
          <a:p>
            <a:r>
              <a:rPr lang="en-US"/>
              <a:t>Many to many between user and group</a:t>
            </a:r>
          </a:p>
          <a:p>
            <a:endParaRPr lang="en-US"/>
          </a:p>
        </p:txBody>
      </p:sp>
      <p:pic>
        <p:nvPicPr>
          <p:cNvPr id="5" name="Picture 4">
            <a:extLst>
              <a:ext uri="{FF2B5EF4-FFF2-40B4-BE49-F238E27FC236}">
                <a16:creationId xmlns:a16="http://schemas.microsoft.com/office/drawing/2014/main" id="{9EB3B60A-1F4B-8E2A-E56C-2791ABFA1ACE}"/>
              </a:ext>
            </a:extLst>
          </p:cNvPr>
          <p:cNvPicPr>
            <a:picLocks noChangeAspect="1"/>
          </p:cNvPicPr>
          <p:nvPr/>
        </p:nvPicPr>
        <p:blipFill>
          <a:blip r:embed="rId2"/>
          <a:stretch>
            <a:fillRect/>
          </a:stretch>
        </p:blipFill>
        <p:spPr>
          <a:xfrm>
            <a:off x="7789335" y="592666"/>
            <a:ext cx="2980266" cy="3841338"/>
          </a:xfrm>
          <a:prstGeom prst="rect">
            <a:avLst/>
          </a:prstGeom>
        </p:spPr>
      </p:pic>
    </p:spTree>
    <p:extLst>
      <p:ext uri="{BB962C8B-B14F-4D97-AF65-F5344CB8AC3E}">
        <p14:creationId xmlns:p14="http://schemas.microsoft.com/office/powerpoint/2010/main" val="60184742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BD2D-BC72-9321-F9E7-A67BCB410D4C}"/>
              </a:ext>
            </a:extLst>
          </p:cNvPr>
          <p:cNvSpPr>
            <a:spLocks noGrp="1"/>
          </p:cNvSpPr>
          <p:nvPr>
            <p:ph type="title"/>
          </p:nvPr>
        </p:nvSpPr>
        <p:spPr>
          <a:xfrm>
            <a:off x="1080050" y="0"/>
            <a:ext cx="10353762" cy="457200"/>
          </a:xfrm>
        </p:spPr>
        <p:txBody>
          <a:bodyPr>
            <a:normAutofit fontScale="90000"/>
          </a:bodyPr>
          <a:lstStyle/>
          <a:p>
            <a:r>
              <a:rPr lang="en-US" b="1">
                <a:solidFill>
                  <a:srgbClr val="FFFF00"/>
                </a:solidFill>
              </a:rPr>
              <a:t>Security</a:t>
            </a:r>
            <a:r>
              <a:rPr lang="en-US"/>
              <a:t>.</a:t>
            </a:r>
            <a:r>
              <a:rPr lang="en-US" b="1">
                <a:solidFill>
                  <a:srgbClr val="FF0000"/>
                </a:solidFill>
              </a:rPr>
              <a:t>SEC_Menu</a:t>
            </a:r>
            <a:endParaRPr lang="en-US"/>
          </a:p>
        </p:txBody>
      </p:sp>
      <p:sp>
        <p:nvSpPr>
          <p:cNvPr id="4" name="Content Placeholder 3">
            <a:extLst>
              <a:ext uri="{FF2B5EF4-FFF2-40B4-BE49-F238E27FC236}">
                <a16:creationId xmlns:a16="http://schemas.microsoft.com/office/drawing/2014/main" id="{1A86BFDB-D4B6-D973-53F3-F9D91DEB3B76}"/>
              </a:ext>
            </a:extLst>
          </p:cNvPr>
          <p:cNvSpPr>
            <a:spLocks noGrp="1"/>
          </p:cNvSpPr>
          <p:nvPr>
            <p:ph idx="1"/>
          </p:nvPr>
        </p:nvSpPr>
        <p:spPr>
          <a:xfrm>
            <a:off x="197428" y="550719"/>
            <a:ext cx="11994572" cy="6120246"/>
          </a:xfrm>
        </p:spPr>
        <p:txBody>
          <a:bodyPr/>
          <a:lstStyle/>
          <a:p>
            <a:r>
              <a:rPr lang="en-US"/>
              <a:t>Menu_id: PK, identity</a:t>
            </a:r>
          </a:p>
          <a:p>
            <a:r>
              <a:rPr lang="en-US"/>
              <a:t>M_nameAr</a:t>
            </a:r>
          </a:p>
          <a:p>
            <a:pPr lvl="1"/>
            <a:r>
              <a:rPr lang="ar-EG" b="1"/>
              <a:t>معاملات الفروع</a:t>
            </a:r>
            <a:endParaRPr lang="en-US" b="1"/>
          </a:p>
          <a:p>
            <a:pPr lvl="1"/>
            <a:r>
              <a:rPr lang="ar-EG" b="1"/>
              <a:t>صرف تمويل</a:t>
            </a:r>
            <a:endParaRPr lang="en-US" b="1"/>
          </a:p>
          <a:p>
            <a:r>
              <a:rPr lang="en-US"/>
              <a:t>M_Parent_id: int , recursive to </a:t>
            </a:r>
            <a:r>
              <a:rPr lang="en-US" b="1">
                <a:solidFill>
                  <a:srgbClr val="FFFF00"/>
                </a:solidFill>
              </a:rPr>
              <a:t>Menu_id</a:t>
            </a:r>
          </a:p>
          <a:p>
            <a:r>
              <a:rPr lang="en-US" b="1"/>
              <a:t>Type</a:t>
            </a:r>
          </a:p>
          <a:p>
            <a:pPr lvl="1"/>
            <a:r>
              <a:rPr lang="en-US" b="1"/>
              <a:t>1: </a:t>
            </a:r>
            <a:r>
              <a:rPr lang="ar-EG" b="1"/>
              <a:t>رئيسية</a:t>
            </a:r>
            <a:endParaRPr lang="en-US" b="1"/>
          </a:p>
          <a:p>
            <a:pPr lvl="1"/>
            <a:r>
              <a:rPr lang="en-US" b="1"/>
              <a:t>2: </a:t>
            </a:r>
            <a:r>
              <a:rPr lang="ar-EG" b="1"/>
              <a:t>فرعية</a:t>
            </a:r>
            <a:endParaRPr lang="en-US" b="1"/>
          </a:p>
          <a:p>
            <a:pPr lvl="1"/>
            <a:r>
              <a:rPr lang="en-US" b="1"/>
              <a:t>3: </a:t>
            </a:r>
            <a:r>
              <a:rPr lang="ar-EG" b="1"/>
              <a:t>صفحة</a:t>
            </a:r>
            <a:endParaRPr lang="en-US" b="1"/>
          </a:p>
          <a:p>
            <a:r>
              <a:rPr lang="en-US" b="1"/>
              <a:t>M_Status</a:t>
            </a:r>
          </a:p>
          <a:p>
            <a:pPr lvl="1"/>
            <a:r>
              <a:rPr lang="en-US" b="1"/>
              <a:t>0: </a:t>
            </a:r>
            <a:r>
              <a:rPr lang="ar-EG" b="1"/>
              <a:t>غير مفعل</a:t>
            </a:r>
            <a:endParaRPr lang="en-US" b="1"/>
          </a:p>
          <a:p>
            <a:pPr lvl="1"/>
            <a:r>
              <a:rPr lang="en-US" b="1"/>
              <a:t>1: </a:t>
            </a:r>
            <a:r>
              <a:rPr lang="ar-EG" b="1"/>
              <a:t>مفعل</a:t>
            </a:r>
            <a:endParaRPr lang="en-US" b="1"/>
          </a:p>
          <a:p>
            <a:pPr lvl="1"/>
            <a:endParaRPr lang="en-US" b="1"/>
          </a:p>
          <a:p>
            <a:r>
              <a:rPr lang="en-US" b="1"/>
              <a:t>We could say this table represent where each page in the system </a:t>
            </a:r>
          </a:p>
        </p:txBody>
      </p:sp>
      <p:pic>
        <p:nvPicPr>
          <p:cNvPr id="6" name="Content Placeholder 4">
            <a:extLst>
              <a:ext uri="{FF2B5EF4-FFF2-40B4-BE49-F238E27FC236}">
                <a16:creationId xmlns:a16="http://schemas.microsoft.com/office/drawing/2014/main" id="{A6EED765-6B26-3831-32AB-6C4D7F9CBE7E}"/>
              </a:ext>
            </a:extLst>
          </p:cNvPr>
          <p:cNvPicPr>
            <a:picLocks noChangeAspect="1"/>
          </p:cNvPicPr>
          <p:nvPr/>
        </p:nvPicPr>
        <p:blipFill>
          <a:blip r:embed="rId2"/>
          <a:stretch>
            <a:fillRect/>
          </a:stretch>
        </p:blipFill>
        <p:spPr>
          <a:xfrm>
            <a:off x="5687237" y="737755"/>
            <a:ext cx="6386999" cy="245998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57608158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AF8D0-EC7A-C506-8880-EC389DF9E669}"/>
              </a:ext>
            </a:extLst>
          </p:cNvPr>
          <p:cNvSpPr>
            <a:spLocks noGrp="1"/>
          </p:cNvSpPr>
          <p:nvPr>
            <p:ph type="title"/>
          </p:nvPr>
        </p:nvSpPr>
        <p:spPr>
          <a:xfrm>
            <a:off x="913795" y="0"/>
            <a:ext cx="10353762" cy="695325"/>
          </a:xfrm>
        </p:spPr>
        <p:txBody>
          <a:bodyPr>
            <a:normAutofit fontScale="90000"/>
          </a:bodyPr>
          <a:lstStyle/>
          <a:p>
            <a:r>
              <a:rPr lang="en-US" b="1">
                <a:solidFill>
                  <a:srgbClr val="FFFF00"/>
                </a:solidFill>
              </a:rPr>
              <a:t>Security.</a:t>
            </a:r>
            <a:r>
              <a:rPr lang="en-US" b="1">
                <a:solidFill>
                  <a:srgbClr val="FF0000"/>
                </a:solidFill>
              </a:rPr>
              <a:t>SEC_User_Role_MenuAction</a:t>
            </a:r>
          </a:p>
        </p:txBody>
      </p:sp>
      <p:sp>
        <p:nvSpPr>
          <p:cNvPr id="3" name="Content Placeholder 2">
            <a:extLst>
              <a:ext uri="{FF2B5EF4-FFF2-40B4-BE49-F238E27FC236}">
                <a16:creationId xmlns:a16="http://schemas.microsoft.com/office/drawing/2014/main" id="{52B6BD6F-9EA4-6890-BF23-BD45D017129A}"/>
              </a:ext>
            </a:extLst>
          </p:cNvPr>
          <p:cNvSpPr>
            <a:spLocks noGrp="1"/>
          </p:cNvSpPr>
          <p:nvPr>
            <p:ph idx="1"/>
          </p:nvPr>
        </p:nvSpPr>
        <p:spPr>
          <a:xfrm>
            <a:off x="180974" y="695325"/>
            <a:ext cx="11782425" cy="6019800"/>
          </a:xfrm>
        </p:spPr>
        <p:txBody>
          <a:bodyPr/>
          <a:lstStyle/>
          <a:p>
            <a:r>
              <a:rPr lang="en-US"/>
              <a:t>URMA_id: int</a:t>
            </a:r>
          </a:p>
          <a:p>
            <a:r>
              <a:rPr lang="en-US"/>
              <a:t>Role_id: int FK from </a:t>
            </a:r>
            <a:r>
              <a:rPr lang="en-US" b="1">
                <a:solidFill>
                  <a:srgbClr val="FF0000"/>
                </a:solidFill>
              </a:rPr>
              <a:t>SEC_Group</a:t>
            </a:r>
          </a:p>
          <a:p>
            <a:r>
              <a:rPr lang="en-US"/>
              <a:t>Parent_Id: int FK from </a:t>
            </a:r>
            <a:r>
              <a:rPr lang="en-US" b="1">
                <a:solidFill>
                  <a:srgbClr val="FF0000"/>
                </a:solidFill>
              </a:rPr>
              <a:t>SEC_Menu</a:t>
            </a:r>
          </a:p>
          <a:p>
            <a:r>
              <a:rPr lang="en-US"/>
              <a:t>Child_Id: int FK from </a:t>
            </a:r>
            <a:r>
              <a:rPr lang="en-US" b="1">
                <a:solidFill>
                  <a:srgbClr val="FF0000"/>
                </a:solidFill>
              </a:rPr>
              <a:t>SEC_Menu</a:t>
            </a:r>
            <a:endParaRPr lang="en-US"/>
          </a:p>
          <a:p>
            <a:r>
              <a:rPr lang="en-US"/>
              <a:t>Paging_Id: int, FK from </a:t>
            </a:r>
            <a:r>
              <a:rPr lang="en-US" b="1">
                <a:solidFill>
                  <a:srgbClr val="FF0000"/>
                </a:solidFill>
              </a:rPr>
              <a:t>SEC_Menu</a:t>
            </a:r>
            <a:endParaRPr lang="en-US"/>
          </a:p>
          <a:p>
            <a:r>
              <a:rPr lang="en-US"/>
              <a:t>HasKey(t =&gt; new { t.</a:t>
            </a:r>
            <a:r>
              <a:rPr lang="en-US" b="1">
                <a:solidFill>
                  <a:srgbClr val="00B0F0"/>
                </a:solidFill>
              </a:rPr>
              <a:t>URMA_id</a:t>
            </a:r>
            <a:r>
              <a:rPr lang="en-US"/>
              <a:t>, t.</a:t>
            </a:r>
            <a:r>
              <a:rPr lang="en-US" b="1">
                <a:solidFill>
                  <a:srgbClr val="00B0F0"/>
                </a:solidFill>
              </a:rPr>
              <a:t>Role_id</a:t>
            </a:r>
            <a:r>
              <a:rPr lang="en-US"/>
              <a:t>, t.</a:t>
            </a:r>
            <a:r>
              <a:rPr lang="en-US" b="1">
                <a:solidFill>
                  <a:srgbClr val="00B0F0"/>
                </a:solidFill>
              </a:rPr>
              <a:t>Parent_Id</a:t>
            </a:r>
            <a:r>
              <a:rPr lang="en-US"/>
              <a:t>, t.</a:t>
            </a:r>
            <a:r>
              <a:rPr lang="en-US" b="1">
                <a:solidFill>
                  <a:srgbClr val="00B0F0"/>
                </a:solidFill>
              </a:rPr>
              <a:t>Child_Id</a:t>
            </a:r>
            <a:r>
              <a:rPr lang="en-US"/>
              <a:t>, t.</a:t>
            </a:r>
            <a:r>
              <a:rPr lang="en-US" b="1">
                <a:solidFill>
                  <a:srgbClr val="00B0F0"/>
                </a:solidFill>
              </a:rPr>
              <a:t>Paging_Id</a:t>
            </a:r>
            <a:r>
              <a:rPr lang="en-US"/>
              <a:t> })</a:t>
            </a:r>
          </a:p>
          <a:p>
            <a:endParaRPr lang="en-US"/>
          </a:p>
          <a:p>
            <a:r>
              <a:rPr lang="en-US" b="1"/>
              <a:t>Defines which role can access the menu/page for example</a:t>
            </a:r>
          </a:p>
          <a:p>
            <a:endParaRPr lang="en-US" b="1"/>
          </a:p>
          <a:p>
            <a:r>
              <a:rPr lang="en-US" b="1"/>
              <a:t>Paging_Id: </a:t>
            </a:r>
            <a:r>
              <a:rPr lang="ar-EG" b="1"/>
              <a:t>تعديل اسم العميل</a:t>
            </a:r>
          </a:p>
          <a:p>
            <a:r>
              <a:rPr lang="en-US" b="1"/>
              <a:t>Child_id: </a:t>
            </a:r>
            <a:r>
              <a:rPr lang="ar-EG" b="1"/>
              <a:t>معاملات الفروع</a:t>
            </a:r>
          </a:p>
          <a:p>
            <a:r>
              <a:rPr lang="en-US" b="1"/>
              <a:t>Parent_id: </a:t>
            </a:r>
            <a:r>
              <a:rPr lang="ar-EG" b="1"/>
              <a:t>لوحة المعلومات</a:t>
            </a:r>
          </a:p>
          <a:p>
            <a:r>
              <a:rPr lang="en-US" b="1"/>
              <a:t>Role_id: </a:t>
            </a:r>
            <a:r>
              <a:rPr lang="ar-EG" b="1"/>
              <a:t>مدير النظام</a:t>
            </a:r>
            <a:endParaRPr lang="en-US" b="1"/>
          </a:p>
          <a:p>
            <a:endParaRPr lang="en-US"/>
          </a:p>
        </p:txBody>
      </p:sp>
      <p:pic>
        <p:nvPicPr>
          <p:cNvPr id="5" name="Picture 4">
            <a:extLst>
              <a:ext uri="{FF2B5EF4-FFF2-40B4-BE49-F238E27FC236}">
                <a16:creationId xmlns:a16="http://schemas.microsoft.com/office/drawing/2014/main" id="{E680EEB8-630A-1B44-3D3F-E19C61AC0740}"/>
              </a:ext>
            </a:extLst>
          </p:cNvPr>
          <p:cNvPicPr>
            <a:picLocks noChangeAspect="1"/>
          </p:cNvPicPr>
          <p:nvPr/>
        </p:nvPicPr>
        <p:blipFill>
          <a:blip r:embed="rId2"/>
          <a:stretch>
            <a:fillRect/>
          </a:stretch>
        </p:blipFill>
        <p:spPr>
          <a:xfrm>
            <a:off x="7230404" y="3634721"/>
            <a:ext cx="4037153" cy="651529"/>
          </a:xfrm>
          <a:prstGeom prst="rect">
            <a:avLst/>
          </a:prstGeom>
        </p:spPr>
      </p:pic>
    </p:spTree>
    <p:extLst>
      <p:ext uri="{BB962C8B-B14F-4D97-AF65-F5344CB8AC3E}">
        <p14:creationId xmlns:p14="http://schemas.microsoft.com/office/powerpoint/2010/main" val="220801867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24B92-DE5D-6FD8-CAE5-42BA14EEEABF}"/>
              </a:ext>
            </a:extLst>
          </p:cNvPr>
          <p:cNvSpPr>
            <a:spLocks noGrp="1"/>
          </p:cNvSpPr>
          <p:nvPr>
            <p:ph type="title"/>
          </p:nvPr>
        </p:nvSpPr>
        <p:spPr>
          <a:xfrm>
            <a:off x="913795" y="0"/>
            <a:ext cx="10353762" cy="690880"/>
          </a:xfrm>
        </p:spPr>
        <p:txBody>
          <a:bodyPr>
            <a:normAutofit fontScale="90000"/>
          </a:bodyPr>
          <a:lstStyle/>
          <a:p>
            <a:r>
              <a:rPr lang="en-US"/>
              <a:t>Adding New Menu</a:t>
            </a:r>
          </a:p>
        </p:txBody>
      </p:sp>
      <p:sp>
        <p:nvSpPr>
          <p:cNvPr id="3" name="Content Placeholder 2">
            <a:extLst>
              <a:ext uri="{FF2B5EF4-FFF2-40B4-BE49-F238E27FC236}">
                <a16:creationId xmlns:a16="http://schemas.microsoft.com/office/drawing/2014/main" id="{32F4A67A-7913-31A5-1EE8-B113D2564886}"/>
              </a:ext>
            </a:extLst>
          </p:cNvPr>
          <p:cNvSpPr>
            <a:spLocks noGrp="1"/>
          </p:cNvSpPr>
          <p:nvPr>
            <p:ph idx="1"/>
          </p:nvPr>
        </p:nvSpPr>
        <p:spPr>
          <a:xfrm>
            <a:off x="254000" y="690880"/>
            <a:ext cx="11013557" cy="6167120"/>
          </a:xfrm>
        </p:spPr>
        <p:txBody>
          <a:bodyPr>
            <a:normAutofit/>
          </a:bodyPr>
          <a:lstStyle/>
          <a:p>
            <a:pPr latinLnBrk="1"/>
            <a:r>
              <a:rPr lang="en-US">
                <a:effectLst/>
              </a:rPr>
              <a:t>http://localhost:2864//api/Security/MenuController/Post</a:t>
            </a:r>
          </a:p>
          <a:p>
            <a:r>
              <a:rPr lang="en-US"/>
              <a:t>Payload: </a:t>
            </a:r>
          </a:p>
          <a:p>
            <a:pPr marL="414000" lvl="1" indent="0">
              <a:buNone/>
            </a:pPr>
            <a:r>
              <a:rPr lang="en-US"/>
              <a:t>{</a:t>
            </a:r>
          </a:p>
          <a:p>
            <a:pPr marL="414000" lvl="1" indent="0">
              <a:buNone/>
            </a:pPr>
            <a:r>
              <a:rPr lang="en-US"/>
              <a:t>    "Type": 3,</a:t>
            </a:r>
          </a:p>
          <a:p>
            <a:pPr marL="414000" lvl="1" indent="0">
              <a:buNone/>
            </a:pPr>
            <a:r>
              <a:rPr lang="en-US"/>
              <a:t>    "M_name_AR": "</a:t>
            </a:r>
            <a:r>
              <a:rPr lang="ar-EG"/>
              <a:t>نتائج الفحص الرقابي",</a:t>
            </a:r>
          </a:p>
          <a:p>
            <a:pPr marL="414000" lvl="1" indent="0">
              <a:buNone/>
            </a:pPr>
            <a:r>
              <a:rPr lang="ar-EG"/>
              <a:t>    "</a:t>
            </a:r>
            <a:r>
              <a:rPr lang="en-US"/>
              <a:t>M_name_Eng": "AML Results",</a:t>
            </a:r>
          </a:p>
          <a:p>
            <a:pPr marL="414000" lvl="1" indent="0">
              <a:buNone/>
            </a:pPr>
            <a:r>
              <a:rPr lang="en-US"/>
              <a:t>    "M_URL": "BranchTransaction/AMLResults",</a:t>
            </a:r>
          </a:p>
          <a:p>
            <a:pPr marL="414000" lvl="1" indent="0">
              <a:buNone/>
            </a:pPr>
            <a:r>
              <a:rPr lang="en-US"/>
              <a:t>    "M_Icon": "fa fa-book",</a:t>
            </a:r>
          </a:p>
          <a:p>
            <a:pPr marL="414000" lvl="1" indent="0">
              <a:buNone/>
            </a:pPr>
            <a:r>
              <a:rPr lang="en-US"/>
              <a:t>    "M_Status": true,</a:t>
            </a:r>
          </a:p>
          <a:p>
            <a:pPr marL="414000" lvl="1" indent="0">
              <a:buNone/>
            </a:pPr>
            <a:r>
              <a:rPr lang="en-US"/>
              <a:t>    "Project_number": 1,</a:t>
            </a:r>
          </a:p>
          <a:p>
            <a:pPr marL="414000" lvl="1" indent="0">
              <a:buNone/>
            </a:pPr>
            <a:r>
              <a:rPr lang="en-US"/>
              <a:t>    "M_Parent_id": 83, // </a:t>
            </a:r>
            <a:r>
              <a:rPr lang="ar-EG"/>
              <a:t>معاملات الفروع</a:t>
            </a:r>
            <a:endParaRPr lang="en-US"/>
          </a:p>
          <a:p>
            <a:pPr marL="414000" lvl="1" indent="0">
              <a:buNone/>
            </a:pPr>
            <a:r>
              <a:rPr lang="en-US"/>
              <a:t>}</a:t>
            </a:r>
            <a:br>
              <a:rPr lang="en-US"/>
            </a:br>
            <a:endParaRPr lang="ar-EG"/>
          </a:p>
          <a:p>
            <a:pPr marL="322650" indent="-285750"/>
            <a:r>
              <a:rPr lang="en-US"/>
              <a:t>Response: 3473  // the id of menu</a:t>
            </a:r>
          </a:p>
        </p:txBody>
      </p:sp>
    </p:spTree>
    <p:extLst>
      <p:ext uri="{BB962C8B-B14F-4D97-AF65-F5344CB8AC3E}">
        <p14:creationId xmlns:p14="http://schemas.microsoft.com/office/powerpoint/2010/main" val="52878464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38991-CA69-A371-D682-84D248819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B20F1-8ED2-EBE7-74F7-84E4AB02D666}"/>
              </a:ext>
            </a:extLst>
          </p:cNvPr>
          <p:cNvSpPr>
            <a:spLocks noGrp="1"/>
          </p:cNvSpPr>
          <p:nvPr>
            <p:ph type="title"/>
          </p:nvPr>
        </p:nvSpPr>
        <p:spPr>
          <a:xfrm>
            <a:off x="913795" y="609600"/>
            <a:ext cx="10353762" cy="4492336"/>
          </a:xfrm>
        </p:spPr>
        <p:txBody>
          <a:bodyPr>
            <a:normAutofit/>
          </a:bodyPr>
          <a:lstStyle/>
          <a:p>
            <a:r>
              <a:rPr lang="en-US" sz="6600" b="1">
                <a:solidFill>
                  <a:srgbClr val="FF0000"/>
                </a:solidFill>
              </a:rPr>
              <a:t>End Security</a:t>
            </a:r>
          </a:p>
        </p:txBody>
      </p:sp>
    </p:spTree>
    <p:extLst>
      <p:ext uri="{BB962C8B-B14F-4D97-AF65-F5344CB8AC3E}">
        <p14:creationId xmlns:p14="http://schemas.microsoft.com/office/powerpoint/2010/main" val="188897410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6867-6E51-14F1-2A51-99D276A28E58}"/>
              </a:ext>
            </a:extLst>
          </p:cNvPr>
          <p:cNvSpPr>
            <a:spLocks noGrp="1"/>
          </p:cNvSpPr>
          <p:nvPr>
            <p:ph type="title"/>
          </p:nvPr>
        </p:nvSpPr>
        <p:spPr>
          <a:xfrm>
            <a:off x="913795" y="0"/>
            <a:ext cx="10487022" cy="626165"/>
          </a:xfrm>
        </p:spPr>
        <p:txBody>
          <a:bodyPr>
            <a:normAutofit fontScale="90000"/>
          </a:bodyPr>
          <a:lstStyle/>
          <a:p>
            <a:r>
              <a:rPr lang="en-US">
                <a:solidFill>
                  <a:srgbClr val="FFFF00"/>
                </a:solidFill>
              </a:rPr>
              <a:t>Trans</a:t>
            </a:r>
            <a:r>
              <a:rPr lang="en-US"/>
              <a:t>.</a:t>
            </a:r>
            <a:r>
              <a:rPr lang="en-US" b="1">
                <a:solidFill>
                  <a:srgbClr val="FF0000"/>
                </a:solidFill>
              </a:rPr>
              <a:t>Trans_BusDate [ </a:t>
            </a:r>
            <a:r>
              <a:rPr lang="ar-EG"/>
              <a:t>تاريخ اليومية</a:t>
            </a:r>
            <a:r>
              <a:rPr lang="en-US"/>
              <a:t> </a:t>
            </a:r>
            <a:r>
              <a:rPr lang="en-US" b="1">
                <a:solidFill>
                  <a:srgbClr val="FF0000"/>
                </a:solidFill>
              </a:rPr>
              <a:t>] </a:t>
            </a:r>
          </a:p>
        </p:txBody>
      </p:sp>
      <p:sp>
        <p:nvSpPr>
          <p:cNvPr id="3" name="Content Placeholder 2">
            <a:extLst>
              <a:ext uri="{FF2B5EF4-FFF2-40B4-BE49-F238E27FC236}">
                <a16:creationId xmlns:a16="http://schemas.microsoft.com/office/drawing/2014/main" id="{86E90942-CEE9-522B-BDB4-9C8EDF3FB9A5}"/>
              </a:ext>
            </a:extLst>
          </p:cNvPr>
          <p:cNvSpPr>
            <a:spLocks noGrp="1"/>
          </p:cNvSpPr>
          <p:nvPr>
            <p:ph idx="1"/>
          </p:nvPr>
        </p:nvSpPr>
        <p:spPr>
          <a:xfrm>
            <a:off x="308112" y="983975"/>
            <a:ext cx="11705547" cy="4807226"/>
          </a:xfrm>
        </p:spPr>
        <p:txBody>
          <a:bodyPr/>
          <a:lstStyle/>
          <a:p>
            <a:r>
              <a:rPr lang="en-US"/>
              <a:t>Trans</a:t>
            </a:r>
          </a:p>
          <a:p>
            <a:endParaRPr lang="en-US"/>
          </a:p>
          <a:p>
            <a:r>
              <a:rPr lang="en-US"/>
              <a:t>Flag</a:t>
            </a:r>
          </a:p>
          <a:p>
            <a:pPr lvl="1"/>
            <a:r>
              <a:rPr lang="en-US"/>
              <a:t>0: </a:t>
            </a:r>
            <a:r>
              <a:rPr lang="ar-EG"/>
              <a:t>اليومية مقفولة</a:t>
            </a:r>
          </a:p>
          <a:p>
            <a:pPr lvl="1"/>
            <a:r>
              <a:rPr lang="en-US"/>
              <a:t>1: </a:t>
            </a:r>
            <a:r>
              <a:rPr lang="ar-EG"/>
              <a:t>اليومية مفتوحة</a:t>
            </a:r>
          </a:p>
          <a:p>
            <a:endParaRPr lang="en-US"/>
          </a:p>
        </p:txBody>
      </p:sp>
      <p:pic>
        <p:nvPicPr>
          <p:cNvPr id="5" name="Picture 4">
            <a:extLst>
              <a:ext uri="{FF2B5EF4-FFF2-40B4-BE49-F238E27FC236}">
                <a16:creationId xmlns:a16="http://schemas.microsoft.com/office/drawing/2014/main" id="{0D2F40EF-E3BC-1771-F69A-DA94F475A119}"/>
              </a:ext>
            </a:extLst>
          </p:cNvPr>
          <p:cNvPicPr>
            <a:picLocks noChangeAspect="1"/>
          </p:cNvPicPr>
          <p:nvPr/>
        </p:nvPicPr>
        <p:blipFill>
          <a:blip r:embed="rId2"/>
          <a:stretch>
            <a:fillRect/>
          </a:stretch>
        </p:blipFill>
        <p:spPr>
          <a:xfrm>
            <a:off x="7687349" y="626165"/>
            <a:ext cx="4326310" cy="2896124"/>
          </a:xfrm>
          <a:prstGeom prst="rect">
            <a:avLst/>
          </a:prstGeom>
        </p:spPr>
      </p:pic>
    </p:spTree>
    <p:extLst>
      <p:ext uri="{BB962C8B-B14F-4D97-AF65-F5344CB8AC3E}">
        <p14:creationId xmlns:p14="http://schemas.microsoft.com/office/powerpoint/2010/main" val="56025687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6FAB-EDBE-3C25-0E8B-4EE70DC77483}"/>
              </a:ext>
            </a:extLst>
          </p:cNvPr>
          <p:cNvSpPr>
            <a:spLocks noGrp="1"/>
          </p:cNvSpPr>
          <p:nvPr>
            <p:ph type="title"/>
          </p:nvPr>
        </p:nvSpPr>
        <p:spPr/>
        <p:txBody>
          <a:bodyPr/>
          <a:lstStyle/>
          <a:p>
            <a:r>
              <a:rPr lang="en-US"/>
              <a:t>TWF.Flow_ISCORE</a:t>
            </a:r>
          </a:p>
        </p:txBody>
      </p:sp>
      <p:sp>
        <p:nvSpPr>
          <p:cNvPr id="3" name="Content Placeholder 2">
            <a:extLst>
              <a:ext uri="{FF2B5EF4-FFF2-40B4-BE49-F238E27FC236}">
                <a16:creationId xmlns:a16="http://schemas.microsoft.com/office/drawing/2014/main" id="{198332D1-66F4-3C5F-14B5-8788C0C89BC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8379302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497A2-FFAE-D9AC-77D1-7693D633169B}"/>
              </a:ext>
            </a:extLst>
          </p:cNvPr>
          <p:cNvSpPr>
            <a:spLocks noGrp="1"/>
          </p:cNvSpPr>
          <p:nvPr>
            <p:ph type="title"/>
          </p:nvPr>
        </p:nvSpPr>
        <p:spPr>
          <a:xfrm>
            <a:off x="913795" y="0"/>
            <a:ext cx="10353762" cy="713362"/>
          </a:xfrm>
        </p:spPr>
        <p:txBody>
          <a:bodyPr/>
          <a:lstStyle/>
          <a:p>
            <a:r>
              <a:rPr lang="en-US" b="1">
                <a:solidFill>
                  <a:srgbClr val="FFFF00"/>
                </a:solidFill>
              </a:rPr>
              <a:t>TWF</a:t>
            </a:r>
            <a:r>
              <a:rPr lang="en-US"/>
              <a:t>. </a:t>
            </a:r>
            <a:r>
              <a:rPr lang="en-US" b="1">
                <a:solidFill>
                  <a:srgbClr val="FF0000"/>
                </a:solidFill>
              </a:rPr>
              <a:t>Flow_Risks</a:t>
            </a:r>
          </a:p>
        </p:txBody>
      </p:sp>
      <p:sp>
        <p:nvSpPr>
          <p:cNvPr id="3" name="Content Placeholder 2">
            <a:extLst>
              <a:ext uri="{FF2B5EF4-FFF2-40B4-BE49-F238E27FC236}">
                <a16:creationId xmlns:a16="http://schemas.microsoft.com/office/drawing/2014/main" id="{DC432B2B-8018-12BE-79D4-D635FAD8512D}"/>
              </a:ext>
            </a:extLst>
          </p:cNvPr>
          <p:cNvSpPr>
            <a:spLocks noGrp="1"/>
          </p:cNvSpPr>
          <p:nvPr>
            <p:ph idx="1"/>
          </p:nvPr>
        </p:nvSpPr>
        <p:spPr>
          <a:xfrm>
            <a:off x="350196" y="713363"/>
            <a:ext cx="11682919" cy="5998722"/>
          </a:xfrm>
        </p:spPr>
        <p:txBody>
          <a:bodyPr>
            <a:normAutofit/>
          </a:bodyPr>
          <a:lstStyle/>
          <a:p>
            <a:r>
              <a:rPr lang="en-US" sz="1800"/>
              <a:t>R_code: int ,  [PK]</a:t>
            </a:r>
          </a:p>
          <a:p>
            <a:r>
              <a:rPr lang="en-US" sz="1800"/>
              <a:t>R_code_Identity: int,  [identity]</a:t>
            </a:r>
          </a:p>
          <a:p>
            <a:r>
              <a:rPr lang="en-US" sz="1800"/>
              <a:t>product_Id: int, [FK] </a:t>
            </a:r>
          </a:p>
          <a:p>
            <a:r>
              <a:rPr lang="en-US" sz="1800"/>
              <a:t>Number: int,</a:t>
            </a:r>
          </a:p>
          <a:p>
            <a:r>
              <a:rPr lang="en-US" sz="1800"/>
              <a:t>From_day: decimal</a:t>
            </a:r>
          </a:p>
          <a:p>
            <a:r>
              <a:rPr lang="en-US" sz="1800"/>
              <a:t>To_day: decimal</a:t>
            </a:r>
          </a:p>
          <a:p>
            <a:r>
              <a:rPr lang="en-US" sz="1800"/>
              <a:t>Name_AR: string</a:t>
            </a:r>
          </a:p>
          <a:p>
            <a:r>
              <a:rPr lang="en-US" sz="1800"/>
              <a:t>Name_Eng: string</a:t>
            </a:r>
          </a:p>
          <a:p>
            <a:r>
              <a:rPr lang="en-US" sz="1800"/>
              <a:t>Payment_way: int</a:t>
            </a:r>
          </a:p>
          <a:p>
            <a:r>
              <a:rPr lang="en-US" sz="1800"/>
              <a:t>Days: int</a:t>
            </a:r>
          </a:p>
          <a:p>
            <a:r>
              <a:rPr lang="en-US" sz="1800"/>
              <a:t>Ratio_risk: int</a:t>
            </a:r>
          </a:p>
        </p:txBody>
      </p:sp>
    </p:spTree>
    <p:extLst>
      <p:ext uri="{BB962C8B-B14F-4D97-AF65-F5344CB8AC3E}">
        <p14:creationId xmlns:p14="http://schemas.microsoft.com/office/powerpoint/2010/main" val="82083722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ED61C-376F-A7C9-08F6-0C7B767D2FD6}"/>
              </a:ext>
            </a:extLst>
          </p:cNvPr>
          <p:cNvSpPr>
            <a:spLocks noGrp="1"/>
          </p:cNvSpPr>
          <p:nvPr>
            <p:ph type="title"/>
          </p:nvPr>
        </p:nvSpPr>
        <p:spPr>
          <a:xfrm>
            <a:off x="913795" y="0"/>
            <a:ext cx="10353762" cy="603115"/>
          </a:xfrm>
        </p:spPr>
        <p:txBody>
          <a:bodyPr>
            <a:normAutofit fontScale="90000"/>
          </a:bodyPr>
          <a:lstStyle/>
          <a:p>
            <a:r>
              <a:rPr lang="en-US" b="1">
                <a:solidFill>
                  <a:srgbClr val="FFFF00"/>
                </a:solidFill>
              </a:rPr>
              <a:t>Security.</a:t>
            </a:r>
            <a:r>
              <a:rPr lang="en-US"/>
              <a:t> </a:t>
            </a:r>
            <a:r>
              <a:rPr lang="en-US" b="1">
                <a:solidFill>
                  <a:srgbClr val="FF0000"/>
                </a:solidFill>
              </a:rPr>
              <a:t>SEC_Access_tokens</a:t>
            </a:r>
          </a:p>
        </p:txBody>
      </p:sp>
      <p:sp>
        <p:nvSpPr>
          <p:cNvPr id="3" name="Content Placeholder 2">
            <a:extLst>
              <a:ext uri="{FF2B5EF4-FFF2-40B4-BE49-F238E27FC236}">
                <a16:creationId xmlns:a16="http://schemas.microsoft.com/office/drawing/2014/main" id="{6BBC543C-6C1F-7A11-F5D3-A371EC677E43}"/>
              </a:ext>
            </a:extLst>
          </p:cNvPr>
          <p:cNvSpPr>
            <a:spLocks noGrp="1"/>
          </p:cNvSpPr>
          <p:nvPr>
            <p:ph idx="1"/>
          </p:nvPr>
        </p:nvSpPr>
        <p:spPr>
          <a:xfrm>
            <a:off x="145915" y="603115"/>
            <a:ext cx="11828834" cy="6138153"/>
          </a:xfrm>
        </p:spPr>
        <p:txBody>
          <a:bodyPr/>
          <a:lstStyle/>
          <a:p>
            <a:r>
              <a:rPr lang="en-US"/>
              <a:t>string Token </a:t>
            </a:r>
            <a:r>
              <a:rPr lang="en-US" b="1">
                <a:solidFill>
                  <a:srgbClr val="FFFF00"/>
                </a:solidFill>
              </a:rPr>
              <a:t>[PK]</a:t>
            </a:r>
          </a:p>
          <a:p>
            <a:r>
              <a:rPr lang="en-US"/>
              <a:t>int UserId </a:t>
            </a:r>
            <a:r>
              <a:rPr lang="en-US" b="1">
                <a:solidFill>
                  <a:srgbClr val="FFFF00"/>
                </a:solidFill>
              </a:rPr>
              <a:t>[FK]</a:t>
            </a:r>
            <a:endParaRPr lang="en-US"/>
          </a:p>
          <a:p>
            <a:r>
              <a:rPr lang="en-US"/>
              <a:t>Virtual User User</a:t>
            </a:r>
            <a:endParaRPr lang="en-US" b="1">
              <a:solidFill>
                <a:srgbClr val="FFFF00"/>
              </a:solidFill>
            </a:endParaRPr>
          </a:p>
        </p:txBody>
      </p:sp>
      <p:pic>
        <p:nvPicPr>
          <p:cNvPr id="5" name="Picture 4">
            <a:extLst>
              <a:ext uri="{FF2B5EF4-FFF2-40B4-BE49-F238E27FC236}">
                <a16:creationId xmlns:a16="http://schemas.microsoft.com/office/drawing/2014/main" id="{BF26DA70-7F36-0A78-66D2-D9DB99232805}"/>
              </a:ext>
            </a:extLst>
          </p:cNvPr>
          <p:cNvPicPr>
            <a:picLocks noChangeAspect="1"/>
          </p:cNvPicPr>
          <p:nvPr/>
        </p:nvPicPr>
        <p:blipFill>
          <a:blip r:embed="rId2"/>
          <a:stretch>
            <a:fillRect/>
          </a:stretch>
        </p:blipFill>
        <p:spPr>
          <a:xfrm>
            <a:off x="6201608" y="603115"/>
            <a:ext cx="5419545" cy="1786124"/>
          </a:xfrm>
          <a:prstGeom prst="rect">
            <a:avLst/>
          </a:prstGeom>
        </p:spPr>
      </p:pic>
    </p:spTree>
    <p:extLst>
      <p:ext uri="{BB962C8B-B14F-4D97-AF65-F5344CB8AC3E}">
        <p14:creationId xmlns:p14="http://schemas.microsoft.com/office/powerpoint/2010/main" val="140770208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FF28-7763-30E9-B0F7-221245428903}"/>
              </a:ext>
            </a:extLst>
          </p:cNvPr>
          <p:cNvSpPr>
            <a:spLocks noGrp="1"/>
          </p:cNvSpPr>
          <p:nvPr>
            <p:ph type="title"/>
          </p:nvPr>
        </p:nvSpPr>
        <p:spPr>
          <a:xfrm>
            <a:off x="913795" y="0"/>
            <a:ext cx="10353762" cy="639097"/>
          </a:xfrm>
        </p:spPr>
        <p:txBody>
          <a:bodyPr>
            <a:normAutofit fontScale="90000"/>
          </a:bodyPr>
          <a:lstStyle/>
          <a:p>
            <a:r>
              <a:rPr lang="en-US" b="1">
                <a:solidFill>
                  <a:srgbClr val="FFFF00"/>
                </a:solidFill>
              </a:rPr>
              <a:t>SWF</a:t>
            </a:r>
            <a:r>
              <a:rPr lang="en-US"/>
              <a:t>.</a:t>
            </a:r>
            <a:r>
              <a:rPr lang="en-US" b="1">
                <a:solidFill>
                  <a:srgbClr val="FF0000"/>
                </a:solidFill>
              </a:rPr>
              <a:t>Flow_definition_expenditure</a:t>
            </a:r>
          </a:p>
        </p:txBody>
      </p:sp>
      <p:sp>
        <p:nvSpPr>
          <p:cNvPr id="3" name="Content Placeholder 2">
            <a:extLst>
              <a:ext uri="{FF2B5EF4-FFF2-40B4-BE49-F238E27FC236}">
                <a16:creationId xmlns:a16="http://schemas.microsoft.com/office/drawing/2014/main" id="{4954B745-E4CD-14E8-D3DA-05C95DD4440B}"/>
              </a:ext>
            </a:extLst>
          </p:cNvPr>
          <p:cNvSpPr>
            <a:spLocks noGrp="1"/>
          </p:cNvSpPr>
          <p:nvPr>
            <p:ph idx="1"/>
          </p:nvPr>
        </p:nvSpPr>
        <p:spPr>
          <a:xfrm>
            <a:off x="167148" y="639097"/>
            <a:ext cx="11828207" cy="6115664"/>
          </a:xfrm>
        </p:spPr>
        <p:txBody>
          <a:bodyPr/>
          <a:lstStyle/>
          <a:p>
            <a:r>
              <a:rPr lang="en-US"/>
              <a:t>DE_code: </a:t>
            </a:r>
            <a:r>
              <a:rPr lang="en-US" b="1">
                <a:solidFill>
                  <a:srgbClr val="FFFF00"/>
                </a:solidFill>
              </a:rPr>
              <a:t>[PK]</a:t>
            </a:r>
          </a:p>
          <a:p>
            <a:r>
              <a:rPr lang="en-US"/>
              <a:t>name_AR</a:t>
            </a:r>
          </a:p>
          <a:p>
            <a:r>
              <a:rPr lang="en-US"/>
              <a:t>name_Eng</a:t>
            </a:r>
          </a:p>
          <a:p>
            <a:r>
              <a:rPr lang="en-US"/>
              <a:t>productstatus: int</a:t>
            </a:r>
          </a:p>
          <a:p>
            <a:r>
              <a:rPr lang="en-US"/>
              <a:t>ratio: decimal</a:t>
            </a:r>
          </a:p>
          <a:p>
            <a:r>
              <a:rPr lang="en-US"/>
              <a:t>account_no </a:t>
            </a:r>
            <a:r>
              <a:rPr lang="en-US" b="1">
                <a:solidFill>
                  <a:srgbClr val="FFFF00"/>
                </a:solidFill>
              </a:rPr>
              <a:t>[FK, Acc_Chart_Account]</a:t>
            </a:r>
          </a:p>
        </p:txBody>
      </p:sp>
      <p:pic>
        <p:nvPicPr>
          <p:cNvPr id="5" name="Picture 4">
            <a:extLst>
              <a:ext uri="{FF2B5EF4-FFF2-40B4-BE49-F238E27FC236}">
                <a16:creationId xmlns:a16="http://schemas.microsoft.com/office/drawing/2014/main" id="{FC9E560D-5EA4-DA60-FE95-EE39A9054AB3}"/>
              </a:ext>
            </a:extLst>
          </p:cNvPr>
          <p:cNvPicPr>
            <a:picLocks noChangeAspect="1"/>
          </p:cNvPicPr>
          <p:nvPr/>
        </p:nvPicPr>
        <p:blipFill>
          <a:blip r:embed="rId2"/>
          <a:stretch>
            <a:fillRect/>
          </a:stretch>
        </p:blipFill>
        <p:spPr>
          <a:xfrm>
            <a:off x="5539028" y="803787"/>
            <a:ext cx="5886016" cy="1959077"/>
          </a:xfrm>
          <a:prstGeom prst="rect">
            <a:avLst/>
          </a:prstGeom>
        </p:spPr>
      </p:pic>
    </p:spTree>
    <p:extLst>
      <p:ext uri="{BB962C8B-B14F-4D97-AF65-F5344CB8AC3E}">
        <p14:creationId xmlns:p14="http://schemas.microsoft.com/office/powerpoint/2010/main" val="164915468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EF8F3-1C2C-88C6-D565-146D577EDBF3}"/>
              </a:ext>
            </a:extLst>
          </p:cNvPr>
          <p:cNvSpPr>
            <a:spLocks noGrp="1"/>
          </p:cNvSpPr>
          <p:nvPr>
            <p:ph type="title"/>
          </p:nvPr>
        </p:nvSpPr>
        <p:spPr>
          <a:xfrm>
            <a:off x="913795" y="0"/>
            <a:ext cx="10353762" cy="766916"/>
          </a:xfrm>
        </p:spPr>
        <p:txBody>
          <a:bodyPr/>
          <a:lstStyle/>
          <a:p>
            <a:r>
              <a:rPr lang="en-US" b="1">
                <a:solidFill>
                  <a:srgbClr val="FFFF00"/>
                </a:solidFill>
              </a:rPr>
              <a:t>TWF</a:t>
            </a:r>
            <a:r>
              <a:rPr lang="en-US"/>
              <a:t>.</a:t>
            </a:r>
            <a:r>
              <a:rPr lang="en-US" b="1">
                <a:solidFill>
                  <a:srgbClr val="FF0000"/>
                </a:solidFill>
              </a:rPr>
              <a:t>Flow_select_definitioExp</a:t>
            </a:r>
          </a:p>
        </p:txBody>
      </p:sp>
      <p:sp>
        <p:nvSpPr>
          <p:cNvPr id="3" name="Content Placeholder 2">
            <a:extLst>
              <a:ext uri="{FF2B5EF4-FFF2-40B4-BE49-F238E27FC236}">
                <a16:creationId xmlns:a16="http://schemas.microsoft.com/office/drawing/2014/main" id="{AD17DB5C-DACF-80C2-55A2-541CBD38E703}"/>
              </a:ext>
            </a:extLst>
          </p:cNvPr>
          <p:cNvSpPr>
            <a:spLocks noGrp="1"/>
          </p:cNvSpPr>
          <p:nvPr>
            <p:ph idx="1"/>
          </p:nvPr>
        </p:nvSpPr>
        <p:spPr>
          <a:xfrm>
            <a:off x="275303" y="766916"/>
            <a:ext cx="11661058" cy="5948515"/>
          </a:xfrm>
        </p:spPr>
        <p:txBody>
          <a:bodyPr>
            <a:normAutofit/>
          </a:bodyPr>
          <a:lstStyle/>
          <a:p>
            <a:r>
              <a:rPr lang="en-US" sz="1800"/>
              <a:t>SDE_code: int </a:t>
            </a:r>
            <a:r>
              <a:rPr lang="en-US" sz="1800" b="1">
                <a:solidFill>
                  <a:srgbClr val="FFFF00"/>
                </a:solidFill>
              </a:rPr>
              <a:t>[PK]</a:t>
            </a:r>
          </a:p>
          <a:p>
            <a:r>
              <a:rPr lang="en-US" sz="1800"/>
              <a:t>product_Id: int  </a:t>
            </a:r>
            <a:r>
              <a:rPr lang="en-US" sz="1800" b="1">
                <a:solidFill>
                  <a:srgbClr val="FFFF00"/>
                </a:solidFill>
              </a:rPr>
              <a:t>[FK, Flow_Products]</a:t>
            </a:r>
          </a:p>
          <a:p>
            <a:r>
              <a:rPr lang="en-US" sz="1800"/>
              <a:t>DE_code: int  </a:t>
            </a:r>
            <a:r>
              <a:rPr lang="en-US" sz="1800" b="1">
                <a:solidFill>
                  <a:srgbClr val="FFFF00"/>
                </a:solidFill>
              </a:rPr>
              <a:t>[FK, Flow_definition_expenditure]</a:t>
            </a:r>
          </a:p>
          <a:p>
            <a:r>
              <a:rPr lang="en-US" sz="1800"/>
              <a:t>Confirm_Score: int</a:t>
            </a:r>
          </a:p>
          <a:p>
            <a:r>
              <a:rPr lang="en-US" sz="1800"/>
              <a:t>IsRejected: bool</a:t>
            </a:r>
          </a:p>
          <a:p>
            <a:r>
              <a:rPr lang="en-US" sz="1800"/>
              <a:t>Creation_Date: DateTime</a:t>
            </a:r>
          </a:p>
          <a:p>
            <a:r>
              <a:rPr lang="en-US" sz="1800"/>
              <a:t>Date_Of_Update: DateTime?</a:t>
            </a:r>
          </a:p>
        </p:txBody>
      </p:sp>
      <p:pic>
        <p:nvPicPr>
          <p:cNvPr id="5" name="Picture 4">
            <a:extLst>
              <a:ext uri="{FF2B5EF4-FFF2-40B4-BE49-F238E27FC236}">
                <a16:creationId xmlns:a16="http://schemas.microsoft.com/office/drawing/2014/main" id="{9C8EA290-5D05-6595-1877-DFA8E3C94936}"/>
              </a:ext>
            </a:extLst>
          </p:cNvPr>
          <p:cNvPicPr>
            <a:picLocks noChangeAspect="1"/>
          </p:cNvPicPr>
          <p:nvPr/>
        </p:nvPicPr>
        <p:blipFill>
          <a:blip r:embed="rId2"/>
          <a:stretch>
            <a:fillRect/>
          </a:stretch>
        </p:blipFill>
        <p:spPr>
          <a:xfrm>
            <a:off x="5840361" y="1654220"/>
            <a:ext cx="6351639" cy="1997543"/>
          </a:xfrm>
          <a:prstGeom prst="rect">
            <a:avLst/>
          </a:prstGeom>
        </p:spPr>
      </p:pic>
    </p:spTree>
    <p:extLst>
      <p:ext uri="{BB962C8B-B14F-4D97-AF65-F5344CB8AC3E}">
        <p14:creationId xmlns:p14="http://schemas.microsoft.com/office/powerpoint/2010/main" val="4886754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F28B2-8779-0B90-547C-96A057DBE6F2}"/>
              </a:ext>
            </a:extLst>
          </p:cNvPr>
          <p:cNvSpPr>
            <a:spLocks noGrp="1"/>
          </p:cNvSpPr>
          <p:nvPr>
            <p:ph type="title"/>
          </p:nvPr>
        </p:nvSpPr>
        <p:spPr>
          <a:xfrm>
            <a:off x="913795" y="609600"/>
            <a:ext cx="10353762" cy="5024284"/>
          </a:xfrm>
        </p:spPr>
        <p:txBody>
          <a:bodyPr>
            <a:normAutofit/>
          </a:bodyPr>
          <a:lstStyle/>
          <a:p>
            <a:r>
              <a:rPr lang="en-US" sz="7200" b="1">
                <a:solidFill>
                  <a:srgbClr val="FF0000"/>
                </a:solidFill>
              </a:rPr>
              <a:t>Start DOCS</a:t>
            </a:r>
          </a:p>
        </p:txBody>
      </p:sp>
    </p:spTree>
    <p:extLst>
      <p:ext uri="{BB962C8B-B14F-4D97-AF65-F5344CB8AC3E}">
        <p14:creationId xmlns:p14="http://schemas.microsoft.com/office/powerpoint/2010/main" val="47032368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F9271-2475-A697-D050-8A8284C8DD04}"/>
              </a:ext>
            </a:extLst>
          </p:cNvPr>
          <p:cNvSpPr>
            <a:spLocks noGrp="1"/>
          </p:cNvSpPr>
          <p:nvPr>
            <p:ph type="title"/>
          </p:nvPr>
        </p:nvSpPr>
        <p:spPr>
          <a:xfrm>
            <a:off x="919119" y="0"/>
            <a:ext cx="10353762" cy="658761"/>
          </a:xfrm>
        </p:spPr>
        <p:txBody>
          <a:bodyPr>
            <a:normAutofit fontScale="90000"/>
          </a:bodyPr>
          <a:lstStyle/>
          <a:p>
            <a:r>
              <a:rPr lang="en-US" b="1">
                <a:solidFill>
                  <a:srgbClr val="FF0000"/>
                </a:solidFill>
              </a:rPr>
              <a:t>SWF</a:t>
            </a:r>
            <a:r>
              <a:rPr lang="en-US"/>
              <a:t>.</a:t>
            </a:r>
            <a:r>
              <a:rPr lang="en-US" b="1">
                <a:solidFill>
                  <a:srgbClr val="FFFF00"/>
                </a:solidFill>
              </a:rPr>
              <a:t>Flow_Types_documents</a:t>
            </a:r>
          </a:p>
        </p:txBody>
      </p:sp>
      <p:sp>
        <p:nvSpPr>
          <p:cNvPr id="3" name="Content Placeholder 2">
            <a:extLst>
              <a:ext uri="{FF2B5EF4-FFF2-40B4-BE49-F238E27FC236}">
                <a16:creationId xmlns:a16="http://schemas.microsoft.com/office/drawing/2014/main" id="{431CCC4B-66F7-C8AA-EAF5-4C061E70A1FF}"/>
              </a:ext>
            </a:extLst>
          </p:cNvPr>
          <p:cNvSpPr>
            <a:spLocks noGrp="1"/>
          </p:cNvSpPr>
          <p:nvPr>
            <p:ph idx="1"/>
          </p:nvPr>
        </p:nvSpPr>
        <p:spPr>
          <a:xfrm>
            <a:off x="167148" y="855407"/>
            <a:ext cx="11838039" cy="5840361"/>
          </a:xfrm>
        </p:spPr>
        <p:txBody>
          <a:bodyPr/>
          <a:lstStyle/>
          <a:p>
            <a:r>
              <a:rPr lang="en-US"/>
              <a:t>int Document_Id, PK</a:t>
            </a:r>
          </a:p>
          <a:p>
            <a:r>
              <a:rPr lang="en-US"/>
              <a:t>string Description_Ar</a:t>
            </a:r>
          </a:p>
          <a:p>
            <a:r>
              <a:rPr lang="en-US"/>
              <a:t>string Description_Eng</a:t>
            </a:r>
          </a:p>
          <a:p>
            <a:r>
              <a:rPr lang="en-US"/>
              <a:t>int Doc_classification [</a:t>
            </a:r>
            <a:r>
              <a:rPr lang="en-US" b="1">
                <a:solidFill>
                  <a:srgbClr val="FFFF00"/>
                </a:solidFill>
              </a:rPr>
              <a:t>FK fom Flow_Tabs</a:t>
            </a:r>
            <a:r>
              <a:rPr lang="en-US"/>
              <a:t>]</a:t>
            </a:r>
          </a:p>
          <a:p>
            <a:r>
              <a:rPr lang="en-US"/>
              <a:t>int Doc_Size</a:t>
            </a:r>
          </a:p>
          <a:p>
            <a:r>
              <a:rPr lang="en-US"/>
              <a:t>int CodeMigrations</a:t>
            </a:r>
          </a:p>
        </p:txBody>
      </p:sp>
      <p:pic>
        <p:nvPicPr>
          <p:cNvPr id="5" name="Picture 4">
            <a:extLst>
              <a:ext uri="{FF2B5EF4-FFF2-40B4-BE49-F238E27FC236}">
                <a16:creationId xmlns:a16="http://schemas.microsoft.com/office/drawing/2014/main" id="{B81ABBF4-4DE2-69F2-4FA8-6F6B13D52F6E}"/>
              </a:ext>
            </a:extLst>
          </p:cNvPr>
          <p:cNvPicPr>
            <a:picLocks noChangeAspect="1"/>
          </p:cNvPicPr>
          <p:nvPr/>
        </p:nvPicPr>
        <p:blipFill>
          <a:blip r:embed="rId2"/>
          <a:stretch>
            <a:fillRect/>
          </a:stretch>
        </p:blipFill>
        <p:spPr>
          <a:xfrm>
            <a:off x="5860026" y="855407"/>
            <a:ext cx="6331973" cy="3067664"/>
          </a:xfrm>
          <a:prstGeom prst="rect">
            <a:avLst/>
          </a:prstGeom>
        </p:spPr>
      </p:pic>
    </p:spTree>
    <p:extLst>
      <p:ext uri="{BB962C8B-B14F-4D97-AF65-F5344CB8AC3E}">
        <p14:creationId xmlns:p14="http://schemas.microsoft.com/office/powerpoint/2010/main" val="377910514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A5087-120E-1526-354F-040FF51B1973}"/>
              </a:ext>
            </a:extLst>
          </p:cNvPr>
          <p:cNvSpPr>
            <a:spLocks noGrp="1"/>
          </p:cNvSpPr>
          <p:nvPr>
            <p:ph type="title"/>
          </p:nvPr>
        </p:nvSpPr>
        <p:spPr>
          <a:xfrm>
            <a:off x="982621" y="0"/>
            <a:ext cx="10353762" cy="629265"/>
          </a:xfrm>
        </p:spPr>
        <p:txBody>
          <a:bodyPr>
            <a:normAutofit fontScale="90000"/>
          </a:bodyPr>
          <a:lstStyle/>
          <a:p>
            <a:r>
              <a:rPr lang="en-US" b="1">
                <a:solidFill>
                  <a:srgbClr val="FFFF00"/>
                </a:solidFill>
              </a:rPr>
              <a:t>TWF.</a:t>
            </a:r>
            <a:r>
              <a:rPr lang="en-US" b="1">
                <a:solidFill>
                  <a:srgbClr val="FF0000"/>
                </a:solidFill>
              </a:rPr>
              <a:t>Flow_MandatoryDoc</a:t>
            </a:r>
          </a:p>
        </p:txBody>
      </p:sp>
      <p:sp>
        <p:nvSpPr>
          <p:cNvPr id="3" name="Content Placeholder 2">
            <a:extLst>
              <a:ext uri="{FF2B5EF4-FFF2-40B4-BE49-F238E27FC236}">
                <a16:creationId xmlns:a16="http://schemas.microsoft.com/office/drawing/2014/main" id="{C429E1AA-2619-A85E-6C32-D37624DDD1F4}"/>
              </a:ext>
            </a:extLst>
          </p:cNvPr>
          <p:cNvSpPr>
            <a:spLocks noGrp="1"/>
          </p:cNvSpPr>
          <p:nvPr>
            <p:ph idx="1"/>
          </p:nvPr>
        </p:nvSpPr>
        <p:spPr>
          <a:xfrm>
            <a:off x="157316" y="629265"/>
            <a:ext cx="11798710" cy="6017341"/>
          </a:xfrm>
        </p:spPr>
        <p:txBody>
          <a:bodyPr/>
          <a:lstStyle/>
          <a:p>
            <a:r>
              <a:rPr lang="en-US"/>
              <a:t>MD_code: int , PK</a:t>
            </a:r>
          </a:p>
          <a:p>
            <a:r>
              <a:rPr lang="en-US"/>
              <a:t>MD_code_identity: int, identity</a:t>
            </a:r>
          </a:p>
          <a:p>
            <a:r>
              <a:rPr lang="en-US"/>
              <a:t>product_Id: int [FK]</a:t>
            </a:r>
          </a:p>
          <a:p>
            <a:r>
              <a:rPr lang="en-US"/>
              <a:t>Document_Id: int, [ </a:t>
            </a:r>
            <a:r>
              <a:rPr lang="en-US" b="1">
                <a:solidFill>
                  <a:srgbClr val="FFFF00"/>
                </a:solidFill>
              </a:rPr>
              <a:t>FK , from Flow_Types_documents</a:t>
            </a:r>
            <a:r>
              <a:rPr lang="en-US"/>
              <a:t>]</a:t>
            </a:r>
          </a:p>
          <a:p>
            <a:r>
              <a:rPr lang="en-US"/>
              <a:t>JobId: [FK, from Job]</a:t>
            </a:r>
          </a:p>
          <a:p>
            <a:r>
              <a:rPr lang="en-US"/>
              <a:t>Mandatory: bool</a:t>
            </a:r>
          </a:p>
          <a:p>
            <a:r>
              <a:rPr lang="en-US"/>
              <a:t>Loan_code: int</a:t>
            </a:r>
          </a:p>
        </p:txBody>
      </p:sp>
      <p:pic>
        <p:nvPicPr>
          <p:cNvPr id="5" name="Picture 4">
            <a:extLst>
              <a:ext uri="{FF2B5EF4-FFF2-40B4-BE49-F238E27FC236}">
                <a16:creationId xmlns:a16="http://schemas.microsoft.com/office/drawing/2014/main" id="{8489A430-2784-4BB6-B783-97EA53266509}"/>
              </a:ext>
            </a:extLst>
          </p:cNvPr>
          <p:cNvPicPr>
            <a:picLocks noChangeAspect="1"/>
          </p:cNvPicPr>
          <p:nvPr/>
        </p:nvPicPr>
        <p:blipFill>
          <a:blip r:embed="rId2"/>
          <a:stretch>
            <a:fillRect/>
          </a:stretch>
        </p:blipFill>
        <p:spPr>
          <a:xfrm>
            <a:off x="7092636" y="983226"/>
            <a:ext cx="4863390" cy="2268794"/>
          </a:xfrm>
          <a:prstGeom prst="rect">
            <a:avLst/>
          </a:prstGeom>
        </p:spPr>
      </p:pic>
    </p:spTree>
    <p:extLst>
      <p:ext uri="{BB962C8B-B14F-4D97-AF65-F5344CB8AC3E}">
        <p14:creationId xmlns:p14="http://schemas.microsoft.com/office/powerpoint/2010/main" val="349284284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23248-1A13-4B8A-FA14-1EA610B3D1BA}"/>
              </a:ext>
            </a:extLst>
          </p:cNvPr>
          <p:cNvSpPr>
            <a:spLocks noGrp="1"/>
          </p:cNvSpPr>
          <p:nvPr>
            <p:ph type="title"/>
          </p:nvPr>
        </p:nvSpPr>
        <p:spPr>
          <a:xfrm>
            <a:off x="913795" y="0"/>
            <a:ext cx="10353762" cy="642026"/>
          </a:xfrm>
        </p:spPr>
        <p:txBody>
          <a:bodyPr>
            <a:normAutofit fontScale="90000"/>
          </a:bodyPr>
          <a:lstStyle/>
          <a:p>
            <a:r>
              <a:rPr lang="en-US" b="1">
                <a:solidFill>
                  <a:srgbClr val="FFFF00"/>
                </a:solidFill>
              </a:rPr>
              <a:t>SWF</a:t>
            </a:r>
            <a:r>
              <a:rPr lang="en-US"/>
              <a:t>.</a:t>
            </a:r>
            <a:r>
              <a:rPr lang="en-US" b="1"/>
              <a:t>Flow_Setting_Print_Documents</a:t>
            </a:r>
          </a:p>
        </p:txBody>
      </p:sp>
      <p:sp>
        <p:nvSpPr>
          <p:cNvPr id="3" name="Content Placeholder 2">
            <a:extLst>
              <a:ext uri="{FF2B5EF4-FFF2-40B4-BE49-F238E27FC236}">
                <a16:creationId xmlns:a16="http://schemas.microsoft.com/office/drawing/2014/main" id="{0C18A9CC-33E6-C8F5-9E55-C21D304C7516}"/>
              </a:ext>
            </a:extLst>
          </p:cNvPr>
          <p:cNvSpPr>
            <a:spLocks noGrp="1"/>
          </p:cNvSpPr>
          <p:nvPr>
            <p:ph idx="1"/>
          </p:nvPr>
        </p:nvSpPr>
        <p:spPr>
          <a:xfrm>
            <a:off x="301556" y="642027"/>
            <a:ext cx="11478639" cy="5972782"/>
          </a:xfrm>
        </p:spPr>
        <p:txBody>
          <a:bodyPr/>
          <a:lstStyle/>
          <a:p>
            <a:r>
              <a:rPr lang="en-US"/>
              <a:t>product_Id: FK from Flow_Products</a:t>
            </a:r>
          </a:p>
          <a:p>
            <a:r>
              <a:rPr lang="en-US"/>
              <a:t>Document_Id: FK  Flow_Types_documents</a:t>
            </a:r>
          </a:p>
        </p:txBody>
      </p:sp>
      <p:pic>
        <p:nvPicPr>
          <p:cNvPr id="5" name="Picture 4">
            <a:extLst>
              <a:ext uri="{FF2B5EF4-FFF2-40B4-BE49-F238E27FC236}">
                <a16:creationId xmlns:a16="http://schemas.microsoft.com/office/drawing/2014/main" id="{9174CCCE-CEC2-1980-D0FE-D187941FA68B}"/>
              </a:ext>
            </a:extLst>
          </p:cNvPr>
          <p:cNvPicPr>
            <a:picLocks noChangeAspect="1"/>
          </p:cNvPicPr>
          <p:nvPr/>
        </p:nvPicPr>
        <p:blipFill>
          <a:blip r:embed="rId2"/>
          <a:stretch>
            <a:fillRect/>
          </a:stretch>
        </p:blipFill>
        <p:spPr>
          <a:xfrm>
            <a:off x="6213000" y="642026"/>
            <a:ext cx="5823514" cy="1373186"/>
          </a:xfrm>
          <a:prstGeom prst="rect">
            <a:avLst/>
          </a:prstGeom>
        </p:spPr>
      </p:pic>
    </p:spTree>
    <p:extLst>
      <p:ext uri="{BB962C8B-B14F-4D97-AF65-F5344CB8AC3E}">
        <p14:creationId xmlns:p14="http://schemas.microsoft.com/office/powerpoint/2010/main" val="391160483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5F5B-4E20-1201-6089-1A9CF4932F6B}"/>
              </a:ext>
            </a:extLst>
          </p:cNvPr>
          <p:cNvSpPr>
            <a:spLocks noGrp="1"/>
          </p:cNvSpPr>
          <p:nvPr>
            <p:ph type="title"/>
          </p:nvPr>
        </p:nvSpPr>
        <p:spPr>
          <a:xfrm>
            <a:off x="0" y="0"/>
            <a:ext cx="12191999" cy="501445"/>
          </a:xfrm>
        </p:spPr>
        <p:txBody>
          <a:bodyPr>
            <a:noAutofit/>
          </a:bodyPr>
          <a:lstStyle/>
          <a:p>
            <a:r>
              <a:rPr lang="en-US" sz="3200" b="1">
                <a:solidFill>
                  <a:srgbClr val="FFFF00"/>
                </a:solidFill>
              </a:rPr>
              <a:t>TWF</a:t>
            </a:r>
            <a:r>
              <a:rPr lang="en-US" sz="3200"/>
              <a:t>.</a:t>
            </a:r>
            <a:r>
              <a:rPr lang="en-US" sz="3200" b="1">
                <a:solidFill>
                  <a:srgbClr val="FF0000"/>
                </a:solidFill>
              </a:rPr>
              <a:t>TWF_Download </a:t>
            </a:r>
            <a:r>
              <a:rPr lang="en-US" sz="3200"/>
              <a:t>DB table,  </a:t>
            </a:r>
            <a:r>
              <a:rPr lang="en-US" sz="3200" b="1">
                <a:solidFill>
                  <a:srgbClr val="FF0000"/>
                </a:solidFill>
              </a:rPr>
              <a:t>Flow_Download class</a:t>
            </a:r>
          </a:p>
        </p:txBody>
      </p:sp>
      <p:sp>
        <p:nvSpPr>
          <p:cNvPr id="3" name="Content Placeholder 2">
            <a:extLst>
              <a:ext uri="{FF2B5EF4-FFF2-40B4-BE49-F238E27FC236}">
                <a16:creationId xmlns:a16="http://schemas.microsoft.com/office/drawing/2014/main" id="{BB2E0050-4170-B371-2990-5CE3888D2274}"/>
              </a:ext>
            </a:extLst>
          </p:cNvPr>
          <p:cNvSpPr>
            <a:spLocks noGrp="1"/>
          </p:cNvSpPr>
          <p:nvPr>
            <p:ph idx="1"/>
          </p:nvPr>
        </p:nvSpPr>
        <p:spPr>
          <a:xfrm>
            <a:off x="88490" y="580103"/>
            <a:ext cx="11946194" cy="6135329"/>
          </a:xfrm>
        </p:spPr>
        <p:txBody>
          <a:bodyPr/>
          <a:lstStyle/>
          <a:p>
            <a:r>
              <a:rPr lang="en-US" sz="2400" b="1">
                <a:solidFill>
                  <a:srgbClr val="00B0F0"/>
                </a:solidFill>
              </a:rPr>
              <a:t>This table represent the uploaded files for request</a:t>
            </a:r>
          </a:p>
          <a:p>
            <a:r>
              <a:rPr lang="en-US" b="1"/>
              <a:t>Id_Down: </a:t>
            </a:r>
            <a:r>
              <a:rPr lang="en-US" b="1">
                <a:solidFill>
                  <a:srgbClr val="FFFF00"/>
                </a:solidFill>
              </a:rPr>
              <a:t>decimal</a:t>
            </a:r>
            <a:r>
              <a:rPr lang="en-US" b="1"/>
              <a:t>, [ PK, identity ] </a:t>
            </a:r>
          </a:p>
          <a:p>
            <a:r>
              <a:rPr lang="en-US"/>
              <a:t>Screen_name: string</a:t>
            </a:r>
          </a:p>
          <a:p>
            <a:r>
              <a:rPr lang="en-US"/>
              <a:t>Doc_id: string</a:t>
            </a:r>
          </a:p>
          <a:p>
            <a:r>
              <a:rPr lang="en-US"/>
              <a:t>RequestID: string </a:t>
            </a:r>
          </a:p>
          <a:p>
            <a:r>
              <a:rPr lang="en-US"/>
              <a:t>Field_ID: int? [ </a:t>
            </a:r>
            <a:r>
              <a:rPr lang="en-US" b="1">
                <a:solidFill>
                  <a:srgbClr val="FF0000"/>
                </a:solidFill>
              </a:rPr>
              <a:t>NOT FK</a:t>
            </a:r>
            <a:r>
              <a:rPr lang="en-US"/>
              <a:t> ] from </a:t>
            </a:r>
            <a:r>
              <a:rPr lang="en-US" b="1">
                <a:solidFill>
                  <a:srgbClr val="FFFF00"/>
                </a:solidFill>
              </a:rPr>
              <a:t>SWF</a:t>
            </a:r>
            <a:r>
              <a:rPr lang="en-US"/>
              <a:t>.Flow_Types_documents.</a:t>
            </a:r>
            <a:r>
              <a:rPr lang="en-US" b="1">
                <a:solidFill>
                  <a:srgbClr val="FF0000"/>
                </a:solidFill>
              </a:rPr>
              <a:t>Document_Id</a:t>
            </a:r>
          </a:p>
          <a:p>
            <a:r>
              <a:rPr lang="en-US"/>
              <a:t>Bus_Date: DateTime</a:t>
            </a:r>
          </a:p>
          <a:p>
            <a:r>
              <a:rPr lang="en-US"/>
              <a:t>Uploaded_Date: DateTime?</a:t>
            </a:r>
          </a:p>
          <a:p>
            <a:pPr marL="36900" indent="0">
              <a:buNone/>
            </a:pPr>
            <a:endParaRPr lang="en-US"/>
          </a:p>
          <a:p>
            <a:r>
              <a:rPr lang="en-US" sz="2400" b="1">
                <a:solidFill>
                  <a:srgbClr val="FFFF00"/>
                </a:solidFill>
              </a:rPr>
              <a:t>After </a:t>
            </a:r>
            <a:r>
              <a:rPr lang="ar-EG" sz="2400" b="1">
                <a:solidFill>
                  <a:srgbClr val="FFFF00"/>
                </a:solidFill>
              </a:rPr>
              <a:t>حفظ مستندات </a:t>
            </a:r>
            <a:r>
              <a:rPr lang="en-US" sz="2400" b="1">
                <a:solidFill>
                  <a:srgbClr val="FFFF00"/>
                </a:solidFill>
              </a:rPr>
              <a:t> via BM</a:t>
            </a:r>
          </a:p>
          <a:p>
            <a:endParaRPr lang="en-US"/>
          </a:p>
          <a:p>
            <a:endParaRPr lang="en-US"/>
          </a:p>
          <a:p>
            <a:endParaRPr lang="en-US"/>
          </a:p>
        </p:txBody>
      </p:sp>
      <p:pic>
        <p:nvPicPr>
          <p:cNvPr id="9" name="Picture 8">
            <a:extLst>
              <a:ext uri="{FF2B5EF4-FFF2-40B4-BE49-F238E27FC236}">
                <a16:creationId xmlns:a16="http://schemas.microsoft.com/office/drawing/2014/main" id="{69259868-5352-EF66-A3B6-D60524AEBCEB}"/>
              </a:ext>
            </a:extLst>
          </p:cNvPr>
          <p:cNvPicPr>
            <a:picLocks noChangeAspect="1"/>
          </p:cNvPicPr>
          <p:nvPr/>
        </p:nvPicPr>
        <p:blipFill>
          <a:blip r:embed="rId2"/>
          <a:stretch>
            <a:fillRect/>
          </a:stretch>
        </p:blipFill>
        <p:spPr>
          <a:xfrm>
            <a:off x="157316" y="5046998"/>
            <a:ext cx="10037656" cy="623755"/>
          </a:xfrm>
          <a:prstGeom prst="rect">
            <a:avLst/>
          </a:prstGeom>
        </p:spPr>
      </p:pic>
    </p:spTree>
    <p:extLst>
      <p:ext uri="{BB962C8B-B14F-4D97-AF65-F5344CB8AC3E}">
        <p14:creationId xmlns:p14="http://schemas.microsoft.com/office/powerpoint/2010/main" val="313531615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95F19-F715-1ADD-4B01-6503DE048E21}"/>
              </a:ext>
            </a:extLst>
          </p:cNvPr>
          <p:cNvSpPr>
            <a:spLocks noGrp="1"/>
          </p:cNvSpPr>
          <p:nvPr>
            <p:ph type="title"/>
          </p:nvPr>
        </p:nvSpPr>
        <p:spPr>
          <a:xfrm>
            <a:off x="913795" y="0"/>
            <a:ext cx="10353762" cy="629265"/>
          </a:xfrm>
        </p:spPr>
        <p:txBody>
          <a:bodyPr>
            <a:normAutofit fontScale="90000"/>
          </a:bodyPr>
          <a:lstStyle/>
          <a:p>
            <a:r>
              <a:rPr lang="en-US" b="1">
                <a:solidFill>
                  <a:srgbClr val="FFFF00"/>
                </a:solidFill>
              </a:rPr>
              <a:t>REV</a:t>
            </a:r>
            <a:r>
              <a:rPr lang="en-US"/>
              <a:t>.Flow_Revolving_Documents</a:t>
            </a:r>
            <a:endParaRPr lang="en-US" b="1">
              <a:solidFill>
                <a:srgbClr val="FF0000"/>
              </a:solidFill>
            </a:endParaRPr>
          </a:p>
        </p:txBody>
      </p:sp>
      <p:pic>
        <p:nvPicPr>
          <p:cNvPr id="9" name="Content Placeholder 8">
            <a:extLst>
              <a:ext uri="{FF2B5EF4-FFF2-40B4-BE49-F238E27FC236}">
                <a16:creationId xmlns:a16="http://schemas.microsoft.com/office/drawing/2014/main" id="{D32FC8F5-4083-B139-6DE1-22292B9C39C2}"/>
              </a:ext>
            </a:extLst>
          </p:cNvPr>
          <p:cNvPicPr>
            <a:picLocks noGrp="1" noChangeAspect="1"/>
          </p:cNvPicPr>
          <p:nvPr>
            <p:ph idx="1"/>
          </p:nvPr>
        </p:nvPicPr>
        <p:blipFill>
          <a:blip r:embed="rId2"/>
          <a:stretch>
            <a:fillRect/>
          </a:stretch>
        </p:blipFill>
        <p:spPr>
          <a:xfrm>
            <a:off x="7136076" y="890096"/>
            <a:ext cx="4451439" cy="489971"/>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4020999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DDAB-72FA-6B2C-F89E-B496F9C0FC92}"/>
              </a:ext>
            </a:extLst>
          </p:cNvPr>
          <p:cNvSpPr>
            <a:spLocks noGrp="1"/>
          </p:cNvSpPr>
          <p:nvPr>
            <p:ph type="title"/>
          </p:nvPr>
        </p:nvSpPr>
        <p:spPr>
          <a:xfrm>
            <a:off x="913795" y="0"/>
            <a:ext cx="10353762" cy="970450"/>
          </a:xfrm>
        </p:spPr>
        <p:txBody>
          <a:bodyPr/>
          <a:lstStyle/>
          <a:p>
            <a:r>
              <a:rPr lang="en-US" b="1">
                <a:solidFill>
                  <a:srgbClr val="FFFF00"/>
                </a:solidFill>
              </a:rPr>
              <a:t>REV</a:t>
            </a:r>
            <a:r>
              <a:rPr lang="en-US" b="1"/>
              <a:t>.Flow_Revolving_Docs_Types</a:t>
            </a:r>
          </a:p>
        </p:txBody>
      </p:sp>
      <p:pic>
        <p:nvPicPr>
          <p:cNvPr id="5" name="Content Placeholder 4">
            <a:extLst>
              <a:ext uri="{FF2B5EF4-FFF2-40B4-BE49-F238E27FC236}">
                <a16:creationId xmlns:a16="http://schemas.microsoft.com/office/drawing/2014/main" id="{EB4FBAF5-B699-AA36-A808-E56058FEC6CB}"/>
              </a:ext>
            </a:extLst>
          </p:cNvPr>
          <p:cNvPicPr>
            <a:picLocks noGrp="1" noChangeAspect="1"/>
          </p:cNvPicPr>
          <p:nvPr>
            <p:ph idx="1"/>
          </p:nvPr>
        </p:nvPicPr>
        <p:blipFill>
          <a:blip r:embed="rId2"/>
          <a:stretch>
            <a:fillRect/>
          </a:stretch>
        </p:blipFill>
        <p:spPr>
          <a:xfrm>
            <a:off x="924443" y="970450"/>
            <a:ext cx="5103824" cy="552806"/>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51523928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9D0E7-1EE1-66CD-1282-86B731225AB5}"/>
              </a:ext>
            </a:extLst>
          </p:cNvPr>
          <p:cNvSpPr>
            <a:spLocks noGrp="1"/>
          </p:cNvSpPr>
          <p:nvPr>
            <p:ph type="title"/>
          </p:nvPr>
        </p:nvSpPr>
        <p:spPr>
          <a:xfrm>
            <a:off x="913795" y="609599"/>
            <a:ext cx="10353762" cy="3460955"/>
          </a:xfrm>
        </p:spPr>
        <p:txBody>
          <a:bodyPr/>
          <a:lstStyle/>
          <a:p>
            <a:r>
              <a:rPr lang="en-US" b="1">
                <a:solidFill>
                  <a:srgbClr val="FF0000"/>
                </a:solidFill>
              </a:rPr>
              <a:t>END DOCS</a:t>
            </a:r>
          </a:p>
        </p:txBody>
      </p:sp>
    </p:spTree>
    <p:extLst>
      <p:ext uri="{BB962C8B-B14F-4D97-AF65-F5344CB8AC3E}">
        <p14:creationId xmlns:p14="http://schemas.microsoft.com/office/powerpoint/2010/main" val="49802608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7499-7CE4-E854-F82D-70FD53730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A142F-2736-73B3-D05B-D61387433C8B}"/>
              </a:ext>
            </a:extLst>
          </p:cNvPr>
          <p:cNvSpPr>
            <a:spLocks noGrp="1"/>
          </p:cNvSpPr>
          <p:nvPr>
            <p:ph type="title"/>
          </p:nvPr>
        </p:nvSpPr>
        <p:spPr>
          <a:xfrm>
            <a:off x="913795" y="609599"/>
            <a:ext cx="10353762" cy="3460955"/>
          </a:xfrm>
        </p:spPr>
        <p:txBody>
          <a:bodyPr/>
          <a:lstStyle/>
          <a:p>
            <a:r>
              <a:rPr lang="en-US" b="1">
                <a:solidFill>
                  <a:srgbClr val="FF0000"/>
                </a:solidFill>
              </a:rPr>
              <a:t>Start IScore</a:t>
            </a:r>
          </a:p>
        </p:txBody>
      </p:sp>
    </p:spTree>
    <p:extLst>
      <p:ext uri="{BB962C8B-B14F-4D97-AF65-F5344CB8AC3E}">
        <p14:creationId xmlns:p14="http://schemas.microsoft.com/office/powerpoint/2010/main" val="239762408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AD3B8-6629-1AA8-A315-E16D6228C2F2}"/>
              </a:ext>
            </a:extLst>
          </p:cNvPr>
          <p:cNvSpPr>
            <a:spLocks noGrp="1"/>
          </p:cNvSpPr>
          <p:nvPr>
            <p:ph type="title"/>
          </p:nvPr>
        </p:nvSpPr>
        <p:spPr>
          <a:xfrm>
            <a:off x="913795" y="0"/>
            <a:ext cx="10353762" cy="567267"/>
          </a:xfrm>
        </p:spPr>
        <p:txBody>
          <a:bodyPr>
            <a:normAutofit fontScale="90000"/>
          </a:bodyPr>
          <a:lstStyle/>
          <a:p>
            <a:r>
              <a:rPr lang="en-US" b="1">
                <a:solidFill>
                  <a:srgbClr val="FFFF00"/>
                </a:solidFill>
              </a:rPr>
              <a:t>TWF</a:t>
            </a:r>
            <a:r>
              <a:rPr lang="en-US" b="1"/>
              <a:t>.</a:t>
            </a:r>
            <a:r>
              <a:rPr lang="en-US" b="1">
                <a:solidFill>
                  <a:srgbClr val="FF0000"/>
                </a:solidFill>
              </a:rPr>
              <a:t>IScore_Degree</a:t>
            </a:r>
          </a:p>
        </p:txBody>
      </p:sp>
      <p:sp>
        <p:nvSpPr>
          <p:cNvPr id="3" name="Content Placeholder 2">
            <a:extLst>
              <a:ext uri="{FF2B5EF4-FFF2-40B4-BE49-F238E27FC236}">
                <a16:creationId xmlns:a16="http://schemas.microsoft.com/office/drawing/2014/main" id="{3ED2CF3A-4FC7-5CC5-2D88-3A4EA194308A}"/>
              </a:ext>
            </a:extLst>
          </p:cNvPr>
          <p:cNvSpPr>
            <a:spLocks noGrp="1"/>
          </p:cNvSpPr>
          <p:nvPr>
            <p:ph idx="1"/>
          </p:nvPr>
        </p:nvSpPr>
        <p:spPr>
          <a:xfrm>
            <a:off x="152400" y="567267"/>
            <a:ext cx="11912600" cy="6206066"/>
          </a:xfrm>
        </p:spPr>
        <p:txBody>
          <a:bodyPr/>
          <a:lstStyle/>
          <a:p>
            <a:r>
              <a:rPr lang="en-US" sz="2400"/>
              <a:t>ISD: PK</a:t>
            </a:r>
          </a:p>
          <a:p>
            <a:r>
              <a:rPr lang="en-US" sz="2400"/>
              <a:t>From_Score</a:t>
            </a:r>
          </a:p>
          <a:p>
            <a:r>
              <a:rPr lang="en-US" sz="2400"/>
              <a:t>To_Score</a:t>
            </a:r>
          </a:p>
          <a:p>
            <a:r>
              <a:rPr lang="en-US" sz="2400"/>
              <a:t>Description</a:t>
            </a:r>
          </a:p>
          <a:p>
            <a:endParaRPr lang="en-US"/>
          </a:p>
        </p:txBody>
      </p:sp>
      <p:pic>
        <p:nvPicPr>
          <p:cNvPr id="5" name="Picture 4">
            <a:extLst>
              <a:ext uri="{FF2B5EF4-FFF2-40B4-BE49-F238E27FC236}">
                <a16:creationId xmlns:a16="http://schemas.microsoft.com/office/drawing/2014/main" id="{3243DCF8-EA04-E5B9-F390-F331BCBFB678}"/>
              </a:ext>
            </a:extLst>
          </p:cNvPr>
          <p:cNvPicPr>
            <a:picLocks noChangeAspect="1"/>
          </p:cNvPicPr>
          <p:nvPr/>
        </p:nvPicPr>
        <p:blipFill>
          <a:blip r:embed="rId2"/>
          <a:stretch>
            <a:fillRect/>
          </a:stretch>
        </p:blipFill>
        <p:spPr>
          <a:xfrm>
            <a:off x="4166333" y="881326"/>
            <a:ext cx="4676110" cy="2215000"/>
          </a:xfrm>
          <a:prstGeom prst="rect">
            <a:avLst/>
          </a:prstGeom>
        </p:spPr>
      </p:pic>
    </p:spTree>
    <p:extLst>
      <p:ext uri="{BB962C8B-B14F-4D97-AF65-F5344CB8AC3E}">
        <p14:creationId xmlns:p14="http://schemas.microsoft.com/office/powerpoint/2010/main" val="32463791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92E27-E3E6-0CB8-5A56-F7BB6AD4CD96}"/>
              </a:ext>
            </a:extLst>
          </p:cNvPr>
          <p:cNvSpPr>
            <a:spLocks noGrp="1"/>
          </p:cNvSpPr>
          <p:nvPr>
            <p:ph type="title"/>
          </p:nvPr>
        </p:nvSpPr>
        <p:spPr>
          <a:xfrm>
            <a:off x="913795" y="0"/>
            <a:ext cx="10353762" cy="619125"/>
          </a:xfrm>
        </p:spPr>
        <p:txBody>
          <a:bodyPr>
            <a:normAutofit fontScale="90000"/>
          </a:bodyPr>
          <a:lstStyle/>
          <a:p>
            <a:r>
              <a:rPr lang="en-US" b="1">
                <a:solidFill>
                  <a:srgbClr val="FFFF00"/>
                </a:solidFill>
              </a:rPr>
              <a:t>TWF</a:t>
            </a:r>
            <a:r>
              <a:rPr lang="en-US"/>
              <a:t>.</a:t>
            </a:r>
            <a:r>
              <a:rPr lang="en-US" b="1">
                <a:solidFill>
                  <a:srgbClr val="FF0000"/>
                </a:solidFill>
              </a:rPr>
              <a:t>Flow_ISCORE</a:t>
            </a:r>
          </a:p>
        </p:txBody>
      </p:sp>
      <p:sp>
        <p:nvSpPr>
          <p:cNvPr id="3" name="Content Placeholder 2">
            <a:extLst>
              <a:ext uri="{FF2B5EF4-FFF2-40B4-BE49-F238E27FC236}">
                <a16:creationId xmlns:a16="http://schemas.microsoft.com/office/drawing/2014/main" id="{5290EFCF-A9DD-6107-C4D2-C40ECC08AB6C}"/>
              </a:ext>
            </a:extLst>
          </p:cNvPr>
          <p:cNvSpPr>
            <a:spLocks noGrp="1"/>
          </p:cNvSpPr>
          <p:nvPr>
            <p:ph idx="1"/>
          </p:nvPr>
        </p:nvSpPr>
        <p:spPr>
          <a:xfrm>
            <a:off x="133350" y="619125"/>
            <a:ext cx="11849100" cy="6105525"/>
          </a:xfrm>
        </p:spPr>
        <p:txBody>
          <a:bodyPr>
            <a:normAutofit/>
          </a:bodyPr>
          <a:lstStyle/>
          <a:p>
            <a:r>
              <a:rPr lang="en-US" sz="1800" b="1"/>
              <a:t>int Iscore_code [identity, </a:t>
            </a:r>
            <a:r>
              <a:rPr lang="en-US" sz="1800" b="1">
                <a:solidFill>
                  <a:srgbClr val="FFFF00"/>
                </a:solidFill>
              </a:rPr>
              <a:t>PK</a:t>
            </a:r>
            <a:r>
              <a:rPr lang="en-US" sz="1800" b="1"/>
              <a:t> ]</a:t>
            </a:r>
          </a:p>
          <a:p>
            <a:r>
              <a:rPr lang="en-US" sz="1800" b="1"/>
              <a:t>int product_Id [ </a:t>
            </a:r>
            <a:r>
              <a:rPr lang="en-US" sz="1800" b="1">
                <a:solidFill>
                  <a:srgbClr val="FFFF00"/>
                </a:solidFill>
              </a:rPr>
              <a:t>PK</a:t>
            </a:r>
            <a:r>
              <a:rPr lang="en-US" sz="1800" b="1"/>
              <a:t> ] </a:t>
            </a:r>
          </a:p>
          <a:p>
            <a:r>
              <a:rPr lang="en-US" sz="1800" b="1"/>
              <a:t>int RegionId  [ FK from Region ]</a:t>
            </a:r>
          </a:p>
          <a:p>
            <a:r>
              <a:rPr lang="en-US" sz="1800" b="1"/>
              <a:t>int days_query_validity</a:t>
            </a:r>
          </a:p>
          <a:p>
            <a:r>
              <a:rPr lang="en-US" sz="1800" b="1"/>
              <a:t>int No_loans_outstanding_cust</a:t>
            </a:r>
          </a:p>
          <a:p>
            <a:r>
              <a:rPr lang="en-US" sz="1800" b="1"/>
              <a:t>int Days_worked_customer </a:t>
            </a:r>
          </a:p>
          <a:p>
            <a:r>
              <a:rPr lang="en-US" sz="1800" b="1"/>
              <a:t>int Query_result</a:t>
            </a:r>
          </a:p>
          <a:p>
            <a:r>
              <a:rPr lang="en-US" sz="1800" b="1"/>
              <a:t>int Loan_Code</a:t>
            </a:r>
          </a:p>
        </p:txBody>
      </p:sp>
      <p:pic>
        <p:nvPicPr>
          <p:cNvPr id="5" name="Picture 4">
            <a:extLst>
              <a:ext uri="{FF2B5EF4-FFF2-40B4-BE49-F238E27FC236}">
                <a16:creationId xmlns:a16="http://schemas.microsoft.com/office/drawing/2014/main" id="{DB54485E-678F-ECE8-9F48-C9E4FB6A5B60}"/>
              </a:ext>
            </a:extLst>
          </p:cNvPr>
          <p:cNvPicPr>
            <a:picLocks noChangeAspect="1"/>
          </p:cNvPicPr>
          <p:nvPr/>
        </p:nvPicPr>
        <p:blipFill>
          <a:blip r:embed="rId2"/>
          <a:stretch>
            <a:fillRect/>
          </a:stretch>
        </p:blipFill>
        <p:spPr>
          <a:xfrm>
            <a:off x="3510640" y="4381458"/>
            <a:ext cx="8042195" cy="1209717"/>
          </a:xfrm>
          <a:prstGeom prst="rect">
            <a:avLst/>
          </a:prstGeom>
        </p:spPr>
      </p:pic>
    </p:spTree>
    <p:extLst>
      <p:ext uri="{BB962C8B-B14F-4D97-AF65-F5344CB8AC3E}">
        <p14:creationId xmlns:p14="http://schemas.microsoft.com/office/powerpoint/2010/main" val="357502030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E02EF-272C-634F-E677-280B413E4B0C}"/>
              </a:ext>
            </a:extLst>
          </p:cNvPr>
          <p:cNvSpPr>
            <a:spLocks noGrp="1"/>
          </p:cNvSpPr>
          <p:nvPr>
            <p:ph type="title"/>
          </p:nvPr>
        </p:nvSpPr>
        <p:spPr>
          <a:xfrm>
            <a:off x="913795" y="0"/>
            <a:ext cx="10353762" cy="688258"/>
          </a:xfrm>
        </p:spPr>
        <p:txBody>
          <a:bodyPr>
            <a:normAutofit fontScale="90000"/>
          </a:bodyPr>
          <a:lstStyle/>
          <a:p>
            <a:r>
              <a:rPr lang="en-US" b="1">
                <a:solidFill>
                  <a:srgbClr val="FFFF00"/>
                </a:solidFill>
                <a:effectLst/>
              </a:rPr>
              <a:t>TWF</a:t>
            </a:r>
            <a:r>
              <a:rPr lang="en-US" b="1">
                <a:effectLst/>
              </a:rPr>
              <a:t>.</a:t>
            </a:r>
            <a:r>
              <a:rPr lang="en-US" b="1">
                <a:solidFill>
                  <a:srgbClr val="FF0000"/>
                </a:solidFill>
                <a:effectLst/>
              </a:rPr>
              <a:t>Flow_ISCORE_Data</a:t>
            </a:r>
            <a:endParaRPr lang="en-US">
              <a:solidFill>
                <a:srgbClr val="FF0000"/>
              </a:solidFill>
            </a:endParaRPr>
          </a:p>
        </p:txBody>
      </p:sp>
      <p:sp>
        <p:nvSpPr>
          <p:cNvPr id="3" name="Content Placeholder 2">
            <a:extLst>
              <a:ext uri="{FF2B5EF4-FFF2-40B4-BE49-F238E27FC236}">
                <a16:creationId xmlns:a16="http://schemas.microsoft.com/office/drawing/2014/main" id="{C73E78E3-34C6-E811-8BA5-3DA8C61B8FD3}"/>
              </a:ext>
            </a:extLst>
          </p:cNvPr>
          <p:cNvSpPr>
            <a:spLocks noGrp="1"/>
          </p:cNvSpPr>
          <p:nvPr>
            <p:ph idx="1"/>
          </p:nvPr>
        </p:nvSpPr>
        <p:spPr>
          <a:xfrm>
            <a:off x="353961" y="688259"/>
            <a:ext cx="11503742" cy="6037006"/>
          </a:xfrm>
        </p:spPr>
        <p:txBody>
          <a:bodyPr>
            <a:normAutofit/>
          </a:bodyPr>
          <a:lstStyle/>
          <a:p>
            <a:r>
              <a:rPr lang="en-US" sz="1600" b="1"/>
              <a:t>Usage: this table to store the </a:t>
            </a:r>
            <a:r>
              <a:rPr lang="en-US" sz="1800" b="1">
                <a:solidFill>
                  <a:srgbClr val="FF0000"/>
                </a:solidFill>
              </a:rPr>
              <a:t>RESULT</a:t>
            </a:r>
            <a:r>
              <a:rPr lang="en-US" sz="1600" b="1"/>
              <a:t> OF INQUIRY ABOUT PERSON which fetched from XML</a:t>
            </a:r>
          </a:p>
          <a:p>
            <a:r>
              <a:rPr lang="en-US" sz="1600" b="1"/>
              <a:t>int Code_FID</a:t>
            </a:r>
            <a:r>
              <a:rPr lang="en-US" sz="1600"/>
              <a:t>  </a:t>
            </a:r>
            <a:r>
              <a:rPr lang="en-US" sz="1600" b="1"/>
              <a:t>[PK]</a:t>
            </a:r>
          </a:p>
          <a:p>
            <a:r>
              <a:rPr lang="en-US" sz="1600" b="1">
                <a:effectLst/>
              </a:rPr>
              <a:t>Cust_IDNO: string // </a:t>
            </a:r>
            <a:r>
              <a:rPr lang="ar-EG" sz="1600" b="1">
                <a:effectLst/>
              </a:rPr>
              <a:t>الرقم القومى الذى تم الاستعلام عنه</a:t>
            </a:r>
            <a:endParaRPr lang="en-US" sz="1600" b="1">
              <a:effectLst/>
            </a:endParaRPr>
          </a:p>
          <a:p>
            <a:r>
              <a:rPr lang="en-US" sz="1600" b="1"/>
              <a:t>Inquiry_Date: DateTime</a:t>
            </a:r>
            <a:r>
              <a:rPr lang="en-US" sz="1600"/>
              <a:t> // </a:t>
            </a:r>
            <a:r>
              <a:rPr lang="ar-EG" sz="1600"/>
              <a:t>تاربخ الاستعلام </a:t>
            </a:r>
            <a:endParaRPr lang="en-US" sz="1600"/>
          </a:p>
          <a:p>
            <a:r>
              <a:rPr lang="en-US" sz="1600" b="1">
                <a:effectLst/>
              </a:rPr>
              <a:t>Score: int   	// </a:t>
            </a:r>
            <a:r>
              <a:rPr lang="ar-EG" sz="1600">
                <a:effectLst/>
              </a:rPr>
              <a:t>هو رقم يعبر عن مدى التزام العميل</a:t>
            </a:r>
          </a:p>
          <a:p>
            <a:r>
              <a:rPr lang="en-US" sz="1600" b="1">
                <a:effectLst/>
              </a:rPr>
              <a:t>Open_credits</a:t>
            </a:r>
            <a:r>
              <a:rPr lang="en-US" sz="1600">
                <a:effectLst/>
              </a:rPr>
              <a:t>  [Active loans] </a:t>
            </a:r>
            <a:r>
              <a:rPr lang="ar-EG" sz="1600">
                <a:effectLst/>
              </a:rPr>
              <a:t>عدد التسهيلات السارية</a:t>
            </a:r>
            <a:r>
              <a:rPr lang="en-US" sz="1600">
                <a:effectLst/>
              </a:rPr>
              <a:t> // </a:t>
            </a:r>
            <a:r>
              <a:rPr lang="ar-EG" sz="1600">
                <a:effectLst/>
              </a:rPr>
              <a:t>أي عدد القروض أو البطاقات الائتمانية التي يستخدمها العميل حالياً ولم يغلقها.</a:t>
            </a:r>
            <a:endParaRPr lang="en-US" sz="1600">
              <a:effectLst/>
            </a:endParaRPr>
          </a:p>
          <a:p>
            <a:r>
              <a:rPr lang="en-US" sz="1600" b="1"/>
              <a:t>Days_Due</a:t>
            </a:r>
            <a:r>
              <a:rPr lang="en-US" sz="1600"/>
              <a:t>: int </a:t>
            </a:r>
            <a:r>
              <a:rPr lang="ar-EG" sz="1600"/>
              <a:t>أيام التأخير؛ ويقصد بها عدد الأيام التي تأخر فيها العميل عن سداد الأقساط المستحقة عليه (مؤشر خطر إذا كان الرقم كبيراً).</a:t>
            </a:r>
            <a:endParaRPr lang="en-US" sz="1600"/>
          </a:p>
          <a:p>
            <a:r>
              <a:rPr lang="en-US" sz="1600" b="1"/>
              <a:t>NO_OF_INQUIRES</a:t>
            </a:r>
            <a:r>
              <a:rPr lang="en-US" sz="1600"/>
              <a:t>: </a:t>
            </a:r>
            <a:r>
              <a:rPr lang="ar-EG" sz="1600"/>
              <a:t>عدد المرات التى تم فيها الاستعلام عن هذا الرقم</a:t>
            </a:r>
            <a:endParaRPr lang="en-US" sz="1600"/>
          </a:p>
          <a:p>
            <a:r>
              <a:rPr lang="en-US" sz="1600" b="1"/>
              <a:t>Request_id: FK</a:t>
            </a:r>
          </a:p>
          <a:p>
            <a:r>
              <a:rPr lang="en-US" sz="1600" b="1"/>
              <a:t>REF_NO</a:t>
            </a:r>
            <a:r>
              <a:rPr lang="en-US" sz="1600"/>
              <a:t> [Ticket Number] : string , </a:t>
            </a:r>
            <a:r>
              <a:rPr lang="en-US" sz="1600" b="1"/>
              <a:t>unique tracking ID</a:t>
            </a:r>
            <a:r>
              <a:rPr lang="en-US" sz="1600"/>
              <a:t> assigned to a specific inquiry or request.</a:t>
            </a:r>
          </a:p>
          <a:p>
            <a:r>
              <a:rPr lang="en-US" sz="1600" b="1"/>
              <a:t>NotFound</a:t>
            </a:r>
            <a:r>
              <a:rPr lang="en-US" sz="1600"/>
              <a:t> , int : </a:t>
            </a:r>
            <a:r>
              <a:rPr lang="ar-EG" sz="1600"/>
              <a:t>حالة العميل</a:t>
            </a:r>
          </a:p>
          <a:p>
            <a:pPr lvl="1"/>
            <a:r>
              <a:rPr lang="en-US" sz="1600"/>
              <a:t>0 : </a:t>
            </a:r>
            <a:r>
              <a:rPr lang="ar-EG" sz="1600"/>
              <a:t>يوجد للعميل هذا بيانات فى الأيزكور</a:t>
            </a:r>
          </a:p>
          <a:p>
            <a:pPr lvl="1"/>
            <a:r>
              <a:rPr lang="en-US" sz="1600"/>
              <a:t>1 : </a:t>
            </a:r>
            <a:r>
              <a:rPr lang="ar-EG" sz="1600"/>
              <a:t>العميل هذا لا توجد له بيانات فى الايزكور لأنه لم يأخذ قروض من اى بنك او اى جهة من قبل </a:t>
            </a:r>
          </a:p>
          <a:p>
            <a:pPr lvl="1"/>
            <a:r>
              <a:rPr lang="en-US" sz="1600"/>
              <a:t>2 :</a:t>
            </a:r>
            <a:r>
              <a:rPr lang="ar-EG" sz="1600"/>
              <a:t> </a:t>
            </a:r>
            <a:r>
              <a:rPr lang="en-US" sz="1600"/>
              <a:t> </a:t>
            </a:r>
            <a:r>
              <a:rPr lang="ar-EG" sz="1600"/>
              <a:t>  يوجد مشكلة في الاتصال او اى مشكله أخرى لم تمكننى من الاستعلام عنه وبالتالي لايتم ترحيل الطلب الا اذا تم التحميل</a:t>
            </a:r>
            <a:r>
              <a:rPr lang="en-US" sz="1600"/>
              <a:t> </a:t>
            </a:r>
          </a:p>
          <a:p>
            <a:r>
              <a:rPr lang="en-US" sz="1600" b="1"/>
              <a:t>New_ISCORE: int // all of them is 1 </a:t>
            </a:r>
          </a:p>
          <a:p>
            <a:r>
              <a:rPr lang="en-US" sz="1600" b="1"/>
              <a:t>File_Code</a:t>
            </a:r>
            <a:r>
              <a:rPr lang="en-US" sz="1600"/>
              <a:t>: string coming from </a:t>
            </a:r>
            <a:r>
              <a:rPr lang="en-US" sz="1600" b="1"/>
              <a:t>uploadPdf(uploadfile)</a:t>
            </a:r>
          </a:p>
        </p:txBody>
      </p:sp>
    </p:spTree>
    <p:extLst>
      <p:ext uri="{BB962C8B-B14F-4D97-AF65-F5344CB8AC3E}">
        <p14:creationId xmlns:p14="http://schemas.microsoft.com/office/powerpoint/2010/main" val="209667365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E72B3-EC75-E838-F8AD-2ADD511D4526}"/>
              </a:ext>
            </a:extLst>
          </p:cNvPr>
          <p:cNvSpPr>
            <a:spLocks noGrp="1"/>
          </p:cNvSpPr>
          <p:nvPr>
            <p:ph type="title"/>
          </p:nvPr>
        </p:nvSpPr>
        <p:spPr>
          <a:xfrm>
            <a:off x="913795" y="0"/>
            <a:ext cx="10353762" cy="590550"/>
          </a:xfrm>
        </p:spPr>
        <p:txBody>
          <a:bodyPr>
            <a:normAutofit fontScale="90000"/>
          </a:bodyPr>
          <a:lstStyle/>
          <a:p>
            <a:r>
              <a:rPr lang="en-US" b="1">
                <a:solidFill>
                  <a:srgbClr val="FFFF00"/>
                </a:solidFill>
              </a:rPr>
              <a:t>TWF</a:t>
            </a:r>
            <a:r>
              <a:rPr lang="en-US"/>
              <a:t>.</a:t>
            </a:r>
            <a:r>
              <a:rPr lang="en-US" b="1">
                <a:solidFill>
                  <a:srgbClr val="FF0000"/>
                </a:solidFill>
              </a:rPr>
              <a:t>Flow_Transfer_Iscore</a:t>
            </a:r>
          </a:p>
        </p:txBody>
      </p:sp>
      <p:sp>
        <p:nvSpPr>
          <p:cNvPr id="3" name="Content Placeholder 2">
            <a:extLst>
              <a:ext uri="{FF2B5EF4-FFF2-40B4-BE49-F238E27FC236}">
                <a16:creationId xmlns:a16="http://schemas.microsoft.com/office/drawing/2014/main" id="{AEB06B57-41D3-EFB8-32E4-D040C4AEDABF}"/>
              </a:ext>
            </a:extLst>
          </p:cNvPr>
          <p:cNvSpPr>
            <a:spLocks noGrp="1"/>
          </p:cNvSpPr>
          <p:nvPr>
            <p:ph idx="1"/>
          </p:nvPr>
        </p:nvSpPr>
        <p:spPr>
          <a:xfrm>
            <a:off x="247650" y="590551"/>
            <a:ext cx="11944350" cy="6048374"/>
          </a:xfrm>
        </p:spPr>
        <p:txBody>
          <a:bodyPr>
            <a:noAutofit/>
          </a:bodyPr>
          <a:lstStyle/>
          <a:p>
            <a:r>
              <a:rPr lang="en-US" sz="1800" b="1"/>
              <a:t>Usage: to store the failure results of inquiry [ status of request 11, 12 ]</a:t>
            </a:r>
          </a:p>
          <a:p>
            <a:r>
              <a:rPr lang="en-US" sz="1600" b="1"/>
              <a:t>ISCORE_CODE:</a:t>
            </a:r>
            <a:r>
              <a:rPr lang="en-US" sz="1600"/>
              <a:t> </a:t>
            </a:r>
            <a:r>
              <a:rPr lang="en-US" sz="1600" b="1">
                <a:solidFill>
                  <a:srgbClr val="FFFF00"/>
                </a:solidFill>
              </a:rPr>
              <a:t>int PK, identity</a:t>
            </a:r>
          </a:p>
          <a:p>
            <a:r>
              <a:rPr lang="en-US" sz="1600"/>
              <a:t>IDNO: string, national Id</a:t>
            </a:r>
          </a:p>
          <a:p>
            <a:r>
              <a:rPr lang="en-US" sz="1600"/>
              <a:t>Request_Id: FK: decimal</a:t>
            </a:r>
          </a:p>
          <a:p>
            <a:r>
              <a:rPr lang="en-US" sz="1600"/>
              <a:t>FLAG_ISCORE: int  -----</a:t>
            </a:r>
          </a:p>
          <a:p>
            <a:r>
              <a:rPr lang="en-US" sz="1600"/>
              <a:t>AMT: int , the Actual_financing field</a:t>
            </a:r>
          </a:p>
          <a:p>
            <a:r>
              <a:rPr lang="en-US" sz="1600"/>
              <a:t>LOAN_TYPE: int</a:t>
            </a:r>
          </a:p>
          <a:p>
            <a:r>
              <a:rPr lang="en-US" sz="1600"/>
              <a:t>USRNO: int</a:t>
            </a:r>
          </a:p>
          <a:p>
            <a:r>
              <a:rPr lang="en-US" sz="1600"/>
              <a:t>CUST_TYPE: string  -- C for customer, G for guarantor</a:t>
            </a:r>
          </a:p>
          <a:p>
            <a:r>
              <a:rPr lang="en-US" sz="1600"/>
              <a:t>BranchId: int FK from branch</a:t>
            </a:r>
          </a:p>
          <a:p>
            <a:r>
              <a:rPr lang="en-US" sz="1600"/>
              <a:t>BIRTHDATE: DateTime</a:t>
            </a:r>
          </a:p>
          <a:p>
            <a:r>
              <a:rPr lang="en-US" sz="1600"/>
              <a:t>Gender: int</a:t>
            </a:r>
          </a:p>
          <a:p>
            <a:r>
              <a:rPr lang="en-US" sz="1600"/>
              <a:t>FIRST_NAME</a:t>
            </a:r>
          </a:p>
          <a:p>
            <a:r>
              <a:rPr lang="en-US" sz="1600"/>
              <a:t>MIDDEL_NAME</a:t>
            </a:r>
          </a:p>
          <a:p>
            <a:r>
              <a:rPr lang="en-US" sz="1600"/>
              <a:t>LAST_NAME</a:t>
            </a:r>
          </a:p>
          <a:p>
            <a:r>
              <a:rPr lang="en-US" sz="1600"/>
              <a:t>CREATION_DATE: datatime</a:t>
            </a:r>
          </a:p>
          <a:p>
            <a:endParaRPr lang="en-US" sz="1600"/>
          </a:p>
        </p:txBody>
      </p:sp>
      <p:pic>
        <p:nvPicPr>
          <p:cNvPr id="5" name="Picture 4">
            <a:extLst>
              <a:ext uri="{FF2B5EF4-FFF2-40B4-BE49-F238E27FC236}">
                <a16:creationId xmlns:a16="http://schemas.microsoft.com/office/drawing/2014/main" id="{32A3ECE5-C2F9-8341-4D3E-B44F9C33552D}"/>
              </a:ext>
            </a:extLst>
          </p:cNvPr>
          <p:cNvPicPr>
            <a:picLocks noChangeAspect="1"/>
          </p:cNvPicPr>
          <p:nvPr/>
        </p:nvPicPr>
        <p:blipFill>
          <a:blip r:embed="rId2"/>
          <a:stretch>
            <a:fillRect/>
          </a:stretch>
        </p:blipFill>
        <p:spPr>
          <a:xfrm>
            <a:off x="2888968" y="4663555"/>
            <a:ext cx="9293507" cy="678912"/>
          </a:xfrm>
          <a:prstGeom prst="rect">
            <a:avLst/>
          </a:prstGeom>
        </p:spPr>
      </p:pic>
    </p:spTree>
    <p:extLst>
      <p:ext uri="{BB962C8B-B14F-4D97-AF65-F5344CB8AC3E}">
        <p14:creationId xmlns:p14="http://schemas.microsoft.com/office/powerpoint/2010/main" val="161343430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CC5FC-D30C-BC9B-F677-C69F89618190}"/>
              </a:ext>
            </a:extLst>
          </p:cNvPr>
          <p:cNvSpPr>
            <a:spLocks noGrp="1"/>
          </p:cNvSpPr>
          <p:nvPr>
            <p:ph type="title"/>
          </p:nvPr>
        </p:nvSpPr>
        <p:spPr>
          <a:xfrm>
            <a:off x="980470" y="0"/>
            <a:ext cx="10353762" cy="609600"/>
          </a:xfrm>
        </p:spPr>
        <p:txBody>
          <a:bodyPr>
            <a:normAutofit fontScale="90000"/>
          </a:bodyPr>
          <a:lstStyle/>
          <a:p>
            <a:r>
              <a:rPr lang="en-US" b="1">
                <a:solidFill>
                  <a:srgbClr val="FFFF00"/>
                </a:solidFill>
              </a:rPr>
              <a:t>TWF.</a:t>
            </a:r>
            <a:r>
              <a:rPr lang="en-US" b="1">
                <a:solidFill>
                  <a:srgbClr val="FF0000"/>
                </a:solidFill>
              </a:rPr>
              <a:t>Flow_log_Iscore_Test</a:t>
            </a:r>
          </a:p>
        </p:txBody>
      </p:sp>
      <p:sp>
        <p:nvSpPr>
          <p:cNvPr id="3" name="Content Placeholder 2">
            <a:extLst>
              <a:ext uri="{FF2B5EF4-FFF2-40B4-BE49-F238E27FC236}">
                <a16:creationId xmlns:a16="http://schemas.microsoft.com/office/drawing/2014/main" id="{9728F21B-FEBB-A8D2-28E8-3FC7BA4F3B31}"/>
              </a:ext>
            </a:extLst>
          </p:cNvPr>
          <p:cNvSpPr>
            <a:spLocks noGrp="1"/>
          </p:cNvSpPr>
          <p:nvPr>
            <p:ph idx="1"/>
          </p:nvPr>
        </p:nvSpPr>
        <p:spPr>
          <a:xfrm>
            <a:off x="142874" y="609601"/>
            <a:ext cx="11934825" cy="6105524"/>
          </a:xfrm>
        </p:spPr>
        <p:txBody>
          <a:bodyPr/>
          <a:lstStyle/>
          <a:p>
            <a:r>
              <a:rPr lang="en-US" b="1"/>
              <a:t>int LIT_ID, </a:t>
            </a:r>
            <a:r>
              <a:rPr lang="en-US" b="1">
                <a:solidFill>
                  <a:srgbClr val="FFFF00"/>
                </a:solidFill>
              </a:rPr>
              <a:t>PK</a:t>
            </a:r>
          </a:p>
          <a:p>
            <a:r>
              <a:rPr lang="en-US" b="1"/>
              <a:t>string TYPE</a:t>
            </a:r>
          </a:p>
          <a:p>
            <a:r>
              <a:rPr lang="en-US" b="1"/>
              <a:t>string IDNO</a:t>
            </a:r>
          </a:p>
          <a:p>
            <a:r>
              <a:rPr lang="en-US" b="1"/>
              <a:t>DateTime DATETIME</a:t>
            </a:r>
          </a:p>
          <a:p>
            <a:r>
              <a:rPr lang="en-US" b="1"/>
              <a:t>int STATUS</a:t>
            </a:r>
          </a:p>
          <a:p>
            <a:r>
              <a:rPr lang="en-US" b="1"/>
              <a:t>decimal Request_Id</a:t>
            </a:r>
          </a:p>
        </p:txBody>
      </p:sp>
      <p:pic>
        <p:nvPicPr>
          <p:cNvPr id="5" name="Picture 4">
            <a:extLst>
              <a:ext uri="{FF2B5EF4-FFF2-40B4-BE49-F238E27FC236}">
                <a16:creationId xmlns:a16="http://schemas.microsoft.com/office/drawing/2014/main" id="{D2CA3B5F-0D16-02C5-75D4-8C317DCE3589}"/>
              </a:ext>
            </a:extLst>
          </p:cNvPr>
          <p:cNvPicPr>
            <a:picLocks noChangeAspect="1"/>
          </p:cNvPicPr>
          <p:nvPr/>
        </p:nvPicPr>
        <p:blipFill>
          <a:blip r:embed="rId2"/>
          <a:stretch>
            <a:fillRect/>
          </a:stretch>
        </p:blipFill>
        <p:spPr>
          <a:xfrm>
            <a:off x="5230947" y="796235"/>
            <a:ext cx="5627553" cy="1692344"/>
          </a:xfrm>
          <a:prstGeom prst="rect">
            <a:avLst/>
          </a:prstGeom>
        </p:spPr>
      </p:pic>
    </p:spTree>
    <p:extLst>
      <p:ext uri="{BB962C8B-B14F-4D97-AF65-F5344CB8AC3E}">
        <p14:creationId xmlns:p14="http://schemas.microsoft.com/office/powerpoint/2010/main" val="345115001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C12AF-E36F-D033-0A24-4B25736D1EC6}"/>
              </a:ext>
            </a:extLst>
          </p:cNvPr>
          <p:cNvSpPr>
            <a:spLocks noGrp="1"/>
          </p:cNvSpPr>
          <p:nvPr>
            <p:ph type="title"/>
          </p:nvPr>
        </p:nvSpPr>
        <p:spPr>
          <a:xfrm>
            <a:off x="913795" y="0"/>
            <a:ext cx="10353762" cy="476250"/>
          </a:xfrm>
        </p:spPr>
        <p:txBody>
          <a:bodyPr>
            <a:normAutofit fontScale="90000"/>
          </a:bodyPr>
          <a:lstStyle/>
          <a:p>
            <a:r>
              <a:rPr lang="en-US" b="1">
                <a:solidFill>
                  <a:srgbClr val="FFFF00"/>
                </a:solidFill>
              </a:rPr>
              <a:t>TWF</a:t>
            </a:r>
            <a:r>
              <a:rPr lang="en-US"/>
              <a:t>.</a:t>
            </a:r>
            <a:r>
              <a:rPr lang="en-US" b="1">
                <a:solidFill>
                  <a:srgbClr val="FF0000"/>
                </a:solidFill>
              </a:rPr>
              <a:t>Flow_Iscore_Param</a:t>
            </a:r>
          </a:p>
        </p:txBody>
      </p:sp>
      <p:sp>
        <p:nvSpPr>
          <p:cNvPr id="3" name="Content Placeholder 2">
            <a:extLst>
              <a:ext uri="{FF2B5EF4-FFF2-40B4-BE49-F238E27FC236}">
                <a16:creationId xmlns:a16="http://schemas.microsoft.com/office/drawing/2014/main" id="{6E7AB11B-096B-BA88-EFC4-4EEF871E76AA}"/>
              </a:ext>
            </a:extLst>
          </p:cNvPr>
          <p:cNvSpPr>
            <a:spLocks noGrp="1"/>
          </p:cNvSpPr>
          <p:nvPr>
            <p:ph idx="1"/>
          </p:nvPr>
        </p:nvSpPr>
        <p:spPr>
          <a:xfrm>
            <a:off x="247650" y="476250"/>
            <a:ext cx="11706225" cy="6191249"/>
          </a:xfrm>
        </p:spPr>
        <p:txBody>
          <a:bodyPr/>
          <a:lstStyle/>
          <a:p>
            <a:r>
              <a:rPr lang="en-US"/>
              <a:t>ID: int,  PK , identity</a:t>
            </a:r>
          </a:p>
          <a:p>
            <a:r>
              <a:rPr lang="en-US"/>
              <a:t>USRNAME</a:t>
            </a:r>
          </a:p>
          <a:p>
            <a:r>
              <a:rPr lang="en-US"/>
              <a:t>PW: string</a:t>
            </a:r>
          </a:p>
          <a:p>
            <a:r>
              <a:rPr lang="en-US"/>
              <a:t>Date_of_Password: datetime</a:t>
            </a:r>
          </a:p>
          <a:p>
            <a:r>
              <a:rPr lang="en-US"/>
              <a:t>PassExpDate: datetime</a:t>
            </a:r>
          </a:p>
          <a:p>
            <a:r>
              <a:rPr lang="en-US"/>
              <a:t>NoExpDate: int</a:t>
            </a:r>
          </a:p>
          <a:p>
            <a:endParaRPr lang="en-US"/>
          </a:p>
          <a:p>
            <a:r>
              <a:rPr lang="en-US"/>
              <a:t>Code_IQT: FK from </a:t>
            </a:r>
            <a:r>
              <a:rPr lang="en-US" b="1">
                <a:solidFill>
                  <a:srgbClr val="FFC000"/>
                </a:solidFill>
              </a:rPr>
              <a:t>Flow_IScore_Query_Type</a:t>
            </a:r>
          </a:p>
        </p:txBody>
      </p:sp>
      <p:pic>
        <p:nvPicPr>
          <p:cNvPr id="5" name="Picture 4">
            <a:extLst>
              <a:ext uri="{FF2B5EF4-FFF2-40B4-BE49-F238E27FC236}">
                <a16:creationId xmlns:a16="http://schemas.microsoft.com/office/drawing/2014/main" id="{CB231384-5B71-3B0B-E9E8-98CAE8120E47}"/>
              </a:ext>
            </a:extLst>
          </p:cNvPr>
          <p:cNvPicPr>
            <a:picLocks noChangeAspect="1"/>
          </p:cNvPicPr>
          <p:nvPr/>
        </p:nvPicPr>
        <p:blipFill>
          <a:blip r:embed="rId2"/>
          <a:stretch>
            <a:fillRect/>
          </a:stretch>
        </p:blipFill>
        <p:spPr>
          <a:xfrm>
            <a:off x="4345017" y="1053431"/>
            <a:ext cx="7681100" cy="889669"/>
          </a:xfrm>
          <a:prstGeom prst="rect">
            <a:avLst/>
          </a:prstGeom>
        </p:spPr>
      </p:pic>
      <p:pic>
        <p:nvPicPr>
          <p:cNvPr id="7" name="Picture 6">
            <a:extLst>
              <a:ext uri="{FF2B5EF4-FFF2-40B4-BE49-F238E27FC236}">
                <a16:creationId xmlns:a16="http://schemas.microsoft.com/office/drawing/2014/main" id="{F43B9099-E02A-81BD-371F-3F0455C623F8}"/>
              </a:ext>
            </a:extLst>
          </p:cNvPr>
          <p:cNvPicPr>
            <a:picLocks noChangeAspect="1"/>
          </p:cNvPicPr>
          <p:nvPr/>
        </p:nvPicPr>
        <p:blipFill>
          <a:blip r:embed="rId3"/>
          <a:stretch>
            <a:fillRect/>
          </a:stretch>
        </p:blipFill>
        <p:spPr>
          <a:xfrm>
            <a:off x="8650550" y="5141586"/>
            <a:ext cx="1272650" cy="213378"/>
          </a:xfrm>
          <a:prstGeom prst="rect">
            <a:avLst/>
          </a:prstGeom>
        </p:spPr>
      </p:pic>
    </p:spTree>
    <p:extLst>
      <p:ext uri="{BB962C8B-B14F-4D97-AF65-F5344CB8AC3E}">
        <p14:creationId xmlns:p14="http://schemas.microsoft.com/office/powerpoint/2010/main" val="270696021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B348-6F80-0B53-A2F4-628523F2199F}"/>
              </a:ext>
            </a:extLst>
          </p:cNvPr>
          <p:cNvSpPr>
            <a:spLocks noGrp="1"/>
          </p:cNvSpPr>
          <p:nvPr>
            <p:ph type="title"/>
          </p:nvPr>
        </p:nvSpPr>
        <p:spPr>
          <a:xfrm>
            <a:off x="913795" y="0"/>
            <a:ext cx="10353762" cy="581025"/>
          </a:xfrm>
        </p:spPr>
        <p:txBody>
          <a:bodyPr>
            <a:normAutofit fontScale="90000"/>
          </a:bodyPr>
          <a:lstStyle/>
          <a:p>
            <a:r>
              <a:rPr lang="en-US" b="1">
                <a:solidFill>
                  <a:srgbClr val="FFFF00"/>
                </a:solidFill>
              </a:rPr>
              <a:t>SWF</a:t>
            </a:r>
            <a:r>
              <a:rPr lang="en-US" b="1"/>
              <a:t>.</a:t>
            </a:r>
            <a:r>
              <a:rPr lang="en-US" b="1">
                <a:solidFill>
                  <a:srgbClr val="FF0000"/>
                </a:solidFill>
              </a:rPr>
              <a:t>Flow_IScore_Query_Type</a:t>
            </a:r>
          </a:p>
        </p:txBody>
      </p:sp>
      <p:sp>
        <p:nvSpPr>
          <p:cNvPr id="3" name="Content Placeholder 2">
            <a:extLst>
              <a:ext uri="{FF2B5EF4-FFF2-40B4-BE49-F238E27FC236}">
                <a16:creationId xmlns:a16="http://schemas.microsoft.com/office/drawing/2014/main" id="{C406376E-004B-9DEC-2526-13CDB6CDC5EE}"/>
              </a:ext>
            </a:extLst>
          </p:cNvPr>
          <p:cNvSpPr>
            <a:spLocks noGrp="1"/>
          </p:cNvSpPr>
          <p:nvPr>
            <p:ph idx="1"/>
          </p:nvPr>
        </p:nvSpPr>
        <p:spPr>
          <a:xfrm>
            <a:off x="180975" y="581025"/>
            <a:ext cx="11086582" cy="5210175"/>
          </a:xfrm>
        </p:spPr>
        <p:txBody>
          <a:bodyPr/>
          <a:lstStyle/>
          <a:p>
            <a:r>
              <a:rPr lang="en-US"/>
              <a:t>int Code_IQT </a:t>
            </a:r>
          </a:p>
          <a:p>
            <a:r>
              <a:rPr lang="en-US"/>
              <a:t>string DescriptionAr </a:t>
            </a:r>
          </a:p>
          <a:p>
            <a:r>
              <a:rPr lang="en-US"/>
              <a:t>string DescriptionEn</a:t>
            </a:r>
          </a:p>
          <a:p>
            <a:endParaRPr lang="en-US"/>
          </a:p>
          <a:p>
            <a:endParaRPr lang="en-US"/>
          </a:p>
        </p:txBody>
      </p:sp>
      <p:pic>
        <p:nvPicPr>
          <p:cNvPr id="5" name="Picture 4">
            <a:extLst>
              <a:ext uri="{FF2B5EF4-FFF2-40B4-BE49-F238E27FC236}">
                <a16:creationId xmlns:a16="http://schemas.microsoft.com/office/drawing/2014/main" id="{2DBC7D8E-FCE5-20C6-EBDA-A2DF75BBD019}"/>
              </a:ext>
            </a:extLst>
          </p:cNvPr>
          <p:cNvPicPr>
            <a:picLocks noChangeAspect="1"/>
          </p:cNvPicPr>
          <p:nvPr/>
        </p:nvPicPr>
        <p:blipFill>
          <a:blip r:embed="rId2"/>
          <a:stretch>
            <a:fillRect/>
          </a:stretch>
        </p:blipFill>
        <p:spPr>
          <a:xfrm>
            <a:off x="6221850" y="920898"/>
            <a:ext cx="4772116" cy="1527077"/>
          </a:xfrm>
          <a:prstGeom prst="rect">
            <a:avLst/>
          </a:prstGeom>
        </p:spPr>
      </p:pic>
    </p:spTree>
    <p:extLst>
      <p:ext uri="{BB962C8B-B14F-4D97-AF65-F5344CB8AC3E}">
        <p14:creationId xmlns:p14="http://schemas.microsoft.com/office/powerpoint/2010/main" val="84631435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57818-3891-49C0-FEBE-172051DF8D6B}"/>
              </a:ext>
            </a:extLst>
          </p:cNvPr>
          <p:cNvSpPr>
            <a:spLocks noGrp="1"/>
          </p:cNvSpPr>
          <p:nvPr>
            <p:ph type="title"/>
          </p:nvPr>
        </p:nvSpPr>
        <p:spPr>
          <a:xfrm>
            <a:off x="913795" y="0"/>
            <a:ext cx="10353762" cy="571500"/>
          </a:xfrm>
        </p:spPr>
        <p:txBody>
          <a:bodyPr>
            <a:normAutofit fontScale="90000"/>
          </a:bodyPr>
          <a:lstStyle/>
          <a:p>
            <a:r>
              <a:rPr lang="en-US" b="1">
                <a:solidFill>
                  <a:srgbClr val="FFFF00"/>
                </a:solidFill>
              </a:rPr>
              <a:t>TWF</a:t>
            </a:r>
            <a:r>
              <a:rPr lang="en-US" b="1"/>
              <a:t>.</a:t>
            </a:r>
            <a:r>
              <a:rPr lang="en-US" b="1">
                <a:solidFill>
                  <a:srgbClr val="FF0000"/>
                </a:solidFill>
              </a:rPr>
              <a:t>Flow_Iscore_Param_Notifi</a:t>
            </a:r>
          </a:p>
        </p:txBody>
      </p:sp>
      <p:sp>
        <p:nvSpPr>
          <p:cNvPr id="3" name="Content Placeholder 2">
            <a:extLst>
              <a:ext uri="{FF2B5EF4-FFF2-40B4-BE49-F238E27FC236}">
                <a16:creationId xmlns:a16="http://schemas.microsoft.com/office/drawing/2014/main" id="{55A5B44B-1976-DC68-10F0-C17026BDFAB3}"/>
              </a:ext>
            </a:extLst>
          </p:cNvPr>
          <p:cNvSpPr>
            <a:spLocks noGrp="1"/>
          </p:cNvSpPr>
          <p:nvPr>
            <p:ph idx="1"/>
          </p:nvPr>
        </p:nvSpPr>
        <p:spPr>
          <a:xfrm>
            <a:off x="171450" y="571501"/>
            <a:ext cx="11953875" cy="6162674"/>
          </a:xfrm>
        </p:spPr>
        <p:txBody>
          <a:bodyPr/>
          <a:lstStyle/>
          <a:p>
            <a:r>
              <a:rPr lang="en-US"/>
              <a:t>FIPN_Id: PK. Identity</a:t>
            </a:r>
          </a:p>
          <a:p>
            <a:r>
              <a:rPr lang="en-US"/>
              <a:t>string Email { get; set; }</a:t>
            </a:r>
          </a:p>
          <a:p>
            <a:r>
              <a:rPr lang="en-US"/>
              <a:t>DateTime Creation_Date { get; set; }</a:t>
            </a:r>
          </a:p>
          <a:p>
            <a:r>
              <a:rPr lang="en-US"/>
              <a:t>ID: </a:t>
            </a:r>
            <a:r>
              <a:rPr lang="en-US" b="1">
                <a:solidFill>
                  <a:srgbClr val="FFFF00"/>
                </a:solidFill>
              </a:rPr>
              <a:t>FK fom Flow_Iscore_Param</a:t>
            </a:r>
          </a:p>
        </p:txBody>
      </p:sp>
    </p:spTree>
    <p:extLst>
      <p:ext uri="{BB962C8B-B14F-4D97-AF65-F5344CB8AC3E}">
        <p14:creationId xmlns:p14="http://schemas.microsoft.com/office/powerpoint/2010/main" val="293902406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9B3F-FFFF-A81E-4C1F-FA7C3EE4814E}"/>
              </a:ext>
            </a:extLst>
          </p:cNvPr>
          <p:cNvSpPr>
            <a:spLocks noGrp="1"/>
          </p:cNvSpPr>
          <p:nvPr>
            <p:ph type="title"/>
          </p:nvPr>
        </p:nvSpPr>
        <p:spPr>
          <a:xfrm>
            <a:off x="1009045" y="0"/>
            <a:ext cx="10353762" cy="600075"/>
          </a:xfrm>
        </p:spPr>
        <p:txBody>
          <a:bodyPr>
            <a:normAutofit fontScale="90000"/>
          </a:bodyPr>
          <a:lstStyle/>
          <a:p>
            <a:r>
              <a:rPr lang="ar-EG" b="1">
                <a:solidFill>
                  <a:srgbClr val="FF0000"/>
                </a:solidFill>
              </a:rPr>
              <a:t>شاشة اعادة تحميل الأي سكور</a:t>
            </a:r>
            <a:endParaRPr lang="en-US" b="1">
              <a:solidFill>
                <a:srgbClr val="FF0000"/>
              </a:solidFill>
            </a:endParaRPr>
          </a:p>
        </p:txBody>
      </p:sp>
      <p:sp>
        <p:nvSpPr>
          <p:cNvPr id="3" name="Content Placeholder 2">
            <a:extLst>
              <a:ext uri="{FF2B5EF4-FFF2-40B4-BE49-F238E27FC236}">
                <a16:creationId xmlns:a16="http://schemas.microsoft.com/office/drawing/2014/main" id="{5DDD4A7F-4873-B0D3-0607-3AFF364C1820}"/>
              </a:ext>
            </a:extLst>
          </p:cNvPr>
          <p:cNvSpPr>
            <a:spLocks noGrp="1"/>
          </p:cNvSpPr>
          <p:nvPr>
            <p:ph idx="1"/>
          </p:nvPr>
        </p:nvSpPr>
        <p:spPr>
          <a:xfrm>
            <a:off x="180975" y="600075"/>
            <a:ext cx="11849100" cy="6105525"/>
          </a:xfrm>
        </p:spPr>
        <p:txBody>
          <a:bodyPr/>
          <a:lstStyle/>
          <a:p>
            <a:r>
              <a:rPr lang="en-US"/>
              <a:t>At </a:t>
            </a:r>
            <a:r>
              <a:rPr lang="en-US" b="1">
                <a:solidFill>
                  <a:srgbClr val="FFFF00"/>
                </a:solidFill>
              </a:rPr>
              <a:t>ReloadIScoreController</a:t>
            </a:r>
          </a:p>
          <a:p>
            <a:pPr lvl="1"/>
            <a:r>
              <a:rPr lang="en-US" b="1">
                <a:solidFill>
                  <a:srgbClr val="FFC000"/>
                </a:solidFill>
              </a:rPr>
              <a:t>ReloadIScoreAllVM</a:t>
            </a:r>
            <a:r>
              <a:rPr lang="en-US"/>
              <a:t>  GetAll()</a:t>
            </a:r>
          </a:p>
          <a:p>
            <a:pPr lvl="1"/>
            <a:r>
              <a:rPr lang="en-US" b="1"/>
              <a:t>Fetches funding requests with status 11 or 12</a:t>
            </a:r>
          </a:p>
          <a:p>
            <a:pPr lvl="2"/>
            <a:r>
              <a:rPr lang="en-US" b="1"/>
              <a:t>ReloadIScore : records with status 11</a:t>
            </a:r>
          </a:p>
          <a:p>
            <a:pPr lvl="2"/>
            <a:r>
              <a:rPr lang="en-US" b="1"/>
              <a:t>ReloadIScoreDev :  records with status 12</a:t>
            </a:r>
          </a:p>
          <a:p>
            <a:pPr lvl="1"/>
            <a:r>
              <a:rPr lang="en-US"/>
              <a:t>Returns both lists inside </a:t>
            </a:r>
            <a:r>
              <a:rPr lang="en-US" b="1">
                <a:solidFill>
                  <a:srgbClr val="00B0F0"/>
                </a:solidFill>
              </a:rPr>
              <a:t>ReloadIScoreAllVM</a:t>
            </a:r>
            <a:r>
              <a:rPr lang="en-US"/>
              <a:t> </a:t>
            </a:r>
          </a:p>
        </p:txBody>
      </p:sp>
    </p:spTree>
    <p:extLst>
      <p:ext uri="{BB962C8B-B14F-4D97-AF65-F5344CB8AC3E}">
        <p14:creationId xmlns:p14="http://schemas.microsoft.com/office/powerpoint/2010/main" val="373253912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1F0CA-5CFA-54A8-C506-C488768A386F}"/>
              </a:ext>
            </a:extLst>
          </p:cNvPr>
          <p:cNvSpPr>
            <a:spLocks noGrp="1"/>
          </p:cNvSpPr>
          <p:nvPr>
            <p:ph type="title"/>
          </p:nvPr>
        </p:nvSpPr>
        <p:spPr>
          <a:xfrm>
            <a:off x="913795" y="0"/>
            <a:ext cx="10353762" cy="601133"/>
          </a:xfrm>
        </p:spPr>
        <p:txBody>
          <a:bodyPr>
            <a:normAutofit fontScale="90000"/>
          </a:bodyPr>
          <a:lstStyle/>
          <a:p>
            <a:r>
              <a:rPr lang="en-US" sz="3600" b="1">
                <a:solidFill>
                  <a:srgbClr val="FF0000"/>
                </a:solidFill>
              </a:rPr>
              <a:t>When choosing requests and reload them</a:t>
            </a:r>
          </a:p>
        </p:txBody>
      </p:sp>
      <p:sp>
        <p:nvSpPr>
          <p:cNvPr id="3" name="Content Placeholder 2">
            <a:extLst>
              <a:ext uri="{FF2B5EF4-FFF2-40B4-BE49-F238E27FC236}">
                <a16:creationId xmlns:a16="http://schemas.microsoft.com/office/drawing/2014/main" id="{70EA0F8A-7721-6F74-2AF8-1E30A5119FB0}"/>
              </a:ext>
            </a:extLst>
          </p:cNvPr>
          <p:cNvSpPr>
            <a:spLocks noGrp="1"/>
          </p:cNvSpPr>
          <p:nvPr>
            <p:ph idx="1"/>
          </p:nvPr>
        </p:nvSpPr>
        <p:spPr>
          <a:xfrm>
            <a:off x="93133" y="601133"/>
            <a:ext cx="11980334" cy="6129867"/>
          </a:xfrm>
        </p:spPr>
        <p:txBody>
          <a:bodyPr>
            <a:normAutofit/>
          </a:bodyPr>
          <a:lstStyle/>
          <a:p>
            <a:r>
              <a:rPr lang="en-US" sz="1800" b="1">
                <a:solidFill>
                  <a:srgbClr val="FFFF00"/>
                </a:solidFill>
              </a:rPr>
              <a:t>ReloadIScoreController </a:t>
            </a:r>
            <a:r>
              <a:rPr lang="en-US" sz="1800" b="1">
                <a:solidFill>
                  <a:srgbClr val="00B0F0"/>
                </a:solidFill>
              </a:rPr>
              <a:t>BulkReloadIScore</a:t>
            </a:r>
            <a:r>
              <a:rPr lang="en-US" sz="1800" b="1"/>
              <a:t> </a:t>
            </a:r>
            <a:r>
              <a:rPr lang="en-US" sz="1800"/>
              <a:t>([FromBody] List&lt;ReloadIScoreVM&gt; entity)</a:t>
            </a:r>
          </a:p>
          <a:p>
            <a:r>
              <a:rPr lang="en-US" sz="1800"/>
              <a:t>It calls </a:t>
            </a:r>
            <a:r>
              <a:rPr lang="en-US" sz="1800" b="1">
                <a:solidFill>
                  <a:srgbClr val="FFFF00"/>
                </a:solidFill>
              </a:rPr>
              <a:t>BulkReloadIScore</a:t>
            </a:r>
            <a:r>
              <a:rPr lang="en-US" sz="1800"/>
              <a:t> which calls </a:t>
            </a:r>
            <a:r>
              <a:rPr lang="en-US" b="1">
                <a:solidFill>
                  <a:srgbClr val="FFC000"/>
                </a:solidFill>
              </a:rPr>
              <a:t>PostIScore</a:t>
            </a:r>
            <a:r>
              <a:rPr lang="en-US"/>
              <a:t> (List&lt;ReloadIScoreVM&gt; entity)</a:t>
            </a:r>
            <a:endParaRPr lang="en-US" sz="1800"/>
          </a:p>
          <a:p>
            <a:pPr lvl="1"/>
            <a:r>
              <a:rPr lang="en-US" sz="1600" b="1"/>
              <a:t>For each </a:t>
            </a:r>
            <a:r>
              <a:rPr lang="en-US" sz="1600"/>
              <a:t>ReloadIScoreVM </a:t>
            </a:r>
            <a:r>
              <a:rPr lang="en-US" sz="1600" b="1">
                <a:solidFill>
                  <a:srgbClr val="FFFF00"/>
                </a:solidFill>
              </a:rPr>
              <a:t>item</a:t>
            </a:r>
          </a:p>
          <a:p>
            <a:pPr lvl="2"/>
            <a:r>
              <a:rPr lang="en-US" b="1"/>
              <a:t>Get all Flow_Transfer_Iscore Where(x =&gt; x.Request_Id == item.RequestId)</a:t>
            </a:r>
          </a:p>
          <a:p>
            <a:pPr lvl="2"/>
            <a:r>
              <a:rPr lang="en-US" b="1"/>
              <a:t>For each Flow_Transfer_Iscore row</a:t>
            </a:r>
          </a:p>
          <a:p>
            <a:pPr lvl="3"/>
            <a:r>
              <a:rPr lang="en-US" b="1"/>
              <a:t>Get the Request =  Flow_Funding_request. FirstOrDefault(x =&gt; x.Request_id == item.RequestId);</a:t>
            </a:r>
          </a:p>
          <a:p>
            <a:pPr lvl="3"/>
            <a:r>
              <a:rPr lang="en-US" b="1">
                <a:solidFill>
                  <a:srgbClr val="FFC000"/>
                </a:solidFill>
              </a:rPr>
              <a:t>IscoreFlag</a:t>
            </a:r>
            <a:r>
              <a:rPr lang="en-US"/>
              <a:t>  =</a:t>
            </a:r>
            <a:r>
              <a:rPr lang="en-US" b="1"/>
              <a:t> callTransferIscore ( Flow_Transfer_Iscore  row,   </a:t>
            </a:r>
            <a:r>
              <a:rPr lang="en-US" b="1">
                <a:solidFill>
                  <a:srgbClr val="FFFF00"/>
                </a:solidFill>
              </a:rPr>
              <a:t>item.Loan_Code</a:t>
            </a:r>
            <a:r>
              <a:rPr lang="en-US" b="1"/>
              <a:t> ,  </a:t>
            </a:r>
            <a:r>
              <a:rPr lang="en-US" b="1">
                <a:solidFill>
                  <a:srgbClr val="FFFF00"/>
                </a:solidFill>
              </a:rPr>
              <a:t>request.Creation_Data</a:t>
            </a:r>
            <a:r>
              <a:rPr lang="en-US" b="1"/>
              <a:t> )</a:t>
            </a:r>
          </a:p>
          <a:p>
            <a:pPr lvl="3"/>
            <a:r>
              <a:rPr lang="en-US" sz="1500" b="1"/>
              <a:t>if (Request.status_code == Status_code_11_FialedIScore &amp;&amp; (IscoreFlag == 93 || IscoreFlag == -1 || IscoreFlag == 0))</a:t>
            </a:r>
          </a:p>
          <a:p>
            <a:pPr lvl="4"/>
            <a:r>
              <a:rPr lang="en-US"/>
              <a:t>UpdateRequest(Request, Status_code_12_FailedReloadIScore);</a:t>
            </a:r>
          </a:p>
          <a:p>
            <a:pPr lvl="4"/>
            <a:r>
              <a:rPr lang="en-US"/>
              <a:t>if (IscoreFlag == 93)  IscoreFlagG = 93;</a:t>
            </a:r>
          </a:p>
          <a:p>
            <a:pPr lvl="3"/>
            <a:r>
              <a:rPr lang="en-US" b="1"/>
              <a:t>Else </a:t>
            </a:r>
            <a:r>
              <a:rPr lang="en-US"/>
              <a:t>if (Request.status_code == 0 &amp;&amp; (IscoreFlag == 0))</a:t>
            </a:r>
          </a:p>
          <a:p>
            <a:pPr lvl="4"/>
            <a:r>
              <a:rPr lang="en-US"/>
              <a:t>UpdateRequest(Request, Status_code_0_);</a:t>
            </a:r>
          </a:p>
          <a:p>
            <a:pPr lvl="3"/>
            <a:r>
              <a:rPr lang="en-US" b="1"/>
              <a:t>else if (IscoreFlag == -2) </a:t>
            </a:r>
            <a:r>
              <a:rPr lang="en-US"/>
              <a:t>IscoreFlagG = -2;</a:t>
            </a:r>
            <a:endParaRPr lang="en-US" b="1"/>
          </a:p>
          <a:p>
            <a:pPr lvl="1"/>
            <a:r>
              <a:rPr lang="en-US"/>
              <a:t>Return IscoreFlagG</a:t>
            </a:r>
            <a:endParaRPr lang="en-US" sz="1600" b="1"/>
          </a:p>
          <a:p>
            <a:pPr lvl="1"/>
            <a:endParaRPr lang="en-US" sz="1600" b="1"/>
          </a:p>
          <a:p>
            <a:endParaRPr lang="en-US" sz="1800" b="1"/>
          </a:p>
        </p:txBody>
      </p:sp>
    </p:spTree>
    <p:extLst>
      <p:ext uri="{BB962C8B-B14F-4D97-AF65-F5344CB8AC3E}">
        <p14:creationId xmlns:p14="http://schemas.microsoft.com/office/powerpoint/2010/main" val="338038536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82FD7-138E-88B5-BF2B-CA6232509386}"/>
              </a:ext>
            </a:extLst>
          </p:cNvPr>
          <p:cNvSpPr>
            <a:spLocks noGrp="1"/>
          </p:cNvSpPr>
          <p:nvPr>
            <p:ph type="title"/>
          </p:nvPr>
        </p:nvSpPr>
        <p:spPr>
          <a:xfrm>
            <a:off x="220132" y="0"/>
            <a:ext cx="11641667" cy="635000"/>
          </a:xfrm>
        </p:spPr>
        <p:txBody>
          <a:bodyPr>
            <a:noAutofit/>
          </a:bodyPr>
          <a:lstStyle/>
          <a:p>
            <a:r>
              <a:rPr lang="en-US" sz="2800" b="1">
                <a:solidFill>
                  <a:srgbClr val="FFFF00"/>
                </a:solidFill>
              </a:rPr>
              <a:t>String IscoreEnquery (Flow_Transfer_Iscore, Request.CreationDate)</a:t>
            </a:r>
          </a:p>
        </p:txBody>
      </p:sp>
      <p:sp>
        <p:nvSpPr>
          <p:cNvPr id="3" name="Content Placeholder 2">
            <a:extLst>
              <a:ext uri="{FF2B5EF4-FFF2-40B4-BE49-F238E27FC236}">
                <a16:creationId xmlns:a16="http://schemas.microsoft.com/office/drawing/2014/main" id="{0497F1D1-5034-28B5-0EB6-BFF90EAE19C5}"/>
              </a:ext>
            </a:extLst>
          </p:cNvPr>
          <p:cNvSpPr>
            <a:spLocks noGrp="1"/>
          </p:cNvSpPr>
          <p:nvPr>
            <p:ph idx="1"/>
          </p:nvPr>
        </p:nvSpPr>
        <p:spPr>
          <a:xfrm>
            <a:off x="0" y="635000"/>
            <a:ext cx="12191999" cy="6223000"/>
          </a:xfrm>
        </p:spPr>
        <p:txBody>
          <a:bodyPr>
            <a:normAutofit lnSpcReduction="10000"/>
          </a:bodyPr>
          <a:lstStyle/>
          <a:p>
            <a:r>
              <a:rPr lang="en-US" sz="1600" b="1">
                <a:solidFill>
                  <a:srgbClr val="FFFF00"/>
                </a:solidFill>
              </a:rPr>
              <a:t>path</a:t>
            </a:r>
            <a:r>
              <a:rPr lang="en-US" sz="1600"/>
              <a:t> = ConfigurationManager.AppSettings["UploadXMLLogs"]; 	  //  </a:t>
            </a:r>
            <a:r>
              <a:rPr lang="en-US" sz="1400" b="1"/>
              <a:t>D:\Master\IscoreManual\Files\IScore_Log\Json_Log\</a:t>
            </a:r>
          </a:p>
          <a:p>
            <a:r>
              <a:rPr lang="en-US" sz="1400" b="1">
                <a:solidFill>
                  <a:srgbClr val="FFFF00"/>
                </a:solidFill>
              </a:rPr>
              <a:t>xmlFleIscore</a:t>
            </a:r>
            <a:r>
              <a:rPr lang="en-US" sz="1400" b="1"/>
              <a:t> = ConfigurationManager.AppSettings["UploadXMLFileIscore"]</a:t>
            </a:r>
            <a:r>
              <a:rPr lang="en-US" sz="1400"/>
              <a:t>   // </a:t>
            </a:r>
            <a:r>
              <a:rPr lang="en-US" sz="1400" b="1"/>
              <a:t>D:\Master\IscoreManual\Files\IScore_Log\Xml_Log\</a:t>
            </a:r>
          </a:p>
          <a:p>
            <a:r>
              <a:rPr lang="en-US" sz="1600"/>
              <a:t>_log_Iscore_TestService.Add_LogIscorTest("B", </a:t>
            </a:r>
            <a:r>
              <a:rPr lang="en-US" sz="1600" b="1">
                <a:solidFill>
                  <a:srgbClr val="FFFF00"/>
                </a:solidFill>
              </a:rPr>
              <a:t>Flow_Transfer_Iscore</a:t>
            </a:r>
            <a:r>
              <a:rPr lang="en-US" sz="1600"/>
              <a:t>.IDNO, 0, </a:t>
            </a:r>
            <a:r>
              <a:rPr lang="en-US" sz="1600" b="1">
                <a:solidFill>
                  <a:srgbClr val="FFFF00"/>
                </a:solidFill>
              </a:rPr>
              <a:t>Flow_Transfer_Iscore</a:t>
            </a:r>
            <a:r>
              <a:rPr lang="en-US" sz="1600"/>
              <a:t>.Request_Id);</a:t>
            </a:r>
          </a:p>
          <a:p>
            <a:r>
              <a:rPr lang="en-US" sz="1600"/>
              <a:t> IscoreParam = _Iscore_Param.Queryable().FirstOrDefault(x =&gt; x.Code_IQT == 1); // </a:t>
            </a:r>
          </a:p>
          <a:p>
            <a:r>
              <a:rPr lang="en-US" sz="1500" b="1">
                <a:solidFill>
                  <a:srgbClr val="FFFF00"/>
                </a:solidFill>
              </a:rPr>
              <a:t>PRODUCT_ID</a:t>
            </a:r>
            <a:r>
              <a:rPr lang="en-US" sz="1500"/>
              <a:t> = ConfigurationManager.AppSettings["PRODUCT_ID"];</a:t>
            </a:r>
            <a:r>
              <a:rPr lang="en-US" sz="1500" b="1"/>
              <a:t> // </a:t>
            </a:r>
            <a:r>
              <a:rPr lang="en-US" sz="1500"/>
              <a:t>140033</a:t>
            </a:r>
          </a:p>
          <a:p>
            <a:r>
              <a:rPr lang="en-US" sz="1500" b="1"/>
              <a:t>APPLICATION_DATE</a:t>
            </a:r>
            <a:r>
              <a:rPr lang="en-US" sz="1500"/>
              <a:t> = Request.CreationDate // used in xmlMessage</a:t>
            </a:r>
            <a:endParaRPr lang="en-US" sz="1500" b="1"/>
          </a:p>
          <a:p>
            <a:r>
              <a:rPr lang="en-US" sz="1600"/>
              <a:t>xmlMessage = ……  // </a:t>
            </a:r>
          </a:p>
          <a:p>
            <a:r>
              <a:rPr lang="en-US" sz="1600"/>
              <a:t>url = ConfigurationManager.AppSettings["IscoreURL"]    // </a:t>
            </a:r>
            <a:r>
              <a:rPr lang="en-US" sz="1400" b="1"/>
              <a:t>https://uat.i-score.com.eg/SbxLiveRequest/api/LiveRequest/</a:t>
            </a:r>
            <a:endParaRPr lang="en-US" sz="1600" b="1"/>
          </a:p>
          <a:p>
            <a:r>
              <a:rPr lang="en-US" sz="1600" b="1">
                <a:solidFill>
                  <a:srgbClr val="FFFF00"/>
                </a:solidFill>
              </a:rPr>
              <a:t>IscoreApiKey</a:t>
            </a:r>
            <a:r>
              <a:rPr lang="en-US" sz="1600" b="1"/>
              <a:t> = ConfigurationManager.AppSettings["APIKey"]</a:t>
            </a:r>
            <a:r>
              <a:rPr lang="en-US" sz="1600"/>
              <a:t>   </a:t>
            </a:r>
            <a:r>
              <a:rPr lang="en-US" sz="1400" b="1"/>
              <a:t>// </a:t>
            </a:r>
            <a:r>
              <a:rPr lang="en-US" sz="1500" b="1"/>
              <a:t>sxpUhKRCJc6t06h0GMznol1SSfJELnjffKgFJtMy_1</a:t>
            </a:r>
          </a:p>
          <a:p>
            <a:r>
              <a:rPr lang="en-US" sz="1600"/>
              <a:t>HttpClient client = new HttpClient(); </a:t>
            </a:r>
            <a:r>
              <a:rPr lang="en-US" sz="1200"/>
              <a:t>C</a:t>
            </a:r>
            <a:r>
              <a:rPr lang="en-US" sz="1600"/>
              <a:t>lient.DefaultRequestHeaders.Add("</a:t>
            </a:r>
            <a:r>
              <a:rPr lang="en-US" sz="1600" b="1"/>
              <a:t>api_key</a:t>
            </a:r>
            <a:r>
              <a:rPr lang="en-US" sz="1600"/>
              <a:t>", </a:t>
            </a:r>
            <a:r>
              <a:rPr lang="en-US" sz="1600" b="1"/>
              <a:t>IscoreApiKey</a:t>
            </a:r>
            <a:r>
              <a:rPr lang="en-US" sz="1600"/>
              <a:t> );</a:t>
            </a:r>
          </a:p>
          <a:p>
            <a:r>
              <a:rPr lang="en-US" sz="1600"/>
              <a:t>responseMessage = client.SendAsync(request).Result;</a:t>
            </a:r>
          </a:p>
          <a:p>
            <a:r>
              <a:rPr lang="en-US" sz="1600"/>
              <a:t>vResult = responseMessage.Content.ReadAsStringAsync().Result; // look at the next page to see the Iscore Result</a:t>
            </a:r>
          </a:p>
          <a:p>
            <a:r>
              <a:rPr lang="en-US" sz="1600"/>
              <a:t>_log_Iscore_TestService.Add_LogIscorTest("A", </a:t>
            </a:r>
            <a:r>
              <a:rPr lang="en-US" sz="1600" b="1">
                <a:solidFill>
                  <a:srgbClr val="FFFF00"/>
                </a:solidFill>
              </a:rPr>
              <a:t>Flow_Transfer_Iscore</a:t>
            </a:r>
            <a:r>
              <a:rPr lang="en-US" sz="1600"/>
              <a:t>.IDNO, 1, </a:t>
            </a:r>
            <a:r>
              <a:rPr lang="en-US" sz="1600" b="1">
                <a:solidFill>
                  <a:srgbClr val="FFFF00"/>
                </a:solidFill>
              </a:rPr>
              <a:t>Flow_Transfer_Iscore</a:t>
            </a:r>
            <a:r>
              <a:rPr lang="en-US" sz="1600"/>
              <a:t>.Request_Id);</a:t>
            </a:r>
            <a:endParaRPr lang="en-US" sz="1050"/>
          </a:p>
          <a:p>
            <a:r>
              <a:rPr lang="en-US" sz="1600"/>
              <a:t>path = </a:t>
            </a:r>
            <a:r>
              <a:rPr lang="en-US" sz="1400"/>
              <a:t>path + Data.IDNO + "_JSON_" + DateTime.Parse(DateTime.Now.ToString()).ToString("dd_MM_yyyy", CultureInfo.InvariantCulture) +".text";</a:t>
            </a:r>
          </a:p>
          <a:p>
            <a:pPr lvl="1"/>
            <a:r>
              <a:rPr lang="en-US" sz="1200" b="1"/>
              <a:t>Path = D:\\Master\\IscoreManual\\Files\\IScore_Log\\Json_Log\\29811252100222_JSON_14_04_2026.text</a:t>
            </a:r>
          </a:p>
          <a:p>
            <a:r>
              <a:rPr lang="en-US" sz="1600"/>
              <a:t>File.WriteAllText(path, vResult); // </a:t>
            </a:r>
            <a:r>
              <a:rPr lang="en-US" sz="1600" b="1">
                <a:solidFill>
                  <a:srgbClr val="FFFF00"/>
                </a:solidFill>
              </a:rPr>
              <a:t>save the vResult as text</a:t>
            </a:r>
          </a:p>
          <a:p>
            <a:r>
              <a:rPr lang="en-US" sz="1600"/>
              <a:t>Step to save the result as XML too </a:t>
            </a:r>
          </a:p>
          <a:p>
            <a:r>
              <a:rPr lang="en-US" sz="1600"/>
              <a:t>Return the </a:t>
            </a:r>
            <a:r>
              <a:rPr lang="en-US" sz="1600" b="1">
                <a:solidFill>
                  <a:srgbClr val="FFFF00"/>
                </a:solidFill>
              </a:rPr>
              <a:t>vResult</a:t>
            </a:r>
          </a:p>
        </p:txBody>
      </p:sp>
      <p:pic>
        <p:nvPicPr>
          <p:cNvPr id="5" name="Picture 4">
            <a:extLst>
              <a:ext uri="{FF2B5EF4-FFF2-40B4-BE49-F238E27FC236}">
                <a16:creationId xmlns:a16="http://schemas.microsoft.com/office/drawing/2014/main" id="{C0FDEBC3-D0F7-6317-C35C-CFBCECCCC8C4}"/>
              </a:ext>
            </a:extLst>
          </p:cNvPr>
          <p:cNvPicPr>
            <a:picLocks noChangeAspect="1"/>
          </p:cNvPicPr>
          <p:nvPr/>
        </p:nvPicPr>
        <p:blipFill>
          <a:blip r:embed="rId2"/>
          <a:stretch>
            <a:fillRect/>
          </a:stretch>
        </p:blipFill>
        <p:spPr>
          <a:xfrm>
            <a:off x="8225237" y="1711099"/>
            <a:ext cx="2349629" cy="320068"/>
          </a:xfrm>
          <a:prstGeom prst="rect">
            <a:avLst/>
          </a:prstGeom>
        </p:spPr>
      </p:pic>
    </p:spTree>
    <p:extLst>
      <p:ext uri="{BB962C8B-B14F-4D97-AF65-F5344CB8AC3E}">
        <p14:creationId xmlns:p14="http://schemas.microsoft.com/office/powerpoint/2010/main" val="342981387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CB840F-8E41-4CA5-B79B-25CC80AD2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451B5B-E9EB-D61B-397E-1021214ADA5B}"/>
              </a:ext>
            </a:extLst>
          </p:cNvPr>
          <p:cNvSpPr>
            <a:spLocks noGrp="1"/>
          </p:cNvSpPr>
          <p:nvPr>
            <p:ph type="title"/>
          </p:nvPr>
        </p:nvSpPr>
        <p:spPr>
          <a:xfrm>
            <a:off x="499533" y="609600"/>
            <a:ext cx="4622800" cy="970450"/>
          </a:xfrm>
        </p:spPr>
        <p:txBody>
          <a:bodyPr anchor="b">
            <a:normAutofit/>
          </a:bodyPr>
          <a:lstStyle/>
          <a:p>
            <a:r>
              <a:rPr lang="en-US" sz="3200">
                <a:ln>
                  <a:solidFill>
                    <a:srgbClr val="404040">
                      <a:alpha val="10000"/>
                    </a:srgbClr>
                  </a:solidFill>
                </a:ln>
                <a:solidFill>
                  <a:srgbClr val="FFFF00"/>
                </a:solidFill>
              </a:rPr>
              <a:t>IsCore Enquiry Result</a:t>
            </a:r>
          </a:p>
        </p:txBody>
      </p:sp>
      <p:sp>
        <p:nvSpPr>
          <p:cNvPr id="3" name="Content Placeholder 2">
            <a:extLst>
              <a:ext uri="{FF2B5EF4-FFF2-40B4-BE49-F238E27FC236}">
                <a16:creationId xmlns:a16="http://schemas.microsoft.com/office/drawing/2014/main" id="{4E8DF96D-90C5-2450-6265-22DD10BE481C}"/>
              </a:ext>
            </a:extLst>
          </p:cNvPr>
          <p:cNvSpPr>
            <a:spLocks noGrp="1"/>
          </p:cNvSpPr>
          <p:nvPr>
            <p:ph idx="1"/>
          </p:nvPr>
        </p:nvSpPr>
        <p:spPr>
          <a:xfrm>
            <a:off x="118533" y="1732449"/>
            <a:ext cx="4936067" cy="4482084"/>
          </a:xfrm>
        </p:spPr>
        <p:txBody>
          <a:bodyPr anchor="t">
            <a:normAutofit/>
          </a:bodyPr>
          <a:lstStyle/>
          <a:p>
            <a:r>
              <a:rPr lang="en-US" sz="1600">
                <a:ln>
                  <a:solidFill>
                    <a:srgbClr val="404040">
                      <a:alpha val="10000"/>
                    </a:srgbClr>
                  </a:solidFill>
                </a:ln>
                <a:solidFill>
                  <a:srgbClr val="DADADA"/>
                </a:solidFill>
              </a:rPr>
              <a:t>This is the vResult in the IscoreEnquery</a:t>
            </a:r>
          </a:p>
          <a:p>
            <a:endParaRPr lang="en-US" sz="1600">
              <a:ln>
                <a:solidFill>
                  <a:srgbClr val="404040">
                    <a:alpha val="10000"/>
                  </a:srgbClr>
                </a:solidFill>
              </a:ln>
              <a:solidFill>
                <a:srgbClr val="DADADA"/>
              </a:solidFill>
            </a:endParaRPr>
          </a:p>
          <a:p>
            <a:r>
              <a:rPr lang="en-US" sz="1600" b="1">
                <a:ln>
                  <a:solidFill>
                    <a:srgbClr val="404040">
                      <a:alpha val="10000"/>
                    </a:srgbClr>
                  </a:solidFill>
                </a:ln>
                <a:solidFill>
                  <a:srgbClr val="DADADA"/>
                </a:solidFill>
              </a:rPr>
              <a:t>IsNoHit = true</a:t>
            </a:r>
            <a:r>
              <a:rPr lang="en-US" sz="1600">
                <a:ln>
                  <a:solidFill>
                    <a:srgbClr val="404040">
                      <a:alpha val="10000"/>
                    </a:srgbClr>
                  </a:solidFill>
                </a:ln>
                <a:solidFill>
                  <a:srgbClr val="DADADA"/>
                </a:solidFill>
              </a:rPr>
              <a:t> : user  </a:t>
            </a:r>
            <a:r>
              <a:rPr lang="en-US" sz="1600" b="1">
                <a:ln>
                  <a:solidFill>
                    <a:srgbClr val="404040">
                      <a:alpha val="10000"/>
                    </a:srgbClr>
                  </a:solidFill>
                </a:ln>
                <a:solidFill>
                  <a:srgbClr val="DADADA"/>
                </a:solidFill>
              </a:rPr>
              <a:t>not found in iscore</a:t>
            </a:r>
          </a:p>
        </p:txBody>
      </p:sp>
      <p:pic>
        <p:nvPicPr>
          <p:cNvPr id="7" name="Picture 6">
            <a:extLst>
              <a:ext uri="{FF2B5EF4-FFF2-40B4-BE49-F238E27FC236}">
                <a16:creationId xmlns:a16="http://schemas.microsoft.com/office/drawing/2014/main" id="{05563235-720E-B1DB-44E1-498871B886E5}"/>
              </a:ext>
            </a:extLst>
          </p:cNvPr>
          <p:cNvPicPr>
            <a:picLocks noChangeAspect="1"/>
          </p:cNvPicPr>
          <p:nvPr/>
        </p:nvPicPr>
        <p:blipFill>
          <a:blip r:embed="rId2"/>
          <a:stretch>
            <a:fillRect/>
          </a:stretch>
        </p:blipFill>
        <p:spPr>
          <a:xfrm>
            <a:off x="7865534" y="224513"/>
            <a:ext cx="4326466" cy="6633487"/>
          </a:xfrm>
          <a:prstGeom prst="rect">
            <a:avLst/>
          </a:prstGeom>
        </p:spPr>
      </p:pic>
      <p:pic>
        <p:nvPicPr>
          <p:cNvPr id="12" name="Picture 11">
            <a:extLst>
              <a:ext uri="{FF2B5EF4-FFF2-40B4-BE49-F238E27FC236}">
                <a16:creationId xmlns:a16="http://schemas.microsoft.com/office/drawing/2014/main" id="{23B35A93-0152-D352-DE24-A3B439AD523A}"/>
              </a:ext>
            </a:extLst>
          </p:cNvPr>
          <p:cNvPicPr>
            <a:picLocks noChangeAspect="1"/>
          </p:cNvPicPr>
          <p:nvPr/>
        </p:nvPicPr>
        <p:blipFill>
          <a:blip r:embed="rId3"/>
          <a:stretch>
            <a:fillRect/>
          </a:stretch>
        </p:blipFill>
        <p:spPr>
          <a:xfrm>
            <a:off x="4910551" y="249278"/>
            <a:ext cx="2887250" cy="6583956"/>
          </a:xfrm>
          <a:prstGeom prst="rect">
            <a:avLst/>
          </a:prstGeom>
        </p:spPr>
      </p:pic>
    </p:spTree>
    <p:extLst>
      <p:ext uri="{BB962C8B-B14F-4D97-AF65-F5344CB8AC3E}">
        <p14:creationId xmlns:p14="http://schemas.microsoft.com/office/powerpoint/2010/main" val="3587433874"/>
      </p:ext>
    </p:extLst>
  </p:cSld>
  <p:clrMapOvr>
    <a:overrideClrMapping bg1="lt1" tx1="dk1" bg2="lt2" tx2="dk2" accent1="accent1" accent2="accent2" accent3="accent3" accent4="accent4" accent5="accent5" accent6="accent6" hlink="hlink" folHlink="folHlink"/>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54850-CBFA-A282-01AC-336D99D07AD8}"/>
              </a:ext>
            </a:extLst>
          </p:cNvPr>
          <p:cNvSpPr>
            <a:spLocks noGrp="1"/>
          </p:cNvSpPr>
          <p:nvPr>
            <p:ph type="title"/>
          </p:nvPr>
        </p:nvSpPr>
        <p:spPr>
          <a:xfrm>
            <a:off x="913795" y="0"/>
            <a:ext cx="10353762" cy="524933"/>
          </a:xfrm>
        </p:spPr>
        <p:txBody>
          <a:bodyPr>
            <a:normAutofit fontScale="90000"/>
          </a:bodyPr>
          <a:lstStyle/>
          <a:p>
            <a:r>
              <a:rPr lang="en-US" b="1"/>
              <a:t>What </a:t>
            </a:r>
            <a:r>
              <a:rPr lang="en-US" b="1">
                <a:solidFill>
                  <a:srgbClr val="FF0000"/>
                </a:solidFill>
              </a:rPr>
              <a:t>IscoreDataFound</a:t>
            </a:r>
            <a:r>
              <a:rPr lang="en-US" b="1"/>
              <a:t> method do</a:t>
            </a:r>
            <a:endParaRPr lang="en-US"/>
          </a:p>
        </p:txBody>
      </p:sp>
      <p:sp>
        <p:nvSpPr>
          <p:cNvPr id="3" name="Content Placeholder 2">
            <a:extLst>
              <a:ext uri="{FF2B5EF4-FFF2-40B4-BE49-F238E27FC236}">
                <a16:creationId xmlns:a16="http://schemas.microsoft.com/office/drawing/2014/main" id="{058981ED-1A75-7810-4073-BA16418F8279}"/>
              </a:ext>
            </a:extLst>
          </p:cNvPr>
          <p:cNvSpPr>
            <a:spLocks noGrp="1"/>
          </p:cNvSpPr>
          <p:nvPr>
            <p:ph idx="1"/>
          </p:nvPr>
        </p:nvSpPr>
        <p:spPr>
          <a:xfrm>
            <a:off x="262467" y="524933"/>
            <a:ext cx="11005090" cy="5621867"/>
          </a:xfrm>
        </p:spPr>
        <p:txBody>
          <a:bodyPr/>
          <a:lstStyle/>
          <a:p>
            <a:r>
              <a:rPr lang="en-US" b="1">
                <a:solidFill>
                  <a:srgbClr val="FF0000"/>
                </a:solidFill>
              </a:rPr>
              <a:t>Flow_ISCORE_Data</a:t>
            </a:r>
            <a:r>
              <a:rPr lang="en-US"/>
              <a:t> </a:t>
            </a:r>
            <a:r>
              <a:rPr lang="en-US" b="1"/>
              <a:t>IscoreDataFound</a:t>
            </a:r>
            <a:r>
              <a:rPr lang="en-US"/>
              <a:t>(string IDNO)</a:t>
            </a:r>
          </a:p>
          <a:p>
            <a:r>
              <a:rPr lang="en-US"/>
              <a:t>Return the result of the last inquiry of the person</a:t>
            </a:r>
          </a:p>
          <a:p>
            <a:r>
              <a:rPr lang="en-US" sz="1800"/>
              <a:t>Where(x =&gt; x.Cust_IDNO == IDNO).OrderByDescending(x =&gt; x.</a:t>
            </a:r>
            <a:r>
              <a:rPr lang="en-US" sz="1800" b="1">
                <a:solidFill>
                  <a:srgbClr val="FF0000"/>
                </a:solidFill>
              </a:rPr>
              <a:t>Inquiry_Date</a:t>
            </a:r>
            <a:r>
              <a:rPr lang="en-US" sz="1800"/>
              <a:t>).FirstOrDefault()</a:t>
            </a:r>
          </a:p>
        </p:txBody>
      </p:sp>
    </p:spTree>
    <p:extLst>
      <p:ext uri="{BB962C8B-B14F-4D97-AF65-F5344CB8AC3E}">
        <p14:creationId xmlns:p14="http://schemas.microsoft.com/office/powerpoint/2010/main" val="97371481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BBF6-695A-7005-97D4-8081DE708681}"/>
              </a:ext>
            </a:extLst>
          </p:cNvPr>
          <p:cNvSpPr>
            <a:spLocks noGrp="1"/>
          </p:cNvSpPr>
          <p:nvPr>
            <p:ph type="title"/>
          </p:nvPr>
        </p:nvSpPr>
        <p:spPr>
          <a:xfrm>
            <a:off x="67733" y="0"/>
            <a:ext cx="12124266" cy="651933"/>
          </a:xfrm>
        </p:spPr>
        <p:txBody>
          <a:bodyPr>
            <a:noAutofit/>
          </a:bodyPr>
          <a:lstStyle/>
          <a:p>
            <a:r>
              <a:rPr lang="en-US" sz="2400" b="1"/>
              <a:t>What </a:t>
            </a:r>
            <a:r>
              <a:rPr lang="en-US" sz="2400" b="1">
                <a:solidFill>
                  <a:srgbClr val="FF0000"/>
                </a:solidFill>
              </a:rPr>
              <a:t>callTransferIscore( </a:t>
            </a:r>
            <a:r>
              <a:rPr lang="en-US" sz="1600" b="1"/>
              <a:t>Flow_Transfer_Iscore  row,   </a:t>
            </a:r>
            <a:r>
              <a:rPr lang="en-US" sz="1600" b="1">
                <a:solidFill>
                  <a:srgbClr val="FFFF00"/>
                </a:solidFill>
              </a:rPr>
              <a:t>item.Loan_Code</a:t>
            </a:r>
            <a:r>
              <a:rPr lang="en-US" sz="1600" b="1"/>
              <a:t> ,  </a:t>
            </a:r>
            <a:r>
              <a:rPr lang="en-US" sz="1600" b="1">
                <a:solidFill>
                  <a:srgbClr val="FFFF00"/>
                </a:solidFill>
              </a:rPr>
              <a:t>request.Creation_Data ) </a:t>
            </a:r>
            <a:r>
              <a:rPr lang="en-US" sz="2400" b="1"/>
              <a:t>method do</a:t>
            </a:r>
          </a:p>
        </p:txBody>
      </p:sp>
      <p:sp>
        <p:nvSpPr>
          <p:cNvPr id="3" name="Content Placeholder 2">
            <a:extLst>
              <a:ext uri="{FF2B5EF4-FFF2-40B4-BE49-F238E27FC236}">
                <a16:creationId xmlns:a16="http://schemas.microsoft.com/office/drawing/2014/main" id="{28F9EF09-560E-7F76-4EA5-F34E1FD924FB}"/>
              </a:ext>
            </a:extLst>
          </p:cNvPr>
          <p:cNvSpPr>
            <a:spLocks noGrp="1"/>
          </p:cNvSpPr>
          <p:nvPr>
            <p:ph idx="1"/>
          </p:nvPr>
        </p:nvSpPr>
        <p:spPr>
          <a:xfrm>
            <a:off x="127000" y="651932"/>
            <a:ext cx="12064999" cy="6206067"/>
          </a:xfrm>
        </p:spPr>
        <p:txBody>
          <a:bodyPr>
            <a:normAutofit/>
          </a:bodyPr>
          <a:lstStyle/>
          <a:p>
            <a:r>
              <a:rPr lang="en-US" sz="1400" b="1"/>
              <a:t>ISCORE_DATA  =</a:t>
            </a:r>
            <a:r>
              <a:rPr lang="en-US" sz="1400" b="1">
                <a:solidFill>
                  <a:srgbClr val="FFFF00"/>
                </a:solidFill>
              </a:rPr>
              <a:t>_ISCORE_DataService</a:t>
            </a:r>
            <a:r>
              <a:rPr lang="en-US" sz="1400" b="1"/>
              <a:t>.</a:t>
            </a:r>
            <a:r>
              <a:rPr lang="en-US" sz="1400" b="1">
                <a:solidFill>
                  <a:srgbClr val="FF0000"/>
                </a:solidFill>
              </a:rPr>
              <a:t>IscoreDataFound</a:t>
            </a:r>
            <a:r>
              <a:rPr lang="en-US" sz="1400" b="1"/>
              <a:t>(Data.IDNO) – </a:t>
            </a:r>
            <a:r>
              <a:rPr lang="ar-EG" sz="1400" b="1">
                <a:solidFill>
                  <a:srgbClr val="FF0000"/>
                </a:solidFill>
              </a:rPr>
              <a:t>بيرجع اخر استعلام عن العميل </a:t>
            </a:r>
            <a:endParaRPr lang="en-US" sz="1400" b="1">
              <a:solidFill>
                <a:srgbClr val="FF0000"/>
              </a:solidFill>
            </a:endParaRPr>
          </a:p>
          <a:p>
            <a:r>
              <a:rPr lang="en-US" sz="1400" b="1"/>
              <a:t>Branch = _BranchService.GetCurrentBranch(Data.BranchId);</a:t>
            </a:r>
          </a:p>
          <a:p>
            <a:r>
              <a:rPr lang="en-US" sz="1400" b="1"/>
              <a:t>BusDate = _BusDateService.GetBusDateBrach(Branch.BranchId); // get branch bus date</a:t>
            </a:r>
          </a:p>
          <a:p>
            <a:r>
              <a:rPr lang="en-US" sz="1600" b="1"/>
              <a:t>IscoreParamVaid = _ISCOREService.GetIscore( loan_Code, Branch.RegionId ); // get Flow_Iscore</a:t>
            </a:r>
            <a:endParaRPr lang="ar-EG" sz="1600" b="1"/>
          </a:p>
          <a:p>
            <a:r>
              <a:rPr lang="en-US" sz="1600"/>
              <a:t>var IscoreParamVaid = _</a:t>
            </a:r>
            <a:r>
              <a:rPr lang="en-US" sz="1600" b="1">
                <a:solidFill>
                  <a:srgbClr val="FFFF00"/>
                </a:solidFill>
              </a:rPr>
              <a:t>ISCOREService</a:t>
            </a:r>
            <a:r>
              <a:rPr lang="en-US" sz="1600"/>
              <a:t>.</a:t>
            </a:r>
            <a:r>
              <a:rPr lang="en-US" sz="1600" b="1">
                <a:solidFill>
                  <a:srgbClr val="FF0000"/>
                </a:solidFill>
              </a:rPr>
              <a:t>GetIscore</a:t>
            </a:r>
            <a:r>
              <a:rPr lang="en-US" sz="1600"/>
              <a:t>(loan_Code, Branch.RegionId); -- </a:t>
            </a:r>
            <a:r>
              <a:rPr lang="ar-EG" sz="1600"/>
              <a:t>نجيب شروط الشركة</a:t>
            </a:r>
            <a:endParaRPr lang="en-US" sz="1600"/>
          </a:p>
          <a:p>
            <a:r>
              <a:rPr lang="en-US" sz="1600"/>
              <a:t>[numberOfDays] </a:t>
            </a:r>
            <a:r>
              <a:rPr lang="ar-EG" sz="1600"/>
              <a:t>بنجيب عدد الايام من أخر استعلام </a:t>
            </a:r>
            <a:r>
              <a:rPr lang="en-US" sz="1600"/>
              <a:t> </a:t>
            </a:r>
          </a:p>
          <a:p>
            <a:r>
              <a:rPr lang="en-US" sz="1600"/>
              <a:t>numberOfDays &gt; NO_EXP_DATE </a:t>
            </a:r>
            <a:r>
              <a:rPr lang="ar-EG" sz="1600" b="1"/>
              <a:t>لو حالة البيانات قديمة </a:t>
            </a:r>
            <a:r>
              <a:rPr lang="en-US" sz="1600" b="1"/>
              <a:t> </a:t>
            </a:r>
          </a:p>
          <a:p>
            <a:pPr lvl="1"/>
            <a:r>
              <a:rPr lang="en-US" sz="1600" b="1"/>
              <a:t>bool notfound = (bool)jsonObject["IsNoHit"]; // true means not found in iscore</a:t>
            </a:r>
            <a:endParaRPr lang="en-US" sz="1200" b="1"/>
          </a:p>
          <a:p>
            <a:pPr lvl="1"/>
            <a:r>
              <a:rPr lang="en-US" sz="1500" b="1">
                <a:solidFill>
                  <a:srgbClr val="FFFF00"/>
                </a:solidFill>
              </a:rPr>
              <a:t>String </a:t>
            </a:r>
            <a:r>
              <a:rPr lang="en-US" sz="1500" b="1"/>
              <a:t>IscoreJson</a:t>
            </a:r>
            <a:r>
              <a:rPr lang="en-US" sz="1500"/>
              <a:t> = </a:t>
            </a:r>
            <a:r>
              <a:rPr lang="en-US" sz="1500" b="1">
                <a:solidFill>
                  <a:srgbClr val="FFFF00"/>
                </a:solidFill>
              </a:rPr>
              <a:t>IscoreEnquery</a:t>
            </a:r>
            <a:r>
              <a:rPr lang="en-US" sz="1500"/>
              <a:t>(Flow_Transfer_Iscore row ,</a:t>
            </a:r>
            <a:r>
              <a:rPr lang="en-US" sz="1500" b="1">
                <a:solidFill>
                  <a:srgbClr val="FFFF00"/>
                </a:solidFill>
              </a:rPr>
              <a:t> request.Creation_Data</a:t>
            </a:r>
            <a:r>
              <a:rPr lang="en-US" sz="1500"/>
              <a:t>) : </a:t>
            </a:r>
            <a:r>
              <a:rPr lang="ar-EG" sz="1500"/>
              <a:t>يعمل استعلام جديد</a:t>
            </a:r>
            <a:endParaRPr lang="en-US" sz="1500"/>
          </a:p>
          <a:p>
            <a:pPr lvl="1"/>
            <a:r>
              <a:rPr lang="en-US" sz="1600"/>
              <a:t>if no error occurs when consuming the isCore</a:t>
            </a:r>
          </a:p>
          <a:p>
            <a:pPr lvl="1"/>
            <a:r>
              <a:rPr lang="en-US" sz="1400"/>
              <a:t>string vPDFStream = (string)jsonObject["Response"]["PDFStream"]; //</a:t>
            </a:r>
          </a:p>
          <a:p>
            <a:pPr lvl="1"/>
            <a:r>
              <a:rPr lang="en-US" sz="1400" b="1">
                <a:solidFill>
                  <a:srgbClr val="00B0F0"/>
                </a:solidFill>
              </a:rPr>
              <a:t>uploadfile</a:t>
            </a:r>
            <a:r>
              <a:rPr lang="en-US" sz="1400"/>
              <a:t>.file = vPDFStream; 	uploadfile.FileName = Data.IDNO + ".pdf";</a:t>
            </a:r>
            <a:endParaRPr lang="en-US" sz="1600"/>
          </a:p>
          <a:p>
            <a:pPr lvl="1"/>
            <a:r>
              <a:rPr lang="en-US" sz="1400"/>
              <a:t>uploadfile.nameProject = "Master"; 	uploadfile.Request_id = Data.Request_Id.ToString();</a:t>
            </a:r>
          </a:p>
          <a:p>
            <a:pPr lvl="1"/>
            <a:r>
              <a:rPr lang="en-US" sz="1400"/>
              <a:t>uploadfile.Request_id = Data.Request_Id.ToString();</a:t>
            </a:r>
          </a:p>
          <a:p>
            <a:pPr lvl="1"/>
            <a:r>
              <a:rPr lang="en-US" sz="1400" b="1"/>
              <a:t>var</a:t>
            </a:r>
            <a:r>
              <a:rPr lang="en-US" sz="1400"/>
              <a:t> </a:t>
            </a:r>
            <a:r>
              <a:rPr lang="en-US" sz="1400" b="1"/>
              <a:t>fileId</a:t>
            </a:r>
            <a:r>
              <a:rPr lang="en-US" sz="1400"/>
              <a:t> = </a:t>
            </a:r>
            <a:r>
              <a:rPr lang="en-US" sz="1400" b="1"/>
              <a:t>uploadPdf </a:t>
            </a:r>
            <a:r>
              <a:rPr lang="en-US" sz="1400"/>
              <a:t>( </a:t>
            </a:r>
            <a:r>
              <a:rPr lang="en-US" sz="1400" b="1">
                <a:solidFill>
                  <a:srgbClr val="FFFF00"/>
                </a:solidFill>
              </a:rPr>
              <a:t>uploadfile</a:t>
            </a:r>
            <a:r>
              <a:rPr lang="en-US" sz="1400"/>
              <a:t> ); // </a:t>
            </a:r>
            <a:r>
              <a:rPr lang="en-US" sz="900" b="1"/>
              <a:t>Mjk4MTEyNTIxMDAyMjIoN2FjMjEwYWItNWM5NS00MWQ3LTk3OWYtNDRlOTc3MjYzNjI5KS5wZGY=</a:t>
            </a:r>
            <a:endParaRPr lang="en-US" sz="1000" b="1"/>
          </a:p>
          <a:p>
            <a:pPr lvl="1"/>
            <a:r>
              <a:rPr lang="en-US" sz="1500"/>
              <a:t>InsertDocument (documentsFiles, </a:t>
            </a:r>
            <a:r>
              <a:rPr lang="en-US" sz="1500" b="1">
                <a:solidFill>
                  <a:srgbClr val="FFFF00"/>
                </a:solidFill>
              </a:rPr>
              <a:t>Flow_Transfer_Iscore</a:t>
            </a:r>
            <a:r>
              <a:rPr lang="en-US" sz="1500" b="1"/>
              <a:t>.RequestId )</a:t>
            </a:r>
          </a:p>
          <a:p>
            <a:pPr lvl="2"/>
            <a:r>
              <a:rPr lang="en-US" b="1"/>
              <a:t>Flow_Download row is added</a:t>
            </a:r>
            <a:endParaRPr lang="en-US" sz="1300" b="1"/>
          </a:p>
          <a:p>
            <a:pPr lvl="2"/>
            <a:endParaRPr lang="en-US" sz="1300"/>
          </a:p>
          <a:p>
            <a:pPr lvl="2"/>
            <a:endParaRPr lang="en-US" sz="1300"/>
          </a:p>
        </p:txBody>
      </p:sp>
      <p:pic>
        <p:nvPicPr>
          <p:cNvPr id="5" name="Picture 4">
            <a:extLst>
              <a:ext uri="{FF2B5EF4-FFF2-40B4-BE49-F238E27FC236}">
                <a16:creationId xmlns:a16="http://schemas.microsoft.com/office/drawing/2014/main" id="{02AB112D-D229-E650-7358-3C625A2B17DD}"/>
              </a:ext>
            </a:extLst>
          </p:cNvPr>
          <p:cNvPicPr>
            <a:picLocks noChangeAspect="1"/>
          </p:cNvPicPr>
          <p:nvPr/>
        </p:nvPicPr>
        <p:blipFill>
          <a:blip r:embed="rId2"/>
          <a:stretch>
            <a:fillRect/>
          </a:stretch>
        </p:blipFill>
        <p:spPr>
          <a:xfrm>
            <a:off x="10058401" y="1596191"/>
            <a:ext cx="2133599" cy="2072820"/>
          </a:xfrm>
          <a:prstGeom prst="rect">
            <a:avLst/>
          </a:prstGeom>
        </p:spPr>
      </p:pic>
      <p:pic>
        <p:nvPicPr>
          <p:cNvPr id="9" name="Picture 8">
            <a:extLst>
              <a:ext uri="{FF2B5EF4-FFF2-40B4-BE49-F238E27FC236}">
                <a16:creationId xmlns:a16="http://schemas.microsoft.com/office/drawing/2014/main" id="{6F0197E0-BD23-1F3D-98DC-EB64E9BFD2A6}"/>
              </a:ext>
            </a:extLst>
          </p:cNvPr>
          <p:cNvPicPr>
            <a:picLocks noChangeAspect="1"/>
          </p:cNvPicPr>
          <p:nvPr/>
        </p:nvPicPr>
        <p:blipFill>
          <a:blip r:embed="rId3"/>
          <a:stretch>
            <a:fillRect/>
          </a:stretch>
        </p:blipFill>
        <p:spPr>
          <a:xfrm>
            <a:off x="9974027" y="3823450"/>
            <a:ext cx="2217972" cy="2225233"/>
          </a:xfrm>
          <a:prstGeom prst="rect">
            <a:avLst/>
          </a:prstGeom>
        </p:spPr>
      </p:pic>
    </p:spTree>
    <p:extLst>
      <p:ext uri="{BB962C8B-B14F-4D97-AF65-F5344CB8AC3E}">
        <p14:creationId xmlns:p14="http://schemas.microsoft.com/office/powerpoint/2010/main" val="328006064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7E4FE-B614-C7B5-BDF0-3E24BD1B7BB9}"/>
              </a:ext>
            </a:extLst>
          </p:cNvPr>
          <p:cNvSpPr>
            <a:spLocks noGrp="1"/>
          </p:cNvSpPr>
          <p:nvPr>
            <p:ph type="title"/>
          </p:nvPr>
        </p:nvSpPr>
        <p:spPr>
          <a:xfrm>
            <a:off x="913795" y="0"/>
            <a:ext cx="10353762" cy="457200"/>
          </a:xfrm>
        </p:spPr>
        <p:txBody>
          <a:bodyPr>
            <a:noAutofit/>
          </a:bodyPr>
          <a:lstStyle/>
          <a:p>
            <a:r>
              <a:rPr lang="en-US" sz="3200" b="1"/>
              <a:t>What </a:t>
            </a:r>
            <a:r>
              <a:rPr lang="en-US" sz="3200" b="1">
                <a:solidFill>
                  <a:srgbClr val="FF0000"/>
                </a:solidFill>
              </a:rPr>
              <a:t>callTransferIscore do [cont.]</a:t>
            </a:r>
            <a:endParaRPr lang="en-US" sz="3200"/>
          </a:p>
        </p:txBody>
      </p:sp>
      <p:sp>
        <p:nvSpPr>
          <p:cNvPr id="3" name="Content Placeholder 2">
            <a:extLst>
              <a:ext uri="{FF2B5EF4-FFF2-40B4-BE49-F238E27FC236}">
                <a16:creationId xmlns:a16="http://schemas.microsoft.com/office/drawing/2014/main" id="{1CF30BB6-9E01-25D1-0D3D-C41F429E7C71}"/>
              </a:ext>
            </a:extLst>
          </p:cNvPr>
          <p:cNvSpPr>
            <a:spLocks noGrp="1"/>
          </p:cNvSpPr>
          <p:nvPr>
            <p:ph idx="1"/>
          </p:nvPr>
        </p:nvSpPr>
        <p:spPr>
          <a:xfrm>
            <a:off x="143933" y="457199"/>
            <a:ext cx="11954934" cy="6334125"/>
          </a:xfrm>
        </p:spPr>
        <p:txBody>
          <a:bodyPr>
            <a:normAutofit/>
          </a:bodyPr>
          <a:lstStyle/>
          <a:p>
            <a:r>
              <a:rPr lang="en-US" sz="1600"/>
              <a:t>numberOfDays &gt; NO_EXP_DATE </a:t>
            </a:r>
            <a:r>
              <a:rPr lang="ar-EG" sz="1600" b="1"/>
              <a:t>لو حالة البيانات قديمة </a:t>
            </a:r>
            <a:r>
              <a:rPr lang="en-US" sz="1600" b="1"/>
              <a:t> // complete from the previous</a:t>
            </a:r>
          </a:p>
          <a:p>
            <a:r>
              <a:rPr lang="en-US" sz="1800" b="1"/>
              <a:t>If </a:t>
            </a:r>
            <a:r>
              <a:rPr lang="en-US" sz="1800"/>
              <a:t>(bool)jsonObject["IsNoHit"] == true  // no found in iscore</a:t>
            </a:r>
            <a:endParaRPr lang="en-US" sz="1800" b="1"/>
          </a:p>
          <a:p>
            <a:pPr lvl="1"/>
            <a:r>
              <a:rPr lang="en-US" sz="1500"/>
              <a:t>_ISCORE_DataService. </a:t>
            </a:r>
            <a:r>
              <a:rPr lang="en-US" sz="1500" b="1">
                <a:solidFill>
                  <a:srgbClr val="FFFF00"/>
                </a:solidFill>
              </a:rPr>
              <a:t>InsertIscoreData</a:t>
            </a:r>
            <a:r>
              <a:rPr lang="en-US" sz="1500"/>
              <a:t>( </a:t>
            </a:r>
            <a:r>
              <a:rPr lang="en-US" sz="1500" b="1">
                <a:solidFill>
                  <a:srgbClr val="FFFF00"/>
                </a:solidFill>
              </a:rPr>
              <a:t>Flow_Transfer_Iscore.</a:t>
            </a:r>
            <a:r>
              <a:rPr lang="en-US" sz="1500"/>
              <a:t>IDNO, </a:t>
            </a:r>
            <a:r>
              <a:rPr lang="en-US" sz="1500" b="1"/>
              <a:t>fileId</a:t>
            </a:r>
            <a:r>
              <a:rPr lang="en-US" sz="1500"/>
              <a:t>, </a:t>
            </a:r>
            <a:r>
              <a:rPr lang="en-US" sz="1500" b="1">
                <a:solidFill>
                  <a:srgbClr val="FFFF00"/>
                </a:solidFill>
              </a:rPr>
              <a:t>Flow_Transfer_Iscore.</a:t>
            </a:r>
            <a:r>
              <a:rPr lang="en-US" sz="1500"/>
              <a:t>Request_Id, </a:t>
            </a:r>
            <a:r>
              <a:rPr lang="en-US" sz="1500" b="1"/>
              <a:t>REF_NO, 0,0, 0</a:t>
            </a:r>
            <a:r>
              <a:rPr lang="en-US" sz="1500"/>
              <a:t>)</a:t>
            </a:r>
          </a:p>
          <a:p>
            <a:pPr lvl="2"/>
            <a:r>
              <a:rPr lang="en-US" sz="1400" b="1">
                <a:solidFill>
                  <a:srgbClr val="FFFF00"/>
                </a:solidFill>
              </a:rPr>
              <a:t>- fileId is coming from </a:t>
            </a:r>
            <a:r>
              <a:rPr lang="en-US" sz="1400" b="1"/>
              <a:t>uploadPdf method</a:t>
            </a:r>
          </a:p>
          <a:p>
            <a:pPr lvl="2"/>
            <a:r>
              <a:rPr lang="en-US" sz="1400" b="1"/>
              <a:t>InsertIscoreData</a:t>
            </a:r>
            <a:r>
              <a:rPr lang="en-US" sz="1400"/>
              <a:t>(string IDNO, string fileId, decimal Request_id, string REF_NO, int </a:t>
            </a:r>
            <a:r>
              <a:rPr lang="en-US" b="1">
                <a:solidFill>
                  <a:srgbClr val="FFFF00"/>
                </a:solidFill>
              </a:rPr>
              <a:t>score</a:t>
            </a:r>
            <a:r>
              <a:rPr lang="en-US" sz="1400"/>
              <a:t>, int </a:t>
            </a:r>
            <a:r>
              <a:rPr lang="en-US" sz="1400" b="1">
                <a:solidFill>
                  <a:srgbClr val="FFFF00"/>
                </a:solidFill>
              </a:rPr>
              <a:t>ACTIVE_LOANS</a:t>
            </a:r>
            <a:r>
              <a:rPr lang="en-US" sz="1400"/>
              <a:t>, </a:t>
            </a:r>
            <a:r>
              <a:rPr lang="en-US" sz="1400" b="1">
                <a:solidFill>
                  <a:srgbClr val="FFFF00"/>
                </a:solidFill>
              </a:rPr>
              <a:t>NO_OF_INQUIRIES</a:t>
            </a:r>
            <a:r>
              <a:rPr lang="en-US" sz="1400" b="1"/>
              <a:t> </a:t>
            </a:r>
            <a:r>
              <a:rPr lang="en-US" sz="1400"/>
              <a:t>)</a:t>
            </a:r>
            <a:endParaRPr lang="en-US" sz="1200" b="1">
              <a:solidFill>
                <a:srgbClr val="FFFF00"/>
              </a:solidFill>
            </a:endParaRPr>
          </a:p>
          <a:p>
            <a:pPr lvl="1"/>
            <a:r>
              <a:rPr lang="en-US" sz="1500" b="1"/>
              <a:t>UpdateFlagTo0 (Data.Request_Id);  </a:t>
            </a:r>
            <a:r>
              <a:rPr lang="en-US" sz="1500"/>
              <a:t>// </a:t>
            </a:r>
            <a:r>
              <a:rPr lang="en-US" sz="1500" b="1"/>
              <a:t>update status code of request to 0</a:t>
            </a:r>
          </a:p>
          <a:p>
            <a:r>
              <a:rPr lang="en-US" sz="1600" b="1"/>
              <a:t>If founed in iscore</a:t>
            </a:r>
          </a:p>
          <a:p>
            <a:pPr lvl="1"/>
            <a:r>
              <a:rPr lang="en-US" sz="1400" b="1"/>
              <a:t>Get Score, NO_OF_INQUIRIES, ACTIVE_LOANS from IsCore Reslt [ vResult ]</a:t>
            </a:r>
          </a:p>
          <a:p>
            <a:pPr lvl="1"/>
            <a:r>
              <a:rPr lang="en-US" sz="1400"/>
              <a:t>ISCORE_DataService. </a:t>
            </a:r>
            <a:r>
              <a:rPr lang="en-US" sz="1400" b="1">
                <a:solidFill>
                  <a:srgbClr val="FFFF00"/>
                </a:solidFill>
              </a:rPr>
              <a:t>InsertIscoreData</a:t>
            </a:r>
            <a:r>
              <a:rPr lang="en-US" sz="1400"/>
              <a:t>( </a:t>
            </a:r>
            <a:r>
              <a:rPr lang="en-US" sz="1400" b="1">
                <a:solidFill>
                  <a:srgbClr val="FFFF00"/>
                </a:solidFill>
              </a:rPr>
              <a:t>Flow_Transfer_Iscore.</a:t>
            </a:r>
            <a:r>
              <a:rPr lang="en-US" sz="1400"/>
              <a:t>IDNO, </a:t>
            </a:r>
            <a:r>
              <a:rPr lang="en-US" sz="1400" b="1"/>
              <a:t>fileId</a:t>
            </a:r>
            <a:r>
              <a:rPr lang="en-US" sz="1400"/>
              <a:t>, </a:t>
            </a:r>
            <a:r>
              <a:rPr lang="en-US" sz="1400" b="1">
                <a:solidFill>
                  <a:srgbClr val="FFFF00"/>
                </a:solidFill>
              </a:rPr>
              <a:t>Flow_Transfer_Iscore.</a:t>
            </a:r>
            <a:r>
              <a:rPr lang="en-US" sz="1400"/>
              <a:t>Request_Id, </a:t>
            </a:r>
            <a:r>
              <a:rPr lang="en-US" sz="1400" b="1"/>
              <a:t>REF_NO, </a:t>
            </a:r>
            <a:r>
              <a:rPr lang="en-US" sz="1400" b="1">
                <a:solidFill>
                  <a:srgbClr val="FFFF00"/>
                </a:solidFill>
              </a:rPr>
              <a:t>score</a:t>
            </a:r>
            <a:r>
              <a:rPr lang="en-US" sz="1400" b="1"/>
              <a:t>, </a:t>
            </a:r>
            <a:r>
              <a:rPr lang="en-US" sz="1400" b="1">
                <a:solidFill>
                  <a:srgbClr val="FFFF00"/>
                </a:solidFill>
              </a:rPr>
              <a:t>ACTIVE_LOANS</a:t>
            </a:r>
            <a:r>
              <a:rPr lang="en-US" sz="1400"/>
              <a:t>,</a:t>
            </a:r>
            <a:r>
              <a:rPr lang="en-US" sz="1400" b="1"/>
              <a:t> NO_OF_INQUIRIES</a:t>
            </a:r>
            <a:r>
              <a:rPr lang="en-US" sz="1400"/>
              <a:t>)</a:t>
            </a:r>
          </a:p>
          <a:p>
            <a:pPr lvl="1"/>
            <a:r>
              <a:rPr lang="en-US" sz="1500"/>
              <a:t>if ((score &gt;= SCORE || score == 0) &amp;&amp; (ACTIVE_LOANS &lt;= NO_CURR_LOAN || ACTIVE_LOANS == 0))</a:t>
            </a:r>
          </a:p>
          <a:p>
            <a:pPr lvl="2"/>
            <a:r>
              <a:rPr lang="en-US" sz="1300" b="1"/>
              <a:t>The UpperCase SCORE is from Query Result of Flow_ISCORE</a:t>
            </a:r>
          </a:p>
          <a:p>
            <a:pPr lvl="1"/>
            <a:r>
              <a:rPr lang="en-US" sz="1500"/>
              <a:t>UpdateFlagTo0(Data.Request_Id);</a:t>
            </a:r>
          </a:p>
          <a:p>
            <a:pPr lvl="2"/>
            <a:r>
              <a:rPr lang="en-US" sz="1300" b="1"/>
              <a:t>Else : </a:t>
            </a:r>
          </a:p>
          <a:p>
            <a:pPr lvl="2"/>
            <a:r>
              <a:rPr lang="en-US" sz="1400"/>
              <a:t>Data.CUST_TYPE == "C“ ? </a:t>
            </a:r>
            <a:r>
              <a:rPr lang="en-US" sz="1400" b="1">
                <a:solidFill>
                  <a:srgbClr val="FFC000"/>
                </a:solidFill>
              </a:rPr>
              <a:t>UpdateFaildIscoreCustomer</a:t>
            </a:r>
            <a:r>
              <a:rPr lang="en-US" sz="1400"/>
              <a:t>(Data.Request_Id): </a:t>
            </a:r>
            <a:r>
              <a:rPr lang="en-US" sz="1400" b="1">
                <a:solidFill>
                  <a:srgbClr val="FFC000"/>
                </a:solidFill>
              </a:rPr>
              <a:t>UpdateFaildIscoreGuarnter</a:t>
            </a:r>
            <a:r>
              <a:rPr lang="en-US" sz="1400"/>
              <a:t>(Data.Request_Id); </a:t>
            </a:r>
          </a:p>
          <a:p>
            <a:pPr lvl="1"/>
            <a:r>
              <a:rPr lang="en-US" sz="1600"/>
              <a:t>_Rej_GuarService.AddRej_Guar(Data.IDNO, Data.Request_Id);</a:t>
            </a:r>
          </a:p>
          <a:p>
            <a:pPr lvl="1"/>
            <a:endParaRPr lang="en-US" sz="1600" b="1"/>
          </a:p>
        </p:txBody>
      </p:sp>
    </p:spTree>
    <p:extLst>
      <p:ext uri="{BB962C8B-B14F-4D97-AF65-F5344CB8AC3E}">
        <p14:creationId xmlns:p14="http://schemas.microsoft.com/office/powerpoint/2010/main" val="44793758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C5E1B-4784-13A7-77BF-B6FEA6A15418}"/>
              </a:ext>
            </a:extLst>
          </p:cNvPr>
          <p:cNvSpPr>
            <a:spLocks noGrp="1"/>
          </p:cNvSpPr>
          <p:nvPr>
            <p:ph type="title"/>
          </p:nvPr>
        </p:nvSpPr>
        <p:spPr>
          <a:xfrm>
            <a:off x="323245" y="266700"/>
            <a:ext cx="10353762" cy="970450"/>
          </a:xfrm>
        </p:spPr>
        <p:txBody>
          <a:bodyPr/>
          <a:lstStyle/>
          <a:p>
            <a:endParaRPr lang="en-US"/>
          </a:p>
        </p:txBody>
      </p:sp>
      <p:pic>
        <p:nvPicPr>
          <p:cNvPr id="5" name="Content Placeholder 4">
            <a:extLst>
              <a:ext uri="{FF2B5EF4-FFF2-40B4-BE49-F238E27FC236}">
                <a16:creationId xmlns:a16="http://schemas.microsoft.com/office/drawing/2014/main" id="{CA186CE4-B8B8-7E07-CE2F-BF047412FB3A}"/>
              </a:ext>
            </a:extLst>
          </p:cNvPr>
          <p:cNvPicPr>
            <a:picLocks noGrp="1" noChangeAspect="1"/>
          </p:cNvPicPr>
          <p:nvPr>
            <p:ph idx="1"/>
          </p:nvPr>
        </p:nvPicPr>
        <p:blipFill>
          <a:blip r:embed="rId2"/>
          <a:stretch>
            <a:fillRect/>
          </a:stretch>
        </p:blipFill>
        <p:spPr>
          <a:xfrm>
            <a:off x="323245" y="1474788"/>
            <a:ext cx="3572480" cy="5285314"/>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C0FA3DF0-4A54-0F44-FA7B-4807FD57ED67}"/>
              </a:ext>
            </a:extLst>
          </p:cNvPr>
          <p:cNvPicPr>
            <a:picLocks noChangeAspect="1"/>
          </p:cNvPicPr>
          <p:nvPr/>
        </p:nvPicPr>
        <p:blipFill>
          <a:blip r:embed="rId3"/>
          <a:stretch>
            <a:fillRect/>
          </a:stretch>
        </p:blipFill>
        <p:spPr>
          <a:xfrm>
            <a:off x="4579488" y="2891743"/>
            <a:ext cx="4900843" cy="1736228"/>
          </a:xfrm>
          <a:prstGeom prst="rect">
            <a:avLst/>
          </a:prstGeom>
        </p:spPr>
      </p:pic>
    </p:spTree>
    <p:extLst>
      <p:ext uri="{BB962C8B-B14F-4D97-AF65-F5344CB8AC3E}">
        <p14:creationId xmlns:p14="http://schemas.microsoft.com/office/powerpoint/2010/main" val="128159286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EB1E7-95DA-5D6B-43CB-316466CCF194}"/>
              </a:ext>
            </a:extLst>
          </p:cNvPr>
          <p:cNvSpPr>
            <a:spLocks noGrp="1"/>
          </p:cNvSpPr>
          <p:nvPr>
            <p:ph type="title"/>
          </p:nvPr>
        </p:nvSpPr>
        <p:spPr/>
        <p:txBody>
          <a:bodyPr/>
          <a:lstStyle/>
          <a:p>
            <a:r>
              <a:rPr lang="en-US"/>
              <a:t>Host</a:t>
            </a:r>
          </a:p>
        </p:txBody>
      </p:sp>
      <p:sp>
        <p:nvSpPr>
          <p:cNvPr id="3" name="Content Placeholder 2">
            <a:extLst>
              <a:ext uri="{FF2B5EF4-FFF2-40B4-BE49-F238E27FC236}">
                <a16:creationId xmlns:a16="http://schemas.microsoft.com/office/drawing/2014/main" id="{95A1A903-9048-B662-A0EF-D7E80606D1D8}"/>
              </a:ext>
            </a:extLst>
          </p:cNvPr>
          <p:cNvSpPr>
            <a:spLocks noGrp="1"/>
          </p:cNvSpPr>
          <p:nvPr>
            <p:ph idx="1"/>
          </p:nvPr>
        </p:nvSpPr>
        <p:spPr/>
        <p:txBody>
          <a:bodyPr/>
          <a:lstStyle/>
          <a:p>
            <a:r>
              <a:rPr lang="nb-NO"/>
              <a:t>To test IScore</a:t>
            </a:r>
          </a:p>
          <a:p>
            <a:pPr lvl="1"/>
            <a:r>
              <a:rPr lang="nb-NO"/>
              <a:t>C:\Windows\System32\drivers\etc</a:t>
            </a:r>
          </a:p>
          <a:p>
            <a:pPr lvl="1"/>
            <a:r>
              <a:rPr lang="nb-NO"/>
              <a:t>At this to you hosts file</a:t>
            </a:r>
            <a:endParaRPr lang="en-US"/>
          </a:p>
          <a:p>
            <a:pPr lvl="1"/>
            <a:r>
              <a:rPr lang="en-US"/>
              <a:t>10.1.2.10 uat.i-score.com.eg    // by Mustafa zidan</a:t>
            </a:r>
          </a:p>
        </p:txBody>
      </p:sp>
    </p:spTree>
    <p:extLst>
      <p:ext uri="{BB962C8B-B14F-4D97-AF65-F5344CB8AC3E}">
        <p14:creationId xmlns:p14="http://schemas.microsoft.com/office/powerpoint/2010/main" val="179792311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0DC4B-F015-5FC7-4680-75C091CD7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F7111-4E17-6992-351D-E32498D1B0B4}"/>
              </a:ext>
            </a:extLst>
          </p:cNvPr>
          <p:cNvSpPr>
            <a:spLocks noGrp="1"/>
          </p:cNvSpPr>
          <p:nvPr>
            <p:ph type="title"/>
          </p:nvPr>
        </p:nvSpPr>
        <p:spPr>
          <a:xfrm>
            <a:off x="913795" y="609599"/>
            <a:ext cx="10353762" cy="3460955"/>
          </a:xfrm>
        </p:spPr>
        <p:txBody>
          <a:bodyPr/>
          <a:lstStyle/>
          <a:p>
            <a:r>
              <a:rPr lang="en-US" b="1">
                <a:solidFill>
                  <a:srgbClr val="FF0000"/>
                </a:solidFill>
              </a:rPr>
              <a:t>END IScore</a:t>
            </a:r>
          </a:p>
        </p:txBody>
      </p:sp>
    </p:spTree>
    <p:extLst>
      <p:ext uri="{BB962C8B-B14F-4D97-AF65-F5344CB8AC3E}">
        <p14:creationId xmlns:p14="http://schemas.microsoft.com/office/powerpoint/2010/main" val="178556385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51A06-185C-2259-7749-2C1AB46F258E}"/>
              </a:ext>
            </a:extLst>
          </p:cNvPr>
          <p:cNvSpPr>
            <a:spLocks noGrp="1"/>
          </p:cNvSpPr>
          <p:nvPr>
            <p:ph type="title"/>
          </p:nvPr>
        </p:nvSpPr>
        <p:spPr>
          <a:xfrm>
            <a:off x="913795" y="609600"/>
            <a:ext cx="10353762" cy="4171950"/>
          </a:xfrm>
        </p:spPr>
        <p:txBody>
          <a:bodyPr>
            <a:normAutofit/>
          </a:bodyPr>
          <a:lstStyle/>
          <a:p>
            <a:r>
              <a:rPr lang="en-US" sz="6600" b="1">
                <a:solidFill>
                  <a:srgbClr val="FF0000"/>
                </a:solidFill>
              </a:rPr>
              <a:t>Start Forget Password</a:t>
            </a:r>
          </a:p>
        </p:txBody>
      </p:sp>
    </p:spTree>
    <p:extLst>
      <p:ext uri="{BB962C8B-B14F-4D97-AF65-F5344CB8AC3E}">
        <p14:creationId xmlns:p14="http://schemas.microsoft.com/office/powerpoint/2010/main" val="377392907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6432-52AF-6B50-DBE7-C6DCA285D49E}"/>
              </a:ext>
            </a:extLst>
          </p:cNvPr>
          <p:cNvSpPr>
            <a:spLocks noGrp="1"/>
          </p:cNvSpPr>
          <p:nvPr>
            <p:ph type="title"/>
          </p:nvPr>
        </p:nvSpPr>
        <p:spPr>
          <a:xfrm>
            <a:off x="913795" y="0"/>
            <a:ext cx="10353762" cy="609600"/>
          </a:xfrm>
        </p:spPr>
        <p:txBody>
          <a:bodyPr>
            <a:normAutofit fontScale="90000"/>
          </a:bodyPr>
          <a:lstStyle/>
          <a:p>
            <a:r>
              <a:rPr lang="en-US" b="1">
                <a:solidFill>
                  <a:srgbClr val="FFFF00"/>
                </a:solidFill>
              </a:rPr>
              <a:t>Lookup</a:t>
            </a:r>
            <a:r>
              <a:rPr lang="en-US" b="1"/>
              <a:t>.</a:t>
            </a:r>
            <a:r>
              <a:rPr lang="en-US" b="1">
                <a:solidFill>
                  <a:srgbClr val="FF0000"/>
                </a:solidFill>
              </a:rPr>
              <a:t>ForgetPasswordOTP</a:t>
            </a:r>
          </a:p>
        </p:txBody>
      </p:sp>
      <p:sp>
        <p:nvSpPr>
          <p:cNvPr id="3" name="Content Placeholder 2">
            <a:extLst>
              <a:ext uri="{FF2B5EF4-FFF2-40B4-BE49-F238E27FC236}">
                <a16:creationId xmlns:a16="http://schemas.microsoft.com/office/drawing/2014/main" id="{19DAA090-D701-7D6D-A078-A5CB6FE9A5F2}"/>
              </a:ext>
            </a:extLst>
          </p:cNvPr>
          <p:cNvSpPr>
            <a:spLocks noGrp="1"/>
          </p:cNvSpPr>
          <p:nvPr>
            <p:ph idx="1"/>
          </p:nvPr>
        </p:nvSpPr>
        <p:spPr>
          <a:xfrm>
            <a:off x="99674" y="609600"/>
            <a:ext cx="11992652" cy="5867399"/>
          </a:xfrm>
        </p:spPr>
        <p:txBody>
          <a:bodyPr>
            <a:normAutofit/>
          </a:bodyPr>
          <a:lstStyle/>
          <a:p>
            <a:r>
              <a:rPr lang="en-US" sz="1800" b="1"/>
              <a:t>OTP_ID: int , key</a:t>
            </a:r>
          </a:p>
          <a:p>
            <a:r>
              <a:rPr lang="en-US" sz="1800" b="1"/>
              <a:t>string UserCode</a:t>
            </a:r>
          </a:p>
          <a:p>
            <a:r>
              <a:rPr lang="en-US" sz="1800" b="1"/>
              <a:t>string UserEmail carries email [ local or eg or mobile ]</a:t>
            </a:r>
          </a:p>
          <a:p>
            <a:r>
              <a:rPr lang="en-US" sz="1800" b="1"/>
              <a:t>string ActiveCode</a:t>
            </a:r>
          </a:p>
          <a:p>
            <a:r>
              <a:rPr lang="en-US" sz="1800" b="1"/>
              <a:t>DateTime ExpireDate</a:t>
            </a:r>
          </a:p>
          <a:p>
            <a:endParaRPr lang="en-US" sz="1800" b="1"/>
          </a:p>
          <a:p>
            <a:r>
              <a:rPr lang="en-US" sz="1800" b="1"/>
              <a:t>Notes</a:t>
            </a:r>
          </a:p>
          <a:p>
            <a:pPr lvl="1"/>
            <a:r>
              <a:rPr lang="en-US" sz="1600" b="1"/>
              <a:t>User has only 3 times Generate password OTP per day and determined based on General_setting.</a:t>
            </a:r>
            <a:r>
              <a:rPr lang="en-US" sz="1600" b="1">
                <a:solidFill>
                  <a:srgbClr val="FFC000"/>
                </a:solidFill>
              </a:rPr>
              <a:t>Exchange_Code</a:t>
            </a:r>
          </a:p>
          <a:p>
            <a:pPr lvl="1"/>
            <a:r>
              <a:rPr lang="en-US" b="1"/>
              <a:t>If </a:t>
            </a:r>
            <a:r>
              <a:rPr lang="en-US" b="1">
                <a:solidFill>
                  <a:srgbClr val="FFC000"/>
                </a:solidFill>
              </a:rPr>
              <a:t>Exchange_Code = 1 then no.of passwordOTP per day is 3 else no.of passwordOTP per day is 5</a:t>
            </a:r>
            <a:endParaRPr lang="en-US" b="1"/>
          </a:p>
          <a:p>
            <a:pPr lvl="1"/>
            <a:endParaRPr lang="en-US" b="1"/>
          </a:p>
          <a:p>
            <a:pPr lvl="1"/>
            <a:endParaRPr lang="en-US" sz="1600" b="1"/>
          </a:p>
        </p:txBody>
      </p:sp>
      <p:pic>
        <p:nvPicPr>
          <p:cNvPr id="5" name="Picture 4">
            <a:extLst>
              <a:ext uri="{FF2B5EF4-FFF2-40B4-BE49-F238E27FC236}">
                <a16:creationId xmlns:a16="http://schemas.microsoft.com/office/drawing/2014/main" id="{C45F0BFA-A8C4-981C-04F4-35FFD1A80A0D}"/>
              </a:ext>
            </a:extLst>
          </p:cNvPr>
          <p:cNvPicPr>
            <a:picLocks noChangeAspect="1"/>
          </p:cNvPicPr>
          <p:nvPr/>
        </p:nvPicPr>
        <p:blipFill>
          <a:blip r:embed="rId2"/>
          <a:stretch>
            <a:fillRect/>
          </a:stretch>
        </p:blipFill>
        <p:spPr>
          <a:xfrm>
            <a:off x="6590209" y="609600"/>
            <a:ext cx="5502117" cy="937341"/>
          </a:xfrm>
          <a:prstGeom prst="rect">
            <a:avLst/>
          </a:prstGeom>
        </p:spPr>
      </p:pic>
    </p:spTree>
    <p:extLst>
      <p:ext uri="{BB962C8B-B14F-4D97-AF65-F5344CB8AC3E}">
        <p14:creationId xmlns:p14="http://schemas.microsoft.com/office/powerpoint/2010/main" val="190250304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7226C-81BD-9B14-15DD-2403A5146F14}"/>
              </a:ext>
            </a:extLst>
          </p:cNvPr>
          <p:cNvSpPr>
            <a:spLocks noGrp="1"/>
          </p:cNvSpPr>
          <p:nvPr>
            <p:ph type="title"/>
          </p:nvPr>
        </p:nvSpPr>
        <p:spPr>
          <a:xfrm>
            <a:off x="913795" y="0"/>
            <a:ext cx="10353762" cy="561975"/>
          </a:xfrm>
        </p:spPr>
        <p:txBody>
          <a:bodyPr>
            <a:normAutofit fontScale="90000"/>
          </a:bodyPr>
          <a:lstStyle/>
          <a:p>
            <a:r>
              <a:rPr lang="en-US" b="1"/>
              <a:t>Forget password</a:t>
            </a:r>
          </a:p>
        </p:txBody>
      </p:sp>
      <p:sp>
        <p:nvSpPr>
          <p:cNvPr id="3" name="Content Placeholder 2">
            <a:extLst>
              <a:ext uri="{FF2B5EF4-FFF2-40B4-BE49-F238E27FC236}">
                <a16:creationId xmlns:a16="http://schemas.microsoft.com/office/drawing/2014/main" id="{C488E506-29D1-F32A-24E7-9FBF75762BD9}"/>
              </a:ext>
            </a:extLst>
          </p:cNvPr>
          <p:cNvSpPr>
            <a:spLocks noGrp="1"/>
          </p:cNvSpPr>
          <p:nvPr>
            <p:ph idx="1"/>
          </p:nvPr>
        </p:nvSpPr>
        <p:spPr>
          <a:xfrm>
            <a:off x="0" y="561975"/>
            <a:ext cx="12192000" cy="6086475"/>
          </a:xfrm>
        </p:spPr>
        <p:txBody>
          <a:bodyPr/>
          <a:lstStyle/>
          <a:p>
            <a:r>
              <a:rPr lang="en-US"/>
              <a:t>api/Security/LoginController/ForgetPassword</a:t>
            </a:r>
          </a:p>
          <a:p>
            <a:r>
              <a:rPr lang="en-US" b="1">
                <a:solidFill>
                  <a:srgbClr val="00B0F0"/>
                </a:solidFill>
              </a:rPr>
              <a:t>String</a:t>
            </a:r>
            <a:r>
              <a:rPr lang="en-US"/>
              <a:t> LoginService.</a:t>
            </a:r>
            <a:r>
              <a:rPr lang="en-US">
                <a:solidFill>
                  <a:srgbClr val="00B0F0"/>
                </a:solidFill>
              </a:rPr>
              <a:t>ForgetPassword</a:t>
            </a:r>
            <a:r>
              <a:rPr lang="en-US"/>
              <a:t>([FromBody] </a:t>
            </a:r>
            <a:r>
              <a:rPr lang="en-US" b="1">
                <a:solidFill>
                  <a:srgbClr val="FFC000"/>
                </a:solidFill>
              </a:rPr>
              <a:t>ForgetPasswordVM</a:t>
            </a:r>
            <a:r>
              <a:rPr lang="en-US"/>
              <a:t> )</a:t>
            </a:r>
          </a:p>
          <a:p>
            <a:endParaRPr lang="en-US"/>
          </a:p>
          <a:p>
            <a:endParaRPr lang="en-US"/>
          </a:p>
        </p:txBody>
      </p:sp>
      <p:pic>
        <p:nvPicPr>
          <p:cNvPr id="5" name="Picture 4">
            <a:extLst>
              <a:ext uri="{FF2B5EF4-FFF2-40B4-BE49-F238E27FC236}">
                <a16:creationId xmlns:a16="http://schemas.microsoft.com/office/drawing/2014/main" id="{AFBDFD36-5BB4-0C29-9BAF-1950FE674771}"/>
              </a:ext>
            </a:extLst>
          </p:cNvPr>
          <p:cNvPicPr>
            <a:picLocks noChangeAspect="1"/>
          </p:cNvPicPr>
          <p:nvPr/>
        </p:nvPicPr>
        <p:blipFill>
          <a:blip r:embed="rId2"/>
          <a:stretch>
            <a:fillRect/>
          </a:stretch>
        </p:blipFill>
        <p:spPr>
          <a:xfrm>
            <a:off x="8601075" y="449518"/>
            <a:ext cx="3580277" cy="1641840"/>
          </a:xfrm>
          <a:prstGeom prst="rect">
            <a:avLst/>
          </a:prstGeom>
        </p:spPr>
      </p:pic>
    </p:spTree>
    <p:extLst>
      <p:ext uri="{BB962C8B-B14F-4D97-AF65-F5344CB8AC3E}">
        <p14:creationId xmlns:p14="http://schemas.microsoft.com/office/powerpoint/2010/main" val="351962865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BFEE-17C1-ED34-0D7A-AD8B245695F0}"/>
              </a:ext>
            </a:extLst>
          </p:cNvPr>
          <p:cNvSpPr>
            <a:spLocks noGrp="1"/>
          </p:cNvSpPr>
          <p:nvPr>
            <p:ph type="title"/>
          </p:nvPr>
        </p:nvSpPr>
        <p:spPr>
          <a:xfrm>
            <a:off x="913795" y="0"/>
            <a:ext cx="10353762" cy="609600"/>
          </a:xfrm>
        </p:spPr>
        <p:txBody>
          <a:bodyPr>
            <a:normAutofit fontScale="90000"/>
          </a:bodyPr>
          <a:lstStyle/>
          <a:p>
            <a:r>
              <a:rPr lang="en-US" b="1"/>
              <a:t>steps</a:t>
            </a:r>
            <a:endParaRPr lang="en-US"/>
          </a:p>
        </p:txBody>
      </p:sp>
      <p:sp>
        <p:nvSpPr>
          <p:cNvPr id="3" name="Content Placeholder 2">
            <a:extLst>
              <a:ext uri="{FF2B5EF4-FFF2-40B4-BE49-F238E27FC236}">
                <a16:creationId xmlns:a16="http://schemas.microsoft.com/office/drawing/2014/main" id="{6A64C3B3-11C7-BFB0-DE8D-502C03D4AC6F}"/>
              </a:ext>
            </a:extLst>
          </p:cNvPr>
          <p:cNvSpPr>
            <a:spLocks noGrp="1"/>
          </p:cNvSpPr>
          <p:nvPr>
            <p:ph idx="1"/>
          </p:nvPr>
        </p:nvSpPr>
        <p:spPr>
          <a:xfrm>
            <a:off x="0" y="609600"/>
            <a:ext cx="12192000" cy="6248400"/>
          </a:xfrm>
        </p:spPr>
        <p:txBody>
          <a:bodyPr>
            <a:normAutofit/>
          </a:bodyPr>
          <a:lstStyle/>
          <a:p>
            <a:r>
              <a:rPr lang="en-US" sz="1500" b="1"/>
              <a:t>GET user by UserCode (include MobileNumbers)</a:t>
            </a:r>
          </a:p>
          <a:p>
            <a:r>
              <a:rPr lang="en-US" sz="1500" b="1"/>
              <a:t>IF user is in MAIN branch (BranchId == 1) AND Email is empty</a:t>
            </a:r>
          </a:p>
          <a:p>
            <a:pPr lvl="1"/>
            <a:r>
              <a:rPr lang="en-US" sz="1500" b="1"/>
              <a:t>RETURN "selectYourRightBranch" // main branch requires email</a:t>
            </a:r>
          </a:p>
          <a:p>
            <a:r>
              <a:rPr lang="en-US" sz="1500" b="1"/>
              <a:t>ELSE IF user is NOT in main branch (BranchId != 1) AND MobilePhone is empty</a:t>
            </a:r>
          </a:p>
          <a:p>
            <a:pPr lvl="1"/>
            <a:r>
              <a:rPr lang="en-US" sz="1500" b="1"/>
              <a:t>return "selectYourRightBranch";</a:t>
            </a:r>
          </a:p>
          <a:p>
            <a:r>
              <a:rPr lang="en-US" sz="1500" b="1"/>
              <a:t>GET system setting </a:t>
            </a:r>
            <a:r>
              <a:rPr lang="en-US" sz="1500" b="1">
                <a:solidFill>
                  <a:srgbClr val="FFC000"/>
                </a:solidFill>
              </a:rPr>
              <a:t>Exchange_Code and assign it to</a:t>
            </a:r>
            <a:r>
              <a:rPr lang="en-US" sz="1500" b="1"/>
              <a:t> (</a:t>
            </a:r>
            <a:r>
              <a:rPr lang="en-US" sz="1500" b="1">
                <a:solidFill>
                  <a:srgbClr val="FFC000"/>
                </a:solidFill>
              </a:rPr>
              <a:t>codeUnified</a:t>
            </a:r>
            <a:r>
              <a:rPr lang="en-US" sz="1500" b="1"/>
              <a:t>)</a:t>
            </a:r>
          </a:p>
          <a:p>
            <a:r>
              <a:rPr lang="en-US" sz="1500" b="1"/>
              <a:t>GET userMobile matching input.MobilePhone</a:t>
            </a:r>
          </a:p>
          <a:p>
            <a:r>
              <a:rPr lang="en-US" sz="1500" b="1"/>
              <a:t>IF user exists , note if not exit </a:t>
            </a:r>
            <a:r>
              <a:rPr lang="en-US" sz="1400" b="1"/>
              <a:t>RETURN "2“</a:t>
            </a:r>
            <a:endParaRPr lang="en-US" sz="1500" b="1"/>
          </a:p>
          <a:p>
            <a:pPr lvl="1"/>
            <a:r>
              <a:rPr lang="en-US" sz="1500" b="1"/>
              <a:t>if (!user.BlockFlag || user.FUS_Id != 1) return "9"</a:t>
            </a:r>
          </a:p>
          <a:p>
            <a:pPr lvl="1"/>
            <a:r>
              <a:rPr lang="en-US" sz="1500" b="1"/>
              <a:t>IF Email provided AND does NOT match user's email  RETURN "1“</a:t>
            </a:r>
          </a:p>
          <a:p>
            <a:pPr lvl="1"/>
            <a:r>
              <a:rPr lang="en-US" sz="1500" b="1"/>
              <a:t>IF Mobile provided</a:t>
            </a:r>
          </a:p>
          <a:p>
            <a:pPr lvl="2"/>
            <a:r>
              <a:rPr lang="en-US" sz="1500" b="1"/>
              <a:t>IF no matching mobile found RETURN "22“</a:t>
            </a:r>
          </a:p>
          <a:p>
            <a:pPr lvl="2"/>
            <a:r>
              <a:rPr lang="en-US" sz="1500" b="1"/>
              <a:t>IF mobile does NOT match RETURN "11“</a:t>
            </a:r>
          </a:p>
          <a:p>
            <a:pPr lvl="1"/>
            <a:r>
              <a:rPr lang="en-US" sz="1600" b="1"/>
              <a:t>GET count of OTP sent today</a:t>
            </a:r>
          </a:p>
          <a:p>
            <a:pPr lvl="1"/>
            <a:r>
              <a:rPr lang="en-US" sz="1600" b="1"/>
              <a:t>SET maxPerDay = (codeUnified == 1 ? 5 : 3)</a:t>
            </a:r>
          </a:p>
          <a:p>
            <a:pPr lvl="1"/>
            <a:r>
              <a:rPr lang="en-US" sz="1600" b="1"/>
              <a:t>IF count &lt; maxPerDay</a:t>
            </a:r>
          </a:p>
          <a:p>
            <a:pPr lvl="1"/>
            <a:r>
              <a:rPr lang="en-US" sz="1600" b="1"/>
              <a:t>------------- &gt;&gt;&gt;&gt;&gt;</a:t>
            </a:r>
            <a:endParaRPr lang="en-US" sz="1700" b="1"/>
          </a:p>
        </p:txBody>
      </p:sp>
    </p:spTree>
    <p:extLst>
      <p:ext uri="{BB962C8B-B14F-4D97-AF65-F5344CB8AC3E}">
        <p14:creationId xmlns:p14="http://schemas.microsoft.com/office/powerpoint/2010/main" val="230490663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66D3-3BC2-31EA-04F6-53E988606A25}"/>
              </a:ext>
            </a:extLst>
          </p:cNvPr>
          <p:cNvSpPr>
            <a:spLocks noGrp="1"/>
          </p:cNvSpPr>
          <p:nvPr>
            <p:ph type="title"/>
          </p:nvPr>
        </p:nvSpPr>
        <p:spPr>
          <a:xfrm>
            <a:off x="1028095" y="0"/>
            <a:ext cx="10353762" cy="533400"/>
          </a:xfrm>
        </p:spPr>
        <p:txBody>
          <a:bodyPr>
            <a:normAutofit fontScale="90000"/>
          </a:bodyPr>
          <a:lstStyle/>
          <a:p>
            <a:r>
              <a:rPr lang="en-US" b="1"/>
              <a:t>Steps [ cont .] </a:t>
            </a:r>
            <a:endParaRPr lang="en-US"/>
          </a:p>
        </p:txBody>
      </p:sp>
      <p:sp>
        <p:nvSpPr>
          <p:cNvPr id="3" name="Content Placeholder 2">
            <a:extLst>
              <a:ext uri="{FF2B5EF4-FFF2-40B4-BE49-F238E27FC236}">
                <a16:creationId xmlns:a16="http://schemas.microsoft.com/office/drawing/2014/main" id="{8DA100C7-5ADB-E4E7-B137-F8F0EC90B557}"/>
              </a:ext>
            </a:extLst>
          </p:cNvPr>
          <p:cNvSpPr>
            <a:spLocks noGrp="1"/>
          </p:cNvSpPr>
          <p:nvPr>
            <p:ph idx="1"/>
          </p:nvPr>
        </p:nvSpPr>
        <p:spPr>
          <a:xfrm>
            <a:off x="381000" y="666750"/>
            <a:ext cx="11525250" cy="6067425"/>
          </a:xfrm>
        </p:spPr>
        <p:txBody>
          <a:bodyPr numCol="2">
            <a:normAutofit/>
          </a:bodyPr>
          <a:lstStyle/>
          <a:p>
            <a:r>
              <a:rPr lang="en-US" sz="1600" b="1"/>
              <a:t>IF count &lt; maxPerDay</a:t>
            </a:r>
          </a:p>
          <a:p>
            <a:pPr lvl="1"/>
            <a:r>
              <a:rPr lang="en-US" sz="1600" b="1"/>
              <a:t>GENERATE OTP code</a:t>
            </a:r>
          </a:p>
          <a:p>
            <a:pPr lvl="1"/>
            <a:r>
              <a:rPr lang="en-US" sz="1600" b="1"/>
              <a:t>CREATE new OTP entity</a:t>
            </a:r>
          </a:p>
          <a:p>
            <a:pPr lvl="2"/>
            <a:r>
              <a:rPr lang="en-US" b="1"/>
              <a:t>UserCode</a:t>
            </a:r>
            <a:br>
              <a:rPr lang="en-US" b="1"/>
            </a:br>
            <a:r>
              <a:rPr lang="en-US" b="1"/>
              <a:t>- ActiveCode</a:t>
            </a:r>
            <a:br>
              <a:rPr lang="en-US" b="1"/>
            </a:br>
            <a:r>
              <a:rPr lang="en-US" b="1"/>
              <a:t>- CreationDate = now</a:t>
            </a:r>
            <a:br>
              <a:rPr lang="en-US" b="1"/>
            </a:br>
            <a:r>
              <a:rPr lang="en-US" b="1"/>
              <a:t>- ExpireDate = now + 5 minutes</a:t>
            </a:r>
            <a:br>
              <a:rPr lang="en-US" b="1"/>
            </a:br>
            <a:r>
              <a:rPr lang="en-US" b="1"/>
              <a:t>- Contact = (Email OR Mobile)</a:t>
            </a:r>
          </a:p>
          <a:p>
            <a:r>
              <a:rPr lang="en-US" sz="1600" b="1"/>
              <a:t>MAIN branch → Email flow</a:t>
            </a:r>
          </a:p>
          <a:p>
            <a:r>
              <a:rPr lang="en-US" sz="1600" b="1"/>
              <a:t>IF Email provided</a:t>
            </a:r>
          </a:p>
          <a:p>
            <a:pPr lvl="1"/>
            <a:r>
              <a:rPr lang="en-US" sz="1400" b="1"/>
              <a:t>IF email domain is "tamweely.local“</a:t>
            </a:r>
          </a:p>
          <a:p>
            <a:pPr lvl="2"/>
            <a:r>
              <a:rPr lang="en-US" sz="1400" b="1"/>
              <a:t>SEND local email</a:t>
            </a:r>
            <a:br>
              <a:rPr lang="en-US" sz="1400" b="1"/>
            </a:br>
            <a:r>
              <a:rPr lang="en-US" sz="1400" b="1"/>
              <a:t>IF success ==“0” → save OTP</a:t>
            </a:r>
            <a:br>
              <a:rPr lang="en-US" sz="1400" b="1"/>
            </a:br>
            <a:r>
              <a:rPr lang="en-US" sz="1400" b="1"/>
              <a:t>RETURN result</a:t>
            </a:r>
          </a:p>
          <a:p>
            <a:pPr lvl="1"/>
            <a:r>
              <a:rPr lang="en-US" sz="1400" b="1"/>
              <a:t>ELSE IF email domain is "tamweely.com.eg“</a:t>
            </a:r>
          </a:p>
          <a:p>
            <a:pPr lvl="2"/>
            <a:r>
              <a:rPr lang="en-US" sz="1400" b="1"/>
              <a:t>SEND normal email</a:t>
            </a:r>
            <a:br>
              <a:rPr lang="en-US" sz="1400" b="1"/>
            </a:br>
            <a:r>
              <a:rPr lang="en-US" sz="1400" b="1"/>
              <a:t>IF success==“0” → save OTP</a:t>
            </a:r>
            <a:br>
              <a:rPr lang="en-US" sz="1400" b="1"/>
            </a:br>
            <a:r>
              <a:rPr lang="en-US" sz="1400" b="1"/>
              <a:t>RETURN result</a:t>
            </a:r>
          </a:p>
          <a:p>
            <a:pPr lvl="1"/>
            <a:r>
              <a:rPr lang="en-US" sz="1400" b="1"/>
              <a:t>Else</a:t>
            </a:r>
          </a:p>
          <a:p>
            <a:pPr lvl="2"/>
            <a:r>
              <a:rPr lang="en-US" sz="1400" b="1"/>
              <a:t>RETURN "11"</a:t>
            </a:r>
          </a:p>
          <a:p>
            <a:r>
              <a:rPr lang="en-US" sz="1600" b="1"/>
              <a:t>ELSE IF Mobile provided</a:t>
            </a:r>
          </a:p>
          <a:p>
            <a:pPr lvl="1"/>
            <a:r>
              <a:rPr lang="en-US" sz="1400" b="1"/>
              <a:t>IF codeUnified == 1</a:t>
            </a:r>
          </a:p>
          <a:p>
            <a:pPr lvl="2"/>
            <a:r>
              <a:rPr lang="en-US" sz="1400" b="1"/>
              <a:t>SET expire = 30 minutes</a:t>
            </a:r>
          </a:p>
          <a:p>
            <a:pPr lvl="2"/>
            <a:r>
              <a:rPr lang="en-US" sz="1400" b="1"/>
              <a:t>SET OTP = first 6 digits of national ID</a:t>
            </a:r>
          </a:p>
          <a:p>
            <a:pPr lvl="2"/>
            <a:r>
              <a:rPr lang="en-US" sz="1400" b="1"/>
              <a:t>SAVE OTP</a:t>
            </a:r>
          </a:p>
          <a:p>
            <a:pPr lvl="2"/>
            <a:r>
              <a:rPr lang="en-US" sz="1400" b="1"/>
              <a:t>RETURN "01"</a:t>
            </a:r>
          </a:p>
          <a:p>
            <a:pPr lvl="1"/>
            <a:r>
              <a:rPr lang="en-US" sz="1400" b="1"/>
              <a:t>SEND SMS</a:t>
            </a:r>
          </a:p>
          <a:p>
            <a:pPr lvl="2"/>
            <a:r>
              <a:rPr lang="en-US" sz="1400" b="1"/>
              <a:t>IF success → save OTP</a:t>
            </a:r>
          </a:p>
          <a:p>
            <a:pPr lvl="2"/>
            <a:r>
              <a:rPr lang="en-US" sz="1400" b="1"/>
              <a:t>RETURN result</a:t>
            </a:r>
          </a:p>
          <a:p>
            <a:pPr marL="36900" indent="0">
              <a:buNone/>
            </a:pPr>
            <a:endParaRPr lang="en-US" sz="1400" b="1"/>
          </a:p>
          <a:p>
            <a:r>
              <a:rPr lang="en-US" sz="1600" b="1"/>
              <a:t>Else of count &lt; maxPerDay</a:t>
            </a:r>
          </a:p>
          <a:p>
            <a:pPr lvl="1"/>
            <a:r>
              <a:rPr lang="en-US" sz="1400" b="1"/>
              <a:t>RETURN "3" // exceeded daily limit</a:t>
            </a:r>
          </a:p>
          <a:p>
            <a:r>
              <a:rPr lang="en-US" sz="1600"/>
              <a:t> </a:t>
            </a:r>
            <a:endParaRPr lang="en-US" sz="1600" b="1"/>
          </a:p>
          <a:p>
            <a:endParaRPr lang="en-US" sz="1600" b="1"/>
          </a:p>
        </p:txBody>
      </p:sp>
    </p:spTree>
    <p:extLst>
      <p:ext uri="{BB962C8B-B14F-4D97-AF65-F5344CB8AC3E}">
        <p14:creationId xmlns:p14="http://schemas.microsoft.com/office/powerpoint/2010/main" val="75062259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FCFA-17A2-FAD7-4D6E-28D7DB5C6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9317E-4032-3F74-ED6A-C01B9CED271C}"/>
              </a:ext>
            </a:extLst>
          </p:cNvPr>
          <p:cNvSpPr>
            <a:spLocks noGrp="1"/>
          </p:cNvSpPr>
          <p:nvPr>
            <p:ph type="title"/>
          </p:nvPr>
        </p:nvSpPr>
        <p:spPr>
          <a:xfrm>
            <a:off x="913795" y="609600"/>
            <a:ext cx="10353762" cy="4171950"/>
          </a:xfrm>
        </p:spPr>
        <p:txBody>
          <a:bodyPr>
            <a:normAutofit/>
          </a:bodyPr>
          <a:lstStyle/>
          <a:p>
            <a:r>
              <a:rPr lang="en-US" sz="6600" b="1">
                <a:solidFill>
                  <a:srgbClr val="FF0000"/>
                </a:solidFill>
              </a:rPr>
              <a:t>End Forget Password</a:t>
            </a:r>
          </a:p>
        </p:txBody>
      </p:sp>
    </p:spTree>
    <p:extLst>
      <p:ext uri="{BB962C8B-B14F-4D97-AF65-F5344CB8AC3E}">
        <p14:creationId xmlns:p14="http://schemas.microsoft.com/office/powerpoint/2010/main" val="145050201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BB052-AF52-E419-461D-B3F4000E2A11}"/>
              </a:ext>
            </a:extLst>
          </p:cNvPr>
          <p:cNvSpPr>
            <a:spLocks noGrp="1"/>
          </p:cNvSpPr>
          <p:nvPr>
            <p:ph type="title"/>
          </p:nvPr>
        </p:nvSpPr>
        <p:spPr>
          <a:xfrm>
            <a:off x="913795" y="0"/>
            <a:ext cx="10353762" cy="628650"/>
          </a:xfrm>
        </p:spPr>
        <p:txBody>
          <a:bodyPr>
            <a:normAutofit fontScale="90000"/>
          </a:bodyPr>
          <a:lstStyle/>
          <a:p>
            <a:r>
              <a:rPr lang="en-US" b="1">
                <a:solidFill>
                  <a:srgbClr val="FFFF00"/>
                </a:solidFill>
              </a:rPr>
              <a:t>MenuRoleForLoginVM</a:t>
            </a:r>
          </a:p>
        </p:txBody>
      </p:sp>
      <p:sp>
        <p:nvSpPr>
          <p:cNvPr id="3" name="Content Placeholder 2">
            <a:extLst>
              <a:ext uri="{FF2B5EF4-FFF2-40B4-BE49-F238E27FC236}">
                <a16:creationId xmlns:a16="http://schemas.microsoft.com/office/drawing/2014/main" id="{D04CDEA0-BFE7-96D2-1443-17C0CD8D2C7D}"/>
              </a:ext>
            </a:extLst>
          </p:cNvPr>
          <p:cNvSpPr>
            <a:spLocks noGrp="1"/>
          </p:cNvSpPr>
          <p:nvPr>
            <p:ph idx="1"/>
          </p:nvPr>
        </p:nvSpPr>
        <p:spPr>
          <a:xfrm>
            <a:off x="171450" y="695325"/>
            <a:ext cx="11791950" cy="6019800"/>
          </a:xfrm>
        </p:spPr>
        <p:txBody>
          <a:bodyPr numCol="2">
            <a:normAutofit/>
          </a:bodyPr>
          <a:lstStyle/>
          <a:p>
            <a:r>
              <a:rPr lang="en-US" sz="1600" b="1"/>
              <a:t>Menu_id</a:t>
            </a:r>
          </a:p>
          <a:p>
            <a:r>
              <a:rPr lang="en-US" sz="1600" b="1"/>
              <a:t>M_nameParent_AR</a:t>
            </a:r>
          </a:p>
          <a:p>
            <a:r>
              <a:rPr lang="en-US" sz="1600" b="1"/>
              <a:t>M_nameParent_Eng  // </a:t>
            </a:r>
            <a:r>
              <a:rPr lang="en-US" sz="1600"/>
              <a:t>Main menu name</a:t>
            </a:r>
            <a:endParaRPr lang="en-US" sz="1600" b="1"/>
          </a:p>
          <a:p>
            <a:r>
              <a:rPr lang="en-US" sz="1600" b="1"/>
              <a:t>M_nameChild_AR</a:t>
            </a:r>
          </a:p>
          <a:p>
            <a:r>
              <a:rPr lang="en-US" sz="1600" b="1"/>
              <a:t>M_nameChild_Eng // </a:t>
            </a:r>
            <a:r>
              <a:rPr lang="en-US" sz="1600"/>
              <a:t>Submenu name</a:t>
            </a:r>
            <a:endParaRPr lang="en-US" sz="1600" b="1"/>
          </a:p>
          <a:p>
            <a:r>
              <a:rPr lang="en-US" sz="1600" b="1"/>
              <a:t>M_namePage_AR</a:t>
            </a:r>
          </a:p>
          <a:p>
            <a:r>
              <a:rPr lang="en-US" sz="1600" b="1"/>
              <a:t>M_namePage_Eng // </a:t>
            </a:r>
            <a:r>
              <a:rPr lang="en-US" sz="1600"/>
              <a:t>Page name</a:t>
            </a:r>
            <a:endParaRPr lang="en-US" sz="1600" b="1"/>
          </a:p>
          <a:p>
            <a:r>
              <a:rPr lang="en-US" sz="1600" b="1"/>
              <a:t>M_Parent_id	   </a:t>
            </a:r>
          </a:p>
          <a:p>
            <a:r>
              <a:rPr lang="en-US" sz="1600" b="1"/>
              <a:t>M_URL</a:t>
            </a:r>
          </a:p>
          <a:p>
            <a:r>
              <a:rPr lang="en-US" sz="1600" b="1"/>
              <a:t>M_URLParent</a:t>
            </a:r>
          </a:p>
          <a:p>
            <a:r>
              <a:rPr lang="en-US" sz="1600" b="1"/>
              <a:t>M_URLChild</a:t>
            </a:r>
          </a:p>
          <a:p>
            <a:r>
              <a:rPr lang="en-US" sz="1600" b="1"/>
              <a:t>M_URLPage</a:t>
            </a:r>
          </a:p>
          <a:p>
            <a:r>
              <a:rPr lang="en-US" sz="1600" b="1"/>
              <a:t>M_Icon</a:t>
            </a:r>
          </a:p>
          <a:p>
            <a:r>
              <a:rPr lang="en-US" sz="1600" b="1"/>
              <a:t>Role_id</a:t>
            </a:r>
          </a:p>
          <a:p>
            <a:r>
              <a:rPr lang="en-US" sz="1600" b="1"/>
              <a:t>Parent_Id</a:t>
            </a:r>
          </a:p>
          <a:p>
            <a:r>
              <a:rPr lang="en-US" sz="1600" b="1"/>
              <a:t>Child_Id</a:t>
            </a:r>
          </a:p>
          <a:p>
            <a:r>
              <a:rPr lang="en-US" sz="1600" b="1"/>
              <a:t>Paging_Id</a:t>
            </a:r>
          </a:p>
          <a:p>
            <a:r>
              <a:rPr lang="en-US" sz="1600" b="1"/>
              <a:t>M_Status</a:t>
            </a:r>
          </a:p>
          <a:p>
            <a:r>
              <a:rPr lang="en-US" sz="1600" b="1"/>
              <a:t>Type</a:t>
            </a:r>
          </a:p>
          <a:p>
            <a:r>
              <a:rPr lang="en-US" sz="1600" b="1"/>
              <a:t>TypeName</a:t>
            </a:r>
          </a:p>
          <a:p>
            <a:r>
              <a:rPr lang="en-US" sz="1600" b="1"/>
              <a:t>MenuItem</a:t>
            </a:r>
          </a:p>
          <a:p>
            <a:pPr lvl="1"/>
            <a:r>
              <a:rPr lang="en-US" sz="1600" b="1"/>
              <a:t>URMA_id</a:t>
            </a:r>
          </a:p>
          <a:p>
            <a:pPr lvl="1"/>
            <a:r>
              <a:rPr lang="en-US" sz="1600" b="1"/>
              <a:t>Role_id</a:t>
            </a:r>
          </a:p>
          <a:p>
            <a:pPr lvl="1"/>
            <a:r>
              <a:rPr lang="en-US" sz="1600" b="1"/>
              <a:t>Parent_Id</a:t>
            </a:r>
          </a:p>
          <a:p>
            <a:pPr lvl="1"/>
            <a:r>
              <a:rPr lang="en-US" sz="1600" b="1"/>
              <a:t>Child_Id</a:t>
            </a:r>
          </a:p>
          <a:p>
            <a:pPr lvl="1"/>
            <a:r>
              <a:rPr lang="en-US" sz="1600" b="1"/>
              <a:t>Paging_Id</a:t>
            </a:r>
          </a:p>
          <a:p>
            <a:endParaRPr lang="en-US" sz="1600" b="1"/>
          </a:p>
        </p:txBody>
      </p:sp>
    </p:spTree>
    <p:extLst>
      <p:ext uri="{BB962C8B-B14F-4D97-AF65-F5344CB8AC3E}">
        <p14:creationId xmlns:p14="http://schemas.microsoft.com/office/powerpoint/2010/main" val="10366603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CB5F5-8C73-E46E-5CC4-606D57CCF32B}"/>
              </a:ext>
            </a:extLst>
          </p:cNvPr>
          <p:cNvSpPr>
            <a:spLocks noGrp="1"/>
          </p:cNvSpPr>
          <p:nvPr>
            <p:ph type="title"/>
          </p:nvPr>
        </p:nvSpPr>
        <p:spPr>
          <a:xfrm>
            <a:off x="913795" y="0"/>
            <a:ext cx="10353762" cy="685800"/>
          </a:xfrm>
        </p:spPr>
        <p:txBody>
          <a:bodyPr>
            <a:normAutofit fontScale="90000"/>
          </a:bodyPr>
          <a:lstStyle/>
          <a:p>
            <a:r>
              <a:rPr lang="en-US" b="1"/>
              <a:t>Get User group</a:t>
            </a:r>
          </a:p>
        </p:txBody>
      </p:sp>
      <p:sp>
        <p:nvSpPr>
          <p:cNvPr id="3" name="Content Placeholder 2">
            <a:extLst>
              <a:ext uri="{FF2B5EF4-FFF2-40B4-BE49-F238E27FC236}">
                <a16:creationId xmlns:a16="http://schemas.microsoft.com/office/drawing/2014/main" id="{B9449A90-2321-C115-9402-64E1227F5C8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4728098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26E2-D2D9-FB1B-E36D-5B64B57D3D88}"/>
              </a:ext>
            </a:extLst>
          </p:cNvPr>
          <p:cNvSpPr>
            <a:spLocks noGrp="1"/>
          </p:cNvSpPr>
          <p:nvPr>
            <p:ph type="title"/>
          </p:nvPr>
        </p:nvSpPr>
        <p:spPr>
          <a:xfrm>
            <a:off x="913795" y="609599"/>
            <a:ext cx="10353762" cy="5457825"/>
          </a:xfrm>
        </p:spPr>
        <p:txBody>
          <a:bodyPr>
            <a:normAutofit/>
          </a:bodyPr>
          <a:lstStyle/>
          <a:p>
            <a:r>
              <a:rPr lang="en-US" sz="8000" b="1">
                <a:solidFill>
                  <a:srgbClr val="FF0000"/>
                </a:solidFill>
              </a:rPr>
              <a:t>Start login</a:t>
            </a:r>
          </a:p>
        </p:txBody>
      </p:sp>
    </p:spTree>
    <p:extLst>
      <p:ext uri="{BB962C8B-B14F-4D97-AF65-F5344CB8AC3E}">
        <p14:creationId xmlns:p14="http://schemas.microsoft.com/office/powerpoint/2010/main" val="330276664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FCAB-635E-B943-1399-1636BEB15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85D5D-A103-9289-CAD1-A16969C3A084}"/>
              </a:ext>
            </a:extLst>
          </p:cNvPr>
          <p:cNvSpPr>
            <a:spLocks noGrp="1"/>
          </p:cNvSpPr>
          <p:nvPr>
            <p:ph type="title"/>
          </p:nvPr>
        </p:nvSpPr>
        <p:spPr>
          <a:xfrm>
            <a:off x="913795" y="609599"/>
            <a:ext cx="10353762" cy="5457825"/>
          </a:xfrm>
        </p:spPr>
        <p:txBody>
          <a:bodyPr>
            <a:normAutofit/>
          </a:bodyPr>
          <a:lstStyle/>
          <a:p>
            <a:r>
              <a:rPr lang="en-US" sz="8000" b="1">
                <a:solidFill>
                  <a:srgbClr val="FF0000"/>
                </a:solidFill>
              </a:rPr>
              <a:t>End login</a:t>
            </a:r>
          </a:p>
        </p:txBody>
      </p:sp>
    </p:spTree>
    <p:extLst>
      <p:ext uri="{BB962C8B-B14F-4D97-AF65-F5344CB8AC3E}">
        <p14:creationId xmlns:p14="http://schemas.microsoft.com/office/powerpoint/2010/main" val="247978578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4C31-63E6-F9A5-F419-E597FD4E5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12491-772C-EE68-EFC4-4CCF25A6B13D}"/>
              </a:ext>
            </a:extLst>
          </p:cNvPr>
          <p:cNvSpPr>
            <a:spLocks noGrp="1"/>
          </p:cNvSpPr>
          <p:nvPr>
            <p:ph type="title"/>
          </p:nvPr>
        </p:nvSpPr>
        <p:spPr>
          <a:xfrm>
            <a:off x="913795" y="609599"/>
            <a:ext cx="10353762" cy="5457825"/>
          </a:xfrm>
        </p:spPr>
        <p:txBody>
          <a:bodyPr>
            <a:normAutofit/>
          </a:bodyPr>
          <a:lstStyle/>
          <a:p>
            <a:r>
              <a:rPr lang="en-US" sz="6600" b="1">
                <a:solidFill>
                  <a:srgbClr val="FF0000"/>
                </a:solidFill>
              </a:rPr>
              <a:t>Start Users page</a:t>
            </a:r>
            <a:br>
              <a:rPr lang="en-US" sz="6600" b="1">
                <a:solidFill>
                  <a:srgbClr val="FF0000"/>
                </a:solidFill>
              </a:rPr>
            </a:br>
            <a:r>
              <a:rPr lang="ar-EG" sz="6600" b="1">
                <a:solidFill>
                  <a:srgbClr val="FF0000"/>
                </a:solidFill>
              </a:rPr>
              <a:t>مستخدمي النظام</a:t>
            </a:r>
            <a:endParaRPr lang="en-US" sz="6600" b="1">
              <a:solidFill>
                <a:srgbClr val="FF0000"/>
              </a:solidFill>
            </a:endParaRPr>
          </a:p>
        </p:txBody>
      </p:sp>
    </p:spTree>
    <p:extLst>
      <p:ext uri="{BB962C8B-B14F-4D97-AF65-F5344CB8AC3E}">
        <p14:creationId xmlns:p14="http://schemas.microsoft.com/office/powerpoint/2010/main" val="242098396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4A7B-5C35-013C-5139-6DFBA5786B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DF0889-35AF-9EA8-3D29-DF4D0A53C21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3458369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E41DB-E7C5-DCF8-D6B3-45E65FFBA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2EAE1-5630-5E19-564A-D654745C5D70}"/>
              </a:ext>
            </a:extLst>
          </p:cNvPr>
          <p:cNvSpPr>
            <a:spLocks noGrp="1"/>
          </p:cNvSpPr>
          <p:nvPr>
            <p:ph type="title"/>
          </p:nvPr>
        </p:nvSpPr>
        <p:spPr>
          <a:xfrm>
            <a:off x="913795" y="609599"/>
            <a:ext cx="10353762" cy="5457825"/>
          </a:xfrm>
        </p:spPr>
        <p:txBody>
          <a:bodyPr>
            <a:normAutofit/>
          </a:bodyPr>
          <a:lstStyle/>
          <a:p>
            <a:r>
              <a:rPr lang="en-US" sz="8000" b="1">
                <a:solidFill>
                  <a:srgbClr val="FF0000"/>
                </a:solidFill>
              </a:rPr>
              <a:t>End Users page</a:t>
            </a:r>
            <a:br>
              <a:rPr lang="en-US" sz="8000" b="1">
                <a:solidFill>
                  <a:srgbClr val="FF0000"/>
                </a:solidFill>
              </a:rPr>
            </a:br>
            <a:r>
              <a:rPr lang="ar-EG" sz="8000" b="1">
                <a:solidFill>
                  <a:srgbClr val="FF0000"/>
                </a:solidFill>
              </a:rPr>
              <a:t>مستخدمي النظام</a:t>
            </a:r>
            <a:endParaRPr lang="en-US" sz="8000" b="1">
              <a:solidFill>
                <a:srgbClr val="FF0000"/>
              </a:solidFill>
            </a:endParaRPr>
          </a:p>
        </p:txBody>
      </p:sp>
    </p:spTree>
    <p:extLst>
      <p:ext uri="{BB962C8B-B14F-4D97-AF65-F5344CB8AC3E}">
        <p14:creationId xmlns:p14="http://schemas.microsoft.com/office/powerpoint/2010/main" val="170724675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2D34B-8D0D-D3C6-CAC6-3EB03144D0C2}"/>
              </a:ext>
            </a:extLst>
          </p:cNvPr>
          <p:cNvSpPr>
            <a:spLocks noGrp="1"/>
          </p:cNvSpPr>
          <p:nvPr>
            <p:ph type="title"/>
          </p:nvPr>
        </p:nvSpPr>
        <p:spPr>
          <a:xfrm>
            <a:off x="989995" y="0"/>
            <a:ext cx="10353762" cy="552450"/>
          </a:xfrm>
        </p:spPr>
        <p:txBody>
          <a:bodyPr>
            <a:normAutofit fontScale="90000"/>
          </a:bodyPr>
          <a:lstStyle/>
          <a:p>
            <a:r>
              <a:rPr lang="en-US" b="1">
                <a:solidFill>
                  <a:srgbClr val="FFFF00"/>
                </a:solidFill>
              </a:rPr>
              <a:t>Lookup</a:t>
            </a:r>
            <a:r>
              <a:rPr lang="en-US" b="1"/>
              <a:t>. </a:t>
            </a:r>
            <a:r>
              <a:rPr lang="en-US" b="1">
                <a:solidFill>
                  <a:srgbClr val="FF0000"/>
                </a:solidFill>
              </a:rPr>
              <a:t>Mobile_Numbers</a:t>
            </a:r>
          </a:p>
        </p:txBody>
      </p:sp>
      <p:sp>
        <p:nvSpPr>
          <p:cNvPr id="3" name="Content Placeholder 2">
            <a:extLst>
              <a:ext uri="{FF2B5EF4-FFF2-40B4-BE49-F238E27FC236}">
                <a16:creationId xmlns:a16="http://schemas.microsoft.com/office/drawing/2014/main" id="{54CE7160-220E-A203-F781-D490AF4984B0}"/>
              </a:ext>
            </a:extLst>
          </p:cNvPr>
          <p:cNvSpPr>
            <a:spLocks noGrp="1"/>
          </p:cNvSpPr>
          <p:nvPr>
            <p:ph idx="1"/>
          </p:nvPr>
        </p:nvSpPr>
        <p:spPr>
          <a:xfrm>
            <a:off x="0" y="552450"/>
            <a:ext cx="12192000" cy="6019799"/>
          </a:xfrm>
        </p:spPr>
        <p:txBody>
          <a:bodyPr/>
          <a:lstStyle/>
          <a:p>
            <a:r>
              <a:rPr lang="en-US" b="1"/>
              <a:t>MN_ID: int , PK</a:t>
            </a:r>
          </a:p>
          <a:p>
            <a:r>
              <a:rPr lang="en-US" b="1"/>
              <a:t>Mobile: string</a:t>
            </a:r>
          </a:p>
          <a:p>
            <a:r>
              <a:rPr lang="en-US" b="1"/>
              <a:t>UserID: int , FK from User</a:t>
            </a:r>
          </a:p>
        </p:txBody>
      </p:sp>
      <p:pic>
        <p:nvPicPr>
          <p:cNvPr id="5" name="Picture 4">
            <a:extLst>
              <a:ext uri="{FF2B5EF4-FFF2-40B4-BE49-F238E27FC236}">
                <a16:creationId xmlns:a16="http://schemas.microsoft.com/office/drawing/2014/main" id="{D86D0096-1DE2-F95E-B476-4B6586BF8621}"/>
              </a:ext>
            </a:extLst>
          </p:cNvPr>
          <p:cNvPicPr>
            <a:picLocks noChangeAspect="1"/>
          </p:cNvPicPr>
          <p:nvPr/>
        </p:nvPicPr>
        <p:blipFill>
          <a:blip r:embed="rId2"/>
          <a:stretch>
            <a:fillRect/>
          </a:stretch>
        </p:blipFill>
        <p:spPr>
          <a:xfrm>
            <a:off x="7139999" y="1104900"/>
            <a:ext cx="3372352" cy="2952750"/>
          </a:xfrm>
          <a:prstGeom prst="rect">
            <a:avLst/>
          </a:prstGeom>
        </p:spPr>
      </p:pic>
    </p:spTree>
    <p:extLst>
      <p:ext uri="{BB962C8B-B14F-4D97-AF65-F5344CB8AC3E}">
        <p14:creationId xmlns:p14="http://schemas.microsoft.com/office/powerpoint/2010/main" val="119297638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9A69E-06CE-97FD-204E-1EAB56654B9A}"/>
              </a:ext>
            </a:extLst>
          </p:cNvPr>
          <p:cNvSpPr>
            <a:spLocks noGrp="1"/>
          </p:cNvSpPr>
          <p:nvPr>
            <p:ph type="title"/>
          </p:nvPr>
        </p:nvSpPr>
        <p:spPr>
          <a:xfrm>
            <a:off x="795808" y="0"/>
            <a:ext cx="10353762" cy="530942"/>
          </a:xfrm>
        </p:spPr>
        <p:txBody>
          <a:bodyPr>
            <a:normAutofit fontScale="90000"/>
          </a:bodyPr>
          <a:lstStyle/>
          <a:p>
            <a:r>
              <a:rPr lang="en-US" b="1" err="1">
                <a:solidFill>
                  <a:srgbClr val="FF0000"/>
                </a:solidFill>
              </a:rPr>
              <a:t>BranchGovernRegion</a:t>
            </a:r>
            <a:r>
              <a:rPr lang="en-US" b="1">
                <a:solidFill>
                  <a:srgbClr val="FF0000"/>
                </a:solidFill>
              </a:rPr>
              <a:t> VM</a:t>
            </a:r>
          </a:p>
        </p:txBody>
      </p:sp>
      <p:sp>
        <p:nvSpPr>
          <p:cNvPr id="3" name="Content Placeholder 2">
            <a:extLst>
              <a:ext uri="{FF2B5EF4-FFF2-40B4-BE49-F238E27FC236}">
                <a16:creationId xmlns:a16="http://schemas.microsoft.com/office/drawing/2014/main" id="{8C64C52F-88D2-D45B-14B5-1C9472A1F8DB}"/>
              </a:ext>
            </a:extLst>
          </p:cNvPr>
          <p:cNvSpPr>
            <a:spLocks noGrp="1"/>
          </p:cNvSpPr>
          <p:nvPr>
            <p:ph idx="1"/>
          </p:nvPr>
        </p:nvSpPr>
        <p:spPr>
          <a:xfrm>
            <a:off x="353960" y="530943"/>
            <a:ext cx="11533239" cy="6135328"/>
          </a:xfrm>
        </p:spPr>
        <p:txBody>
          <a:bodyPr>
            <a:normAutofit/>
          </a:bodyPr>
          <a:lstStyle/>
          <a:p>
            <a:r>
              <a:rPr lang="en-US" sz="1800"/>
              <a:t>BranchId     		// From Table branch</a:t>
            </a:r>
          </a:p>
          <a:p>
            <a:r>
              <a:rPr lang="en-US" sz="1800" err="1"/>
              <a:t>Branch_code</a:t>
            </a:r>
            <a:r>
              <a:rPr lang="en-US" sz="1800"/>
              <a:t>		// From Table branch</a:t>
            </a:r>
          </a:p>
          <a:p>
            <a:r>
              <a:rPr lang="en-US" sz="1800" err="1"/>
              <a:t>ExterNum</a:t>
            </a:r>
            <a:r>
              <a:rPr lang="en-US" sz="1800"/>
              <a:t>		// From Table branch</a:t>
            </a:r>
          </a:p>
          <a:p>
            <a:endParaRPr lang="en-US" sz="1800"/>
          </a:p>
        </p:txBody>
      </p:sp>
    </p:spTree>
    <p:extLst>
      <p:ext uri="{BB962C8B-B14F-4D97-AF65-F5344CB8AC3E}">
        <p14:creationId xmlns:p14="http://schemas.microsoft.com/office/powerpoint/2010/main" val="167831603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FE32-DD82-CBD6-386F-93F17B98F119}"/>
              </a:ext>
            </a:extLst>
          </p:cNvPr>
          <p:cNvSpPr>
            <a:spLocks noGrp="1"/>
          </p:cNvSpPr>
          <p:nvPr>
            <p:ph type="title"/>
          </p:nvPr>
        </p:nvSpPr>
        <p:spPr>
          <a:xfrm>
            <a:off x="913795" y="0"/>
            <a:ext cx="10353762" cy="530942"/>
          </a:xfrm>
        </p:spPr>
        <p:txBody>
          <a:bodyPr>
            <a:normAutofit fontScale="90000"/>
          </a:bodyPr>
          <a:lstStyle/>
          <a:p>
            <a:r>
              <a:rPr lang="en-US"/>
              <a:t>Amounts of Funding request</a:t>
            </a:r>
          </a:p>
        </p:txBody>
      </p:sp>
      <p:sp>
        <p:nvSpPr>
          <p:cNvPr id="3" name="Content Placeholder 2">
            <a:extLst>
              <a:ext uri="{FF2B5EF4-FFF2-40B4-BE49-F238E27FC236}">
                <a16:creationId xmlns:a16="http://schemas.microsoft.com/office/drawing/2014/main" id="{D1726BCA-1DA4-81E2-3DF2-D1E1CF687B83}"/>
              </a:ext>
            </a:extLst>
          </p:cNvPr>
          <p:cNvSpPr>
            <a:spLocks noGrp="1"/>
          </p:cNvSpPr>
          <p:nvPr>
            <p:ph idx="1"/>
          </p:nvPr>
        </p:nvSpPr>
        <p:spPr>
          <a:xfrm>
            <a:off x="108156" y="530942"/>
            <a:ext cx="11779044" cy="6056671"/>
          </a:xfrm>
        </p:spPr>
        <p:txBody>
          <a:bodyPr/>
          <a:lstStyle/>
          <a:p>
            <a:pPr algn="r" rtl="1"/>
            <a:r>
              <a:rPr lang="en-US" b="1">
                <a:solidFill>
                  <a:srgbClr val="FF0000"/>
                </a:solidFill>
                <a:effectLst/>
              </a:rPr>
              <a:t>Required_amount</a:t>
            </a:r>
            <a:r>
              <a:rPr lang="ar-EG" b="1">
                <a:solidFill>
                  <a:srgbClr val="FF0000"/>
                </a:solidFill>
                <a:effectLst/>
              </a:rPr>
              <a:t> </a:t>
            </a:r>
            <a:r>
              <a:rPr lang="ar-EG">
                <a:effectLst/>
              </a:rPr>
              <a:t>: المبلغ الذي كتبه العميل في "نموذج الطلب" بناءً على احتياجه الشخصي.</a:t>
            </a:r>
          </a:p>
          <a:p>
            <a:pPr algn="r" rtl="1"/>
            <a:r>
              <a:rPr lang="en-US" b="1">
                <a:solidFill>
                  <a:srgbClr val="FF0000"/>
                </a:solidFill>
                <a:effectLst/>
              </a:rPr>
              <a:t>Financing_amount</a:t>
            </a:r>
            <a:r>
              <a:rPr lang="ar-EG">
                <a:effectLst/>
              </a:rPr>
              <a:t> : قيمة التمويل بعد التعلية</a:t>
            </a:r>
          </a:p>
          <a:p>
            <a:pPr algn="r" rtl="1"/>
            <a:r>
              <a:rPr lang="en-US" b="1">
                <a:solidFill>
                  <a:srgbClr val="FF0000"/>
                </a:solidFill>
                <a:effectLst/>
              </a:rPr>
              <a:t>Actual_financing</a:t>
            </a:r>
            <a:r>
              <a:rPr lang="ar-EG" b="1">
                <a:solidFill>
                  <a:srgbClr val="FF0000"/>
                </a:solidFill>
                <a:effectLst/>
              </a:rPr>
              <a:t> </a:t>
            </a:r>
            <a:r>
              <a:rPr lang="ar-EG">
                <a:effectLst/>
              </a:rPr>
              <a:t>: المبلغ الصافى الذى خرج من الخزينة وذهب للعميل</a:t>
            </a:r>
            <a:endParaRPr lang="en-US">
              <a:effectLst/>
            </a:endParaRPr>
          </a:p>
          <a:p>
            <a:pPr algn="r" rtl="1"/>
            <a:r>
              <a:rPr lang="en-US" b="1">
                <a:solidFill>
                  <a:srgbClr val="FF0000"/>
                </a:solidFill>
              </a:rPr>
              <a:t>COM_RAT</a:t>
            </a:r>
            <a:r>
              <a:rPr lang="ar-EG"/>
              <a:t> : </a:t>
            </a:r>
            <a:r>
              <a:rPr lang="ar-EG">
                <a:effectLst/>
              </a:rPr>
              <a:t>عمولة المنح و</a:t>
            </a:r>
            <a:r>
              <a:rPr lang="ar-EG"/>
              <a:t>هي مبلغ مقطوع للمصاريف الادارية </a:t>
            </a:r>
            <a:endParaRPr lang="en-US">
              <a:effectLst/>
            </a:endParaRPr>
          </a:p>
          <a:p>
            <a:pPr algn="r" rtl="1"/>
            <a:r>
              <a:rPr lang="en-US" b="1">
                <a:solidFill>
                  <a:srgbClr val="FF0000"/>
                </a:solidFill>
                <a:effectLst/>
              </a:rPr>
              <a:t>DEBT_VALUE</a:t>
            </a:r>
            <a:r>
              <a:rPr lang="en-US">
                <a:effectLst/>
              </a:rPr>
              <a:t> </a:t>
            </a:r>
            <a:r>
              <a:rPr lang="ar-EG">
                <a:effectLst/>
              </a:rPr>
              <a:t>: قيمة المديونية (أصل القرض + الفوائد + عمولة المنح). وهي قيمة متناقصة تقل مع كل عملية سداد يقوم بها العميل.</a:t>
            </a:r>
            <a:endParaRPr lang="en-US">
              <a:effectLst/>
            </a:endParaRPr>
          </a:p>
          <a:p>
            <a:pPr algn="r" rtl="1"/>
            <a:r>
              <a:rPr lang="en-US" b="1">
                <a:solidFill>
                  <a:srgbClr val="FF0000"/>
                </a:solidFill>
                <a:effectLst/>
              </a:rPr>
              <a:t>APP_FEE</a:t>
            </a:r>
            <a:r>
              <a:rPr lang="ar-EG" b="1">
                <a:solidFill>
                  <a:srgbClr val="FF0000"/>
                </a:solidFill>
                <a:effectLst/>
              </a:rPr>
              <a:t> </a:t>
            </a:r>
            <a:r>
              <a:rPr lang="ar-EG">
                <a:effectLst/>
              </a:rPr>
              <a:t>: رسوم إدارية ثابتة تُدفع نقداً عند تقديم الورق، وغالباً لا تُسترد حتى لو رُفض الطلب</a:t>
            </a:r>
            <a:endParaRPr lang="ar-EG"/>
          </a:p>
          <a:p>
            <a:pPr algn="r" rtl="1"/>
            <a:r>
              <a:rPr lang="en-US"/>
              <a:t> </a:t>
            </a:r>
            <a:r>
              <a:rPr lang="en-US" b="1">
                <a:solidFill>
                  <a:srgbClr val="FF0000"/>
                </a:solidFill>
              </a:rPr>
              <a:t>PRIMIUM_VALUE </a:t>
            </a:r>
            <a:r>
              <a:rPr lang="ar-EG"/>
              <a:t>: مبلغ القسط </a:t>
            </a:r>
          </a:p>
          <a:p>
            <a:pPr algn="r" rtl="1"/>
            <a:r>
              <a:rPr lang="en-US" b="1">
                <a:solidFill>
                  <a:srgbClr val="FF0000"/>
                </a:solidFill>
              </a:rPr>
              <a:t>Rate</a:t>
            </a:r>
            <a:r>
              <a:rPr lang="ar-EG"/>
              <a:t> : سعر الفائدة الذي سيتم تطبيقه على مبلغ التمويل</a:t>
            </a:r>
          </a:p>
          <a:p>
            <a:pPr algn="r" rtl="1"/>
            <a:r>
              <a:rPr lang="en-US" b="1" err="1">
                <a:solidFill>
                  <a:srgbClr val="FF0000"/>
                </a:solidFill>
              </a:rPr>
              <a:t>Approve_Value</a:t>
            </a:r>
            <a:r>
              <a:rPr lang="ar-EG" b="1">
                <a:solidFill>
                  <a:srgbClr val="FF0000"/>
                </a:solidFill>
              </a:rPr>
              <a:t> </a:t>
            </a:r>
            <a:r>
              <a:rPr lang="ar-EG"/>
              <a:t>: </a:t>
            </a:r>
          </a:p>
          <a:p>
            <a:pPr algn="r" rtl="1"/>
            <a:r>
              <a:rPr lang="en-US"/>
              <a:t> </a:t>
            </a:r>
            <a:r>
              <a:rPr lang="en-US" b="1" err="1">
                <a:solidFill>
                  <a:srgbClr val="FF0000"/>
                </a:solidFill>
              </a:rPr>
              <a:t>Approved_Amount</a:t>
            </a:r>
            <a:r>
              <a:rPr lang="ar-EG"/>
              <a:t>: </a:t>
            </a:r>
          </a:p>
          <a:p>
            <a:pPr algn="r" rtl="1"/>
            <a:r>
              <a:rPr lang="en-US" b="1" err="1">
                <a:solidFill>
                  <a:srgbClr val="FF0000"/>
                </a:solidFill>
              </a:rPr>
              <a:t>Total_Amount</a:t>
            </a:r>
            <a:r>
              <a:rPr lang="ar-EG" b="1">
                <a:solidFill>
                  <a:srgbClr val="FF0000"/>
                </a:solidFill>
              </a:rPr>
              <a:t> </a:t>
            </a:r>
            <a:r>
              <a:rPr lang="ar-EG"/>
              <a:t>:</a:t>
            </a:r>
          </a:p>
          <a:p>
            <a:pPr algn="r" rtl="1"/>
            <a:r>
              <a:rPr lang="en-US" b="1" err="1">
                <a:solidFill>
                  <a:srgbClr val="FF0000"/>
                </a:solidFill>
              </a:rPr>
              <a:t>PenaltyAmount</a:t>
            </a:r>
            <a:r>
              <a:rPr lang="ar-EG"/>
              <a:t> : إجمالى الغرامات </a:t>
            </a:r>
          </a:p>
          <a:p>
            <a:pPr algn="r" rtl="1"/>
            <a:r>
              <a:rPr lang="ar-EG"/>
              <a:t>  </a:t>
            </a:r>
            <a:endParaRPr lang="en-US"/>
          </a:p>
        </p:txBody>
      </p:sp>
    </p:spTree>
    <p:extLst>
      <p:ext uri="{BB962C8B-B14F-4D97-AF65-F5344CB8AC3E}">
        <p14:creationId xmlns:p14="http://schemas.microsoft.com/office/powerpoint/2010/main" val="426384076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A5E12-8432-92CF-A8BC-5AC20707DA1D}"/>
              </a:ext>
            </a:extLst>
          </p:cNvPr>
          <p:cNvSpPr>
            <a:spLocks noGrp="1"/>
          </p:cNvSpPr>
          <p:nvPr>
            <p:ph type="title"/>
          </p:nvPr>
        </p:nvSpPr>
        <p:spPr>
          <a:xfrm>
            <a:off x="913795" y="0"/>
            <a:ext cx="10353762" cy="511277"/>
          </a:xfrm>
        </p:spPr>
        <p:txBody>
          <a:bodyPr>
            <a:normAutofit fontScale="90000"/>
          </a:bodyPr>
          <a:lstStyle/>
          <a:p>
            <a:r>
              <a:rPr lang="en-US" sz="3600" b="1"/>
              <a:t>Jobs</a:t>
            </a:r>
          </a:p>
        </p:txBody>
      </p:sp>
      <p:sp>
        <p:nvSpPr>
          <p:cNvPr id="3" name="Content Placeholder 2">
            <a:extLst>
              <a:ext uri="{FF2B5EF4-FFF2-40B4-BE49-F238E27FC236}">
                <a16:creationId xmlns:a16="http://schemas.microsoft.com/office/drawing/2014/main" id="{36881377-3BA7-64BF-2C6C-7C38762A6F09}"/>
              </a:ext>
            </a:extLst>
          </p:cNvPr>
          <p:cNvSpPr>
            <a:spLocks noGrp="1"/>
          </p:cNvSpPr>
          <p:nvPr>
            <p:ph idx="1"/>
          </p:nvPr>
        </p:nvSpPr>
        <p:spPr>
          <a:xfrm>
            <a:off x="257175" y="511277"/>
            <a:ext cx="11610360" cy="6154994"/>
          </a:xfrm>
        </p:spPr>
        <p:txBody>
          <a:bodyPr/>
          <a:lstStyle/>
          <a:p>
            <a:endParaRPr lang="en-US"/>
          </a:p>
          <a:p>
            <a:endParaRPr lang="en-US"/>
          </a:p>
          <a:p>
            <a:endParaRPr lang="en-US"/>
          </a:p>
          <a:p>
            <a:endParaRPr lang="en-US"/>
          </a:p>
          <a:p>
            <a:endParaRPr lang="en-US"/>
          </a:p>
          <a:p>
            <a:endParaRPr lang="en-US"/>
          </a:p>
          <a:p>
            <a:endParaRPr lang="en-US"/>
          </a:p>
          <a:p>
            <a:endParaRPr lang="ar-EG"/>
          </a:p>
          <a:p>
            <a:endParaRPr lang="ar-EG"/>
          </a:p>
          <a:p>
            <a:r>
              <a:rPr lang="en-US"/>
              <a:t>Loan officer login: 10100 , P@ssw0rd </a:t>
            </a:r>
          </a:p>
        </p:txBody>
      </p:sp>
      <p:graphicFrame>
        <p:nvGraphicFramePr>
          <p:cNvPr id="4" name="Table 3">
            <a:extLst>
              <a:ext uri="{FF2B5EF4-FFF2-40B4-BE49-F238E27FC236}">
                <a16:creationId xmlns:a16="http://schemas.microsoft.com/office/drawing/2014/main" id="{0F150A59-3F97-6127-7928-0F075A6A3BF7}"/>
              </a:ext>
            </a:extLst>
          </p:cNvPr>
          <p:cNvGraphicFramePr>
            <a:graphicFrameLocks noGrp="1"/>
          </p:cNvGraphicFramePr>
          <p:nvPr>
            <p:extLst>
              <p:ext uri="{D42A27DB-BD31-4B8C-83A1-F6EECF244321}">
                <p14:modId xmlns:p14="http://schemas.microsoft.com/office/powerpoint/2010/main" val="553800935"/>
              </p:ext>
            </p:extLst>
          </p:nvPr>
        </p:nvGraphicFramePr>
        <p:xfrm>
          <a:off x="418672" y="679654"/>
          <a:ext cx="8127999" cy="3337560"/>
        </p:xfrm>
        <a:graphic>
          <a:graphicData uri="http://schemas.openxmlformats.org/drawingml/2006/table">
            <a:tbl>
              <a:tblPr firstRow="1" bandRow="1">
                <a:tableStyleId>{5C22544A-7EE6-4342-B048-85BDC9FD1C3A}</a:tableStyleId>
              </a:tblPr>
              <a:tblGrid>
                <a:gridCol w="4329471">
                  <a:extLst>
                    <a:ext uri="{9D8B030D-6E8A-4147-A177-3AD203B41FA5}">
                      <a16:colId xmlns:a16="http://schemas.microsoft.com/office/drawing/2014/main" val="3086131423"/>
                    </a:ext>
                  </a:extLst>
                </a:gridCol>
                <a:gridCol w="2015613">
                  <a:extLst>
                    <a:ext uri="{9D8B030D-6E8A-4147-A177-3AD203B41FA5}">
                      <a16:colId xmlns:a16="http://schemas.microsoft.com/office/drawing/2014/main" val="317690790"/>
                    </a:ext>
                  </a:extLst>
                </a:gridCol>
                <a:gridCol w="1782915">
                  <a:extLst>
                    <a:ext uri="{9D8B030D-6E8A-4147-A177-3AD203B41FA5}">
                      <a16:colId xmlns:a16="http://schemas.microsoft.com/office/drawing/2014/main" val="3599473225"/>
                    </a:ext>
                  </a:extLst>
                </a:gridCol>
              </a:tblGrid>
              <a:tr h="370840">
                <a:tc>
                  <a:txBody>
                    <a:bodyPr/>
                    <a:lstStyle/>
                    <a:p>
                      <a:r>
                        <a:rPr lang="en-US" err="1"/>
                        <a:t>JobName</a:t>
                      </a:r>
                      <a:endParaRPr lang="en-US"/>
                    </a:p>
                  </a:txBody>
                  <a:tcPr/>
                </a:tc>
                <a:tc>
                  <a:txBody>
                    <a:bodyPr/>
                    <a:lstStyle/>
                    <a:p>
                      <a:r>
                        <a:rPr lang="en-US"/>
                        <a:t>Job Id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Job Code</a:t>
                      </a:r>
                    </a:p>
                  </a:txBody>
                  <a:tcPr/>
                </a:tc>
                <a:extLst>
                  <a:ext uri="{0D108BD9-81ED-4DB2-BD59-A6C34878D82A}">
                    <a16:rowId xmlns:a16="http://schemas.microsoft.com/office/drawing/2014/main" val="59362486"/>
                  </a:ext>
                </a:extLst>
              </a:tr>
              <a:tr h="370840">
                <a:tc>
                  <a:txBody>
                    <a:bodyPr/>
                    <a:lstStyle/>
                    <a:p>
                      <a:pPr algn="ctr"/>
                      <a:r>
                        <a:rPr lang="en-US" b="1"/>
                        <a:t>Loan officer (LO) </a:t>
                      </a:r>
                      <a:r>
                        <a:rPr lang="ar-EG" b="1"/>
                        <a:t>مسؤول تمويل</a:t>
                      </a:r>
                      <a:endParaRPr lang="en-US" b="1"/>
                    </a:p>
                  </a:txBody>
                  <a:tcPr/>
                </a:tc>
                <a:tc>
                  <a:txBody>
                    <a:bodyPr/>
                    <a:lstStyle/>
                    <a:p>
                      <a:pPr algn="ctr"/>
                      <a:r>
                        <a:rPr lang="en-US" b="1"/>
                        <a:t>10</a:t>
                      </a:r>
                    </a:p>
                  </a:txBody>
                  <a:tcPr/>
                </a:tc>
                <a:tc>
                  <a:txBody>
                    <a:bodyPr/>
                    <a:lstStyle/>
                    <a:p>
                      <a:pPr algn="ctr"/>
                      <a:r>
                        <a:rPr lang="en-US" b="1"/>
                        <a:t>0</a:t>
                      </a:r>
                    </a:p>
                  </a:txBody>
                  <a:tcPr/>
                </a:tc>
                <a:extLst>
                  <a:ext uri="{0D108BD9-81ED-4DB2-BD59-A6C34878D82A}">
                    <a16:rowId xmlns:a16="http://schemas.microsoft.com/office/drawing/2014/main" val="2991341697"/>
                  </a:ext>
                </a:extLst>
              </a:tr>
              <a:tr h="370840">
                <a:tc>
                  <a:txBody>
                    <a:bodyPr/>
                    <a:lstStyle/>
                    <a:p>
                      <a:pPr algn="ctr"/>
                      <a:r>
                        <a:rPr lang="en-US" b="1"/>
                        <a:t>Branch Manager </a:t>
                      </a:r>
                      <a:r>
                        <a:rPr lang="ar-EG" b="1"/>
                        <a:t>مدير فرع</a:t>
                      </a:r>
                      <a:endParaRPr lang="en-US" b="1"/>
                    </a:p>
                  </a:txBody>
                  <a:tcPr/>
                </a:tc>
                <a:tc>
                  <a:txBody>
                    <a:bodyPr/>
                    <a:lstStyle/>
                    <a:p>
                      <a:pPr algn="ctr"/>
                      <a:r>
                        <a:rPr lang="en-US" b="1"/>
                        <a:t>13</a:t>
                      </a:r>
                    </a:p>
                  </a:txBody>
                  <a:tcPr/>
                </a:tc>
                <a:tc>
                  <a:txBody>
                    <a:bodyPr/>
                    <a:lstStyle/>
                    <a:p>
                      <a:pPr algn="ctr"/>
                      <a:r>
                        <a:rPr lang="en-US" b="1"/>
                        <a:t>3</a:t>
                      </a:r>
                    </a:p>
                  </a:txBody>
                  <a:tcPr/>
                </a:tc>
                <a:extLst>
                  <a:ext uri="{0D108BD9-81ED-4DB2-BD59-A6C34878D82A}">
                    <a16:rowId xmlns:a16="http://schemas.microsoft.com/office/drawing/2014/main" val="3437649632"/>
                  </a:ext>
                </a:extLst>
              </a:tr>
              <a:tr h="370840">
                <a:tc>
                  <a:txBody>
                    <a:bodyPr/>
                    <a:lstStyle/>
                    <a:p>
                      <a:pPr algn="ctr"/>
                      <a:r>
                        <a:rPr lang="en-US" b="1"/>
                        <a:t>Teller (money man) </a:t>
                      </a:r>
                      <a:r>
                        <a:rPr lang="ar-EG" b="1"/>
                        <a:t>صراف</a:t>
                      </a:r>
                      <a:endParaRPr lang="en-US" b="1"/>
                    </a:p>
                  </a:txBody>
                  <a:tcPr/>
                </a:tc>
                <a:tc>
                  <a:txBody>
                    <a:bodyPr/>
                    <a:lstStyle/>
                    <a:p>
                      <a:pPr algn="ctr"/>
                      <a:r>
                        <a:rPr lang="en-US" b="1"/>
                        <a:t>12</a:t>
                      </a:r>
                    </a:p>
                  </a:txBody>
                  <a:tcPr/>
                </a:tc>
                <a:tc>
                  <a:txBody>
                    <a:bodyPr/>
                    <a:lstStyle/>
                    <a:p>
                      <a:pPr algn="ctr"/>
                      <a:r>
                        <a:rPr lang="ar-EG" b="1"/>
                        <a:t>2</a:t>
                      </a:r>
                      <a:endParaRPr lang="en-US" b="1"/>
                    </a:p>
                  </a:txBody>
                  <a:tcPr/>
                </a:tc>
                <a:extLst>
                  <a:ext uri="{0D108BD9-81ED-4DB2-BD59-A6C34878D82A}">
                    <a16:rowId xmlns:a16="http://schemas.microsoft.com/office/drawing/2014/main" val="4123986371"/>
                  </a:ext>
                </a:extLst>
              </a:tr>
              <a:tr h="370840">
                <a:tc>
                  <a:txBody>
                    <a:bodyPr/>
                    <a:lstStyle/>
                    <a:p>
                      <a:pPr algn="ctr"/>
                      <a:r>
                        <a:rPr lang="en-US" b="1"/>
                        <a:t>CO</a:t>
                      </a:r>
                    </a:p>
                  </a:txBody>
                  <a:tcPr/>
                </a:tc>
                <a:tc>
                  <a:txBody>
                    <a:bodyPr/>
                    <a:lstStyle/>
                    <a:p>
                      <a:pPr algn="ctr"/>
                      <a:r>
                        <a:rPr lang="en-US" b="1"/>
                        <a:t>1</a:t>
                      </a:r>
                    </a:p>
                  </a:txBody>
                  <a:tcPr/>
                </a:tc>
                <a:tc>
                  <a:txBody>
                    <a:bodyPr/>
                    <a:lstStyle/>
                    <a:p>
                      <a:pPr algn="ctr"/>
                      <a:r>
                        <a:rPr lang="en-US" b="1"/>
                        <a:t>1</a:t>
                      </a:r>
                    </a:p>
                  </a:txBody>
                  <a:tcPr/>
                </a:tc>
                <a:extLst>
                  <a:ext uri="{0D108BD9-81ED-4DB2-BD59-A6C34878D82A}">
                    <a16:rowId xmlns:a16="http://schemas.microsoft.com/office/drawing/2014/main" val="1665867047"/>
                  </a:ext>
                </a:extLst>
              </a:tr>
              <a:tr h="370840">
                <a:tc>
                  <a:txBody>
                    <a:bodyPr/>
                    <a:lstStyle/>
                    <a:p>
                      <a:pPr algn="ctr"/>
                      <a:r>
                        <a:rPr lang="en-US" b="1"/>
                        <a:t>District Manager</a:t>
                      </a:r>
                    </a:p>
                  </a:txBody>
                  <a:tcPr/>
                </a:tc>
                <a:tc>
                  <a:txBody>
                    <a:bodyPr/>
                    <a:lstStyle/>
                    <a:p>
                      <a:pPr algn="ctr"/>
                      <a:r>
                        <a:rPr lang="en-US" b="1"/>
                        <a:t>24</a:t>
                      </a:r>
                    </a:p>
                  </a:txBody>
                  <a:tcPr/>
                </a:tc>
                <a:tc>
                  <a:txBody>
                    <a:bodyPr/>
                    <a:lstStyle/>
                    <a:p>
                      <a:pPr algn="ctr"/>
                      <a:r>
                        <a:rPr lang="en-US" b="1"/>
                        <a:t>15</a:t>
                      </a:r>
                    </a:p>
                  </a:txBody>
                  <a:tcPr/>
                </a:tc>
                <a:extLst>
                  <a:ext uri="{0D108BD9-81ED-4DB2-BD59-A6C34878D82A}">
                    <a16:rowId xmlns:a16="http://schemas.microsoft.com/office/drawing/2014/main" val="2365514450"/>
                  </a:ext>
                </a:extLst>
              </a:tr>
              <a:tr h="370840">
                <a:tc>
                  <a:txBody>
                    <a:bodyPr/>
                    <a:lstStyle/>
                    <a:p>
                      <a:pPr algn="ctr"/>
                      <a:r>
                        <a:rPr lang="en-US" b="1"/>
                        <a:t>Software developer [</a:t>
                      </a:r>
                      <a:r>
                        <a:rPr lang="ar-EG" b="1"/>
                        <a:t>مطور برمجيات</a:t>
                      </a:r>
                      <a:r>
                        <a:rPr lang="en-US" b="1"/>
                        <a:t>]</a:t>
                      </a:r>
                    </a:p>
                  </a:txBody>
                  <a:tcPr/>
                </a:tc>
                <a:tc>
                  <a:txBody>
                    <a:bodyPr/>
                    <a:lstStyle/>
                    <a:p>
                      <a:pPr algn="ctr"/>
                      <a:r>
                        <a:rPr lang="en-US" b="1"/>
                        <a:t>1288</a:t>
                      </a:r>
                    </a:p>
                  </a:txBody>
                  <a:tcPr/>
                </a:tc>
                <a:tc>
                  <a:txBody>
                    <a:bodyPr/>
                    <a:lstStyle/>
                    <a:p>
                      <a:pPr algn="ctr"/>
                      <a:r>
                        <a:rPr lang="en-US" b="1"/>
                        <a:t>1288</a:t>
                      </a:r>
                    </a:p>
                  </a:txBody>
                  <a:tcPr/>
                </a:tc>
                <a:extLst>
                  <a:ext uri="{0D108BD9-81ED-4DB2-BD59-A6C34878D82A}">
                    <a16:rowId xmlns:a16="http://schemas.microsoft.com/office/drawing/2014/main" val="923327973"/>
                  </a:ext>
                </a:extLst>
              </a:tr>
              <a:tr h="370840">
                <a:tc>
                  <a:txBody>
                    <a:bodyPr/>
                    <a:lstStyle/>
                    <a:p>
                      <a:pPr algn="ctr"/>
                      <a:r>
                        <a:rPr lang="ar-EG" b="1"/>
                        <a:t>مراجعة</a:t>
                      </a:r>
                      <a:endParaRPr lang="en-US" b="1"/>
                    </a:p>
                  </a:txBody>
                  <a:tcPr/>
                </a:tc>
                <a:tc>
                  <a:txBody>
                    <a:bodyPr/>
                    <a:lstStyle/>
                    <a:p>
                      <a:pPr algn="ctr"/>
                      <a:r>
                        <a:rPr lang="en-US" b="1"/>
                        <a:t>25</a:t>
                      </a:r>
                    </a:p>
                  </a:txBody>
                  <a:tcPr/>
                </a:tc>
                <a:tc>
                  <a:txBody>
                    <a:bodyPr/>
                    <a:lstStyle/>
                    <a:p>
                      <a:pPr algn="ctr"/>
                      <a:r>
                        <a:rPr lang="ar-EG" b="1"/>
                        <a:t>16</a:t>
                      </a:r>
                      <a:endParaRPr lang="en-US" b="1"/>
                    </a:p>
                  </a:txBody>
                  <a:tcPr/>
                </a:tc>
                <a:extLst>
                  <a:ext uri="{0D108BD9-81ED-4DB2-BD59-A6C34878D82A}">
                    <a16:rowId xmlns:a16="http://schemas.microsoft.com/office/drawing/2014/main" val="326122838"/>
                  </a:ext>
                </a:extLst>
              </a:tr>
              <a:tr h="370840">
                <a:tc>
                  <a:txBody>
                    <a:bodyPr/>
                    <a:lstStyle/>
                    <a:p>
                      <a:pPr algn="ctr"/>
                      <a:r>
                        <a:rPr lang="ar-EG" b="1"/>
                        <a:t>مدير منطقة</a:t>
                      </a:r>
                      <a:endParaRPr lang="en-US" b="1"/>
                    </a:p>
                  </a:txBody>
                  <a:tcPr/>
                </a:tc>
                <a:tc>
                  <a:txBody>
                    <a:bodyPr/>
                    <a:lstStyle/>
                    <a:p>
                      <a:pPr algn="ctr"/>
                      <a:r>
                        <a:rPr lang="ar-EG" b="1"/>
                        <a:t>24</a:t>
                      </a:r>
                      <a:endParaRPr lang="en-US" b="1"/>
                    </a:p>
                  </a:txBody>
                  <a:tcPr/>
                </a:tc>
                <a:tc>
                  <a:txBody>
                    <a:bodyPr/>
                    <a:lstStyle/>
                    <a:p>
                      <a:pPr algn="ctr"/>
                      <a:r>
                        <a:rPr lang="ar-EG" b="1"/>
                        <a:t>15</a:t>
                      </a:r>
                      <a:endParaRPr lang="en-US" b="1"/>
                    </a:p>
                  </a:txBody>
                  <a:tcPr/>
                </a:tc>
                <a:extLst>
                  <a:ext uri="{0D108BD9-81ED-4DB2-BD59-A6C34878D82A}">
                    <a16:rowId xmlns:a16="http://schemas.microsoft.com/office/drawing/2014/main" val="2102399502"/>
                  </a:ext>
                </a:extLst>
              </a:tr>
            </a:tbl>
          </a:graphicData>
        </a:graphic>
      </p:graphicFrame>
    </p:spTree>
    <p:extLst>
      <p:ext uri="{BB962C8B-B14F-4D97-AF65-F5344CB8AC3E}">
        <p14:creationId xmlns:p14="http://schemas.microsoft.com/office/powerpoint/2010/main" val="77567510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A36E8-0A11-4BB0-DC67-48119329A896}"/>
              </a:ext>
            </a:extLst>
          </p:cNvPr>
          <p:cNvSpPr>
            <a:spLocks noGrp="1"/>
          </p:cNvSpPr>
          <p:nvPr>
            <p:ph type="title"/>
          </p:nvPr>
        </p:nvSpPr>
        <p:spPr>
          <a:xfrm>
            <a:off x="919119" y="1661651"/>
            <a:ext cx="10353762" cy="2349910"/>
          </a:xfrm>
        </p:spPr>
        <p:txBody>
          <a:bodyPr>
            <a:normAutofit/>
          </a:bodyPr>
          <a:lstStyle/>
          <a:p>
            <a:r>
              <a:rPr lang="en-US" sz="5400" b="1">
                <a:solidFill>
                  <a:srgbClr val="FF0000"/>
                </a:solidFill>
              </a:rPr>
              <a:t>Calculations</a:t>
            </a:r>
          </a:p>
        </p:txBody>
      </p:sp>
    </p:spTree>
    <p:extLst>
      <p:ext uri="{BB962C8B-B14F-4D97-AF65-F5344CB8AC3E}">
        <p14:creationId xmlns:p14="http://schemas.microsoft.com/office/powerpoint/2010/main" val="207840321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6B172-6F79-21DF-BBA0-6391BEE8545C}"/>
              </a:ext>
            </a:extLst>
          </p:cNvPr>
          <p:cNvSpPr>
            <a:spLocks noGrp="1"/>
          </p:cNvSpPr>
          <p:nvPr>
            <p:ph type="title"/>
          </p:nvPr>
        </p:nvSpPr>
        <p:spPr>
          <a:xfrm>
            <a:off x="913795" y="0"/>
            <a:ext cx="10353762" cy="586409"/>
          </a:xfrm>
        </p:spPr>
        <p:txBody>
          <a:bodyPr>
            <a:normAutofit fontScale="90000"/>
          </a:bodyPr>
          <a:lstStyle/>
          <a:p>
            <a:r>
              <a:rPr lang="en-US" b="1">
                <a:solidFill>
                  <a:srgbClr val="FFFF00"/>
                </a:solidFill>
              </a:rPr>
              <a:t>Financing_Amount, Approv_value [</a:t>
            </a:r>
            <a:r>
              <a:rPr lang="ar-EG" b="1">
                <a:solidFill>
                  <a:srgbClr val="FFFF00"/>
                </a:solidFill>
              </a:rPr>
              <a:t>بعد التعلية</a:t>
            </a:r>
            <a:r>
              <a:rPr lang="en-US" b="1">
                <a:solidFill>
                  <a:srgbClr val="FFFF00"/>
                </a:solidFill>
              </a:rPr>
              <a:t>]</a:t>
            </a:r>
          </a:p>
        </p:txBody>
      </p:sp>
      <p:sp>
        <p:nvSpPr>
          <p:cNvPr id="3" name="Content Placeholder 2">
            <a:extLst>
              <a:ext uri="{FF2B5EF4-FFF2-40B4-BE49-F238E27FC236}">
                <a16:creationId xmlns:a16="http://schemas.microsoft.com/office/drawing/2014/main" id="{87CDA9DF-72C9-EE84-19B7-4E1E33920604}"/>
              </a:ext>
            </a:extLst>
          </p:cNvPr>
          <p:cNvSpPr>
            <a:spLocks noGrp="1"/>
          </p:cNvSpPr>
          <p:nvPr>
            <p:ph idx="1"/>
          </p:nvPr>
        </p:nvSpPr>
        <p:spPr>
          <a:xfrm>
            <a:off x="89451" y="586409"/>
            <a:ext cx="11996531" cy="6082748"/>
          </a:xfrm>
        </p:spPr>
        <p:txBody>
          <a:bodyPr/>
          <a:lstStyle/>
          <a:p>
            <a:r>
              <a:rPr lang="en-US" sz="1800" b="1">
                <a:solidFill>
                  <a:schemeClr val="tx1"/>
                </a:solidFill>
                <a:effectLst/>
              </a:rPr>
              <a:t>FinanceAmount_Approximation // From General Settting</a:t>
            </a:r>
          </a:p>
          <a:p>
            <a:r>
              <a:rPr lang="en-US" sz="1800" b="1">
                <a:solidFill>
                  <a:srgbClr val="FFFF00"/>
                </a:solidFill>
                <a:effectLst/>
              </a:rPr>
              <a:t>Financing_amount = Required_Amount</a:t>
            </a:r>
          </a:p>
          <a:p>
            <a:r>
              <a:rPr lang="en-US" sz="1800" b="1">
                <a:solidFill>
                  <a:srgbClr val="00B0F0"/>
                </a:solidFill>
                <a:effectLst/>
              </a:rPr>
              <a:t>The Calc: </a:t>
            </a:r>
          </a:p>
          <a:p>
            <a:r>
              <a:rPr lang="en-US" sz="1800" b="1">
                <a:solidFill>
                  <a:srgbClr val="FFFF00"/>
                </a:solidFill>
                <a:effectLst/>
              </a:rPr>
              <a:t>Let FinanceAmountBeforeApproximations</a:t>
            </a:r>
            <a:r>
              <a:rPr lang="en-US" sz="1800">
                <a:effectLst/>
              </a:rPr>
              <a:t>=	Math.</a:t>
            </a:r>
            <a:r>
              <a:rPr lang="en-US" sz="1800" b="1">
                <a:solidFill>
                  <a:srgbClr val="00B0F0"/>
                </a:solidFill>
                <a:effectLst/>
              </a:rPr>
              <a:t>floor</a:t>
            </a:r>
            <a:r>
              <a:rPr lang="en-US" sz="1800">
                <a:effectLst/>
              </a:rPr>
              <a:t>((</a:t>
            </a:r>
            <a:r>
              <a:rPr lang="en-US" sz="1800">
                <a:solidFill>
                  <a:srgbClr val="FFC000"/>
                </a:solidFill>
                <a:effectLst/>
              </a:rPr>
              <a:t>Financing_amount</a:t>
            </a:r>
            <a:r>
              <a:rPr lang="en-US" sz="1800">
                <a:effectLst/>
              </a:rPr>
              <a:t>*(1+this.ProductLayer.</a:t>
            </a:r>
            <a:r>
              <a:rPr lang="en-US" sz="1800">
                <a:solidFill>
                  <a:srgbClr val="FFFF00"/>
                </a:solidFill>
                <a:effectLst/>
              </a:rPr>
              <a:t>Ramping_Ratio</a:t>
            </a:r>
            <a:r>
              <a:rPr lang="en-US" sz="1800">
                <a:effectLst/>
              </a:rPr>
              <a:t>/100))+this.ProductLayer.</a:t>
            </a:r>
            <a:r>
              <a:rPr lang="en-US" sz="1800">
                <a:solidFill>
                  <a:srgbClr val="FFFF00"/>
                </a:solidFill>
                <a:effectLst/>
              </a:rPr>
              <a:t>Ramping_Amount</a:t>
            </a:r>
            <a:r>
              <a:rPr lang="en-US" sz="1800">
                <a:effectLst/>
              </a:rPr>
              <a:t>)</a:t>
            </a:r>
          </a:p>
          <a:p>
            <a:r>
              <a:rPr lang="en-US" sz="1800">
                <a:effectLst/>
              </a:rPr>
              <a:t>Financing_amount = </a:t>
            </a:r>
            <a:r>
              <a:rPr lang="en-US" sz="1600">
                <a:effectLst/>
              </a:rPr>
              <a:t>Math.</a:t>
            </a:r>
            <a:r>
              <a:rPr lang="en-US" sz="1600" b="1">
                <a:solidFill>
                  <a:srgbClr val="00B0F0"/>
                </a:solidFill>
                <a:effectLst/>
              </a:rPr>
              <a:t>ceil</a:t>
            </a:r>
            <a:r>
              <a:rPr lang="en-US" sz="1600">
                <a:effectLst/>
              </a:rPr>
              <a:t>(</a:t>
            </a:r>
            <a:r>
              <a:rPr lang="en-US" sz="1600" b="1">
                <a:solidFill>
                  <a:srgbClr val="FFC000"/>
                </a:solidFill>
                <a:effectLst/>
              </a:rPr>
              <a:t>FinanceAmountBeforeApproximations</a:t>
            </a:r>
            <a:r>
              <a:rPr lang="en-US" sz="1600">
                <a:effectLst/>
              </a:rPr>
              <a:t>/</a:t>
            </a:r>
            <a:r>
              <a:rPr lang="en-US" sz="1600" b="1">
                <a:solidFill>
                  <a:srgbClr val="FFFF00"/>
                </a:solidFill>
                <a:effectLst/>
              </a:rPr>
              <a:t>this</a:t>
            </a:r>
            <a:r>
              <a:rPr lang="en-US" sz="1600">
                <a:effectLst/>
              </a:rPr>
              <a:t>.</a:t>
            </a:r>
            <a:r>
              <a:rPr lang="en-US" sz="1600" b="1">
                <a:solidFill>
                  <a:srgbClr val="00B050"/>
                </a:solidFill>
                <a:effectLst/>
              </a:rPr>
              <a:t>FinanceAmount_Approximation</a:t>
            </a:r>
            <a:r>
              <a:rPr lang="en-US" sz="1600">
                <a:effectLst/>
              </a:rPr>
              <a:t>)*this.</a:t>
            </a:r>
            <a:r>
              <a:rPr lang="en-US" sz="1600" b="1">
                <a:solidFill>
                  <a:srgbClr val="00B050"/>
                </a:solidFill>
                <a:effectLst/>
              </a:rPr>
              <a:t>FinanceAmount_Approximation</a:t>
            </a:r>
            <a:r>
              <a:rPr lang="en-US" sz="1600">
                <a:effectLst/>
              </a:rPr>
              <a:t>;</a:t>
            </a:r>
            <a:r>
              <a:rPr lang="en-US" sz="1800">
                <a:effectLst/>
              </a:rPr>
              <a:t> </a:t>
            </a:r>
          </a:p>
          <a:p>
            <a:endParaRPr lang="en-US"/>
          </a:p>
        </p:txBody>
      </p:sp>
    </p:spTree>
    <p:extLst>
      <p:ext uri="{BB962C8B-B14F-4D97-AF65-F5344CB8AC3E}">
        <p14:creationId xmlns:p14="http://schemas.microsoft.com/office/powerpoint/2010/main" val="249562329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E0C3E-82D7-8B8B-E28A-565D5E279181}"/>
              </a:ext>
            </a:extLst>
          </p:cNvPr>
          <p:cNvSpPr>
            <a:spLocks noGrp="1"/>
          </p:cNvSpPr>
          <p:nvPr>
            <p:ph type="title"/>
          </p:nvPr>
        </p:nvSpPr>
        <p:spPr>
          <a:xfrm>
            <a:off x="993308" y="0"/>
            <a:ext cx="10353762" cy="655983"/>
          </a:xfrm>
        </p:spPr>
        <p:txBody>
          <a:bodyPr>
            <a:normAutofit fontScale="90000"/>
          </a:bodyPr>
          <a:lstStyle/>
          <a:p>
            <a:r>
              <a:rPr lang="en-US" b="1">
                <a:solidFill>
                  <a:srgbClr val="FFFF00"/>
                </a:solidFill>
              </a:rPr>
              <a:t>Actual Financing == Total_Amount</a:t>
            </a:r>
          </a:p>
        </p:txBody>
      </p:sp>
      <p:sp>
        <p:nvSpPr>
          <p:cNvPr id="3" name="Content Placeholder 2">
            <a:extLst>
              <a:ext uri="{FF2B5EF4-FFF2-40B4-BE49-F238E27FC236}">
                <a16:creationId xmlns:a16="http://schemas.microsoft.com/office/drawing/2014/main" id="{35E35886-63E0-7AEE-DDFF-6DC707B4B6B8}"/>
              </a:ext>
            </a:extLst>
          </p:cNvPr>
          <p:cNvSpPr>
            <a:spLocks noGrp="1"/>
          </p:cNvSpPr>
          <p:nvPr>
            <p:ph idx="1"/>
          </p:nvPr>
        </p:nvSpPr>
        <p:spPr>
          <a:xfrm>
            <a:off x="89452" y="655983"/>
            <a:ext cx="12026348" cy="6132443"/>
          </a:xfrm>
        </p:spPr>
        <p:txBody>
          <a:bodyPr>
            <a:normAutofit/>
          </a:bodyPr>
          <a:lstStyle/>
          <a:p>
            <a:r>
              <a:rPr lang="en-US"/>
              <a:t>repaymenyCycle = </a:t>
            </a:r>
            <a:r>
              <a:rPr lang="en-US">
                <a:effectLst/>
              </a:rPr>
              <a:t>Days_in_months * Repayment_period</a:t>
            </a:r>
          </a:p>
          <a:p>
            <a:r>
              <a:rPr lang="en-US" sz="2200" b="1">
                <a:solidFill>
                  <a:srgbClr val="FFFF00"/>
                </a:solidFill>
                <a:effectLst/>
              </a:rPr>
              <a:t>If  Product.Pricing_responsible == 0</a:t>
            </a:r>
          </a:p>
          <a:p>
            <a:pPr lvl="1"/>
            <a:r>
              <a:rPr lang="en-US" sz="1700">
                <a:effectLst/>
              </a:rPr>
              <a:t>FirstResult = </a:t>
            </a:r>
            <a:r>
              <a:rPr lang="en-US" sz="1700" b="1">
                <a:solidFill>
                  <a:srgbClr val="FFC000"/>
                </a:solidFill>
                <a:effectLst/>
              </a:rPr>
              <a:t>Financing_amount</a:t>
            </a:r>
            <a:r>
              <a:rPr lang="en-US" sz="1700">
                <a:effectLst/>
              </a:rPr>
              <a:t> / (1 - (this.</a:t>
            </a:r>
            <a:r>
              <a:rPr lang="en-US" sz="1700" b="1">
                <a:solidFill>
                  <a:srgbClr val="FFC000"/>
                </a:solidFill>
                <a:effectLst/>
              </a:rPr>
              <a:t>Commission</a:t>
            </a:r>
            <a:r>
              <a:rPr lang="en-US" sz="1700">
                <a:effectLst/>
              </a:rPr>
              <a:t> / 100 ) ); // </a:t>
            </a:r>
            <a:r>
              <a:rPr lang="ar-EG" sz="1700">
                <a:effectLst/>
              </a:rPr>
              <a:t>اصل المبلغ مع عمولة المنح</a:t>
            </a:r>
            <a:endParaRPr lang="en-US" sz="1700">
              <a:effectLst/>
            </a:endParaRPr>
          </a:p>
          <a:p>
            <a:pPr lvl="1"/>
            <a:r>
              <a:rPr lang="en-US" sz="1700">
                <a:effectLst/>
              </a:rPr>
              <a:t>SecondResult = ( ( </a:t>
            </a:r>
            <a:r>
              <a:rPr lang="en-US" sz="1700" b="1">
                <a:solidFill>
                  <a:srgbClr val="FFC000"/>
                </a:solidFill>
                <a:effectLst/>
              </a:rPr>
              <a:t>FirstResult</a:t>
            </a:r>
            <a:r>
              <a:rPr lang="en-US" sz="1700">
                <a:effectLst/>
              </a:rPr>
              <a:t> * ( this.</a:t>
            </a:r>
            <a:r>
              <a:rPr lang="en-US" sz="1700" b="1">
                <a:solidFill>
                  <a:srgbClr val="FFC000"/>
                </a:solidFill>
                <a:effectLst/>
              </a:rPr>
              <a:t>LoanInterest</a:t>
            </a:r>
            <a:r>
              <a:rPr lang="en-US" sz="1700">
                <a:effectLst/>
              </a:rPr>
              <a:t> / 100) ) * </a:t>
            </a:r>
            <a:r>
              <a:rPr lang="en-US" sz="1700" b="1">
                <a:solidFill>
                  <a:srgbClr val="FFC000"/>
                </a:solidFill>
                <a:effectLst/>
              </a:rPr>
              <a:t>repayment</a:t>
            </a:r>
            <a:r>
              <a:rPr lang="en-US" sz="1700">
                <a:effectLst/>
              </a:rPr>
              <a:t>_cycle / 360); // </a:t>
            </a:r>
            <a:r>
              <a:rPr lang="ar-EG" sz="1700">
                <a:effectLst/>
              </a:rPr>
              <a:t>حساب الفايدة</a:t>
            </a:r>
            <a:endParaRPr lang="en-US" sz="1700">
              <a:effectLst/>
            </a:endParaRPr>
          </a:p>
          <a:p>
            <a:pPr lvl="1"/>
            <a:r>
              <a:rPr lang="en-US" sz="1700">
                <a:effectLst/>
              </a:rPr>
              <a:t>Total = FirstResult + SecondResult; // </a:t>
            </a:r>
            <a:r>
              <a:rPr lang="ar-EG" sz="1700">
                <a:effectLst/>
              </a:rPr>
              <a:t>إجمالي المبلغ قبل التقريب</a:t>
            </a:r>
            <a:endParaRPr lang="en-US" sz="1700">
              <a:effectLst/>
            </a:endParaRPr>
          </a:p>
          <a:p>
            <a:pPr lvl="1"/>
            <a:r>
              <a:rPr lang="en-US" sz="1700">
                <a:effectLst/>
              </a:rPr>
              <a:t>Result = Total / Repayment_period;</a:t>
            </a:r>
          </a:p>
          <a:p>
            <a:pPr lvl="1"/>
            <a:r>
              <a:rPr lang="en-US" sz="1700">
                <a:effectLst/>
              </a:rPr>
              <a:t>Prim_value = Math.ceil( Result / this.Approximation )  // </a:t>
            </a:r>
            <a:r>
              <a:rPr lang="en-US" sz="1700" b="1">
                <a:solidFill>
                  <a:srgbClr val="FFC000"/>
                </a:solidFill>
                <a:effectLst/>
              </a:rPr>
              <a:t>Approximation</a:t>
            </a:r>
            <a:r>
              <a:rPr lang="en-US" sz="1700">
                <a:effectLst/>
              </a:rPr>
              <a:t> from General Setting</a:t>
            </a:r>
          </a:p>
          <a:p>
            <a:pPr lvl="1"/>
            <a:r>
              <a:rPr lang="en-US" sz="1700">
                <a:effectLst/>
              </a:rPr>
              <a:t>Final_Prim = parseInt(Prim_value) * this.Approximation; //</a:t>
            </a:r>
          </a:p>
          <a:p>
            <a:r>
              <a:rPr lang="en-US" sz="2200" b="1">
                <a:solidFill>
                  <a:srgbClr val="FFFF00"/>
                </a:solidFill>
                <a:effectLst/>
              </a:rPr>
              <a:t>If  Product.Pricing_responsible != 0</a:t>
            </a:r>
          </a:p>
          <a:p>
            <a:pPr lvl="1"/>
            <a:r>
              <a:rPr lang="en-US" sz="1700">
                <a:effectLst/>
              </a:rPr>
              <a:t>SecondResult = ((</a:t>
            </a:r>
            <a:r>
              <a:rPr lang="en-US" sz="1700" b="1">
                <a:solidFill>
                  <a:srgbClr val="FFC000"/>
                </a:solidFill>
                <a:effectLst/>
              </a:rPr>
              <a:t>Financing_amount</a:t>
            </a:r>
            <a:r>
              <a:rPr lang="en-US" sz="1700">
                <a:effectLst/>
              </a:rPr>
              <a:t> * (this.</a:t>
            </a:r>
            <a:r>
              <a:rPr lang="en-US" sz="1700" b="1">
                <a:solidFill>
                  <a:srgbClr val="FFC000"/>
                </a:solidFill>
                <a:effectLst/>
              </a:rPr>
              <a:t>LoanInterest</a:t>
            </a:r>
            <a:r>
              <a:rPr lang="en-US" sz="1700">
                <a:effectLst/>
              </a:rPr>
              <a:t> / 100)) * </a:t>
            </a:r>
            <a:r>
              <a:rPr lang="en-US" sz="1700" b="1">
                <a:solidFill>
                  <a:srgbClr val="FFC000"/>
                </a:solidFill>
                <a:effectLst/>
              </a:rPr>
              <a:t>repayment_cycle</a:t>
            </a:r>
            <a:r>
              <a:rPr lang="en-US" sz="1700">
                <a:effectLst/>
              </a:rPr>
              <a:t> / 360);</a:t>
            </a:r>
          </a:p>
          <a:p>
            <a:pPr lvl="1"/>
            <a:r>
              <a:rPr lang="en-US" sz="1700">
                <a:effectLst/>
              </a:rPr>
              <a:t>Total = parseInt(Financing_amount) + SecondResult; // </a:t>
            </a:r>
            <a:r>
              <a:rPr lang="ar-EG" sz="1700">
                <a:effectLst/>
              </a:rPr>
              <a:t>المبلغ قبل التقريب</a:t>
            </a:r>
          </a:p>
          <a:p>
            <a:pPr lvl="1"/>
            <a:r>
              <a:rPr lang="en-US" sz="1700">
                <a:effectLst/>
              </a:rPr>
              <a:t>Result = Total / Repayment_period;</a:t>
            </a:r>
          </a:p>
          <a:p>
            <a:pPr lvl="1"/>
            <a:r>
              <a:rPr lang="en-US" sz="1700">
                <a:effectLst/>
              </a:rPr>
              <a:t>Prim_value = Math.ceil(Result / this.Approximation) //</a:t>
            </a:r>
          </a:p>
          <a:p>
            <a:pPr lvl="1"/>
            <a:r>
              <a:rPr lang="en-US" sz="1700" b="1">
                <a:solidFill>
                  <a:srgbClr val="FFC000"/>
                </a:solidFill>
                <a:effectLst/>
              </a:rPr>
              <a:t>Final_Prim</a:t>
            </a:r>
            <a:r>
              <a:rPr lang="en-US" sz="1700">
                <a:effectLst/>
              </a:rPr>
              <a:t> = parseInt(Prim_value) * this.Approximation; //</a:t>
            </a:r>
          </a:p>
        </p:txBody>
      </p:sp>
    </p:spTree>
    <p:extLst>
      <p:ext uri="{BB962C8B-B14F-4D97-AF65-F5344CB8AC3E}">
        <p14:creationId xmlns:p14="http://schemas.microsoft.com/office/powerpoint/2010/main" val="130377890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D7C44-A13E-6833-7D6F-1BAB07BEC642}"/>
              </a:ext>
            </a:extLst>
          </p:cNvPr>
          <p:cNvSpPr>
            <a:spLocks noGrp="1"/>
          </p:cNvSpPr>
          <p:nvPr>
            <p:ph type="title"/>
          </p:nvPr>
        </p:nvSpPr>
        <p:spPr>
          <a:xfrm>
            <a:off x="834282" y="0"/>
            <a:ext cx="10353762" cy="642730"/>
          </a:xfrm>
        </p:spPr>
        <p:txBody>
          <a:bodyPr>
            <a:normAutofit fontScale="90000"/>
          </a:bodyPr>
          <a:lstStyle/>
          <a:p>
            <a:r>
              <a:rPr lang="en-US" b="1"/>
              <a:t>Commision [ </a:t>
            </a:r>
            <a:r>
              <a:rPr lang="ar-EG" b="1"/>
              <a:t>عمولة المنح الخاصة باالمنتج</a:t>
            </a:r>
            <a:r>
              <a:rPr lang="en-US" b="1"/>
              <a:t> ]</a:t>
            </a:r>
          </a:p>
        </p:txBody>
      </p:sp>
      <p:sp>
        <p:nvSpPr>
          <p:cNvPr id="3" name="Content Placeholder 2">
            <a:extLst>
              <a:ext uri="{FF2B5EF4-FFF2-40B4-BE49-F238E27FC236}">
                <a16:creationId xmlns:a16="http://schemas.microsoft.com/office/drawing/2014/main" id="{4284F2B7-37DF-CFDD-2EEF-4ACC0B3D094B}"/>
              </a:ext>
            </a:extLst>
          </p:cNvPr>
          <p:cNvSpPr>
            <a:spLocks noGrp="1"/>
          </p:cNvSpPr>
          <p:nvPr>
            <p:ph idx="1"/>
          </p:nvPr>
        </p:nvSpPr>
        <p:spPr>
          <a:xfrm>
            <a:off x="0" y="642730"/>
            <a:ext cx="12192000" cy="5877339"/>
          </a:xfrm>
        </p:spPr>
        <p:txBody>
          <a:bodyPr/>
          <a:lstStyle/>
          <a:p>
            <a:r>
              <a:rPr lang="en-US"/>
              <a:t>At:  </a:t>
            </a:r>
            <a:r>
              <a:rPr lang="en-US" b="1">
                <a:solidFill>
                  <a:srgbClr val="FFFF00"/>
                </a:solidFill>
              </a:rPr>
              <a:t>Flow_FieldVisits_mainService</a:t>
            </a:r>
            <a:r>
              <a:rPr lang="en-US"/>
              <a:t> </a:t>
            </a:r>
            <a:r>
              <a:rPr lang="en-US" b="1">
                <a:solidFill>
                  <a:srgbClr val="FFC000"/>
                </a:solidFill>
              </a:rPr>
              <a:t>GetPercentageBonusCommission</a:t>
            </a:r>
            <a:r>
              <a:rPr lang="en-US"/>
              <a:t>(</a:t>
            </a:r>
            <a:r>
              <a:rPr lang="en-US" b="1">
                <a:solidFill>
                  <a:srgbClr val="92D050"/>
                </a:solidFill>
              </a:rPr>
              <a:t>ProductId</a:t>
            </a:r>
            <a:r>
              <a:rPr lang="en-US"/>
              <a:t>, </a:t>
            </a:r>
            <a:r>
              <a:rPr lang="en-US" b="1">
                <a:solidFill>
                  <a:srgbClr val="92D050"/>
                </a:solidFill>
              </a:rPr>
              <a:t>RequestStatus</a:t>
            </a:r>
            <a:r>
              <a:rPr lang="en-US"/>
              <a:t>)</a:t>
            </a:r>
          </a:p>
        </p:txBody>
      </p:sp>
      <p:pic>
        <p:nvPicPr>
          <p:cNvPr id="5" name="Picture 4">
            <a:extLst>
              <a:ext uri="{FF2B5EF4-FFF2-40B4-BE49-F238E27FC236}">
                <a16:creationId xmlns:a16="http://schemas.microsoft.com/office/drawing/2014/main" id="{4D2640A5-BD8E-EFB9-C69E-1F16FB423212}"/>
              </a:ext>
            </a:extLst>
          </p:cNvPr>
          <p:cNvPicPr>
            <a:picLocks noChangeAspect="1"/>
          </p:cNvPicPr>
          <p:nvPr/>
        </p:nvPicPr>
        <p:blipFill>
          <a:blip r:embed="rId2"/>
          <a:stretch>
            <a:fillRect/>
          </a:stretch>
        </p:blipFill>
        <p:spPr>
          <a:xfrm>
            <a:off x="206137" y="1104400"/>
            <a:ext cx="11779725" cy="2324600"/>
          </a:xfrm>
          <a:prstGeom prst="rect">
            <a:avLst/>
          </a:prstGeom>
        </p:spPr>
      </p:pic>
    </p:spTree>
    <p:extLst>
      <p:ext uri="{BB962C8B-B14F-4D97-AF65-F5344CB8AC3E}">
        <p14:creationId xmlns:p14="http://schemas.microsoft.com/office/powerpoint/2010/main" val="408570386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C9ADB-F288-65E7-853F-348A6B0803AF}"/>
              </a:ext>
            </a:extLst>
          </p:cNvPr>
          <p:cNvSpPr>
            <a:spLocks noGrp="1"/>
          </p:cNvSpPr>
          <p:nvPr>
            <p:ph type="title"/>
          </p:nvPr>
        </p:nvSpPr>
        <p:spPr>
          <a:xfrm>
            <a:off x="913795" y="0"/>
            <a:ext cx="10353762" cy="616226"/>
          </a:xfrm>
        </p:spPr>
        <p:txBody>
          <a:bodyPr>
            <a:normAutofit fontScale="90000"/>
          </a:bodyPr>
          <a:lstStyle/>
          <a:p>
            <a:r>
              <a:rPr lang="en-US" b="1">
                <a:solidFill>
                  <a:srgbClr val="FFC000"/>
                </a:solidFill>
                <a:effectLst/>
              </a:rPr>
              <a:t>Loan Interest</a:t>
            </a:r>
            <a:r>
              <a:rPr lang="en-US" b="1">
                <a:effectLst/>
              </a:rPr>
              <a:t>[ </a:t>
            </a:r>
            <a:r>
              <a:rPr lang="ar-EG" b="1">
                <a:effectLst/>
              </a:rPr>
              <a:t>فايدة التمويل</a:t>
            </a:r>
            <a:r>
              <a:rPr lang="en-US" b="1">
                <a:effectLst/>
              </a:rPr>
              <a:t> ]</a:t>
            </a:r>
            <a:endParaRPr lang="en-US" b="1"/>
          </a:p>
        </p:txBody>
      </p:sp>
      <p:sp>
        <p:nvSpPr>
          <p:cNvPr id="3" name="Content Placeholder 2">
            <a:extLst>
              <a:ext uri="{FF2B5EF4-FFF2-40B4-BE49-F238E27FC236}">
                <a16:creationId xmlns:a16="http://schemas.microsoft.com/office/drawing/2014/main" id="{35557398-0823-DABA-7F5C-07D8E2E3780F}"/>
              </a:ext>
            </a:extLst>
          </p:cNvPr>
          <p:cNvSpPr>
            <a:spLocks noGrp="1"/>
          </p:cNvSpPr>
          <p:nvPr>
            <p:ph idx="1"/>
          </p:nvPr>
        </p:nvSpPr>
        <p:spPr>
          <a:xfrm>
            <a:off x="81169" y="616226"/>
            <a:ext cx="12042912" cy="6152322"/>
          </a:xfrm>
        </p:spPr>
        <p:txBody>
          <a:bodyPr/>
          <a:lstStyle/>
          <a:p>
            <a:r>
              <a:rPr lang="en-US"/>
              <a:t>It depends on </a:t>
            </a:r>
          </a:p>
          <a:p>
            <a:pPr lvl="1"/>
            <a:r>
              <a:rPr lang="en-US" b="1">
                <a:solidFill>
                  <a:srgbClr val="FFFF00"/>
                </a:solidFill>
              </a:rPr>
              <a:t>Flow_Product</a:t>
            </a:r>
            <a:r>
              <a:rPr lang="en-US" b="1">
                <a:solidFill>
                  <a:srgbClr val="FFC000"/>
                </a:solidFill>
              </a:rPr>
              <a:t>.Fixed_return_new</a:t>
            </a:r>
            <a:r>
              <a:rPr lang="en-US"/>
              <a:t> </a:t>
            </a:r>
          </a:p>
          <a:p>
            <a:pPr lvl="1"/>
            <a:r>
              <a:rPr lang="en-US" b="1">
                <a:solidFill>
                  <a:srgbClr val="FFFF00"/>
                </a:solidFill>
                <a:effectLst/>
              </a:rPr>
              <a:t>Flow_Product</a:t>
            </a:r>
            <a:r>
              <a:rPr lang="en-US" b="1">
                <a:solidFill>
                  <a:srgbClr val="FFC000"/>
                </a:solidFill>
                <a:effectLst/>
              </a:rPr>
              <a:t>.Fixed_return_renew</a:t>
            </a:r>
          </a:p>
          <a:p>
            <a:pPr lvl="1"/>
            <a:r>
              <a:rPr lang="en-US" b="1">
                <a:solidFill>
                  <a:srgbClr val="FFFF00"/>
                </a:solidFill>
              </a:rPr>
              <a:t>Funding_request</a:t>
            </a:r>
            <a:r>
              <a:rPr lang="en-US" b="1">
                <a:solidFill>
                  <a:srgbClr val="FFC000"/>
                </a:solidFill>
              </a:rPr>
              <a:t>.Request_status</a:t>
            </a:r>
          </a:p>
          <a:p>
            <a:pPr lvl="1"/>
            <a:endParaRPr lang="en-US"/>
          </a:p>
          <a:p>
            <a:pPr lvl="1"/>
            <a:endParaRPr lang="en-US"/>
          </a:p>
        </p:txBody>
      </p:sp>
      <p:pic>
        <p:nvPicPr>
          <p:cNvPr id="5" name="Picture 4">
            <a:extLst>
              <a:ext uri="{FF2B5EF4-FFF2-40B4-BE49-F238E27FC236}">
                <a16:creationId xmlns:a16="http://schemas.microsoft.com/office/drawing/2014/main" id="{306D050D-44B5-6200-E946-4FD6990DAF0C}"/>
              </a:ext>
            </a:extLst>
          </p:cNvPr>
          <p:cNvPicPr>
            <a:picLocks noChangeAspect="1"/>
          </p:cNvPicPr>
          <p:nvPr/>
        </p:nvPicPr>
        <p:blipFill>
          <a:blip r:embed="rId2"/>
          <a:stretch>
            <a:fillRect/>
          </a:stretch>
        </p:blipFill>
        <p:spPr>
          <a:xfrm>
            <a:off x="81169" y="2517552"/>
            <a:ext cx="12042913" cy="783223"/>
          </a:xfrm>
          <a:prstGeom prst="rect">
            <a:avLst/>
          </a:prstGeom>
        </p:spPr>
      </p:pic>
    </p:spTree>
    <p:extLst>
      <p:ext uri="{BB962C8B-B14F-4D97-AF65-F5344CB8AC3E}">
        <p14:creationId xmlns:p14="http://schemas.microsoft.com/office/powerpoint/2010/main" val="166958656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CC1C1-00E9-2F13-C134-9E18C9C169A4}"/>
              </a:ext>
            </a:extLst>
          </p:cNvPr>
          <p:cNvSpPr>
            <a:spLocks noGrp="1"/>
          </p:cNvSpPr>
          <p:nvPr>
            <p:ph type="title"/>
          </p:nvPr>
        </p:nvSpPr>
        <p:spPr>
          <a:xfrm>
            <a:off x="137652" y="0"/>
            <a:ext cx="11926529" cy="629265"/>
          </a:xfrm>
        </p:spPr>
        <p:txBody>
          <a:bodyPr>
            <a:normAutofit fontScale="90000"/>
          </a:bodyPr>
          <a:lstStyle/>
          <a:p>
            <a:r>
              <a:rPr lang="en-US" b="1">
                <a:solidFill>
                  <a:srgbClr val="FFFF00"/>
                </a:solidFill>
              </a:rPr>
              <a:t>Funding_request</a:t>
            </a:r>
            <a:r>
              <a:rPr lang="en-US" b="1"/>
              <a:t>.</a:t>
            </a:r>
            <a:r>
              <a:rPr lang="en-US" b="1">
                <a:solidFill>
                  <a:srgbClr val="FF0000"/>
                </a:solidFill>
              </a:rPr>
              <a:t>APP_FEE</a:t>
            </a:r>
            <a:r>
              <a:rPr lang="en-US" b="1">
                <a:solidFill>
                  <a:srgbClr val="FFFF00"/>
                </a:solidFill>
              </a:rPr>
              <a:t> &amp; Funding_request.</a:t>
            </a:r>
            <a:r>
              <a:rPr lang="en-US" b="1">
                <a:solidFill>
                  <a:srgbClr val="FF0000"/>
                </a:solidFill>
              </a:rPr>
              <a:t>Rate</a:t>
            </a:r>
          </a:p>
        </p:txBody>
      </p:sp>
      <p:sp>
        <p:nvSpPr>
          <p:cNvPr id="3" name="Content Placeholder 2">
            <a:extLst>
              <a:ext uri="{FF2B5EF4-FFF2-40B4-BE49-F238E27FC236}">
                <a16:creationId xmlns:a16="http://schemas.microsoft.com/office/drawing/2014/main" id="{AACDAF11-9541-6A06-B335-19A27BC46118}"/>
              </a:ext>
            </a:extLst>
          </p:cNvPr>
          <p:cNvSpPr>
            <a:spLocks noGrp="1"/>
          </p:cNvSpPr>
          <p:nvPr>
            <p:ph idx="1"/>
          </p:nvPr>
        </p:nvSpPr>
        <p:spPr>
          <a:xfrm>
            <a:off x="137652" y="776747"/>
            <a:ext cx="11926529" cy="5909187"/>
          </a:xfrm>
        </p:spPr>
        <p:txBody>
          <a:bodyPr/>
          <a:lstStyle/>
          <a:p>
            <a:r>
              <a:rPr lang="en-US" sz="1800" b="1">
                <a:solidFill>
                  <a:srgbClr val="FFFF00"/>
                </a:solidFill>
              </a:rPr>
              <a:t>Funding_request</a:t>
            </a:r>
            <a:r>
              <a:rPr lang="en-US" sz="1800"/>
              <a:t>.</a:t>
            </a:r>
            <a:r>
              <a:rPr lang="en-US" sz="1800" b="1">
                <a:solidFill>
                  <a:srgbClr val="FFC000"/>
                </a:solidFill>
              </a:rPr>
              <a:t>APP_FEE</a:t>
            </a:r>
            <a:r>
              <a:rPr lang="en-US" sz="1800"/>
              <a:t> = IsNew==true ? Product.</a:t>
            </a:r>
            <a:r>
              <a:rPr lang="en-US" sz="1800" b="1">
                <a:solidFill>
                  <a:srgbClr val="00B0F0"/>
                </a:solidFill>
              </a:rPr>
              <a:t>Com_submit_new_app</a:t>
            </a:r>
            <a:r>
              <a:rPr lang="en-US" sz="1800"/>
              <a:t> : Product.</a:t>
            </a:r>
            <a:r>
              <a:rPr lang="en-US" sz="1800" b="1">
                <a:solidFill>
                  <a:srgbClr val="00B0F0"/>
                </a:solidFill>
              </a:rPr>
              <a:t>Com_submit_renew_app</a:t>
            </a:r>
            <a:r>
              <a:rPr lang="en-US" sz="1800"/>
              <a:t>;</a:t>
            </a:r>
            <a:endParaRPr lang="en-US" sz="1800" b="1">
              <a:solidFill>
                <a:srgbClr val="FFFF00"/>
              </a:solidFill>
            </a:endParaRPr>
          </a:p>
          <a:p>
            <a:endParaRPr lang="en-US" sz="1800" b="1">
              <a:solidFill>
                <a:srgbClr val="FFFF00"/>
              </a:solidFill>
            </a:endParaRPr>
          </a:p>
          <a:p>
            <a:r>
              <a:rPr lang="en-US" sz="1800" b="1">
                <a:solidFill>
                  <a:srgbClr val="FFFF00"/>
                </a:solidFill>
              </a:rPr>
              <a:t>Funding_request</a:t>
            </a:r>
            <a:r>
              <a:rPr lang="en-US" sz="1800"/>
              <a:t>.</a:t>
            </a:r>
            <a:r>
              <a:rPr lang="en-US" sz="1800" b="1">
                <a:solidFill>
                  <a:srgbClr val="FFC000"/>
                </a:solidFill>
              </a:rPr>
              <a:t>RATE</a:t>
            </a:r>
            <a:r>
              <a:rPr lang="en-US" sz="1800"/>
              <a:t> = IsNew == true ? Product.</a:t>
            </a:r>
            <a:r>
              <a:rPr lang="en-US" sz="1800" b="1">
                <a:solidFill>
                  <a:srgbClr val="00B0F0"/>
                </a:solidFill>
              </a:rPr>
              <a:t>Fixed_return_new</a:t>
            </a:r>
            <a:r>
              <a:rPr lang="en-US" sz="1800"/>
              <a:t> : Product.</a:t>
            </a:r>
            <a:r>
              <a:rPr lang="en-US" sz="1800" b="1">
                <a:solidFill>
                  <a:srgbClr val="00B0F0"/>
                </a:solidFill>
              </a:rPr>
              <a:t>Fixed_return_renew;</a:t>
            </a:r>
          </a:p>
          <a:p>
            <a:pPr lvl="1"/>
            <a:r>
              <a:rPr lang="en-US" b="1">
                <a:solidFill>
                  <a:srgbClr val="FFC000"/>
                </a:solidFill>
              </a:rPr>
              <a:t>Note that Rate is like loan interest at previous page</a:t>
            </a:r>
          </a:p>
          <a:p>
            <a:endParaRPr lang="en-US" sz="1800" b="1">
              <a:solidFill>
                <a:srgbClr val="00B0F0"/>
              </a:solidFill>
            </a:endParaRPr>
          </a:p>
          <a:p>
            <a:endParaRPr lang="en-US" sz="1800" b="1">
              <a:solidFill>
                <a:srgbClr val="00B0F0"/>
              </a:solidFill>
            </a:endParaRPr>
          </a:p>
          <a:p>
            <a:endParaRPr lang="en-US" sz="1800" b="1">
              <a:solidFill>
                <a:srgbClr val="00B0F0"/>
              </a:solidFill>
            </a:endParaRPr>
          </a:p>
        </p:txBody>
      </p:sp>
    </p:spTree>
    <p:extLst>
      <p:ext uri="{BB962C8B-B14F-4D97-AF65-F5344CB8AC3E}">
        <p14:creationId xmlns:p14="http://schemas.microsoft.com/office/powerpoint/2010/main" val="261114371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0A5DC-37F6-18CE-E519-9585EBC31C45}"/>
              </a:ext>
            </a:extLst>
          </p:cNvPr>
          <p:cNvSpPr>
            <a:spLocks noGrp="1"/>
          </p:cNvSpPr>
          <p:nvPr>
            <p:ph type="title"/>
          </p:nvPr>
        </p:nvSpPr>
        <p:spPr>
          <a:xfrm>
            <a:off x="919119" y="0"/>
            <a:ext cx="10353762" cy="599768"/>
          </a:xfrm>
        </p:spPr>
        <p:txBody>
          <a:bodyPr>
            <a:normAutofit fontScale="90000"/>
          </a:bodyPr>
          <a:lstStyle/>
          <a:p>
            <a:r>
              <a:rPr lang="en-US" b="1">
                <a:solidFill>
                  <a:srgbClr val="FF0000"/>
                </a:solidFill>
              </a:rPr>
              <a:t>Male &amp; Female from QID</a:t>
            </a:r>
          </a:p>
        </p:txBody>
      </p:sp>
      <p:sp>
        <p:nvSpPr>
          <p:cNvPr id="7" name="Content Placeholder 6">
            <a:extLst>
              <a:ext uri="{FF2B5EF4-FFF2-40B4-BE49-F238E27FC236}">
                <a16:creationId xmlns:a16="http://schemas.microsoft.com/office/drawing/2014/main" id="{F066DC1C-C3EB-B727-4729-29E550FCCB6D}"/>
              </a:ext>
            </a:extLst>
          </p:cNvPr>
          <p:cNvSpPr>
            <a:spLocks noGrp="1"/>
          </p:cNvSpPr>
          <p:nvPr>
            <p:ph idx="1"/>
          </p:nvPr>
        </p:nvSpPr>
        <p:spPr>
          <a:xfrm>
            <a:off x="501445" y="1199535"/>
            <a:ext cx="10766112" cy="4591665"/>
          </a:xfrm>
        </p:spPr>
        <p:txBody>
          <a:bodyPr/>
          <a:lstStyle/>
          <a:p>
            <a:r>
              <a:rPr lang="en-US"/>
              <a:t>code</a:t>
            </a:r>
          </a:p>
        </p:txBody>
      </p:sp>
      <p:pic>
        <p:nvPicPr>
          <p:cNvPr id="8" name="Content Placeholder 4">
            <a:extLst>
              <a:ext uri="{FF2B5EF4-FFF2-40B4-BE49-F238E27FC236}">
                <a16:creationId xmlns:a16="http://schemas.microsoft.com/office/drawing/2014/main" id="{05B531EB-B3F9-857F-7BBA-2C27EC286905}"/>
              </a:ext>
            </a:extLst>
          </p:cNvPr>
          <p:cNvPicPr>
            <a:picLocks noChangeAspect="1"/>
          </p:cNvPicPr>
          <p:nvPr/>
        </p:nvPicPr>
        <p:blipFill>
          <a:blip r:embed="rId2"/>
          <a:stretch>
            <a:fillRect/>
          </a:stretch>
        </p:blipFill>
        <p:spPr>
          <a:xfrm>
            <a:off x="1025761" y="1820790"/>
            <a:ext cx="7682297" cy="774926"/>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21106852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9EE3C-9842-9B40-528D-1519F5802D2A}"/>
              </a:ext>
            </a:extLst>
          </p:cNvPr>
          <p:cNvSpPr>
            <a:spLocks noGrp="1"/>
          </p:cNvSpPr>
          <p:nvPr>
            <p:ph type="title"/>
          </p:nvPr>
        </p:nvSpPr>
        <p:spPr>
          <a:xfrm>
            <a:off x="598835" y="487680"/>
            <a:ext cx="10353762" cy="5334000"/>
          </a:xfrm>
        </p:spPr>
        <p:txBody>
          <a:bodyPr>
            <a:normAutofit/>
          </a:bodyPr>
          <a:lstStyle/>
          <a:p>
            <a:r>
              <a:rPr lang="en-US" sz="7200" b="1">
                <a:solidFill>
                  <a:srgbClr val="FF0000"/>
                </a:solidFill>
              </a:rPr>
              <a:t> Start Flags </a:t>
            </a:r>
          </a:p>
        </p:txBody>
      </p:sp>
    </p:spTree>
    <p:extLst>
      <p:ext uri="{BB962C8B-B14F-4D97-AF65-F5344CB8AC3E}">
        <p14:creationId xmlns:p14="http://schemas.microsoft.com/office/powerpoint/2010/main" val="84737100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80A8-DB60-D60D-377F-696B3A3C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A4B98A-2A44-EFEF-E10C-701537AB06D3}"/>
              </a:ext>
            </a:extLst>
          </p:cNvPr>
          <p:cNvSpPr>
            <a:spLocks noGrp="1"/>
          </p:cNvSpPr>
          <p:nvPr>
            <p:ph type="title"/>
          </p:nvPr>
        </p:nvSpPr>
        <p:spPr>
          <a:xfrm>
            <a:off x="913795" y="0"/>
            <a:ext cx="10353762" cy="670560"/>
          </a:xfrm>
        </p:spPr>
        <p:txBody>
          <a:bodyPr>
            <a:normAutofit fontScale="90000"/>
          </a:bodyPr>
          <a:lstStyle/>
          <a:p>
            <a:r>
              <a:rPr lang="en-US" b="1">
                <a:solidFill>
                  <a:srgbClr val="FFFF00"/>
                </a:solidFill>
              </a:rPr>
              <a:t>SWF. </a:t>
            </a:r>
            <a:r>
              <a:rPr lang="en-US" b="1">
                <a:solidFill>
                  <a:srgbClr val="FF0000"/>
                </a:solidFill>
              </a:rPr>
              <a:t>Flow_status: [ Table ]</a:t>
            </a:r>
          </a:p>
        </p:txBody>
      </p:sp>
      <p:sp>
        <p:nvSpPr>
          <p:cNvPr id="3" name="Content Placeholder 2">
            <a:extLst>
              <a:ext uri="{FF2B5EF4-FFF2-40B4-BE49-F238E27FC236}">
                <a16:creationId xmlns:a16="http://schemas.microsoft.com/office/drawing/2014/main" id="{A0CE21DD-A69B-4285-42CA-F1F33F3DA713}"/>
              </a:ext>
            </a:extLst>
          </p:cNvPr>
          <p:cNvSpPr>
            <a:spLocks noGrp="1"/>
          </p:cNvSpPr>
          <p:nvPr>
            <p:ph idx="1"/>
          </p:nvPr>
        </p:nvSpPr>
        <p:spPr>
          <a:xfrm>
            <a:off x="223520" y="670560"/>
            <a:ext cx="11724640" cy="5994400"/>
          </a:xfrm>
        </p:spPr>
        <p:txBody>
          <a:bodyPr/>
          <a:lstStyle/>
          <a:p>
            <a:r>
              <a:rPr lang="en-US"/>
              <a:t>FK : in </a:t>
            </a:r>
            <a:r>
              <a:rPr lang="en-US" b="1" err="1">
                <a:solidFill>
                  <a:srgbClr val="FFFF00"/>
                </a:solidFill>
              </a:rPr>
              <a:t>Flow_Funding_request</a:t>
            </a:r>
            <a:r>
              <a:rPr lang="en-US"/>
              <a:t> as </a:t>
            </a:r>
            <a:r>
              <a:rPr lang="en-US" sz="2400" b="1" err="1">
                <a:solidFill>
                  <a:srgbClr val="00B0F0"/>
                </a:solidFill>
              </a:rPr>
              <a:t>status_code</a:t>
            </a:r>
            <a:endParaRPr lang="en-US" b="1">
              <a:solidFill>
                <a:srgbClr val="00B0F0"/>
              </a:solidFill>
            </a:endParaRPr>
          </a:p>
          <a:p>
            <a:pPr lvl="1"/>
            <a:r>
              <a:rPr lang="en-US" b="1"/>
              <a:t>After LO Save the Request for the first time the status code will be 0</a:t>
            </a:r>
          </a:p>
          <a:p>
            <a:pPr lvl="1"/>
            <a:r>
              <a:rPr lang="en-US" b="1"/>
              <a:t>After LO deport the request the the status code will be 56 [</a:t>
            </a:r>
            <a:r>
              <a:rPr lang="ar-EG" b="1"/>
              <a:t>الطلب تم ترحيله إلى المسؤول الأول </a:t>
            </a:r>
            <a:r>
              <a:rPr lang="en-US" b="1"/>
              <a:t> ]</a:t>
            </a:r>
          </a:p>
          <a:p>
            <a:pPr lvl="1"/>
            <a:r>
              <a:rPr lang="en-US" b="1"/>
              <a:t>After CO Accept the request at [</a:t>
            </a:r>
            <a:r>
              <a:rPr lang="ar-EG" b="1"/>
              <a:t>المراجعة الأولية</a:t>
            </a:r>
            <a:r>
              <a:rPr lang="en-US" b="1"/>
              <a:t>] status code still be 56</a:t>
            </a:r>
          </a:p>
          <a:p>
            <a:pPr lvl="1"/>
            <a:r>
              <a:rPr lang="en-US" b="1"/>
              <a:t>After CO accept the request at [</a:t>
            </a:r>
            <a:r>
              <a:rPr lang="ar-EG" b="1"/>
              <a:t>الزيارة</a:t>
            </a:r>
            <a:r>
              <a:rPr lang="en-US" b="1"/>
              <a:t>]</a:t>
            </a:r>
            <a:r>
              <a:rPr lang="ar-EG" b="1"/>
              <a:t> </a:t>
            </a:r>
            <a:r>
              <a:rPr lang="en-US" b="1"/>
              <a:t> status code will be 56</a:t>
            </a:r>
          </a:p>
          <a:p>
            <a:pPr lvl="1"/>
            <a:r>
              <a:rPr lang="en-US" b="1"/>
              <a:t>After CO accept the request at [</a:t>
            </a:r>
            <a:r>
              <a:rPr lang="ar-EG" b="1"/>
              <a:t>التحليل الائتماني</a:t>
            </a:r>
            <a:r>
              <a:rPr lang="en-US" b="1"/>
              <a:t>]</a:t>
            </a:r>
            <a:r>
              <a:rPr lang="ar-EG" b="1"/>
              <a:t> </a:t>
            </a:r>
            <a:r>
              <a:rPr lang="en-US" b="1"/>
              <a:t> status code will be 56</a:t>
            </a:r>
          </a:p>
          <a:p>
            <a:pPr lvl="1"/>
            <a:endParaRPr lang="en-US" b="1"/>
          </a:p>
          <a:p>
            <a:pPr lvl="1"/>
            <a:endParaRPr lang="ar-EG"/>
          </a:p>
          <a:p>
            <a:pPr lvl="1"/>
            <a:endParaRPr lang="en-US"/>
          </a:p>
        </p:txBody>
      </p:sp>
    </p:spTree>
    <p:extLst>
      <p:ext uri="{BB962C8B-B14F-4D97-AF65-F5344CB8AC3E}">
        <p14:creationId xmlns:p14="http://schemas.microsoft.com/office/powerpoint/2010/main" val="376929116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FB2D7-03BA-2D61-9B8C-33B7C013C249}"/>
              </a:ext>
            </a:extLst>
          </p:cNvPr>
          <p:cNvSpPr>
            <a:spLocks noGrp="1"/>
          </p:cNvSpPr>
          <p:nvPr>
            <p:ph type="title"/>
          </p:nvPr>
        </p:nvSpPr>
        <p:spPr>
          <a:xfrm>
            <a:off x="913795" y="0"/>
            <a:ext cx="10353762" cy="670560"/>
          </a:xfrm>
        </p:spPr>
        <p:txBody>
          <a:bodyPr>
            <a:normAutofit fontScale="90000"/>
          </a:bodyPr>
          <a:lstStyle/>
          <a:p>
            <a:r>
              <a:rPr lang="en-US" b="1">
                <a:solidFill>
                  <a:srgbClr val="FFFF00"/>
                </a:solidFill>
              </a:rPr>
              <a:t>SWF. </a:t>
            </a:r>
            <a:r>
              <a:rPr lang="en-US" b="1">
                <a:solidFill>
                  <a:srgbClr val="FF0000"/>
                </a:solidFill>
              </a:rPr>
              <a:t>Flow_status: [ Table ]</a:t>
            </a:r>
          </a:p>
        </p:txBody>
      </p:sp>
      <p:sp>
        <p:nvSpPr>
          <p:cNvPr id="3" name="Content Placeholder 2">
            <a:extLst>
              <a:ext uri="{FF2B5EF4-FFF2-40B4-BE49-F238E27FC236}">
                <a16:creationId xmlns:a16="http://schemas.microsoft.com/office/drawing/2014/main" id="{F9041307-80B3-BFC1-F603-ECEB0566C279}"/>
              </a:ext>
            </a:extLst>
          </p:cNvPr>
          <p:cNvSpPr>
            <a:spLocks noGrp="1"/>
          </p:cNvSpPr>
          <p:nvPr>
            <p:ph idx="1"/>
          </p:nvPr>
        </p:nvSpPr>
        <p:spPr>
          <a:xfrm>
            <a:off x="223520" y="670560"/>
            <a:ext cx="11724640" cy="5994400"/>
          </a:xfrm>
        </p:spPr>
        <p:txBody>
          <a:bodyPr>
            <a:normAutofit lnSpcReduction="10000"/>
          </a:bodyPr>
          <a:lstStyle/>
          <a:p>
            <a:r>
              <a:rPr lang="en-US"/>
              <a:t>FK : in </a:t>
            </a:r>
            <a:r>
              <a:rPr lang="en-US" b="1" err="1">
                <a:solidFill>
                  <a:srgbClr val="FFFF00"/>
                </a:solidFill>
              </a:rPr>
              <a:t>Flow_Funding_request</a:t>
            </a:r>
            <a:r>
              <a:rPr lang="en-US"/>
              <a:t> as </a:t>
            </a:r>
            <a:r>
              <a:rPr lang="en-US" sz="2400" b="1" err="1">
                <a:solidFill>
                  <a:srgbClr val="00B0F0"/>
                </a:solidFill>
              </a:rPr>
              <a:t>status_code</a:t>
            </a:r>
            <a:endParaRPr lang="en-US" b="1">
              <a:solidFill>
                <a:srgbClr val="00B0F0"/>
              </a:solidFill>
            </a:endParaRPr>
          </a:p>
          <a:p>
            <a:pPr lvl="1"/>
            <a:r>
              <a:rPr lang="en-US" b="1"/>
              <a:t>11 :</a:t>
            </a:r>
            <a:r>
              <a:rPr lang="ar-EG" b="1"/>
              <a:t> </a:t>
            </a:r>
            <a:r>
              <a:rPr lang="en-US" b="1">
                <a:solidFill>
                  <a:srgbClr val="00B0F0"/>
                </a:solidFill>
              </a:rPr>
              <a:t>FixedStatus.</a:t>
            </a:r>
            <a:r>
              <a:rPr lang="fr-FR" b="1">
                <a:solidFill>
                  <a:srgbClr val="FFC000"/>
                </a:solidFill>
              </a:rPr>
              <a:t>Status_code_11_Fail_Connct_Iscore</a:t>
            </a:r>
            <a:r>
              <a:rPr lang="en-US" b="1"/>
              <a:t> </a:t>
            </a:r>
            <a:r>
              <a:rPr lang="ar-EG" b="1"/>
              <a:t>فشل في تحميل أي سكور</a:t>
            </a:r>
            <a:endParaRPr lang="en-US" b="1"/>
          </a:p>
          <a:p>
            <a:pPr lvl="1"/>
            <a:r>
              <a:rPr lang="en-US" b="1"/>
              <a:t>12: </a:t>
            </a:r>
            <a:r>
              <a:rPr lang="ar-EG" b="1"/>
              <a:t>فشل فى إعادة تحميل الأي سكور </a:t>
            </a:r>
            <a:endParaRPr lang="en-US" b="1"/>
          </a:p>
          <a:p>
            <a:pPr lvl="1"/>
            <a:r>
              <a:rPr lang="en-US" b="1"/>
              <a:t> 0  : </a:t>
            </a:r>
            <a:r>
              <a:rPr lang="en-US" b="1">
                <a:solidFill>
                  <a:srgbClr val="00B0F0"/>
                </a:solidFill>
              </a:rPr>
              <a:t>FixedStatus.</a:t>
            </a:r>
            <a:r>
              <a:rPr lang="en-US" b="1">
                <a:solidFill>
                  <a:srgbClr val="FFC000"/>
                </a:solidFill>
              </a:rPr>
              <a:t>Status_code_0_Saved_LO</a:t>
            </a:r>
            <a:r>
              <a:rPr lang="en-US" b="1"/>
              <a:t> </a:t>
            </a:r>
            <a:r>
              <a:rPr lang="ar-EG" b="1"/>
              <a:t> الطلب تم حفظه عند مسئول التمويل</a:t>
            </a:r>
            <a:endParaRPr lang="en-US" b="1"/>
          </a:p>
          <a:p>
            <a:pPr lvl="1"/>
            <a:r>
              <a:rPr lang="en-US" b="1"/>
              <a:t>56 : </a:t>
            </a:r>
            <a:r>
              <a:rPr lang="en-US" b="1">
                <a:solidFill>
                  <a:srgbClr val="00B0F0"/>
                </a:solidFill>
              </a:rPr>
              <a:t>FixedStatus.</a:t>
            </a:r>
            <a:r>
              <a:rPr lang="en-US" b="1">
                <a:solidFill>
                  <a:srgbClr val="FFC000"/>
                </a:solidFill>
              </a:rPr>
              <a:t>Status_code_56_Send_To_CO</a:t>
            </a:r>
            <a:r>
              <a:rPr lang="en-US" b="1"/>
              <a:t> </a:t>
            </a:r>
            <a:r>
              <a:rPr lang="ar-EG" b="1"/>
              <a:t>الطلب تم ترحيله إلى المسؤول الأول </a:t>
            </a:r>
            <a:r>
              <a:rPr lang="en-US" b="1"/>
              <a:t> </a:t>
            </a:r>
          </a:p>
          <a:p>
            <a:pPr lvl="1"/>
            <a:r>
              <a:rPr lang="en-US" b="1"/>
              <a:t>56: from </a:t>
            </a:r>
            <a:r>
              <a:rPr lang="ar-EG" b="1"/>
              <a:t>مراجعة مركزية </a:t>
            </a:r>
            <a:r>
              <a:rPr lang="en-US" b="1"/>
              <a:t> to </a:t>
            </a:r>
            <a:r>
              <a:rPr lang="ar-EG" b="1"/>
              <a:t>إتمام توقيع </a:t>
            </a:r>
            <a:r>
              <a:rPr lang="en-US" b="1"/>
              <a:t> [BM]</a:t>
            </a:r>
          </a:p>
          <a:p>
            <a:pPr lvl="1"/>
            <a:r>
              <a:rPr lang="en-US" b="1"/>
              <a:t>19 </a:t>
            </a:r>
            <a:r>
              <a:rPr lang="ar-EG" b="1"/>
              <a:t>:</a:t>
            </a:r>
            <a:r>
              <a:rPr lang="en-US" b="1"/>
              <a:t> </a:t>
            </a:r>
            <a:r>
              <a:rPr lang="en-US" b="1">
                <a:solidFill>
                  <a:srgbClr val="00B0F0"/>
                </a:solidFill>
              </a:rPr>
              <a:t>FixedStatus.</a:t>
            </a:r>
            <a:r>
              <a:rPr lang="en-US" b="1">
                <a:solidFill>
                  <a:srgbClr val="FFC000"/>
                </a:solidFill>
              </a:rPr>
              <a:t>Status_code_19_finaleReject</a:t>
            </a:r>
            <a:r>
              <a:rPr lang="en-US" b="1"/>
              <a:t> </a:t>
            </a:r>
            <a:r>
              <a:rPr lang="ar-EG" b="1"/>
              <a:t>الطلب تم رفضه نهائي من قبل المسئول الاول</a:t>
            </a:r>
          </a:p>
          <a:p>
            <a:pPr lvl="1"/>
            <a:r>
              <a:rPr lang="en-US" b="1"/>
              <a:t>18</a:t>
            </a:r>
            <a:r>
              <a:rPr lang="en-US"/>
              <a:t> </a:t>
            </a:r>
            <a:r>
              <a:rPr lang="en-US" b="1"/>
              <a:t>:</a:t>
            </a:r>
            <a:r>
              <a:rPr lang="en-US"/>
              <a:t> </a:t>
            </a:r>
            <a:r>
              <a:rPr lang="en-US" b="1">
                <a:solidFill>
                  <a:srgbClr val="00B0F0"/>
                </a:solidFill>
              </a:rPr>
              <a:t>FixedStatus.</a:t>
            </a:r>
            <a:r>
              <a:rPr lang="en-US" b="1">
                <a:solidFill>
                  <a:srgbClr val="FFC000"/>
                </a:solidFill>
              </a:rPr>
              <a:t>Status_code_18_CustomerReject </a:t>
            </a:r>
            <a:r>
              <a:rPr lang="ar-EG" b="1"/>
              <a:t>رفض_عميل من الأى سكور</a:t>
            </a:r>
            <a:endParaRPr lang="en-US" b="1"/>
          </a:p>
          <a:p>
            <a:pPr lvl="1"/>
            <a:r>
              <a:rPr lang="en-US" b="1"/>
              <a:t>1</a:t>
            </a:r>
            <a:r>
              <a:rPr lang="ar-EG" b="1"/>
              <a:t>9</a:t>
            </a:r>
            <a:r>
              <a:rPr lang="en-US" b="1"/>
              <a:t> : </a:t>
            </a:r>
            <a:r>
              <a:rPr lang="en-US" b="1">
                <a:solidFill>
                  <a:srgbClr val="00B0F0"/>
                </a:solidFill>
              </a:rPr>
              <a:t>FixedStatus.</a:t>
            </a:r>
            <a:r>
              <a:rPr lang="en-US" b="1">
                <a:solidFill>
                  <a:srgbClr val="FFC000"/>
                </a:solidFill>
              </a:rPr>
              <a:t>Status_code_19_finaleReject</a:t>
            </a:r>
            <a:r>
              <a:rPr lang="en-US" b="1"/>
              <a:t>  </a:t>
            </a:r>
            <a:r>
              <a:rPr lang="ar-EG" b="1"/>
              <a:t>رفض نهائي</a:t>
            </a:r>
          </a:p>
          <a:p>
            <a:pPr lvl="1"/>
            <a:r>
              <a:rPr lang="en-US" b="1"/>
              <a:t>8</a:t>
            </a:r>
            <a:r>
              <a:rPr lang="en-US"/>
              <a:t>   </a:t>
            </a:r>
            <a:r>
              <a:rPr lang="en-US" b="1"/>
              <a:t>:</a:t>
            </a:r>
            <a:r>
              <a:rPr lang="en-US"/>
              <a:t> </a:t>
            </a:r>
            <a:r>
              <a:rPr lang="en-US" b="1">
                <a:solidFill>
                  <a:srgbClr val="00B0F0"/>
                </a:solidFill>
              </a:rPr>
              <a:t>FixedStatus.</a:t>
            </a:r>
            <a:r>
              <a:rPr lang="en-US" b="1">
                <a:solidFill>
                  <a:srgbClr val="FFC000"/>
                </a:solidFill>
              </a:rPr>
              <a:t>Status_code_8_Ready_To_Disbursment</a:t>
            </a:r>
            <a:r>
              <a:rPr lang="en-US" b="1">
                <a:solidFill>
                  <a:srgbClr val="00B0F0"/>
                </a:solidFill>
              </a:rPr>
              <a:t> </a:t>
            </a:r>
            <a:r>
              <a:rPr lang="ar-EG" b="1"/>
              <a:t>جاهز للصرف </a:t>
            </a:r>
            <a:endParaRPr lang="en-US" b="1"/>
          </a:p>
          <a:p>
            <a:pPr lvl="1"/>
            <a:r>
              <a:rPr lang="en-US"/>
              <a:t>9   </a:t>
            </a:r>
            <a:r>
              <a:rPr lang="en-US" b="1"/>
              <a:t>:</a:t>
            </a:r>
            <a:r>
              <a:rPr lang="en-US"/>
              <a:t> </a:t>
            </a:r>
            <a:r>
              <a:rPr lang="en-US" b="1">
                <a:solidFill>
                  <a:srgbClr val="00B0F0"/>
                </a:solidFill>
              </a:rPr>
              <a:t>FixedStatus.</a:t>
            </a:r>
            <a:r>
              <a:rPr lang="en-US" b="1">
                <a:solidFill>
                  <a:srgbClr val="FFC000"/>
                </a:solidFill>
              </a:rPr>
              <a:t>Status_code_9_Disbursment </a:t>
            </a:r>
            <a:r>
              <a:rPr lang="ar-EG" b="1">
                <a:solidFill>
                  <a:schemeClr val="tx1"/>
                </a:solidFill>
              </a:rPr>
              <a:t>تم الصرف</a:t>
            </a:r>
            <a:endParaRPr lang="en-US" b="1">
              <a:solidFill>
                <a:schemeClr val="tx1"/>
              </a:solidFill>
            </a:endParaRPr>
          </a:p>
          <a:p>
            <a:pPr lvl="1"/>
            <a:r>
              <a:rPr lang="en-US" b="1"/>
              <a:t>53 : </a:t>
            </a:r>
            <a:r>
              <a:rPr lang="en-US" b="1">
                <a:solidFill>
                  <a:srgbClr val="00B0F0"/>
                </a:solidFill>
              </a:rPr>
              <a:t>FixedStatus</a:t>
            </a:r>
            <a:r>
              <a:rPr lang="en-US" b="1"/>
              <a:t>.</a:t>
            </a:r>
            <a:r>
              <a:rPr lang="en-US" b="1">
                <a:solidFill>
                  <a:srgbClr val="FFC000"/>
                </a:solidFill>
              </a:rPr>
              <a:t>Status_code_53_GurantorReject</a:t>
            </a:r>
            <a:r>
              <a:rPr lang="en-US" b="1"/>
              <a:t> </a:t>
            </a:r>
            <a:r>
              <a:rPr lang="ar-EG" b="1"/>
              <a:t>رفض ضامن من الأي سكور أو من الزيارة الميدانية</a:t>
            </a:r>
            <a:endParaRPr lang="en-US" b="1"/>
          </a:p>
          <a:p>
            <a:pPr lvl="1"/>
            <a:r>
              <a:rPr lang="en-US"/>
              <a:t>50: </a:t>
            </a:r>
            <a:r>
              <a:rPr lang="ar-EG"/>
              <a:t>إغلاق تمويل</a:t>
            </a:r>
          </a:p>
          <a:p>
            <a:pPr lvl="1"/>
            <a:r>
              <a:rPr lang="en-US"/>
              <a:t>13: </a:t>
            </a:r>
            <a:r>
              <a:rPr lang="ar-EG"/>
              <a:t>سداد معجل</a:t>
            </a:r>
          </a:p>
          <a:p>
            <a:pPr lvl="1"/>
            <a:r>
              <a:rPr lang="en-US"/>
              <a:t>7: </a:t>
            </a:r>
            <a:r>
              <a:rPr lang="ar-EG"/>
              <a:t>مراجعة مركزية</a:t>
            </a:r>
            <a:endParaRPr lang="en-US"/>
          </a:p>
        </p:txBody>
      </p:sp>
    </p:spTree>
    <p:extLst>
      <p:ext uri="{BB962C8B-B14F-4D97-AF65-F5344CB8AC3E}">
        <p14:creationId xmlns:p14="http://schemas.microsoft.com/office/powerpoint/2010/main" val="60889632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0881-8EA1-A431-554F-6AEBB63BDD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CE86BF-EC1F-C52C-80A5-C3FD5CFF634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6760897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154E-473C-24DA-3498-71069B572508}"/>
              </a:ext>
            </a:extLst>
          </p:cNvPr>
          <p:cNvSpPr>
            <a:spLocks noGrp="1"/>
          </p:cNvSpPr>
          <p:nvPr>
            <p:ph type="title"/>
          </p:nvPr>
        </p:nvSpPr>
        <p:spPr>
          <a:xfrm>
            <a:off x="913795" y="0"/>
            <a:ext cx="10353762" cy="822960"/>
          </a:xfrm>
        </p:spPr>
        <p:txBody>
          <a:bodyPr/>
          <a:lstStyle/>
          <a:p>
            <a:r>
              <a:rPr lang="en-US" b="1">
                <a:solidFill>
                  <a:srgbClr val="FF0000"/>
                </a:solidFill>
              </a:rPr>
              <a:t>Request_status</a:t>
            </a:r>
          </a:p>
        </p:txBody>
      </p:sp>
      <p:sp>
        <p:nvSpPr>
          <p:cNvPr id="3" name="Content Placeholder 2">
            <a:extLst>
              <a:ext uri="{FF2B5EF4-FFF2-40B4-BE49-F238E27FC236}">
                <a16:creationId xmlns:a16="http://schemas.microsoft.com/office/drawing/2014/main" id="{512C350C-EB70-704E-F39B-AD42DE6A819A}"/>
              </a:ext>
            </a:extLst>
          </p:cNvPr>
          <p:cNvSpPr>
            <a:spLocks noGrp="1"/>
          </p:cNvSpPr>
          <p:nvPr>
            <p:ph idx="1"/>
          </p:nvPr>
        </p:nvSpPr>
        <p:spPr>
          <a:xfrm>
            <a:off x="913795" y="822960"/>
            <a:ext cx="10353762" cy="5740399"/>
          </a:xfrm>
        </p:spPr>
        <p:txBody>
          <a:bodyPr/>
          <a:lstStyle/>
          <a:p>
            <a:r>
              <a:rPr lang="en-US"/>
              <a:t>Column at Flow_Funding_Request</a:t>
            </a:r>
          </a:p>
          <a:p>
            <a:pPr lvl="1"/>
            <a:r>
              <a:rPr lang="en-US"/>
              <a:t>bool Request_status (IsNew) [1 new , 0 renew ]</a:t>
            </a:r>
            <a:endParaRPr lang="ar-EG"/>
          </a:p>
          <a:p>
            <a:endParaRPr lang="en-US"/>
          </a:p>
        </p:txBody>
      </p:sp>
    </p:spTree>
    <p:extLst>
      <p:ext uri="{BB962C8B-B14F-4D97-AF65-F5344CB8AC3E}">
        <p14:creationId xmlns:p14="http://schemas.microsoft.com/office/powerpoint/2010/main" val="14656501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D6833-77FA-A2BE-28AA-4D076010094C}"/>
              </a:ext>
            </a:extLst>
          </p:cNvPr>
          <p:cNvSpPr>
            <a:spLocks noGrp="1"/>
          </p:cNvSpPr>
          <p:nvPr>
            <p:ph type="title"/>
          </p:nvPr>
        </p:nvSpPr>
        <p:spPr>
          <a:xfrm>
            <a:off x="213360" y="0"/>
            <a:ext cx="11765280" cy="970450"/>
          </a:xfrm>
        </p:spPr>
        <p:txBody>
          <a:bodyPr/>
          <a:lstStyle/>
          <a:p>
            <a:r>
              <a:rPr lang="en-US"/>
              <a:t>Action_Flag</a:t>
            </a:r>
          </a:p>
        </p:txBody>
      </p:sp>
      <p:sp>
        <p:nvSpPr>
          <p:cNvPr id="3" name="Content Placeholder 2">
            <a:extLst>
              <a:ext uri="{FF2B5EF4-FFF2-40B4-BE49-F238E27FC236}">
                <a16:creationId xmlns:a16="http://schemas.microsoft.com/office/drawing/2014/main" id="{6BC2E0CB-5741-5165-F259-B35E7E2D7721}"/>
              </a:ext>
            </a:extLst>
          </p:cNvPr>
          <p:cNvSpPr>
            <a:spLocks noGrp="1"/>
          </p:cNvSpPr>
          <p:nvPr>
            <p:ph idx="1"/>
          </p:nvPr>
        </p:nvSpPr>
        <p:spPr>
          <a:xfrm>
            <a:off x="213360" y="970451"/>
            <a:ext cx="11765280" cy="5755470"/>
          </a:xfrm>
        </p:spPr>
        <p:txBody>
          <a:bodyPr/>
          <a:lstStyle/>
          <a:p>
            <a:r>
              <a:rPr lang="en-US" sz="1800"/>
              <a:t>Column in </a:t>
            </a:r>
            <a:r>
              <a:rPr lang="en-US" b="1">
                <a:solidFill>
                  <a:srgbClr val="00B0F0"/>
                </a:solidFill>
              </a:rPr>
              <a:t>Flow_Requests_Log</a:t>
            </a:r>
            <a:r>
              <a:rPr lang="en-US"/>
              <a:t> not </a:t>
            </a:r>
            <a:r>
              <a:rPr lang="en-US" b="1">
                <a:solidFill>
                  <a:srgbClr val="FF0000"/>
                </a:solidFill>
              </a:rPr>
              <a:t>FK</a:t>
            </a:r>
            <a:endParaRPr lang="en-US" sz="1800" b="1">
              <a:solidFill>
                <a:srgbClr val="FF0000"/>
              </a:solidFill>
            </a:endParaRPr>
          </a:p>
          <a:p>
            <a:r>
              <a:rPr lang="en-US"/>
              <a:t>Nullable&lt;int&gt; Action_Flag { get; set; }</a:t>
            </a:r>
          </a:p>
          <a:p>
            <a:pPr lvl="1"/>
            <a:r>
              <a:rPr lang="en-US" b="1"/>
              <a:t>0 : </a:t>
            </a:r>
            <a:r>
              <a:rPr lang="ar-EG" b="1"/>
              <a:t>رفض</a:t>
            </a:r>
            <a:endParaRPr lang="en-US" b="1"/>
          </a:p>
          <a:p>
            <a:pPr lvl="1"/>
            <a:r>
              <a:rPr lang="en-US" b="1"/>
              <a:t>1 : </a:t>
            </a:r>
            <a:r>
              <a:rPr lang="ar-EG" b="1"/>
              <a:t>قبول</a:t>
            </a:r>
            <a:endParaRPr lang="en-US" b="1"/>
          </a:p>
          <a:p>
            <a:pPr lvl="1"/>
            <a:r>
              <a:rPr lang="en-US" b="1"/>
              <a:t>2 : </a:t>
            </a:r>
            <a:r>
              <a:rPr lang="ar-EG" b="1"/>
              <a:t>رفض نهائي</a:t>
            </a:r>
            <a:endParaRPr lang="en-US" b="1"/>
          </a:p>
          <a:p>
            <a:pPr lvl="1"/>
            <a:r>
              <a:rPr lang="en-US" b="1"/>
              <a:t>3 : </a:t>
            </a:r>
            <a:r>
              <a:rPr lang="ar-EG" b="1"/>
              <a:t>رفض ضامن</a:t>
            </a:r>
            <a:endParaRPr lang="en-US" b="1"/>
          </a:p>
          <a:p>
            <a:pPr lvl="1"/>
            <a:r>
              <a:rPr lang="en-US" b="1"/>
              <a:t>4 : </a:t>
            </a:r>
            <a:r>
              <a:rPr lang="ar-EG" b="1"/>
              <a:t>حفظ</a:t>
            </a:r>
            <a:endParaRPr lang="en-US" b="1"/>
          </a:p>
          <a:p>
            <a:pPr lvl="1"/>
            <a:r>
              <a:rPr lang="en-US" b="1"/>
              <a:t>5 : </a:t>
            </a:r>
            <a:r>
              <a:rPr lang="ar-EG" b="1"/>
              <a:t>حفظ وإرسال</a:t>
            </a:r>
            <a:endParaRPr lang="en-US" b="1"/>
          </a:p>
          <a:p>
            <a:endParaRPr lang="en-US"/>
          </a:p>
        </p:txBody>
      </p:sp>
    </p:spTree>
    <p:extLst>
      <p:ext uri="{BB962C8B-B14F-4D97-AF65-F5344CB8AC3E}">
        <p14:creationId xmlns:p14="http://schemas.microsoft.com/office/powerpoint/2010/main" val="18645791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A252D-E8F3-8644-D657-E3DA33D8905C}"/>
              </a:ext>
            </a:extLst>
          </p:cNvPr>
          <p:cNvSpPr>
            <a:spLocks noGrp="1"/>
          </p:cNvSpPr>
          <p:nvPr>
            <p:ph type="title"/>
          </p:nvPr>
        </p:nvSpPr>
        <p:spPr>
          <a:xfrm>
            <a:off x="913795" y="0"/>
            <a:ext cx="10353762" cy="581025"/>
          </a:xfrm>
        </p:spPr>
        <p:txBody>
          <a:bodyPr>
            <a:normAutofit fontScale="90000"/>
          </a:bodyPr>
          <a:lstStyle/>
          <a:p>
            <a:r>
              <a:rPr lang="en-US" b="1"/>
              <a:t>SWF.Flow_User_Status</a:t>
            </a:r>
          </a:p>
        </p:txBody>
      </p:sp>
      <p:sp>
        <p:nvSpPr>
          <p:cNvPr id="3" name="Content Placeholder 2">
            <a:extLst>
              <a:ext uri="{FF2B5EF4-FFF2-40B4-BE49-F238E27FC236}">
                <a16:creationId xmlns:a16="http://schemas.microsoft.com/office/drawing/2014/main" id="{4BE7F07A-4043-19B3-AA6D-CA1B77DBDBF7}"/>
              </a:ext>
            </a:extLst>
          </p:cNvPr>
          <p:cNvSpPr>
            <a:spLocks noGrp="1"/>
          </p:cNvSpPr>
          <p:nvPr>
            <p:ph idx="1"/>
          </p:nvPr>
        </p:nvSpPr>
        <p:spPr>
          <a:xfrm>
            <a:off x="123824" y="581025"/>
            <a:ext cx="11953875" cy="6153150"/>
          </a:xfrm>
        </p:spPr>
        <p:txBody>
          <a:bodyPr/>
          <a:lstStyle/>
          <a:p>
            <a:r>
              <a:rPr lang="en-US" b="1"/>
              <a:t>FUS_Id: 1: </a:t>
            </a:r>
            <a:r>
              <a:rPr lang="ar-EG" b="1"/>
              <a:t>يعمل</a:t>
            </a:r>
            <a:endParaRPr lang="en-US" b="1"/>
          </a:p>
          <a:p>
            <a:r>
              <a:rPr lang="en-US" b="1"/>
              <a:t>FUS_Id: 2: </a:t>
            </a:r>
            <a:r>
              <a:rPr lang="ar-EG" b="1"/>
              <a:t>مستقيل</a:t>
            </a:r>
            <a:endParaRPr lang="en-US" b="1"/>
          </a:p>
          <a:p>
            <a:r>
              <a:rPr lang="en-US" b="1"/>
              <a:t>FUS_Id: 3 </a:t>
            </a:r>
            <a:r>
              <a:rPr lang="ar-EG" b="1"/>
              <a:t>منقطع</a:t>
            </a:r>
          </a:p>
          <a:p>
            <a:r>
              <a:rPr lang="en-US" b="1"/>
              <a:t>FUS_Id: 206 </a:t>
            </a:r>
            <a:r>
              <a:rPr lang="ar-EG" b="1"/>
              <a:t>مستخدم دفع الكترونى</a:t>
            </a:r>
            <a:endParaRPr lang="en-US" b="1"/>
          </a:p>
        </p:txBody>
      </p:sp>
    </p:spTree>
    <p:extLst>
      <p:ext uri="{BB962C8B-B14F-4D97-AF65-F5344CB8AC3E}">
        <p14:creationId xmlns:p14="http://schemas.microsoft.com/office/powerpoint/2010/main" val="305005152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C0ADE-DBDF-0792-964A-2C7BEF59C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9F850-71BA-B902-B075-654D3DAB110F}"/>
              </a:ext>
            </a:extLst>
          </p:cNvPr>
          <p:cNvSpPr>
            <a:spLocks noGrp="1"/>
          </p:cNvSpPr>
          <p:nvPr>
            <p:ph type="title"/>
          </p:nvPr>
        </p:nvSpPr>
        <p:spPr>
          <a:xfrm>
            <a:off x="598835" y="487680"/>
            <a:ext cx="10353762" cy="5334000"/>
          </a:xfrm>
        </p:spPr>
        <p:txBody>
          <a:bodyPr>
            <a:normAutofit/>
          </a:bodyPr>
          <a:lstStyle/>
          <a:p>
            <a:r>
              <a:rPr lang="en-US" sz="7200" b="1">
                <a:solidFill>
                  <a:srgbClr val="FF0000"/>
                </a:solidFill>
              </a:rPr>
              <a:t> END Flags </a:t>
            </a:r>
          </a:p>
        </p:txBody>
      </p:sp>
    </p:spTree>
    <p:extLst>
      <p:ext uri="{BB962C8B-B14F-4D97-AF65-F5344CB8AC3E}">
        <p14:creationId xmlns:p14="http://schemas.microsoft.com/office/powerpoint/2010/main" val="295549712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A3F1E-2965-B4D0-3E11-7593FC393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805B7-E12F-774A-0198-AE4A3508B445}"/>
              </a:ext>
            </a:extLst>
          </p:cNvPr>
          <p:cNvSpPr>
            <a:spLocks noGrp="1"/>
          </p:cNvSpPr>
          <p:nvPr>
            <p:ph type="title"/>
          </p:nvPr>
        </p:nvSpPr>
        <p:spPr>
          <a:xfrm>
            <a:off x="598835" y="487680"/>
            <a:ext cx="10353762" cy="5334000"/>
          </a:xfrm>
        </p:spPr>
        <p:txBody>
          <a:bodyPr>
            <a:normAutofit/>
          </a:bodyPr>
          <a:lstStyle/>
          <a:p>
            <a:r>
              <a:rPr lang="en-US" sz="7200" b="1">
                <a:solidFill>
                  <a:srgbClr val="FF0000"/>
                </a:solidFill>
              </a:rPr>
              <a:t> Start Business </a:t>
            </a:r>
          </a:p>
        </p:txBody>
      </p:sp>
    </p:spTree>
    <p:extLst>
      <p:ext uri="{BB962C8B-B14F-4D97-AF65-F5344CB8AC3E}">
        <p14:creationId xmlns:p14="http://schemas.microsoft.com/office/powerpoint/2010/main" val="209422413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1AB8-79AE-79E8-551A-E7F5C95C9D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89A587-8646-37C5-15B3-CF433F977873}"/>
              </a:ext>
            </a:extLst>
          </p:cNvPr>
          <p:cNvSpPr>
            <a:spLocks noGrp="1"/>
          </p:cNvSpPr>
          <p:nvPr>
            <p:ph idx="1"/>
          </p:nvPr>
        </p:nvSpPr>
        <p:spPr>
          <a:xfrm>
            <a:off x="118532" y="1732449"/>
            <a:ext cx="11988801" cy="4058751"/>
          </a:xfrm>
        </p:spPr>
        <p:txBody>
          <a:bodyPr/>
          <a:lstStyle/>
          <a:p>
            <a:pPr algn="r" rtl="1"/>
            <a:r>
              <a:rPr lang="ar-EG"/>
              <a:t>نتحدث الأن عن الطلب: </a:t>
            </a:r>
          </a:p>
          <a:p>
            <a:pPr lvl="1" algn="r" rtl="1"/>
            <a:r>
              <a:rPr lang="ar-EG"/>
              <a:t>الطلب يرفض نهائي اذا الضامن الأول تم رفضه وقام العميل بجلب ضامن ثاني وتم رفضه أيضا وقام العميل بجلب ضامن ثالث وتم رفضه أيضا</a:t>
            </a:r>
          </a:p>
          <a:p>
            <a:pPr lvl="1" algn="r" rtl="1"/>
            <a:r>
              <a:rPr lang="ar-EG"/>
              <a:t>عدد الضامنين الذي تم رفضهم هم 3 وهذا يتسبب برفض نهائي للطلب </a:t>
            </a:r>
          </a:p>
          <a:p>
            <a:pPr lvl="1" algn="r" rtl="1"/>
            <a:r>
              <a:rPr lang="ar-EG" sz="1750"/>
              <a:t>من أين قمنا بتحديد ان عدد الضامنين الذي يجب رفضهم حتى يؤدي الى الرفض النهائي للطلب </a:t>
            </a:r>
            <a:r>
              <a:rPr lang="en-US" sz="1750"/>
              <a:t>[ GeneralSetting. MaxGuarantorsPerRequest ]</a:t>
            </a:r>
          </a:p>
        </p:txBody>
      </p:sp>
    </p:spTree>
    <p:extLst>
      <p:ext uri="{BB962C8B-B14F-4D97-AF65-F5344CB8AC3E}">
        <p14:creationId xmlns:p14="http://schemas.microsoft.com/office/powerpoint/2010/main" val="209150220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DED6-22F4-15CA-2A6A-9D91BD5D3488}"/>
              </a:ext>
            </a:extLst>
          </p:cNvPr>
          <p:cNvSpPr>
            <a:spLocks noGrp="1"/>
          </p:cNvSpPr>
          <p:nvPr>
            <p:ph type="title"/>
          </p:nvPr>
        </p:nvSpPr>
        <p:spPr>
          <a:xfrm>
            <a:off x="919119" y="0"/>
            <a:ext cx="10353762" cy="638175"/>
          </a:xfrm>
        </p:spPr>
        <p:txBody>
          <a:bodyPr>
            <a:normAutofit fontScale="90000"/>
          </a:bodyPr>
          <a:lstStyle/>
          <a:p>
            <a:r>
              <a:rPr lang="ar-EG" b="1"/>
              <a:t>كود الصرف</a:t>
            </a:r>
            <a:endParaRPr lang="en-US" b="1"/>
          </a:p>
        </p:txBody>
      </p:sp>
      <p:sp>
        <p:nvSpPr>
          <p:cNvPr id="3" name="Content Placeholder 2">
            <a:extLst>
              <a:ext uri="{FF2B5EF4-FFF2-40B4-BE49-F238E27FC236}">
                <a16:creationId xmlns:a16="http://schemas.microsoft.com/office/drawing/2014/main" id="{1BDC2FFF-A4D8-FFB0-91AA-2878DCABA0BE}"/>
              </a:ext>
            </a:extLst>
          </p:cNvPr>
          <p:cNvSpPr>
            <a:spLocks noGrp="1"/>
          </p:cNvSpPr>
          <p:nvPr>
            <p:ph idx="1"/>
          </p:nvPr>
        </p:nvSpPr>
        <p:spPr>
          <a:xfrm>
            <a:off x="161925" y="781050"/>
            <a:ext cx="11896726" cy="5829300"/>
          </a:xfrm>
        </p:spPr>
        <p:txBody>
          <a:bodyPr/>
          <a:lstStyle/>
          <a:p>
            <a:pPr algn="r" rtl="1"/>
            <a:r>
              <a:rPr lang="ar-EG" sz="1800" b="1"/>
              <a:t>هناك حد أقصى من المرات لارسال كود الصرف, يتم تحديده داخل جدول الاعدادات العامة , </a:t>
            </a:r>
            <a:r>
              <a:rPr lang="en-US" sz="1800" b="1"/>
              <a:t>GeneralSetting.</a:t>
            </a:r>
            <a:r>
              <a:rPr lang="en-US" sz="1800" b="1">
                <a:solidFill>
                  <a:srgbClr val="00B0F0"/>
                </a:solidFill>
              </a:rPr>
              <a:t>MaxDisbursementCode</a:t>
            </a:r>
            <a:endParaRPr lang="ar-EG" sz="1800" b="1">
              <a:solidFill>
                <a:srgbClr val="00B0F0"/>
              </a:solidFill>
            </a:endParaRPr>
          </a:p>
          <a:p>
            <a:pPr algn="r" rtl="1"/>
            <a:endParaRPr lang="en-US"/>
          </a:p>
          <a:p>
            <a:pPr algn="r" rtl="1"/>
            <a:endParaRPr lang="en-US"/>
          </a:p>
          <a:p>
            <a:pPr algn="r" rtl="1"/>
            <a:endParaRPr lang="en-US"/>
          </a:p>
          <a:p>
            <a:pPr algn="r" rtl="1"/>
            <a:endParaRPr lang="en-US"/>
          </a:p>
          <a:p>
            <a:pPr algn="r" rtl="1"/>
            <a:endParaRPr lang="en-US"/>
          </a:p>
        </p:txBody>
      </p:sp>
    </p:spTree>
    <p:extLst>
      <p:ext uri="{BB962C8B-B14F-4D97-AF65-F5344CB8AC3E}">
        <p14:creationId xmlns:p14="http://schemas.microsoft.com/office/powerpoint/2010/main" val="87538296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6122C-ACD3-997A-85C4-6A7393075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A881A-ECB8-051A-0A23-D8C5050AACC1}"/>
              </a:ext>
            </a:extLst>
          </p:cNvPr>
          <p:cNvSpPr>
            <a:spLocks noGrp="1"/>
          </p:cNvSpPr>
          <p:nvPr>
            <p:ph type="title"/>
          </p:nvPr>
        </p:nvSpPr>
        <p:spPr>
          <a:xfrm>
            <a:off x="598835" y="487680"/>
            <a:ext cx="10353762" cy="5334000"/>
          </a:xfrm>
        </p:spPr>
        <p:txBody>
          <a:bodyPr>
            <a:normAutofit/>
          </a:bodyPr>
          <a:lstStyle/>
          <a:p>
            <a:r>
              <a:rPr lang="en-US" sz="7200" b="1">
                <a:solidFill>
                  <a:srgbClr val="FF0000"/>
                </a:solidFill>
              </a:rPr>
              <a:t> End Business </a:t>
            </a:r>
          </a:p>
        </p:txBody>
      </p:sp>
    </p:spTree>
    <p:extLst>
      <p:ext uri="{BB962C8B-B14F-4D97-AF65-F5344CB8AC3E}">
        <p14:creationId xmlns:p14="http://schemas.microsoft.com/office/powerpoint/2010/main" val="246777338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B9A59-9617-2A4F-E00B-3E815ED2E4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C29CDC-CF46-8F95-E72B-FF5FBD15CF5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61074647"/>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08B3F-BBCE-4B06-6F6B-2A0362ABB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F2E43-0929-0B68-9DE6-93FDEB438C3B}"/>
              </a:ext>
            </a:extLst>
          </p:cNvPr>
          <p:cNvSpPr>
            <a:spLocks noGrp="1"/>
          </p:cNvSpPr>
          <p:nvPr>
            <p:ph type="title"/>
          </p:nvPr>
        </p:nvSpPr>
        <p:spPr>
          <a:xfrm>
            <a:off x="598835" y="487680"/>
            <a:ext cx="10353762" cy="5334000"/>
          </a:xfrm>
        </p:spPr>
        <p:txBody>
          <a:bodyPr>
            <a:normAutofit/>
          </a:bodyPr>
          <a:lstStyle/>
          <a:p>
            <a:r>
              <a:rPr lang="en-US" sz="7200" b="1">
                <a:solidFill>
                  <a:srgbClr val="FF0000"/>
                </a:solidFill>
              </a:rPr>
              <a:t> </a:t>
            </a:r>
            <a:r>
              <a:rPr lang="en-US" sz="6000" b="1">
                <a:solidFill>
                  <a:srgbClr val="FF0000"/>
                </a:solidFill>
              </a:rPr>
              <a:t>Start Rescheduling </a:t>
            </a:r>
            <a:endParaRPr lang="en-US" sz="7200" b="1">
              <a:solidFill>
                <a:srgbClr val="FF0000"/>
              </a:solidFill>
            </a:endParaRPr>
          </a:p>
        </p:txBody>
      </p:sp>
    </p:spTree>
    <p:extLst>
      <p:ext uri="{BB962C8B-B14F-4D97-AF65-F5344CB8AC3E}">
        <p14:creationId xmlns:p14="http://schemas.microsoft.com/office/powerpoint/2010/main" val="12840316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4AEA6-0C13-CCC6-F36F-B507BB1198CF}"/>
              </a:ext>
            </a:extLst>
          </p:cNvPr>
          <p:cNvSpPr>
            <a:spLocks noGrp="1"/>
          </p:cNvSpPr>
          <p:nvPr>
            <p:ph type="title"/>
          </p:nvPr>
        </p:nvSpPr>
        <p:spPr>
          <a:xfrm>
            <a:off x="457200" y="0"/>
            <a:ext cx="11382375" cy="619125"/>
          </a:xfrm>
        </p:spPr>
        <p:txBody>
          <a:bodyPr>
            <a:normAutofit fontScale="90000"/>
          </a:bodyPr>
          <a:lstStyle/>
          <a:p>
            <a:r>
              <a:rPr lang="en-US" b="1">
                <a:solidFill>
                  <a:srgbClr val="FFFF00"/>
                </a:solidFill>
              </a:rPr>
              <a:t>RSC</a:t>
            </a:r>
            <a:r>
              <a:rPr lang="en-US" b="1"/>
              <a:t>.</a:t>
            </a:r>
            <a:r>
              <a:rPr lang="en-US" b="1">
                <a:solidFill>
                  <a:srgbClr val="FF0000"/>
                </a:solidFill>
              </a:rPr>
              <a:t>ReschedulingStatus</a:t>
            </a:r>
            <a:endParaRPr lang="en-US"/>
          </a:p>
        </p:txBody>
      </p:sp>
      <p:sp>
        <p:nvSpPr>
          <p:cNvPr id="3" name="Content Placeholder 2">
            <a:extLst>
              <a:ext uri="{FF2B5EF4-FFF2-40B4-BE49-F238E27FC236}">
                <a16:creationId xmlns:a16="http://schemas.microsoft.com/office/drawing/2014/main" id="{927182DD-FA97-662E-7C11-C3C1DC61CDF1}"/>
              </a:ext>
            </a:extLst>
          </p:cNvPr>
          <p:cNvSpPr>
            <a:spLocks noGrp="1"/>
          </p:cNvSpPr>
          <p:nvPr>
            <p:ph idx="1"/>
          </p:nvPr>
        </p:nvSpPr>
        <p:spPr>
          <a:xfrm>
            <a:off x="219075" y="619125"/>
            <a:ext cx="11837458" cy="5857876"/>
          </a:xfrm>
        </p:spPr>
        <p:txBody>
          <a:bodyPr>
            <a:normAutofit/>
          </a:bodyPr>
          <a:lstStyle/>
          <a:p>
            <a:endParaRPr lang="en-US" sz="2400"/>
          </a:p>
          <a:p>
            <a:endParaRPr lang="en-US" sz="2400"/>
          </a:p>
        </p:txBody>
      </p:sp>
      <p:pic>
        <p:nvPicPr>
          <p:cNvPr id="5" name="Picture 4">
            <a:extLst>
              <a:ext uri="{FF2B5EF4-FFF2-40B4-BE49-F238E27FC236}">
                <a16:creationId xmlns:a16="http://schemas.microsoft.com/office/drawing/2014/main" id="{97EBD739-CC2B-BA65-8073-18F721CE8BE1}"/>
              </a:ext>
            </a:extLst>
          </p:cNvPr>
          <p:cNvPicPr>
            <a:picLocks noChangeAspect="1"/>
          </p:cNvPicPr>
          <p:nvPr/>
        </p:nvPicPr>
        <p:blipFill>
          <a:blip r:embed="rId2"/>
          <a:stretch>
            <a:fillRect/>
          </a:stretch>
        </p:blipFill>
        <p:spPr>
          <a:xfrm>
            <a:off x="6032154" y="784184"/>
            <a:ext cx="6024379" cy="2331549"/>
          </a:xfrm>
          <a:prstGeom prst="rect">
            <a:avLst/>
          </a:prstGeom>
        </p:spPr>
      </p:pic>
    </p:spTree>
    <p:extLst>
      <p:ext uri="{BB962C8B-B14F-4D97-AF65-F5344CB8AC3E}">
        <p14:creationId xmlns:p14="http://schemas.microsoft.com/office/powerpoint/2010/main" val="59465009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1814-C196-C0EC-59BC-302657CC09C6}"/>
              </a:ext>
            </a:extLst>
          </p:cNvPr>
          <p:cNvSpPr>
            <a:spLocks noGrp="1"/>
          </p:cNvSpPr>
          <p:nvPr>
            <p:ph type="title"/>
          </p:nvPr>
        </p:nvSpPr>
        <p:spPr>
          <a:xfrm>
            <a:off x="913795" y="0"/>
            <a:ext cx="10353762" cy="474133"/>
          </a:xfrm>
        </p:spPr>
        <p:txBody>
          <a:bodyPr>
            <a:normAutofit fontScale="90000"/>
          </a:bodyPr>
          <a:lstStyle/>
          <a:p>
            <a:r>
              <a:rPr lang="en-US" b="1">
                <a:solidFill>
                  <a:srgbClr val="FFFF00"/>
                </a:solidFill>
              </a:rPr>
              <a:t>RSC</a:t>
            </a:r>
            <a:r>
              <a:rPr lang="en-US" b="1"/>
              <a:t>.</a:t>
            </a:r>
            <a:r>
              <a:rPr lang="en-US" b="1">
                <a:solidFill>
                  <a:srgbClr val="00B0F0"/>
                </a:solidFill>
              </a:rPr>
              <a:t>RscCalculation</a:t>
            </a:r>
          </a:p>
        </p:txBody>
      </p:sp>
      <p:sp>
        <p:nvSpPr>
          <p:cNvPr id="3" name="Content Placeholder 2">
            <a:extLst>
              <a:ext uri="{FF2B5EF4-FFF2-40B4-BE49-F238E27FC236}">
                <a16:creationId xmlns:a16="http://schemas.microsoft.com/office/drawing/2014/main" id="{969F36C7-F139-24BE-E20B-FCA1EE0F3115}"/>
              </a:ext>
            </a:extLst>
          </p:cNvPr>
          <p:cNvSpPr>
            <a:spLocks noGrp="1"/>
          </p:cNvSpPr>
          <p:nvPr>
            <p:ph idx="1"/>
          </p:nvPr>
        </p:nvSpPr>
        <p:spPr>
          <a:xfrm>
            <a:off x="160867" y="804333"/>
            <a:ext cx="11870266" cy="5943600"/>
          </a:xfrm>
        </p:spPr>
        <p:txBody>
          <a:bodyPr/>
          <a:lstStyle/>
          <a:p>
            <a:r>
              <a:rPr lang="en-US"/>
              <a:t>RC_ID: int,  PK</a:t>
            </a:r>
          </a:p>
          <a:p>
            <a:r>
              <a:rPr lang="en-US"/>
              <a:t>Calculation_Way: string</a:t>
            </a:r>
          </a:p>
          <a:p>
            <a:pPr marL="36900" indent="0">
              <a:buNone/>
            </a:pPr>
            <a:endParaRPr lang="en-US"/>
          </a:p>
        </p:txBody>
      </p:sp>
      <p:pic>
        <p:nvPicPr>
          <p:cNvPr id="7" name="Picture 6">
            <a:extLst>
              <a:ext uri="{FF2B5EF4-FFF2-40B4-BE49-F238E27FC236}">
                <a16:creationId xmlns:a16="http://schemas.microsoft.com/office/drawing/2014/main" id="{B8FDDC66-2F63-6364-57E3-D615C24B5BD1}"/>
              </a:ext>
            </a:extLst>
          </p:cNvPr>
          <p:cNvPicPr>
            <a:picLocks noChangeAspect="1"/>
          </p:cNvPicPr>
          <p:nvPr/>
        </p:nvPicPr>
        <p:blipFill>
          <a:blip r:embed="rId2"/>
          <a:stretch>
            <a:fillRect/>
          </a:stretch>
        </p:blipFill>
        <p:spPr>
          <a:xfrm>
            <a:off x="8805687" y="804333"/>
            <a:ext cx="2556580" cy="1332815"/>
          </a:xfrm>
          <a:prstGeom prst="rect">
            <a:avLst/>
          </a:prstGeom>
        </p:spPr>
      </p:pic>
    </p:spTree>
    <p:extLst>
      <p:ext uri="{BB962C8B-B14F-4D97-AF65-F5344CB8AC3E}">
        <p14:creationId xmlns:p14="http://schemas.microsoft.com/office/powerpoint/2010/main" val="312505579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7F92-E46E-76AC-1477-DD3A6DC8E6CF}"/>
              </a:ext>
            </a:extLst>
          </p:cNvPr>
          <p:cNvSpPr>
            <a:spLocks noGrp="1"/>
          </p:cNvSpPr>
          <p:nvPr>
            <p:ph type="title"/>
          </p:nvPr>
        </p:nvSpPr>
        <p:spPr>
          <a:xfrm>
            <a:off x="913795" y="0"/>
            <a:ext cx="10353762" cy="575733"/>
          </a:xfrm>
        </p:spPr>
        <p:txBody>
          <a:bodyPr>
            <a:normAutofit fontScale="90000"/>
          </a:bodyPr>
          <a:lstStyle/>
          <a:p>
            <a:r>
              <a:rPr lang="en-US" b="1">
                <a:solidFill>
                  <a:srgbClr val="FFFF00"/>
                </a:solidFill>
              </a:rPr>
              <a:t>RSC.</a:t>
            </a:r>
            <a:r>
              <a:rPr lang="en-US" b="1">
                <a:solidFill>
                  <a:srgbClr val="00B0F0"/>
                </a:solidFill>
              </a:rPr>
              <a:t>RscSetup</a:t>
            </a:r>
          </a:p>
        </p:txBody>
      </p:sp>
      <p:sp>
        <p:nvSpPr>
          <p:cNvPr id="7" name="Content Placeholder 6">
            <a:extLst>
              <a:ext uri="{FF2B5EF4-FFF2-40B4-BE49-F238E27FC236}">
                <a16:creationId xmlns:a16="http://schemas.microsoft.com/office/drawing/2014/main" id="{CE623E09-404D-0A42-B52E-CC14683BE5F4}"/>
              </a:ext>
            </a:extLst>
          </p:cNvPr>
          <p:cNvSpPr>
            <a:spLocks noGrp="1"/>
          </p:cNvSpPr>
          <p:nvPr>
            <p:ph idx="1"/>
          </p:nvPr>
        </p:nvSpPr>
        <p:spPr>
          <a:xfrm>
            <a:off x="152401" y="575732"/>
            <a:ext cx="11980333" cy="5698067"/>
          </a:xfrm>
        </p:spPr>
        <p:txBody>
          <a:bodyPr>
            <a:normAutofit/>
          </a:bodyPr>
          <a:lstStyle/>
          <a:p>
            <a:endParaRPr lang="en-US" sz="1600" b="1"/>
          </a:p>
          <a:p>
            <a:pPr marL="36900" indent="0">
              <a:buNone/>
            </a:pPr>
            <a:endParaRPr lang="en-US" sz="1600" b="1"/>
          </a:p>
          <a:p>
            <a:r>
              <a:rPr lang="en-US" sz="1600" b="1"/>
              <a:t>RS_ID: PK</a:t>
            </a:r>
          </a:p>
          <a:p>
            <a:r>
              <a:rPr lang="en-US" sz="1600" b="1"/>
              <a:t>Type: string</a:t>
            </a:r>
          </a:p>
          <a:p>
            <a:r>
              <a:rPr lang="en-US" sz="1600" b="1"/>
              <a:t>Max_Resc_Months: int, </a:t>
            </a:r>
            <a:r>
              <a:rPr lang="ar-EG" sz="1600" b="1"/>
              <a:t>الحد الأقصى لمدة الجدولة</a:t>
            </a:r>
          </a:p>
          <a:p>
            <a:r>
              <a:rPr lang="en-US" sz="1600" b="1"/>
              <a:t>Grace_Period: int,  </a:t>
            </a:r>
            <a:r>
              <a:rPr lang="ar-EG" sz="1600" b="1"/>
              <a:t>فترة السماح</a:t>
            </a:r>
          </a:p>
          <a:p>
            <a:r>
              <a:rPr lang="en-US" sz="1600" b="1"/>
              <a:t>Resc_Commission: int,  </a:t>
            </a:r>
            <a:r>
              <a:rPr lang="ar-EG" sz="1600" b="1"/>
              <a:t>عمولة إعادة الجدولة</a:t>
            </a:r>
            <a:endParaRPr lang="en-US" sz="1600" b="1"/>
          </a:p>
          <a:p>
            <a:r>
              <a:rPr lang="en-US" sz="1600" b="1"/>
              <a:t>Resc_expenses: decimal, </a:t>
            </a:r>
            <a:r>
              <a:rPr lang="ar-EG" sz="1600" b="1"/>
              <a:t>مصروفات إعادة الجدولة</a:t>
            </a:r>
          </a:p>
          <a:p>
            <a:r>
              <a:rPr lang="en-US" sz="1600" b="1"/>
              <a:t>Resc_Return_Ratio: decimal, </a:t>
            </a:r>
            <a:r>
              <a:rPr lang="ar-EG" sz="1600" b="1"/>
              <a:t>نسبة عائد إعاد ة الجدولة</a:t>
            </a:r>
            <a:endParaRPr lang="en-US" sz="1600" b="1"/>
          </a:p>
          <a:p>
            <a:r>
              <a:rPr lang="en-US" sz="1600" b="1"/>
              <a:t>Min_Premium_Num: int, </a:t>
            </a:r>
            <a:r>
              <a:rPr lang="ar-EG" sz="1600" b="1"/>
              <a:t>الحد الأدني لعددالأقساط المتبقية</a:t>
            </a:r>
            <a:endParaRPr lang="en-US" sz="1600" b="1"/>
          </a:p>
          <a:p>
            <a:r>
              <a:rPr lang="en-US" sz="1600" b="1"/>
              <a:t>Max_Premium_Num: int, </a:t>
            </a:r>
            <a:r>
              <a:rPr lang="ar-EG" sz="1600" b="1"/>
              <a:t>الحد الأقصى لعدد الأقساط المتبقية</a:t>
            </a:r>
            <a:endParaRPr lang="en-US" sz="1600" b="1"/>
          </a:p>
          <a:p>
            <a:r>
              <a:rPr lang="en-US" sz="1600" b="1"/>
              <a:t>Cust_Guar: int </a:t>
            </a:r>
          </a:p>
          <a:p>
            <a:r>
              <a:rPr lang="en-US" sz="1600" b="1"/>
              <a:t>RscCalculations: FK from </a:t>
            </a:r>
            <a:r>
              <a:rPr lang="en-US" sz="1600" b="1">
                <a:solidFill>
                  <a:srgbClr val="FFFF00"/>
                </a:solidFill>
              </a:rPr>
              <a:t>RscCalculation</a:t>
            </a:r>
          </a:p>
          <a:p>
            <a:r>
              <a:rPr lang="en-US" sz="1600" b="1"/>
              <a:t>FRC_Id: FK from </a:t>
            </a:r>
            <a:r>
              <a:rPr lang="en-US" sz="1600" b="1">
                <a:solidFill>
                  <a:srgbClr val="FFFF00"/>
                </a:solidFill>
              </a:rPr>
              <a:t>Flow_Repayment_Cycles</a:t>
            </a:r>
          </a:p>
        </p:txBody>
      </p:sp>
      <p:pic>
        <p:nvPicPr>
          <p:cNvPr id="8" name="Content Placeholder 4">
            <a:extLst>
              <a:ext uri="{FF2B5EF4-FFF2-40B4-BE49-F238E27FC236}">
                <a16:creationId xmlns:a16="http://schemas.microsoft.com/office/drawing/2014/main" id="{438232D4-C597-18CA-9087-8E9A1298206A}"/>
              </a:ext>
            </a:extLst>
          </p:cNvPr>
          <p:cNvPicPr>
            <a:picLocks noChangeAspect="1"/>
          </p:cNvPicPr>
          <p:nvPr/>
        </p:nvPicPr>
        <p:blipFill>
          <a:blip r:embed="rId2"/>
          <a:stretch>
            <a:fillRect/>
          </a:stretch>
        </p:blipFill>
        <p:spPr>
          <a:xfrm>
            <a:off x="2310581" y="575733"/>
            <a:ext cx="9822153" cy="1032934"/>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40476816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D23B9-E8C5-304B-F154-AFBB3424B28C}"/>
              </a:ext>
            </a:extLst>
          </p:cNvPr>
          <p:cNvSpPr>
            <a:spLocks noGrp="1"/>
          </p:cNvSpPr>
          <p:nvPr>
            <p:ph type="title"/>
          </p:nvPr>
        </p:nvSpPr>
        <p:spPr>
          <a:xfrm>
            <a:off x="913795" y="0"/>
            <a:ext cx="10353762" cy="723900"/>
          </a:xfrm>
        </p:spPr>
        <p:txBody>
          <a:bodyPr/>
          <a:lstStyle/>
          <a:p>
            <a:r>
              <a:rPr lang="en-US" b="1">
                <a:solidFill>
                  <a:srgbClr val="FFFF00"/>
                </a:solidFill>
              </a:rPr>
              <a:t>RSC</a:t>
            </a:r>
            <a:r>
              <a:rPr lang="en-US" b="1"/>
              <a:t>.</a:t>
            </a:r>
            <a:r>
              <a:rPr lang="en-US" b="1">
                <a:solidFill>
                  <a:srgbClr val="00B0F0"/>
                </a:solidFill>
              </a:rPr>
              <a:t>ReschedulingCustomers</a:t>
            </a:r>
          </a:p>
        </p:txBody>
      </p:sp>
      <p:sp>
        <p:nvSpPr>
          <p:cNvPr id="3" name="Content Placeholder 2">
            <a:extLst>
              <a:ext uri="{FF2B5EF4-FFF2-40B4-BE49-F238E27FC236}">
                <a16:creationId xmlns:a16="http://schemas.microsoft.com/office/drawing/2014/main" id="{E347DC07-390D-DBA0-BAD0-F9BB4515BCD6}"/>
              </a:ext>
            </a:extLst>
          </p:cNvPr>
          <p:cNvSpPr>
            <a:spLocks noGrp="1"/>
          </p:cNvSpPr>
          <p:nvPr>
            <p:ph idx="1"/>
          </p:nvPr>
        </p:nvSpPr>
        <p:spPr>
          <a:xfrm>
            <a:off x="104774" y="723901"/>
            <a:ext cx="12087225" cy="5991224"/>
          </a:xfrm>
        </p:spPr>
        <p:txBody>
          <a:bodyPr>
            <a:normAutofit/>
          </a:bodyPr>
          <a:lstStyle/>
          <a:p>
            <a:r>
              <a:rPr lang="en-US" sz="1800" b="1"/>
              <a:t>RC_ID: PK</a:t>
            </a:r>
          </a:p>
          <a:p>
            <a:r>
              <a:rPr lang="en-US" sz="1800" b="1"/>
              <a:t>CustomerId: FK from </a:t>
            </a:r>
            <a:r>
              <a:rPr lang="en-US" sz="1800" b="1">
                <a:solidFill>
                  <a:srgbClr val="FFFF00"/>
                </a:solidFill>
              </a:rPr>
              <a:t>customer</a:t>
            </a:r>
          </a:p>
          <a:p>
            <a:r>
              <a:rPr lang="en-US" sz="1800" b="1"/>
              <a:t>RequestId: FK from </a:t>
            </a:r>
            <a:r>
              <a:rPr lang="en-US" sz="1800" b="1">
                <a:solidFill>
                  <a:srgbClr val="FFFF00"/>
                </a:solidFill>
              </a:rPr>
              <a:t>Request</a:t>
            </a:r>
          </a:p>
          <a:p>
            <a:r>
              <a:rPr lang="en-US" sz="1800" b="1"/>
              <a:t>Status: FK from </a:t>
            </a:r>
            <a:r>
              <a:rPr lang="en-US" sz="1800" b="1">
                <a:solidFill>
                  <a:srgbClr val="FFFF00"/>
                </a:solidFill>
              </a:rPr>
              <a:t>ReschedulingStatus</a:t>
            </a:r>
          </a:p>
          <a:p>
            <a:r>
              <a:rPr lang="en-US" sz="1800" b="1"/>
              <a:t>RS_ID: FK from </a:t>
            </a:r>
            <a:r>
              <a:rPr lang="en-US" sz="1800" b="1">
                <a:solidFill>
                  <a:srgbClr val="FFFF00"/>
                </a:solidFill>
              </a:rPr>
              <a:t>RscSetup</a:t>
            </a:r>
          </a:p>
          <a:p>
            <a:r>
              <a:rPr lang="en-US" sz="1800" b="1"/>
              <a:t>BranchId: FK from </a:t>
            </a:r>
            <a:r>
              <a:rPr lang="en-US" sz="1800" b="1">
                <a:solidFill>
                  <a:srgbClr val="FFFF00"/>
                </a:solidFill>
              </a:rPr>
              <a:t>BranchId</a:t>
            </a:r>
          </a:p>
          <a:p>
            <a:r>
              <a:rPr lang="en-US" sz="1800" b="1"/>
              <a:t>UserID: FK from </a:t>
            </a:r>
            <a:r>
              <a:rPr lang="en-US" sz="1800" b="1">
                <a:solidFill>
                  <a:srgbClr val="FFFF00"/>
                </a:solidFill>
              </a:rPr>
              <a:t>User</a:t>
            </a:r>
          </a:p>
          <a:p>
            <a:r>
              <a:rPr lang="en-US" sz="1800" b="1"/>
              <a:t>creationDate: </a:t>
            </a:r>
            <a:r>
              <a:rPr lang="en-US"/>
              <a:t>DateTime</a:t>
            </a:r>
            <a:endParaRPr lang="en-US" sz="1800" b="1">
              <a:solidFill>
                <a:srgbClr val="00B0F0"/>
              </a:solidFill>
            </a:endParaRPr>
          </a:p>
          <a:p>
            <a:r>
              <a:rPr lang="en-US" sz="1800" b="1">
                <a:solidFill>
                  <a:srgbClr val="00B0F0"/>
                </a:solidFill>
              </a:rPr>
              <a:t>ReschedulingCustomers</a:t>
            </a:r>
            <a:endParaRPr lang="en-US" sz="1800" b="1">
              <a:solidFill>
                <a:srgbClr val="FFFF00"/>
              </a:solidFill>
            </a:endParaRPr>
          </a:p>
        </p:txBody>
      </p:sp>
      <p:pic>
        <p:nvPicPr>
          <p:cNvPr id="5" name="Picture 4">
            <a:extLst>
              <a:ext uri="{FF2B5EF4-FFF2-40B4-BE49-F238E27FC236}">
                <a16:creationId xmlns:a16="http://schemas.microsoft.com/office/drawing/2014/main" id="{BF029F3C-0680-92AE-DAA8-A6A6CE2621EB}"/>
              </a:ext>
            </a:extLst>
          </p:cNvPr>
          <p:cNvPicPr>
            <a:picLocks noChangeAspect="1"/>
          </p:cNvPicPr>
          <p:nvPr/>
        </p:nvPicPr>
        <p:blipFill>
          <a:blip r:embed="rId2"/>
          <a:stretch>
            <a:fillRect/>
          </a:stretch>
        </p:blipFill>
        <p:spPr>
          <a:xfrm>
            <a:off x="4204759" y="792405"/>
            <a:ext cx="7882467" cy="1739130"/>
          </a:xfrm>
          <a:prstGeom prst="rect">
            <a:avLst/>
          </a:prstGeom>
        </p:spPr>
      </p:pic>
    </p:spTree>
    <p:extLst>
      <p:ext uri="{BB962C8B-B14F-4D97-AF65-F5344CB8AC3E}">
        <p14:creationId xmlns:p14="http://schemas.microsoft.com/office/powerpoint/2010/main" val="122877339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D69E1-8549-3945-3074-ADD9ECC48C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6D4400-9700-CA84-906A-997ACEC7AA59}"/>
              </a:ext>
            </a:extLst>
          </p:cNvPr>
          <p:cNvSpPr>
            <a:spLocks noGrp="1"/>
          </p:cNvSpPr>
          <p:nvPr>
            <p:ph idx="1"/>
          </p:nvPr>
        </p:nvSpPr>
        <p:spPr/>
        <p:txBody>
          <a:bodyPr/>
          <a:lstStyle/>
          <a:p>
            <a:r>
              <a:rPr lang="en-US"/>
              <a:t>We have customer and guarantor rescheduling</a:t>
            </a:r>
          </a:p>
          <a:p>
            <a:endParaRPr lang="en-US"/>
          </a:p>
        </p:txBody>
      </p:sp>
    </p:spTree>
    <p:extLst>
      <p:ext uri="{BB962C8B-B14F-4D97-AF65-F5344CB8AC3E}">
        <p14:creationId xmlns:p14="http://schemas.microsoft.com/office/powerpoint/2010/main" val="1558383398"/>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95E24-384E-0743-3718-89B3183842D0}"/>
              </a:ext>
            </a:extLst>
          </p:cNvPr>
          <p:cNvSpPr>
            <a:spLocks noGrp="1"/>
          </p:cNvSpPr>
          <p:nvPr>
            <p:ph type="title"/>
          </p:nvPr>
        </p:nvSpPr>
        <p:spPr>
          <a:xfrm>
            <a:off x="919119" y="1"/>
            <a:ext cx="10353762" cy="609600"/>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5F4DE71E-CAC6-3368-A7B0-C765AC618938}"/>
              </a:ext>
            </a:extLst>
          </p:cNvPr>
          <p:cNvSpPr>
            <a:spLocks noGrp="1"/>
          </p:cNvSpPr>
          <p:nvPr>
            <p:ph idx="1"/>
          </p:nvPr>
        </p:nvSpPr>
        <p:spPr>
          <a:xfrm>
            <a:off x="913795" y="857250"/>
            <a:ext cx="10353762" cy="5791199"/>
          </a:xfrm>
        </p:spPr>
        <p:txBody>
          <a:bodyPr/>
          <a:lstStyle/>
          <a:p>
            <a:r>
              <a:rPr lang="en-US" sz="2200" b="1">
                <a:solidFill>
                  <a:srgbClr val="FFFF00"/>
                </a:solidFill>
              </a:rPr>
              <a:t>RSC</a:t>
            </a:r>
            <a:r>
              <a:rPr lang="en-US" sz="2200"/>
              <a:t>.</a:t>
            </a:r>
            <a:r>
              <a:rPr lang="en-US" sz="2200" b="1">
                <a:solidFill>
                  <a:srgbClr val="00B0F0"/>
                </a:solidFill>
              </a:rPr>
              <a:t>ReschedulingCustomers</a:t>
            </a:r>
          </a:p>
          <a:p>
            <a:r>
              <a:rPr lang="en-US"/>
              <a:t>cust_guar:</a:t>
            </a:r>
          </a:p>
          <a:p>
            <a:pPr lvl="1"/>
            <a:r>
              <a:rPr lang="en-US" b="1"/>
              <a:t>1 [ </a:t>
            </a:r>
            <a:r>
              <a:rPr lang="ar-EG" b="1"/>
              <a:t>عميل</a:t>
            </a:r>
            <a:r>
              <a:rPr lang="en-US" b="1"/>
              <a:t> ]</a:t>
            </a:r>
            <a:endParaRPr lang="ar-EG" b="1"/>
          </a:p>
          <a:p>
            <a:pPr lvl="1"/>
            <a:r>
              <a:rPr lang="en-US" b="1"/>
              <a:t>2 [ </a:t>
            </a:r>
            <a:r>
              <a:rPr lang="ar-EG" b="1"/>
              <a:t>ضامن</a:t>
            </a:r>
            <a:r>
              <a:rPr lang="en-US" b="1"/>
              <a:t> ]</a:t>
            </a:r>
          </a:p>
          <a:p>
            <a:endParaRPr lang="en-US"/>
          </a:p>
          <a:p>
            <a:endParaRPr lang="en-US"/>
          </a:p>
          <a:p>
            <a:endParaRPr lang="en-US"/>
          </a:p>
          <a:p>
            <a:endParaRPr lang="en-US"/>
          </a:p>
        </p:txBody>
      </p:sp>
    </p:spTree>
    <p:extLst>
      <p:ext uri="{BB962C8B-B14F-4D97-AF65-F5344CB8AC3E}">
        <p14:creationId xmlns:p14="http://schemas.microsoft.com/office/powerpoint/2010/main" val="295147390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3F17D-684B-4848-F94F-3638FEDFF5C7}"/>
              </a:ext>
            </a:extLst>
          </p:cNvPr>
          <p:cNvSpPr>
            <a:spLocks noGrp="1"/>
          </p:cNvSpPr>
          <p:nvPr>
            <p:ph type="title"/>
          </p:nvPr>
        </p:nvSpPr>
        <p:spPr>
          <a:xfrm>
            <a:off x="237067" y="609600"/>
            <a:ext cx="11030490" cy="970450"/>
          </a:xfrm>
        </p:spPr>
        <p:txBody>
          <a:bodyPr/>
          <a:lstStyle/>
          <a:p>
            <a:endParaRPr lang="en-US"/>
          </a:p>
        </p:txBody>
      </p:sp>
      <p:sp>
        <p:nvSpPr>
          <p:cNvPr id="3" name="Content Placeholder 2">
            <a:extLst>
              <a:ext uri="{FF2B5EF4-FFF2-40B4-BE49-F238E27FC236}">
                <a16:creationId xmlns:a16="http://schemas.microsoft.com/office/drawing/2014/main" id="{8CAEAFE6-ECA7-118B-D10E-08E459816E6D}"/>
              </a:ext>
            </a:extLst>
          </p:cNvPr>
          <p:cNvSpPr>
            <a:spLocks noGrp="1"/>
          </p:cNvSpPr>
          <p:nvPr>
            <p:ph idx="1"/>
          </p:nvPr>
        </p:nvSpPr>
        <p:spPr>
          <a:xfrm>
            <a:off x="0" y="1732449"/>
            <a:ext cx="12191999" cy="4944576"/>
          </a:xfrm>
        </p:spPr>
        <p:txBody>
          <a:bodyPr/>
          <a:lstStyle/>
          <a:p>
            <a:r>
              <a:rPr lang="en-US"/>
              <a:t>To calc </a:t>
            </a:r>
            <a:r>
              <a:rPr lang="ar-EG"/>
              <a:t>إجمالي المديونية المستحقة</a:t>
            </a:r>
          </a:p>
          <a:p>
            <a:pPr lvl="1"/>
            <a:r>
              <a:rPr lang="en-US" sz="1600" b="1"/>
              <a:t>From Trans.</a:t>
            </a:r>
            <a:r>
              <a:rPr lang="en-US" sz="1600" b="1">
                <a:solidFill>
                  <a:srgbClr val="00B0F0"/>
                </a:solidFill>
              </a:rPr>
              <a:t>Trans_Premiums </a:t>
            </a:r>
            <a:r>
              <a:rPr lang="en-US" sz="1600" b="1"/>
              <a:t>get</a:t>
            </a:r>
            <a:r>
              <a:rPr lang="en-US" sz="1600" b="1">
                <a:solidFill>
                  <a:srgbClr val="00B0F0"/>
                </a:solidFill>
              </a:rPr>
              <a:t> </a:t>
            </a:r>
            <a:r>
              <a:rPr lang="en-US" sz="1600" b="1"/>
              <a:t>Sum (</a:t>
            </a:r>
            <a:r>
              <a:rPr lang="en-US" sz="1600" b="1">
                <a:solidFill>
                  <a:srgbClr val="FFFF00"/>
                </a:solidFill>
              </a:rPr>
              <a:t>Primium_Value</a:t>
            </a:r>
            <a:r>
              <a:rPr lang="en-US" sz="1600" b="1"/>
              <a:t> - </a:t>
            </a:r>
            <a:r>
              <a:rPr lang="en-US" sz="1600" b="1">
                <a:solidFill>
                  <a:srgbClr val="FFFF00"/>
                </a:solidFill>
              </a:rPr>
              <a:t>Settlement_Value</a:t>
            </a:r>
            <a:r>
              <a:rPr lang="en-US" sz="1600" b="1"/>
              <a:t>)</a:t>
            </a:r>
            <a:r>
              <a:rPr lang="en-US" sz="1600"/>
              <a:t>  where requestId = requestId + Req.</a:t>
            </a:r>
            <a:r>
              <a:rPr lang="en-US" sz="1600" b="1">
                <a:solidFill>
                  <a:srgbClr val="FFFF00"/>
                </a:solidFill>
              </a:rPr>
              <a:t>PenaltyAmount</a:t>
            </a:r>
          </a:p>
          <a:p>
            <a:pPr lvl="1"/>
            <a:endParaRPr lang="en-US" sz="1600"/>
          </a:p>
        </p:txBody>
      </p:sp>
    </p:spTree>
    <p:extLst>
      <p:ext uri="{BB962C8B-B14F-4D97-AF65-F5344CB8AC3E}">
        <p14:creationId xmlns:p14="http://schemas.microsoft.com/office/powerpoint/2010/main" val="301319652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F696A-F985-C178-7BF6-6971A7F22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7C496-F81E-F51C-56CC-F894FC24802D}"/>
              </a:ext>
            </a:extLst>
          </p:cNvPr>
          <p:cNvSpPr>
            <a:spLocks noGrp="1"/>
          </p:cNvSpPr>
          <p:nvPr>
            <p:ph type="title"/>
          </p:nvPr>
        </p:nvSpPr>
        <p:spPr>
          <a:xfrm>
            <a:off x="598835" y="487680"/>
            <a:ext cx="10353762" cy="5334000"/>
          </a:xfrm>
        </p:spPr>
        <p:txBody>
          <a:bodyPr>
            <a:normAutofit/>
          </a:bodyPr>
          <a:lstStyle/>
          <a:p>
            <a:r>
              <a:rPr lang="en-US" sz="7200" b="1">
                <a:solidFill>
                  <a:srgbClr val="FF0000"/>
                </a:solidFill>
              </a:rPr>
              <a:t> </a:t>
            </a:r>
            <a:r>
              <a:rPr lang="en-US" sz="6000" b="1">
                <a:solidFill>
                  <a:srgbClr val="FF0000"/>
                </a:solidFill>
              </a:rPr>
              <a:t>End Rescheduling </a:t>
            </a:r>
            <a:endParaRPr lang="en-US" sz="7200" b="1">
              <a:solidFill>
                <a:srgbClr val="FF0000"/>
              </a:solidFill>
            </a:endParaRPr>
          </a:p>
        </p:txBody>
      </p:sp>
    </p:spTree>
    <p:extLst>
      <p:ext uri="{BB962C8B-B14F-4D97-AF65-F5344CB8AC3E}">
        <p14:creationId xmlns:p14="http://schemas.microsoft.com/office/powerpoint/2010/main" val="44618023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0907-D756-AD49-F629-28C7674CC4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F244BF-C96C-C532-8526-DAF9132613F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4216421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B1285-9FE7-63D3-6DD7-985338EC4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64B98-BA43-71F3-3120-CA9399B34868}"/>
              </a:ext>
            </a:extLst>
          </p:cNvPr>
          <p:cNvSpPr>
            <a:spLocks noGrp="1"/>
          </p:cNvSpPr>
          <p:nvPr>
            <p:ph type="title"/>
          </p:nvPr>
        </p:nvSpPr>
        <p:spPr>
          <a:xfrm>
            <a:off x="913795" y="609600"/>
            <a:ext cx="10353762" cy="5008880"/>
          </a:xfrm>
        </p:spPr>
        <p:txBody>
          <a:bodyPr>
            <a:normAutofit/>
          </a:bodyPr>
          <a:lstStyle/>
          <a:p>
            <a:r>
              <a:rPr lang="en-US" sz="6600" b="1">
                <a:solidFill>
                  <a:srgbClr val="FF0000"/>
                </a:solidFill>
              </a:rPr>
              <a:t>START TABLE</a:t>
            </a:r>
          </a:p>
        </p:txBody>
      </p:sp>
    </p:spTree>
    <p:extLst>
      <p:ext uri="{BB962C8B-B14F-4D97-AF65-F5344CB8AC3E}">
        <p14:creationId xmlns:p14="http://schemas.microsoft.com/office/powerpoint/2010/main" val="306256168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0BE0D-D7D9-C836-9C7A-D44C993466C6}"/>
              </a:ext>
            </a:extLst>
          </p:cNvPr>
          <p:cNvSpPr>
            <a:spLocks noGrp="1"/>
          </p:cNvSpPr>
          <p:nvPr>
            <p:ph type="title"/>
          </p:nvPr>
        </p:nvSpPr>
        <p:spPr>
          <a:xfrm>
            <a:off x="919119" y="0"/>
            <a:ext cx="10353762" cy="698090"/>
          </a:xfrm>
        </p:spPr>
        <p:txBody>
          <a:bodyPr>
            <a:normAutofit fontScale="90000"/>
          </a:bodyPr>
          <a:lstStyle/>
          <a:p>
            <a:r>
              <a:rPr lang="en-US" b="1">
                <a:solidFill>
                  <a:srgbClr val="FFFF00"/>
                </a:solidFill>
              </a:rPr>
              <a:t>TWF</a:t>
            </a:r>
            <a:r>
              <a:rPr lang="en-US"/>
              <a:t>.</a:t>
            </a:r>
            <a:r>
              <a:rPr lang="en-US" b="1">
                <a:solidFill>
                  <a:srgbClr val="FF0000"/>
                </a:solidFill>
              </a:rPr>
              <a:t>Flow_Enterprises</a:t>
            </a:r>
          </a:p>
        </p:txBody>
      </p:sp>
      <p:sp>
        <p:nvSpPr>
          <p:cNvPr id="3" name="Content Placeholder 2">
            <a:extLst>
              <a:ext uri="{FF2B5EF4-FFF2-40B4-BE49-F238E27FC236}">
                <a16:creationId xmlns:a16="http://schemas.microsoft.com/office/drawing/2014/main" id="{B2BAA4F4-1B4B-9AB2-BD76-7AA41529A8EB}"/>
              </a:ext>
            </a:extLst>
          </p:cNvPr>
          <p:cNvSpPr>
            <a:spLocks noGrp="1"/>
          </p:cNvSpPr>
          <p:nvPr>
            <p:ph idx="1"/>
          </p:nvPr>
        </p:nvSpPr>
        <p:spPr>
          <a:xfrm>
            <a:off x="7552" y="698091"/>
            <a:ext cx="12176896" cy="5987844"/>
          </a:xfrm>
        </p:spPr>
        <p:txBody>
          <a:bodyPr>
            <a:normAutofit lnSpcReduction="10000"/>
          </a:bodyPr>
          <a:lstStyle/>
          <a:p>
            <a:endParaRPr lang="en-US" sz="1800"/>
          </a:p>
          <a:p>
            <a:endParaRPr lang="en-US" sz="1800"/>
          </a:p>
          <a:p>
            <a:r>
              <a:rPr lang="en-US" sz="1800"/>
              <a:t>Enterprise_ID [PK], [identity]</a:t>
            </a:r>
          </a:p>
          <a:p>
            <a:r>
              <a:rPr lang="en-US" sz="1800"/>
              <a:t>Brand_name: </a:t>
            </a:r>
            <a:r>
              <a:rPr lang="ar-EG" sz="1800"/>
              <a:t>اسم الشركة</a:t>
            </a:r>
            <a:endParaRPr lang="en-US" sz="1800"/>
          </a:p>
          <a:p>
            <a:r>
              <a:rPr lang="en-US" sz="1800"/>
              <a:t>Code_Sector: </a:t>
            </a:r>
            <a:r>
              <a:rPr lang="ar-EG" b="1">
                <a:effectLst/>
              </a:rPr>
              <a:t>تجاري</a:t>
            </a:r>
            <a:r>
              <a:rPr lang="en-US" b="1">
                <a:effectLst/>
              </a:rPr>
              <a:t> </a:t>
            </a:r>
            <a:r>
              <a:rPr lang="en-US" b="1">
                <a:effectLst/>
                <a:sym typeface="Wingdings" panose="05000000000000000000" pitchFamily="2" charset="2"/>
              </a:rPr>
              <a:t> </a:t>
            </a:r>
            <a:r>
              <a:rPr lang="ar-EG" b="1">
                <a:effectLst/>
                <a:sym typeface="Wingdings" panose="05000000000000000000" pitchFamily="2" charset="2"/>
              </a:rPr>
              <a:t>نوع النشاط</a:t>
            </a:r>
          </a:p>
          <a:p>
            <a:r>
              <a:rPr lang="en-US"/>
              <a:t>Nature_enterprise: </a:t>
            </a:r>
            <a:r>
              <a:rPr lang="ar-EG"/>
              <a:t>النشاط التجاري</a:t>
            </a:r>
            <a:endParaRPr lang="ar-EG" b="1">
              <a:effectLst/>
            </a:endParaRPr>
          </a:p>
          <a:p>
            <a:r>
              <a:rPr lang="en-US" b="1">
                <a:effectLst/>
              </a:rPr>
              <a:t>Code_main: </a:t>
            </a:r>
            <a:r>
              <a:rPr lang="ar-EG" b="1">
                <a:effectLst/>
              </a:rPr>
              <a:t>النشاط الرئيسي</a:t>
            </a:r>
            <a:endParaRPr lang="en-US" b="1">
              <a:effectLst/>
            </a:endParaRPr>
          </a:p>
          <a:p>
            <a:r>
              <a:rPr lang="en-US" b="1">
                <a:effectLst/>
              </a:rPr>
              <a:t>Code: </a:t>
            </a:r>
            <a:r>
              <a:rPr lang="ar-EG" b="1">
                <a:effectLst/>
              </a:rPr>
              <a:t>النشاط الفرعى</a:t>
            </a:r>
          </a:p>
          <a:p>
            <a:r>
              <a:rPr lang="en-US"/>
              <a:t>Type_enterprise: </a:t>
            </a:r>
            <a:r>
              <a:rPr lang="ar-EG"/>
              <a:t>طبيعة المنشأة</a:t>
            </a:r>
            <a:endParaRPr lang="en-US"/>
          </a:p>
          <a:p>
            <a:r>
              <a:rPr lang="en-US"/>
              <a:t>Org_Id</a:t>
            </a:r>
          </a:p>
          <a:p>
            <a:r>
              <a:rPr lang="en-US"/>
              <a:t>Commercial_Reg_num: </a:t>
            </a:r>
            <a:r>
              <a:rPr lang="ar-EG"/>
              <a:t>رقم السجل التجاري</a:t>
            </a:r>
            <a:endParaRPr lang="en-US"/>
          </a:p>
          <a:p>
            <a:r>
              <a:rPr lang="en-US"/>
              <a:t>TaxFile: </a:t>
            </a:r>
            <a:r>
              <a:rPr lang="ar-EG"/>
              <a:t>رقم البطاقة الضريبية</a:t>
            </a:r>
            <a:endParaRPr lang="en-US"/>
          </a:p>
          <a:p>
            <a:r>
              <a:rPr lang="en-US"/>
              <a:t>Code_district: </a:t>
            </a:r>
            <a:r>
              <a:rPr lang="ar-EG"/>
              <a:t>الجهة الصادرة للاسم التجاري</a:t>
            </a:r>
            <a:endParaRPr lang="ar-EG" b="1">
              <a:effectLst/>
            </a:endParaRPr>
          </a:p>
          <a:p>
            <a:r>
              <a:rPr lang="en-US"/>
              <a:t>ICollection&lt;</a:t>
            </a:r>
            <a:r>
              <a:rPr lang="en-US" b="1">
                <a:solidFill>
                  <a:srgbClr val="00B0F0"/>
                </a:solidFill>
              </a:rPr>
              <a:t>Flow_Funding_request</a:t>
            </a:r>
            <a:r>
              <a:rPr lang="en-US"/>
              <a:t>&gt; </a:t>
            </a:r>
            <a:r>
              <a:rPr lang="en-US" b="1">
                <a:solidFill>
                  <a:srgbClr val="FF0000"/>
                </a:solidFill>
              </a:rPr>
              <a:t>Flow_Funding_request</a:t>
            </a:r>
            <a:endParaRPr lang="en-US" b="1">
              <a:solidFill>
                <a:srgbClr val="FF0000"/>
              </a:solidFill>
              <a:effectLst/>
            </a:endParaRPr>
          </a:p>
          <a:p>
            <a:endParaRPr lang="en-US" sz="1800"/>
          </a:p>
        </p:txBody>
      </p:sp>
      <p:pic>
        <p:nvPicPr>
          <p:cNvPr id="4" name="Picture 3">
            <a:extLst>
              <a:ext uri="{FF2B5EF4-FFF2-40B4-BE49-F238E27FC236}">
                <a16:creationId xmlns:a16="http://schemas.microsoft.com/office/drawing/2014/main" id="{94158BB9-5093-99FD-AD8F-3FA0BECFC51D}"/>
              </a:ext>
            </a:extLst>
          </p:cNvPr>
          <p:cNvPicPr>
            <a:picLocks noChangeAspect="1"/>
          </p:cNvPicPr>
          <p:nvPr/>
        </p:nvPicPr>
        <p:blipFill>
          <a:blip r:embed="rId2"/>
          <a:stretch>
            <a:fillRect/>
          </a:stretch>
        </p:blipFill>
        <p:spPr>
          <a:xfrm>
            <a:off x="4210050" y="698090"/>
            <a:ext cx="7821998" cy="550606"/>
          </a:xfrm>
          <a:prstGeom prst="rect">
            <a:avLst/>
          </a:prstGeom>
        </p:spPr>
      </p:pic>
      <p:pic>
        <p:nvPicPr>
          <p:cNvPr id="6" name="Picture 5">
            <a:extLst>
              <a:ext uri="{FF2B5EF4-FFF2-40B4-BE49-F238E27FC236}">
                <a16:creationId xmlns:a16="http://schemas.microsoft.com/office/drawing/2014/main" id="{F7332169-790C-8F92-5850-D5A13ABE040D}"/>
              </a:ext>
            </a:extLst>
          </p:cNvPr>
          <p:cNvPicPr>
            <a:picLocks noChangeAspect="1"/>
          </p:cNvPicPr>
          <p:nvPr/>
        </p:nvPicPr>
        <p:blipFill>
          <a:blip r:embed="rId3"/>
          <a:stretch>
            <a:fillRect/>
          </a:stretch>
        </p:blipFill>
        <p:spPr>
          <a:xfrm>
            <a:off x="4210050" y="1304034"/>
            <a:ext cx="7829550" cy="624794"/>
          </a:xfrm>
          <a:prstGeom prst="rect">
            <a:avLst/>
          </a:prstGeom>
        </p:spPr>
      </p:pic>
    </p:spTree>
    <p:extLst>
      <p:ext uri="{BB962C8B-B14F-4D97-AF65-F5344CB8AC3E}">
        <p14:creationId xmlns:p14="http://schemas.microsoft.com/office/powerpoint/2010/main" val="213724664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057F7-4A47-45E5-2278-AE03FDEC9193}"/>
              </a:ext>
            </a:extLst>
          </p:cNvPr>
          <p:cNvSpPr>
            <a:spLocks noGrp="1"/>
          </p:cNvSpPr>
          <p:nvPr>
            <p:ph type="title"/>
          </p:nvPr>
        </p:nvSpPr>
        <p:spPr>
          <a:xfrm>
            <a:off x="913795" y="0"/>
            <a:ext cx="10353762" cy="628650"/>
          </a:xfrm>
        </p:spPr>
        <p:txBody>
          <a:bodyPr>
            <a:normAutofit fontScale="90000"/>
          </a:bodyPr>
          <a:lstStyle/>
          <a:p>
            <a:r>
              <a:rPr lang="en-US" b="1"/>
              <a:t>Enterprise </a:t>
            </a:r>
            <a:r>
              <a:rPr lang="en-US" b="1">
                <a:sym typeface="Wingdings" panose="05000000000000000000" pitchFamily="2" charset="2"/>
              </a:rPr>
              <a:t> </a:t>
            </a:r>
            <a:r>
              <a:rPr lang="en-US" b="1"/>
              <a:t>TWF.Flow_Enterprises</a:t>
            </a:r>
          </a:p>
        </p:txBody>
      </p:sp>
    </p:spTree>
    <p:extLst>
      <p:ext uri="{BB962C8B-B14F-4D97-AF65-F5344CB8AC3E}">
        <p14:creationId xmlns:p14="http://schemas.microsoft.com/office/powerpoint/2010/main" val="274242712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372F-784B-BCD5-89F0-702260700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E86E4-DABF-E2EC-E221-8255FDEDAB34}"/>
              </a:ext>
            </a:extLst>
          </p:cNvPr>
          <p:cNvSpPr>
            <a:spLocks noGrp="1"/>
          </p:cNvSpPr>
          <p:nvPr>
            <p:ph type="title"/>
          </p:nvPr>
        </p:nvSpPr>
        <p:spPr>
          <a:xfrm>
            <a:off x="913795" y="609600"/>
            <a:ext cx="10353762" cy="5008880"/>
          </a:xfrm>
        </p:spPr>
        <p:txBody>
          <a:bodyPr>
            <a:normAutofit/>
          </a:bodyPr>
          <a:lstStyle/>
          <a:p>
            <a:r>
              <a:rPr lang="en-US" sz="6600" b="1">
                <a:solidFill>
                  <a:srgbClr val="FF0000"/>
                </a:solidFill>
              </a:rPr>
              <a:t>End TABLE</a:t>
            </a:r>
          </a:p>
        </p:txBody>
      </p:sp>
    </p:spTree>
    <p:extLst>
      <p:ext uri="{BB962C8B-B14F-4D97-AF65-F5344CB8AC3E}">
        <p14:creationId xmlns:p14="http://schemas.microsoft.com/office/powerpoint/2010/main" val="23406108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3EB6-8437-8B99-51AD-730AE34F0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AC11D-95EC-CA9C-3B84-3BA469AD6B78}"/>
              </a:ext>
            </a:extLst>
          </p:cNvPr>
          <p:cNvSpPr>
            <a:spLocks noGrp="1"/>
          </p:cNvSpPr>
          <p:nvPr>
            <p:ph type="title"/>
          </p:nvPr>
        </p:nvSpPr>
        <p:spPr>
          <a:xfrm>
            <a:off x="913795" y="609600"/>
            <a:ext cx="10353762" cy="5008880"/>
          </a:xfrm>
        </p:spPr>
        <p:txBody>
          <a:bodyPr>
            <a:normAutofit/>
          </a:bodyPr>
          <a:lstStyle/>
          <a:p>
            <a:r>
              <a:rPr lang="en-US" sz="6600" b="1">
                <a:solidFill>
                  <a:srgbClr val="FF0000"/>
                </a:solidFill>
              </a:rPr>
              <a:t>START AML</a:t>
            </a:r>
          </a:p>
        </p:txBody>
      </p:sp>
    </p:spTree>
    <p:extLst>
      <p:ext uri="{BB962C8B-B14F-4D97-AF65-F5344CB8AC3E}">
        <p14:creationId xmlns:p14="http://schemas.microsoft.com/office/powerpoint/2010/main" val="318187059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74388-7F59-81AF-3A3D-B278B61D218C}"/>
              </a:ext>
            </a:extLst>
          </p:cNvPr>
          <p:cNvSpPr>
            <a:spLocks noGrp="1"/>
          </p:cNvSpPr>
          <p:nvPr>
            <p:ph type="title"/>
          </p:nvPr>
        </p:nvSpPr>
        <p:spPr/>
        <p:txBody>
          <a:bodyPr/>
          <a:lstStyle/>
          <a:p>
            <a:r>
              <a:rPr lang="en-US"/>
              <a:t>When It used</a:t>
            </a:r>
          </a:p>
        </p:txBody>
      </p:sp>
      <p:sp>
        <p:nvSpPr>
          <p:cNvPr id="3" name="Content Placeholder 2">
            <a:extLst>
              <a:ext uri="{FF2B5EF4-FFF2-40B4-BE49-F238E27FC236}">
                <a16:creationId xmlns:a16="http://schemas.microsoft.com/office/drawing/2014/main" id="{A57C4A5C-50BA-D9AF-9136-3CB58172AD39}"/>
              </a:ext>
            </a:extLst>
          </p:cNvPr>
          <p:cNvSpPr>
            <a:spLocks noGrp="1"/>
          </p:cNvSpPr>
          <p:nvPr>
            <p:ph idx="1"/>
          </p:nvPr>
        </p:nvSpPr>
        <p:spPr/>
        <p:txBody>
          <a:bodyPr/>
          <a:lstStyle/>
          <a:p>
            <a:r>
              <a:rPr lang="en-US" b="1"/>
              <a:t>In Micro it is executed after the iscore</a:t>
            </a:r>
          </a:p>
        </p:txBody>
      </p:sp>
    </p:spTree>
    <p:extLst>
      <p:ext uri="{BB962C8B-B14F-4D97-AF65-F5344CB8AC3E}">
        <p14:creationId xmlns:p14="http://schemas.microsoft.com/office/powerpoint/2010/main" val="399490374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99C4-C2C7-A9E0-92BB-1085913C6A2F}"/>
              </a:ext>
            </a:extLst>
          </p:cNvPr>
          <p:cNvSpPr>
            <a:spLocks noGrp="1"/>
          </p:cNvSpPr>
          <p:nvPr>
            <p:ph type="title"/>
          </p:nvPr>
        </p:nvSpPr>
        <p:spPr>
          <a:xfrm>
            <a:off x="913795" y="0"/>
            <a:ext cx="10353762" cy="970450"/>
          </a:xfrm>
        </p:spPr>
        <p:txBody>
          <a:bodyPr/>
          <a:lstStyle/>
          <a:p>
            <a:r>
              <a:rPr lang="en-US" b="1">
                <a:solidFill>
                  <a:srgbClr val="FFFF00"/>
                </a:solidFill>
              </a:rPr>
              <a:t>TWF</a:t>
            </a:r>
            <a:r>
              <a:rPr lang="en-US" b="1"/>
              <a:t>.</a:t>
            </a:r>
            <a:r>
              <a:rPr lang="en-US" b="1">
                <a:solidFill>
                  <a:srgbClr val="00B0F0"/>
                </a:solidFill>
              </a:rPr>
              <a:t>Flow_Sanctionscanner_ByID</a:t>
            </a:r>
          </a:p>
        </p:txBody>
      </p:sp>
      <p:sp>
        <p:nvSpPr>
          <p:cNvPr id="3" name="Content Placeholder 2">
            <a:extLst>
              <a:ext uri="{FF2B5EF4-FFF2-40B4-BE49-F238E27FC236}">
                <a16:creationId xmlns:a16="http://schemas.microsoft.com/office/drawing/2014/main" id="{D442004E-AE66-C2E6-572A-B949B49C0D5D}"/>
              </a:ext>
            </a:extLst>
          </p:cNvPr>
          <p:cNvSpPr>
            <a:spLocks noGrp="1"/>
          </p:cNvSpPr>
          <p:nvPr>
            <p:ph idx="1"/>
          </p:nvPr>
        </p:nvSpPr>
        <p:spPr>
          <a:xfrm>
            <a:off x="193040" y="863600"/>
            <a:ext cx="11074517" cy="5506719"/>
          </a:xfrm>
        </p:spPr>
        <p:txBody>
          <a:bodyPr/>
          <a:lstStyle/>
          <a:p>
            <a:r>
              <a:rPr lang="en-US" b="1"/>
              <a:t>This table represents the result of AML </a:t>
            </a:r>
          </a:p>
        </p:txBody>
      </p:sp>
    </p:spTree>
    <p:extLst>
      <p:ext uri="{BB962C8B-B14F-4D97-AF65-F5344CB8AC3E}">
        <p14:creationId xmlns:p14="http://schemas.microsoft.com/office/powerpoint/2010/main" val="202940394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EC314-3C68-09E4-C3BD-CFEDD763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9C956-03BC-201C-5865-88EFAC2FAA47}"/>
              </a:ext>
            </a:extLst>
          </p:cNvPr>
          <p:cNvSpPr>
            <a:spLocks noGrp="1"/>
          </p:cNvSpPr>
          <p:nvPr>
            <p:ph type="title"/>
          </p:nvPr>
        </p:nvSpPr>
        <p:spPr>
          <a:xfrm>
            <a:off x="913795" y="609600"/>
            <a:ext cx="10353762" cy="5008880"/>
          </a:xfrm>
        </p:spPr>
        <p:txBody>
          <a:bodyPr>
            <a:normAutofit/>
          </a:bodyPr>
          <a:lstStyle/>
          <a:p>
            <a:r>
              <a:rPr lang="en-US" sz="6600" b="1">
                <a:solidFill>
                  <a:srgbClr val="FF0000"/>
                </a:solidFill>
              </a:rPr>
              <a:t>End AML</a:t>
            </a:r>
          </a:p>
        </p:txBody>
      </p:sp>
    </p:spTree>
    <p:extLst>
      <p:ext uri="{BB962C8B-B14F-4D97-AF65-F5344CB8AC3E}">
        <p14:creationId xmlns:p14="http://schemas.microsoft.com/office/powerpoint/2010/main" val="243252280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1E88-436E-358B-0172-0873ADFF98D4}"/>
              </a:ext>
            </a:extLst>
          </p:cNvPr>
          <p:cNvSpPr>
            <a:spLocks noGrp="1"/>
          </p:cNvSpPr>
          <p:nvPr>
            <p:ph type="title"/>
          </p:nvPr>
        </p:nvSpPr>
        <p:spPr>
          <a:xfrm>
            <a:off x="344129" y="2104103"/>
            <a:ext cx="11503742" cy="1445342"/>
          </a:xfrm>
        </p:spPr>
        <p:txBody>
          <a:bodyPr>
            <a:normAutofit/>
          </a:bodyPr>
          <a:lstStyle/>
          <a:p>
            <a:r>
              <a:rPr lang="en-US" sz="5400" b="1">
                <a:solidFill>
                  <a:srgbClr val="FF0000"/>
                </a:solidFill>
              </a:rPr>
              <a:t>View Models</a:t>
            </a:r>
          </a:p>
        </p:txBody>
      </p:sp>
    </p:spTree>
    <p:extLst>
      <p:ext uri="{BB962C8B-B14F-4D97-AF65-F5344CB8AC3E}">
        <p14:creationId xmlns:p14="http://schemas.microsoft.com/office/powerpoint/2010/main" val="31931526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F4AA3-7E79-717B-411A-17118B60AF4F}"/>
              </a:ext>
            </a:extLst>
          </p:cNvPr>
          <p:cNvSpPr>
            <a:spLocks noGrp="1"/>
          </p:cNvSpPr>
          <p:nvPr>
            <p:ph type="title"/>
          </p:nvPr>
        </p:nvSpPr>
        <p:spPr>
          <a:xfrm>
            <a:off x="919119" y="0"/>
            <a:ext cx="10353762" cy="609600"/>
          </a:xfrm>
        </p:spPr>
        <p:txBody>
          <a:bodyPr>
            <a:normAutofit fontScale="90000"/>
          </a:bodyPr>
          <a:lstStyle/>
          <a:p>
            <a:r>
              <a:rPr lang="en-US" b="1">
                <a:solidFill>
                  <a:srgbClr val="00B0F0"/>
                </a:solidFill>
              </a:rPr>
              <a:t>FlowActionsNameStepFromTo</a:t>
            </a:r>
          </a:p>
        </p:txBody>
      </p:sp>
      <p:sp>
        <p:nvSpPr>
          <p:cNvPr id="3" name="Content Placeholder 2">
            <a:extLst>
              <a:ext uri="{FF2B5EF4-FFF2-40B4-BE49-F238E27FC236}">
                <a16:creationId xmlns:a16="http://schemas.microsoft.com/office/drawing/2014/main" id="{E961D5DF-7A65-7C3F-03D0-4C2653EC27D1}"/>
              </a:ext>
            </a:extLst>
          </p:cNvPr>
          <p:cNvSpPr>
            <a:spLocks noGrp="1"/>
          </p:cNvSpPr>
          <p:nvPr>
            <p:ph idx="1"/>
          </p:nvPr>
        </p:nvSpPr>
        <p:spPr>
          <a:xfrm>
            <a:off x="176980" y="609601"/>
            <a:ext cx="11857703" cy="6145160"/>
          </a:xfrm>
        </p:spPr>
        <p:txBody>
          <a:bodyPr>
            <a:normAutofit fontScale="92500" lnSpcReduction="10000"/>
          </a:bodyPr>
          <a:lstStyle/>
          <a:p>
            <a:r>
              <a:rPr lang="en-US" sz="1800" b="1">
                <a:solidFill>
                  <a:srgbClr val="00B0F0"/>
                </a:solidFill>
              </a:rPr>
              <a:t>Code_FA_from</a:t>
            </a:r>
            <a:r>
              <a:rPr lang="en-US" sz="1800"/>
              <a:t>: int  </a:t>
            </a:r>
          </a:p>
          <a:p>
            <a:r>
              <a:rPr lang="en-US" sz="1800" b="1">
                <a:solidFill>
                  <a:srgbClr val="00B0F0"/>
                </a:solidFill>
              </a:rPr>
              <a:t>Name_stepARFrom</a:t>
            </a:r>
            <a:r>
              <a:rPr lang="en-US" sz="1800"/>
              <a:t>: string  </a:t>
            </a:r>
          </a:p>
          <a:p>
            <a:r>
              <a:rPr lang="en-US" sz="1800"/>
              <a:t>Name_stepENFrom: string  </a:t>
            </a:r>
          </a:p>
          <a:p>
            <a:r>
              <a:rPr lang="en-US" sz="1800"/>
              <a:t>Definition_numberFrom: string  </a:t>
            </a:r>
          </a:p>
          <a:p>
            <a:r>
              <a:rPr lang="en-US" sz="1800"/>
              <a:t>Code_FA_to: int  </a:t>
            </a:r>
          </a:p>
          <a:p>
            <a:r>
              <a:rPr lang="en-US" sz="1800"/>
              <a:t>Name_stepARTo: string  </a:t>
            </a:r>
          </a:p>
          <a:p>
            <a:r>
              <a:rPr lang="en-US" sz="1800"/>
              <a:t>Name_stepENTo: string  </a:t>
            </a:r>
          </a:p>
          <a:p>
            <a:r>
              <a:rPr lang="en-US" sz="1800"/>
              <a:t>Definition_numberTo: string  </a:t>
            </a:r>
          </a:p>
          <a:p>
            <a:r>
              <a:rPr lang="en-US" sz="1800"/>
              <a:t>Type_code: int  </a:t>
            </a:r>
          </a:p>
          <a:p>
            <a:r>
              <a:rPr lang="en-US" sz="1800"/>
              <a:t>JobCode_FA_From: int  </a:t>
            </a:r>
          </a:p>
          <a:p>
            <a:r>
              <a:rPr lang="en-US" sz="1800"/>
              <a:t>JobCode_FA_to: int  </a:t>
            </a:r>
          </a:p>
          <a:p>
            <a:r>
              <a:rPr lang="en-US" sz="1800"/>
              <a:t>Accept: bool  </a:t>
            </a:r>
          </a:p>
          <a:p>
            <a:r>
              <a:rPr lang="en-US" sz="1800"/>
              <a:t>Reject: bool  </a:t>
            </a:r>
          </a:p>
          <a:p>
            <a:r>
              <a:rPr lang="en-US" sz="1800"/>
              <a:t>Final_Reject: bool  </a:t>
            </a:r>
          </a:p>
          <a:p>
            <a:r>
              <a:rPr lang="en-US" sz="1800"/>
              <a:t>Reject_Guaranter: bool  </a:t>
            </a:r>
          </a:p>
          <a:p>
            <a:r>
              <a:rPr lang="en-US" sz="1800"/>
              <a:t>Num_StepOrder: int</a:t>
            </a:r>
          </a:p>
        </p:txBody>
      </p:sp>
    </p:spTree>
    <p:extLst>
      <p:ext uri="{BB962C8B-B14F-4D97-AF65-F5344CB8AC3E}">
        <p14:creationId xmlns:p14="http://schemas.microsoft.com/office/powerpoint/2010/main" val="953628559"/>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2869F-AEE9-B9E1-894D-0E5F9A4F135E}"/>
              </a:ext>
            </a:extLst>
          </p:cNvPr>
          <p:cNvSpPr>
            <a:spLocks noGrp="1"/>
          </p:cNvSpPr>
          <p:nvPr>
            <p:ph type="title"/>
          </p:nvPr>
        </p:nvSpPr>
        <p:spPr>
          <a:xfrm>
            <a:off x="913795" y="0"/>
            <a:ext cx="10353762" cy="616085"/>
          </a:xfrm>
        </p:spPr>
        <p:txBody>
          <a:bodyPr>
            <a:normAutofit fontScale="90000"/>
          </a:bodyPr>
          <a:lstStyle/>
          <a:p>
            <a:r>
              <a:rPr lang="en-US" b="1">
                <a:solidFill>
                  <a:srgbClr val="00B0F0"/>
                </a:solidFill>
              </a:rPr>
              <a:t>FundingData</a:t>
            </a:r>
          </a:p>
        </p:txBody>
      </p:sp>
      <p:sp>
        <p:nvSpPr>
          <p:cNvPr id="3" name="Content Placeholder 2">
            <a:extLst>
              <a:ext uri="{FF2B5EF4-FFF2-40B4-BE49-F238E27FC236}">
                <a16:creationId xmlns:a16="http://schemas.microsoft.com/office/drawing/2014/main" id="{F35E5826-09F5-EDF6-ED1F-949D33282C40}"/>
              </a:ext>
            </a:extLst>
          </p:cNvPr>
          <p:cNvSpPr>
            <a:spLocks noGrp="1"/>
          </p:cNvSpPr>
          <p:nvPr>
            <p:ph idx="1"/>
          </p:nvPr>
        </p:nvSpPr>
        <p:spPr>
          <a:xfrm>
            <a:off x="107004" y="616085"/>
            <a:ext cx="11160553" cy="6086272"/>
          </a:xfrm>
        </p:spPr>
        <p:txBody>
          <a:bodyPr numCol="2"/>
          <a:lstStyle/>
          <a:p>
            <a:r>
              <a:rPr lang="en-US"/>
              <a:t>decimal </a:t>
            </a:r>
            <a:r>
              <a:rPr lang="en-US" b="1">
                <a:solidFill>
                  <a:srgbClr val="00B050"/>
                </a:solidFill>
              </a:rPr>
              <a:t>Request_id</a:t>
            </a:r>
          </a:p>
          <a:p>
            <a:r>
              <a:rPr lang="en-US"/>
              <a:t>DateTime </a:t>
            </a:r>
            <a:r>
              <a:rPr lang="en-US" b="1">
                <a:solidFill>
                  <a:srgbClr val="00B050"/>
                </a:solidFill>
              </a:rPr>
              <a:t>Date_creation_request</a:t>
            </a:r>
          </a:p>
          <a:p>
            <a:r>
              <a:rPr lang="en-US"/>
              <a:t>string </a:t>
            </a:r>
            <a:r>
              <a:rPr lang="en-US" b="1">
                <a:solidFill>
                  <a:srgbClr val="00B050"/>
                </a:solidFill>
              </a:rPr>
              <a:t>Name_step_to</a:t>
            </a:r>
          </a:p>
          <a:p>
            <a:r>
              <a:rPr lang="en-US"/>
              <a:t>string </a:t>
            </a:r>
            <a:r>
              <a:rPr lang="en-US" b="1">
                <a:solidFill>
                  <a:srgbClr val="00B050"/>
                </a:solidFill>
              </a:rPr>
              <a:t>Status_two</a:t>
            </a:r>
          </a:p>
          <a:p>
            <a:r>
              <a:rPr lang="en-US"/>
              <a:t>int </a:t>
            </a:r>
            <a:r>
              <a:rPr lang="en-US" b="1">
                <a:solidFill>
                  <a:srgbClr val="00B050"/>
                </a:solidFill>
              </a:rPr>
              <a:t>product_Id</a:t>
            </a:r>
          </a:p>
          <a:p>
            <a:r>
              <a:rPr lang="en-US"/>
              <a:t>string </a:t>
            </a:r>
            <a:r>
              <a:rPr lang="en-US" b="1">
                <a:solidFill>
                  <a:srgbClr val="00B050"/>
                </a:solidFill>
              </a:rPr>
              <a:t>product_name_AR</a:t>
            </a:r>
          </a:p>
          <a:p>
            <a:r>
              <a:rPr lang="en-US"/>
              <a:t>string </a:t>
            </a:r>
            <a:r>
              <a:rPr lang="en-US" b="1">
                <a:solidFill>
                  <a:srgbClr val="00B050"/>
                </a:solidFill>
              </a:rPr>
              <a:t>product_name_Eng</a:t>
            </a:r>
          </a:p>
          <a:p>
            <a:r>
              <a:rPr lang="en-US"/>
              <a:t>decimal </a:t>
            </a:r>
            <a:r>
              <a:rPr lang="en-US" b="1">
                <a:solidFill>
                  <a:srgbClr val="00B050"/>
                </a:solidFill>
              </a:rPr>
              <a:t>Customer_ID_C</a:t>
            </a:r>
          </a:p>
          <a:p>
            <a:r>
              <a:rPr lang="en-US"/>
              <a:t>string</a:t>
            </a:r>
            <a:r>
              <a:rPr lang="en-US" b="1">
                <a:solidFill>
                  <a:srgbClr val="00B050"/>
                </a:solidFill>
              </a:rPr>
              <a:t> CustomerFullName</a:t>
            </a:r>
          </a:p>
          <a:p>
            <a:r>
              <a:rPr lang="en-US"/>
              <a:t>decimal </a:t>
            </a:r>
            <a:r>
              <a:rPr lang="en-US" b="1">
                <a:solidFill>
                  <a:srgbClr val="00B050"/>
                </a:solidFill>
              </a:rPr>
              <a:t>CustomerQID</a:t>
            </a:r>
          </a:p>
          <a:p>
            <a:r>
              <a:rPr lang="en-US"/>
              <a:t>string </a:t>
            </a:r>
            <a:r>
              <a:rPr lang="en-US" b="1">
                <a:solidFill>
                  <a:srgbClr val="00B050"/>
                </a:solidFill>
              </a:rPr>
              <a:t>Enterprise_ID</a:t>
            </a:r>
          </a:p>
          <a:p>
            <a:r>
              <a:rPr lang="en-US"/>
              <a:t>string </a:t>
            </a:r>
            <a:r>
              <a:rPr lang="en-US" b="1">
                <a:solidFill>
                  <a:srgbClr val="00B050"/>
                </a:solidFill>
              </a:rPr>
              <a:t>Brand_name</a:t>
            </a:r>
          </a:p>
          <a:p>
            <a:r>
              <a:rPr lang="en-US" b="1"/>
              <a:t>int?</a:t>
            </a:r>
            <a:r>
              <a:rPr lang="en-US" b="1">
                <a:solidFill>
                  <a:srgbClr val="00B050"/>
                </a:solidFill>
              </a:rPr>
              <a:t> UserId_from</a:t>
            </a:r>
          </a:p>
          <a:p>
            <a:r>
              <a:rPr lang="en-US" b="1">
                <a:solidFill>
                  <a:srgbClr val="00B050"/>
                </a:solidFill>
              </a:rPr>
              <a:t>UserfromNameAR</a:t>
            </a:r>
          </a:p>
          <a:p>
            <a:r>
              <a:rPr lang="en-US" b="1">
                <a:solidFill>
                  <a:srgbClr val="00B050"/>
                </a:solidFill>
              </a:rPr>
              <a:t>UserfromNameEng</a:t>
            </a:r>
          </a:p>
          <a:p>
            <a:r>
              <a:rPr lang="en-US"/>
              <a:t>List&lt;</a:t>
            </a:r>
            <a:r>
              <a:rPr lang="en-US" b="1">
                <a:solidFill>
                  <a:srgbClr val="00B0F0"/>
                </a:solidFill>
              </a:rPr>
              <a:t>GuarVM</a:t>
            </a:r>
            <a:r>
              <a:rPr lang="en-US"/>
              <a:t>&gt; </a:t>
            </a:r>
            <a:r>
              <a:rPr lang="en-US" b="1">
                <a:solidFill>
                  <a:srgbClr val="00B050"/>
                </a:solidFill>
              </a:rPr>
              <a:t>Guaranters</a:t>
            </a:r>
          </a:p>
          <a:p>
            <a:pPr lvl="1"/>
            <a:r>
              <a:rPr lang="en-US" sz="1600"/>
              <a:t>decimal Guaranter_ID</a:t>
            </a:r>
          </a:p>
          <a:p>
            <a:pPr lvl="1"/>
            <a:r>
              <a:rPr lang="en-US" sz="1600"/>
              <a:t>string GuaranterQID</a:t>
            </a:r>
          </a:p>
          <a:p>
            <a:pPr lvl="1"/>
            <a:r>
              <a:rPr lang="en-US" sz="1600"/>
              <a:t>string GuaranterName</a:t>
            </a:r>
          </a:p>
          <a:p>
            <a:pPr lvl="1"/>
            <a:r>
              <a:rPr lang="en-US" sz="1600"/>
              <a:t>int Serial</a:t>
            </a:r>
          </a:p>
          <a:p>
            <a:pPr lvl="1"/>
            <a:r>
              <a:rPr lang="en-US" sz="1600"/>
              <a:t>int code_relation</a:t>
            </a:r>
          </a:p>
          <a:p>
            <a:r>
              <a:rPr lang="en-US" b="1">
                <a:solidFill>
                  <a:srgbClr val="00B050"/>
                </a:solidFill>
              </a:rPr>
              <a:t>BranchId</a:t>
            </a:r>
          </a:p>
          <a:p>
            <a:r>
              <a:rPr lang="en-US" b="1">
                <a:solidFill>
                  <a:schemeClr val="tx1"/>
                </a:solidFill>
              </a:rPr>
              <a:t>DateTime?</a:t>
            </a:r>
            <a:r>
              <a:rPr lang="en-US" b="1">
                <a:solidFill>
                  <a:srgbClr val="00B050"/>
                </a:solidFill>
              </a:rPr>
              <a:t> Date_Assigned</a:t>
            </a:r>
          </a:p>
        </p:txBody>
      </p:sp>
    </p:spTree>
    <p:extLst>
      <p:ext uri="{BB962C8B-B14F-4D97-AF65-F5344CB8AC3E}">
        <p14:creationId xmlns:p14="http://schemas.microsoft.com/office/powerpoint/2010/main" val="161767399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DEFA-EFC8-8107-9B75-16D527DC2BC7}"/>
              </a:ext>
            </a:extLst>
          </p:cNvPr>
          <p:cNvSpPr>
            <a:spLocks noGrp="1"/>
          </p:cNvSpPr>
          <p:nvPr>
            <p:ph type="title"/>
          </p:nvPr>
        </p:nvSpPr>
        <p:spPr>
          <a:xfrm>
            <a:off x="913795" y="0"/>
            <a:ext cx="10353762" cy="875071"/>
          </a:xfrm>
        </p:spPr>
        <p:txBody>
          <a:bodyPr/>
          <a:lstStyle/>
          <a:p>
            <a:r>
              <a:rPr lang="en-US" b="1"/>
              <a:t>FundingDataVM</a:t>
            </a:r>
          </a:p>
        </p:txBody>
      </p:sp>
      <p:sp>
        <p:nvSpPr>
          <p:cNvPr id="3" name="Content Placeholder 2">
            <a:extLst>
              <a:ext uri="{FF2B5EF4-FFF2-40B4-BE49-F238E27FC236}">
                <a16:creationId xmlns:a16="http://schemas.microsoft.com/office/drawing/2014/main" id="{5F645AD0-9629-717B-D7CD-C82F6BF6F8D2}"/>
              </a:ext>
            </a:extLst>
          </p:cNvPr>
          <p:cNvSpPr>
            <a:spLocks noGrp="1"/>
          </p:cNvSpPr>
          <p:nvPr>
            <p:ph idx="1"/>
          </p:nvPr>
        </p:nvSpPr>
        <p:spPr>
          <a:xfrm>
            <a:off x="255638" y="1732449"/>
            <a:ext cx="11464413" cy="4343886"/>
          </a:xfrm>
        </p:spPr>
        <p:txBody>
          <a:bodyPr/>
          <a:lstStyle/>
          <a:p>
            <a:endParaRPr lang="en-US"/>
          </a:p>
          <a:p>
            <a:endParaRPr lang="en-US"/>
          </a:p>
          <a:p>
            <a:endParaRPr lang="en-US"/>
          </a:p>
        </p:txBody>
      </p:sp>
      <p:pic>
        <p:nvPicPr>
          <p:cNvPr id="5" name="Picture 4">
            <a:extLst>
              <a:ext uri="{FF2B5EF4-FFF2-40B4-BE49-F238E27FC236}">
                <a16:creationId xmlns:a16="http://schemas.microsoft.com/office/drawing/2014/main" id="{EE64999E-B922-445E-935D-34953D92BC50}"/>
              </a:ext>
            </a:extLst>
          </p:cNvPr>
          <p:cNvPicPr>
            <a:picLocks noChangeAspect="1"/>
          </p:cNvPicPr>
          <p:nvPr/>
        </p:nvPicPr>
        <p:blipFill>
          <a:blip r:embed="rId2"/>
          <a:stretch>
            <a:fillRect/>
          </a:stretch>
        </p:blipFill>
        <p:spPr>
          <a:xfrm>
            <a:off x="913794" y="2137708"/>
            <a:ext cx="6062245" cy="3388021"/>
          </a:xfrm>
          <a:prstGeom prst="rect">
            <a:avLst/>
          </a:prstGeom>
        </p:spPr>
      </p:pic>
    </p:spTree>
    <p:extLst>
      <p:ext uri="{BB962C8B-B14F-4D97-AF65-F5344CB8AC3E}">
        <p14:creationId xmlns:p14="http://schemas.microsoft.com/office/powerpoint/2010/main" val="402651145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46355-124E-3796-C27E-50B1FEE9ADD5}"/>
              </a:ext>
            </a:extLst>
          </p:cNvPr>
          <p:cNvSpPr>
            <a:spLocks noGrp="1"/>
          </p:cNvSpPr>
          <p:nvPr>
            <p:ph type="title"/>
          </p:nvPr>
        </p:nvSpPr>
        <p:spPr>
          <a:xfrm>
            <a:off x="913795" y="0"/>
            <a:ext cx="10353762" cy="688258"/>
          </a:xfrm>
        </p:spPr>
        <p:txBody>
          <a:bodyPr>
            <a:normAutofit fontScale="90000"/>
          </a:bodyPr>
          <a:lstStyle/>
          <a:p>
            <a:r>
              <a:rPr lang="en-US" b="1">
                <a:solidFill>
                  <a:srgbClr val="FF0000"/>
                </a:solidFill>
              </a:rPr>
              <a:t>ProdVM</a:t>
            </a:r>
          </a:p>
        </p:txBody>
      </p:sp>
      <p:sp>
        <p:nvSpPr>
          <p:cNvPr id="3" name="Content Placeholder 2">
            <a:extLst>
              <a:ext uri="{FF2B5EF4-FFF2-40B4-BE49-F238E27FC236}">
                <a16:creationId xmlns:a16="http://schemas.microsoft.com/office/drawing/2014/main" id="{E2533BB6-2BA2-1C59-7D9D-054CC9AB8FB7}"/>
              </a:ext>
            </a:extLst>
          </p:cNvPr>
          <p:cNvSpPr>
            <a:spLocks noGrp="1"/>
          </p:cNvSpPr>
          <p:nvPr>
            <p:ph idx="1"/>
          </p:nvPr>
        </p:nvSpPr>
        <p:spPr>
          <a:xfrm>
            <a:off x="363794" y="688257"/>
            <a:ext cx="11602064" cy="5928853"/>
          </a:xfrm>
        </p:spPr>
        <p:txBody>
          <a:bodyPr>
            <a:normAutofit/>
          </a:bodyPr>
          <a:lstStyle/>
          <a:p>
            <a:pPr marL="36900" indent="0">
              <a:buNone/>
            </a:pPr>
            <a:r>
              <a:rPr lang="en-US"/>
              <a:t>public class </a:t>
            </a:r>
            <a:r>
              <a:rPr lang="en-US" sz="2400" b="1">
                <a:solidFill>
                  <a:srgbClr val="00B050"/>
                </a:solidFill>
              </a:rPr>
              <a:t>ProdVM</a:t>
            </a:r>
            <a:r>
              <a:rPr lang="en-US"/>
              <a:t> {</a:t>
            </a:r>
          </a:p>
          <a:p>
            <a:pPr marL="36900" indent="0">
              <a:buNone/>
            </a:pPr>
            <a:r>
              <a:rPr lang="en-US"/>
              <a:t>        public </a:t>
            </a:r>
            <a:r>
              <a:rPr lang="en-US">
                <a:solidFill>
                  <a:srgbClr val="00B0F0"/>
                </a:solidFill>
              </a:rPr>
              <a:t>IQueryable</a:t>
            </a:r>
            <a:r>
              <a:rPr lang="en-US"/>
              <a:t>&lt;Flow_branch_product&gt; </a:t>
            </a:r>
            <a:r>
              <a:rPr lang="en-US" b="1">
                <a:solidFill>
                  <a:srgbClr val="FFFF00"/>
                </a:solidFill>
              </a:rPr>
              <a:t>BranchProduct</a:t>
            </a:r>
            <a:r>
              <a:rPr lang="en-US"/>
              <a:t> { get; set; }</a:t>
            </a:r>
          </a:p>
          <a:p>
            <a:pPr marL="36900" indent="0">
              <a:buNone/>
            </a:pPr>
            <a:r>
              <a:rPr lang="en-US"/>
              <a:t>        public </a:t>
            </a:r>
            <a:r>
              <a:rPr lang="en-US">
                <a:solidFill>
                  <a:srgbClr val="00B0F0"/>
                </a:solidFill>
              </a:rPr>
              <a:t>IQueryable</a:t>
            </a:r>
            <a:r>
              <a:rPr lang="en-US"/>
              <a:t>&lt;Flow_Products&gt; </a:t>
            </a:r>
            <a:r>
              <a:rPr lang="en-US" b="1">
                <a:solidFill>
                  <a:srgbClr val="FFFF00"/>
                </a:solidFill>
              </a:rPr>
              <a:t>Products</a:t>
            </a:r>
            <a:r>
              <a:rPr lang="en-US"/>
              <a:t> { get; set; }</a:t>
            </a:r>
          </a:p>
          <a:p>
            <a:pPr marL="36900" indent="0">
              <a:buNone/>
            </a:pPr>
            <a:r>
              <a:rPr lang="en-US"/>
              <a:t>        public </a:t>
            </a:r>
            <a:r>
              <a:rPr lang="en-US">
                <a:solidFill>
                  <a:srgbClr val="00B0F0"/>
                </a:solidFill>
              </a:rPr>
              <a:t>IQueryable</a:t>
            </a:r>
            <a:r>
              <a:rPr lang="en-US"/>
              <a:t>&lt;Flow_Emp_Product&gt; </a:t>
            </a:r>
            <a:r>
              <a:rPr lang="en-US" b="1">
                <a:solidFill>
                  <a:srgbClr val="FFFF00"/>
                </a:solidFill>
              </a:rPr>
              <a:t>EmpProduct</a:t>
            </a:r>
            <a:r>
              <a:rPr lang="en-US"/>
              <a:t> { get; set; }</a:t>
            </a:r>
          </a:p>
          <a:p>
            <a:pPr marL="36900" indent="0">
              <a:buNone/>
            </a:pPr>
            <a:r>
              <a:rPr lang="en-US"/>
              <a:t>}</a:t>
            </a:r>
          </a:p>
        </p:txBody>
      </p:sp>
    </p:spTree>
    <p:extLst>
      <p:ext uri="{BB962C8B-B14F-4D97-AF65-F5344CB8AC3E}">
        <p14:creationId xmlns:p14="http://schemas.microsoft.com/office/powerpoint/2010/main" val="81114362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56C79-5C5A-0937-18A0-FEA8ACA936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801C87-24E8-7128-2FAA-9FC53573DBCC}"/>
              </a:ext>
            </a:extLst>
          </p:cNvPr>
          <p:cNvSpPr>
            <a:spLocks noGrp="1"/>
          </p:cNvSpPr>
          <p:nvPr>
            <p:ph idx="1"/>
          </p:nvPr>
        </p:nvSpPr>
        <p:spPr>
          <a:xfrm>
            <a:off x="913795" y="1732449"/>
            <a:ext cx="10353762" cy="4845332"/>
          </a:xfrm>
        </p:spPr>
        <p:txBody>
          <a:bodyPr/>
          <a:lstStyle/>
          <a:p>
            <a:pPr marL="36900" indent="0">
              <a:buNone/>
            </a:pPr>
            <a:r>
              <a:rPr lang="en-US"/>
              <a:t>public class FundindPageLoadVM  {</a:t>
            </a:r>
          </a:p>
          <a:p>
            <a:pPr marL="36900" indent="0">
              <a:buNone/>
            </a:pPr>
            <a:r>
              <a:rPr lang="en-US"/>
              <a:t>	public IQueryable&lt;Flow_Purpose_loan&gt; </a:t>
            </a:r>
            <a:r>
              <a:rPr lang="en-US" b="1">
                <a:solidFill>
                  <a:srgbClr val="FFFF00"/>
                </a:solidFill>
              </a:rPr>
              <a:t>Purpose_loan </a:t>
            </a:r>
            <a:r>
              <a:rPr lang="en-US"/>
              <a:t>{ get; set; }</a:t>
            </a:r>
          </a:p>
          <a:p>
            <a:pPr marL="36900" indent="0">
              <a:buNone/>
            </a:pPr>
            <a:r>
              <a:rPr lang="en-US"/>
              <a:t>      	public IQueryable&lt;Flow_Relationships&gt; </a:t>
            </a:r>
            <a:r>
              <a:rPr lang="en-US" b="1">
                <a:solidFill>
                  <a:srgbClr val="FFFF00"/>
                </a:solidFill>
              </a:rPr>
              <a:t>Relationships</a:t>
            </a:r>
            <a:r>
              <a:rPr lang="en-US"/>
              <a:t> { get; set; }</a:t>
            </a:r>
          </a:p>
          <a:p>
            <a:pPr marL="36900" indent="0">
              <a:buNone/>
            </a:pPr>
            <a:r>
              <a:rPr lang="en-US"/>
              <a:t>      	public IQueryable&lt;Flow_Exempted_Products&gt; </a:t>
            </a:r>
            <a:r>
              <a:rPr lang="en-US" b="1">
                <a:solidFill>
                  <a:srgbClr val="FFFF00"/>
                </a:solidFill>
              </a:rPr>
              <a:t>flow_exempted_products</a:t>
            </a:r>
            <a:r>
              <a:rPr lang="en-US"/>
              <a:t> { get; set; }     </a:t>
            </a:r>
          </a:p>
          <a:p>
            <a:pPr marL="36900" indent="0">
              <a:buNone/>
            </a:pPr>
            <a:r>
              <a:rPr lang="en-US"/>
              <a:t>	public decimal </a:t>
            </a:r>
            <a:r>
              <a:rPr lang="en-US" b="1">
                <a:solidFill>
                  <a:srgbClr val="FFFF00"/>
                </a:solidFill>
              </a:rPr>
              <a:t>Approximation</a:t>
            </a:r>
            <a:r>
              <a:rPr lang="en-US"/>
              <a:t> { get; set; }</a:t>
            </a:r>
          </a:p>
          <a:p>
            <a:pPr marL="36900" indent="0">
              <a:buNone/>
            </a:pPr>
            <a:r>
              <a:rPr lang="en-US"/>
              <a:t>       public decimal </a:t>
            </a:r>
            <a:r>
              <a:rPr lang="en-US" b="1">
                <a:solidFill>
                  <a:srgbClr val="FFFF00"/>
                </a:solidFill>
              </a:rPr>
              <a:t>FinanceAmount_Approximation</a:t>
            </a:r>
            <a:r>
              <a:rPr lang="en-US"/>
              <a:t> { get; set; }</a:t>
            </a:r>
          </a:p>
          <a:p>
            <a:pPr marL="36900" indent="0">
              <a:buNone/>
            </a:pPr>
            <a:r>
              <a:rPr lang="en-US"/>
              <a:t>	public ProdVM </a:t>
            </a:r>
            <a:r>
              <a:rPr lang="en-US" b="1">
                <a:solidFill>
                  <a:srgbClr val="FFFF00"/>
                </a:solidFill>
              </a:rPr>
              <a:t>ProdVM</a:t>
            </a:r>
            <a:r>
              <a:rPr lang="en-US"/>
              <a:t> { get; set; }</a:t>
            </a:r>
          </a:p>
          <a:p>
            <a:pPr marL="36900" indent="0">
              <a:buNone/>
            </a:pPr>
            <a:r>
              <a:rPr lang="en-US"/>
              <a:t>}</a:t>
            </a:r>
          </a:p>
          <a:p>
            <a:endParaRPr lang="en-US"/>
          </a:p>
        </p:txBody>
      </p:sp>
    </p:spTree>
    <p:extLst>
      <p:ext uri="{BB962C8B-B14F-4D97-AF65-F5344CB8AC3E}">
        <p14:creationId xmlns:p14="http://schemas.microsoft.com/office/powerpoint/2010/main" val="75435624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0B4D8-7F7B-C582-0D5B-818D3EBCB3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EBDDC3-EAEC-EFFC-2A0C-7E22E2707850}"/>
              </a:ext>
            </a:extLst>
          </p:cNvPr>
          <p:cNvSpPr>
            <a:spLocks noGrp="1"/>
          </p:cNvSpPr>
          <p:nvPr>
            <p:ph idx="1"/>
          </p:nvPr>
        </p:nvSpPr>
        <p:spPr>
          <a:xfrm>
            <a:off x="913795" y="1732449"/>
            <a:ext cx="10353762" cy="4982983"/>
          </a:xfrm>
        </p:spPr>
        <p:txBody>
          <a:bodyPr>
            <a:normAutofit fontScale="92500" lnSpcReduction="20000"/>
          </a:bodyPr>
          <a:lstStyle/>
          <a:p>
            <a:pPr marL="36900" indent="0">
              <a:buNone/>
            </a:pPr>
            <a:r>
              <a:rPr lang="en-US"/>
              <a:t>public class </a:t>
            </a:r>
            <a:r>
              <a:rPr lang="en-US" b="1">
                <a:solidFill>
                  <a:srgbClr val="00B0F0"/>
                </a:solidFill>
              </a:rPr>
              <a:t>FundingVM</a:t>
            </a:r>
          </a:p>
          <a:p>
            <a:pPr marL="36900" indent="0">
              <a:buNone/>
            </a:pPr>
            <a:r>
              <a:rPr lang="en-US"/>
              <a:t>    {</a:t>
            </a:r>
          </a:p>
          <a:p>
            <a:pPr marL="36900" indent="0">
              <a:buNone/>
            </a:pPr>
            <a:r>
              <a:rPr lang="en-US"/>
              <a:t>        public Flow_Funding_request Funding_request { get; set; }</a:t>
            </a:r>
          </a:p>
          <a:p>
            <a:pPr marL="36900" indent="0">
              <a:buNone/>
            </a:pPr>
            <a:r>
              <a:rPr lang="en-US"/>
              <a:t>        public IQueryable&lt;JoinMandatoryDocAndTypeDocuments&gt; Documents { get; set; }</a:t>
            </a:r>
          </a:p>
          <a:p>
            <a:pPr marL="36900" indent="0">
              <a:buNone/>
            </a:pPr>
            <a:r>
              <a:rPr lang="en-US"/>
              <a:t>        public IQueryable&lt;Flow_Rejections_mainVM&gt; Comments { get; set; }</a:t>
            </a:r>
          </a:p>
          <a:p>
            <a:pPr marL="36900" indent="0">
              <a:buNone/>
            </a:pPr>
            <a:r>
              <a:rPr lang="en-US"/>
              <a:t>        public IQueryable&lt;Flow_Rejections_mainFieldVM&gt; RejectedFields { get; set; }</a:t>
            </a:r>
          </a:p>
          <a:p>
            <a:pPr marL="36900" indent="0">
              <a:buNone/>
            </a:pPr>
            <a:r>
              <a:rPr lang="en-US"/>
              <a:t>        public IQueryable&lt;GuarVM&gt; Guaranters { get; set; }</a:t>
            </a:r>
          </a:p>
          <a:p>
            <a:pPr marL="36900" indent="0">
              <a:buNone/>
            </a:pPr>
            <a:r>
              <a:rPr lang="en-US"/>
              <a:t>        //public Flow_Enterprises Flow_Enterprise { get; set; }</a:t>
            </a:r>
          </a:p>
          <a:p>
            <a:pPr marL="36900" indent="0">
              <a:buNone/>
            </a:pPr>
            <a:r>
              <a:rPr lang="en-US"/>
              <a:t>        public IEnumerable&lt;Product_destinationVM&gt; Flow_Product_destinations { get; set; }</a:t>
            </a:r>
          </a:p>
          <a:p>
            <a:pPr marL="36900" indent="0">
              <a:buNone/>
            </a:pPr>
            <a:r>
              <a:rPr lang="en-US"/>
              <a:t>        public IQueryable&lt;Cheque_InformationDTO&gt; cheque_Information { get; set; }</a:t>
            </a:r>
          </a:p>
          <a:p>
            <a:pPr marL="36900" indent="0">
              <a:buNone/>
            </a:pPr>
            <a:r>
              <a:rPr lang="en-US"/>
              <a:t>        public int Flag { get; set; }</a:t>
            </a:r>
          </a:p>
          <a:p>
            <a:pPr marL="36900" indent="0">
              <a:buNone/>
            </a:pPr>
            <a:endParaRPr lang="en-US"/>
          </a:p>
          <a:p>
            <a:pPr marL="36900" indent="0">
              <a:buNone/>
            </a:pPr>
            <a:r>
              <a:rPr lang="en-US"/>
              <a:t>    }</a:t>
            </a:r>
          </a:p>
        </p:txBody>
      </p:sp>
    </p:spTree>
    <p:extLst>
      <p:ext uri="{BB962C8B-B14F-4D97-AF65-F5344CB8AC3E}">
        <p14:creationId xmlns:p14="http://schemas.microsoft.com/office/powerpoint/2010/main" val="171357832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79AA4-7A27-F7BB-18CC-807B27549E5F}"/>
              </a:ext>
            </a:extLst>
          </p:cNvPr>
          <p:cNvSpPr>
            <a:spLocks noGrp="1"/>
          </p:cNvSpPr>
          <p:nvPr>
            <p:ph type="title"/>
          </p:nvPr>
        </p:nvSpPr>
        <p:spPr>
          <a:xfrm>
            <a:off x="992453" y="0"/>
            <a:ext cx="10353762" cy="570271"/>
          </a:xfrm>
        </p:spPr>
        <p:txBody>
          <a:bodyPr>
            <a:normAutofit fontScale="90000"/>
          </a:bodyPr>
          <a:lstStyle/>
          <a:p>
            <a:r>
              <a:rPr lang="en-US" b="1">
                <a:solidFill>
                  <a:srgbClr val="00B0F0"/>
                </a:solidFill>
              </a:rPr>
              <a:t>TransactionVM</a:t>
            </a:r>
          </a:p>
        </p:txBody>
      </p:sp>
      <p:pic>
        <p:nvPicPr>
          <p:cNvPr id="5" name="Content Placeholder 4">
            <a:extLst>
              <a:ext uri="{FF2B5EF4-FFF2-40B4-BE49-F238E27FC236}">
                <a16:creationId xmlns:a16="http://schemas.microsoft.com/office/drawing/2014/main" id="{551D13E4-7622-8C7C-0DCB-AF259538F592}"/>
              </a:ext>
            </a:extLst>
          </p:cNvPr>
          <p:cNvPicPr>
            <a:picLocks noGrp="1" noChangeAspect="1"/>
          </p:cNvPicPr>
          <p:nvPr>
            <p:ph idx="1"/>
          </p:nvPr>
        </p:nvPicPr>
        <p:blipFill>
          <a:blip r:embed="rId2"/>
          <a:stretch>
            <a:fillRect/>
          </a:stretch>
        </p:blipFill>
        <p:spPr>
          <a:xfrm>
            <a:off x="167951" y="570271"/>
            <a:ext cx="3342165" cy="2003594"/>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B2000730-5033-72F2-C16F-B5D5DFF5876B}"/>
              </a:ext>
            </a:extLst>
          </p:cNvPr>
          <p:cNvPicPr>
            <a:picLocks noChangeAspect="1"/>
          </p:cNvPicPr>
          <p:nvPr/>
        </p:nvPicPr>
        <p:blipFill>
          <a:blip r:embed="rId3"/>
          <a:stretch>
            <a:fillRect/>
          </a:stretch>
        </p:blipFill>
        <p:spPr>
          <a:xfrm>
            <a:off x="167950" y="2682469"/>
            <a:ext cx="6055263" cy="3605260"/>
          </a:xfrm>
          <a:prstGeom prst="rect">
            <a:avLst/>
          </a:prstGeom>
        </p:spPr>
      </p:pic>
    </p:spTree>
    <p:extLst>
      <p:ext uri="{BB962C8B-B14F-4D97-AF65-F5344CB8AC3E}">
        <p14:creationId xmlns:p14="http://schemas.microsoft.com/office/powerpoint/2010/main" val="404946789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7A994-CBDD-3869-DFD8-01B774A3E1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64D57B-77BC-B5EA-09E3-C1C7CE552796}"/>
              </a:ext>
            </a:extLst>
          </p:cNvPr>
          <p:cNvSpPr>
            <a:spLocks noGrp="1"/>
          </p:cNvSpPr>
          <p:nvPr>
            <p:ph idx="1"/>
          </p:nvPr>
        </p:nvSpPr>
        <p:spPr/>
        <p:txBody>
          <a:bodyPr/>
          <a:lstStyle/>
          <a:p>
            <a:r>
              <a:rPr lang="en-US"/>
              <a:t>sd</a:t>
            </a:r>
          </a:p>
        </p:txBody>
      </p:sp>
      <p:pic>
        <p:nvPicPr>
          <p:cNvPr id="5" name="Picture 4">
            <a:extLst>
              <a:ext uri="{FF2B5EF4-FFF2-40B4-BE49-F238E27FC236}">
                <a16:creationId xmlns:a16="http://schemas.microsoft.com/office/drawing/2014/main" id="{EF867BBE-3B01-D551-DC98-D1617DD264F4}"/>
              </a:ext>
            </a:extLst>
          </p:cNvPr>
          <p:cNvPicPr>
            <a:picLocks noChangeAspect="1"/>
          </p:cNvPicPr>
          <p:nvPr/>
        </p:nvPicPr>
        <p:blipFill>
          <a:blip r:embed="rId2"/>
          <a:stretch>
            <a:fillRect/>
          </a:stretch>
        </p:blipFill>
        <p:spPr>
          <a:xfrm>
            <a:off x="1333912" y="3066435"/>
            <a:ext cx="9668385" cy="725129"/>
          </a:xfrm>
          <a:prstGeom prst="rect">
            <a:avLst/>
          </a:prstGeom>
        </p:spPr>
      </p:pic>
    </p:spTree>
    <p:extLst>
      <p:ext uri="{BB962C8B-B14F-4D97-AF65-F5344CB8AC3E}">
        <p14:creationId xmlns:p14="http://schemas.microsoft.com/office/powerpoint/2010/main" val="4962076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1C98-E0C9-150A-788A-B3171AEF14A1}"/>
              </a:ext>
            </a:extLst>
          </p:cNvPr>
          <p:cNvSpPr>
            <a:spLocks noGrp="1"/>
          </p:cNvSpPr>
          <p:nvPr>
            <p:ph type="title"/>
          </p:nvPr>
        </p:nvSpPr>
        <p:spPr>
          <a:xfrm>
            <a:off x="913795" y="1"/>
            <a:ext cx="10353762" cy="685800"/>
          </a:xfrm>
        </p:spPr>
        <p:txBody>
          <a:bodyPr>
            <a:normAutofit fontScale="90000"/>
          </a:bodyPr>
          <a:lstStyle/>
          <a:p>
            <a:r>
              <a:rPr lang="en-US" b="1"/>
              <a:t>To make migration</a:t>
            </a:r>
          </a:p>
        </p:txBody>
      </p:sp>
      <p:sp>
        <p:nvSpPr>
          <p:cNvPr id="3" name="Content Placeholder 2">
            <a:extLst>
              <a:ext uri="{FF2B5EF4-FFF2-40B4-BE49-F238E27FC236}">
                <a16:creationId xmlns:a16="http://schemas.microsoft.com/office/drawing/2014/main" id="{5B937FAB-5FF9-1D3C-71B4-AF439FC0DBCA}"/>
              </a:ext>
            </a:extLst>
          </p:cNvPr>
          <p:cNvSpPr>
            <a:spLocks noGrp="1"/>
          </p:cNvSpPr>
          <p:nvPr>
            <p:ph idx="1"/>
          </p:nvPr>
        </p:nvSpPr>
        <p:spPr>
          <a:xfrm>
            <a:off x="198783" y="685801"/>
            <a:ext cx="6373467" cy="6172198"/>
          </a:xfrm>
        </p:spPr>
        <p:txBody>
          <a:bodyPr/>
          <a:lstStyle/>
          <a:p>
            <a:r>
              <a:rPr lang="en-US"/>
              <a:t>At Tamweely.Infrastructure.Data / migrations / at Configuration class / constructor</a:t>
            </a:r>
          </a:p>
          <a:p>
            <a:pPr lvl="1"/>
            <a:r>
              <a:rPr lang="en-US"/>
              <a:t>AutomaticMigrationsEnabled = true;</a:t>
            </a:r>
          </a:p>
          <a:p>
            <a:pPr lvl="1"/>
            <a:r>
              <a:rPr lang="en-US"/>
              <a:t>AutomaticMigrationDataLossAllowed = true;</a:t>
            </a:r>
          </a:p>
          <a:p>
            <a:endParaRPr lang="en-US"/>
          </a:p>
          <a:p>
            <a:r>
              <a:rPr lang="en-US"/>
              <a:t>At Tamweely.Service.WebAPI / Global.asax.cs</a:t>
            </a:r>
          </a:p>
          <a:p>
            <a:pPr lvl="1"/>
            <a:r>
              <a:rPr lang="en-US"/>
              <a:t>Uncomment this code</a:t>
            </a:r>
          </a:p>
          <a:p>
            <a:endParaRPr lang="en-US"/>
          </a:p>
          <a:p>
            <a:endParaRPr lang="en-US"/>
          </a:p>
        </p:txBody>
      </p:sp>
      <p:pic>
        <p:nvPicPr>
          <p:cNvPr id="5" name="Picture 4">
            <a:extLst>
              <a:ext uri="{FF2B5EF4-FFF2-40B4-BE49-F238E27FC236}">
                <a16:creationId xmlns:a16="http://schemas.microsoft.com/office/drawing/2014/main" id="{A80E710F-D6D2-4D6C-8BCB-9691B0411223}"/>
              </a:ext>
            </a:extLst>
          </p:cNvPr>
          <p:cNvPicPr>
            <a:picLocks noChangeAspect="1"/>
          </p:cNvPicPr>
          <p:nvPr/>
        </p:nvPicPr>
        <p:blipFill>
          <a:blip r:embed="rId2"/>
          <a:stretch>
            <a:fillRect/>
          </a:stretch>
        </p:blipFill>
        <p:spPr>
          <a:xfrm>
            <a:off x="6766090" y="2270362"/>
            <a:ext cx="5425910" cy="4587638"/>
          </a:xfrm>
          <a:prstGeom prst="rect">
            <a:avLst/>
          </a:prstGeom>
        </p:spPr>
      </p:pic>
    </p:spTree>
    <p:extLst>
      <p:ext uri="{BB962C8B-B14F-4D97-AF65-F5344CB8AC3E}">
        <p14:creationId xmlns:p14="http://schemas.microsoft.com/office/powerpoint/2010/main" val="1581286932"/>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8EC2F1-BECC-A2E4-C19D-E01FDE2ABF84}"/>
              </a:ext>
            </a:extLst>
          </p:cNvPr>
          <p:cNvPicPr>
            <a:picLocks noGrp="1" noChangeAspect="1"/>
          </p:cNvPicPr>
          <p:nvPr>
            <p:ph idx="1"/>
          </p:nvPr>
        </p:nvPicPr>
        <p:blipFill>
          <a:blip r:embed="rId2"/>
          <a:stretch>
            <a:fillRect/>
          </a:stretch>
        </p:blipFill>
        <p:spPr>
          <a:xfrm>
            <a:off x="1" y="0"/>
            <a:ext cx="5624594" cy="5444067"/>
          </a:xfrm>
          <a:prstGeom prst="rect">
            <a:avLst/>
          </a:prstGeom>
          <a:effectLst>
            <a:outerShdw blurRad="25400" dir="17880000">
              <a:srgbClr val="000000">
                <a:alpha val="46000"/>
              </a:srgbClr>
            </a:outerShdw>
          </a:effectLst>
        </p:spPr>
      </p:pic>
      <p:pic>
        <p:nvPicPr>
          <p:cNvPr id="10" name="Content Placeholder 4">
            <a:extLst>
              <a:ext uri="{FF2B5EF4-FFF2-40B4-BE49-F238E27FC236}">
                <a16:creationId xmlns:a16="http://schemas.microsoft.com/office/drawing/2014/main" id="{11C21C42-DFC4-51C0-8A8E-B80AE7DE9559}"/>
              </a:ext>
            </a:extLst>
          </p:cNvPr>
          <p:cNvPicPr>
            <a:picLocks noChangeAspect="1"/>
          </p:cNvPicPr>
          <p:nvPr/>
        </p:nvPicPr>
        <p:blipFill>
          <a:blip r:embed="rId3"/>
          <a:stretch>
            <a:fillRect/>
          </a:stretch>
        </p:blipFill>
        <p:spPr>
          <a:xfrm>
            <a:off x="5831416" y="493038"/>
            <a:ext cx="5587820" cy="405923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470055986"/>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C9DF935-E799-C355-44C2-7208EC36EB6A}"/>
              </a:ext>
            </a:extLst>
          </p:cNvPr>
          <p:cNvPicPr>
            <a:picLocks noGrp="1" noChangeAspect="1"/>
          </p:cNvPicPr>
          <p:nvPr>
            <p:ph idx="1"/>
          </p:nvPr>
        </p:nvPicPr>
        <p:blipFill>
          <a:blip r:embed="rId2"/>
          <a:stretch>
            <a:fillRect/>
          </a:stretch>
        </p:blipFill>
        <p:spPr>
          <a:xfrm>
            <a:off x="389467" y="245533"/>
            <a:ext cx="7053263" cy="1657350"/>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1DEBB8D0-C89F-873E-EFD8-C90893DA45EE}"/>
              </a:ext>
            </a:extLst>
          </p:cNvPr>
          <p:cNvPicPr>
            <a:picLocks noChangeAspect="1"/>
          </p:cNvPicPr>
          <p:nvPr/>
        </p:nvPicPr>
        <p:blipFill>
          <a:blip r:embed="rId3"/>
          <a:stretch>
            <a:fillRect/>
          </a:stretch>
        </p:blipFill>
        <p:spPr>
          <a:xfrm>
            <a:off x="93133" y="2085463"/>
            <a:ext cx="11150600" cy="4348461"/>
          </a:xfrm>
          <a:prstGeom prst="rect">
            <a:avLst/>
          </a:prstGeom>
        </p:spPr>
      </p:pic>
    </p:spTree>
    <p:extLst>
      <p:ext uri="{BB962C8B-B14F-4D97-AF65-F5344CB8AC3E}">
        <p14:creationId xmlns:p14="http://schemas.microsoft.com/office/powerpoint/2010/main" val="390650706"/>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232DB-35E6-24A4-7BBB-88C42BBCC711}"/>
              </a:ext>
            </a:extLst>
          </p:cNvPr>
          <p:cNvSpPr>
            <a:spLocks noGrp="1"/>
          </p:cNvSpPr>
          <p:nvPr>
            <p:ph type="title"/>
          </p:nvPr>
        </p:nvSpPr>
        <p:spPr>
          <a:xfrm>
            <a:off x="913795" y="0"/>
            <a:ext cx="10353762" cy="561975"/>
          </a:xfrm>
        </p:spPr>
        <p:txBody>
          <a:bodyPr>
            <a:normAutofit fontScale="90000"/>
          </a:bodyPr>
          <a:lstStyle/>
          <a:p>
            <a:r>
              <a:rPr lang="en-US"/>
              <a:t>CO</a:t>
            </a:r>
            <a:r>
              <a:rPr lang="ar-EG"/>
              <a:t>في المراجعة الأولية عند ال </a:t>
            </a:r>
            <a:r>
              <a:rPr lang="en-US"/>
              <a:t> </a:t>
            </a:r>
          </a:p>
        </p:txBody>
      </p:sp>
      <p:sp>
        <p:nvSpPr>
          <p:cNvPr id="3" name="Content Placeholder 2">
            <a:extLst>
              <a:ext uri="{FF2B5EF4-FFF2-40B4-BE49-F238E27FC236}">
                <a16:creationId xmlns:a16="http://schemas.microsoft.com/office/drawing/2014/main" id="{C5C18C95-995B-C309-BEF6-1E998AE8AF2F}"/>
              </a:ext>
            </a:extLst>
          </p:cNvPr>
          <p:cNvSpPr>
            <a:spLocks noGrp="1"/>
          </p:cNvSpPr>
          <p:nvPr>
            <p:ph idx="1"/>
          </p:nvPr>
        </p:nvSpPr>
        <p:spPr>
          <a:xfrm>
            <a:off x="152400" y="561975"/>
            <a:ext cx="11896725" cy="6229350"/>
          </a:xfrm>
        </p:spPr>
        <p:txBody>
          <a:bodyPr/>
          <a:lstStyle/>
          <a:p>
            <a:r>
              <a:rPr lang="en-US"/>
              <a:t>The Tab of</a:t>
            </a:r>
            <a:r>
              <a:rPr lang="ar-EG"/>
              <a:t> </a:t>
            </a:r>
            <a:r>
              <a:rPr lang="en-US"/>
              <a:t>funding data will be blocked</a:t>
            </a:r>
          </a:p>
          <a:p>
            <a:endParaRPr lang="en-US"/>
          </a:p>
          <a:p>
            <a:endParaRPr lang="en-US"/>
          </a:p>
        </p:txBody>
      </p:sp>
      <p:pic>
        <p:nvPicPr>
          <p:cNvPr id="5" name="Picture 4">
            <a:extLst>
              <a:ext uri="{FF2B5EF4-FFF2-40B4-BE49-F238E27FC236}">
                <a16:creationId xmlns:a16="http://schemas.microsoft.com/office/drawing/2014/main" id="{CDB2179A-87FE-071A-EAEF-15773A8C1701}"/>
              </a:ext>
            </a:extLst>
          </p:cNvPr>
          <p:cNvPicPr>
            <a:picLocks noChangeAspect="1"/>
          </p:cNvPicPr>
          <p:nvPr/>
        </p:nvPicPr>
        <p:blipFill>
          <a:blip r:embed="rId2"/>
          <a:stretch>
            <a:fillRect/>
          </a:stretch>
        </p:blipFill>
        <p:spPr>
          <a:xfrm>
            <a:off x="348088" y="1123950"/>
            <a:ext cx="8745536" cy="4783743"/>
          </a:xfrm>
          <a:prstGeom prst="rect">
            <a:avLst/>
          </a:prstGeom>
        </p:spPr>
      </p:pic>
    </p:spTree>
    <p:extLst>
      <p:ext uri="{BB962C8B-B14F-4D97-AF65-F5344CB8AC3E}">
        <p14:creationId xmlns:p14="http://schemas.microsoft.com/office/powerpoint/2010/main" val="151825628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664DF23-DE7D-7FD3-7680-C1FA2212D644}"/>
              </a:ext>
            </a:extLst>
          </p:cNvPr>
          <p:cNvPicPr>
            <a:picLocks noGrp="1" noChangeAspect="1"/>
          </p:cNvPicPr>
          <p:nvPr>
            <p:ph idx="1"/>
          </p:nvPr>
        </p:nvPicPr>
        <p:blipFill>
          <a:blip r:embed="rId2"/>
          <a:stretch>
            <a:fillRect/>
          </a:stretch>
        </p:blipFill>
        <p:spPr>
          <a:xfrm>
            <a:off x="655820" y="309563"/>
            <a:ext cx="8521756" cy="489743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750546067"/>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0E2F-F2E5-0EA9-E462-7388121203E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0810547-B792-B21E-C972-B3587DDBFB52}"/>
              </a:ext>
            </a:extLst>
          </p:cNvPr>
          <p:cNvPicPr>
            <a:picLocks noGrp="1" noChangeAspect="1"/>
          </p:cNvPicPr>
          <p:nvPr>
            <p:ph idx="1"/>
          </p:nvPr>
        </p:nvPicPr>
        <p:blipFill>
          <a:blip r:embed="rId2"/>
          <a:stretch>
            <a:fillRect/>
          </a:stretch>
        </p:blipFill>
        <p:spPr>
          <a:xfrm>
            <a:off x="410212" y="1731963"/>
            <a:ext cx="9733284" cy="451643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20394733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357F8-A69C-5FCC-4548-F57CD06189C8}"/>
              </a:ext>
            </a:extLst>
          </p:cNvPr>
          <p:cNvSpPr>
            <a:spLocks noGrp="1"/>
          </p:cNvSpPr>
          <p:nvPr>
            <p:ph type="title"/>
          </p:nvPr>
        </p:nvSpPr>
        <p:spPr>
          <a:xfrm>
            <a:off x="1020799" y="80732"/>
            <a:ext cx="10353762" cy="970450"/>
          </a:xfrm>
        </p:spPr>
        <p:txBody>
          <a:bodyPr/>
          <a:lstStyle/>
          <a:p>
            <a:endParaRPr lang="en-US"/>
          </a:p>
        </p:txBody>
      </p:sp>
      <p:pic>
        <p:nvPicPr>
          <p:cNvPr id="5" name="Picture 4">
            <a:extLst>
              <a:ext uri="{FF2B5EF4-FFF2-40B4-BE49-F238E27FC236}">
                <a16:creationId xmlns:a16="http://schemas.microsoft.com/office/drawing/2014/main" id="{9013C28F-E7BF-8C79-6808-6E3AB8A1FC5F}"/>
              </a:ext>
            </a:extLst>
          </p:cNvPr>
          <p:cNvPicPr>
            <a:picLocks noChangeAspect="1"/>
          </p:cNvPicPr>
          <p:nvPr/>
        </p:nvPicPr>
        <p:blipFill>
          <a:blip r:embed="rId2"/>
          <a:stretch>
            <a:fillRect/>
          </a:stretch>
        </p:blipFill>
        <p:spPr>
          <a:xfrm>
            <a:off x="1844990" y="1051182"/>
            <a:ext cx="8942985" cy="3520358"/>
          </a:xfrm>
          <a:prstGeom prst="rect">
            <a:avLst/>
          </a:prstGeom>
        </p:spPr>
      </p:pic>
      <p:pic>
        <p:nvPicPr>
          <p:cNvPr id="7" name="Picture 6">
            <a:extLst>
              <a:ext uri="{FF2B5EF4-FFF2-40B4-BE49-F238E27FC236}">
                <a16:creationId xmlns:a16="http://schemas.microsoft.com/office/drawing/2014/main" id="{536A4D68-F8A5-3887-1FD1-70656F9D46FC}"/>
              </a:ext>
            </a:extLst>
          </p:cNvPr>
          <p:cNvPicPr>
            <a:picLocks noChangeAspect="1"/>
          </p:cNvPicPr>
          <p:nvPr/>
        </p:nvPicPr>
        <p:blipFill>
          <a:blip r:embed="rId3"/>
          <a:stretch>
            <a:fillRect/>
          </a:stretch>
        </p:blipFill>
        <p:spPr>
          <a:xfrm>
            <a:off x="1215396" y="4629908"/>
            <a:ext cx="9951879" cy="1761166"/>
          </a:xfrm>
          <a:prstGeom prst="rect">
            <a:avLst/>
          </a:prstGeom>
        </p:spPr>
      </p:pic>
    </p:spTree>
    <p:extLst>
      <p:ext uri="{BB962C8B-B14F-4D97-AF65-F5344CB8AC3E}">
        <p14:creationId xmlns:p14="http://schemas.microsoft.com/office/powerpoint/2010/main" val="56022678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DDCF2-28B3-2608-2193-110E524EE054}"/>
              </a:ext>
            </a:extLst>
          </p:cNvPr>
          <p:cNvSpPr>
            <a:spLocks noGrp="1"/>
          </p:cNvSpPr>
          <p:nvPr>
            <p:ph type="title"/>
          </p:nvPr>
        </p:nvSpPr>
        <p:spPr>
          <a:xfrm>
            <a:off x="913795" y="0"/>
            <a:ext cx="10353762" cy="719667"/>
          </a:xfrm>
        </p:spPr>
        <p:txBody>
          <a:bodyPr/>
          <a:lstStyle/>
          <a:p>
            <a:endParaRPr lang="en-US"/>
          </a:p>
        </p:txBody>
      </p:sp>
      <p:sp>
        <p:nvSpPr>
          <p:cNvPr id="3" name="Content Placeholder 2">
            <a:extLst>
              <a:ext uri="{FF2B5EF4-FFF2-40B4-BE49-F238E27FC236}">
                <a16:creationId xmlns:a16="http://schemas.microsoft.com/office/drawing/2014/main" id="{AE77FC4D-9C46-C0FB-0845-83ECB0431E3A}"/>
              </a:ext>
            </a:extLst>
          </p:cNvPr>
          <p:cNvSpPr>
            <a:spLocks noGrp="1"/>
          </p:cNvSpPr>
          <p:nvPr>
            <p:ph idx="1"/>
          </p:nvPr>
        </p:nvSpPr>
        <p:spPr>
          <a:xfrm>
            <a:off x="409575" y="719667"/>
            <a:ext cx="10857982" cy="6028266"/>
          </a:xfrm>
        </p:spPr>
        <p:txBody>
          <a:bodyPr/>
          <a:lstStyle/>
          <a:p>
            <a:r>
              <a:rPr lang="en-US"/>
              <a:t>VendorRequest</a:t>
            </a:r>
          </a:p>
          <a:p>
            <a:pPr lvl="1"/>
            <a:r>
              <a:rPr lang="en-US"/>
              <a:t>User_</a:t>
            </a:r>
          </a:p>
          <a:p>
            <a:r>
              <a:rPr lang="en-US"/>
              <a:t>Vendor_Deportation</a:t>
            </a:r>
          </a:p>
          <a:p>
            <a:pPr lvl="1"/>
            <a:r>
              <a:rPr lang="en-US"/>
              <a:t>From: </a:t>
            </a:r>
            <a:r>
              <a:rPr lang="ar-EG"/>
              <a:t>تسجيل المورد</a:t>
            </a:r>
            <a:endParaRPr lang="en-US"/>
          </a:p>
          <a:p>
            <a:pPr lvl="1"/>
            <a:r>
              <a:rPr lang="en-US"/>
              <a:t>To: </a:t>
            </a:r>
            <a:r>
              <a:rPr lang="ar-EG"/>
              <a:t>تحميل مستندات المورد</a:t>
            </a:r>
            <a:r>
              <a:rPr lang="en-US"/>
              <a:t> </a:t>
            </a:r>
          </a:p>
          <a:p>
            <a:pPr lvl="1"/>
            <a:r>
              <a:rPr lang="en-US"/>
              <a:t>StatusOne: inProcess</a:t>
            </a:r>
          </a:p>
          <a:p>
            <a:pPr lvl="1"/>
            <a:r>
              <a:rPr lang="en-US"/>
              <a:t>StatusTwo:  </a:t>
            </a:r>
          </a:p>
          <a:p>
            <a:pPr lvl="1"/>
            <a:r>
              <a:rPr lang="en-US"/>
              <a:t>Vendor_Log</a:t>
            </a:r>
          </a:p>
          <a:p>
            <a:pPr lvl="2"/>
            <a:endParaRPr lang="en-US"/>
          </a:p>
        </p:txBody>
      </p:sp>
    </p:spTree>
    <p:extLst>
      <p:ext uri="{BB962C8B-B14F-4D97-AF65-F5344CB8AC3E}">
        <p14:creationId xmlns:p14="http://schemas.microsoft.com/office/powerpoint/2010/main" val="3494271206"/>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F1D3-748B-D332-C86E-F9B06BD8C11F}"/>
              </a:ext>
            </a:extLst>
          </p:cNvPr>
          <p:cNvSpPr>
            <a:spLocks noGrp="1"/>
          </p:cNvSpPr>
          <p:nvPr>
            <p:ph type="title"/>
          </p:nvPr>
        </p:nvSpPr>
        <p:spPr>
          <a:xfrm>
            <a:off x="552450" y="0"/>
            <a:ext cx="11277601" cy="838200"/>
          </a:xfrm>
        </p:spPr>
        <p:txBody>
          <a:bodyPr>
            <a:normAutofit/>
          </a:bodyPr>
          <a:lstStyle/>
          <a:p>
            <a:r>
              <a:rPr lang="en-US"/>
              <a:t>Status Code of vendor</a:t>
            </a:r>
          </a:p>
        </p:txBody>
      </p:sp>
      <p:sp>
        <p:nvSpPr>
          <p:cNvPr id="3" name="Content Placeholder 2">
            <a:extLst>
              <a:ext uri="{FF2B5EF4-FFF2-40B4-BE49-F238E27FC236}">
                <a16:creationId xmlns:a16="http://schemas.microsoft.com/office/drawing/2014/main" id="{2D24B343-3C58-9934-D78D-84346DD4E02A}"/>
              </a:ext>
            </a:extLst>
          </p:cNvPr>
          <p:cNvSpPr>
            <a:spLocks noGrp="1"/>
          </p:cNvSpPr>
          <p:nvPr>
            <p:ph idx="1"/>
          </p:nvPr>
        </p:nvSpPr>
        <p:spPr>
          <a:xfrm>
            <a:off x="238126" y="981076"/>
            <a:ext cx="11591926" cy="5619750"/>
          </a:xfrm>
        </p:spPr>
        <p:txBody>
          <a:bodyPr/>
          <a:lstStyle/>
          <a:p>
            <a:r>
              <a:rPr lang="en-US"/>
              <a:t>After Save at Vendor Registeration  the status code will be </a:t>
            </a:r>
            <a:r>
              <a:rPr lang="en-US" b="1">
                <a:solidFill>
                  <a:srgbClr val="FFFF00"/>
                </a:solidFill>
              </a:rPr>
              <a:t>1</a:t>
            </a:r>
          </a:p>
          <a:p>
            <a:r>
              <a:rPr lang="en-US"/>
              <a:t>After </a:t>
            </a:r>
            <a:r>
              <a:rPr lang="ar-EG"/>
              <a:t>حفظ وإرسال</a:t>
            </a:r>
            <a:r>
              <a:rPr lang="en-US"/>
              <a:t> at Vendor Registeration the status code will be </a:t>
            </a:r>
            <a:r>
              <a:rPr lang="en-US" b="1">
                <a:solidFill>
                  <a:srgbClr val="FFFF00"/>
                </a:solidFill>
              </a:rPr>
              <a:t>2</a:t>
            </a:r>
          </a:p>
          <a:p>
            <a:r>
              <a:rPr lang="en-US"/>
              <a:t>After reject at phase [</a:t>
            </a:r>
            <a:r>
              <a:rPr lang="ar-EG"/>
              <a:t>المراجعة الائتمانية</a:t>
            </a:r>
            <a:r>
              <a:rPr lang="en-US"/>
              <a:t>] the status code will be </a:t>
            </a:r>
            <a:r>
              <a:rPr lang="en-US" b="1">
                <a:solidFill>
                  <a:srgbClr val="FFFF00"/>
                </a:solidFill>
              </a:rPr>
              <a:t>6</a:t>
            </a:r>
          </a:p>
          <a:p>
            <a:r>
              <a:rPr lang="en-US"/>
              <a:t>After Accept at phase [</a:t>
            </a:r>
            <a:r>
              <a:rPr lang="ar-EG"/>
              <a:t>المراجعة الائتمانية</a:t>
            </a:r>
            <a:r>
              <a:rPr lang="en-US"/>
              <a:t>]</a:t>
            </a:r>
            <a:r>
              <a:rPr lang="ar-EG"/>
              <a:t> </a:t>
            </a:r>
            <a:r>
              <a:rPr lang="en-US"/>
              <a:t>the status code will be </a:t>
            </a:r>
            <a:r>
              <a:rPr lang="en-US" b="1">
                <a:solidFill>
                  <a:srgbClr val="FFFF00"/>
                </a:solidFill>
              </a:rPr>
              <a:t>3</a:t>
            </a:r>
            <a:r>
              <a:rPr lang="en-US"/>
              <a:t> [دراسة مكافحة غسل األموال]</a:t>
            </a:r>
          </a:p>
          <a:p>
            <a:r>
              <a:rPr lang="en-US"/>
              <a:t>After reject At AML Phase the status code will be </a:t>
            </a:r>
            <a:r>
              <a:rPr lang="en-US" b="1">
                <a:solidFill>
                  <a:srgbClr val="FFFF00"/>
                </a:solidFill>
              </a:rPr>
              <a:t>2</a:t>
            </a:r>
            <a:r>
              <a:rPr lang="en-US"/>
              <a:t> [</a:t>
            </a:r>
            <a:r>
              <a:rPr lang="ar-EG"/>
              <a:t>مراجعة متابعة الائتمان</a:t>
            </a:r>
            <a:r>
              <a:rPr lang="en-US"/>
              <a:t>]</a:t>
            </a:r>
          </a:p>
          <a:p>
            <a:r>
              <a:rPr lang="en-US"/>
              <a:t>After Accept at AML Phase the status code will be </a:t>
            </a:r>
            <a:r>
              <a:rPr lang="en-US" b="1">
                <a:solidFill>
                  <a:srgbClr val="FFFF00"/>
                </a:solidFill>
              </a:rPr>
              <a:t>4</a:t>
            </a:r>
            <a:r>
              <a:rPr lang="en-US"/>
              <a:t> [vendor account creation – حساب إنشاء للمورد</a:t>
            </a:r>
          </a:p>
          <a:p>
            <a:r>
              <a:rPr lang="en-US"/>
              <a:t>After final reject at AML Phase the status code will be </a:t>
            </a:r>
            <a:r>
              <a:rPr lang="en-US" b="1">
                <a:solidFill>
                  <a:srgbClr val="FFFF00"/>
                </a:solidFill>
              </a:rPr>
              <a:t>19</a:t>
            </a:r>
          </a:p>
          <a:p>
            <a:r>
              <a:rPr lang="en-US"/>
              <a:t>After فتح حساب للمور</a:t>
            </a:r>
            <a:r>
              <a:rPr lang="ar-EG"/>
              <a:t>د</a:t>
            </a:r>
            <a:r>
              <a:rPr lang="en-US"/>
              <a:t>  the status code will be </a:t>
            </a:r>
            <a:r>
              <a:rPr lang="en-US" b="1">
                <a:solidFill>
                  <a:srgbClr val="FFFF00"/>
                </a:solidFill>
              </a:rPr>
              <a:t>5</a:t>
            </a:r>
            <a:r>
              <a:rPr lang="en-US"/>
              <a:t> [approved]</a:t>
            </a:r>
          </a:p>
          <a:p>
            <a:pPr marL="36900" indent="0">
              <a:buNone/>
            </a:pPr>
            <a:endParaRPr lang="en-US"/>
          </a:p>
        </p:txBody>
      </p:sp>
    </p:spTree>
    <p:extLst>
      <p:ext uri="{BB962C8B-B14F-4D97-AF65-F5344CB8AC3E}">
        <p14:creationId xmlns:p14="http://schemas.microsoft.com/office/powerpoint/2010/main" val="1116381390"/>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EBA7F-623F-E4BB-4FFE-1A0426AD26DF}"/>
              </a:ext>
            </a:extLst>
          </p:cNvPr>
          <p:cNvSpPr>
            <a:spLocks noGrp="1"/>
          </p:cNvSpPr>
          <p:nvPr>
            <p:ph type="title"/>
          </p:nvPr>
        </p:nvSpPr>
        <p:spPr>
          <a:xfrm>
            <a:off x="913795" y="0"/>
            <a:ext cx="10353762" cy="609600"/>
          </a:xfrm>
        </p:spPr>
        <p:txBody>
          <a:bodyPr>
            <a:normAutofit fontScale="90000"/>
          </a:bodyPr>
          <a:lstStyle/>
          <a:p>
            <a:r>
              <a:rPr lang="en-US"/>
              <a:t>After Save ate vendor registration</a:t>
            </a:r>
          </a:p>
        </p:txBody>
      </p:sp>
      <p:sp>
        <p:nvSpPr>
          <p:cNvPr id="3" name="Content Placeholder 2">
            <a:extLst>
              <a:ext uri="{FF2B5EF4-FFF2-40B4-BE49-F238E27FC236}">
                <a16:creationId xmlns:a16="http://schemas.microsoft.com/office/drawing/2014/main" id="{4448923C-9752-7D2E-2288-03E44B4F9592}"/>
              </a:ext>
            </a:extLst>
          </p:cNvPr>
          <p:cNvSpPr>
            <a:spLocks noGrp="1"/>
          </p:cNvSpPr>
          <p:nvPr>
            <p:ph idx="1"/>
          </p:nvPr>
        </p:nvSpPr>
        <p:spPr>
          <a:xfrm>
            <a:off x="371474" y="609600"/>
            <a:ext cx="11820525" cy="6172200"/>
          </a:xfrm>
        </p:spPr>
        <p:txBody>
          <a:bodyPr>
            <a:normAutofit fontScale="92500" lnSpcReduction="10000"/>
          </a:bodyPr>
          <a:lstStyle/>
          <a:p>
            <a:r>
              <a:rPr lang="en-US"/>
              <a:t>Flow_Vendor_Request</a:t>
            </a:r>
          </a:p>
          <a:p>
            <a:pPr lvl="1"/>
            <a:r>
              <a:rPr lang="en-US" sz="1600" b="1">
                <a:solidFill>
                  <a:srgbClr val="FFFF00"/>
                </a:solidFill>
              </a:rPr>
              <a:t>StatusCode</a:t>
            </a:r>
            <a:r>
              <a:rPr lang="en-US" sz="1600"/>
              <a:t>: 1</a:t>
            </a:r>
          </a:p>
          <a:p>
            <a:r>
              <a:rPr lang="en-US" sz="1800"/>
              <a:t>Deportation</a:t>
            </a:r>
          </a:p>
          <a:p>
            <a:pPr lvl="1"/>
            <a:r>
              <a:rPr lang="en-US" sz="1600" b="1">
                <a:solidFill>
                  <a:srgbClr val="FFFF00"/>
                </a:solidFill>
              </a:rPr>
              <a:t>UserId_from</a:t>
            </a:r>
            <a:r>
              <a:rPr lang="en-US" sz="1600"/>
              <a:t>: the Id Of BM Who made the vendor reqquest</a:t>
            </a:r>
          </a:p>
          <a:p>
            <a:pPr lvl="1"/>
            <a:r>
              <a:rPr lang="en-US" sz="1600" b="1">
                <a:solidFill>
                  <a:srgbClr val="FFFF00"/>
                </a:solidFill>
              </a:rPr>
              <a:t>UserId_TO </a:t>
            </a:r>
            <a:r>
              <a:rPr lang="en-US" sz="1600"/>
              <a:t>: the Id Of BM Who made the vendor request</a:t>
            </a:r>
          </a:p>
          <a:p>
            <a:pPr lvl="1"/>
            <a:r>
              <a:rPr lang="en-US" sz="1600" b="1">
                <a:solidFill>
                  <a:srgbClr val="FFFF00"/>
                </a:solidFill>
              </a:rPr>
              <a:t>UserId_BM</a:t>
            </a:r>
            <a:r>
              <a:rPr lang="en-US" sz="1600"/>
              <a:t>: _LoToCo.Queryable().FirstOrDefault(x =&gt; x.BranchId == addVendorDTO.BranchId).Manager_User</a:t>
            </a:r>
          </a:p>
          <a:p>
            <a:pPr lvl="1"/>
            <a:r>
              <a:rPr lang="en-US" sz="1600" b="1">
                <a:solidFill>
                  <a:srgbClr val="FFFF00"/>
                </a:solidFill>
              </a:rPr>
              <a:t>Name_step_from</a:t>
            </a:r>
            <a:r>
              <a:rPr lang="en-US" sz="1600"/>
              <a:t>: </a:t>
            </a:r>
            <a:r>
              <a:rPr lang="ar-EG" sz="1600"/>
              <a:t>تسجيل بيانات مورد</a:t>
            </a:r>
          </a:p>
          <a:p>
            <a:pPr lvl="1"/>
            <a:r>
              <a:rPr lang="en-US" sz="1600" b="1">
                <a:solidFill>
                  <a:srgbClr val="FFFF00"/>
                </a:solidFill>
              </a:rPr>
              <a:t>Name_step_to</a:t>
            </a:r>
            <a:r>
              <a:rPr lang="en-US" sz="1600"/>
              <a:t>: </a:t>
            </a:r>
            <a:r>
              <a:rPr lang="ar-EG" sz="1600"/>
              <a:t>تحميل مستندات مورد</a:t>
            </a:r>
            <a:endParaRPr lang="en-US" sz="1600"/>
          </a:p>
          <a:p>
            <a:pPr lvl="1"/>
            <a:r>
              <a:rPr lang="en-US" sz="1600" b="1">
                <a:solidFill>
                  <a:srgbClr val="FFFF00"/>
                </a:solidFill>
              </a:rPr>
              <a:t>Status_one</a:t>
            </a:r>
            <a:r>
              <a:rPr lang="en-US" sz="1600"/>
              <a:t>: Inprocess</a:t>
            </a:r>
          </a:p>
          <a:p>
            <a:pPr lvl="1"/>
            <a:r>
              <a:rPr lang="en-US" sz="1600" b="1">
                <a:solidFill>
                  <a:srgbClr val="FFFF00"/>
                </a:solidFill>
              </a:rPr>
              <a:t>Status_two</a:t>
            </a:r>
            <a:r>
              <a:rPr lang="en-US" sz="1600"/>
              <a:t>: BM1010</a:t>
            </a:r>
          </a:p>
          <a:p>
            <a:pPr lvl="1"/>
            <a:r>
              <a:rPr lang="en-US" sz="1600" b="1">
                <a:solidFill>
                  <a:srgbClr val="FFFF00"/>
                </a:solidFill>
              </a:rPr>
              <a:t>Creation_Date</a:t>
            </a:r>
            <a:r>
              <a:rPr lang="en-US" sz="1600"/>
              <a:t>: DateTime.Now</a:t>
            </a:r>
          </a:p>
          <a:p>
            <a:pPr lvl="1"/>
            <a:r>
              <a:rPr lang="en-US" sz="1600" b="1">
                <a:solidFill>
                  <a:srgbClr val="FFFF00"/>
                </a:solidFill>
              </a:rPr>
              <a:t>DateAssigned</a:t>
            </a:r>
            <a:r>
              <a:rPr lang="en-US" sz="1600"/>
              <a:t>: the date when it is assigned to UserIdTo</a:t>
            </a:r>
            <a:endParaRPr lang="en-US" sz="1700"/>
          </a:p>
          <a:p>
            <a:r>
              <a:rPr lang="en-US" sz="1800"/>
              <a:t>Log</a:t>
            </a:r>
          </a:p>
          <a:p>
            <a:pPr lvl="1"/>
            <a:r>
              <a:rPr lang="en-US" sz="1600" b="1">
                <a:solidFill>
                  <a:srgbClr val="FFFF00"/>
                </a:solidFill>
              </a:rPr>
              <a:t>UserId</a:t>
            </a:r>
            <a:r>
              <a:rPr lang="en-US" sz="1600"/>
              <a:t>: UserIdTo</a:t>
            </a:r>
          </a:p>
          <a:p>
            <a:pPr lvl="1"/>
            <a:r>
              <a:rPr lang="en-US" sz="1600" b="1">
                <a:solidFill>
                  <a:srgbClr val="FFFF00"/>
                </a:solidFill>
              </a:rPr>
              <a:t>Daily_Date</a:t>
            </a:r>
            <a:r>
              <a:rPr lang="en-US" sz="1600"/>
              <a:t>: datetime.now</a:t>
            </a:r>
          </a:p>
          <a:p>
            <a:pPr lvl="1"/>
            <a:r>
              <a:rPr lang="en-US" sz="1600" b="1">
                <a:solidFill>
                  <a:srgbClr val="FFFF00"/>
                </a:solidFill>
              </a:rPr>
              <a:t>Action_Flag</a:t>
            </a:r>
            <a:r>
              <a:rPr lang="en-US" sz="1600"/>
              <a:t>: </a:t>
            </a:r>
            <a:r>
              <a:rPr lang="ar-EG" sz="1600"/>
              <a:t>4</a:t>
            </a:r>
            <a:r>
              <a:rPr lang="en-US" sz="1600"/>
              <a:t>;</a:t>
            </a:r>
          </a:p>
          <a:p>
            <a:pPr lvl="1"/>
            <a:r>
              <a:rPr lang="en-US" sz="1600" b="1">
                <a:solidFill>
                  <a:srgbClr val="FFFF00"/>
                </a:solidFill>
              </a:rPr>
              <a:t>Step_name</a:t>
            </a:r>
            <a:r>
              <a:rPr lang="en-US" sz="1600"/>
              <a:t>: </a:t>
            </a:r>
            <a:r>
              <a:rPr lang="ar-EG" sz="1600"/>
              <a:t>تسجيل مورد</a:t>
            </a:r>
          </a:p>
          <a:p>
            <a:pPr lvl="1"/>
            <a:r>
              <a:rPr lang="en-US" sz="1600" b="1">
                <a:solidFill>
                  <a:srgbClr val="FFFF00"/>
                </a:solidFill>
              </a:rPr>
              <a:t>Definition_number</a:t>
            </a:r>
            <a:r>
              <a:rPr lang="en-US" sz="1600"/>
              <a:t>: BM1010</a:t>
            </a:r>
          </a:p>
        </p:txBody>
      </p:sp>
    </p:spTree>
    <p:extLst>
      <p:ext uri="{BB962C8B-B14F-4D97-AF65-F5344CB8AC3E}">
        <p14:creationId xmlns:p14="http://schemas.microsoft.com/office/powerpoint/2010/main" val="708019365"/>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6C943-10AF-F2D7-F0EA-789B88E32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19FFB-B36F-07E8-0CF5-ECB9CB2E50EC}"/>
              </a:ext>
            </a:extLst>
          </p:cNvPr>
          <p:cNvSpPr>
            <a:spLocks noGrp="1"/>
          </p:cNvSpPr>
          <p:nvPr>
            <p:ph type="title"/>
          </p:nvPr>
        </p:nvSpPr>
        <p:spPr>
          <a:xfrm>
            <a:off x="913795" y="0"/>
            <a:ext cx="10353762" cy="381000"/>
          </a:xfrm>
        </p:spPr>
        <p:txBody>
          <a:bodyPr>
            <a:normAutofit fontScale="90000"/>
          </a:bodyPr>
          <a:lstStyle/>
          <a:p>
            <a:r>
              <a:rPr lang="en-US"/>
              <a:t>After Reject Vendor AML Step</a:t>
            </a:r>
          </a:p>
        </p:txBody>
      </p:sp>
      <p:sp>
        <p:nvSpPr>
          <p:cNvPr id="3" name="Content Placeholder 2">
            <a:extLst>
              <a:ext uri="{FF2B5EF4-FFF2-40B4-BE49-F238E27FC236}">
                <a16:creationId xmlns:a16="http://schemas.microsoft.com/office/drawing/2014/main" id="{9038A160-2106-30C4-4BD0-32DF35CB906F}"/>
              </a:ext>
            </a:extLst>
          </p:cNvPr>
          <p:cNvSpPr>
            <a:spLocks noGrp="1"/>
          </p:cNvSpPr>
          <p:nvPr>
            <p:ph idx="1"/>
          </p:nvPr>
        </p:nvSpPr>
        <p:spPr>
          <a:xfrm>
            <a:off x="95250" y="533399"/>
            <a:ext cx="6591300" cy="6324601"/>
          </a:xfrm>
        </p:spPr>
        <p:txBody>
          <a:bodyPr>
            <a:normAutofit/>
          </a:bodyPr>
          <a:lstStyle/>
          <a:p>
            <a:r>
              <a:rPr lang="en-US" sz="1600"/>
              <a:t>VendorRequest</a:t>
            </a:r>
          </a:p>
          <a:p>
            <a:pPr lvl="1"/>
            <a:r>
              <a:rPr lang="en-US" sz="1600">
                <a:solidFill>
                  <a:srgbClr val="FFFF00"/>
                </a:solidFill>
              </a:rPr>
              <a:t>StatusCode</a:t>
            </a:r>
            <a:r>
              <a:rPr lang="en-US" sz="1600"/>
              <a:t>: 2</a:t>
            </a:r>
          </a:p>
          <a:p>
            <a:r>
              <a:rPr lang="en-US" sz="1600"/>
              <a:t>Deportation</a:t>
            </a:r>
          </a:p>
          <a:p>
            <a:pPr lvl="1"/>
            <a:r>
              <a:rPr lang="en-US" sz="1600" b="1">
                <a:solidFill>
                  <a:srgbClr val="FFFF00"/>
                </a:solidFill>
              </a:rPr>
              <a:t>Name_step_from</a:t>
            </a:r>
            <a:r>
              <a:rPr lang="en-US" sz="1600"/>
              <a:t>: </a:t>
            </a:r>
            <a:r>
              <a:rPr lang="ar-EG" b="1"/>
              <a:t>مراجعة </a:t>
            </a:r>
            <a:r>
              <a:rPr lang="en-US" b="1"/>
              <a:t>AML</a:t>
            </a:r>
            <a:endParaRPr lang="en-US" sz="1600" b="1"/>
          </a:p>
          <a:p>
            <a:pPr lvl="1"/>
            <a:r>
              <a:rPr lang="en-US" sz="1600" b="1">
                <a:solidFill>
                  <a:srgbClr val="FFFF00"/>
                </a:solidFill>
              </a:rPr>
              <a:t>Name_step_to</a:t>
            </a:r>
            <a:r>
              <a:rPr lang="en-US" sz="1600"/>
              <a:t>: </a:t>
            </a:r>
            <a:r>
              <a:rPr lang="ar-EG" sz="1600" b="1"/>
              <a:t>مراجعة الائتمان</a:t>
            </a:r>
            <a:endParaRPr lang="en-US" sz="1600" b="1"/>
          </a:p>
          <a:p>
            <a:pPr lvl="1"/>
            <a:r>
              <a:rPr lang="en-US" sz="1600" b="1">
                <a:solidFill>
                  <a:srgbClr val="FFFF00"/>
                </a:solidFill>
              </a:rPr>
              <a:t>Status_one</a:t>
            </a:r>
            <a:r>
              <a:rPr lang="en-US" sz="1600"/>
              <a:t>: </a:t>
            </a:r>
            <a:r>
              <a:rPr lang="en-US" sz="1600" b="1"/>
              <a:t>“Reject”</a:t>
            </a:r>
          </a:p>
          <a:p>
            <a:pPr lvl="1"/>
            <a:r>
              <a:rPr lang="en-US" sz="1600" b="1">
                <a:solidFill>
                  <a:srgbClr val="FFFF00"/>
                </a:solidFill>
              </a:rPr>
              <a:t>Status_two</a:t>
            </a:r>
            <a:r>
              <a:rPr lang="en-US" sz="1600"/>
              <a:t>: CD1020</a:t>
            </a:r>
            <a:r>
              <a:rPr lang="ar-EG" sz="1600"/>
              <a:t> </a:t>
            </a:r>
            <a:r>
              <a:rPr lang="en-US" sz="1600"/>
              <a:t> [</a:t>
            </a:r>
            <a:r>
              <a:rPr lang="ar-EG" sz="1600"/>
              <a:t>كود مرحلة مراجعة الإتمان</a:t>
            </a:r>
            <a:r>
              <a:rPr lang="en-US" sz="1600"/>
              <a:t>]</a:t>
            </a:r>
          </a:p>
          <a:p>
            <a:pPr lvl="1"/>
            <a:r>
              <a:rPr lang="en-US" sz="1600" b="1">
                <a:solidFill>
                  <a:srgbClr val="FFFF00"/>
                </a:solidFill>
              </a:rPr>
              <a:t>UserId_from </a:t>
            </a:r>
            <a:r>
              <a:rPr lang="en-US" sz="1600"/>
              <a:t>: Id of current </a:t>
            </a:r>
            <a:r>
              <a:rPr lang="ar-EG" sz="1600"/>
              <a:t>مشرف مخاطر الإتمان</a:t>
            </a:r>
          </a:p>
          <a:p>
            <a:pPr lvl="1"/>
            <a:r>
              <a:rPr lang="en-US" sz="1600" b="1">
                <a:solidFill>
                  <a:srgbClr val="FFFF00"/>
                </a:solidFill>
              </a:rPr>
              <a:t>UserId_to</a:t>
            </a:r>
            <a:r>
              <a:rPr lang="en-US" sz="1600"/>
              <a:t>: the prev user who deport the request [</a:t>
            </a:r>
            <a:r>
              <a:rPr lang="ar-EG" sz="1600"/>
              <a:t>بتاع مراجعة الإتمان</a:t>
            </a:r>
            <a:r>
              <a:rPr lang="en-US" sz="1600"/>
              <a:t>]</a:t>
            </a:r>
          </a:p>
          <a:p>
            <a:r>
              <a:rPr lang="en-US" sz="1600"/>
              <a:t>Log</a:t>
            </a:r>
          </a:p>
          <a:p>
            <a:pPr lvl="1"/>
            <a:r>
              <a:rPr lang="en-US" sz="1600"/>
              <a:t>Last Log:</a:t>
            </a:r>
          </a:p>
          <a:p>
            <a:pPr lvl="2"/>
            <a:r>
              <a:rPr lang="en-US"/>
              <a:t>Action_Flag: </a:t>
            </a:r>
            <a:r>
              <a:rPr lang="ar-EG"/>
              <a:t>0</a:t>
            </a:r>
            <a:r>
              <a:rPr lang="en-US"/>
              <a:t>   </a:t>
            </a:r>
            <a:r>
              <a:rPr lang="ar-EG"/>
              <a:t>رفض</a:t>
            </a:r>
          </a:p>
          <a:p>
            <a:pPr lvl="1"/>
            <a:r>
              <a:rPr lang="en-US" sz="1600"/>
              <a:t>New log</a:t>
            </a:r>
          </a:p>
          <a:p>
            <a:pPr lvl="2"/>
            <a:r>
              <a:rPr lang="en-US" b="1">
                <a:solidFill>
                  <a:srgbClr val="FFFF00"/>
                </a:solidFill>
              </a:rPr>
              <a:t>UserId</a:t>
            </a:r>
            <a:r>
              <a:rPr lang="en-US"/>
              <a:t>: UserId_to // this always like UserId_to</a:t>
            </a:r>
          </a:p>
          <a:p>
            <a:pPr lvl="2"/>
            <a:r>
              <a:rPr lang="en-US" b="1">
                <a:solidFill>
                  <a:srgbClr val="FFFF00"/>
                </a:solidFill>
              </a:rPr>
              <a:t>Step_name</a:t>
            </a:r>
            <a:r>
              <a:rPr lang="en-US"/>
              <a:t>: </a:t>
            </a:r>
            <a:r>
              <a:rPr lang="ar-EG"/>
              <a:t>مراجعة الائتمان</a:t>
            </a:r>
            <a:endParaRPr lang="en-US"/>
          </a:p>
          <a:p>
            <a:pPr lvl="2"/>
            <a:r>
              <a:rPr lang="en-US" b="1">
                <a:solidFill>
                  <a:srgbClr val="FFFF00"/>
                </a:solidFill>
              </a:rPr>
              <a:t>Definition_number</a:t>
            </a:r>
            <a:r>
              <a:rPr lang="en-US"/>
              <a:t>: CD1020 [ stepCode of </a:t>
            </a:r>
            <a:r>
              <a:rPr lang="ar-EG"/>
              <a:t>مراجعة الائتمان</a:t>
            </a:r>
            <a:r>
              <a:rPr lang="en-US"/>
              <a:t>]</a:t>
            </a:r>
          </a:p>
        </p:txBody>
      </p:sp>
      <p:sp>
        <p:nvSpPr>
          <p:cNvPr id="4" name="Content Placeholder 2">
            <a:extLst>
              <a:ext uri="{FF2B5EF4-FFF2-40B4-BE49-F238E27FC236}">
                <a16:creationId xmlns:a16="http://schemas.microsoft.com/office/drawing/2014/main" id="{7FD144E7-3208-4152-46F5-B249CED9CA67}"/>
              </a:ext>
            </a:extLst>
          </p:cNvPr>
          <p:cNvSpPr txBox="1">
            <a:spLocks/>
          </p:cNvSpPr>
          <p:nvPr/>
        </p:nvSpPr>
        <p:spPr>
          <a:xfrm>
            <a:off x="6686550" y="533400"/>
            <a:ext cx="5410200" cy="616267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a:t>Vendors_Rejections_main</a:t>
            </a:r>
          </a:p>
          <a:p>
            <a:pPr lvl="1"/>
            <a:r>
              <a:rPr lang="en-US" b="1">
                <a:solidFill>
                  <a:srgbClr val="FFFF00"/>
                </a:solidFill>
              </a:rPr>
              <a:t>Rejection_flag</a:t>
            </a:r>
            <a:r>
              <a:rPr lang="en-US"/>
              <a:t>: 2 [note: 1 final reject]</a:t>
            </a:r>
          </a:p>
          <a:p>
            <a:pPr lvl="1"/>
            <a:r>
              <a:rPr lang="en-US" b="1">
                <a:solidFill>
                  <a:srgbClr val="FFFF00"/>
                </a:solidFill>
              </a:rPr>
              <a:t>Remarks</a:t>
            </a:r>
            <a:r>
              <a:rPr lang="en-US"/>
              <a:t>: mandatory</a:t>
            </a:r>
          </a:p>
          <a:p>
            <a:pPr lvl="1"/>
            <a:r>
              <a:rPr lang="en-US" b="1">
                <a:solidFill>
                  <a:srgbClr val="FFFF00"/>
                </a:solidFill>
              </a:rPr>
              <a:t>UserId</a:t>
            </a:r>
            <a:r>
              <a:rPr lang="en-US"/>
              <a:t>: like UserIdFrom [the one who reject]</a:t>
            </a:r>
          </a:p>
          <a:p>
            <a:pPr lvl="1"/>
            <a:r>
              <a:rPr lang="en-US" b="1">
                <a:solidFill>
                  <a:srgbClr val="FFFF00"/>
                </a:solidFill>
              </a:rPr>
              <a:t>Reject_by_phase</a:t>
            </a:r>
            <a:r>
              <a:rPr lang="en-US"/>
              <a:t>: AML1030</a:t>
            </a:r>
          </a:p>
          <a:p>
            <a:pPr lvl="1"/>
            <a:r>
              <a:rPr lang="en-US" b="1">
                <a:solidFill>
                  <a:srgbClr val="FFFF00"/>
                </a:solidFill>
              </a:rPr>
              <a:t>InsertDate</a:t>
            </a:r>
            <a:r>
              <a:rPr lang="en-US"/>
              <a:t>: DateTime.Now</a:t>
            </a:r>
          </a:p>
        </p:txBody>
      </p:sp>
    </p:spTree>
    <p:extLst>
      <p:ext uri="{BB962C8B-B14F-4D97-AF65-F5344CB8AC3E}">
        <p14:creationId xmlns:p14="http://schemas.microsoft.com/office/powerpoint/2010/main" val="3264625865"/>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0A79-EAEE-B345-9E7A-350981B67705}"/>
              </a:ext>
            </a:extLst>
          </p:cNvPr>
          <p:cNvSpPr>
            <a:spLocks noGrp="1"/>
          </p:cNvSpPr>
          <p:nvPr>
            <p:ph type="title"/>
          </p:nvPr>
        </p:nvSpPr>
        <p:spPr>
          <a:xfrm>
            <a:off x="913795" y="0"/>
            <a:ext cx="10353762" cy="381000"/>
          </a:xfrm>
        </p:spPr>
        <p:txBody>
          <a:bodyPr>
            <a:normAutofit fontScale="90000"/>
          </a:bodyPr>
          <a:lstStyle/>
          <a:p>
            <a:r>
              <a:rPr lang="en-US"/>
              <a:t>After Final Reject Vendor AML Step</a:t>
            </a:r>
          </a:p>
        </p:txBody>
      </p:sp>
      <p:sp>
        <p:nvSpPr>
          <p:cNvPr id="3" name="Content Placeholder 2">
            <a:extLst>
              <a:ext uri="{FF2B5EF4-FFF2-40B4-BE49-F238E27FC236}">
                <a16:creationId xmlns:a16="http://schemas.microsoft.com/office/drawing/2014/main" id="{9752CDC6-8E3A-9C79-CF45-51E436C03DDF}"/>
              </a:ext>
            </a:extLst>
          </p:cNvPr>
          <p:cNvSpPr>
            <a:spLocks noGrp="1"/>
          </p:cNvSpPr>
          <p:nvPr>
            <p:ph idx="1"/>
          </p:nvPr>
        </p:nvSpPr>
        <p:spPr>
          <a:xfrm>
            <a:off x="95250" y="533399"/>
            <a:ext cx="6276975" cy="6324601"/>
          </a:xfrm>
        </p:spPr>
        <p:txBody>
          <a:bodyPr>
            <a:normAutofit/>
          </a:bodyPr>
          <a:lstStyle/>
          <a:p>
            <a:r>
              <a:rPr lang="en-US" sz="1600"/>
              <a:t>VendorRequest</a:t>
            </a:r>
          </a:p>
          <a:p>
            <a:pPr lvl="1"/>
            <a:r>
              <a:rPr lang="en-US" sz="1600">
                <a:solidFill>
                  <a:srgbClr val="FFFF00"/>
                </a:solidFill>
              </a:rPr>
              <a:t>StatusCode</a:t>
            </a:r>
            <a:r>
              <a:rPr lang="en-US" sz="1600"/>
              <a:t>: 7</a:t>
            </a:r>
          </a:p>
          <a:p>
            <a:r>
              <a:rPr lang="en-US" sz="1600"/>
              <a:t>Deportation</a:t>
            </a:r>
          </a:p>
          <a:p>
            <a:pPr lvl="1"/>
            <a:r>
              <a:rPr lang="en-US" sz="1600" b="1">
                <a:solidFill>
                  <a:srgbClr val="FFFF00"/>
                </a:solidFill>
              </a:rPr>
              <a:t>Name_step_from</a:t>
            </a:r>
            <a:r>
              <a:rPr lang="en-US" sz="1600"/>
              <a:t>: </a:t>
            </a:r>
            <a:r>
              <a:rPr lang="ar-EG" sz="1600" b="1"/>
              <a:t>مراجعة </a:t>
            </a:r>
            <a:r>
              <a:rPr lang="en-US" sz="1600" b="1"/>
              <a:t>AML</a:t>
            </a:r>
            <a:endParaRPr lang="en-US" sz="1600"/>
          </a:p>
          <a:p>
            <a:pPr lvl="1"/>
            <a:r>
              <a:rPr lang="en-US" sz="1600" b="1">
                <a:solidFill>
                  <a:srgbClr val="FFFF00"/>
                </a:solidFill>
              </a:rPr>
              <a:t>Name_step_to</a:t>
            </a:r>
            <a:r>
              <a:rPr lang="en-US" sz="1600"/>
              <a:t>: NULL</a:t>
            </a:r>
          </a:p>
          <a:p>
            <a:pPr lvl="1"/>
            <a:r>
              <a:rPr lang="en-US" sz="1600" b="1">
                <a:solidFill>
                  <a:srgbClr val="FFFF00"/>
                </a:solidFill>
              </a:rPr>
              <a:t>Status_one</a:t>
            </a:r>
            <a:r>
              <a:rPr lang="en-US" sz="1600"/>
              <a:t>: “Final Reject”</a:t>
            </a:r>
          </a:p>
          <a:p>
            <a:pPr lvl="1"/>
            <a:r>
              <a:rPr lang="en-US" sz="1600" b="1">
                <a:solidFill>
                  <a:srgbClr val="FFFF00"/>
                </a:solidFill>
              </a:rPr>
              <a:t>Status_two</a:t>
            </a:r>
            <a:r>
              <a:rPr lang="en-US" sz="1600"/>
              <a:t>: NULL</a:t>
            </a:r>
          </a:p>
          <a:p>
            <a:pPr lvl="1"/>
            <a:r>
              <a:rPr lang="en-US" sz="1600" b="1">
                <a:solidFill>
                  <a:srgbClr val="FFFF00"/>
                </a:solidFill>
              </a:rPr>
              <a:t>UserId_from </a:t>
            </a:r>
            <a:r>
              <a:rPr lang="en-US" sz="1600"/>
              <a:t>: Id of current </a:t>
            </a:r>
            <a:r>
              <a:rPr lang="ar-EG" sz="1600"/>
              <a:t>مشرف مخاطر الإتمان</a:t>
            </a:r>
          </a:p>
          <a:p>
            <a:pPr lvl="1"/>
            <a:r>
              <a:rPr lang="en-US" sz="1600" b="1">
                <a:solidFill>
                  <a:srgbClr val="FFFF00"/>
                </a:solidFill>
              </a:rPr>
              <a:t>UserId_to</a:t>
            </a:r>
            <a:r>
              <a:rPr lang="en-US" sz="1600"/>
              <a:t>: </a:t>
            </a:r>
            <a:r>
              <a:rPr lang="en-US"/>
              <a:t>BM_ID</a:t>
            </a:r>
            <a:endParaRPr lang="en-US" sz="1600"/>
          </a:p>
          <a:p>
            <a:r>
              <a:rPr lang="en-US" sz="1600"/>
              <a:t>Log</a:t>
            </a:r>
          </a:p>
          <a:p>
            <a:pPr lvl="1"/>
            <a:r>
              <a:rPr lang="en-US" sz="1600"/>
              <a:t>Last Log:</a:t>
            </a:r>
          </a:p>
          <a:p>
            <a:pPr lvl="2"/>
            <a:r>
              <a:rPr lang="en-US" b="1">
                <a:solidFill>
                  <a:srgbClr val="FFFF00"/>
                </a:solidFill>
              </a:rPr>
              <a:t>Action_Flag</a:t>
            </a:r>
            <a:r>
              <a:rPr lang="en-US"/>
              <a:t>: 2   </a:t>
            </a:r>
            <a:r>
              <a:rPr lang="ar-EG"/>
              <a:t>رفض نهائي</a:t>
            </a:r>
          </a:p>
          <a:p>
            <a:pPr lvl="1"/>
            <a:r>
              <a:rPr lang="en-US" sz="1600"/>
              <a:t>New log</a:t>
            </a:r>
          </a:p>
          <a:p>
            <a:pPr lvl="2"/>
            <a:r>
              <a:rPr lang="en-US" b="1">
                <a:solidFill>
                  <a:srgbClr val="FFFF00"/>
                </a:solidFill>
              </a:rPr>
              <a:t>UserId</a:t>
            </a:r>
            <a:r>
              <a:rPr lang="en-US"/>
              <a:t>: BM_ID // this always like UserId_to</a:t>
            </a:r>
          </a:p>
          <a:p>
            <a:pPr lvl="2"/>
            <a:r>
              <a:rPr lang="en-US" b="1">
                <a:solidFill>
                  <a:srgbClr val="FFFF00"/>
                </a:solidFill>
              </a:rPr>
              <a:t>Step_name</a:t>
            </a:r>
            <a:r>
              <a:rPr lang="en-US"/>
              <a:t>: </a:t>
            </a:r>
            <a:r>
              <a:rPr lang="ar-EG"/>
              <a:t>تسجيل مورد</a:t>
            </a:r>
            <a:endParaRPr lang="en-US"/>
          </a:p>
          <a:p>
            <a:pPr lvl="2"/>
            <a:r>
              <a:rPr lang="en-US" b="1">
                <a:solidFill>
                  <a:srgbClr val="FFFF00"/>
                </a:solidFill>
              </a:rPr>
              <a:t>Definition_number</a:t>
            </a:r>
            <a:r>
              <a:rPr lang="en-US"/>
              <a:t>: </a:t>
            </a:r>
            <a:r>
              <a:rPr lang="en-US" b="1">
                <a:solidFill>
                  <a:srgbClr val="00B0F0"/>
                </a:solidFill>
              </a:rPr>
              <a:t>BM1010</a:t>
            </a:r>
            <a:endParaRPr lang="en-US"/>
          </a:p>
        </p:txBody>
      </p:sp>
      <p:sp>
        <p:nvSpPr>
          <p:cNvPr id="4" name="Content Placeholder 2">
            <a:extLst>
              <a:ext uri="{FF2B5EF4-FFF2-40B4-BE49-F238E27FC236}">
                <a16:creationId xmlns:a16="http://schemas.microsoft.com/office/drawing/2014/main" id="{21DB3F78-6241-877B-01FC-41BDC28BE93E}"/>
              </a:ext>
            </a:extLst>
          </p:cNvPr>
          <p:cNvSpPr txBox="1">
            <a:spLocks/>
          </p:cNvSpPr>
          <p:nvPr/>
        </p:nvSpPr>
        <p:spPr>
          <a:xfrm>
            <a:off x="6543676" y="533400"/>
            <a:ext cx="5352532" cy="616267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a:t>Vendors_Rejections_main</a:t>
            </a:r>
          </a:p>
          <a:p>
            <a:pPr lvl="1"/>
            <a:r>
              <a:rPr lang="en-US" b="1">
                <a:solidFill>
                  <a:srgbClr val="FFFF00"/>
                </a:solidFill>
              </a:rPr>
              <a:t>Rejection_flag</a:t>
            </a:r>
            <a:r>
              <a:rPr lang="en-US"/>
              <a:t>: 1 [note: 2 reject]</a:t>
            </a:r>
          </a:p>
          <a:p>
            <a:pPr lvl="1"/>
            <a:r>
              <a:rPr lang="en-US" b="1">
                <a:solidFill>
                  <a:srgbClr val="FFFF00"/>
                </a:solidFill>
              </a:rPr>
              <a:t>Remarks</a:t>
            </a:r>
            <a:r>
              <a:rPr lang="en-US"/>
              <a:t>: optional</a:t>
            </a:r>
          </a:p>
          <a:p>
            <a:pPr lvl="1"/>
            <a:r>
              <a:rPr lang="en-US" b="1">
                <a:solidFill>
                  <a:srgbClr val="FFFF00"/>
                </a:solidFill>
              </a:rPr>
              <a:t>UserId</a:t>
            </a:r>
            <a:r>
              <a:rPr lang="en-US"/>
              <a:t>: like UserIdFrom [the one who reject]</a:t>
            </a:r>
          </a:p>
          <a:p>
            <a:pPr lvl="1"/>
            <a:r>
              <a:rPr lang="en-US" b="1">
                <a:solidFill>
                  <a:srgbClr val="FFFF00"/>
                </a:solidFill>
              </a:rPr>
              <a:t>Reject_by_phase</a:t>
            </a:r>
            <a:r>
              <a:rPr lang="en-US"/>
              <a:t>: AML1030</a:t>
            </a:r>
          </a:p>
          <a:p>
            <a:pPr lvl="1"/>
            <a:r>
              <a:rPr lang="en-US" b="1">
                <a:solidFill>
                  <a:srgbClr val="FFFF00"/>
                </a:solidFill>
              </a:rPr>
              <a:t>InsertDate</a:t>
            </a:r>
            <a:r>
              <a:rPr lang="en-US"/>
              <a:t>: DateTime.Now</a:t>
            </a:r>
          </a:p>
        </p:txBody>
      </p:sp>
    </p:spTree>
    <p:extLst>
      <p:ext uri="{BB962C8B-B14F-4D97-AF65-F5344CB8AC3E}">
        <p14:creationId xmlns:p14="http://schemas.microsoft.com/office/powerpoint/2010/main" val="413269448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92FD5-0AFE-9CAC-B0E0-68E949A7080C}"/>
              </a:ext>
            </a:extLst>
          </p:cNvPr>
          <p:cNvSpPr>
            <a:spLocks noGrp="1"/>
          </p:cNvSpPr>
          <p:nvPr>
            <p:ph type="title"/>
          </p:nvPr>
        </p:nvSpPr>
        <p:spPr>
          <a:xfrm>
            <a:off x="913795" y="0"/>
            <a:ext cx="10353762" cy="704850"/>
          </a:xfrm>
        </p:spPr>
        <p:txBody>
          <a:bodyPr/>
          <a:lstStyle/>
          <a:p>
            <a:r>
              <a:rPr lang="en-US"/>
              <a:t>After Accept Vendor at AML Step</a:t>
            </a:r>
          </a:p>
        </p:txBody>
      </p:sp>
      <p:sp>
        <p:nvSpPr>
          <p:cNvPr id="3" name="Content Placeholder 2">
            <a:extLst>
              <a:ext uri="{FF2B5EF4-FFF2-40B4-BE49-F238E27FC236}">
                <a16:creationId xmlns:a16="http://schemas.microsoft.com/office/drawing/2014/main" id="{EDA5BFDB-414E-4E21-E392-A396559FF50F}"/>
              </a:ext>
            </a:extLst>
          </p:cNvPr>
          <p:cNvSpPr>
            <a:spLocks noGrp="1"/>
          </p:cNvSpPr>
          <p:nvPr>
            <p:ph idx="1"/>
          </p:nvPr>
        </p:nvSpPr>
        <p:spPr>
          <a:xfrm>
            <a:off x="285750" y="704850"/>
            <a:ext cx="11725275" cy="6076949"/>
          </a:xfrm>
        </p:spPr>
        <p:txBody>
          <a:bodyPr/>
          <a:lstStyle/>
          <a:p>
            <a:r>
              <a:rPr lang="en-US" sz="1600"/>
              <a:t>VendorRequest</a:t>
            </a:r>
          </a:p>
          <a:p>
            <a:pPr lvl="1"/>
            <a:r>
              <a:rPr lang="en-US" sz="1600">
                <a:solidFill>
                  <a:srgbClr val="FFFF00"/>
                </a:solidFill>
              </a:rPr>
              <a:t>StatusCode</a:t>
            </a:r>
            <a:r>
              <a:rPr lang="en-US" sz="1600"/>
              <a:t>: 4</a:t>
            </a:r>
          </a:p>
          <a:p>
            <a:r>
              <a:rPr lang="en-US" sz="1600"/>
              <a:t>Deportation</a:t>
            </a:r>
          </a:p>
          <a:p>
            <a:pPr lvl="1"/>
            <a:r>
              <a:rPr lang="en-US" sz="1600" b="1">
                <a:solidFill>
                  <a:srgbClr val="FFFF00"/>
                </a:solidFill>
              </a:rPr>
              <a:t>Name_step_from</a:t>
            </a:r>
            <a:r>
              <a:rPr lang="en-US" sz="1600"/>
              <a:t>: </a:t>
            </a:r>
            <a:r>
              <a:rPr lang="ar-EG" sz="1600"/>
              <a:t>مراجعة </a:t>
            </a:r>
            <a:r>
              <a:rPr lang="en-US" sz="1600"/>
              <a:t>AML</a:t>
            </a:r>
          </a:p>
          <a:p>
            <a:pPr lvl="1"/>
            <a:r>
              <a:rPr lang="en-US" sz="1600" b="1">
                <a:solidFill>
                  <a:srgbClr val="FFFF00"/>
                </a:solidFill>
              </a:rPr>
              <a:t>Name_step_to</a:t>
            </a:r>
            <a:r>
              <a:rPr lang="en-US" sz="1600"/>
              <a:t>: </a:t>
            </a:r>
            <a:r>
              <a:rPr lang="ar-EG" sz="1600"/>
              <a:t>حسابات</a:t>
            </a:r>
            <a:endParaRPr lang="en-US" sz="1600"/>
          </a:p>
          <a:p>
            <a:pPr lvl="1"/>
            <a:r>
              <a:rPr lang="en-US" sz="1600" b="1">
                <a:solidFill>
                  <a:srgbClr val="FFFF00"/>
                </a:solidFill>
              </a:rPr>
              <a:t>Status_one</a:t>
            </a:r>
            <a:r>
              <a:rPr lang="en-US" sz="1600"/>
              <a:t>: “Approved”</a:t>
            </a:r>
          </a:p>
          <a:p>
            <a:pPr lvl="1"/>
            <a:r>
              <a:rPr lang="en-US" sz="1600" b="1">
                <a:solidFill>
                  <a:srgbClr val="FFFF00"/>
                </a:solidFill>
              </a:rPr>
              <a:t>Status_two</a:t>
            </a:r>
            <a:r>
              <a:rPr lang="en-US" sz="1600"/>
              <a:t>: ACC1040</a:t>
            </a:r>
          </a:p>
          <a:p>
            <a:pPr lvl="1"/>
            <a:r>
              <a:rPr lang="en-US" sz="1600" b="1">
                <a:solidFill>
                  <a:srgbClr val="FFFF00"/>
                </a:solidFill>
              </a:rPr>
              <a:t>UserId_from </a:t>
            </a:r>
            <a:r>
              <a:rPr lang="en-US" sz="1600"/>
              <a:t>: Id of current </a:t>
            </a:r>
            <a:r>
              <a:rPr lang="ar-EG" sz="1600"/>
              <a:t>مشرف مخاطر الإتمان</a:t>
            </a:r>
          </a:p>
          <a:p>
            <a:pPr lvl="1"/>
            <a:r>
              <a:rPr lang="en-US" sz="1600" b="1">
                <a:solidFill>
                  <a:srgbClr val="FFFF00"/>
                </a:solidFill>
              </a:rPr>
              <a:t>UserId_to</a:t>
            </a:r>
            <a:r>
              <a:rPr lang="en-US" sz="1600"/>
              <a:t>: NULL</a:t>
            </a:r>
          </a:p>
          <a:p>
            <a:r>
              <a:rPr lang="en-US" sz="1600"/>
              <a:t>Log</a:t>
            </a:r>
          </a:p>
          <a:p>
            <a:pPr lvl="1"/>
            <a:r>
              <a:rPr lang="en-US" sz="1600"/>
              <a:t>Last Log:</a:t>
            </a:r>
          </a:p>
          <a:p>
            <a:pPr lvl="2"/>
            <a:r>
              <a:rPr lang="en-US" b="1">
                <a:solidFill>
                  <a:srgbClr val="FFFF00"/>
                </a:solidFill>
              </a:rPr>
              <a:t>Action_Flag</a:t>
            </a:r>
            <a:r>
              <a:rPr lang="en-US"/>
              <a:t>: </a:t>
            </a:r>
            <a:r>
              <a:rPr lang="ar-EG"/>
              <a:t>5</a:t>
            </a:r>
            <a:r>
              <a:rPr lang="en-US"/>
              <a:t>   </a:t>
            </a:r>
            <a:r>
              <a:rPr lang="ar-EG"/>
              <a:t>موافقة</a:t>
            </a:r>
          </a:p>
          <a:p>
            <a:pPr lvl="1"/>
            <a:r>
              <a:rPr lang="en-US" sz="1600"/>
              <a:t>New log</a:t>
            </a:r>
          </a:p>
          <a:p>
            <a:pPr lvl="2"/>
            <a:r>
              <a:rPr lang="en-US" b="1">
                <a:solidFill>
                  <a:srgbClr val="FFFF00"/>
                </a:solidFill>
              </a:rPr>
              <a:t>UserId</a:t>
            </a:r>
            <a:r>
              <a:rPr lang="en-US"/>
              <a:t>: NULL // this always like UserId_to</a:t>
            </a:r>
          </a:p>
          <a:p>
            <a:pPr lvl="2"/>
            <a:r>
              <a:rPr lang="en-US" b="1">
                <a:solidFill>
                  <a:srgbClr val="FFFF00"/>
                </a:solidFill>
              </a:rPr>
              <a:t>Step_name</a:t>
            </a:r>
            <a:r>
              <a:rPr lang="en-US"/>
              <a:t>: </a:t>
            </a:r>
            <a:r>
              <a:rPr lang="ar-EG"/>
              <a:t>حسابات</a:t>
            </a:r>
            <a:endParaRPr lang="en-US"/>
          </a:p>
          <a:p>
            <a:pPr lvl="2"/>
            <a:r>
              <a:rPr lang="en-US" b="1">
                <a:solidFill>
                  <a:srgbClr val="FFFF00"/>
                </a:solidFill>
              </a:rPr>
              <a:t>Definition_number</a:t>
            </a:r>
            <a:r>
              <a:rPr lang="en-US"/>
              <a:t>: </a:t>
            </a:r>
            <a:r>
              <a:rPr lang="en-US" b="1">
                <a:solidFill>
                  <a:srgbClr val="00B0F0"/>
                </a:solidFill>
              </a:rPr>
              <a:t>ACC1040</a:t>
            </a:r>
            <a:endParaRPr lang="en-US"/>
          </a:p>
        </p:txBody>
      </p:sp>
    </p:spTree>
    <p:extLst>
      <p:ext uri="{BB962C8B-B14F-4D97-AF65-F5344CB8AC3E}">
        <p14:creationId xmlns:p14="http://schemas.microsoft.com/office/powerpoint/2010/main" val="70761455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11008-3743-115B-28E6-DB5ADD1F5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B2D2E-C8F7-1A05-0D50-E182C0480498}"/>
              </a:ext>
            </a:extLst>
          </p:cNvPr>
          <p:cNvSpPr>
            <a:spLocks noGrp="1"/>
          </p:cNvSpPr>
          <p:nvPr>
            <p:ph type="title"/>
          </p:nvPr>
        </p:nvSpPr>
        <p:spPr>
          <a:xfrm>
            <a:off x="913795" y="0"/>
            <a:ext cx="10353762" cy="704850"/>
          </a:xfrm>
        </p:spPr>
        <p:txBody>
          <a:bodyPr/>
          <a:lstStyle/>
          <a:p>
            <a:r>
              <a:rPr lang="en-US"/>
              <a:t>After Accept Vendor at Account Step</a:t>
            </a:r>
          </a:p>
        </p:txBody>
      </p:sp>
      <p:sp>
        <p:nvSpPr>
          <p:cNvPr id="3" name="Content Placeholder 2">
            <a:extLst>
              <a:ext uri="{FF2B5EF4-FFF2-40B4-BE49-F238E27FC236}">
                <a16:creationId xmlns:a16="http://schemas.microsoft.com/office/drawing/2014/main" id="{CECA8541-220D-4968-B015-993B393F918A}"/>
              </a:ext>
            </a:extLst>
          </p:cNvPr>
          <p:cNvSpPr>
            <a:spLocks noGrp="1"/>
          </p:cNvSpPr>
          <p:nvPr>
            <p:ph idx="1"/>
          </p:nvPr>
        </p:nvSpPr>
        <p:spPr>
          <a:xfrm>
            <a:off x="285750" y="704850"/>
            <a:ext cx="11725275" cy="6076949"/>
          </a:xfrm>
        </p:spPr>
        <p:txBody>
          <a:bodyPr/>
          <a:lstStyle/>
          <a:p>
            <a:r>
              <a:rPr lang="en-US" sz="1600"/>
              <a:t>VendorRequest</a:t>
            </a:r>
          </a:p>
          <a:p>
            <a:pPr lvl="1"/>
            <a:r>
              <a:rPr lang="en-US" sz="1600">
                <a:solidFill>
                  <a:srgbClr val="FFFF00"/>
                </a:solidFill>
              </a:rPr>
              <a:t>StatusCode</a:t>
            </a:r>
            <a:r>
              <a:rPr lang="en-US" sz="1600"/>
              <a:t>: 5</a:t>
            </a:r>
          </a:p>
          <a:p>
            <a:r>
              <a:rPr lang="en-US" sz="1600"/>
              <a:t>Deportation</a:t>
            </a:r>
          </a:p>
          <a:p>
            <a:pPr lvl="1"/>
            <a:r>
              <a:rPr lang="en-US" sz="1600" b="1">
                <a:solidFill>
                  <a:srgbClr val="FFFF00"/>
                </a:solidFill>
              </a:rPr>
              <a:t>Name_step_from</a:t>
            </a:r>
            <a:r>
              <a:rPr lang="en-US" sz="1600"/>
              <a:t>: </a:t>
            </a:r>
            <a:r>
              <a:rPr lang="ar-EG" sz="1600"/>
              <a:t>حسابات</a:t>
            </a:r>
            <a:endParaRPr lang="en-US" sz="1600"/>
          </a:p>
          <a:p>
            <a:pPr lvl="1"/>
            <a:r>
              <a:rPr lang="en-US" sz="1600" b="1">
                <a:solidFill>
                  <a:srgbClr val="FFFF00"/>
                </a:solidFill>
              </a:rPr>
              <a:t>Name_step_to</a:t>
            </a:r>
            <a:r>
              <a:rPr lang="en-US" sz="1600"/>
              <a:t>: NULL</a:t>
            </a:r>
          </a:p>
          <a:p>
            <a:pPr lvl="1"/>
            <a:r>
              <a:rPr lang="en-US" sz="1600" b="1">
                <a:solidFill>
                  <a:srgbClr val="FFFF00"/>
                </a:solidFill>
              </a:rPr>
              <a:t>Status_one</a:t>
            </a:r>
            <a:r>
              <a:rPr lang="en-US" sz="1600"/>
              <a:t>: “Approved”</a:t>
            </a:r>
          </a:p>
          <a:p>
            <a:pPr lvl="1"/>
            <a:r>
              <a:rPr lang="en-US" sz="1600" b="1">
                <a:solidFill>
                  <a:srgbClr val="FFFF00"/>
                </a:solidFill>
              </a:rPr>
              <a:t>Status_two</a:t>
            </a:r>
            <a:r>
              <a:rPr lang="en-US" sz="1600"/>
              <a:t>: Active</a:t>
            </a:r>
          </a:p>
          <a:p>
            <a:pPr lvl="1"/>
            <a:r>
              <a:rPr lang="en-US" sz="1600" b="1">
                <a:solidFill>
                  <a:srgbClr val="FFFF00"/>
                </a:solidFill>
              </a:rPr>
              <a:t>UserId_from </a:t>
            </a:r>
            <a:r>
              <a:rPr lang="en-US" sz="1600"/>
              <a:t>: Id of Account user [</a:t>
            </a:r>
            <a:r>
              <a:rPr lang="ar-EG" sz="1600"/>
              <a:t>الحسابات</a:t>
            </a:r>
            <a:r>
              <a:rPr lang="en-US" sz="1600"/>
              <a:t>]</a:t>
            </a:r>
            <a:endParaRPr lang="ar-EG" sz="1600"/>
          </a:p>
          <a:p>
            <a:pPr lvl="1"/>
            <a:r>
              <a:rPr lang="en-US" sz="1600" b="1">
                <a:solidFill>
                  <a:srgbClr val="FFFF00"/>
                </a:solidFill>
              </a:rPr>
              <a:t>UserId_to</a:t>
            </a:r>
            <a:r>
              <a:rPr lang="en-US" sz="1600"/>
              <a:t>: NULL</a:t>
            </a:r>
          </a:p>
          <a:p>
            <a:r>
              <a:rPr lang="en-US" sz="1600"/>
              <a:t>Log</a:t>
            </a:r>
          </a:p>
          <a:p>
            <a:pPr lvl="1"/>
            <a:r>
              <a:rPr lang="en-US" sz="1600"/>
              <a:t>Last Log:</a:t>
            </a:r>
          </a:p>
          <a:p>
            <a:pPr lvl="2"/>
            <a:r>
              <a:rPr lang="en-US" b="1">
                <a:solidFill>
                  <a:srgbClr val="FFFF00"/>
                </a:solidFill>
              </a:rPr>
              <a:t>Action_Flag</a:t>
            </a:r>
            <a:r>
              <a:rPr lang="en-US"/>
              <a:t>: </a:t>
            </a:r>
            <a:r>
              <a:rPr lang="ar-EG"/>
              <a:t>5</a:t>
            </a:r>
            <a:r>
              <a:rPr lang="en-US"/>
              <a:t>   </a:t>
            </a:r>
            <a:r>
              <a:rPr lang="ar-EG"/>
              <a:t>موافقة</a:t>
            </a:r>
          </a:p>
        </p:txBody>
      </p:sp>
    </p:spTree>
    <p:extLst>
      <p:ext uri="{BB962C8B-B14F-4D97-AF65-F5344CB8AC3E}">
        <p14:creationId xmlns:p14="http://schemas.microsoft.com/office/powerpoint/2010/main" val="136974794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FE0F-82A3-B548-752C-3287668E2171}"/>
              </a:ext>
            </a:extLst>
          </p:cNvPr>
          <p:cNvSpPr>
            <a:spLocks noGrp="1"/>
          </p:cNvSpPr>
          <p:nvPr>
            <p:ph type="title"/>
          </p:nvPr>
        </p:nvSpPr>
        <p:spPr>
          <a:xfrm>
            <a:off x="919119" y="0"/>
            <a:ext cx="10353762" cy="749030"/>
          </a:xfrm>
        </p:spPr>
        <p:txBody>
          <a:bodyPr/>
          <a:lstStyle/>
          <a:p>
            <a:r>
              <a:rPr lang="en-US"/>
              <a:t>Save and send at vendor docs tab</a:t>
            </a:r>
          </a:p>
        </p:txBody>
      </p:sp>
      <p:sp>
        <p:nvSpPr>
          <p:cNvPr id="3" name="Content Placeholder 2">
            <a:extLst>
              <a:ext uri="{FF2B5EF4-FFF2-40B4-BE49-F238E27FC236}">
                <a16:creationId xmlns:a16="http://schemas.microsoft.com/office/drawing/2014/main" id="{43A2FF33-136D-E173-0930-14EF548926E2}"/>
              </a:ext>
            </a:extLst>
          </p:cNvPr>
          <p:cNvSpPr>
            <a:spLocks noGrp="1"/>
          </p:cNvSpPr>
          <p:nvPr>
            <p:ph idx="1"/>
          </p:nvPr>
        </p:nvSpPr>
        <p:spPr>
          <a:xfrm>
            <a:off x="350196" y="749031"/>
            <a:ext cx="11274357" cy="5710136"/>
          </a:xfrm>
        </p:spPr>
        <p:txBody>
          <a:bodyPr/>
          <a:lstStyle/>
          <a:p>
            <a:r>
              <a:rPr lang="en-US"/>
              <a:t>SQL CODE</a:t>
            </a:r>
          </a:p>
          <a:p>
            <a:pPr lvl="1"/>
            <a:r>
              <a:rPr lang="en-US"/>
              <a:t>update SWF.Flow_Vendor_Request set StatusCode = 2  where VendorId=44</a:t>
            </a:r>
          </a:p>
          <a:p>
            <a:pPr lvl="1"/>
            <a:r>
              <a:rPr lang="en-US"/>
              <a:t>update SWF.Flow_Vendor_Deportation</a:t>
            </a:r>
          </a:p>
          <a:p>
            <a:pPr lvl="2"/>
            <a:r>
              <a:rPr lang="en-US"/>
              <a:t>set UserId_TO = Null, UserId_from = 1520, Name_step_from=N'</a:t>
            </a:r>
            <a:r>
              <a:rPr lang="ar-EG"/>
              <a:t>تسجيل مورد', </a:t>
            </a:r>
          </a:p>
          <a:p>
            <a:pPr lvl="2"/>
            <a:r>
              <a:rPr lang="en-US"/>
              <a:t>Name_step_to = N'</a:t>
            </a:r>
            <a:r>
              <a:rPr lang="ar-EG"/>
              <a:t>مراجعة الائتمان', </a:t>
            </a:r>
            <a:r>
              <a:rPr lang="en-US"/>
              <a:t>Status_one = 'Approved',</a:t>
            </a:r>
          </a:p>
          <a:p>
            <a:pPr lvl="2"/>
            <a:r>
              <a:rPr lang="en-US"/>
              <a:t>Status_two='CD1020' where VendorId = 44</a:t>
            </a:r>
          </a:p>
          <a:p>
            <a:endParaRPr lang="en-US"/>
          </a:p>
        </p:txBody>
      </p:sp>
    </p:spTree>
    <p:extLst>
      <p:ext uri="{BB962C8B-B14F-4D97-AF65-F5344CB8AC3E}">
        <p14:creationId xmlns:p14="http://schemas.microsoft.com/office/powerpoint/2010/main" val="1948230153"/>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506C6-9953-FB00-E366-5C2C8CDE434A}"/>
              </a:ext>
            </a:extLst>
          </p:cNvPr>
          <p:cNvSpPr>
            <a:spLocks noGrp="1"/>
          </p:cNvSpPr>
          <p:nvPr>
            <p:ph type="title"/>
          </p:nvPr>
        </p:nvSpPr>
        <p:spPr/>
        <p:txBody>
          <a:bodyPr/>
          <a:lstStyle/>
          <a:p>
            <a:r>
              <a:rPr lang="en-US"/>
              <a:t>After AML Periodic update</a:t>
            </a:r>
          </a:p>
        </p:txBody>
      </p:sp>
      <p:sp>
        <p:nvSpPr>
          <p:cNvPr id="3" name="Content Placeholder 2">
            <a:extLst>
              <a:ext uri="{FF2B5EF4-FFF2-40B4-BE49-F238E27FC236}">
                <a16:creationId xmlns:a16="http://schemas.microsoft.com/office/drawing/2014/main" id="{AB17B320-D681-87D5-B00B-CF547C7C3FA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4195163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8CCB0-B3E5-EA5C-D5F2-98A0FA4A45A2}"/>
              </a:ext>
            </a:extLst>
          </p:cNvPr>
          <p:cNvSpPr>
            <a:spLocks noGrp="1"/>
          </p:cNvSpPr>
          <p:nvPr>
            <p:ph type="title"/>
          </p:nvPr>
        </p:nvSpPr>
        <p:spPr>
          <a:xfrm>
            <a:off x="913795" y="609599"/>
            <a:ext cx="10353762" cy="5197813"/>
          </a:xfrm>
        </p:spPr>
        <p:txBody>
          <a:bodyPr>
            <a:normAutofit/>
          </a:bodyPr>
          <a:lstStyle/>
          <a:p>
            <a:r>
              <a:rPr lang="en-US" sz="8800" b="1">
                <a:solidFill>
                  <a:srgbClr val="FF0000"/>
                </a:solidFill>
              </a:rPr>
              <a:t>End Vendor</a:t>
            </a:r>
          </a:p>
        </p:txBody>
      </p:sp>
    </p:spTree>
    <p:extLst>
      <p:ext uri="{BB962C8B-B14F-4D97-AF65-F5344CB8AC3E}">
        <p14:creationId xmlns:p14="http://schemas.microsoft.com/office/powerpoint/2010/main" val="3010248404"/>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12630-4E8D-DA1D-9B83-9AC9285C0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1557A4-72EA-4CAB-57D7-A5F117926134}"/>
              </a:ext>
            </a:extLst>
          </p:cNvPr>
          <p:cNvSpPr>
            <a:spLocks noGrp="1"/>
          </p:cNvSpPr>
          <p:nvPr>
            <p:ph type="title"/>
          </p:nvPr>
        </p:nvSpPr>
        <p:spPr>
          <a:xfrm>
            <a:off x="913795" y="609599"/>
            <a:ext cx="10353762" cy="5197813"/>
          </a:xfrm>
        </p:spPr>
        <p:txBody>
          <a:bodyPr>
            <a:normAutofit/>
          </a:bodyPr>
          <a:lstStyle/>
          <a:p>
            <a:r>
              <a:rPr lang="en-US" sz="8800" b="1">
                <a:solidFill>
                  <a:srgbClr val="FF0000"/>
                </a:solidFill>
              </a:rPr>
              <a:t>Start Revolving</a:t>
            </a:r>
          </a:p>
        </p:txBody>
      </p:sp>
    </p:spTree>
    <p:extLst>
      <p:ext uri="{BB962C8B-B14F-4D97-AF65-F5344CB8AC3E}">
        <p14:creationId xmlns:p14="http://schemas.microsoft.com/office/powerpoint/2010/main" val="1607145161"/>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022B-5C07-C3A2-070D-AD2BE376130A}"/>
              </a:ext>
            </a:extLst>
          </p:cNvPr>
          <p:cNvSpPr>
            <a:spLocks noGrp="1"/>
          </p:cNvSpPr>
          <p:nvPr>
            <p:ph type="title"/>
          </p:nvPr>
        </p:nvSpPr>
        <p:spPr>
          <a:xfrm>
            <a:off x="913795" y="0"/>
            <a:ext cx="10353762" cy="583660"/>
          </a:xfrm>
        </p:spPr>
        <p:txBody>
          <a:bodyPr>
            <a:normAutofit fontScale="90000"/>
          </a:bodyPr>
          <a:lstStyle/>
          <a:p>
            <a:r>
              <a:rPr lang="en-US">
                <a:effectLst/>
              </a:rPr>
              <a:t>إعدادات الريفولفينج</a:t>
            </a:r>
            <a:endParaRPr lang="en-US"/>
          </a:p>
        </p:txBody>
      </p:sp>
      <p:sp>
        <p:nvSpPr>
          <p:cNvPr id="3" name="Content Placeholder 2">
            <a:extLst>
              <a:ext uri="{FF2B5EF4-FFF2-40B4-BE49-F238E27FC236}">
                <a16:creationId xmlns:a16="http://schemas.microsoft.com/office/drawing/2014/main" id="{05551D34-CE2F-E54B-0339-CE870F685E1B}"/>
              </a:ext>
            </a:extLst>
          </p:cNvPr>
          <p:cNvSpPr>
            <a:spLocks noGrp="1"/>
          </p:cNvSpPr>
          <p:nvPr>
            <p:ph idx="1"/>
          </p:nvPr>
        </p:nvSpPr>
        <p:spPr>
          <a:xfrm>
            <a:off x="913795" y="583660"/>
            <a:ext cx="10353762" cy="5719863"/>
          </a:xfrm>
        </p:spPr>
        <p:txBody>
          <a:bodyPr/>
          <a:lstStyle/>
          <a:p>
            <a:pPr algn="r" rtl="1"/>
            <a:r>
              <a:rPr lang="en-US" b="1">
                <a:solidFill>
                  <a:srgbClr val="FFFF00"/>
                </a:solidFill>
                <a:effectLst/>
              </a:rPr>
              <a:t>الحد الأدنى لنسبة السداد من السحبة</a:t>
            </a:r>
            <a:r>
              <a:rPr lang="ar-EG" b="1">
                <a:effectLst/>
              </a:rPr>
              <a:t>: النسبة اللازم تسديدها من السحبة السابقة حتي يتم اجراء سحبة جديدة</a:t>
            </a:r>
          </a:p>
          <a:p>
            <a:pPr algn="r" rtl="1"/>
            <a:r>
              <a:rPr lang="en-US" b="1">
                <a:effectLst/>
              </a:rPr>
              <a:t>الحد الأقصى لعدد أيام التأخير للسحب</a:t>
            </a:r>
            <a:endParaRPr lang="ar-EG" b="1">
              <a:effectLst/>
            </a:endParaRPr>
          </a:p>
          <a:p>
            <a:pPr algn="r" rtl="1"/>
            <a:endParaRPr lang="en-US"/>
          </a:p>
        </p:txBody>
      </p:sp>
    </p:spTree>
    <p:extLst>
      <p:ext uri="{BB962C8B-B14F-4D97-AF65-F5344CB8AC3E}">
        <p14:creationId xmlns:p14="http://schemas.microsoft.com/office/powerpoint/2010/main" val="144508764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7D1A-F720-6F21-66C0-67C59F395C0B}"/>
              </a:ext>
            </a:extLst>
          </p:cNvPr>
          <p:cNvSpPr>
            <a:spLocks noGrp="1"/>
          </p:cNvSpPr>
          <p:nvPr>
            <p:ph type="title"/>
          </p:nvPr>
        </p:nvSpPr>
        <p:spPr>
          <a:xfrm>
            <a:off x="913795" y="0"/>
            <a:ext cx="10353762" cy="651753"/>
          </a:xfrm>
        </p:spPr>
        <p:txBody>
          <a:bodyPr>
            <a:normAutofit fontScale="90000"/>
          </a:bodyPr>
          <a:lstStyle/>
          <a:p>
            <a:r>
              <a:rPr lang="en-US"/>
              <a:t>Credit limit table</a:t>
            </a:r>
          </a:p>
        </p:txBody>
      </p:sp>
      <p:sp>
        <p:nvSpPr>
          <p:cNvPr id="3" name="Content Placeholder 2">
            <a:extLst>
              <a:ext uri="{FF2B5EF4-FFF2-40B4-BE49-F238E27FC236}">
                <a16:creationId xmlns:a16="http://schemas.microsoft.com/office/drawing/2014/main" id="{7A54B748-1769-13D8-DCBA-B110622E2AE5}"/>
              </a:ext>
            </a:extLst>
          </p:cNvPr>
          <p:cNvSpPr>
            <a:spLocks noGrp="1"/>
          </p:cNvSpPr>
          <p:nvPr>
            <p:ph idx="1"/>
          </p:nvPr>
        </p:nvSpPr>
        <p:spPr>
          <a:xfrm>
            <a:off x="175098" y="651753"/>
            <a:ext cx="11858017" cy="6089515"/>
          </a:xfrm>
        </p:spPr>
        <p:txBody>
          <a:bodyPr/>
          <a:lstStyle/>
          <a:p>
            <a:r>
              <a:rPr lang="en-US"/>
              <a:t>Drawdown no: </a:t>
            </a:r>
            <a:r>
              <a:rPr lang="ar-EG"/>
              <a:t>رقم السحبة</a:t>
            </a:r>
          </a:p>
          <a:p>
            <a:r>
              <a:rPr lang="en-US"/>
              <a:t>Drawdown Amount: </a:t>
            </a:r>
            <a:r>
              <a:rPr lang="ar-EG"/>
              <a:t>المبلغ الذي تم سحبه</a:t>
            </a:r>
            <a:r>
              <a:rPr lang="en-US"/>
              <a:t> </a:t>
            </a:r>
            <a:r>
              <a:rPr lang="en-US">
                <a:sym typeface="Wingdings" panose="05000000000000000000" pitchFamily="2" charset="2"/>
              </a:rPr>
              <a:t> [ 20,000] for example</a:t>
            </a:r>
            <a:endParaRPr lang="ar-EG"/>
          </a:p>
          <a:p>
            <a:r>
              <a:rPr lang="en-US"/>
              <a:t>Disbursement date: تاريخ صرف السحب</a:t>
            </a:r>
          </a:p>
          <a:p>
            <a:r>
              <a:rPr lang="en-US"/>
              <a:t>Tenor (in months): </a:t>
            </a:r>
            <a:r>
              <a:rPr lang="en-US" b="1"/>
              <a:t>مدة السداد بالشهور</a:t>
            </a:r>
          </a:p>
          <a:p>
            <a:r>
              <a:rPr lang="en-US"/>
              <a:t>Rate: </a:t>
            </a:r>
            <a:r>
              <a:rPr lang="en-US" b="1"/>
              <a:t>نسبة الفائد</a:t>
            </a:r>
          </a:p>
          <a:p>
            <a:r>
              <a:rPr lang="en-US"/>
              <a:t>Installment Amount: ده </a:t>
            </a:r>
            <a:r>
              <a:rPr lang="en-US" b="1"/>
              <a:t>قيمة القسط</a:t>
            </a:r>
            <a:r>
              <a:rPr lang="en-US"/>
              <a:t> الذي سيدفعه العميل</a:t>
            </a:r>
          </a:p>
          <a:p>
            <a:r>
              <a:rPr lang="en-US"/>
              <a:t>Total Amount [p+i]: P = Principal [أصل المبلغ] , I = Interest يعني الفائدة</a:t>
            </a:r>
            <a:r>
              <a:rPr lang="ar-EG"/>
              <a:t>  </a:t>
            </a:r>
            <a:r>
              <a:rPr lang="en-US"/>
              <a:t> </a:t>
            </a:r>
            <a:r>
              <a:rPr lang="en-US">
                <a:sym typeface="Wingdings" panose="05000000000000000000" pitchFamily="2" charset="2"/>
              </a:rPr>
              <a:t> </a:t>
            </a:r>
            <a:r>
              <a:rPr lang="en-US"/>
              <a:t>[إجمالي ما يجب سداده من البداية]</a:t>
            </a:r>
          </a:p>
          <a:p>
            <a:r>
              <a:rPr lang="en-US"/>
              <a:t>Debt Value: المبلغ الذي ما زال العميل مدينًا به ولم يتم سداده حتى الآن</a:t>
            </a:r>
          </a:p>
          <a:p>
            <a:r>
              <a:rPr lang="en-US"/>
              <a:t>Status</a:t>
            </a:r>
          </a:p>
          <a:p>
            <a:r>
              <a:rPr lang="en-US"/>
              <a:t>Expiration Date [Last Installment Date]</a:t>
            </a:r>
          </a:p>
          <a:p>
            <a:endParaRPr lang="en-US"/>
          </a:p>
        </p:txBody>
      </p:sp>
    </p:spTree>
    <p:extLst>
      <p:ext uri="{BB962C8B-B14F-4D97-AF65-F5344CB8AC3E}">
        <p14:creationId xmlns:p14="http://schemas.microsoft.com/office/powerpoint/2010/main" val="3020646179"/>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46BA3-FD43-80A3-1A0B-8CA68D3FE7A7}"/>
              </a:ext>
            </a:extLst>
          </p:cNvPr>
          <p:cNvSpPr>
            <a:spLocks noGrp="1"/>
          </p:cNvSpPr>
          <p:nvPr>
            <p:ph type="title"/>
          </p:nvPr>
        </p:nvSpPr>
        <p:spPr>
          <a:xfrm>
            <a:off x="854528" y="1"/>
            <a:ext cx="10353762" cy="635000"/>
          </a:xfrm>
        </p:spPr>
        <p:txBody>
          <a:bodyPr>
            <a:normAutofit fontScale="90000"/>
          </a:bodyPr>
          <a:lstStyle/>
          <a:p>
            <a:r>
              <a:rPr lang="en-US"/>
              <a:t>شاشة طلب سحب من الحد </a:t>
            </a:r>
            <a:r>
              <a:rPr lang="ar-EG"/>
              <a:t>الإ</a:t>
            </a:r>
            <a:r>
              <a:rPr lang="en-US"/>
              <a:t>ئتماني :</a:t>
            </a:r>
          </a:p>
        </p:txBody>
      </p:sp>
      <p:sp>
        <p:nvSpPr>
          <p:cNvPr id="3" name="Content Placeholder 2">
            <a:extLst>
              <a:ext uri="{FF2B5EF4-FFF2-40B4-BE49-F238E27FC236}">
                <a16:creationId xmlns:a16="http://schemas.microsoft.com/office/drawing/2014/main" id="{154D3C50-C066-656E-D543-2E43465CEB37}"/>
              </a:ext>
            </a:extLst>
          </p:cNvPr>
          <p:cNvSpPr>
            <a:spLocks noGrp="1"/>
          </p:cNvSpPr>
          <p:nvPr>
            <p:ph idx="1"/>
          </p:nvPr>
        </p:nvSpPr>
        <p:spPr>
          <a:xfrm>
            <a:off x="245533" y="635001"/>
            <a:ext cx="11700934" cy="6028266"/>
          </a:xfrm>
        </p:spPr>
        <p:txBody>
          <a:bodyPr/>
          <a:lstStyle/>
          <a:p>
            <a:r>
              <a:rPr lang="en-US"/>
              <a:t>Consist of two tabs</a:t>
            </a:r>
          </a:p>
          <a:p>
            <a:pPr lvl="1"/>
            <a:r>
              <a:rPr lang="en-US"/>
              <a:t>First: تسجيل طلب سحب من الحد </a:t>
            </a:r>
            <a:r>
              <a:rPr lang="ar-EG"/>
              <a:t>الإ</a:t>
            </a:r>
            <a:r>
              <a:rPr lang="en-US"/>
              <a:t>ئتماني </a:t>
            </a:r>
          </a:p>
          <a:p>
            <a:pPr lvl="1"/>
            <a:r>
              <a:rPr lang="en-US"/>
              <a:t>upload the required documents before submitting the request.</a:t>
            </a:r>
          </a:p>
          <a:p>
            <a:r>
              <a:rPr lang="en-US"/>
              <a:t>Request Num, Id is entered then Request Data is displayed</a:t>
            </a:r>
          </a:p>
          <a:p>
            <a:pPr algn="r" rtl="1"/>
            <a:r>
              <a:rPr lang="ar-EG"/>
              <a:t>رقم السحبة ,الرقم القومي ,إسم العميل </a:t>
            </a:r>
          </a:p>
          <a:p>
            <a:pPr algn="r" rtl="1"/>
            <a:r>
              <a:rPr lang="ar-EG"/>
              <a:t>إجمالي الحد الإتماني : </a:t>
            </a:r>
            <a:r>
              <a:rPr lang="en-US"/>
              <a:t>Approved Amount</a:t>
            </a:r>
          </a:p>
          <a:p>
            <a:pPr algn="r" rtl="1"/>
            <a:endParaRPr lang="en-US"/>
          </a:p>
        </p:txBody>
      </p:sp>
    </p:spTree>
    <p:extLst>
      <p:ext uri="{BB962C8B-B14F-4D97-AF65-F5344CB8AC3E}">
        <p14:creationId xmlns:p14="http://schemas.microsoft.com/office/powerpoint/2010/main" val="1793804616"/>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B420E-3C74-DB13-8B55-E0EAA35C4065}"/>
              </a:ext>
            </a:extLst>
          </p:cNvPr>
          <p:cNvSpPr>
            <a:spLocks noGrp="1"/>
          </p:cNvSpPr>
          <p:nvPr>
            <p:ph type="title"/>
          </p:nvPr>
        </p:nvSpPr>
        <p:spPr>
          <a:xfrm>
            <a:off x="913795" y="0"/>
            <a:ext cx="10353762" cy="622570"/>
          </a:xfrm>
        </p:spPr>
        <p:txBody>
          <a:bodyPr>
            <a:normAutofit fontScale="90000"/>
          </a:bodyPr>
          <a:lstStyle/>
          <a:p>
            <a:r>
              <a:rPr lang="en-US"/>
              <a:t>Drawdown status code</a:t>
            </a:r>
          </a:p>
        </p:txBody>
      </p:sp>
      <p:sp>
        <p:nvSpPr>
          <p:cNvPr id="3" name="Content Placeholder 2">
            <a:extLst>
              <a:ext uri="{FF2B5EF4-FFF2-40B4-BE49-F238E27FC236}">
                <a16:creationId xmlns:a16="http://schemas.microsoft.com/office/drawing/2014/main" id="{309332EA-BFB1-6A9B-472A-483061A096B0}"/>
              </a:ext>
            </a:extLst>
          </p:cNvPr>
          <p:cNvSpPr>
            <a:spLocks noGrp="1"/>
          </p:cNvSpPr>
          <p:nvPr>
            <p:ph idx="1"/>
          </p:nvPr>
        </p:nvSpPr>
        <p:spPr>
          <a:xfrm>
            <a:off x="428017" y="719847"/>
            <a:ext cx="11381362" cy="5768502"/>
          </a:xfrm>
        </p:spPr>
        <p:txBody>
          <a:bodyPr/>
          <a:lstStyle/>
          <a:p>
            <a:r>
              <a:rPr lang="en-US"/>
              <a:t>After save at </a:t>
            </a:r>
            <a:r>
              <a:rPr lang="ar-EG"/>
              <a:t>بيانات السحب الاتماني </a:t>
            </a:r>
            <a:r>
              <a:rPr lang="en-US"/>
              <a:t> StatusCode = 1 [</a:t>
            </a:r>
            <a:r>
              <a:rPr lang="ar-EG"/>
              <a:t>استكمال بيانات</a:t>
            </a:r>
            <a:r>
              <a:rPr lang="en-US"/>
              <a:t>]</a:t>
            </a:r>
          </a:p>
          <a:p>
            <a:r>
              <a:rPr lang="en-US"/>
              <a:t>After Save And Send in </a:t>
            </a:r>
            <a:r>
              <a:rPr lang="ar-EG"/>
              <a:t>بيانات السحبة </a:t>
            </a:r>
            <a:r>
              <a:rPr lang="en-US"/>
              <a:t> StatusCode = </a:t>
            </a:r>
            <a:r>
              <a:rPr lang="ar-EG"/>
              <a:t>2</a:t>
            </a:r>
            <a:r>
              <a:rPr lang="en-US"/>
              <a:t> [</a:t>
            </a:r>
            <a:r>
              <a:rPr lang="ar-EG"/>
              <a:t>مراجعة الائتمان</a:t>
            </a:r>
            <a:r>
              <a:rPr lang="en-US"/>
              <a:t>]</a:t>
            </a:r>
            <a:endParaRPr lang="ar-EG"/>
          </a:p>
          <a:p>
            <a:r>
              <a:rPr lang="en-US"/>
              <a:t>Approve At [ </a:t>
            </a:r>
            <a:r>
              <a:rPr lang="ar-EG"/>
              <a:t>مراجهة الاتمان</a:t>
            </a:r>
            <a:r>
              <a:rPr lang="en-US"/>
              <a:t> ] StatusCode </a:t>
            </a:r>
            <a:r>
              <a:rPr lang="ar-EG"/>
              <a:t> =</a:t>
            </a:r>
            <a:r>
              <a:rPr lang="en-US"/>
              <a:t>3 [</a:t>
            </a:r>
            <a:r>
              <a:rPr lang="ar-EG"/>
              <a:t>جاهز للصرف</a:t>
            </a:r>
            <a:r>
              <a:rPr lang="en-US"/>
              <a:t>]</a:t>
            </a:r>
          </a:p>
          <a:p>
            <a:r>
              <a:rPr lang="en-US"/>
              <a:t>Rejected at </a:t>
            </a:r>
            <a:r>
              <a:rPr lang="ar-EG"/>
              <a:t>مراجعة الاتمان </a:t>
            </a:r>
            <a:r>
              <a:rPr lang="en-US"/>
              <a:t>  status code = 5</a:t>
            </a:r>
            <a:endParaRPr lang="ar-EG"/>
          </a:p>
          <a:p>
            <a:r>
              <a:rPr lang="en-US"/>
              <a:t>Final Reject at </a:t>
            </a:r>
            <a:r>
              <a:rPr lang="ar-EG"/>
              <a:t>مراجعة الاتمان </a:t>
            </a:r>
            <a:r>
              <a:rPr lang="en-US"/>
              <a:t> status code = 19 </a:t>
            </a:r>
          </a:p>
          <a:p>
            <a:endParaRPr lang="en-US"/>
          </a:p>
          <a:p>
            <a:endParaRPr lang="en-US"/>
          </a:p>
        </p:txBody>
      </p:sp>
    </p:spTree>
    <p:extLst>
      <p:ext uri="{BB962C8B-B14F-4D97-AF65-F5344CB8AC3E}">
        <p14:creationId xmlns:p14="http://schemas.microsoft.com/office/powerpoint/2010/main" val="1018229156"/>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0F64-D6E8-1750-ED23-A19758BC5391}"/>
              </a:ext>
            </a:extLst>
          </p:cNvPr>
          <p:cNvSpPr>
            <a:spLocks noGrp="1"/>
          </p:cNvSpPr>
          <p:nvPr>
            <p:ph type="title"/>
          </p:nvPr>
        </p:nvSpPr>
        <p:spPr/>
        <p:txBody>
          <a:bodyPr/>
          <a:lstStyle/>
          <a:p>
            <a:r>
              <a:rPr lang="en-US"/>
              <a:t>CO </a:t>
            </a:r>
          </a:p>
        </p:txBody>
      </p:sp>
      <p:pic>
        <p:nvPicPr>
          <p:cNvPr id="5" name="Content Placeholder 4">
            <a:extLst>
              <a:ext uri="{FF2B5EF4-FFF2-40B4-BE49-F238E27FC236}">
                <a16:creationId xmlns:a16="http://schemas.microsoft.com/office/drawing/2014/main" id="{58A570DE-0117-0C94-0896-AB0E9E36C19A}"/>
              </a:ext>
            </a:extLst>
          </p:cNvPr>
          <p:cNvPicPr>
            <a:picLocks noGrp="1" noChangeAspect="1"/>
          </p:cNvPicPr>
          <p:nvPr>
            <p:ph idx="1"/>
          </p:nvPr>
        </p:nvPicPr>
        <p:blipFill>
          <a:blip r:embed="rId2"/>
          <a:stretch>
            <a:fillRect/>
          </a:stretch>
        </p:blipFill>
        <p:spPr>
          <a:xfrm>
            <a:off x="914400" y="2507296"/>
            <a:ext cx="10353675" cy="2508570"/>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960769080"/>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2AB5C-BC56-D3BD-BDEC-3BDF77F72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39E44-4394-1168-8841-0ECE874BAB4D}"/>
              </a:ext>
            </a:extLst>
          </p:cNvPr>
          <p:cNvSpPr>
            <a:spLocks noGrp="1"/>
          </p:cNvSpPr>
          <p:nvPr>
            <p:ph type="title"/>
          </p:nvPr>
        </p:nvSpPr>
        <p:spPr>
          <a:xfrm>
            <a:off x="913795" y="609599"/>
            <a:ext cx="10353762" cy="5197813"/>
          </a:xfrm>
        </p:spPr>
        <p:txBody>
          <a:bodyPr>
            <a:normAutofit/>
          </a:bodyPr>
          <a:lstStyle/>
          <a:p>
            <a:r>
              <a:rPr lang="en-US" sz="8800" b="1">
                <a:solidFill>
                  <a:srgbClr val="FF0000"/>
                </a:solidFill>
              </a:rPr>
              <a:t>End Revolving</a:t>
            </a:r>
          </a:p>
        </p:txBody>
      </p:sp>
    </p:spTree>
    <p:extLst>
      <p:ext uri="{BB962C8B-B14F-4D97-AF65-F5344CB8AC3E}">
        <p14:creationId xmlns:p14="http://schemas.microsoft.com/office/powerpoint/2010/main" val="88286738"/>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B166-A628-F119-5E62-84FFC28F90CB}"/>
              </a:ext>
            </a:extLst>
          </p:cNvPr>
          <p:cNvSpPr>
            <a:spLocks noGrp="1"/>
          </p:cNvSpPr>
          <p:nvPr>
            <p:ph type="title"/>
          </p:nvPr>
        </p:nvSpPr>
        <p:spPr>
          <a:xfrm>
            <a:off x="913795" y="0"/>
            <a:ext cx="10353762" cy="622570"/>
          </a:xfrm>
        </p:spPr>
        <p:txBody>
          <a:bodyPr>
            <a:normAutofit fontScale="90000"/>
          </a:bodyPr>
          <a:lstStyle/>
          <a:p>
            <a:r>
              <a:rPr lang="en-US"/>
              <a:t>SWF.Flow_LO_TO_CO</a:t>
            </a:r>
          </a:p>
        </p:txBody>
      </p:sp>
      <p:sp>
        <p:nvSpPr>
          <p:cNvPr id="3" name="Content Placeholder 2">
            <a:extLst>
              <a:ext uri="{FF2B5EF4-FFF2-40B4-BE49-F238E27FC236}">
                <a16:creationId xmlns:a16="http://schemas.microsoft.com/office/drawing/2014/main" id="{B624273D-8973-3B6E-683F-FA1CD5B252C8}"/>
              </a:ext>
            </a:extLst>
          </p:cNvPr>
          <p:cNvSpPr>
            <a:spLocks noGrp="1"/>
          </p:cNvSpPr>
          <p:nvPr>
            <p:ph idx="1"/>
          </p:nvPr>
        </p:nvSpPr>
        <p:spPr>
          <a:xfrm>
            <a:off x="145915" y="622570"/>
            <a:ext cx="11945566" cy="5943599"/>
          </a:xfrm>
        </p:spPr>
        <p:txBody>
          <a:bodyPr/>
          <a:lstStyle/>
          <a:p>
            <a:r>
              <a:rPr lang="en-US" b="1">
                <a:effectLst/>
              </a:rPr>
              <a:t>LO_CO_Id: int PK Identity</a:t>
            </a:r>
          </a:p>
          <a:p>
            <a:r>
              <a:rPr lang="en-US" b="1">
                <a:effectLst/>
              </a:rPr>
              <a:t>CO_User : FK from user</a:t>
            </a:r>
          </a:p>
          <a:p>
            <a:r>
              <a:rPr lang="en-US" b="1">
                <a:effectLst/>
              </a:rPr>
              <a:t>Manager_User: BM FK from user</a:t>
            </a:r>
          </a:p>
          <a:p>
            <a:r>
              <a:rPr lang="en-US" b="1">
                <a:effectLst/>
              </a:rPr>
              <a:t>BranchId : FK from branches</a:t>
            </a:r>
            <a:endParaRPr lang="en-US"/>
          </a:p>
        </p:txBody>
      </p:sp>
    </p:spTree>
    <p:extLst>
      <p:ext uri="{BB962C8B-B14F-4D97-AF65-F5344CB8AC3E}">
        <p14:creationId xmlns:p14="http://schemas.microsoft.com/office/powerpoint/2010/main" val="3030526729"/>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454C-54C4-EC4A-F7ED-374359F6FCF3}"/>
              </a:ext>
            </a:extLst>
          </p:cNvPr>
          <p:cNvSpPr>
            <a:spLocks noGrp="1"/>
          </p:cNvSpPr>
          <p:nvPr>
            <p:ph type="title"/>
          </p:nvPr>
        </p:nvSpPr>
        <p:spPr>
          <a:xfrm>
            <a:off x="913795" y="0"/>
            <a:ext cx="10353762" cy="651753"/>
          </a:xfrm>
        </p:spPr>
        <p:txBody>
          <a:bodyPr>
            <a:normAutofit fontScale="90000"/>
          </a:bodyPr>
          <a:lstStyle/>
          <a:p>
            <a:r>
              <a:rPr lang="ar-EG" b="1"/>
              <a:t>استبدال مدير الفرع</a:t>
            </a:r>
            <a:endParaRPr lang="en-US" b="1"/>
          </a:p>
        </p:txBody>
      </p:sp>
      <p:sp>
        <p:nvSpPr>
          <p:cNvPr id="3" name="Content Placeholder 2">
            <a:extLst>
              <a:ext uri="{FF2B5EF4-FFF2-40B4-BE49-F238E27FC236}">
                <a16:creationId xmlns:a16="http://schemas.microsoft.com/office/drawing/2014/main" id="{4B108314-2336-F9E8-5A87-504CC89B3A56}"/>
              </a:ext>
            </a:extLst>
          </p:cNvPr>
          <p:cNvSpPr>
            <a:spLocks noGrp="1"/>
          </p:cNvSpPr>
          <p:nvPr>
            <p:ph idx="1"/>
          </p:nvPr>
        </p:nvSpPr>
        <p:spPr>
          <a:xfrm>
            <a:off x="0" y="651753"/>
            <a:ext cx="12120664" cy="5943600"/>
          </a:xfrm>
        </p:spPr>
        <p:txBody>
          <a:bodyPr/>
          <a:lstStyle/>
          <a:p>
            <a:r>
              <a:rPr lang="en-US"/>
              <a:t>Choose branch from branches dropdown </a:t>
            </a:r>
            <a:r>
              <a:rPr lang="en-US">
                <a:sym typeface="Wingdings" panose="05000000000000000000" pitchFamily="2" charset="2"/>
              </a:rPr>
              <a:t> </a:t>
            </a:r>
            <a:r>
              <a:rPr lang="en-US" sz="1600" b="1">
                <a:effectLst/>
              </a:rPr>
              <a:t>Transactions/</a:t>
            </a:r>
            <a:r>
              <a:rPr lang="en-US" sz="1600" b="1">
                <a:solidFill>
                  <a:srgbClr val="FFFF00"/>
                </a:solidFill>
                <a:effectLst/>
              </a:rPr>
              <a:t>Flow_Replace_ManagerController</a:t>
            </a:r>
            <a:r>
              <a:rPr lang="en-US" sz="1600" b="1">
                <a:effectLst/>
              </a:rPr>
              <a:t>/GetOldNewManger</a:t>
            </a:r>
            <a:endParaRPr lang="en-US" b="1"/>
          </a:p>
          <a:p>
            <a:pPr lvl="1"/>
            <a:r>
              <a:rPr lang="en-US"/>
              <a:t>Get old BM Via LastOrDefault of LO_TO_CO where branchId equal the selected branchId</a:t>
            </a:r>
          </a:p>
          <a:p>
            <a:pPr lvl="1"/>
            <a:r>
              <a:rPr lang="en-US"/>
              <a:t>Get lookup.Users where jobId = 13 and branchId equal the selected branchId</a:t>
            </a:r>
          </a:p>
          <a:p>
            <a:pPr lvl="2"/>
            <a:r>
              <a:rPr lang="en-US" b="1"/>
              <a:t>If there is no users you get popup </a:t>
            </a:r>
            <a:r>
              <a:rPr lang="en-US" b="1">
                <a:effectLst/>
              </a:rPr>
              <a:t>لم يتم إسناد مدير الى هذا الفرع</a:t>
            </a:r>
          </a:p>
          <a:p>
            <a:pPr lvl="2"/>
            <a:r>
              <a:rPr lang="en-US" b="1">
                <a:effectLst/>
              </a:rPr>
              <a:t>The users where JobId = 13 (BM) is loaded into drop down</a:t>
            </a:r>
          </a:p>
          <a:p>
            <a:endParaRPr lang="en-US"/>
          </a:p>
          <a:p>
            <a:r>
              <a:rPr lang="en-US"/>
              <a:t>select user from drop down and Save</a:t>
            </a:r>
            <a:r>
              <a:rPr lang="ar-EG"/>
              <a:t> </a:t>
            </a:r>
            <a:r>
              <a:rPr lang="en-US">
                <a:sym typeface="Wingdings" panose="05000000000000000000" pitchFamily="2" charset="2"/>
              </a:rPr>
              <a:t> </a:t>
            </a:r>
            <a:r>
              <a:rPr lang="en-US" sz="1700" b="1">
                <a:effectLst/>
              </a:rPr>
              <a:t>Transactions/Flow_Replace_ManagerController/ReplaceBranchManager</a:t>
            </a:r>
            <a:endParaRPr lang="en-US" sz="1700" b="1"/>
          </a:p>
          <a:p>
            <a:pPr lvl="1"/>
            <a:r>
              <a:rPr lang="en-US" b="1"/>
              <a:t>Get BranchId of new of selected user </a:t>
            </a:r>
          </a:p>
          <a:p>
            <a:pPr lvl="1"/>
            <a:r>
              <a:rPr lang="en-US" b="1"/>
              <a:t>Update at deportation the requests that in phases (</a:t>
            </a:r>
            <a:r>
              <a:rPr lang="ar-EG" b="1"/>
              <a:t>تحميل مستندات ومراجعة مدير الفرع  واتمام توقيع</a:t>
            </a:r>
            <a:r>
              <a:rPr lang="en-US" b="1"/>
              <a:t>)</a:t>
            </a:r>
            <a:r>
              <a:rPr lang="ar-EG" b="1"/>
              <a:t> </a:t>
            </a:r>
            <a:r>
              <a:rPr lang="en-US" b="1"/>
              <a:t> and assigned to old BM item.UserId_TO = NewBranchManger;         item.UserId_BM = NewBranchManger;</a:t>
            </a:r>
          </a:p>
          <a:p>
            <a:pPr lvl="1"/>
            <a:r>
              <a:rPr lang="en-US" b="1"/>
              <a:t>Update at log where ActionFlag is null  </a:t>
            </a:r>
            <a:r>
              <a:rPr lang="en-US" b="1">
                <a:sym typeface="Wingdings" panose="05000000000000000000" pitchFamily="2" charset="2"/>
              </a:rPr>
              <a:t> </a:t>
            </a:r>
            <a:r>
              <a:rPr lang="en-US" b="1"/>
              <a:t> item.UserId = NewBranchManger;</a:t>
            </a:r>
          </a:p>
          <a:p>
            <a:pPr lvl="1"/>
            <a:r>
              <a:rPr lang="en-US" sz="1600" b="1"/>
              <a:t>update  LO_TO_CO </a:t>
            </a:r>
            <a:r>
              <a:rPr lang="en-US" sz="1600" b="1">
                <a:sym typeface="Wingdings" panose="05000000000000000000" pitchFamily="2" charset="2"/>
              </a:rPr>
              <a:t> </a:t>
            </a:r>
            <a:r>
              <a:rPr lang="da-DK" sz="1450" b="1"/>
              <a:t>x.Manager_User == OldMangerId  &amp;&amp; x.BranchId== Branch </a:t>
            </a:r>
            <a:r>
              <a:rPr lang="da-DK" sz="1450" b="1">
                <a:sym typeface="Wingdings" panose="05000000000000000000" pitchFamily="2" charset="2"/>
              </a:rPr>
              <a:t> </a:t>
            </a:r>
            <a:r>
              <a:rPr lang="en-US" sz="1450" b="1"/>
              <a:t>item.Manager_User = NewBranchManger;</a:t>
            </a:r>
          </a:p>
        </p:txBody>
      </p:sp>
    </p:spTree>
    <p:extLst>
      <p:ext uri="{BB962C8B-B14F-4D97-AF65-F5344CB8AC3E}">
        <p14:creationId xmlns:p14="http://schemas.microsoft.com/office/powerpoint/2010/main" val="3473957679"/>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FADEB-050E-BA4A-0C45-55DC3A805029}"/>
              </a:ext>
            </a:extLst>
          </p:cNvPr>
          <p:cNvSpPr>
            <a:spLocks noGrp="1"/>
          </p:cNvSpPr>
          <p:nvPr>
            <p:ph type="title"/>
          </p:nvPr>
        </p:nvSpPr>
        <p:spPr>
          <a:xfrm>
            <a:off x="913795" y="0"/>
            <a:ext cx="10353762" cy="826851"/>
          </a:xfrm>
        </p:spPr>
        <p:txBody>
          <a:bodyPr/>
          <a:lstStyle/>
          <a:p>
            <a:r>
              <a:rPr lang="en-US" b="1">
                <a:solidFill>
                  <a:srgbClr val="FFFF00"/>
                </a:solidFill>
              </a:rPr>
              <a:t>SWF</a:t>
            </a:r>
            <a:r>
              <a:rPr lang="en-US"/>
              <a:t>.</a:t>
            </a:r>
            <a:r>
              <a:rPr lang="en-US" b="1"/>
              <a:t>BankingActivityCode</a:t>
            </a:r>
            <a:r>
              <a:rPr lang="en-US"/>
              <a:t> [SMEs]</a:t>
            </a:r>
          </a:p>
        </p:txBody>
      </p:sp>
      <p:sp>
        <p:nvSpPr>
          <p:cNvPr id="3" name="Content Placeholder 2">
            <a:extLst>
              <a:ext uri="{FF2B5EF4-FFF2-40B4-BE49-F238E27FC236}">
                <a16:creationId xmlns:a16="http://schemas.microsoft.com/office/drawing/2014/main" id="{F32DD4C2-2B90-12C6-F1B5-C0CB4391193F}"/>
              </a:ext>
            </a:extLst>
          </p:cNvPr>
          <p:cNvSpPr>
            <a:spLocks noGrp="1"/>
          </p:cNvSpPr>
          <p:nvPr>
            <p:ph idx="1"/>
          </p:nvPr>
        </p:nvSpPr>
        <p:spPr>
          <a:xfrm>
            <a:off x="233464" y="963037"/>
            <a:ext cx="11034093" cy="5535039"/>
          </a:xfrm>
        </p:spPr>
        <p:txBody>
          <a:bodyPr/>
          <a:lstStyle/>
          <a:p>
            <a:r>
              <a:rPr lang="en-US"/>
              <a:t>ID: PK, int</a:t>
            </a:r>
          </a:p>
          <a:p>
            <a:r>
              <a:rPr lang="en-US"/>
              <a:t>Name: string</a:t>
            </a:r>
          </a:p>
          <a:p>
            <a:r>
              <a:rPr lang="en-US"/>
              <a:t>CenteralCode: string</a:t>
            </a:r>
          </a:p>
          <a:p>
            <a:endParaRPr lang="en-US"/>
          </a:p>
          <a:p>
            <a:r>
              <a:rPr lang="en-US"/>
              <a:t>at Enterprise there are BAC, BAC2</a:t>
            </a:r>
          </a:p>
          <a:p>
            <a:pPr lvl="1"/>
            <a:r>
              <a:rPr lang="en-US"/>
              <a:t>BAC: FK from BankingActivityCode</a:t>
            </a:r>
          </a:p>
          <a:p>
            <a:pPr lvl="1"/>
            <a:r>
              <a:rPr lang="en-US"/>
              <a:t>BAC2: FK from BankingActivityCode</a:t>
            </a:r>
          </a:p>
        </p:txBody>
      </p:sp>
    </p:spTree>
    <p:extLst>
      <p:ext uri="{BB962C8B-B14F-4D97-AF65-F5344CB8AC3E}">
        <p14:creationId xmlns:p14="http://schemas.microsoft.com/office/powerpoint/2010/main" val="143686533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E2ADF-97F7-8513-C36C-6D15B007E0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42C977-40FF-6B4A-775C-85DDA1369C3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083586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Slate</Template>
  <TotalTime>195554</TotalTime>
  <Words>14371</Words>
  <Application>Microsoft Office PowerPoint</Application>
  <PresentationFormat>Widescreen</PresentationFormat>
  <Paragraphs>2022</Paragraphs>
  <Slides>283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283</vt:i4>
      </vt:variant>
    </vt:vector>
  </HeadingPairs>
  <TitlesOfParts>
    <vt:vector size="289" baseType="lpstr">
      <vt:lpstr>Aptos</vt:lpstr>
      <vt:lpstr>Arial</vt:lpstr>
      <vt:lpstr>Calisto MT</vt:lpstr>
      <vt:lpstr>Wingdings</vt:lpstr>
      <vt:lpstr>Wingdings 2</vt:lpstr>
      <vt:lpstr>Slate</vt:lpstr>
      <vt:lpstr>Micro Business </vt:lpstr>
      <vt:lpstr>MICRO, Core, Master</vt:lpstr>
      <vt:lpstr>Micro, Master, Core Flow Steps</vt:lpstr>
      <vt:lpstr>Start Funding Request: R111</vt:lpstr>
      <vt:lpstr>LO click on طلب جديد</vt:lpstr>
      <vt:lpstr>Request Loaded Data [البيانات الخاصة بطلب التمويل]</vt:lpstr>
      <vt:lpstr>LO Select Funding Type [ نوع التمويل ]</vt:lpstr>
      <vt:lpstr>لو المنتج الذي تم اختياره بدون عائد</vt:lpstr>
      <vt:lpstr>When click on اسم العميل  After write customer Id</vt:lpstr>
      <vt:lpstr>PowerPoint Presentation</vt:lpstr>
      <vt:lpstr>PowerPoint Presentation</vt:lpstr>
      <vt:lpstr>PowerPoint Presentation</vt:lpstr>
      <vt:lpstr>At customer, بيانات الاتصال</vt:lpstr>
      <vt:lpstr>After user fill all customer data and add it</vt:lpstr>
      <vt:lpstr>When Saving Request for the first time VIA LO</vt:lpstr>
      <vt:lpstr>When Saving Request for the first time VIA LO [cont.1]</vt:lpstr>
      <vt:lpstr>When Saving Request for the first time VIA LO [cont.2]</vt:lpstr>
      <vt:lpstr>When Saving Request for the first time VIA LO [cont.3]</vt:lpstr>
      <vt:lpstr>When Saving Request for the first time VIA LO [cont.4]</vt:lpstr>
      <vt:lpstr>When Saving Request for the first time VIA LO [cont.5]</vt:lpstr>
      <vt:lpstr>When Saving Request for the first time VIA LO [cont.6]</vt:lpstr>
      <vt:lpstr>When Saving Request for the first time VIA LO [cont.7]</vt:lpstr>
      <vt:lpstr>When Saving Request for the first time VIA LO [cont.8]</vt:lpstr>
      <vt:lpstr>When Saving Request for the first time VIA LO [cont.9]</vt:lpstr>
      <vt:lpstr>PowerPoint Presentation</vt:lpstr>
      <vt:lpstr>When Saving Request for the first time VIA LO [cont.10]</vt:lpstr>
      <vt:lpstr>When Saving Request for the first time VIA LO [cont.10]</vt:lpstr>
      <vt:lpstr>The uploaded files in this stage</vt:lpstr>
      <vt:lpstr>When Saving Request for the first time VIA LO [cont.9]</vt:lpstr>
      <vt:lpstr>When Saving Request for the first time VIA LO [cont.9]</vt:lpstr>
      <vt:lpstr>After LO حفظ وإرسال</vt:lpstr>
      <vt:lpstr>End Funding Request (R111)</vt:lpstr>
      <vt:lpstr>Start Initial Review مراجعة أولية (CO1010)</vt:lpstr>
      <vt:lpstr>When CO Opens Funding Request</vt:lpstr>
      <vt:lpstr>When CO click on tab مراجعة المسئول الأول</vt:lpstr>
      <vt:lpstr>When CO click on tab المستندات</vt:lpstr>
      <vt:lpstr>When CO click on أسباب الرفض </vt:lpstr>
      <vt:lpstr>When CO at tab مراجعة المسئول الأول </vt:lpstr>
      <vt:lpstr>When CO at tab مراجعة المسئول الأول  [ cont.]</vt:lpstr>
      <vt:lpstr>When CO at tab مراجعة المسئول الأول  [ cont.2]</vt:lpstr>
      <vt:lpstr>The Rejected requests at LO </vt:lpstr>
      <vt:lpstr>After CO Accept the request</vt:lpstr>
      <vt:lpstr>End Initial Review مراجعة أولية (CO1010)</vt:lpstr>
      <vt:lpstr>Start Field visit: زيارة ميدانية, CO1311, CO</vt:lpstr>
      <vt:lpstr>الزيارة الميدانية للعميل</vt:lpstr>
      <vt:lpstr>الزيارة الميدانية للعميل</vt:lpstr>
      <vt:lpstr>الزيارة الميدانية للعميل</vt:lpstr>
      <vt:lpstr>الزيارة الميدانية للعميل</vt:lpstr>
      <vt:lpstr>الزيارة الميدانية للعميل</vt:lpstr>
      <vt:lpstr>حفظ جميع بيانات الزيارة الميدانية للعميل</vt:lpstr>
      <vt:lpstr>TDWF.Flow_FieldVisits_main</vt:lpstr>
      <vt:lpstr>TDWF.Flow_FieldVisits_Client</vt:lpstr>
      <vt:lpstr>TDWF.Flow_FieldVisits_FieldInquiry</vt:lpstr>
      <vt:lpstr>الزيارة الميدانية للضامن</vt:lpstr>
      <vt:lpstr>الزيارة الميدانية للضامن</vt:lpstr>
      <vt:lpstr>الزيارة الميدانية للضامن</vt:lpstr>
      <vt:lpstr>حفظ جميع بيانات الزيارة الميدانية للضامن</vt:lpstr>
      <vt:lpstr>حفظ جميع بيانات الزيارة الميدانية للضامن</vt:lpstr>
      <vt:lpstr>حفظ جميع بيانات الزيارة الميدانية للضامن</vt:lpstr>
      <vt:lpstr>بيانات المنشأة</vt:lpstr>
      <vt:lpstr>بيانات المنشأة</vt:lpstr>
      <vt:lpstr>التحليل المالي</vt:lpstr>
      <vt:lpstr>TDWF.Flow_FieldVisits_FinancialAnalysis [التحليل المالي]</vt:lpstr>
      <vt:lpstr>TDWF.Flow_FieldVisits_StatisticsData</vt:lpstr>
      <vt:lpstr>After CO Accept the request</vt:lpstr>
      <vt:lpstr>End Field visit: زيارة ميدانية, CO1311, CO</vt:lpstr>
      <vt:lpstr>Start Credit Analysis, CA1211, [ تحليل ائتماني ]</vt:lpstr>
      <vt:lpstr>PowerPoint Presentation</vt:lpstr>
      <vt:lpstr>TDWF.Flow_Credit_Analysis</vt:lpstr>
      <vt:lpstr>End Credit Analysis, CA1211, [ تحليل ائتماني ]</vt:lpstr>
      <vt:lpstr>Start Uploading Documents: تحميل المستندات, BM, DU77</vt:lpstr>
      <vt:lpstr>After حفظ المستندات</vt:lpstr>
      <vt:lpstr>After BM Accept the request</vt:lpstr>
      <vt:lpstr>End Uploading Documents: تحميل المستندات, BM, DU77</vt:lpstr>
      <vt:lpstr>Start مراجعة مدير الفرع, BM, BMFR1</vt:lpstr>
      <vt:lpstr>Start مراجعة مدير الفرع, BM, BMFR1</vt:lpstr>
      <vt:lpstr>After Approv</vt:lpstr>
      <vt:lpstr>End مراجعة مدير الفرع, BM, BMFR1</vt:lpstr>
      <vt:lpstr>Start اللجنة المركزية</vt:lpstr>
      <vt:lpstr>SWF.Flow_Votes</vt:lpstr>
      <vt:lpstr>SWF.Flow_Committees</vt:lpstr>
      <vt:lpstr>SWF.Flow_Central_Committees</vt:lpstr>
      <vt:lpstr>SWF.Flow_Central_Committees_Branch</vt:lpstr>
      <vt:lpstr>SWF.Flow_Register_Committee</vt:lpstr>
      <vt:lpstr>SWF.Flow_Register_Committee_User</vt:lpstr>
      <vt:lpstr>TDWF.Flow_committe_approved</vt:lpstr>
      <vt:lpstr>Helper Queries for Central Commitee </vt:lpstr>
      <vt:lpstr>PowerPoint Presentation</vt:lpstr>
      <vt:lpstr>PowerPoint Presentation</vt:lpstr>
      <vt:lpstr>اللجان المركزية</vt:lpstr>
      <vt:lpstr>أفراد اللجنة المركزية</vt:lpstr>
      <vt:lpstr>TWF. Flow_branch_product</vt:lpstr>
      <vt:lpstr>TWF.Flow_Emp_Product</vt:lpstr>
      <vt:lpstr>TWF.Flow_Contact_Us</vt:lpstr>
      <vt:lpstr>Trans.Trans_GPS_Tracking</vt:lpstr>
      <vt:lpstr>Lookup.Branch</vt:lpstr>
      <vt:lpstr>TWF.Flow_GeneralSettings</vt:lpstr>
      <vt:lpstr>TWF.Flow_Status_Funding_Request</vt:lpstr>
      <vt:lpstr>TWF.Flow_Funding_request 1</vt:lpstr>
      <vt:lpstr>TWF.Flow_Funding_request [cont. 2]</vt:lpstr>
      <vt:lpstr>TWF.Flow_Funding_request [cont. 3]</vt:lpstr>
      <vt:lpstr>TWF.Flow_Funding_request [cont. 3]</vt:lpstr>
      <vt:lpstr>TWF.Flow_Funding_request [cont.]</vt:lpstr>
      <vt:lpstr>TWF.Flow_Funding_request [cont.]</vt:lpstr>
      <vt:lpstr>TWF.Flow_Funding_request [cont.]</vt:lpstr>
      <vt:lpstr>TDWF.Flow_Request_Deportation [cont. 7]</vt:lpstr>
      <vt:lpstr>TDWF.Flow_Request_Deportation [cont. 8]</vt:lpstr>
      <vt:lpstr>TDWF.Flow_Requests_Log</vt:lpstr>
      <vt:lpstr>TDWF.Flow_Requests_Log (cont.1)</vt:lpstr>
      <vt:lpstr>TDWF.Flow_Requests_Log (cont.2)</vt:lpstr>
      <vt:lpstr>TDWF.Flow_Requests_Log (cont.2)</vt:lpstr>
      <vt:lpstr>TWF.Flow_Address_CE</vt:lpstr>
      <vt:lpstr>start SWF setup work flow</vt:lpstr>
      <vt:lpstr>SWF.Flow_repayment_cycle [دورية السداد]</vt:lpstr>
      <vt:lpstr>SWF.Flow_User_Status</vt:lpstr>
      <vt:lpstr>SWF.Flow_status</vt:lpstr>
      <vt:lpstr>SWF.Flow_Types</vt:lpstr>
      <vt:lpstr>SWF.Flow_Purpose_loan</vt:lpstr>
      <vt:lpstr>SWF.Flow_Tabs [الشاشات]</vt:lpstr>
      <vt:lpstr>SWF.Flow_Screen_components</vt:lpstr>
      <vt:lpstr>SWF.Flow_Actions , SWF.Flow_Action_workflow</vt:lpstr>
      <vt:lpstr>SWF. Flow_Branch_Type</vt:lpstr>
      <vt:lpstr>SWF.Flow_Sectors [ القطاع ]</vt:lpstr>
      <vt:lpstr>SWF.Flow_Main_activity [النشاط الرئيسي]</vt:lpstr>
      <vt:lpstr>SWF.Flow_Sub_activities  [النشاط الفرعي]</vt:lpstr>
      <vt:lpstr>SWF.Flow_Relationships</vt:lpstr>
      <vt:lpstr>SWF.Flow_Customers_jobs</vt:lpstr>
      <vt:lpstr>SWF.Flow_districts  [مدينة أو مركز او مركز السجل جهة الاصدار أو]</vt:lpstr>
      <vt:lpstr>SWF.Flow_Sections [الحي] [ القسم ]</vt:lpstr>
      <vt:lpstr>SWF.Flow_Identity_Expiry</vt:lpstr>
      <vt:lpstr>SWF.Flow_Exchange_Destinations</vt:lpstr>
      <vt:lpstr>End SWF setup work flow</vt:lpstr>
      <vt:lpstr>Start Risk</vt:lpstr>
      <vt:lpstr>TWF.Flow_Risk_Branch</vt:lpstr>
      <vt:lpstr>TWF.Flow_Risk_Responsible</vt:lpstr>
      <vt:lpstr>TWF.Flow_identi_risks_admin</vt:lpstr>
      <vt:lpstr>End Risk</vt:lpstr>
      <vt:lpstr>Start Product</vt:lpstr>
      <vt:lpstr>TWF.Flow_Products</vt:lpstr>
      <vt:lpstr>TWT.Flow_Products [cont.]</vt:lpstr>
      <vt:lpstr>TWT.Flow_Products [cont.]</vt:lpstr>
      <vt:lpstr>TWF.Flow_Branch_product</vt:lpstr>
      <vt:lpstr>TWF.Flow_Exempted_Products</vt:lpstr>
      <vt:lpstr>TWF.Flow_Customers</vt:lpstr>
      <vt:lpstr>Company entity</vt:lpstr>
      <vt:lpstr>Acc_Chart_Account entity</vt:lpstr>
      <vt:lpstr>Start Security</vt:lpstr>
      <vt:lpstr>Security.Sec_APIs</vt:lpstr>
      <vt:lpstr>Security.Sec_Api_Pages</vt:lpstr>
      <vt:lpstr>Security.SEC_Action</vt:lpstr>
      <vt:lpstr>Security.SEC_Group</vt:lpstr>
      <vt:lpstr>Security.SEC_Group_Action</vt:lpstr>
      <vt:lpstr>Security.SEC_User_Action</vt:lpstr>
      <vt:lpstr>Security.SEC_User_gruop</vt:lpstr>
      <vt:lpstr>Security.SEC_Menu</vt:lpstr>
      <vt:lpstr>Security.SEC_User_Role_MenuAction</vt:lpstr>
      <vt:lpstr>Adding New Menu</vt:lpstr>
      <vt:lpstr>End Security</vt:lpstr>
      <vt:lpstr>Trans.Trans_BusDate [ تاريخ اليومية ] </vt:lpstr>
      <vt:lpstr>TWF.Flow_ISCORE</vt:lpstr>
      <vt:lpstr>TWF. Flow_Risks</vt:lpstr>
      <vt:lpstr>Security. SEC_Access_tokens</vt:lpstr>
      <vt:lpstr>SWF.Flow_definition_expenditure</vt:lpstr>
      <vt:lpstr>TWF.Flow_select_definitioExp</vt:lpstr>
      <vt:lpstr>Start DOCS</vt:lpstr>
      <vt:lpstr>SWF.Flow_Types_documents</vt:lpstr>
      <vt:lpstr>TWF.Flow_MandatoryDoc</vt:lpstr>
      <vt:lpstr>SWF.Flow_Setting_Print_Documents</vt:lpstr>
      <vt:lpstr>TWF.TWF_Download DB table,  Flow_Download class</vt:lpstr>
      <vt:lpstr>REV.Flow_Revolving_Documents</vt:lpstr>
      <vt:lpstr>REV.Flow_Revolving_Docs_Types</vt:lpstr>
      <vt:lpstr>END DOCS</vt:lpstr>
      <vt:lpstr>Start IScore</vt:lpstr>
      <vt:lpstr>TWF.IScore_Degree</vt:lpstr>
      <vt:lpstr>TWF.Flow_ISCORE</vt:lpstr>
      <vt:lpstr>TWF.Flow_ISCORE_Data</vt:lpstr>
      <vt:lpstr>TWF.Flow_Transfer_Iscore</vt:lpstr>
      <vt:lpstr>TWF.Flow_log_Iscore_Test</vt:lpstr>
      <vt:lpstr>TWF.Flow_Iscore_Param</vt:lpstr>
      <vt:lpstr>SWF.Flow_IScore_Query_Type</vt:lpstr>
      <vt:lpstr>TWF.Flow_Iscore_Param_Notifi</vt:lpstr>
      <vt:lpstr>شاشة اعادة تحميل الأي سكور</vt:lpstr>
      <vt:lpstr>When choosing requests and reload them</vt:lpstr>
      <vt:lpstr>String IscoreEnquery (Flow_Transfer_Iscore, Request.CreationDate)</vt:lpstr>
      <vt:lpstr>IsCore Enquiry Result</vt:lpstr>
      <vt:lpstr>What IscoreDataFound method do</vt:lpstr>
      <vt:lpstr>What callTransferIscore( Flow_Transfer_Iscore  row,   item.Loan_Code ,  request.Creation_Data ) method do</vt:lpstr>
      <vt:lpstr>What callTransferIscore do [cont.]</vt:lpstr>
      <vt:lpstr>PowerPoint Presentation</vt:lpstr>
      <vt:lpstr>Host</vt:lpstr>
      <vt:lpstr>END IScore</vt:lpstr>
      <vt:lpstr>Start Forget Password</vt:lpstr>
      <vt:lpstr>Lookup.ForgetPasswordOTP</vt:lpstr>
      <vt:lpstr>Forget password</vt:lpstr>
      <vt:lpstr>steps</vt:lpstr>
      <vt:lpstr>Steps [ cont .] </vt:lpstr>
      <vt:lpstr>End Forget Password</vt:lpstr>
      <vt:lpstr>MenuRoleForLoginVM</vt:lpstr>
      <vt:lpstr>Get User group</vt:lpstr>
      <vt:lpstr>Start login</vt:lpstr>
      <vt:lpstr>End login</vt:lpstr>
      <vt:lpstr>Start Users page مستخدمي النظام</vt:lpstr>
      <vt:lpstr>PowerPoint Presentation</vt:lpstr>
      <vt:lpstr>End Users page مستخدمي النظام</vt:lpstr>
      <vt:lpstr>Lookup. Mobile_Numbers</vt:lpstr>
      <vt:lpstr>BranchGovernRegion VM</vt:lpstr>
      <vt:lpstr>Amounts of Funding request</vt:lpstr>
      <vt:lpstr>Jobs</vt:lpstr>
      <vt:lpstr>Calculations</vt:lpstr>
      <vt:lpstr>Financing_Amount, Approv_value [بعد التعلية]</vt:lpstr>
      <vt:lpstr>Actual Financing == Total_Amount</vt:lpstr>
      <vt:lpstr>Commision [ عمولة المنح الخاصة باالمنتج ]</vt:lpstr>
      <vt:lpstr>Loan Interest[ فايدة التمويل ]</vt:lpstr>
      <vt:lpstr>Funding_request.APP_FEE &amp; Funding_request.Rate</vt:lpstr>
      <vt:lpstr>Male &amp; Female from QID</vt:lpstr>
      <vt:lpstr> Start Flags </vt:lpstr>
      <vt:lpstr>SWF. Flow_status: [ Table ]</vt:lpstr>
      <vt:lpstr>SWF. Flow_status: [ Table ]</vt:lpstr>
      <vt:lpstr>PowerPoint Presentation</vt:lpstr>
      <vt:lpstr>Request_status</vt:lpstr>
      <vt:lpstr>Action_Flag</vt:lpstr>
      <vt:lpstr>SWF.Flow_User_Status</vt:lpstr>
      <vt:lpstr> END Flags </vt:lpstr>
      <vt:lpstr> Start Business </vt:lpstr>
      <vt:lpstr>PowerPoint Presentation</vt:lpstr>
      <vt:lpstr>كود الصرف</vt:lpstr>
      <vt:lpstr> End Business </vt:lpstr>
      <vt:lpstr>PowerPoint Presentation</vt:lpstr>
      <vt:lpstr> Start Rescheduling </vt:lpstr>
      <vt:lpstr>RSC.ReschedulingStatus</vt:lpstr>
      <vt:lpstr>RSC.RscCalculation</vt:lpstr>
      <vt:lpstr>RSC.RscSetup</vt:lpstr>
      <vt:lpstr>RSC.ReschedulingCustomers</vt:lpstr>
      <vt:lpstr>PowerPoint Presentation</vt:lpstr>
      <vt:lpstr>PowerPoint Presentation</vt:lpstr>
      <vt:lpstr>PowerPoint Presentation</vt:lpstr>
      <vt:lpstr> End Rescheduling </vt:lpstr>
      <vt:lpstr>PowerPoint Presentation</vt:lpstr>
      <vt:lpstr>START TABLE</vt:lpstr>
      <vt:lpstr>TWF.Flow_Enterprises</vt:lpstr>
      <vt:lpstr>Enterprise  TWF.Flow_Enterprises</vt:lpstr>
      <vt:lpstr>End TABLE</vt:lpstr>
      <vt:lpstr>START AML</vt:lpstr>
      <vt:lpstr>When It used</vt:lpstr>
      <vt:lpstr>TWF.Flow_Sanctionscanner_ByID</vt:lpstr>
      <vt:lpstr>End AML</vt:lpstr>
      <vt:lpstr>View Models</vt:lpstr>
      <vt:lpstr>FlowActionsNameStepFromTo</vt:lpstr>
      <vt:lpstr>FundingData</vt:lpstr>
      <vt:lpstr>FundingDataVM</vt:lpstr>
      <vt:lpstr>ProdVM</vt:lpstr>
      <vt:lpstr>PowerPoint Presentation</vt:lpstr>
      <vt:lpstr>PowerPoint Presentation</vt:lpstr>
      <vt:lpstr>TransactionVM</vt:lpstr>
      <vt:lpstr>PowerPoint Presentation</vt:lpstr>
      <vt:lpstr>To make migration</vt:lpstr>
      <vt:lpstr>PowerPoint Presentation</vt:lpstr>
      <vt:lpstr>PowerPoint Presentation</vt:lpstr>
      <vt:lpstr>COفي المراجعة الأولية عند ال  </vt:lpstr>
      <vt:lpstr>PowerPoint Presentation</vt:lpstr>
      <vt:lpstr>PowerPoint Presentation</vt:lpstr>
      <vt:lpstr>PowerPoint Presentation</vt:lpstr>
      <vt:lpstr>PowerPoint Presentation</vt:lpstr>
      <vt:lpstr>Status Code of vendor</vt:lpstr>
      <vt:lpstr>After Save ate vendor registration</vt:lpstr>
      <vt:lpstr>After Reject Vendor AML Step</vt:lpstr>
      <vt:lpstr>After Final Reject Vendor AML Step</vt:lpstr>
      <vt:lpstr>After Accept Vendor at AML Step</vt:lpstr>
      <vt:lpstr>After Accept Vendor at Account Step</vt:lpstr>
      <vt:lpstr>Save and send at vendor docs tab</vt:lpstr>
      <vt:lpstr>After AML Periodic update</vt:lpstr>
      <vt:lpstr>End Vendor</vt:lpstr>
      <vt:lpstr>Start Revolving</vt:lpstr>
      <vt:lpstr>إعدادات الريفولفينج</vt:lpstr>
      <vt:lpstr>Credit limit table</vt:lpstr>
      <vt:lpstr>شاشة طلب سحب من الحد الإئتماني :</vt:lpstr>
      <vt:lpstr>Drawdown status code</vt:lpstr>
      <vt:lpstr>CO </vt:lpstr>
      <vt:lpstr>End Revolving</vt:lpstr>
      <vt:lpstr>SWF.Flow_LO_TO_CO</vt:lpstr>
      <vt:lpstr>استبدال مدير الفرع</vt:lpstr>
      <vt:lpstr>SWF.BankingActivityCode [SMEs]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احمد محمد سمير</dc:creator>
  <cp:lastModifiedBy>Ahmed  Mohamed Samir</cp:lastModifiedBy>
  <cp:revision>2095</cp:revision>
  <dcterms:created xsi:type="dcterms:W3CDTF">2026-02-01T18:13:26Z</dcterms:created>
  <dcterms:modified xsi:type="dcterms:W3CDTF">2026-10-12T06:55:21Z</dcterms:modified>
</cp:coreProperties>
</file>