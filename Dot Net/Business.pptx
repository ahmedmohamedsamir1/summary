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534" r:id="rId65"/>
    <p:sldId id="536" r:id="rId66"/>
    <p:sldId id="537" r:id="rId67"/>
    <p:sldId id="535" r:id="rId68"/>
    <p:sldId id="396" r:id="rId69"/>
    <p:sldId id="395" r:id="rId70"/>
    <p:sldId id="308" r:id="rId71"/>
    <p:sldId id="278" r:id="rId72"/>
    <p:sldId id="271" r:id="rId73"/>
    <p:sldId id="292" r:id="rId74"/>
    <p:sldId id="472" r:id="rId75"/>
    <p:sldId id="279" r:id="rId76"/>
    <p:sldId id="305" r:id="rId77"/>
    <p:sldId id="280" r:id="rId78"/>
    <p:sldId id="318" r:id="rId79"/>
    <p:sldId id="285" r:id="rId80"/>
    <p:sldId id="286" r:id="rId81"/>
    <p:sldId id="287" r:id="rId82"/>
    <p:sldId id="369" r:id="rId83"/>
    <p:sldId id="372" r:id="rId84"/>
    <p:sldId id="316" r:id="rId85"/>
    <p:sldId id="325" r:id="rId86"/>
    <p:sldId id="347" r:id="rId87"/>
    <p:sldId id="373" r:id="rId88"/>
    <p:sldId id="545" r:id="rId89"/>
    <p:sldId id="388" r:id="rId90"/>
    <p:sldId id="306" r:id="rId91"/>
    <p:sldId id="358" r:id="rId92"/>
    <p:sldId id="281" r:id="rId93"/>
    <p:sldId id="314" r:id="rId94"/>
    <p:sldId id="294" r:id="rId95"/>
    <p:sldId id="331" r:id="rId96"/>
    <p:sldId id="330" r:id="rId97"/>
    <p:sldId id="324" r:id="rId98"/>
    <p:sldId id="304" r:id="rId99"/>
    <p:sldId id="310" r:id="rId100"/>
    <p:sldId id="311" r:id="rId101"/>
    <p:sldId id="312" r:id="rId102"/>
    <p:sldId id="293" r:id="rId103"/>
    <p:sldId id="296" r:id="rId104"/>
    <p:sldId id="297" r:id="rId105"/>
    <p:sldId id="299" r:id="rId106"/>
    <p:sldId id="298" r:id="rId107"/>
    <p:sldId id="421" r:id="rId108"/>
    <p:sldId id="389" r:id="rId109"/>
    <p:sldId id="467" r:id="rId110"/>
    <p:sldId id="469" r:id="rId111"/>
    <p:sldId id="470" r:id="rId112"/>
    <p:sldId id="471" r:id="rId113"/>
    <p:sldId id="468" r:id="rId114"/>
    <p:sldId id="283" r:id="rId115"/>
    <p:sldId id="374" r:id="rId116"/>
    <p:sldId id="359" r:id="rId117"/>
    <p:sldId id="307" r:id="rId118"/>
    <p:sldId id="309" r:id="rId119"/>
    <p:sldId id="288" r:id="rId120"/>
    <p:sldId id="282" r:id="rId121"/>
    <p:sldId id="397" r:id="rId122"/>
    <p:sldId id="400" r:id="rId123"/>
    <p:sldId id="465" r:id="rId124"/>
    <p:sldId id="399" r:id="rId125"/>
    <p:sldId id="300" r:id="rId126"/>
    <p:sldId id="463" r:id="rId127"/>
    <p:sldId id="464" r:id="rId128"/>
    <p:sldId id="460" r:id="rId129"/>
    <p:sldId id="301" r:id="rId130"/>
    <p:sldId id="462" r:id="rId131"/>
    <p:sldId id="542" r:id="rId132"/>
    <p:sldId id="398" r:id="rId133"/>
    <p:sldId id="319" r:id="rId134"/>
    <p:sldId id="403" r:id="rId135"/>
    <p:sldId id="338" r:id="rId136"/>
    <p:sldId id="339" r:id="rId137"/>
    <p:sldId id="356" r:id="rId138"/>
    <p:sldId id="357" r:id="rId139"/>
    <p:sldId id="384" r:id="rId140"/>
    <p:sldId id="343" r:id="rId141"/>
    <p:sldId id="382" r:id="rId142"/>
    <p:sldId id="377" r:id="rId143"/>
    <p:sldId id="378" r:id="rId144"/>
    <p:sldId id="386" r:id="rId145"/>
    <p:sldId id="385" r:id="rId146"/>
    <p:sldId id="426" r:id="rId147"/>
    <p:sldId id="448" r:id="rId148"/>
    <p:sldId id="432" r:id="rId149"/>
    <p:sldId id="303" r:id="rId150"/>
    <p:sldId id="428" r:id="rId151"/>
    <p:sldId id="433" r:id="rId152"/>
    <p:sldId id="434" r:id="rId153"/>
    <p:sldId id="435" r:id="rId154"/>
    <p:sldId id="436" r:id="rId155"/>
    <p:sldId id="439" r:id="rId156"/>
    <p:sldId id="441" r:id="rId157"/>
    <p:sldId id="443" r:id="rId158"/>
    <p:sldId id="444" r:id="rId159"/>
    <p:sldId id="440" r:id="rId160"/>
    <p:sldId id="437" r:id="rId161"/>
    <p:sldId id="445" r:id="rId162"/>
    <p:sldId id="429" r:id="rId163"/>
    <p:sldId id="438" r:id="rId164"/>
    <p:sldId id="427" r:id="rId165"/>
    <p:sldId id="450" r:id="rId166"/>
    <p:sldId id="453" r:id="rId167"/>
    <p:sldId id="452" r:id="rId168"/>
    <p:sldId id="454" r:id="rId169"/>
    <p:sldId id="455" r:id="rId170"/>
    <p:sldId id="451" r:id="rId171"/>
    <p:sldId id="461" r:id="rId172"/>
    <p:sldId id="459" r:id="rId173"/>
    <p:sldId id="456" r:id="rId174"/>
    <p:sldId id="458" r:id="rId175"/>
    <p:sldId id="479" r:id="rId176"/>
    <p:sldId id="481" r:id="rId177"/>
    <p:sldId id="480" r:id="rId178"/>
    <p:sldId id="449" r:id="rId179"/>
    <p:sldId id="276" r:id="rId180"/>
    <p:sldId id="289" r:id="rId181"/>
    <p:sldId id="290" r:id="rId182"/>
    <p:sldId id="376" r:id="rId183"/>
    <p:sldId id="361" r:id="rId184"/>
    <p:sldId id="362" r:id="rId185"/>
    <p:sldId id="321" r:id="rId186"/>
    <p:sldId id="360" r:id="rId187"/>
    <p:sldId id="366" r:id="rId188"/>
    <p:sldId id="405" r:id="rId189"/>
    <p:sldId id="383" r:id="rId190"/>
    <p:sldId id="418" r:id="rId191"/>
    <p:sldId id="419" r:id="rId192"/>
    <p:sldId id="420" r:id="rId193"/>
    <p:sldId id="446" r:id="rId194"/>
    <p:sldId id="417" r:id="rId195"/>
    <p:sldId id="520" r:id="rId196"/>
    <p:sldId id="522" r:id="rId197"/>
    <p:sldId id="523" r:id="rId198"/>
    <p:sldId id="521" r:id="rId199"/>
    <p:sldId id="530" r:id="rId200"/>
    <p:sldId id="525" r:id="rId201"/>
    <p:sldId id="531" r:id="rId202"/>
    <p:sldId id="544" r:id="rId203"/>
    <p:sldId id="543" r:id="rId204"/>
    <p:sldId id="527" r:id="rId205"/>
    <p:sldId id="532" r:id="rId206"/>
    <p:sldId id="529" r:id="rId207"/>
    <p:sldId id="533" r:id="rId208"/>
    <p:sldId id="526" r:id="rId209"/>
    <p:sldId id="539" r:id="rId210"/>
    <p:sldId id="538" r:id="rId211"/>
    <p:sldId id="541" r:id="rId212"/>
    <p:sldId id="540" r:id="rId213"/>
    <p:sldId id="335" r:id="rId214"/>
    <p:sldId id="375" r:id="rId215"/>
    <p:sldId id="340" r:id="rId216"/>
    <p:sldId id="345" r:id="rId217"/>
    <p:sldId id="336" r:id="rId218"/>
    <p:sldId id="341" r:id="rId219"/>
    <p:sldId id="337" r:id="rId220"/>
    <p:sldId id="295" r:id="rId221"/>
    <p:sldId id="344" r:id="rId222"/>
    <p:sldId id="363" r:id="rId2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6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presProps" Target="pres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6/25/2026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6/25/2026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6/25/2026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6/25/2026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6/25/2026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6/25/2026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1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A1222-B9CE-533F-D1C7-DDFB77091D7D}"/>
              </a:ext>
            </a:extLst>
          </p:cNvPr>
          <p:cNvSpPr>
            <a:spLocks noGrp="1"/>
          </p:cNvSpPr>
          <p:nvPr>
            <p:ph type="title"/>
          </p:nvPr>
        </p:nvSpPr>
        <p:spPr>
          <a:xfrm>
            <a:off x="913795" y="0"/>
            <a:ext cx="10353762" cy="723900"/>
          </a:xfrm>
        </p:spPr>
        <p:txBody>
          <a:bodyPr/>
          <a:lstStyle/>
          <a:p>
            <a:r>
              <a:rPr lang="en-US"/>
              <a:t>TWF.Flow_Address_CE</a:t>
            </a:r>
          </a:p>
        </p:txBody>
      </p:sp>
      <p:sp>
        <p:nvSpPr>
          <p:cNvPr id="3" name="Content Placeholder 2">
            <a:extLst>
              <a:ext uri="{FF2B5EF4-FFF2-40B4-BE49-F238E27FC236}">
                <a16:creationId xmlns:a16="http://schemas.microsoft.com/office/drawing/2014/main" id="{E14B85AD-15D5-70BC-0C86-7C724A03C86C}"/>
              </a:ext>
            </a:extLst>
          </p:cNvPr>
          <p:cNvSpPr>
            <a:spLocks noGrp="1"/>
          </p:cNvSpPr>
          <p:nvPr>
            <p:ph idx="1"/>
          </p:nvPr>
        </p:nvSpPr>
        <p:spPr>
          <a:xfrm>
            <a:off x="314324" y="723901"/>
            <a:ext cx="11515725" cy="5895974"/>
          </a:xfrm>
        </p:spPr>
        <p:txBody>
          <a:bodyPr/>
          <a:lstStyle/>
          <a:p>
            <a:r>
              <a:rPr lang="en-US"/>
              <a:t>Type</a:t>
            </a:r>
          </a:p>
          <a:p>
            <a:pPr lvl="1"/>
            <a:r>
              <a:rPr lang="en-US"/>
              <a:t>First: </a:t>
            </a:r>
            <a:r>
              <a:rPr lang="ar-EG"/>
              <a:t>العنوان بالبطاقة</a:t>
            </a:r>
            <a:endParaRPr lang="en-US"/>
          </a:p>
          <a:p>
            <a:pPr lvl="1"/>
            <a:r>
              <a:rPr lang="en-US"/>
              <a:t>Second: </a:t>
            </a:r>
            <a:r>
              <a:rPr lang="ar-EG"/>
              <a:t>العنوان الفعلي</a:t>
            </a:r>
            <a:endParaRPr lang="en-US"/>
          </a:p>
          <a:p>
            <a:pPr lvl="1"/>
            <a:r>
              <a:rPr lang="en-US"/>
              <a:t>Work: </a:t>
            </a:r>
            <a:r>
              <a:rPr lang="ar-EG"/>
              <a:t>عنوان العمل</a:t>
            </a:r>
            <a:endParaRPr lang="en-US"/>
          </a:p>
          <a:p>
            <a:pPr lvl="1"/>
            <a:r>
              <a:rPr lang="en-US"/>
              <a:t>Enterprise : </a:t>
            </a:r>
            <a:r>
              <a:rPr lang="ar-EG"/>
              <a:t>عنوان الشركة</a:t>
            </a:r>
            <a:endParaRPr lang="en-US"/>
          </a:p>
          <a:p>
            <a:r>
              <a:rPr lang="en-US"/>
              <a:t>CodeDistrict:</a:t>
            </a:r>
            <a:r>
              <a:rPr lang="ar-EG"/>
              <a:t>أو </a:t>
            </a:r>
            <a:r>
              <a:rPr lang="ar-EG" b="1">
                <a:solidFill>
                  <a:srgbClr val="FF0000"/>
                </a:solidFill>
                <a:sym typeface="Wingdings" panose="05000000000000000000" pitchFamily="2" charset="2"/>
              </a:rPr>
              <a:t>مدينة أو مركز</a:t>
            </a:r>
            <a:r>
              <a:rPr lang="ar-EG"/>
              <a:t> </a:t>
            </a:r>
            <a:endParaRPr lang="en-US"/>
          </a:p>
          <a:p>
            <a:r>
              <a:rPr lang="en-US"/>
              <a:t>CodeSection: </a:t>
            </a:r>
            <a:r>
              <a:rPr lang="ar-EG"/>
              <a:t>القسم أو الحي</a:t>
            </a:r>
            <a:endParaRPr lang="en-US"/>
          </a:p>
          <a:p>
            <a:endParaRPr lang="en-US"/>
          </a:p>
        </p:txBody>
      </p:sp>
    </p:spTree>
    <p:extLst>
      <p:ext uri="{BB962C8B-B14F-4D97-AF65-F5344CB8AC3E}">
        <p14:creationId xmlns:p14="http://schemas.microsoft.com/office/powerpoint/2010/main" val="35770336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52060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 [</a:t>
            </a:r>
            <a:r>
              <a:rPr lang="ar-EG" b="1">
                <a:solidFill>
                  <a:srgbClr val="FF0000"/>
                </a:solidFill>
              </a:rPr>
              <a:t>النشاط الرئيسي</a:t>
            </a:r>
            <a:r>
              <a:rPr lang="en-US" b="1">
                <a:solidFill>
                  <a:srgbClr val="FF0000"/>
                </a:solidFill>
              </a:rPr>
              <a:t>]</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r>
              <a:rPr lang="ar-EG" b="1">
                <a:solidFill>
                  <a:srgbClr val="FF0000"/>
                </a:solidFill>
              </a:rPr>
              <a:t>  </a:t>
            </a:r>
            <a:r>
              <a:rPr lang="en-US" b="1">
                <a:solidFill>
                  <a:srgbClr val="FF0000"/>
                </a:solidFill>
              </a:rPr>
              <a:t>[</a:t>
            </a:r>
            <a:r>
              <a:rPr lang="ar-EG" b="1">
                <a:solidFill>
                  <a:srgbClr val="FF0000"/>
                </a:solidFill>
              </a:rPr>
              <a:t>النشاط الفرعي</a:t>
            </a:r>
            <a:r>
              <a:rPr lang="en-US" b="1">
                <a:solidFill>
                  <a:srgbClr val="FF0000"/>
                </a:solidFill>
              </a:rPr>
              <a:t>]</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 </a:t>
            </a:r>
            <a:r>
              <a:rPr lang="en-US" b="1">
                <a:solidFill>
                  <a:srgbClr val="FF0000"/>
                </a:solidFill>
                <a:sym typeface="Wingdings" panose="05000000000000000000" pitchFamily="2" charset="2"/>
              </a:rPr>
              <a:t> [</a:t>
            </a:r>
            <a:r>
              <a:rPr lang="ar-EG" b="1">
                <a:solidFill>
                  <a:srgbClr val="FF0000"/>
                </a:solidFill>
                <a:sym typeface="Wingdings" panose="05000000000000000000" pitchFamily="2" charset="2"/>
              </a:rPr>
              <a:t>مدينة أو مركز</a:t>
            </a:r>
            <a:r>
              <a:rPr lang="en-US" b="1">
                <a:solidFill>
                  <a:srgbClr val="FF0000"/>
                </a:solidFill>
                <a:sym typeface="Wingdings" panose="05000000000000000000" pitchFamily="2" charset="2"/>
              </a:rPr>
              <a:t>]</a:t>
            </a:r>
            <a:endParaRPr lang="en-US" b="1">
              <a:solidFill>
                <a:srgbClr val="FF0000"/>
              </a:solidFill>
            </a:endParaRP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 [</a:t>
            </a:r>
            <a:r>
              <a:rPr lang="ar-EG" b="1">
                <a:solidFill>
                  <a:srgbClr val="FF0000"/>
                </a:solidFill>
                <a:effectLst/>
              </a:rPr>
              <a:t>الحي</a:t>
            </a:r>
            <a:r>
              <a:rPr lang="en-US" b="1">
                <a:solidFill>
                  <a:srgbClr val="FF0000"/>
                </a:solidFill>
                <a:effectLst/>
              </a:rPr>
              <a:t>] [ </a:t>
            </a:r>
            <a:r>
              <a:rPr lang="ar-EG" b="1">
                <a:solidFill>
                  <a:srgbClr val="FF0000"/>
                </a:solidFill>
                <a:effectLst/>
              </a:rPr>
              <a:t>القسم</a:t>
            </a:r>
            <a:r>
              <a:rPr lang="en-US" b="1">
                <a:solidFill>
                  <a:srgbClr val="FF0000"/>
                </a:solidFill>
                <a:effectLst/>
              </a:rPr>
              <a:t> ]</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b="1"/>
              <a:t>CustomerId</a:t>
            </a:r>
            <a:r>
              <a:rPr lang="en-US"/>
              <a:t> </a:t>
            </a:r>
            <a:r>
              <a:rPr lang="en-US" b="1">
                <a:solidFill>
                  <a:srgbClr val="FFFF00"/>
                </a:solidFill>
              </a:rPr>
              <a:t>[PK]</a:t>
            </a:r>
          </a:p>
          <a:p>
            <a:r>
              <a:rPr lang="en-US" sz="1800"/>
              <a:t>creationUser [FK] from user</a:t>
            </a:r>
          </a:p>
          <a:p>
            <a:r>
              <a:rPr lang="en-US" sz="1800" b="1"/>
              <a:t>Identity_encoded_date: </a:t>
            </a:r>
            <a:r>
              <a:rPr lang="ar-EG" sz="1800" b="1"/>
              <a:t>صادر بتاريخ</a:t>
            </a:r>
            <a:endParaRPr lang="en-US" b="1"/>
          </a:p>
          <a:p>
            <a:endParaRPr lang="en-US" b="1"/>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lnSpcReduction="10000"/>
          </a:bodyPr>
          <a:lstStyle/>
          <a:p>
            <a:endParaRPr lang="en-US" sz="1800"/>
          </a:p>
          <a:p>
            <a:endParaRPr lang="en-US" sz="1800"/>
          </a:p>
          <a:p>
            <a:r>
              <a:rPr lang="en-US" sz="1800"/>
              <a:t>Brand_name: </a:t>
            </a:r>
            <a:r>
              <a:rPr lang="ar-EG" sz="1800"/>
              <a:t>اسم الشركة</a:t>
            </a:r>
            <a:endParaRPr lang="en-US" sz="1800"/>
          </a:p>
          <a:p>
            <a:r>
              <a:rPr lang="en-US" sz="1800"/>
              <a:t>Enterprise_ID [PK], [identity]</a:t>
            </a:r>
          </a:p>
          <a:p>
            <a:r>
              <a:rPr lang="en-US" sz="1800"/>
              <a:t>Code_Sector: </a:t>
            </a:r>
            <a:r>
              <a:rPr lang="ar-EG" b="1">
                <a:effectLst/>
              </a:rPr>
              <a:t>تجاري</a:t>
            </a:r>
            <a:r>
              <a:rPr lang="en-US" b="1">
                <a:effectLst/>
              </a:rPr>
              <a:t> </a:t>
            </a:r>
            <a:r>
              <a:rPr lang="en-US" b="1">
                <a:effectLst/>
                <a:sym typeface="Wingdings" panose="05000000000000000000" pitchFamily="2" charset="2"/>
              </a:rPr>
              <a:t> </a:t>
            </a:r>
            <a:r>
              <a:rPr lang="ar-EG" b="1">
                <a:effectLst/>
                <a:sym typeface="Wingdings" panose="05000000000000000000" pitchFamily="2" charset="2"/>
              </a:rPr>
              <a:t>نوع النشاط</a:t>
            </a:r>
          </a:p>
          <a:p>
            <a:r>
              <a:rPr lang="en-US"/>
              <a:t>Nature_enterprise: </a:t>
            </a:r>
            <a:r>
              <a:rPr lang="ar-EG"/>
              <a:t>النشاط التجاري</a:t>
            </a:r>
            <a:endParaRPr lang="ar-EG" b="1">
              <a:effectLst/>
            </a:endParaRP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Type_enterprise: </a:t>
            </a:r>
            <a:r>
              <a:rPr lang="ar-EG"/>
              <a:t>طبيعة المنشأة</a:t>
            </a:r>
            <a:endParaRPr lang="en-US"/>
          </a:p>
          <a:p>
            <a:r>
              <a:rPr lang="en-US"/>
              <a:t>Org_Id</a:t>
            </a:r>
          </a:p>
          <a:p>
            <a:r>
              <a:rPr lang="en-US"/>
              <a:t>Commercial_Reg_num: </a:t>
            </a:r>
            <a:r>
              <a:rPr lang="ar-EG"/>
              <a:t>رقم السجل التجاري</a:t>
            </a:r>
            <a:endParaRPr lang="en-US"/>
          </a:p>
          <a:p>
            <a:r>
              <a:rPr lang="en-US"/>
              <a:t>TaxFile: </a:t>
            </a:r>
            <a:r>
              <a:rPr lang="ar-EG"/>
              <a:t>رقم البطاقة الضريبية</a:t>
            </a:r>
            <a:endParaRPr lang="en-US"/>
          </a:p>
          <a:p>
            <a:r>
              <a:rPr lang="en-US"/>
              <a:t>Code_district: </a:t>
            </a:r>
            <a:r>
              <a:rPr lang="ar-EG"/>
              <a:t>الجهة الصادرة للاسم التجاري</a:t>
            </a:r>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4362450" y="1036212"/>
            <a:ext cx="7821998"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4362450" y="1642156"/>
            <a:ext cx="7829550" cy="624794"/>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24B92-DE5D-6FD8-CAE5-42BA14EEEABF}"/>
              </a:ext>
            </a:extLst>
          </p:cNvPr>
          <p:cNvSpPr>
            <a:spLocks noGrp="1"/>
          </p:cNvSpPr>
          <p:nvPr>
            <p:ph type="title"/>
          </p:nvPr>
        </p:nvSpPr>
        <p:spPr>
          <a:xfrm>
            <a:off x="913795" y="0"/>
            <a:ext cx="10353762" cy="690880"/>
          </a:xfrm>
        </p:spPr>
        <p:txBody>
          <a:bodyPr>
            <a:normAutofit fontScale="90000"/>
          </a:bodyPr>
          <a:lstStyle/>
          <a:p>
            <a:r>
              <a:rPr lang="en-US"/>
              <a:t>Adding New Menu</a:t>
            </a:r>
          </a:p>
        </p:txBody>
      </p:sp>
      <p:sp>
        <p:nvSpPr>
          <p:cNvPr id="3" name="Content Placeholder 2">
            <a:extLst>
              <a:ext uri="{FF2B5EF4-FFF2-40B4-BE49-F238E27FC236}">
                <a16:creationId xmlns:a16="http://schemas.microsoft.com/office/drawing/2014/main" id="{32F4A67A-7913-31A5-1EE8-B113D2564886}"/>
              </a:ext>
            </a:extLst>
          </p:cNvPr>
          <p:cNvSpPr>
            <a:spLocks noGrp="1"/>
          </p:cNvSpPr>
          <p:nvPr>
            <p:ph idx="1"/>
          </p:nvPr>
        </p:nvSpPr>
        <p:spPr>
          <a:xfrm>
            <a:off x="254000" y="690880"/>
            <a:ext cx="11013557" cy="6167120"/>
          </a:xfrm>
        </p:spPr>
        <p:txBody>
          <a:bodyPr>
            <a:normAutofit/>
          </a:bodyPr>
          <a:lstStyle/>
          <a:p>
            <a:pPr latinLnBrk="1"/>
            <a:r>
              <a:rPr lang="en-US">
                <a:effectLst/>
              </a:rPr>
              <a:t>http://localhost:2864//api/Security/MenuController/Post</a:t>
            </a:r>
          </a:p>
          <a:p>
            <a:r>
              <a:rPr lang="en-US"/>
              <a:t>Payload: </a:t>
            </a:r>
          </a:p>
          <a:p>
            <a:pPr marL="414000" lvl="1" indent="0">
              <a:buNone/>
            </a:pPr>
            <a:r>
              <a:rPr lang="en-US"/>
              <a:t>{</a:t>
            </a:r>
          </a:p>
          <a:p>
            <a:pPr marL="414000" lvl="1" indent="0">
              <a:buNone/>
            </a:pPr>
            <a:r>
              <a:rPr lang="en-US"/>
              <a:t>    "Type": 3,</a:t>
            </a:r>
          </a:p>
          <a:p>
            <a:pPr marL="414000" lvl="1" indent="0">
              <a:buNone/>
            </a:pPr>
            <a:r>
              <a:rPr lang="en-US"/>
              <a:t>    "M_name_AR": "</a:t>
            </a:r>
            <a:r>
              <a:rPr lang="ar-EG"/>
              <a:t>نتائج الفحص الرقابي",</a:t>
            </a:r>
          </a:p>
          <a:p>
            <a:pPr marL="414000" lvl="1" indent="0">
              <a:buNone/>
            </a:pPr>
            <a:r>
              <a:rPr lang="ar-EG"/>
              <a:t>    "</a:t>
            </a:r>
            <a:r>
              <a:rPr lang="en-US"/>
              <a:t>M_name_Eng": "AML Results",</a:t>
            </a:r>
          </a:p>
          <a:p>
            <a:pPr marL="414000" lvl="1" indent="0">
              <a:buNone/>
            </a:pPr>
            <a:r>
              <a:rPr lang="en-US"/>
              <a:t>    "M_URL": "BranchTransaction/AMLResults",</a:t>
            </a:r>
          </a:p>
          <a:p>
            <a:pPr marL="414000" lvl="1" indent="0">
              <a:buNone/>
            </a:pPr>
            <a:r>
              <a:rPr lang="en-US"/>
              <a:t>    "M_Icon": "fa fa-book",</a:t>
            </a:r>
          </a:p>
          <a:p>
            <a:pPr marL="414000" lvl="1" indent="0">
              <a:buNone/>
            </a:pPr>
            <a:r>
              <a:rPr lang="en-US"/>
              <a:t>    "M_Status": true,</a:t>
            </a:r>
          </a:p>
          <a:p>
            <a:pPr marL="414000" lvl="1" indent="0">
              <a:buNone/>
            </a:pPr>
            <a:r>
              <a:rPr lang="en-US"/>
              <a:t>    "Project_number": 1,</a:t>
            </a:r>
          </a:p>
          <a:p>
            <a:pPr marL="414000" lvl="1" indent="0">
              <a:buNone/>
            </a:pPr>
            <a:r>
              <a:rPr lang="en-US"/>
              <a:t>    "M_Parent_id": 83, // </a:t>
            </a:r>
            <a:r>
              <a:rPr lang="ar-EG"/>
              <a:t>معاملات الفروع</a:t>
            </a:r>
            <a:endParaRPr lang="en-US"/>
          </a:p>
          <a:p>
            <a:pPr marL="414000" lvl="1" indent="0">
              <a:buNone/>
            </a:pPr>
            <a:r>
              <a:rPr lang="en-US"/>
              <a:t>}</a:t>
            </a:r>
            <a:br>
              <a:rPr lang="en-US"/>
            </a:br>
            <a:endParaRPr lang="ar-EG"/>
          </a:p>
          <a:p>
            <a:pPr marL="322650" indent="-285750"/>
            <a:r>
              <a:rPr lang="en-US"/>
              <a:t>Response: 3473  // the id of menu</a:t>
            </a:r>
          </a:p>
        </p:txBody>
      </p:sp>
    </p:spTree>
    <p:extLst>
      <p:ext uri="{BB962C8B-B14F-4D97-AF65-F5344CB8AC3E}">
        <p14:creationId xmlns:p14="http://schemas.microsoft.com/office/powerpoint/2010/main" val="52878464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619125"/>
          </a:xfrm>
        </p:spPr>
        <p:txBody>
          <a:bodyPr>
            <a:normAutofit fontScale="90000"/>
          </a:bodyPr>
          <a:lstStyle/>
          <a:p>
            <a:r>
              <a:rPr lang="en-US" b="1">
                <a:solidFill>
                  <a:srgbClr val="FFFF00"/>
                </a:solidFill>
              </a:rPr>
              <a:t>RSC</a:t>
            </a:r>
            <a:r>
              <a:rPr lang="en-US" b="1"/>
              <a:t>.</a:t>
            </a:r>
            <a:r>
              <a:rPr lang="en-US" b="1">
                <a:solidFill>
                  <a:srgbClr val="FF0000"/>
                </a:solidFill>
              </a:rPr>
              <a:t>ReschedulingStatus</a:t>
            </a:r>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619125"/>
            <a:ext cx="11837458" cy="5857876"/>
          </a:xfrm>
        </p:spPr>
        <p:txBody>
          <a:bodyPr>
            <a:normAutofit/>
          </a:bodyPr>
          <a:lstStyle/>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6032154" y="784184"/>
            <a:ext cx="6024379" cy="2331549"/>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1814-C196-C0EC-59BC-302657CC09C6}"/>
              </a:ext>
            </a:extLst>
          </p:cNvPr>
          <p:cNvSpPr>
            <a:spLocks noGrp="1"/>
          </p:cNvSpPr>
          <p:nvPr>
            <p:ph type="title"/>
          </p:nvPr>
        </p:nvSpPr>
        <p:spPr>
          <a:xfrm>
            <a:off x="913795" y="0"/>
            <a:ext cx="10353762" cy="474133"/>
          </a:xfrm>
        </p:spPr>
        <p:txBody>
          <a:bodyPr>
            <a:normAutofit fontScale="90000"/>
          </a:bodyPr>
          <a:lstStyle/>
          <a:p>
            <a:r>
              <a:rPr lang="en-US" b="1">
                <a:solidFill>
                  <a:srgbClr val="FFFF00"/>
                </a:solidFill>
              </a:rPr>
              <a:t>RSC</a:t>
            </a:r>
            <a:r>
              <a:rPr lang="en-US" b="1"/>
              <a:t>.</a:t>
            </a:r>
            <a:r>
              <a:rPr lang="en-US" b="1">
                <a:solidFill>
                  <a:srgbClr val="00B0F0"/>
                </a:solidFill>
              </a:rPr>
              <a:t>RscCalculation</a:t>
            </a:r>
          </a:p>
        </p:txBody>
      </p:sp>
      <p:sp>
        <p:nvSpPr>
          <p:cNvPr id="3" name="Content Placeholder 2">
            <a:extLst>
              <a:ext uri="{FF2B5EF4-FFF2-40B4-BE49-F238E27FC236}">
                <a16:creationId xmlns:a16="http://schemas.microsoft.com/office/drawing/2014/main" id="{969F36C7-F139-24BE-E20B-FCA1EE0F3115}"/>
              </a:ext>
            </a:extLst>
          </p:cNvPr>
          <p:cNvSpPr>
            <a:spLocks noGrp="1"/>
          </p:cNvSpPr>
          <p:nvPr>
            <p:ph idx="1"/>
          </p:nvPr>
        </p:nvSpPr>
        <p:spPr>
          <a:xfrm>
            <a:off x="160867" y="804333"/>
            <a:ext cx="11870266" cy="5943600"/>
          </a:xfrm>
        </p:spPr>
        <p:txBody>
          <a:bodyPr/>
          <a:lstStyle/>
          <a:p>
            <a:r>
              <a:rPr lang="en-US"/>
              <a:t>RC_ID: int,  PK</a:t>
            </a:r>
          </a:p>
          <a:p>
            <a:r>
              <a:rPr lang="en-US"/>
              <a:t>Calculation_Way: string</a:t>
            </a:r>
          </a:p>
          <a:p>
            <a:pPr marL="36900" indent="0">
              <a:buNone/>
            </a:pPr>
            <a:endParaRPr lang="en-US"/>
          </a:p>
        </p:txBody>
      </p:sp>
      <p:pic>
        <p:nvPicPr>
          <p:cNvPr id="7" name="Picture 6">
            <a:extLst>
              <a:ext uri="{FF2B5EF4-FFF2-40B4-BE49-F238E27FC236}">
                <a16:creationId xmlns:a16="http://schemas.microsoft.com/office/drawing/2014/main" id="{B8FDDC66-2F63-6364-57E3-D615C24B5BD1}"/>
              </a:ext>
            </a:extLst>
          </p:cNvPr>
          <p:cNvPicPr>
            <a:picLocks noChangeAspect="1"/>
          </p:cNvPicPr>
          <p:nvPr/>
        </p:nvPicPr>
        <p:blipFill>
          <a:blip r:embed="rId2"/>
          <a:stretch>
            <a:fillRect/>
          </a:stretch>
        </p:blipFill>
        <p:spPr>
          <a:xfrm>
            <a:off x="8805687" y="804333"/>
            <a:ext cx="2556580" cy="1332815"/>
          </a:xfrm>
          <a:prstGeom prst="rect">
            <a:avLst/>
          </a:prstGeom>
        </p:spPr>
      </p:pic>
    </p:spTree>
    <p:extLst>
      <p:ext uri="{BB962C8B-B14F-4D97-AF65-F5344CB8AC3E}">
        <p14:creationId xmlns:p14="http://schemas.microsoft.com/office/powerpoint/2010/main" val="312505579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B7F92-E46E-76AC-1477-DD3A6DC8E6CF}"/>
              </a:ext>
            </a:extLst>
          </p:cNvPr>
          <p:cNvSpPr>
            <a:spLocks noGrp="1"/>
          </p:cNvSpPr>
          <p:nvPr>
            <p:ph type="title"/>
          </p:nvPr>
        </p:nvSpPr>
        <p:spPr>
          <a:xfrm>
            <a:off x="913795" y="0"/>
            <a:ext cx="10353762" cy="575733"/>
          </a:xfrm>
        </p:spPr>
        <p:txBody>
          <a:bodyPr>
            <a:normAutofit fontScale="90000"/>
          </a:bodyPr>
          <a:lstStyle/>
          <a:p>
            <a:r>
              <a:rPr lang="en-US" b="1">
                <a:solidFill>
                  <a:srgbClr val="FFFF00"/>
                </a:solidFill>
              </a:rPr>
              <a:t>RSC.</a:t>
            </a:r>
            <a:r>
              <a:rPr lang="en-US" b="1">
                <a:solidFill>
                  <a:srgbClr val="00B0F0"/>
                </a:solidFill>
              </a:rPr>
              <a:t>RscSetup</a:t>
            </a:r>
          </a:p>
        </p:txBody>
      </p:sp>
      <p:sp>
        <p:nvSpPr>
          <p:cNvPr id="7" name="Content Placeholder 6">
            <a:extLst>
              <a:ext uri="{FF2B5EF4-FFF2-40B4-BE49-F238E27FC236}">
                <a16:creationId xmlns:a16="http://schemas.microsoft.com/office/drawing/2014/main" id="{CE623E09-404D-0A42-B52E-CC14683BE5F4}"/>
              </a:ext>
            </a:extLst>
          </p:cNvPr>
          <p:cNvSpPr>
            <a:spLocks noGrp="1"/>
          </p:cNvSpPr>
          <p:nvPr>
            <p:ph idx="1"/>
          </p:nvPr>
        </p:nvSpPr>
        <p:spPr>
          <a:xfrm>
            <a:off x="152401" y="575732"/>
            <a:ext cx="11980333" cy="5698067"/>
          </a:xfrm>
        </p:spPr>
        <p:txBody>
          <a:bodyPr>
            <a:normAutofit/>
          </a:bodyPr>
          <a:lstStyle/>
          <a:p>
            <a:endParaRPr lang="en-US" sz="1600" b="1"/>
          </a:p>
          <a:p>
            <a:pPr marL="36900" indent="0">
              <a:buNone/>
            </a:pPr>
            <a:endParaRPr lang="en-US" sz="1600" b="1"/>
          </a:p>
          <a:p>
            <a:r>
              <a:rPr lang="en-US" sz="1600" b="1"/>
              <a:t>RS_ID: PK</a:t>
            </a:r>
          </a:p>
          <a:p>
            <a:r>
              <a:rPr lang="en-US" sz="1600" b="1"/>
              <a:t>Type: string</a:t>
            </a:r>
          </a:p>
          <a:p>
            <a:r>
              <a:rPr lang="en-US" sz="1600" b="1"/>
              <a:t>Max_Resc_Months: int, </a:t>
            </a:r>
            <a:r>
              <a:rPr lang="ar-EG" sz="1600" b="1"/>
              <a:t>الحد الأقصى لمدة الجدولة</a:t>
            </a:r>
          </a:p>
          <a:p>
            <a:r>
              <a:rPr lang="en-US" sz="1600" b="1"/>
              <a:t>Grace_Period: int,  </a:t>
            </a:r>
            <a:r>
              <a:rPr lang="ar-EG" sz="1600" b="1"/>
              <a:t>فترة السماح</a:t>
            </a:r>
          </a:p>
          <a:p>
            <a:r>
              <a:rPr lang="en-US" sz="1600" b="1"/>
              <a:t>Resc_Commission: int,  </a:t>
            </a:r>
            <a:r>
              <a:rPr lang="ar-EG" sz="1600" b="1"/>
              <a:t>عمولة إعادة الجدولة</a:t>
            </a:r>
            <a:endParaRPr lang="en-US" sz="1600" b="1"/>
          </a:p>
          <a:p>
            <a:r>
              <a:rPr lang="en-US" sz="1600" b="1"/>
              <a:t>Resc_expenses: decimal, </a:t>
            </a:r>
            <a:r>
              <a:rPr lang="ar-EG" sz="1600" b="1"/>
              <a:t>مصروفات إعادة الجدولة</a:t>
            </a:r>
          </a:p>
          <a:p>
            <a:r>
              <a:rPr lang="en-US" sz="1600" b="1"/>
              <a:t>Resc_Return_Ratio: decimal, </a:t>
            </a:r>
            <a:r>
              <a:rPr lang="ar-EG" sz="1600" b="1"/>
              <a:t>نسبة عائد إعاد ة الجدولة</a:t>
            </a:r>
            <a:endParaRPr lang="en-US" sz="1600" b="1"/>
          </a:p>
          <a:p>
            <a:r>
              <a:rPr lang="en-US" sz="1600" b="1"/>
              <a:t>Min_Premium_Num: int, </a:t>
            </a:r>
            <a:r>
              <a:rPr lang="ar-EG" sz="1600" b="1"/>
              <a:t>الحد الأدني لعددالأقساط المتبقية</a:t>
            </a:r>
            <a:endParaRPr lang="en-US" sz="1600" b="1"/>
          </a:p>
          <a:p>
            <a:r>
              <a:rPr lang="en-US" sz="1600" b="1"/>
              <a:t>Max_Premium_Num: int, </a:t>
            </a:r>
            <a:r>
              <a:rPr lang="ar-EG" sz="1600" b="1"/>
              <a:t>الحد الأقصى لعدد الأقساط المتبقية</a:t>
            </a:r>
            <a:endParaRPr lang="en-US" sz="1600" b="1"/>
          </a:p>
          <a:p>
            <a:r>
              <a:rPr lang="en-US" sz="1600" b="1"/>
              <a:t>Cust_Guar: int </a:t>
            </a:r>
          </a:p>
          <a:p>
            <a:r>
              <a:rPr lang="en-US" sz="1600" b="1"/>
              <a:t>RscCalculations: FK from </a:t>
            </a:r>
            <a:r>
              <a:rPr lang="en-US" sz="1600" b="1">
                <a:solidFill>
                  <a:srgbClr val="FFFF00"/>
                </a:solidFill>
              </a:rPr>
              <a:t>RscCalculation</a:t>
            </a:r>
          </a:p>
          <a:p>
            <a:r>
              <a:rPr lang="en-US" sz="1600" b="1"/>
              <a:t>FRC_Id: FK from </a:t>
            </a:r>
            <a:r>
              <a:rPr lang="en-US" sz="1600" b="1">
                <a:solidFill>
                  <a:srgbClr val="FFFF00"/>
                </a:solidFill>
              </a:rPr>
              <a:t>Flow_Repayment_Cycles</a:t>
            </a:r>
          </a:p>
        </p:txBody>
      </p:sp>
      <p:pic>
        <p:nvPicPr>
          <p:cNvPr id="8" name="Content Placeholder 4">
            <a:extLst>
              <a:ext uri="{FF2B5EF4-FFF2-40B4-BE49-F238E27FC236}">
                <a16:creationId xmlns:a16="http://schemas.microsoft.com/office/drawing/2014/main" id="{438232D4-C597-18CA-9087-8E9A1298206A}"/>
              </a:ext>
            </a:extLst>
          </p:cNvPr>
          <p:cNvPicPr>
            <a:picLocks noChangeAspect="1"/>
          </p:cNvPicPr>
          <p:nvPr/>
        </p:nvPicPr>
        <p:blipFill>
          <a:blip r:embed="rId2"/>
          <a:stretch>
            <a:fillRect/>
          </a:stretch>
        </p:blipFill>
        <p:spPr>
          <a:xfrm>
            <a:off x="2310581" y="575733"/>
            <a:ext cx="9822153" cy="103293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404768165"/>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solidFill>
                  <a:srgbClr val="FFFF00"/>
                </a:solidFill>
              </a:rPr>
              <a:t>RSC</a:t>
            </a:r>
            <a:r>
              <a:rPr lang="en-US" b="1"/>
              <a:t>.</a:t>
            </a:r>
            <a:r>
              <a:rPr lang="en-US" b="1">
                <a:solidFill>
                  <a:srgbClr val="00B0F0"/>
                </a:solidFill>
              </a:rPr>
              <a:t>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4" y="723901"/>
            <a:ext cx="12087225" cy="5991224"/>
          </a:xfrm>
        </p:spPr>
        <p:txBody>
          <a:bodyPr>
            <a:normAutofit/>
          </a:bodyPr>
          <a:lstStyle/>
          <a:p>
            <a:r>
              <a:rPr lang="en-US" sz="1800" b="1"/>
              <a:t>RC_ID: PK</a:t>
            </a:r>
          </a:p>
          <a:p>
            <a:r>
              <a:rPr lang="en-US" sz="1800" b="1"/>
              <a:t>CustomerId: FK from </a:t>
            </a:r>
            <a:r>
              <a:rPr lang="en-US" sz="1800" b="1">
                <a:solidFill>
                  <a:srgbClr val="FFFF00"/>
                </a:solidFill>
              </a:rPr>
              <a:t>customer</a:t>
            </a:r>
          </a:p>
          <a:p>
            <a:r>
              <a:rPr lang="en-US" sz="1800" b="1"/>
              <a:t>RequestId: FK from </a:t>
            </a:r>
            <a:r>
              <a:rPr lang="en-US" sz="1800" b="1">
                <a:solidFill>
                  <a:srgbClr val="FFFF00"/>
                </a:solidFill>
              </a:rPr>
              <a:t>Request</a:t>
            </a:r>
          </a:p>
          <a:p>
            <a:r>
              <a:rPr lang="en-US" sz="1800" b="1"/>
              <a:t>Status: FK from </a:t>
            </a:r>
            <a:r>
              <a:rPr lang="en-US" sz="1800" b="1">
                <a:solidFill>
                  <a:srgbClr val="FFFF00"/>
                </a:solidFill>
              </a:rPr>
              <a:t>ReschedulingStatus</a:t>
            </a:r>
          </a:p>
          <a:p>
            <a:r>
              <a:rPr lang="en-US" sz="1800" b="1"/>
              <a:t>RS_ID: FK from </a:t>
            </a:r>
            <a:r>
              <a:rPr lang="en-US" sz="1800" b="1">
                <a:solidFill>
                  <a:srgbClr val="FFFF00"/>
                </a:solidFill>
              </a:rPr>
              <a:t>RscSetup</a:t>
            </a:r>
          </a:p>
          <a:p>
            <a:r>
              <a:rPr lang="en-US" sz="1800" b="1"/>
              <a:t>BranchId: FK from </a:t>
            </a:r>
            <a:r>
              <a:rPr lang="en-US" sz="1800" b="1">
                <a:solidFill>
                  <a:srgbClr val="FFFF00"/>
                </a:solidFill>
              </a:rPr>
              <a:t>BranchId</a:t>
            </a:r>
          </a:p>
          <a:p>
            <a:r>
              <a:rPr lang="en-US" sz="1800" b="1"/>
              <a:t>UserID: FK from </a:t>
            </a:r>
            <a:r>
              <a:rPr lang="en-US" sz="1800" b="1">
                <a:solidFill>
                  <a:srgbClr val="FFFF00"/>
                </a:solidFill>
              </a:rPr>
              <a:t>User</a:t>
            </a:r>
          </a:p>
          <a:p>
            <a:r>
              <a:rPr lang="en-US" sz="1800" b="1"/>
              <a:t>creationDate: </a:t>
            </a:r>
            <a:r>
              <a:rPr lang="en-US"/>
              <a:t>DateTime</a:t>
            </a:r>
            <a:endParaRPr lang="en-US" sz="1800" b="1">
              <a:solidFill>
                <a:srgbClr val="00B0F0"/>
              </a:solidFill>
            </a:endParaRPr>
          </a:p>
          <a:p>
            <a:r>
              <a:rPr lang="en-US" sz="1800" b="1">
                <a:solidFill>
                  <a:srgbClr val="00B0F0"/>
                </a:solidFill>
              </a:rPr>
              <a:t>ReschedulingCustomers</a:t>
            </a:r>
            <a:endParaRPr lang="en-US" sz="1800" b="1">
              <a:solidFill>
                <a:srgbClr val="FFFF00"/>
              </a:solidFill>
            </a:endParaRPr>
          </a:p>
        </p:txBody>
      </p:sp>
      <p:pic>
        <p:nvPicPr>
          <p:cNvPr id="5" name="Picture 4">
            <a:extLst>
              <a:ext uri="{FF2B5EF4-FFF2-40B4-BE49-F238E27FC236}">
                <a16:creationId xmlns:a16="http://schemas.microsoft.com/office/drawing/2014/main" id="{BF029F3C-0680-92AE-DAA8-A6A6CE2621EB}"/>
              </a:ext>
            </a:extLst>
          </p:cNvPr>
          <p:cNvPicPr>
            <a:picLocks noChangeAspect="1"/>
          </p:cNvPicPr>
          <p:nvPr/>
        </p:nvPicPr>
        <p:blipFill>
          <a:blip r:embed="rId2"/>
          <a:stretch>
            <a:fillRect/>
          </a:stretch>
        </p:blipFill>
        <p:spPr>
          <a:xfrm>
            <a:off x="4204759" y="792405"/>
            <a:ext cx="7882467" cy="1739130"/>
          </a:xfrm>
          <a:prstGeom prst="rect">
            <a:avLst/>
          </a:prstGeom>
        </p:spPr>
      </p:pic>
    </p:spTree>
    <p:extLst>
      <p:ext uri="{BB962C8B-B14F-4D97-AF65-F5344CB8AC3E}">
        <p14:creationId xmlns:p14="http://schemas.microsoft.com/office/powerpoint/2010/main" val="122877339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B1285-9FE7-63D3-6DD7-985338EC4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64B98-BA43-71F3-3120-CA9399B3486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AML</a:t>
            </a:r>
          </a:p>
        </p:txBody>
      </p:sp>
    </p:spTree>
    <p:extLst>
      <p:ext uri="{BB962C8B-B14F-4D97-AF65-F5344CB8AC3E}">
        <p14:creationId xmlns:p14="http://schemas.microsoft.com/office/powerpoint/2010/main" val="306256168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4388-7F59-81AF-3A3D-B278B61D218C}"/>
              </a:ext>
            </a:extLst>
          </p:cNvPr>
          <p:cNvSpPr>
            <a:spLocks noGrp="1"/>
          </p:cNvSpPr>
          <p:nvPr>
            <p:ph type="title"/>
          </p:nvPr>
        </p:nvSpPr>
        <p:spPr/>
        <p:txBody>
          <a:bodyPr/>
          <a:lstStyle/>
          <a:p>
            <a:r>
              <a:rPr lang="en-US"/>
              <a:t>When It used</a:t>
            </a:r>
          </a:p>
        </p:txBody>
      </p:sp>
      <p:sp>
        <p:nvSpPr>
          <p:cNvPr id="3" name="Content Placeholder 2">
            <a:extLst>
              <a:ext uri="{FF2B5EF4-FFF2-40B4-BE49-F238E27FC236}">
                <a16:creationId xmlns:a16="http://schemas.microsoft.com/office/drawing/2014/main" id="{A57C4A5C-50BA-D9AF-9136-3CB58172AD39}"/>
              </a:ext>
            </a:extLst>
          </p:cNvPr>
          <p:cNvSpPr>
            <a:spLocks noGrp="1"/>
          </p:cNvSpPr>
          <p:nvPr>
            <p:ph idx="1"/>
          </p:nvPr>
        </p:nvSpPr>
        <p:spPr/>
        <p:txBody>
          <a:bodyPr/>
          <a:lstStyle/>
          <a:p>
            <a:r>
              <a:rPr lang="en-US" b="1"/>
              <a:t>In Micro it is executed after the iscore</a:t>
            </a:r>
          </a:p>
        </p:txBody>
      </p:sp>
    </p:spTree>
    <p:extLst>
      <p:ext uri="{BB962C8B-B14F-4D97-AF65-F5344CB8AC3E}">
        <p14:creationId xmlns:p14="http://schemas.microsoft.com/office/powerpoint/2010/main" val="399490374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F99C4-C2C7-A9E0-92BB-1085913C6A2F}"/>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t>.</a:t>
            </a:r>
            <a:r>
              <a:rPr lang="en-US" b="1">
                <a:solidFill>
                  <a:srgbClr val="00B0F0"/>
                </a:solidFill>
              </a:rPr>
              <a:t>Flow_Sanctionscanner_ByID</a:t>
            </a:r>
          </a:p>
        </p:txBody>
      </p:sp>
      <p:sp>
        <p:nvSpPr>
          <p:cNvPr id="3" name="Content Placeholder 2">
            <a:extLst>
              <a:ext uri="{FF2B5EF4-FFF2-40B4-BE49-F238E27FC236}">
                <a16:creationId xmlns:a16="http://schemas.microsoft.com/office/drawing/2014/main" id="{D442004E-AE66-C2E6-572A-B949B49C0D5D}"/>
              </a:ext>
            </a:extLst>
          </p:cNvPr>
          <p:cNvSpPr>
            <a:spLocks noGrp="1"/>
          </p:cNvSpPr>
          <p:nvPr>
            <p:ph idx="1"/>
          </p:nvPr>
        </p:nvSpPr>
        <p:spPr>
          <a:xfrm>
            <a:off x="193040" y="863600"/>
            <a:ext cx="11074517" cy="5506719"/>
          </a:xfrm>
        </p:spPr>
        <p:txBody>
          <a:bodyPr/>
          <a:lstStyle/>
          <a:p>
            <a:r>
              <a:rPr lang="en-US" b="1"/>
              <a:t>This table represents the result of AML </a:t>
            </a:r>
          </a:p>
        </p:txBody>
      </p:sp>
    </p:spTree>
    <p:extLst>
      <p:ext uri="{BB962C8B-B14F-4D97-AF65-F5344CB8AC3E}">
        <p14:creationId xmlns:p14="http://schemas.microsoft.com/office/powerpoint/2010/main" val="202940394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EC314-3C68-09E4-C3BD-CFEDD763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9C956-03BC-201C-5865-88EFAC2FAA47}"/>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AML</a:t>
            </a:r>
          </a:p>
        </p:txBody>
      </p:sp>
    </p:spTree>
    <p:extLst>
      <p:ext uri="{BB962C8B-B14F-4D97-AF65-F5344CB8AC3E}">
        <p14:creationId xmlns:p14="http://schemas.microsoft.com/office/powerpoint/2010/main" val="243252280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111290</TotalTime>
  <Words>11962</Words>
  <Application>Microsoft Office PowerPoint</Application>
  <PresentationFormat>Widescreen</PresentationFormat>
  <Paragraphs>1715</Paragraphs>
  <Slides>222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222</vt:i4>
      </vt:variant>
    </vt:vector>
  </HeadingPairs>
  <TitlesOfParts>
    <vt:vector size="227" baseType="lpstr">
      <vt:lpstr>Arial</vt:lpstr>
      <vt:lpstr>Calisto MT</vt:lpstr>
      <vt:lpstr>Wingdings</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TWF.Flow_Address_CE</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 [النشاط الرئيسي]</vt:lpstr>
      <vt:lpstr>SWF.Flow_Sub_activities  [النشاط الفرعي]</vt:lpstr>
      <vt:lpstr>SWF.Flow_Relationships</vt:lpstr>
      <vt:lpstr>SWF.Flow_Customers_jobs</vt:lpstr>
      <vt:lpstr>SWF.Flow_districts  [مدينة أو مركز]</vt:lpstr>
      <vt:lpstr>SWF.Flow_Sections [الحي] [ القسم ]</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Adding New 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RSC.ReschedulingStatus</vt:lpstr>
      <vt:lpstr>RSC.RscCalculation</vt:lpstr>
      <vt:lpstr>RSC.RscSetup</vt:lpstr>
      <vt:lpstr>RSC.ReschedulingCustomers</vt:lpstr>
      <vt:lpstr>PowerPoint Presentation</vt:lpstr>
      <vt:lpstr>PowerPoint Presentation</vt:lpstr>
      <vt:lpstr>PowerPoint Presentation</vt:lpstr>
      <vt:lpstr> End Rescheduling </vt:lpstr>
      <vt:lpstr>START AML</vt:lpstr>
      <vt:lpstr>When It used</vt:lpstr>
      <vt:lpstr>TWF.Flow_Sanctionscanner_ByID</vt:lpstr>
      <vt:lpstr>End AML</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1784</cp:revision>
  <dcterms:created xsi:type="dcterms:W3CDTF">2026-02-01T18:13:26Z</dcterms:created>
  <dcterms:modified xsi:type="dcterms:W3CDTF">2026-07-05T12:47:20Z</dcterms:modified>
</cp:coreProperties>
</file>