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264" r:id="rId10"/>
    <p:sldId id="277" r:id="rId11"/>
    <p:sldId id="265" r:id="rId12"/>
    <p:sldId id="266" r:id="rId13"/>
    <p:sldId id="267" r:id="rId14"/>
    <p:sldId id="269" r:id="rId15"/>
    <p:sldId id="268" r:id="rId16"/>
    <p:sldId id="270" r:id="rId17"/>
    <p:sldId id="271" r:id="rId18"/>
    <p:sldId id="272" r:id="rId19"/>
    <p:sldId id="273" r:id="rId20"/>
    <p:sldId id="274" r:id="rId21"/>
    <p:sldId id="275" r:id="rId22"/>
    <p:sldId id="276"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2/11/2026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2/11/2026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2/11/2026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2/11/2026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dirty="0"/>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dirty="0"/>
              <a:t>By. Ahmed Mohamed </a:t>
            </a:r>
            <a:r>
              <a:rPr lang="en-US" dirty="0" err="1"/>
              <a:t>samir</a:t>
            </a:r>
            <a:endParaRPr lang="en-US" dirty="0"/>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dirty="0"/>
              <a:t>شركات التأمين الخاصة بالتمويل</a:t>
            </a:r>
            <a:endParaRPr lang="en-US" dirty="0"/>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dirty="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dirty="0"/>
              <a:t>سم شركة التأمين </a:t>
            </a:r>
          </a:p>
          <a:p>
            <a:pPr algn="r" rtl="1"/>
            <a:r>
              <a:rPr lang="ar-EG" sz="2400" dirty="0"/>
              <a:t>كود اسم شركة التأمين </a:t>
            </a:r>
            <a:r>
              <a:rPr lang="en-US" sz="2400" dirty="0"/>
              <a:t>( id )</a:t>
            </a:r>
          </a:p>
          <a:p>
            <a:pPr algn="r" rtl="1"/>
            <a:endParaRPr lang="en-US" sz="2400" dirty="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dirty="0"/>
              <a:t>أنواع التأمين الخاص بالتمويل ؟</a:t>
            </a:r>
            <a:endParaRPr lang="en-US" dirty="0"/>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dirty="0"/>
              <a:t>أنا مأمَّن على إيه؟</a:t>
            </a:r>
          </a:p>
          <a:p>
            <a:pPr algn="r" rtl="1"/>
            <a:r>
              <a:rPr lang="ar-EG" sz="2400" dirty="0"/>
              <a:t>تأمين حياة المقترض (الوفاة)</a:t>
            </a:r>
          </a:p>
          <a:p>
            <a:pPr algn="r" rtl="1"/>
            <a:r>
              <a:rPr lang="ar-EG" sz="2400" dirty="0"/>
              <a:t>تأمين فقدان الوظيفة </a:t>
            </a:r>
          </a:p>
          <a:p>
            <a:pPr algn="r" rtl="1"/>
            <a:r>
              <a:rPr lang="ar-EG" sz="2400" dirty="0"/>
              <a:t>تأمين على الإفلاس</a:t>
            </a:r>
          </a:p>
          <a:p>
            <a:pPr algn="r" rtl="1"/>
            <a:r>
              <a:rPr lang="ar-EG" sz="2400" dirty="0"/>
              <a:t>تأمين على العجز الكلى العجز الكلي</a:t>
            </a:r>
          </a:p>
          <a:p>
            <a:pPr algn="r" rtl="1"/>
            <a:r>
              <a:rPr lang="ar-EG" sz="2400" dirty="0"/>
              <a:t>تأمين على الأصل الممول: ده تأمين على </a:t>
            </a:r>
            <a:r>
              <a:rPr lang="ar-EG" sz="2400" b="1" dirty="0"/>
              <a:t>الشيء نفسه</a:t>
            </a:r>
            <a:r>
              <a:rPr lang="ar-EG" sz="2400" dirty="0"/>
              <a:t> اللي </a:t>
            </a:r>
            <a:r>
              <a:rPr lang="ar-EG" sz="2400" dirty="0" err="1"/>
              <a:t>اتاخد</a:t>
            </a:r>
            <a:r>
              <a:rPr lang="ar-EG" sz="2400" dirty="0"/>
              <a:t> بالقرض </a:t>
            </a:r>
            <a:r>
              <a:rPr lang="ar-EG" sz="2400" dirty="0" err="1"/>
              <a:t>زى</a:t>
            </a:r>
            <a:r>
              <a:rPr lang="ar-EG" sz="2400" dirty="0"/>
              <a:t> عربية او عقار</a:t>
            </a:r>
          </a:p>
          <a:p>
            <a:pPr algn="r" rtl="1"/>
            <a:endParaRPr lang="ar-EG" sz="2200" dirty="0"/>
          </a:p>
          <a:p>
            <a:pPr algn="r" rtl="1"/>
            <a:endParaRPr lang="ar-EG" sz="2400" dirty="0"/>
          </a:p>
          <a:p>
            <a:pPr algn="r" rtl="1"/>
            <a:endParaRPr lang="en-US" sz="2400" dirty="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dirty="0"/>
              <a:t>الحالات التأمينية</a:t>
            </a:r>
            <a:endParaRPr lang="en-US" dirty="0"/>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dirty="0"/>
              <a:t>الظروف أو الأحداث التي إذا وقعت تلتزم شركة التأمين بدفع التعويض</a:t>
            </a:r>
          </a:p>
          <a:p>
            <a:pPr lvl="1" algn="r" rtl="1"/>
            <a:r>
              <a:rPr lang="ar-EG" sz="2000" b="1" dirty="0"/>
              <a:t>العجز الكلي الدائم</a:t>
            </a:r>
          </a:p>
          <a:p>
            <a:pPr lvl="1" algn="r" rtl="1"/>
            <a:r>
              <a:rPr lang="ar-EG" sz="2000" b="1" dirty="0"/>
              <a:t>الوفاة</a:t>
            </a:r>
          </a:p>
          <a:p>
            <a:pPr algn="r" rtl="1"/>
            <a:endParaRPr lang="ar-EG" sz="2200" b="1" dirty="0"/>
          </a:p>
          <a:p>
            <a:pPr algn="r" rtl="1"/>
            <a:endParaRPr lang="en-US" sz="2200" dirty="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dirty="0"/>
              <a:t>أسباب رفض التعويض</a:t>
            </a:r>
            <a:endParaRPr lang="en-US" b="1" dirty="0"/>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dirty="0"/>
              <a:t>التعويض: المبلغ الذي تدفعه شركة التأمين للجهة الممولة عند وقوع الخطر المؤمن عليه، لتعويض الضرر أو فقدان القيمة المالية.</a:t>
            </a:r>
          </a:p>
          <a:p>
            <a:pPr algn="r" rtl="1"/>
            <a:r>
              <a:rPr lang="ar-EG" sz="2400" dirty="0"/>
              <a:t>أسباب رفض التعويض في سياق التمويلات</a:t>
            </a:r>
          </a:p>
          <a:p>
            <a:pPr lvl="1" algn="r" rtl="1"/>
            <a:r>
              <a:rPr lang="ar-EG" sz="2400" dirty="0"/>
              <a:t>العميل متعثر لفترة طويلة بدون مبرر</a:t>
            </a:r>
          </a:p>
          <a:p>
            <a:pPr lvl="1" algn="r" rtl="1"/>
            <a:r>
              <a:rPr lang="ar-EG" sz="2400" dirty="0"/>
              <a:t>التمويل استُخدم في غير الغرض المحدد</a:t>
            </a:r>
            <a:endParaRPr lang="ar-EG" sz="2400" b="1" dirty="0"/>
          </a:p>
          <a:p>
            <a:pPr lvl="1" algn="r" rtl="1"/>
            <a:r>
              <a:rPr lang="ar-EG" sz="2400" dirty="0"/>
              <a:t>الخطر غير مغطى.</a:t>
            </a:r>
          </a:p>
          <a:p>
            <a:pPr lvl="1" algn="r" rtl="1"/>
            <a:endParaRPr lang="ar-EG" sz="2200" b="1" dirty="0"/>
          </a:p>
          <a:p>
            <a:pPr algn="r" rtl="1"/>
            <a:endParaRPr lang="en-US" sz="2400" b="1" dirty="0"/>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dirty="0"/>
              <a:t>تعاقد شركة التأمين</a:t>
            </a:r>
            <a:endParaRPr lang="en-US" b="1" dirty="0"/>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dirty="0"/>
              <a:t>نوع التأمين</a:t>
            </a:r>
          </a:p>
          <a:p>
            <a:pPr algn="r" rtl="1"/>
            <a:r>
              <a:rPr lang="ar-EG" b="1" dirty="0"/>
              <a:t>اسم شركة التأمين</a:t>
            </a:r>
          </a:p>
          <a:p>
            <a:pPr algn="r" rtl="1"/>
            <a:r>
              <a:rPr lang="ar-EG" b="1" dirty="0"/>
              <a:t>تاريخ بداية التعاقد</a:t>
            </a:r>
          </a:p>
          <a:p>
            <a:pPr algn="r" rtl="1"/>
            <a:r>
              <a:rPr lang="ar-EG" b="1" dirty="0"/>
              <a:t>تاريخ نهاية التعاقد</a:t>
            </a:r>
          </a:p>
          <a:p>
            <a:pPr algn="r" rtl="1"/>
            <a:r>
              <a:rPr lang="ar-EG" b="1" dirty="0"/>
              <a:t>أقصى مبلغ للتأمين : الحد الأقصى الذي تلتزم به شركة التأمين بدفعه للمستفيد عند وقوع الخطر المؤمن عليه.</a:t>
            </a:r>
          </a:p>
          <a:p>
            <a:pPr algn="r" rtl="1"/>
            <a:r>
              <a:rPr lang="ar-EG" b="1" dirty="0"/>
              <a:t>الحد الأدنى للقسط التأميني ؟ أقل مبلغ يجب دفعه للحصول على التغطية التأمينية، حتى لو كانت قيمة القرض أو الأصل صغيرة.</a:t>
            </a:r>
          </a:p>
          <a:p>
            <a:pPr algn="r" rtl="1"/>
            <a:r>
              <a:rPr lang="ar-EG" b="1" dirty="0"/>
              <a:t>الجزء المحمل من الشركة فقط (</a:t>
            </a:r>
            <a:r>
              <a:rPr lang="ar-EG" dirty="0"/>
              <a:t>شركة التمويل</a:t>
            </a:r>
            <a:r>
              <a:rPr lang="ar-EG" b="1" dirty="0"/>
              <a:t>) : القسط التأميني في نسبة التحمل </a:t>
            </a:r>
            <a:r>
              <a:rPr lang="ar-EG" dirty="0"/>
              <a:t>للشركة الممولة</a:t>
            </a:r>
            <a:endParaRPr lang="ar-EG" b="1" dirty="0"/>
          </a:p>
          <a:p>
            <a:pPr algn="r" rtl="1"/>
            <a:r>
              <a:rPr lang="ar-EG" b="1" dirty="0"/>
              <a:t>نسبة تحمل شركة التأمين </a:t>
            </a:r>
            <a:r>
              <a:rPr lang="en-US" b="1" dirty="0"/>
              <a:t>:</a:t>
            </a:r>
          </a:p>
          <a:p>
            <a:pPr algn="r" rtl="1"/>
            <a:r>
              <a:rPr lang="ar-EG" b="1" dirty="0"/>
              <a:t>مثال بحالة خسارة 50000</a:t>
            </a:r>
          </a:p>
          <a:p>
            <a:pPr algn="r" rtl="1"/>
            <a:endParaRPr lang="ar-EG" b="1" dirty="0"/>
          </a:p>
          <a:p>
            <a:pPr algn="r" rtl="1"/>
            <a:endParaRPr lang="ar-EG" dirty="0"/>
          </a:p>
          <a:p>
            <a:pPr algn="r" rtl="1"/>
            <a:endParaRPr lang="ar-EG" dirty="0"/>
          </a:p>
          <a:p>
            <a:pPr algn="r" rtl="1"/>
            <a:endParaRPr lang="en-US" b="1" dirty="0"/>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dirty="0">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619432"/>
          </a:xfrm>
        </p:spPr>
        <p:txBody>
          <a:bodyPr>
            <a:normAutofit fontScale="90000"/>
          </a:bodyPr>
          <a:lstStyle/>
          <a:p>
            <a:r>
              <a:rPr lang="en-US" b="1" dirty="0">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334296" y="737419"/>
            <a:ext cx="11552903" cy="5978014"/>
          </a:xfrm>
        </p:spPr>
        <p:txBody>
          <a:bodyPr>
            <a:normAutofit/>
          </a:bodyPr>
          <a:lstStyle/>
          <a:p>
            <a:pPr marL="494100" indent="-457200" algn="r" rtl="1">
              <a:buFont typeface="+mj-lt"/>
              <a:buAutoNum type="arabicPeriod"/>
            </a:pPr>
            <a:r>
              <a:rPr lang="ar-EG" sz="2200" b="1" dirty="0">
                <a:solidFill>
                  <a:srgbClr val="FF0000"/>
                </a:solidFill>
              </a:rPr>
              <a:t>إدخال طلب</a:t>
            </a:r>
          </a:p>
          <a:p>
            <a:pPr marL="871200" lvl="1" indent="-457200" algn="r" rtl="1"/>
            <a:r>
              <a:rPr lang="en-US" b="1" dirty="0"/>
              <a:t>Operator: loan </a:t>
            </a:r>
            <a:r>
              <a:rPr lang="en-US" b="1"/>
              <a:t>officer ()</a:t>
            </a:r>
            <a:endParaRPr lang="ar-EG" b="1" dirty="0"/>
          </a:p>
          <a:p>
            <a:pPr marL="494100" indent="-457200" algn="r" rtl="1">
              <a:buFont typeface="+mj-lt"/>
              <a:buAutoNum type="arabicPeriod"/>
            </a:pPr>
            <a:r>
              <a:rPr lang="ar-EG" sz="2200" b="1" dirty="0">
                <a:solidFill>
                  <a:srgbClr val="FF0000"/>
                </a:solidFill>
              </a:rPr>
              <a:t>مراجعة أولية</a:t>
            </a:r>
            <a:endParaRPr lang="en-US" sz="2200" b="1" dirty="0">
              <a:solidFill>
                <a:srgbClr val="FF0000"/>
              </a:solidFill>
            </a:endParaRPr>
          </a:p>
          <a:p>
            <a:pPr marL="871200" lvl="1" indent="-457200" algn="r" rtl="1"/>
            <a:r>
              <a:rPr lang="en-US" b="1" dirty="0"/>
              <a:t>Operator: CO</a:t>
            </a:r>
            <a:endParaRPr lang="ar-EG" b="1" dirty="0"/>
          </a:p>
          <a:p>
            <a:pPr marL="494100" indent="-457200" algn="r" rtl="1">
              <a:buFont typeface="+mj-lt"/>
              <a:buAutoNum type="arabicPeriod"/>
            </a:pPr>
            <a:r>
              <a:rPr lang="ar-EG" sz="2200" b="1" dirty="0">
                <a:solidFill>
                  <a:srgbClr val="FF0000"/>
                </a:solidFill>
              </a:rPr>
              <a:t>زيارة ميدانية</a:t>
            </a:r>
            <a:endParaRPr lang="en-US" sz="2200" b="1" dirty="0">
              <a:solidFill>
                <a:srgbClr val="FF0000"/>
              </a:solidFill>
            </a:endParaRPr>
          </a:p>
          <a:p>
            <a:pPr marL="871200" lvl="1" indent="-457200" algn="r" rtl="1"/>
            <a:r>
              <a:rPr lang="en-US" b="1" dirty="0"/>
              <a:t>Operator: CO</a:t>
            </a:r>
            <a:endParaRPr lang="ar-EG" b="1" dirty="0"/>
          </a:p>
          <a:p>
            <a:pPr marL="494100" indent="-457200" algn="r" rtl="1">
              <a:buFont typeface="+mj-lt"/>
              <a:buAutoNum type="arabicPeriod"/>
            </a:pPr>
            <a:r>
              <a:rPr lang="ar-EG" sz="2200" b="1" dirty="0">
                <a:solidFill>
                  <a:srgbClr val="FF0000"/>
                </a:solidFill>
              </a:rPr>
              <a:t>تحليل الائتمانى</a:t>
            </a:r>
            <a:endParaRPr lang="en-US" sz="2200" b="1" dirty="0">
              <a:solidFill>
                <a:srgbClr val="FF0000"/>
              </a:solidFill>
            </a:endParaRPr>
          </a:p>
          <a:p>
            <a:pPr marL="871200" lvl="1" indent="-457200" algn="r" rtl="1"/>
            <a:r>
              <a:rPr lang="en-US" b="1" dirty="0"/>
              <a:t>Operator: CO</a:t>
            </a:r>
          </a:p>
          <a:p>
            <a:pPr marL="494100" indent="-457200" algn="r" rtl="1">
              <a:buFont typeface="+mj-lt"/>
              <a:buAutoNum type="arabicPeriod"/>
            </a:pPr>
            <a:r>
              <a:rPr lang="ar-EG" sz="2200" b="1" dirty="0">
                <a:solidFill>
                  <a:srgbClr val="FF0000"/>
                </a:solidFill>
              </a:rPr>
              <a:t>تحميل المستندات</a:t>
            </a:r>
            <a:endParaRPr lang="en-US" sz="2200" b="1" dirty="0">
              <a:solidFill>
                <a:srgbClr val="FF0000"/>
              </a:solidFill>
            </a:endParaRPr>
          </a:p>
          <a:p>
            <a:pPr marL="871200" lvl="1" indent="-457200" algn="r" rtl="1"/>
            <a:r>
              <a:rPr lang="en-US" b="1" dirty="0"/>
              <a:t>Operator: Branch Manager</a:t>
            </a:r>
            <a:endParaRPr lang="ar-EG" b="1" dirty="0"/>
          </a:p>
          <a:p>
            <a:pPr marL="494100" indent="-457200" algn="r" rtl="1">
              <a:buFont typeface="+mj-lt"/>
              <a:buAutoNum type="arabicPeriod"/>
            </a:pPr>
            <a:r>
              <a:rPr lang="ar-EG" sz="2200" b="1" dirty="0">
                <a:solidFill>
                  <a:srgbClr val="FF0000"/>
                </a:solidFill>
              </a:rPr>
              <a:t>المراجعة المركزية</a:t>
            </a:r>
            <a:endParaRPr lang="en-US" sz="2200" b="1" dirty="0">
              <a:solidFill>
                <a:srgbClr val="FF0000"/>
              </a:solidFill>
            </a:endParaRPr>
          </a:p>
          <a:p>
            <a:pPr marL="871200" lvl="1" indent="-457200" algn="r" rtl="1"/>
            <a:r>
              <a:rPr lang="en-US" b="1" dirty="0"/>
              <a:t>Operator: Credit</a:t>
            </a:r>
            <a:endParaRPr lang="ar-EG" b="1" dirty="0"/>
          </a:p>
          <a:p>
            <a:pPr marL="494100" indent="-457200" algn="r" rtl="1">
              <a:buFont typeface="+mj-lt"/>
              <a:buAutoNum type="arabicPeriod"/>
            </a:pPr>
            <a:r>
              <a:rPr lang="ar-EG" sz="2200" b="1" dirty="0">
                <a:solidFill>
                  <a:srgbClr val="FF0000"/>
                </a:solidFill>
              </a:rPr>
              <a:t>الصرف</a:t>
            </a:r>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dirty="0">
                <a:solidFill>
                  <a:srgbClr val="FF0000"/>
                </a:solidFill>
              </a:rPr>
              <a:t>إدخال طلب</a:t>
            </a:r>
            <a:r>
              <a:rPr lang="en-US" sz="3200" b="1" dirty="0">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dirty="0"/>
              <a:t>نوع التمويل: </a:t>
            </a:r>
            <a:r>
              <a:rPr lang="ar-EG" dirty="0">
                <a:effectLst/>
              </a:rPr>
              <a:t>(مثل تمويل شخصي، تمويل عقاري، أو تمويل مشروعات صغيرة)</a:t>
            </a:r>
          </a:p>
          <a:p>
            <a:pPr algn="r" rtl="1"/>
            <a:r>
              <a:rPr lang="ar-EG" dirty="0">
                <a:effectLst/>
              </a:rPr>
              <a:t>الحالة: </a:t>
            </a:r>
            <a:r>
              <a:rPr lang="ar-EG" b="1" dirty="0">
                <a:effectLst/>
              </a:rPr>
              <a:t>(جديد/تجديد) </a:t>
            </a:r>
            <a:r>
              <a:rPr lang="ar-EG" dirty="0">
                <a:effectLst/>
              </a:rPr>
              <a:t>تُحدد ما إذا كان العميل يتقدم بطلب </a:t>
            </a:r>
            <a:r>
              <a:rPr lang="ar-EG" b="1" dirty="0">
                <a:effectLst/>
              </a:rPr>
              <a:t>لأول مرة</a:t>
            </a:r>
            <a:r>
              <a:rPr lang="ar-EG" dirty="0">
                <a:effectLst/>
              </a:rPr>
              <a:t> (جديد) أو يطلب </a:t>
            </a:r>
            <a:r>
              <a:rPr lang="ar-EG" b="1" dirty="0">
                <a:effectLst/>
              </a:rPr>
              <a:t>إعادة تمويل</a:t>
            </a:r>
            <a:r>
              <a:rPr lang="ar-EG" dirty="0">
                <a:effectLst/>
              </a:rPr>
              <a:t> أو تجديد لقرض قائم بالفعل</a:t>
            </a:r>
          </a:p>
          <a:p>
            <a:pPr algn="r" rtl="1"/>
            <a:r>
              <a:rPr lang="ar-EG" b="1" dirty="0">
                <a:effectLst/>
              </a:rPr>
              <a:t>إسم العميل:</a:t>
            </a:r>
            <a:r>
              <a:rPr lang="ar-EG" dirty="0">
                <a:effectLst/>
              </a:rPr>
              <a:t> الاسم الكامل لمقدم الطلب كما هو مسجل في الأوراق الرسمية</a:t>
            </a:r>
          </a:p>
          <a:p>
            <a:pPr algn="r" rtl="1"/>
            <a:r>
              <a:rPr lang="ar-EG" b="1" dirty="0">
                <a:effectLst/>
              </a:rPr>
              <a:t>المنشأة:</a:t>
            </a:r>
            <a:r>
              <a:rPr lang="ar-EG" dirty="0">
                <a:effectLst/>
              </a:rPr>
              <a:t> تشير إلى </a:t>
            </a:r>
            <a:r>
              <a:rPr lang="ar-EG" b="1" dirty="0">
                <a:effectLst/>
              </a:rPr>
              <a:t>جهة العمل</a:t>
            </a:r>
            <a:r>
              <a:rPr lang="ar-EG" dirty="0">
                <a:effectLst/>
              </a:rPr>
              <a:t> التي يعمل بها العميل أو اسم </a:t>
            </a:r>
            <a:r>
              <a:rPr lang="ar-EG" b="1" dirty="0">
                <a:effectLst/>
              </a:rPr>
              <a:t>المشروع/الشركة</a:t>
            </a:r>
            <a:r>
              <a:rPr lang="ar-EG" dirty="0">
                <a:effectLst/>
              </a:rPr>
              <a:t> التي يمتلكها ويرغب في تمويلها.</a:t>
            </a:r>
          </a:p>
          <a:p>
            <a:pPr algn="r" rtl="1"/>
            <a:r>
              <a:rPr lang="ar-EG" b="1" dirty="0">
                <a:effectLst/>
              </a:rPr>
              <a:t>إسم الضامن:</a:t>
            </a:r>
            <a:r>
              <a:rPr lang="ar-EG" dirty="0">
                <a:effectLst/>
              </a:rPr>
              <a:t> الشخص الذي يتعهد بسداد القرض في حال تعثر العميل الأساسي.</a:t>
            </a:r>
          </a:p>
          <a:p>
            <a:pPr algn="r" rtl="1"/>
            <a:r>
              <a:rPr lang="ar-EG" b="1" dirty="0">
                <a:effectLst/>
              </a:rPr>
              <a:t>الرقم القومي للضامن:</a:t>
            </a:r>
            <a:r>
              <a:rPr lang="ar-EG" dirty="0">
                <a:effectLst/>
              </a:rPr>
              <a:t> بيانات الهوية الخاصة بالضامن للتحقق من أهليته القانونية والائتمانية.</a:t>
            </a:r>
          </a:p>
          <a:p>
            <a:pPr algn="r" rtl="1"/>
            <a:r>
              <a:rPr lang="ar-EG" b="1" dirty="0">
                <a:effectLst/>
              </a:rPr>
              <a:t>صلة العميل بالضامن:</a:t>
            </a:r>
            <a:r>
              <a:rPr lang="ar-EG" dirty="0">
                <a:effectLst/>
              </a:rPr>
              <a:t> طبيعة العلاقة بينهما (مثل: درجة أولى، صديق، زميل عمل) لتقييم مدى قوة الضمانة</a:t>
            </a:r>
          </a:p>
          <a:p>
            <a:pPr algn="r" rtl="1"/>
            <a:r>
              <a:rPr lang="ar-EG" b="1" dirty="0">
                <a:solidFill>
                  <a:srgbClr val="FFFF00"/>
                </a:solidFill>
                <a:effectLst/>
              </a:rPr>
              <a:t>المبلغ المطلوب</a:t>
            </a:r>
            <a:r>
              <a:rPr lang="ar-EG" b="1" dirty="0">
                <a:effectLst/>
              </a:rPr>
              <a:t>:</a:t>
            </a:r>
            <a:r>
              <a:rPr lang="ar-EG" dirty="0">
                <a:effectLst/>
              </a:rPr>
              <a:t> إجمالي المبلغ الذي </a:t>
            </a:r>
            <a:r>
              <a:rPr lang="ar-EG" b="1" dirty="0">
                <a:effectLst/>
              </a:rPr>
              <a:t>يأمل</a:t>
            </a:r>
            <a:r>
              <a:rPr lang="ar-EG" dirty="0">
                <a:effectLst/>
              </a:rPr>
              <a:t> العميل في الحصول عليه من جهة التمويل</a:t>
            </a:r>
          </a:p>
          <a:p>
            <a:pPr algn="r" rtl="1"/>
            <a:r>
              <a:rPr lang="ar-EG" b="1" dirty="0">
                <a:solidFill>
                  <a:srgbClr val="FFFF00"/>
                </a:solidFill>
                <a:effectLst/>
              </a:rPr>
              <a:t>قيمة التمويل</a:t>
            </a:r>
            <a:r>
              <a:rPr lang="ar-EG" b="1" dirty="0">
                <a:effectLst/>
              </a:rPr>
              <a:t>:</a:t>
            </a:r>
            <a:r>
              <a:rPr lang="ar-EG" dirty="0">
                <a:effectLst/>
              </a:rPr>
              <a:t> </a:t>
            </a:r>
            <a:r>
              <a:rPr lang="ar-EG" b="1" dirty="0">
                <a:solidFill>
                  <a:schemeClr val="tx1"/>
                </a:solidFill>
                <a:effectLst/>
              </a:rPr>
              <a:t>مبلغ التمويل الذي توافق </a:t>
            </a:r>
            <a:r>
              <a:rPr lang="ar-EG" dirty="0">
                <a:effectLst/>
              </a:rPr>
              <a:t>جهة التمويل مبدئياً على منحه بناءً على دراسة حالة العميل</a:t>
            </a:r>
          </a:p>
          <a:p>
            <a:pPr algn="r" rtl="1"/>
            <a:r>
              <a:rPr lang="ar-EG" b="1" dirty="0">
                <a:solidFill>
                  <a:srgbClr val="FFFF00"/>
                </a:solidFill>
                <a:effectLst/>
              </a:rPr>
              <a:t>القيمة الفعلية للتمويل</a:t>
            </a:r>
            <a:r>
              <a:rPr lang="ar-EG" b="1" dirty="0">
                <a:effectLst/>
              </a:rPr>
              <a:t>:</a:t>
            </a:r>
            <a:r>
              <a:rPr lang="ar-EG" dirty="0">
                <a:effectLst/>
              </a:rPr>
              <a:t> المبلغ الصافي الذي سيستلمه العميل فعلياً بعد خصم أي رسوم إدارية أو مصاريف بنكية</a:t>
            </a:r>
          </a:p>
          <a:p>
            <a:pPr algn="r" rtl="1"/>
            <a:r>
              <a:rPr lang="ar-EG" b="1" dirty="0">
                <a:effectLst/>
              </a:rPr>
              <a:t>الهدف من التمويل : </a:t>
            </a:r>
            <a:r>
              <a:rPr lang="ar-EG" dirty="0">
                <a:effectLst/>
              </a:rPr>
              <a:t>الغرض من الحصول على المال (مثل: شراء أصول، توسعة مشروع، سداد ديون أخرى).</a:t>
            </a:r>
          </a:p>
          <a:p>
            <a:pPr algn="r" rtl="1"/>
            <a:r>
              <a:rPr lang="ar-EG" b="1" dirty="0">
                <a:effectLst/>
              </a:rPr>
              <a:t>جهة الصرف : ا</a:t>
            </a:r>
            <a:r>
              <a:rPr lang="ar-EG" dirty="0">
                <a:effectLst/>
              </a:rPr>
              <a:t>لمكان أو الطريقة التي سيتم بها تحويل الأموال (مثل: صرف نقدي، شيك لجهة موردة، أو إيداع في حساب بنكي محدد).</a:t>
            </a:r>
          </a:p>
          <a:p>
            <a:pPr algn="r" rtl="1"/>
            <a:endParaRPr lang="en-US" dirty="0"/>
          </a:p>
        </p:txBody>
      </p:sp>
    </p:spTree>
    <p:extLst>
      <p:ext uri="{BB962C8B-B14F-4D97-AF65-F5344CB8AC3E}">
        <p14:creationId xmlns:p14="http://schemas.microsoft.com/office/powerpoint/2010/main" val="18080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dirty="0">
                <a:effectLst/>
              </a:rPr>
              <a:t>طلب تمويل</a:t>
            </a:r>
            <a:endParaRPr lang="en-US" dirty="0"/>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dirty="0">
                <a:effectLst/>
              </a:rPr>
              <a:t>تمديد فترة السداد (</a:t>
            </a:r>
            <a:r>
              <a:rPr lang="en-US" b="1" dirty="0">
                <a:effectLst/>
              </a:rPr>
              <a:t>extension</a:t>
            </a:r>
            <a:r>
              <a:rPr lang="ar-EG" b="1" dirty="0">
                <a:effectLst/>
              </a:rPr>
              <a:t>)</a:t>
            </a:r>
            <a:endParaRPr lang="en-US" b="1" dirty="0">
              <a:effectLst/>
            </a:endParaRPr>
          </a:p>
          <a:p>
            <a:pPr lvl="1" algn="r" rtl="1"/>
            <a:r>
              <a:rPr lang="ar-EG" dirty="0">
                <a:effectLst/>
              </a:rPr>
              <a:t>هذا النوع يركز على </a:t>
            </a:r>
            <a:r>
              <a:rPr lang="ar-EG" b="1" dirty="0">
                <a:effectLst/>
              </a:rPr>
              <a:t>الزمن</a:t>
            </a:r>
            <a:r>
              <a:rPr lang="ar-EG" dirty="0">
                <a:effectLst/>
              </a:rPr>
              <a:t>؛ أي إعطاؤك وقتاً أطول لدفع نفس المبلغ المتبقي عليك، مما يؤدي غالباً لتقليل قيمة القسط الشهري.</a:t>
            </a:r>
            <a:endParaRPr lang="en-US" dirty="0">
              <a:effectLst/>
            </a:endParaRPr>
          </a:p>
          <a:p>
            <a:pPr lvl="1" algn="r" rtl="1"/>
            <a:r>
              <a:rPr lang="ar-EG" b="1" dirty="0">
                <a:effectLst/>
              </a:rPr>
              <a:t>مثال:</a:t>
            </a:r>
            <a:r>
              <a:rPr lang="ar-EG" dirty="0">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dirty="0">
              <a:effectLst/>
            </a:endParaRPr>
          </a:p>
          <a:p>
            <a:pPr algn="r" rtl="1"/>
            <a:r>
              <a:rPr lang="ar-EG" b="1" dirty="0">
                <a:effectLst/>
              </a:rPr>
              <a:t>زيادة مبلغ التمويل </a:t>
            </a:r>
            <a:r>
              <a:rPr lang="en-US" b="1" dirty="0">
                <a:effectLst/>
              </a:rPr>
              <a:t>(Top-up)</a:t>
            </a:r>
          </a:p>
          <a:p>
            <a:pPr lvl="1" algn="r" rtl="1"/>
            <a:r>
              <a:rPr lang="ar-EG" dirty="0"/>
              <a:t>هذا النوع يركز على السيولة؛ وهو مخصص للعملاء الملتزمين الذين سددوا جزءاً من القرض ويريدون العودة للمبلغ الأصلي أو زيادته.</a:t>
            </a:r>
          </a:p>
          <a:p>
            <a:pPr lvl="1" algn="r" rtl="1"/>
            <a:r>
              <a:rPr lang="ar-EG" dirty="0"/>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dirty="0"/>
          </a:p>
          <a:p>
            <a:pPr algn="r" rtl="1"/>
            <a:r>
              <a:rPr lang="ar-EG" b="1" dirty="0"/>
              <a:t>إعادة الجدولة (</a:t>
            </a:r>
            <a:r>
              <a:rPr lang="en-US" b="1" dirty="0"/>
              <a:t>Rescheduling</a:t>
            </a:r>
            <a:r>
              <a:rPr lang="ar-EG" b="1" dirty="0"/>
              <a:t>)</a:t>
            </a:r>
          </a:p>
          <a:p>
            <a:pPr lvl="1" algn="r" rtl="1"/>
            <a:r>
              <a:rPr lang="ar-EG" dirty="0"/>
              <a:t>هذا النوع يركز على تغيير الشروط؛ ويحدث عادةً عند حدوث تغيير جذري في حالتك المالية أو لتغيير نوع الفائدة.</a:t>
            </a:r>
          </a:p>
          <a:p>
            <a:pPr lvl="1" algn="r" rtl="1"/>
            <a:r>
              <a:rPr lang="ar-EG" dirty="0"/>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dirty="0"/>
          </a:p>
        </p:txBody>
      </p:sp>
    </p:spTree>
    <p:extLst>
      <p:ext uri="{BB962C8B-B14F-4D97-AF65-F5344CB8AC3E}">
        <p14:creationId xmlns:p14="http://schemas.microsoft.com/office/powerpoint/2010/main" val="26124471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E5A12-5031-578B-73A6-5281966AFC97}"/>
              </a:ext>
            </a:extLst>
          </p:cNvPr>
          <p:cNvSpPr>
            <a:spLocks noGrp="1"/>
          </p:cNvSpPr>
          <p:nvPr>
            <p:ph type="title"/>
          </p:nvPr>
        </p:nvSpPr>
        <p:spPr>
          <a:xfrm>
            <a:off x="913795" y="0"/>
            <a:ext cx="10353762" cy="707923"/>
          </a:xfrm>
        </p:spPr>
        <p:txBody>
          <a:bodyPr/>
          <a:lstStyle/>
          <a:p>
            <a:r>
              <a:rPr lang="ar-EG" b="1" dirty="0">
                <a:solidFill>
                  <a:srgbClr val="FF0000"/>
                </a:solidFill>
              </a:rPr>
              <a:t>مراجعة أولية</a:t>
            </a:r>
            <a:endParaRPr lang="en-US" b="1" dirty="0">
              <a:solidFill>
                <a:srgbClr val="FF0000"/>
              </a:solidFill>
            </a:endParaRPr>
          </a:p>
        </p:txBody>
      </p:sp>
      <p:sp>
        <p:nvSpPr>
          <p:cNvPr id="3" name="Content Placeholder 2">
            <a:extLst>
              <a:ext uri="{FF2B5EF4-FFF2-40B4-BE49-F238E27FC236}">
                <a16:creationId xmlns:a16="http://schemas.microsoft.com/office/drawing/2014/main" id="{C6D0CF99-5768-3261-B86E-3BECA925F90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8177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D6999-6FBE-7FD0-77E3-BEFCDD7438B5}"/>
              </a:ext>
            </a:extLst>
          </p:cNvPr>
          <p:cNvSpPr>
            <a:spLocks noGrp="1"/>
          </p:cNvSpPr>
          <p:nvPr>
            <p:ph type="title"/>
          </p:nvPr>
        </p:nvSpPr>
        <p:spPr/>
        <p:txBody>
          <a:bodyPr/>
          <a:lstStyle/>
          <a:p>
            <a:r>
              <a:rPr lang="ar-EG" dirty="0"/>
              <a:t>زيارة ميدانية</a:t>
            </a:r>
            <a:endParaRPr lang="en-US" dirty="0"/>
          </a:p>
        </p:txBody>
      </p:sp>
      <p:sp>
        <p:nvSpPr>
          <p:cNvPr id="3" name="Content Placeholder 2">
            <a:extLst>
              <a:ext uri="{FF2B5EF4-FFF2-40B4-BE49-F238E27FC236}">
                <a16:creationId xmlns:a16="http://schemas.microsoft.com/office/drawing/2014/main" id="{26B4D821-A659-22F6-D27B-58D7BE5B7C4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238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4BEF7-16AD-EB38-03A0-9E38308744E8}"/>
              </a:ext>
            </a:extLst>
          </p:cNvPr>
          <p:cNvSpPr>
            <a:spLocks noGrp="1"/>
          </p:cNvSpPr>
          <p:nvPr>
            <p:ph type="title"/>
          </p:nvPr>
        </p:nvSpPr>
        <p:spPr/>
        <p:txBody>
          <a:bodyPr/>
          <a:lstStyle/>
          <a:p>
            <a:r>
              <a:rPr lang="ar-EG" b="1" dirty="0">
                <a:solidFill>
                  <a:srgbClr val="FF0000"/>
                </a:solidFill>
              </a:rPr>
              <a:t>التحليل الائتماني</a:t>
            </a:r>
            <a:endParaRPr lang="en-US" b="1" dirty="0">
              <a:solidFill>
                <a:srgbClr val="FF0000"/>
              </a:solidFill>
            </a:endParaRPr>
          </a:p>
        </p:txBody>
      </p:sp>
      <p:sp>
        <p:nvSpPr>
          <p:cNvPr id="3" name="Content Placeholder 2">
            <a:extLst>
              <a:ext uri="{FF2B5EF4-FFF2-40B4-BE49-F238E27FC236}">
                <a16:creationId xmlns:a16="http://schemas.microsoft.com/office/drawing/2014/main" id="{4B9905FB-09D5-E179-2DB7-D3AC27E8633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3344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BE4A9-0D80-63E2-93A1-0CD590C2F5FE}"/>
              </a:ext>
            </a:extLst>
          </p:cNvPr>
          <p:cNvSpPr>
            <a:spLocks noGrp="1"/>
          </p:cNvSpPr>
          <p:nvPr>
            <p:ph type="title"/>
          </p:nvPr>
        </p:nvSpPr>
        <p:spPr>
          <a:xfrm>
            <a:off x="913795" y="0"/>
            <a:ext cx="10353762" cy="668594"/>
          </a:xfrm>
        </p:spPr>
        <p:txBody>
          <a:bodyPr>
            <a:normAutofit fontScale="90000"/>
          </a:bodyPr>
          <a:lstStyle/>
          <a:p>
            <a:r>
              <a:rPr lang="ar-EG" b="1" dirty="0">
                <a:solidFill>
                  <a:srgbClr val="FF0000"/>
                </a:solidFill>
              </a:rPr>
              <a:t>تحميل المستندات</a:t>
            </a:r>
            <a:endParaRPr lang="en-US" b="1" dirty="0">
              <a:solidFill>
                <a:srgbClr val="FF0000"/>
              </a:solidFill>
            </a:endParaRPr>
          </a:p>
        </p:txBody>
      </p:sp>
      <p:sp>
        <p:nvSpPr>
          <p:cNvPr id="3" name="Content Placeholder 2">
            <a:extLst>
              <a:ext uri="{FF2B5EF4-FFF2-40B4-BE49-F238E27FC236}">
                <a16:creationId xmlns:a16="http://schemas.microsoft.com/office/drawing/2014/main" id="{D8EFC7BF-7EA3-03B6-F9DF-0E2BE48F01F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4810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2CEE-E4B4-FDA8-29CD-E7103B522F79}"/>
              </a:ext>
            </a:extLst>
          </p:cNvPr>
          <p:cNvSpPr>
            <a:spLocks noGrp="1"/>
          </p:cNvSpPr>
          <p:nvPr>
            <p:ph type="title"/>
          </p:nvPr>
        </p:nvSpPr>
        <p:spPr>
          <a:xfrm>
            <a:off x="844969" y="0"/>
            <a:ext cx="10353762" cy="698090"/>
          </a:xfrm>
        </p:spPr>
        <p:txBody>
          <a:bodyPr>
            <a:normAutofit fontScale="90000"/>
          </a:bodyPr>
          <a:lstStyle/>
          <a:p>
            <a:r>
              <a:rPr lang="ar-EG" b="1" dirty="0">
                <a:solidFill>
                  <a:srgbClr val="FF0000"/>
                </a:solidFill>
              </a:rPr>
              <a:t>المراجعة المركزية</a:t>
            </a:r>
            <a:endParaRPr lang="en-US" b="1" dirty="0">
              <a:solidFill>
                <a:srgbClr val="FF0000"/>
              </a:solidFill>
            </a:endParaRPr>
          </a:p>
        </p:txBody>
      </p:sp>
      <p:sp>
        <p:nvSpPr>
          <p:cNvPr id="3" name="Content Placeholder 2">
            <a:extLst>
              <a:ext uri="{FF2B5EF4-FFF2-40B4-BE49-F238E27FC236}">
                <a16:creationId xmlns:a16="http://schemas.microsoft.com/office/drawing/2014/main" id="{EA6FB638-B82F-DC6A-F0B1-71E66F335DC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42449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A297D-FA92-F0E4-599A-68EAB03047C0}"/>
              </a:ext>
            </a:extLst>
          </p:cNvPr>
          <p:cNvSpPr>
            <a:spLocks noGrp="1"/>
          </p:cNvSpPr>
          <p:nvPr>
            <p:ph type="title"/>
          </p:nvPr>
        </p:nvSpPr>
        <p:spPr>
          <a:xfrm>
            <a:off x="913795" y="0"/>
            <a:ext cx="10353762" cy="766916"/>
          </a:xfrm>
        </p:spPr>
        <p:txBody>
          <a:bodyPr/>
          <a:lstStyle/>
          <a:p>
            <a:r>
              <a:rPr lang="ar-EG" b="1">
                <a:solidFill>
                  <a:srgbClr val="FF0000"/>
                </a:solidFill>
              </a:rPr>
              <a:t>الصرف</a:t>
            </a:r>
            <a:endParaRPr lang="en-US" b="1" dirty="0">
              <a:solidFill>
                <a:srgbClr val="FF0000"/>
              </a:solidFill>
            </a:endParaRPr>
          </a:p>
        </p:txBody>
      </p:sp>
      <p:sp>
        <p:nvSpPr>
          <p:cNvPr id="3" name="Content Placeholder 2">
            <a:extLst>
              <a:ext uri="{FF2B5EF4-FFF2-40B4-BE49-F238E27FC236}">
                <a16:creationId xmlns:a16="http://schemas.microsoft.com/office/drawing/2014/main" id="{24E0624C-F15D-C0E6-7DF1-8E90C1166A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754325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3200" b="1" dirty="0">
                <a:solidFill>
                  <a:srgbClr val="FF0000"/>
                </a:solidFill>
              </a:rPr>
              <a:t>Branch at Common</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dirty="0"/>
              <a:t>int BranchId</a:t>
            </a:r>
          </a:p>
          <a:p>
            <a:r>
              <a:rPr lang="en-US" sz="1800" b="1" dirty="0"/>
              <a:t>BranchNameAR</a:t>
            </a:r>
          </a:p>
          <a:p>
            <a:r>
              <a:rPr lang="en-US" sz="1800" b="1" dirty="0"/>
              <a:t>BranchNameEn</a:t>
            </a:r>
          </a:p>
          <a:p>
            <a:r>
              <a:rPr lang="en-US" sz="1800" b="1" dirty="0"/>
              <a:t>AddressAR</a:t>
            </a:r>
          </a:p>
          <a:p>
            <a:r>
              <a:rPr lang="en-US" sz="1800" b="1" dirty="0"/>
              <a:t>AddressEn</a:t>
            </a:r>
          </a:p>
          <a:p>
            <a:r>
              <a:rPr lang="en-US" sz="1800" b="1" dirty="0" err="1"/>
              <a:t>ExterNum</a:t>
            </a:r>
            <a:endParaRPr lang="en-US" sz="1800" b="1" dirty="0"/>
          </a:p>
          <a:p>
            <a:r>
              <a:rPr lang="en-US" sz="1800" b="1" dirty="0" err="1"/>
              <a:t>PhoneNum</a:t>
            </a:r>
            <a:endParaRPr lang="en-US" sz="1800" b="1" dirty="0"/>
          </a:p>
          <a:p>
            <a:r>
              <a:rPr lang="en-US" sz="1800" b="1" dirty="0"/>
              <a:t>RegionId</a:t>
            </a:r>
            <a:endParaRPr lang="ar-EG" sz="1800" b="1" dirty="0"/>
          </a:p>
          <a:p>
            <a:r>
              <a:rPr lang="en-US" sz="1800" b="1" dirty="0"/>
              <a:t>OriginalRegionId</a:t>
            </a:r>
            <a:endParaRPr lang="ar-EG" sz="1800" b="1" dirty="0"/>
          </a:p>
          <a:p>
            <a:r>
              <a:rPr lang="en-US" sz="1800" b="1" dirty="0"/>
              <a:t>GovId</a:t>
            </a:r>
            <a:endParaRPr lang="ar-EG" sz="1800" b="1" dirty="0"/>
          </a:p>
          <a:p>
            <a:r>
              <a:rPr lang="en-US" sz="1800" b="1" dirty="0" err="1"/>
              <a:t>Code_district</a:t>
            </a:r>
            <a:endParaRPr lang="ar-EG" sz="1800" b="1" dirty="0"/>
          </a:p>
          <a:p>
            <a:r>
              <a:rPr lang="en-US" sz="1800" b="1" dirty="0" err="1"/>
              <a:t>Code_Section</a:t>
            </a:r>
            <a:endParaRPr lang="en-US" sz="1800" b="1" dirty="0"/>
          </a:p>
          <a:p>
            <a:r>
              <a:rPr lang="en-US" sz="1800" b="1" dirty="0"/>
              <a:t>FBT_ID</a:t>
            </a:r>
          </a:p>
          <a:p>
            <a:r>
              <a:rPr lang="en-US" sz="1800" b="1" dirty="0"/>
              <a:t>IP</a:t>
            </a:r>
          </a:p>
          <a:p>
            <a:r>
              <a:rPr lang="en-US" sz="1800" b="1" dirty="0" err="1"/>
              <a:t>Branch_code</a:t>
            </a:r>
            <a:endParaRPr lang="en-US" sz="1800" b="1" dirty="0"/>
          </a:p>
          <a:p>
            <a:r>
              <a:rPr lang="en-US" b="1" dirty="0"/>
              <a:t>Latitude</a:t>
            </a:r>
          </a:p>
          <a:p>
            <a:r>
              <a:rPr lang="en-US" b="1" dirty="0"/>
              <a:t>Longitude</a:t>
            </a:r>
          </a:p>
          <a:p>
            <a:endParaRPr lang="en-US" sz="1800" b="1" dirty="0"/>
          </a:p>
        </p:txBody>
      </p:sp>
    </p:spTree>
    <p:extLst>
      <p:ext uri="{BB962C8B-B14F-4D97-AF65-F5344CB8AC3E}">
        <p14:creationId xmlns:p14="http://schemas.microsoft.com/office/powerpoint/2010/main" val="2313052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2536-DCCC-8C3D-9370-41602B2F1CB9}"/>
              </a:ext>
            </a:extLst>
          </p:cNvPr>
          <p:cNvSpPr>
            <a:spLocks noGrp="1"/>
          </p:cNvSpPr>
          <p:nvPr>
            <p:ph type="title"/>
          </p:nvPr>
        </p:nvSpPr>
        <p:spPr>
          <a:xfrm>
            <a:off x="913795" y="0"/>
            <a:ext cx="10353762" cy="609600"/>
          </a:xfrm>
        </p:spPr>
        <p:txBody>
          <a:bodyPr>
            <a:normAutofit fontScale="90000"/>
          </a:bodyPr>
          <a:lstStyle/>
          <a:p>
            <a:r>
              <a:rPr lang="en-US" b="1" dirty="0">
                <a:solidFill>
                  <a:srgbClr val="FF0000"/>
                </a:solidFill>
              </a:rPr>
              <a:t>Region at </a:t>
            </a:r>
          </a:p>
        </p:txBody>
      </p:sp>
      <p:sp>
        <p:nvSpPr>
          <p:cNvPr id="3" name="Content Placeholder 2">
            <a:extLst>
              <a:ext uri="{FF2B5EF4-FFF2-40B4-BE49-F238E27FC236}">
                <a16:creationId xmlns:a16="http://schemas.microsoft.com/office/drawing/2014/main" id="{5BEA9423-2224-07FD-FD9F-8B5FEDB393E2}"/>
              </a:ext>
            </a:extLst>
          </p:cNvPr>
          <p:cNvSpPr>
            <a:spLocks noGrp="1"/>
          </p:cNvSpPr>
          <p:nvPr>
            <p:ph idx="1"/>
          </p:nvPr>
        </p:nvSpPr>
        <p:spPr>
          <a:xfrm>
            <a:off x="314632" y="609601"/>
            <a:ext cx="11611897" cy="6076334"/>
          </a:xfrm>
        </p:spPr>
        <p:txBody>
          <a:bodyPr>
            <a:normAutofit/>
          </a:bodyPr>
          <a:lstStyle/>
          <a:p>
            <a:r>
              <a:rPr lang="en-US" sz="1800" dirty="0"/>
              <a:t>RegionId</a:t>
            </a:r>
          </a:p>
          <a:p>
            <a:r>
              <a:rPr lang="en-US" sz="1800" dirty="0"/>
              <a:t>RegionNameAR</a:t>
            </a:r>
          </a:p>
          <a:p>
            <a:r>
              <a:rPr lang="en-US" sz="1800" dirty="0"/>
              <a:t>RegionNameEn</a:t>
            </a:r>
          </a:p>
          <a:p>
            <a:endParaRPr lang="en-US" sz="1800" dirty="0"/>
          </a:p>
        </p:txBody>
      </p:sp>
    </p:spTree>
    <p:extLst>
      <p:ext uri="{BB962C8B-B14F-4D97-AF65-F5344CB8AC3E}">
        <p14:creationId xmlns:p14="http://schemas.microsoft.com/office/powerpoint/2010/main" val="18154694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EAB15-CC51-C498-9EEC-A137D0323F46}"/>
              </a:ext>
            </a:extLst>
          </p:cNvPr>
          <p:cNvSpPr>
            <a:spLocks noGrp="1"/>
          </p:cNvSpPr>
          <p:nvPr>
            <p:ph type="title"/>
          </p:nvPr>
        </p:nvSpPr>
        <p:spPr>
          <a:xfrm>
            <a:off x="919119" y="0"/>
            <a:ext cx="10353762" cy="589935"/>
          </a:xfrm>
        </p:spPr>
        <p:txBody>
          <a:bodyPr>
            <a:normAutofit fontScale="90000"/>
          </a:bodyPr>
          <a:lstStyle/>
          <a:p>
            <a:r>
              <a:rPr lang="en-US" b="1" dirty="0">
                <a:solidFill>
                  <a:srgbClr val="FF0000"/>
                </a:solidFill>
              </a:rPr>
              <a:t>Governorate at common</a:t>
            </a:r>
          </a:p>
        </p:txBody>
      </p:sp>
      <p:sp>
        <p:nvSpPr>
          <p:cNvPr id="3" name="Content Placeholder 2">
            <a:extLst>
              <a:ext uri="{FF2B5EF4-FFF2-40B4-BE49-F238E27FC236}">
                <a16:creationId xmlns:a16="http://schemas.microsoft.com/office/drawing/2014/main" id="{8EEA33DE-45C9-F8E4-0DAE-47A71E2D1B22}"/>
              </a:ext>
            </a:extLst>
          </p:cNvPr>
          <p:cNvSpPr>
            <a:spLocks noGrp="1"/>
          </p:cNvSpPr>
          <p:nvPr>
            <p:ph idx="1"/>
          </p:nvPr>
        </p:nvSpPr>
        <p:spPr>
          <a:xfrm>
            <a:off x="196644" y="589935"/>
            <a:ext cx="11769213" cy="6154994"/>
          </a:xfrm>
        </p:spPr>
        <p:txBody>
          <a:bodyPr>
            <a:normAutofit/>
          </a:bodyPr>
          <a:lstStyle/>
          <a:p>
            <a:r>
              <a:rPr lang="en-US" sz="1800" dirty="0"/>
              <a:t>GovId</a:t>
            </a:r>
          </a:p>
          <a:p>
            <a:r>
              <a:rPr lang="en-US" sz="1800" dirty="0" err="1"/>
              <a:t>GovCode</a:t>
            </a:r>
            <a:endParaRPr lang="en-US" sz="1800" dirty="0"/>
          </a:p>
          <a:p>
            <a:r>
              <a:rPr lang="en-US" sz="1800" dirty="0" err="1"/>
              <a:t>GovNameAR</a:t>
            </a:r>
            <a:endParaRPr lang="en-US" sz="1800" dirty="0"/>
          </a:p>
          <a:p>
            <a:r>
              <a:rPr lang="en-US" sz="1800" dirty="0" err="1"/>
              <a:t>GovNameEn</a:t>
            </a:r>
            <a:endParaRPr lang="en-US" sz="1800" dirty="0"/>
          </a:p>
          <a:p>
            <a:r>
              <a:rPr lang="en-US" sz="1800" dirty="0"/>
              <a:t>RegionId </a:t>
            </a:r>
            <a:r>
              <a:rPr lang="en-US" sz="1800" dirty="0">
                <a:sym typeface="Wingdings" panose="05000000000000000000" pitchFamily="2" charset="2"/>
              </a:rPr>
              <a:t> </a:t>
            </a:r>
            <a:r>
              <a:rPr lang="ar-EG" sz="1800" dirty="0">
                <a:sym typeface="Wingdings" panose="05000000000000000000" pitchFamily="2" charset="2"/>
              </a:rPr>
              <a:t>بحري او قبلى</a:t>
            </a:r>
            <a:endParaRPr lang="en-US" sz="1800" dirty="0"/>
          </a:p>
          <a:p>
            <a:r>
              <a:rPr lang="en-US" sz="1800" dirty="0"/>
              <a:t>OriginalRegionId</a:t>
            </a:r>
          </a:p>
          <a:p>
            <a:endParaRPr lang="en-US" sz="1600" dirty="0"/>
          </a:p>
        </p:txBody>
      </p:sp>
    </p:spTree>
    <p:extLst>
      <p:ext uri="{BB962C8B-B14F-4D97-AF65-F5344CB8AC3E}">
        <p14:creationId xmlns:p14="http://schemas.microsoft.com/office/powerpoint/2010/main" val="3769174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AD0F1-7946-1FB5-D0C6-936DDB98C545}"/>
              </a:ext>
            </a:extLst>
          </p:cNvPr>
          <p:cNvSpPr>
            <a:spLocks noGrp="1"/>
          </p:cNvSpPr>
          <p:nvPr>
            <p:ph type="title"/>
          </p:nvPr>
        </p:nvSpPr>
        <p:spPr>
          <a:xfrm>
            <a:off x="913795" y="0"/>
            <a:ext cx="10353762" cy="589935"/>
          </a:xfrm>
        </p:spPr>
        <p:txBody>
          <a:bodyPr>
            <a:normAutofit fontScale="90000"/>
          </a:bodyPr>
          <a:lstStyle/>
          <a:p>
            <a:r>
              <a:rPr lang="en-US" b="1" dirty="0" err="1">
                <a:solidFill>
                  <a:srgbClr val="FF0000"/>
                </a:solidFill>
              </a:rPr>
              <a:t>Original_Region</a:t>
            </a:r>
            <a:r>
              <a:rPr lang="en-US" b="1" dirty="0">
                <a:solidFill>
                  <a:srgbClr val="FF0000"/>
                </a:solidFill>
              </a:rPr>
              <a:t> entity at common</a:t>
            </a:r>
          </a:p>
        </p:txBody>
      </p:sp>
      <p:sp>
        <p:nvSpPr>
          <p:cNvPr id="3" name="Content Placeholder 2">
            <a:extLst>
              <a:ext uri="{FF2B5EF4-FFF2-40B4-BE49-F238E27FC236}">
                <a16:creationId xmlns:a16="http://schemas.microsoft.com/office/drawing/2014/main" id="{7ECECAF3-0EA8-1856-F13A-4BCD070DD6A4}"/>
              </a:ext>
            </a:extLst>
          </p:cNvPr>
          <p:cNvSpPr>
            <a:spLocks noGrp="1"/>
          </p:cNvSpPr>
          <p:nvPr>
            <p:ph idx="1"/>
          </p:nvPr>
        </p:nvSpPr>
        <p:spPr>
          <a:xfrm>
            <a:off x="344129" y="589935"/>
            <a:ext cx="11592232" cy="6164826"/>
          </a:xfrm>
        </p:spPr>
        <p:txBody>
          <a:bodyPr/>
          <a:lstStyle/>
          <a:p>
            <a:r>
              <a:rPr lang="en-US" dirty="0"/>
              <a:t>int </a:t>
            </a:r>
            <a:r>
              <a:rPr lang="en-US" dirty="0" err="1"/>
              <a:t>OR_Id</a:t>
            </a:r>
            <a:endParaRPr lang="en-US" dirty="0"/>
          </a:p>
          <a:p>
            <a:r>
              <a:rPr lang="en-US" dirty="0"/>
              <a:t>RegionNameAR</a:t>
            </a:r>
          </a:p>
          <a:p>
            <a:r>
              <a:rPr lang="en-US" dirty="0"/>
              <a:t>RegionNameEn</a:t>
            </a:r>
          </a:p>
          <a:p>
            <a:r>
              <a:rPr lang="en-US" dirty="0"/>
              <a:t>GovId</a:t>
            </a:r>
          </a:p>
          <a:p>
            <a:r>
              <a:rPr lang="en-US" dirty="0"/>
              <a:t>RegionId</a:t>
            </a:r>
          </a:p>
        </p:txBody>
      </p:sp>
    </p:spTree>
    <p:extLst>
      <p:ext uri="{BB962C8B-B14F-4D97-AF65-F5344CB8AC3E}">
        <p14:creationId xmlns:p14="http://schemas.microsoft.com/office/powerpoint/2010/main" val="4685986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7BD2B-CA6A-CF07-0740-8E555031D199}"/>
              </a:ext>
            </a:extLst>
          </p:cNvPr>
          <p:cNvSpPr>
            <a:spLocks noGrp="1"/>
          </p:cNvSpPr>
          <p:nvPr>
            <p:ph type="title"/>
          </p:nvPr>
        </p:nvSpPr>
        <p:spPr>
          <a:xfrm>
            <a:off x="913795" y="0"/>
            <a:ext cx="10353762" cy="403123"/>
          </a:xfrm>
        </p:spPr>
        <p:txBody>
          <a:bodyPr>
            <a:normAutofit fontScale="90000"/>
          </a:bodyPr>
          <a:lstStyle/>
          <a:p>
            <a:r>
              <a:rPr lang="en-US" b="1" dirty="0" err="1">
                <a:solidFill>
                  <a:srgbClr val="FF0000"/>
                </a:solidFill>
              </a:rPr>
              <a:t>Flow_Branch_Type</a:t>
            </a:r>
            <a:r>
              <a:rPr lang="en-US" b="1" dirty="0">
                <a:solidFill>
                  <a:srgbClr val="FF0000"/>
                </a:solidFill>
              </a:rPr>
              <a:t> Entity</a:t>
            </a:r>
          </a:p>
        </p:txBody>
      </p:sp>
      <p:sp>
        <p:nvSpPr>
          <p:cNvPr id="3" name="Content Placeholder 2">
            <a:extLst>
              <a:ext uri="{FF2B5EF4-FFF2-40B4-BE49-F238E27FC236}">
                <a16:creationId xmlns:a16="http://schemas.microsoft.com/office/drawing/2014/main" id="{51BE9E88-259D-3524-74F4-5BE0DDE16F69}"/>
              </a:ext>
            </a:extLst>
          </p:cNvPr>
          <p:cNvSpPr>
            <a:spLocks noGrp="1"/>
          </p:cNvSpPr>
          <p:nvPr>
            <p:ph idx="1"/>
          </p:nvPr>
        </p:nvSpPr>
        <p:spPr>
          <a:xfrm>
            <a:off x="117986" y="501445"/>
            <a:ext cx="11926529" cy="6204155"/>
          </a:xfrm>
        </p:spPr>
        <p:txBody>
          <a:bodyPr/>
          <a:lstStyle/>
          <a:p>
            <a:r>
              <a:rPr lang="en-US" dirty="0"/>
              <a:t>int FBT_ID</a:t>
            </a:r>
          </a:p>
          <a:p>
            <a:r>
              <a:rPr lang="en-US" dirty="0"/>
              <a:t>string Type</a:t>
            </a:r>
          </a:p>
          <a:p>
            <a:r>
              <a:rPr lang="en-US" dirty="0"/>
              <a:t>string </a:t>
            </a:r>
            <a:r>
              <a:rPr lang="en-US" dirty="0" err="1"/>
              <a:t>TypeE</a:t>
            </a:r>
            <a:endParaRPr lang="en-US" dirty="0"/>
          </a:p>
          <a:p>
            <a:endParaRPr lang="en-US" dirty="0"/>
          </a:p>
        </p:txBody>
      </p:sp>
    </p:spTree>
    <p:extLst>
      <p:ext uri="{BB962C8B-B14F-4D97-AF65-F5344CB8AC3E}">
        <p14:creationId xmlns:p14="http://schemas.microsoft.com/office/powerpoint/2010/main" val="6473175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dirty="0" err="1">
                <a:solidFill>
                  <a:srgbClr val="FF0000"/>
                </a:solidFill>
              </a:rPr>
              <a:t>BranchGovernRegion</a:t>
            </a:r>
            <a:r>
              <a:rPr lang="en-US" b="1" dirty="0">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dirty="0"/>
              <a:t>BranchId     		// From Table branch</a:t>
            </a:r>
          </a:p>
          <a:p>
            <a:r>
              <a:rPr lang="en-US" sz="1800" dirty="0" err="1"/>
              <a:t>Branch_code</a:t>
            </a:r>
            <a:r>
              <a:rPr lang="en-US" sz="1800" dirty="0"/>
              <a:t>		// From Table branch</a:t>
            </a:r>
          </a:p>
          <a:p>
            <a:r>
              <a:rPr lang="en-US" sz="1800" dirty="0" err="1"/>
              <a:t>ExterNum</a:t>
            </a:r>
            <a:r>
              <a:rPr lang="en-US" sz="1800" dirty="0"/>
              <a:t>		// From Table branch</a:t>
            </a:r>
          </a:p>
          <a:p>
            <a:endParaRPr lang="en-US" sz="1800" dirty="0"/>
          </a:p>
        </p:txBody>
      </p:sp>
    </p:spTree>
    <p:extLst>
      <p:ext uri="{BB962C8B-B14F-4D97-AF65-F5344CB8AC3E}">
        <p14:creationId xmlns:p14="http://schemas.microsoft.com/office/powerpoint/2010/main" val="1678316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dirty="0" err="1">
                <a:solidFill>
                  <a:srgbClr val="FF0000"/>
                </a:solidFill>
              </a:rPr>
              <a:t>Trans_GPS_Tracking</a:t>
            </a:r>
            <a:endParaRPr lang="en-US" b="1" dirty="0">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dirty="0"/>
              <a:t>int </a:t>
            </a:r>
            <a:r>
              <a:rPr lang="en-US" dirty="0" err="1"/>
              <a:t>GPST_Id</a:t>
            </a:r>
            <a:r>
              <a:rPr lang="en-US" dirty="0"/>
              <a:t> </a:t>
            </a:r>
          </a:p>
          <a:p>
            <a:r>
              <a:rPr lang="en-US" dirty="0"/>
              <a:t>int </a:t>
            </a:r>
            <a:r>
              <a:rPr lang="en-US" dirty="0" err="1"/>
              <a:t>UserID</a:t>
            </a:r>
            <a:r>
              <a:rPr lang="en-US" dirty="0"/>
              <a:t> </a:t>
            </a:r>
          </a:p>
          <a:p>
            <a:r>
              <a:rPr lang="en-US" dirty="0" err="1"/>
              <a:t>DateTime</a:t>
            </a:r>
            <a:r>
              <a:rPr lang="en-US" dirty="0"/>
              <a:t> </a:t>
            </a:r>
            <a:r>
              <a:rPr lang="en-US" dirty="0" err="1"/>
              <a:t>ActionDate</a:t>
            </a:r>
            <a:r>
              <a:rPr lang="en-US" dirty="0"/>
              <a:t>  </a:t>
            </a:r>
          </a:p>
          <a:p>
            <a:r>
              <a:rPr lang="en-US" dirty="0"/>
              <a:t>string Step  </a:t>
            </a:r>
          </a:p>
          <a:p>
            <a:r>
              <a:rPr lang="en-US" dirty="0"/>
              <a:t>string  Latitude </a:t>
            </a:r>
          </a:p>
          <a:p>
            <a:r>
              <a:rPr lang="en-US" dirty="0"/>
              <a:t>string Longitude </a:t>
            </a:r>
          </a:p>
          <a:p>
            <a:r>
              <a:rPr lang="en-US" dirty="0"/>
              <a:t>string Address </a:t>
            </a:r>
          </a:p>
          <a:p>
            <a:r>
              <a:rPr lang="en-US" dirty="0"/>
              <a:t>decimal </a:t>
            </a:r>
            <a:r>
              <a:rPr lang="en-US" dirty="0" err="1"/>
              <a:t>RequestID</a:t>
            </a:r>
            <a:r>
              <a:rPr lang="en-US" dirty="0"/>
              <a:t> </a:t>
            </a:r>
          </a:p>
          <a:p>
            <a:r>
              <a:rPr lang="en-US" dirty="0"/>
              <a:t>string Status </a:t>
            </a:r>
          </a:p>
        </p:txBody>
      </p:sp>
    </p:spTree>
    <p:extLst>
      <p:ext uri="{BB962C8B-B14F-4D97-AF65-F5344CB8AC3E}">
        <p14:creationId xmlns:p14="http://schemas.microsoft.com/office/powerpoint/2010/main" val="1266257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530942"/>
          </a:xfrm>
        </p:spPr>
        <p:txBody>
          <a:bodyPr>
            <a:normAutofit fontScale="90000"/>
          </a:bodyPr>
          <a:lstStyle/>
          <a:p>
            <a:r>
              <a:rPr lang="en-US" sz="2900" b="1" dirty="0" err="1">
                <a:solidFill>
                  <a:srgbClr val="FF0000"/>
                </a:solidFill>
                <a:effectLst/>
              </a:rPr>
              <a:t>Funding_request</a:t>
            </a:r>
            <a:r>
              <a:rPr lang="en-US" sz="2900" b="1" dirty="0">
                <a:solidFill>
                  <a:srgbClr val="FF0000"/>
                </a:solidFill>
                <a:effectLst/>
              </a:rPr>
              <a:t> entity at </a:t>
            </a:r>
            <a:r>
              <a:rPr lang="en-US" sz="2900" b="1" dirty="0" err="1">
                <a:solidFill>
                  <a:srgbClr val="FF0000"/>
                </a:solidFill>
                <a:effectLst/>
              </a:rPr>
              <a:t>FlowChart.Transaction</a:t>
            </a:r>
            <a:endParaRPr lang="en-US" sz="2900" b="1" dirty="0">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7" y="530943"/>
            <a:ext cx="11808542" cy="6194322"/>
          </a:xfrm>
        </p:spPr>
        <p:txBody>
          <a:bodyPr/>
          <a:lstStyle/>
          <a:p>
            <a:r>
              <a:rPr lang="en-US" dirty="0"/>
              <a:t>decimal </a:t>
            </a:r>
            <a:r>
              <a:rPr lang="en-US" dirty="0" err="1"/>
              <a:t>Request_id</a:t>
            </a:r>
            <a:endParaRPr lang="en-US" dirty="0"/>
          </a:p>
        </p:txBody>
      </p:sp>
    </p:spTree>
    <p:extLst>
      <p:ext uri="{BB962C8B-B14F-4D97-AF65-F5344CB8AC3E}">
        <p14:creationId xmlns:p14="http://schemas.microsoft.com/office/powerpoint/2010/main" val="153500604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2516</TotalTime>
  <Words>900</Words>
  <Application>Microsoft Office PowerPoint</Application>
  <PresentationFormat>Widescreen</PresentationFormat>
  <Paragraphs>136</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Calisto MT</vt:lpstr>
      <vt:lpstr>Wingdings</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إدخال طلب (Funding Request)</vt:lpstr>
      <vt:lpstr>طلب تمويل</vt:lpstr>
      <vt:lpstr>مراجعة أولية</vt:lpstr>
      <vt:lpstr>زيارة ميدانية</vt:lpstr>
      <vt:lpstr>التحليل الائتماني</vt:lpstr>
      <vt:lpstr>تحميل المستندات</vt:lpstr>
      <vt:lpstr>المراجعة المركزية</vt:lpstr>
      <vt:lpstr>الصرف</vt:lpstr>
      <vt:lpstr>Branch at Common</vt:lpstr>
      <vt:lpstr>Region at </vt:lpstr>
      <vt:lpstr>Governorate at common</vt:lpstr>
      <vt:lpstr>Original_Region entity at common</vt:lpstr>
      <vt:lpstr>Flow_Branch_Type Entity</vt:lpstr>
      <vt:lpstr>BranchGovernRegion VM</vt:lpstr>
      <vt:lpstr>Trans_GPS_Tracking</vt:lpstr>
      <vt:lpstr>Funding_request entity at FlowChart.Transaction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117</cp:revision>
  <dcterms:created xsi:type="dcterms:W3CDTF">2026-02-01T18:13:26Z</dcterms:created>
  <dcterms:modified xsi:type="dcterms:W3CDTF">2026-02-11T15:02:22Z</dcterms:modified>
</cp:coreProperties>
</file>