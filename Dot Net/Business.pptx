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938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52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6308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481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179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115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343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454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041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592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5234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380170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7139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6637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423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5320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241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C744FA5D-EF1D-489D-8D8F-1FF7B7B6D70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E98E705E-6DF9-4328-B377-5AB614CB6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5641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D839B-EB92-2791-93AA-8C045F8A07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Apps Business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FF182E-6C62-3F43-8E29-C22EA2C57A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By. Ahmed Mohamed </a:t>
            </a:r>
            <a:r>
              <a:rPr lang="en-US" dirty="0" err="1"/>
              <a:t>samir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24522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7C9B9-6FEF-99E1-ADEE-4F163D131B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708" y="0"/>
            <a:ext cx="11354637" cy="572756"/>
          </a:xfrm>
        </p:spPr>
        <p:txBody>
          <a:bodyPr>
            <a:normAutofit fontScale="90000"/>
          </a:bodyPr>
          <a:lstStyle/>
          <a:p>
            <a:r>
              <a:rPr lang="ar-EG" dirty="0"/>
              <a:t>شركات التأمين الخاصة بالتمويل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2971A-3D16-5220-46BF-928E736463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708" y="572756"/>
            <a:ext cx="11354637" cy="5868237"/>
          </a:xfrm>
        </p:spPr>
        <p:txBody>
          <a:bodyPr>
            <a:normAutofit/>
          </a:bodyPr>
          <a:lstStyle/>
          <a:p>
            <a:pPr algn="r" rtl="1"/>
            <a:r>
              <a:rPr lang="ar-EG" sz="2400" dirty="0"/>
              <a:t>هي شركة تؤمن الجهة الممولة. على سبيل المثال عميل أخذ تمويل 200 ألف وتوفى قبل إكمال السداد شركة التأمين تسدد باقي المديونية للبنك او الجهة الممولة</a:t>
            </a:r>
          </a:p>
          <a:p>
            <a:pPr algn="r" rtl="1"/>
            <a:r>
              <a:rPr lang="ar-EG" sz="2400" dirty="0"/>
              <a:t>سم شركة التأمين </a:t>
            </a:r>
          </a:p>
          <a:p>
            <a:pPr algn="r" rtl="1"/>
            <a:r>
              <a:rPr lang="ar-EG" sz="2400" dirty="0"/>
              <a:t>كود اسم شركة التأمين </a:t>
            </a:r>
            <a:r>
              <a:rPr lang="en-US" sz="2400" dirty="0"/>
              <a:t>( id )</a:t>
            </a:r>
          </a:p>
          <a:p>
            <a:pPr algn="r" rt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289523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E3C45-32EC-25C4-D465-E0956D5A3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ar-EG" dirty="0"/>
              <a:t>أنواع التأمين الخاص بالتمويل ؟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415B1-BF77-D949-69B3-D484616548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78" y="572756"/>
            <a:ext cx="11495315" cy="5998865"/>
          </a:xfrm>
        </p:spPr>
        <p:txBody>
          <a:bodyPr>
            <a:normAutofit/>
          </a:bodyPr>
          <a:lstStyle/>
          <a:p>
            <a:pPr algn="r" rtl="1"/>
            <a:r>
              <a:rPr lang="ar-EG" sz="2400" dirty="0"/>
              <a:t>أنا مأمَّن على إيه؟</a:t>
            </a:r>
          </a:p>
          <a:p>
            <a:pPr algn="r" rtl="1"/>
            <a:r>
              <a:rPr lang="ar-EG" sz="2400" dirty="0"/>
              <a:t>تأمين حياة المقترض (الوفاة)</a:t>
            </a:r>
          </a:p>
          <a:p>
            <a:pPr algn="r" rtl="1"/>
            <a:r>
              <a:rPr lang="ar-EG" sz="2400" dirty="0"/>
              <a:t>تأمين فقدان الوظيفة </a:t>
            </a:r>
          </a:p>
          <a:p>
            <a:pPr algn="r" rtl="1"/>
            <a:r>
              <a:rPr lang="ar-EG" sz="2400" dirty="0"/>
              <a:t>تأمين على الإفلاس</a:t>
            </a:r>
          </a:p>
          <a:p>
            <a:pPr algn="r" rtl="1"/>
            <a:r>
              <a:rPr lang="ar-EG" sz="2400" dirty="0"/>
              <a:t>تأمين على العجز الكلى العجز الكلي</a:t>
            </a:r>
          </a:p>
          <a:p>
            <a:pPr algn="r" rtl="1"/>
            <a:r>
              <a:rPr lang="ar-EG" sz="2400" dirty="0"/>
              <a:t>تأمين على الأصل الممول: ده تأمين على </a:t>
            </a:r>
            <a:r>
              <a:rPr lang="ar-EG" sz="2400" b="1" dirty="0"/>
              <a:t>الشيء نفسه</a:t>
            </a:r>
            <a:r>
              <a:rPr lang="ar-EG" sz="2400" dirty="0"/>
              <a:t> اللي </a:t>
            </a:r>
            <a:r>
              <a:rPr lang="ar-EG" sz="2400" dirty="0" err="1"/>
              <a:t>اتاخد</a:t>
            </a:r>
            <a:r>
              <a:rPr lang="ar-EG" sz="2400" dirty="0"/>
              <a:t> بالقرض </a:t>
            </a:r>
            <a:r>
              <a:rPr lang="ar-EG" sz="2400" dirty="0" err="1"/>
              <a:t>زى</a:t>
            </a:r>
            <a:r>
              <a:rPr lang="ar-EG" sz="2400" dirty="0"/>
              <a:t> عربية او عقار</a:t>
            </a:r>
          </a:p>
          <a:p>
            <a:pPr algn="r" rtl="1"/>
            <a:endParaRPr lang="ar-EG" sz="2200" dirty="0"/>
          </a:p>
          <a:p>
            <a:pPr algn="r" rtl="1"/>
            <a:endParaRPr lang="ar-EG" sz="2400" dirty="0"/>
          </a:p>
          <a:p>
            <a:pPr algn="r" rt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700226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A4DF9-1B2D-E67C-75CB-4083CB670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3288"/>
          </a:xfrm>
        </p:spPr>
        <p:txBody>
          <a:bodyPr>
            <a:normAutofit fontScale="90000"/>
          </a:bodyPr>
          <a:lstStyle/>
          <a:p>
            <a:r>
              <a:rPr lang="ar-EG" dirty="0"/>
              <a:t>الحالات التأمينية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E244B-8CD2-92B2-34F6-C797313F6F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418" y="683289"/>
            <a:ext cx="11234057" cy="5908430"/>
          </a:xfrm>
        </p:spPr>
        <p:txBody>
          <a:bodyPr>
            <a:normAutofit/>
          </a:bodyPr>
          <a:lstStyle/>
          <a:p>
            <a:pPr algn="r" rtl="1"/>
            <a:r>
              <a:rPr lang="ar-EG" sz="2200" b="1" dirty="0"/>
              <a:t>الظروف أو الأحداث التي إذا وقعت تلتزم شركة التأمين بدفع التعويض</a:t>
            </a:r>
          </a:p>
          <a:p>
            <a:pPr lvl="1" algn="r" rtl="1"/>
            <a:r>
              <a:rPr lang="ar-EG" sz="2000" b="1" dirty="0"/>
              <a:t>العجز الكلي الدائم</a:t>
            </a:r>
          </a:p>
          <a:p>
            <a:pPr lvl="1" algn="r" rtl="1"/>
            <a:r>
              <a:rPr lang="ar-EG" sz="2000" b="1" dirty="0"/>
              <a:t>الوفاة</a:t>
            </a:r>
          </a:p>
          <a:p>
            <a:pPr algn="r" rtl="1"/>
            <a:endParaRPr lang="ar-EG" sz="2200" b="1" dirty="0"/>
          </a:p>
          <a:p>
            <a:pPr algn="r" rtl="1"/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944723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4B52F-F493-6B97-BC7B-F952CDD29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4181" y="0"/>
            <a:ext cx="10353762" cy="970450"/>
          </a:xfrm>
        </p:spPr>
        <p:txBody>
          <a:bodyPr/>
          <a:lstStyle/>
          <a:p>
            <a:r>
              <a:rPr lang="ar-EG" b="1" dirty="0"/>
              <a:t>أسباب رفض التعويض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04D8E-18F3-0C74-3A33-DB2B972296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982" y="970450"/>
            <a:ext cx="11445073" cy="5480591"/>
          </a:xfrm>
        </p:spPr>
        <p:txBody>
          <a:bodyPr>
            <a:normAutofit/>
          </a:bodyPr>
          <a:lstStyle/>
          <a:p>
            <a:pPr algn="r" rtl="1"/>
            <a:r>
              <a:rPr lang="ar-EG" sz="2400" b="1" dirty="0"/>
              <a:t>التعويض: المبلغ الذي تدفعه شركة التأمين للجهة الممولة عند وقوع الخطر المؤمن عليه، لتعويض الضرر أو فقدان القيمة المالية.</a:t>
            </a:r>
          </a:p>
          <a:p>
            <a:pPr algn="r" rtl="1"/>
            <a:r>
              <a:rPr lang="ar-EG" sz="2400" dirty="0"/>
              <a:t>أسباب رفض التعويض في سياق التمويلات</a:t>
            </a:r>
          </a:p>
          <a:p>
            <a:pPr lvl="1" algn="r" rtl="1"/>
            <a:r>
              <a:rPr lang="ar-EG" sz="2400" dirty="0"/>
              <a:t>العميل متعثر لفترة طويلة بدون مبرر</a:t>
            </a:r>
          </a:p>
          <a:p>
            <a:pPr lvl="1" algn="r" rtl="1"/>
            <a:r>
              <a:rPr lang="ar-EG" sz="2400" dirty="0"/>
              <a:t>التمويل استُخدم في غير الغرض المحدد</a:t>
            </a:r>
            <a:endParaRPr lang="ar-EG" sz="2400" b="1" dirty="0"/>
          </a:p>
          <a:p>
            <a:pPr lvl="1" algn="r" rtl="1"/>
            <a:r>
              <a:rPr lang="ar-EG" sz="2400" dirty="0"/>
              <a:t>الخطر غير مغطى.</a:t>
            </a:r>
          </a:p>
          <a:p>
            <a:pPr lvl="1" algn="r" rtl="1"/>
            <a:endParaRPr lang="ar-EG" sz="2200" b="1" dirty="0"/>
          </a:p>
          <a:p>
            <a:pPr algn="r" rtl="1"/>
            <a:endParaRPr lang="en-US" sz="2400" b="1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717B3722-EFB7-D3A5-8392-3979C38BB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ar-SA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العميل متعثر لفترة طويلة بدون مبرر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222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99586-123B-35C4-B8FF-2970C1724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576105"/>
          </a:xfrm>
        </p:spPr>
        <p:txBody>
          <a:bodyPr>
            <a:normAutofit fontScale="90000"/>
          </a:bodyPr>
          <a:lstStyle/>
          <a:p>
            <a:r>
              <a:rPr lang="ar-EG" b="1" dirty="0"/>
              <a:t>تعاقد شركة التأمين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92B0D-AEBC-424B-06BC-C31E1A844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121" y="576104"/>
            <a:ext cx="11847321" cy="6281895"/>
          </a:xfrm>
        </p:spPr>
        <p:txBody>
          <a:bodyPr/>
          <a:lstStyle/>
          <a:p>
            <a:pPr algn="r" rtl="1"/>
            <a:r>
              <a:rPr lang="ar-EG" b="1" dirty="0"/>
              <a:t>نوع التأمين</a:t>
            </a:r>
          </a:p>
          <a:p>
            <a:pPr algn="r" rtl="1"/>
            <a:r>
              <a:rPr lang="ar-EG" b="1" dirty="0"/>
              <a:t>اسم شركة التأمين</a:t>
            </a:r>
          </a:p>
          <a:p>
            <a:pPr algn="r" rtl="1"/>
            <a:r>
              <a:rPr lang="ar-EG" b="1" dirty="0"/>
              <a:t>تاريخ بداية التعاقد</a:t>
            </a:r>
          </a:p>
          <a:p>
            <a:pPr algn="r" rtl="1"/>
            <a:r>
              <a:rPr lang="ar-EG" b="1" dirty="0"/>
              <a:t>تاريخ نهاية التعاقد</a:t>
            </a:r>
          </a:p>
          <a:p>
            <a:pPr algn="r" rtl="1"/>
            <a:r>
              <a:rPr lang="ar-EG" b="1" dirty="0"/>
              <a:t>أقصى مبلغ للتأمين : الحد الأقصى الذي تلتزم به شركة التأمين بدفعه للمستفيد عند وقوع الخطر المؤمن عليه.</a:t>
            </a:r>
          </a:p>
          <a:p>
            <a:pPr algn="r" rtl="1"/>
            <a:r>
              <a:rPr lang="ar-EG" b="1" dirty="0"/>
              <a:t>الحد الأدنى للقسط التأميني ؟ أقل مبلغ يجب دفعه للحصول على التغطية التأمينية، حتى لو كانت قيمة القرض أو الأصل صغيرة.</a:t>
            </a:r>
          </a:p>
          <a:p>
            <a:pPr algn="r" rtl="1"/>
            <a:r>
              <a:rPr lang="ar-EG" b="1" dirty="0"/>
              <a:t>الجزء المحمل من الشركة فقط (</a:t>
            </a:r>
            <a:r>
              <a:rPr lang="ar-EG" dirty="0"/>
              <a:t>شركة التمويل</a:t>
            </a:r>
            <a:r>
              <a:rPr lang="ar-EG" b="1" dirty="0"/>
              <a:t>) : القسط التأميني في نسبة التحمل </a:t>
            </a:r>
            <a:r>
              <a:rPr lang="ar-EG" dirty="0"/>
              <a:t>للشركة الممولة</a:t>
            </a:r>
            <a:endParaRPr lang="ar-EG" b="1" dirty="0"/>
          </a:p>
          <a:p>
            <a:pPr algn="r" rtl="1"/>
            <a:r>
              <a:rPr lang="ar-EG" b="1" dirty="0"/>
              <a:t>نسبة تحمل شركة التأمين </a:t>
            </a:r>
            <a:r>
              <a:rPr lang="en-US" b="1" dirty="0"/>
              <a:t>:</a:t>
            </a:r>
          </a:p>
          <a:p>
            <a:pPr algn="r" rtl="1"/>
            <a:r>
              <a:rPr lang="ar-EG" b="1" dirty="0"/>
              <a:t>مثال بحالة خسارة 50000</a:t>
            </a:r>
          </a:p>
          <a:p>
            <a:pPr algn="r" rtl="1"/>
            <a:endParaRPr lang="ar-EG" b="1" dirty="0"/>
          </a:p>
          <a:p>
            <a:pPr algn="r" rtl="1"/>
            <a:endParaRPr lang="ar-EG" dirty="0"/>
          </a:p>
          <a:p>
            <a:pPr algn="r" rtl="1"/>
            <a:endParaRPr lang="ar-EG" dirty="0"/>
          </a:p>
          <a:p>
            <a:pPr algn="r" rtl="1"/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FFD04F-2578-AD8E-8AB3-C3C036D8A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21" y="3883029"/>
            <a:ext cx="7215031" cy="286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439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33EBA-13F1-0001-D2A2-41EE1A618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A0C5F3-D5BE-7FF0-05F1-97D23484F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158195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2127</TotalTime>
  <Words>245</Words>
  <Application>Microsoft Office PowerPoint</Application>
  <PresentationFormat>Widescreen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Calisto MT</vt:lpstr>
      <vt:lpstr>Wingdings 2</vt:lpstr>
      <vt:lpstr>Slate</vt:lpstr>
      <vt:lpstr>Apps Business </vt:lpstr>
      <vt:lpstr>شركات التأمين الخاصة بالتمويل</vt:lpstr>
      <vt:lpstr>أنواع التأمين الخاص بالتمويل ؟</vt:lpstr>
      <vt:lpstr>الحالات التأمينية</vt:lpstr>
      <vt:lpstr>أسباب رفض التعويض</vt:lpstr>
      <vt:lpstr>تعاقد شركة التأمين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IT Department</cp:lastModifiedBy>
  <cp:revision>64</cp:revision>
  <dcterms:created xsi:type="dcterms:W3CDTF">2026-02-01T18:13:26Z</dcterms:created>
  <dcterms:modified xsi:type="dcterms:W3CDTF">2026-02-05T14:56:13Z</dcterms:modified>
</cp:coreProperties>
</file>