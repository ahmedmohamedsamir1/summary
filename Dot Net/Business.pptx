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9" r:id="rId14"/>
    <p:sldId id="268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938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52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630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481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179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115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34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454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041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592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5234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380170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139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6637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423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5320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241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744FA5D-EF1D-489D-8D8F-1FF7B7B6D702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641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D839B-EB92-2791-93AA-8C045F8A07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Apps Business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FF182E-6C62-3F43-8E29-C22EA2C57A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By. Ahmed Mohamed </a:t>
            </a:r>
            <a:r>
              <a:rPr lang="en-US" dirty="0" err="1"/>
              <a:t>samir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4522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7C9B9-6FEF-99E1-ADEE-4F163D131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708" y="0"/>
            <a:ext cx="11354637" cy="572756"/>
          </a:xfrm>
        </p:spPr>
        <p:txBody>
          <a:bodyPr>
            <a:normAutofit fontScale="90000"/>
          </a:bodyPr>
          <a:lstStyle/>
          <a:p>
            <a:r>
              <a:rPr lang="ar-EG" dirty="0"/>
              <a:t>شركات التأمين الخاصة بالتمويل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2971A-3D16-5220-46BF-928E73646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08" y="572756"/>
            <a:ext cx="11354637" cy="5868237"/>
          </a:xfrm>
        </p:spPr>
        <p:txBody>
          <a:bodyPr>
            <a:normAutofit/>
          </a:bodyPr>
          <a:lstStyle/>
          <a:p>
            <a:pPr algn="r" rtl="1"/>
            <a:r>
              <a:rPr lang="ar-EG" sz="2400" dirty="0"/>
              <a:t>هي شركة تؤمن الجهة الممولة. على سبيل المثال عميل أخذ تمويل 200 ألف وتوفى قبل إكمال السداد شركة التأمين تسدد باقي المديونية للبنك او الجهة الممولة</a:t>
            </a:r>
          </a:p>
          <a:p>
            <a:pPr algn="r" rtl="1"/>
            <a:r>
              <a:rPr lang="ar-EG" sz="2400" dirty="0"/>
              <a:t>سم شركة التأمين </a:t>
            </a:r>
          </a:p>
          <a:p>
            <a:pPr algn="r" rtl="1"/>
            <a:r>
              <a:rPr lang="ar-EG" sz="2400" dirty="0"/>
              <a:t>كود اسم شركة التأمين </a:t>
            </a:r>
            <a:r>
              <a:rPr lang="en-US" sz="2400" dirty="0"/>
              <a:t>( id )</a:t>
            </a:r>
          </a:p>
          <a:p>
            <a:pPr algn="r" rt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289523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E3C45-32EC-25C4-D465-E0956D5A3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ar-EG" dirty="0"/>
              <a:t>أنواع التأمين الخاص بالتمويل ؟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415B1-BF77-D949-69B3-D48461654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78" y="572756"/>
            <a:ext cx="11495315" cy="5998865"/>
          </a:xfrm>
        </p:spPr>
        <p:txBody>
          <a:bodyPr>
            <a:normAutofit/>
          </a:bodyPr>
          <a:lstStyle/>
          <a:p>
            <a:pPr algn="r" rtl="1"/>
            <a:r>
              <a:rPr lang="ar-EG" sz="2400" dirty="0"/>
              <a:t>أنا مأمَّن على إيه؟</a:t>
            </a:r>
          </a:p>
          <a:p>
            <a:pPr algn="r" rtl="1"/>
            <a:r>
              <a:rPr lang="ar-EG" sz="2400" dirty="0"/>
              <a:t>تأمين حياة المقترض (الوفاة)</a:t>
            </a:r>
          </a:p>
          <a:p>
            <a:pPr algn="r" rtl="1"/>
            <a:r>
              <a:rPr lang="ar-EG" sz="2400" dirty="0"/>
              <a:t>تأمين فقدان الوظيفة </a:t>
            </a:r>
          </a:p>
          <a:p>
            <a:pPr algn="r" rtl="1"/>
            <a:r>
              <a:rPr lang="ar-EG" sz="2400" dirty="0"/>
              <a:t>تأمين على الإفلاس</a:t>
            </a:r>
          </a:p>
          <a:p>
            <a:pPr algn="r" rtl="1"/>
            <a:r>
              <a:rPr lang="ar-EG" sz="2400" dirty="0"/>
              <a:t>تأمين على العجز الكلى العجز الكلي</a:t>
            </a:r>
          </a:p>
          <a:p>
            <a:pPr algn="r" rtl="1"/>
            <a:r>
              <a:rPr lang="ar-EG" sz="2400" dirty="0"/>
              <a:t>تأمين على الأصل الممول: ده تأمين على </a:t>
            </a:r>
            <a:r>
              <a:rPr lang="ar-EG" sz="2400" b="1" dirty="0"/>
              <a:t>الشيء نفسه</a:t>
            </a:r>
            <a:r>
              <a:rPr lang="ar-EG" sz="2400" dirty="0"/>
              <a:t> اللي </a:t>
            </a:r>
            <a:r>
              <a:rPr lang="ar-EG" sz="2400" dirty="0" err="1"/>
              <a:t>اتاخد</a:t>
            </a:r>
            <a:r>
              <a:rPr lang="ar-EG" sz="2400" dirty="0"/>
              <a:t> بالقرض </a:t>
            </a:r>
            <a:r>
              <a:rPr lang="ar-EG" sz="2400" dirty="0" err="1"/>
              <a:t>زى</a:t>
            </a:r>
            <a:r>
              <a:rPr lang="ar-EG" sz="2400" dirty="0"/>
              <a:t> عربية او عقار</a:t>
            </a:r>
          </a:p>
          <a:p>
            <a:pPr algn="r" rtl="1"/>
            <a:endParaRPr lang="ar-EG" sz="2200" dirty="0"/>
          </a:p>
          <a:p>
            <a:pPr algn="r" rtl="1"/>
            <a:endParaRPr lang="ar-EG" sz="2400" dirty="0"/>
          </a:p>
          <a:p>
            <a:pPr algn="r" rt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70022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A4DF9-1B2D-E67C-75CB-4083CB670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3288"/>
          </a:xfrm>
        </p:spPr>
        <p:txBody>
          <a:bodyPr>
            <a:normAutofit fontScale="90000"/>
          </a:bodyPr>
          <a:lstStyle/>
          <a:p>
            <a:r>
              <a:rPr lang="ar-EG" dirty="0"/>
              <a:t>الحالات التأمينية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E244B-8CD2-92B2-34F6-C797313F6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418" y="683289"/>
            <a:ext cx="11234057" cy="5908430"/>
          </a:xfrm>
        </p:spPr>
        <p:txBody>
          <a:bodyPr>
            <a:normAutofit/>
          </a:bodyPr>
          <a:lstStyle/>
          <a:p>
            <a:pPr algn="r" rtl="1"/>
            <a:r>
              <a:rPr lang="ar-EG" sz="2200" b="1" dirty="0"/>
              <a:t>الظروف أو الأحداث التي إذا وقعت تلتزم شركة التأمين بدفع التعويض</a:t>
            </a:r>
          </a:p>
          <a:p>
            <a:pPr lvl="1" algn="r" rtl="1"/>
            <a:r>
              <a:rPr lang="ar-EG" sz="2000" b="1" dirty="0"/>
              <a:t>العجز الكلي الدائم</a:t>
            </a:r>
          </a:p>
          <a:p>
            <a:pPr lvl="1" algn="r" rtl="1"/>
            <a:r>
              <a:rPr lang="ar-EG" sz="2000" b="1" dirty="0"/>
              <a:t>الوفاة</a:t>
            </a:r>
          </a:p>
          <a:p>
            <a:pPr algn="r" rtl="1"/>
            <a:endParaRPr lang="ar-EG" sz="2200" b="1" dirty="0"/>
          </a:p>
          <a:p>
            <a:pPr algn="r" rtl="1"/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944723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4B52F-F493-6B97-BC7B-F952CDD29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4181" y="0"/>
            <a:ext cx="10353762" cy="970450"/>
          </a:xfrm>
        </p:spPr>
        <p:txBody>
          <a:bodyPr/>
          <a:lstStyle/>
          <a:p>
            <a:r>
              <a:rPr lang="ar-EG" b="1" dirty="0"/>
              <a:t>أسباب رفض التعويض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04D8E-18F3-0C74-3A33-DB2B97229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982" y="970450"/>
            <a:ext cx="11445073" cy="5480591"/>
          </a:xfrm>
        </p:spPr>
        <p:txBody>
          <a:bodyPr>
            <a:normAutofit/>
          </a:bodyPr>
          <a:lstStyle/>
          <a:p>
            <a:pPr algn="r" rtl="1"/>
            <a:r>
              <a:rPr lang="ar-EG" sz="2400" b="1" dirty="0"/>
              <a:t>التعويض: المبلغ الذي تدفعه شركة التأمين للجهة الممولة عند وقوع الخطر المؤمن عليه، لتعويض الضرر أو فقدان القيمة المالية.</a:t>
            </a:r>
          </a:p>
          <a:p>
            <a:pPr algn="r" rtl="1"/>
            <a:r>
              <a:rPr lang="ar-EG" sz="2400" dirty="0"/>
              <a:t>أسباب رفض التعويض في سياق التمويلات</a:t>
            </a:r>
          </a:p>
          <a:p>
            <a:pPr lvl="1" algn="r" rtl="1"/>
            <a:r>
              <a:rPr lang="ar-EG" sz="2400" dirty="0"/>
              <a:t>العميل متعثر لفترة طويلة بدون مبرر</a:t>
            </a:r>
          </a:p>
          <a:p>
            <a:pPr lvl="1" algn="r" rtl="1"/>
            <a:r>
              <a:rPr lang="ar-EG" sz="2400" dirty="0"/>
              <a:t>التمويل استُخدم في غير الغرض المحدد</a:t>
            </a:r>
            <a:endParaRPr lang="ar-EG" sz="2400" b="1" dirty="0"/>
          </a:p>
          <a:p>
            <a:pPr lvl="1" algn="r" rtl="1"/>
            <a:r>
              <a:rPr lang="ar-EG" sz="2400" dirty="0"/>
              <a:t>الخطر غير مغطى.</a:t>
            </a:r>
          </a:p>
          <a:p>
            <a:pPr lvl="1" algn="r" rtl="1"/>
            <a:endParaRPr lang="ar-EG" sz="2200" b="1" dirty="0"/>
          </a:p>
          <a:p>
            <a:pPr algn="r" rtl="1"/>
            <a:endParaRPr lang="en-US" sz="2400" b="1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17B3722-EFB7-D3A5-8392-3979C38BB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العميل متعثر لفترة طويلة بدون مبرر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222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99586-123B-35C4-B8FF-2970C1724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576105"/>
          </a:xfrm>
        </p:spPr>
        <p:txBody>
          <a:bodyPr>
            <a:normAutofit fontScale="90000"/>
          </a:bodyPr>
          <a:lstStyle/>
          <a:p>
            <a:r>
              <a:rPr lang="ar-EG" b="1" dirty="0"/>
              <a:t>تعاقد شركة التأمين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92B0D-AEBC-424B-06BC-C31E1A844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121" y="576104"/>
            <a:ext cx="11847321" cy="6281895"/>
          </a:xfrm>
        </p:spPr>
        <p:txBody>
          <a:bodyPr/>
          <a:lstStyle/>
          <a:p>
            <a:pPr algn="r" rtl="1"/>
            <a:r>
              <a:rPr lang="ar-EG" b="1" dirty="0"/>
              <a:t>نوع التأمين</a:t>
            </a:r>
          </a:p>
          <a:p>
            <a:pPr algn="r" rtl="1"/>
            <a:r>
              <a:rPr lang="ar-EG" b="1" dirty="0"/>
              <a:t>اسم شركة التأمين</a:t>
            </a:r>
          </a:p>
          <a:p>
            <a:pPr algn="r" rtl="1"/>
            <a:r>
              <a:rPr lang="ar-EG" b="1" dirty="0"/>
              <a:t>تاريخ بداية التعاقد</a:t>
            </a:r>
          </a:p>
          <a:p>
            <a:pPr algn="r" rtl="1"/>
            <a:r>
              <a:rPr lang="ar-EG" b="1" dirty="0"/>
              <a:t>تاريخ نهاية التعاقد</a:t>
            </a:r>
          </a:p>
          <a:p>
            <a:pPr algn="r" rtl="1"/>
            <a:r>
              <a:rPr lang="ar-EG" b="1" dirty="0"/>
              <a:t>أقصى مبلغ للتأمين : الحد الأقصى الذي تلتزم به شركة التأمين بدفعه للمستفيد عند وقوع الخطر المؤمن عليه.</a:t>
            </a:r>
          </a:p>
          <a:p>
            <a:pPr algn="r" rtl="1"/>
            <a:r>
              <a:rPr lang="ar-EG" b="1" dirty="0"/>
              <a:t>الحد الأدنى للقسط التأميني ؟ أقل مبلغ يجب دفعه للحصول على التغطية التأمينية، حتى لو كانت قيمة القرض أو الأصل صغيرة.</a:t>
            </a:r>
          </a:p>
          <a:p>
            <a:pPr algn="r" rtl="1"/>
            <a:r>
              <a:rPr lang="ar-EG" b="1" dirty="0"/>
              <a:t>الجزء المحمل من الشركة فقط (</a:t>
            </a:r>
            <a:r>
              <a:rPr lang="ar-EG" dirty="0"/>
              <a:t>شركة التمويل</a:t>
            </a:r>
            <a:r>
              <a:rPr lang="ar-EG" b="1" dirty="0"/>
              <a:t>) : القسط التأميني في نسبة التحمل </a:t>
            </a:r>
            <a:r>
              <a:rPr lang="ar-EG" dirty="0"/>
              <a:t>للشركة الممولة</a:t>
            </a:r>
            <a:endParaRPr lang="ar-EG" b="1" dirty="0"/>
          </a:p>
          <a:p>
            <a:pPr algn="r" rtl="1"/>
            <a:r>
              <a:rPr lang="ar-EG" b="1" dirty="0"/>
              <a:t>نسبة تحمل شركة التأمين </a:t>
            </a:r>
            <a:r>
              <a:rPr lang="en-US" b="1" dirty="0"/>
              <a:t>:</a:t>
            </a:r>
          </a:p>
          <a:p>
            <a:pPr algn="r" rtl="1"/>
            <a:r>
              <a:rPr lang="ar-EG" b="1" dirty="0"/>
              <a:t>مثال بحالة خسارة 50000</a:t>
            </a:r>
          </a:p>
          <a:p>
            <a:pPr algn="r" rtl="1"/>
            <a:endParaRPr lang="ar-EG" b="1" dirty="0"/>
          </a:p>
          <a:p>
            <a:pPr algn="r" rtl="1"/>
            <a:endParaRPr lang="ar-EG" dirty="0"/>
          </a:p>
          <a:p>
            <a:pPr algn="r" rtl="1"/>
            <a:endParaRPr lang="ar-EG" dirty="0"/>
          </a:p>
          <a:p>
            <a:pPr algn="r" rtl="1"/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FFD04F-2578-AD8E-8AB3-C3C036D8A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1" y="3883029"/>
            <a:ext cx="7215031" cy="286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439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6BFB9-CD17-9F48-9D2D-CDB2C527E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782" y="245855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MICRO, Core, Master</a:t>
            </a:r>
          </a:p>
        </p:txBody>
      </p:sp>
    </p:spTree>
    <p:extLst>
      <p:ext uri="{BB962C8B-B14F-4D97-AF65-F5344CB8AC3E}">
        <p14:creationId xmlns:p14="http://schemas.microsoft.com/office/powerpoint/2010/main" val="1029230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33EBA-13F1-0001-D2A2-41EE1A618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Micro, Master, Core Flow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A0C5F3-D5BE-7FF0-05F1-97D23484F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296" y="737419"/>
            <a:ext cx="11552903" cy="5978014"/>
          </a:xfrm>
        </p:spPr>
        <p:txBody>
          <a:bodyPr>
            <a:normAutofit/>
          </a:bodyPr>
          <a:lstStyle/>
          <a:p>
            <a:pPr marL="494100" indent="-457200" algn="r" rtl="1">
              <a:buFont typeface="+mj-lt"/>
              <a:buAutoNum type="arabicPeriod"/>
            </a:pPr>
            <a:r>
              <a:rPr lang="ar-EG" sz="2200" b="1" dirty="0">
                <a:solidFill>
                  <a:srgbClr val="FF0000"/>
                </a:solidFill>
              </a:rPr>
              <a:t>إدخال طلب</a:t>
            </a:r>
          </a:p>
          <a:p>
            <a:pPr marL="871200" lvl="1" indent="-457200" algn="r" rtl="1"/>
            <a:r>
              <a:rPr lang="en-US" b="1" dirty="0"/>
              <a:t>Operator: loan </a:t>
            </a:r>
            <a:r>
              <a:rPr lang="en-US" b="1"/>
              <a:t>officer ()</a:t>
            </a:r>
            <a:endParaRPr lang="ar-EG" b="1" dirty="0"/>
          </a:p>
          <a:p>
            <a:pPr marL="494100" indent="-457200" algn="r" rtl="1">
              <a:buFont typeface="+mj-lt"/>
              <a:buAutoNum type="arabicPeriod"/>
            </a:pPr>
            <a:r>
              <a:rPr lang="ar-EG" sz="2200" b="1" dirty="0">
                <a:solidFill>
                  <a:srgbClr val="FF0000"/>
                </a:solidFill>
              </a:rPr>
              <a:t>مراجعة أولية</a:t>
            </a:r>
            <a:endParaRPr lang="en-US" sz="2200" b="1" dirty="0">
              <a:solidFill>
                <a:srgbClr val="FF0000"/>
              </a:solidFill>
            </a:endParaRPr>
          </a:p>
          <a:p>
            <a:pPr marL="871200" lvl="1" indent="-457200" algn="r" rtl="1"/>
            <a:r>
              <a:rPr lang="en-US" b="1" dirty="0"/>
              <a:t>Operator: CO</a:t>
            </a:r>
            <a:endParaRPr lang="ar-EG" b="1" dirty="0"/>
          </a:p>
          <a:p>
            <a:pPr marL="494100" indent="-457200" algn="r" rtl="1">
              <a:buFont typeface="+mj-lt"/>
              <a:buAutoNum type="arabicPeriod"/>
            </a:pPr>
            <a:r>
              <a:rPr lang="ar-EG" sz="2200" b="1" dirty="0">
                <a:solidFill>
                  <a:srgbClr val="FF0000"/>
                </a:solidFill>
              </a:rPr>
              <a:t>زيارة ميدانية</a:t>
            </a:r>
            <a:endParaRPr lang="en-US" sz="2200" b="1" dirty="0">
              <a:solidFill>
                <a:srgbClr val="FF0000"/>
              </a:solidFill>
            </a:endParaRPr>
          </a:p>
          <a:p>
            <a:pPr marL="871200" lvl="1" indent="-457200" algn="r" rtl="1"/>
            <a:r>
              <a:rPr lang="en-US" b="1" dirty="0"/>
              <a:t>Operator: CO</a:t>
            </a:r>
            <a:endParaRPr lang="ar-EG" b="1" dirty="0"/>
          </a:p>
          <a:p>
            <a:pPr marL="494100" indent="-457200" algn="r" rtl="1">
              <a:buFont typeface="+mj-lt"/>
              <a:buAutoNum type="arabicPeriod"/>
            </a:pPr>
            <a:r>
              <a:rPr lang="ar-EG" sz="2200" b="1" dirty="0">
                <a:solidFill>
                  <a:srgbClr val="FF0000"/>
                </a:solidFill>
              </a:rPr>
              <a:t>تحليل الائتمانى</a:t>
            </a:r>
            <a:endParaRPr lang="en-US" sz="2200" b="1" dirty="0">
              <a:solidFill>
                <a:srgbClr val="FF0000"/>
              </a:solidFill>
            </a:endParaRPr>
          </a:p>
          <a:p>
            <a:pPr marL="871200" lvl="1" indent="-457200" algn="r" rtl="1"/>
            <a:r>
              <a:rPr lang="en-US" b="1" dirty="0"/>
              <a:t>Operator: CO</a:t>
            </a:r>
          </a:p>
          <a:p>
            <a:pPr marL="494100" indent="-457200" algn="r" rtl="1">
              <a:buFont typeface="+mj-lt"/>
              <a:buAutoNum type="arabicPeriod"/>
            </a:pPr>
            <a:r>
              <a:rPr lang="ar-EG" sz="2200" b="1" dirty="0">
                <a:solidFill>
                  <a:srgbClr val="FF0000"/>
                </a:solidFill>
              </a:rPr>
              <a:t>تحميل المستندات</a:t>
            </a:r>
            <a:endParaRPr lang="en-US" sz="2200" b="1" dirty="0">
              <a:solidFill>
                <a:srgbClr val="FF0000"/>
              </a:solidFill>
            </a:endParaRPr>
          </a:p>
          <a:p>
            <a:pPr marL="871200" lvl="1" indent="-457200" algn="r" rtl="1"/>
            <a:r>
              <a:rPr lang="en-US" b="1" dirty="0"/>
              <a:t>Operator: Branch Manager</a:t>
            </a:r>
            <a:endParaRPr lang="ar-EG" b="1" dirty="0"/>
          </a:p>
          <a:p>
            <a:pPr marL="494100" indent="-457200" algn="r" rtl="1">
              <a:buFont typeface="+mj-lt"/>
              <a:buAutoNum type="arabicPeriod"/>
            </a:pPr>
            <a:r>
              <a:rPr lang="ar-EG" sz="2200" b="1" dirty="0">
                <a:solidFill>
                  <a:srgbClr val="FF0000"/>
                </a:solidFill>
              </a:rPr>
              <a:t>المراجعة المركزية</a:t>
            </a:r>
            <a:endParaRPr lang="en-US" sz="2200" b="1" dirty="0">
              <a:solidFill>
                <a:srgbClr val="FF0000"/>
              </a:solidFill>
            </a:endParaRPr>
          </a:p>
          <a:p>
            <a:pPr marL="871200" lvl="1" indent="-457200" algn="r" rtl="1"/>
            <a:r>
              <a:rPr lang="en-US" b="1" dirty="0"/>
              <a:t>Operator: Credit</a:t>
            </a:r>
            <a:endParaRPr lang="ar-EG" b="1" dirty="0"/>
          </a:p>
          <a:p>
            <a:pPr marL="494100" indent="-457200" algn="r" rtl="1">
              <a:buFont typeface="+mj-lt"/>
              <a:buAutoNum type="arabicPeriod"/>
            </a:pPr>
            <a:r>
              <a:rPr lang="ar-EG" sz="2200" b="1" dirty="0">
                <a:solidFill>
                  <a:srgbClr val="FF0000"/>
                </a:solidFill>
              </a:rPr>
              <a:t>الصرف</a:t>
            </a:r>
          </a:p>
        </p:txBody>
      </p:sp>
    </p:spTree>
    <p:extLst>
      <p:ext uri="{BB962C8B-B14F-4D97-AF65-F5344CB8AC3E}">
        <p14:creationId xmlns:p14="http://schemas.microsoft.com/office/powerpoint/2010/main" val="2591581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6689A-AF67-DBC5-65AC-34D515217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118" y="0"/>
            <a:ext cx="10353762" cy="970450"/>
          </a:xfrm>
        </p:spPr>
        <p:txBody>
          <a:bodyPr/>
          <a:lstStyle/>
          <a:p>
            <a:r>
              <a:rPr lang="ar-EG" b="1" dirty="0">
                <a:solidFill>
                  <a:srgbClr val="FF0000"/>
                </a:solidFill>
              </a:rPr>
              <a:t>إدخال طلب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1F90C-EE0A-D684-B8D5-359DE45E4F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073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E5A12-5031-578B-73A6-5281966AF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07923"/>
          </a:xfrm>
        </p:spPr>
        <p:txBody>
          <a:bodyPr/>
          <a:lstStyle/>
          <a:p>
            <a:r>
              <a:rPr lang="ar-EG" b="1" dirty="0">
                <a:solidFill>
                  <a:srgbClr val="FF0000"/>
                </a:solidFill>
              </a:rPr>
              <a:t>مراجعة أولية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0CF99-5768-3261-B86E-3BECA925F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177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D6999-6FBE-7FD0-77E3-BEFCDD743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dirty="0"/>
              <a:t>زيارة ميدانية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4D821-A659-22F6-D27B-58D7BE5B7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8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4BEF7-16AD-EB38-03A0-9E3830874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EG" b="1" dirty="0">
                <a:solidFill>
                  <a:srgbClr val="FF0000"/>
                </a:solidFill>
              </a:rPr>
              <a:t>التحليل الائتماني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905FB-09D5-E179-2DB7-D3AC27E86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443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BE4A9-0D80-63E2-93A1-0CD590C2F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ar-EG" b="1" dirty="0">
                <a:solidFill>
                  <a:srgbClr val="FF0000"/>
                </a:solidFill>
              </a:rPr>
              <a:t>تحميل المستندات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C7BF-7EA3-03B6-F9DF-0E2BE48F0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8109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A2CEE-E4B4-FDA8-29CD-E7103B522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969" y="0"/>
            <a:ext cx="10353762" cy="698090"/>
          </a:xfrm>
        </p:spPr>
        <p:txBody>
          <a:bodyPr>
            <a:normAutofit fontScale="90000"/>
          </a:bodyPr>
          <a:lstStyle/>
          <a:p>
            <a:r>
              <a:rPr lang="ar-EG" b="1" dirty="0">
                <a:solidFill>
                  <a:srgbClr val="FF0000"/>
                </a:solidFill>
              </a:rPr>
              <a:t>المراجعة المركزية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FB638-B82F-DC6A-F0B1-71E66F335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4493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A297D-FA92-F0E4-599A-68EAB0304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6916"/>
          </a:xfrm>
        </p:spPr>
        <p:txBody>
          <a:bodyPr/>
          <a:lstStyle/>
          <a:p>
            <a:r>
              <a:rPr lang="ar-EG" b="1">
                <a:solidFill>
                  <a:srgbClr val="FF0000"/>
                </a:solidFill>
              </a:rPr>
              <a:t>الصرف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0624C-F15D-C0E6-7DF1-8E90C1166A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43256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2311</TotalTime>
  <Words>304</Words>
  <Application>Microsoft Office PowerPoint</Application>
  <PresentationFormat>Widescreen</PresentationFormat>
  <Paragraphs>59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Calisto MT</vt:lpstr>
      <vt:lpstr>Wingdings 2</vt:lpstr>
      <vt:lpstr>Slate</vt:lpstr>
      <vt:lpstr>Apps Business </vt:lpstr>
      <vt:lpstr>شركات التأمين الخاصة بالتمويل</vt:lpstr>
      <vt:lpstr>أنواع التأمين الخاص بالتمويل ؟</vt:lpstr>
      <vt:lpstr>الحالات التأمينية</vt:lpstr>
      <vt:lpstr>أسباب رفض التعويض</vt:lpstr>
      <vt:lpstr>تعاقد شركة التأمين</vt:lpstr>
      <vt:lpstr>MICRO, Core, Master</vt:lpstr>
      <vt:lpstr>Micro, Master, Core Flow Steps</vt:lpstr>
      <vt:lpstr>إدخال طلب</vt:lpstr>
      <vt:lpstr>مراجعة أولية</vt:lpstr>
      <vt:lpstr>زيارة ميدانية</vt:lpstr>
      <vt:lpstr>التحليل الائتماني</vt:lpstr>
      <vt:lpstr>تحميل المستندات</vt:lpstr>
      <vt:lpstr>المراجعة المركزية</vt:lpstr>
      <vt:lpstr>الصرف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IT Department</cp:lastModifiedBy>
  <cp:revision>81</cp:revision>
  <dcterms:created xsi:type="dcterms:W3CDTF">2026-02-01T18:13:26Z</dcterms:created>
  <dcterms:modified xsi:type="dcterms:W3CDTF">2026-02-09T12:21:39Z</dcterms:modified>
</cp:coreProperties>
</file>