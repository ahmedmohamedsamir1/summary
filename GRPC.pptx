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sldIdLst>
    <p:sldId id="256" r:id="rId2"/>
    <p:sldId id="262" r:id="rId3"/>
    <p:sldId id="257" r:id="rId4"/>
    <p:sldId id="258" r:id="rId5"/>
    <p:sldId id="263" r:id="rId6"/>
    <p:sldId id="259" r:id="rId7"/>
    <p:sldId id="264" r:id="rId8"/>
    <p:sldId id="281" r:id="rId9"/>
    <p:sldId id="285" r:id="rId10"/>
    <p:sldId id="293" r:id="rId11"/>
    <p:sldId id="292" r:id="rId12"/>
    <p:sldId id="290" r:id="rId13"/>
    <p:sldId id="260" r:id="rId14"/>
    <p:sldId id="267" r:id="rId15"/>
    <p:sldId id="265" r:id="rId16"/>
    <p:sldId id="266" r:id="rId17"/>
    <p:sldId id="268" r:id="rId18"/>
    <p:sldId id="269" r:id="rId19"/>
    <p:sldId id="270" r:id="rId20"/>
    <p:sldId id="271" r:id="rId21"/>
    <p:sldId id="273" r:id="rId22"/>
    <p:sldId id="274" r:id="rId23"/>
    <p:sldId id="275" r:id="rId24"/>
    <p:sldId id="276" r:id="rId25"/>
    <p:sldId id="277" r:id="rId26"/>
    <p:sldId id="278" r:id="rId27"/>
    <p:sldId id="261" r:id="rId28"/>
    <p:sldId id="279" r:id="rId29"/>
    <p:sldId id="282" r:id="rId30"/>
    <p:sldId id="283" r:id="rId31"/>
    <p:sldId id="280" r:id="rId32"/>
    <p:sldId id="284" r:id="rId33"/>
    <p:sldId id="286" r:id="rId34"/>
    <p:sldId id="287" r:id="rId35"/>
    <p:sldId id="288" r:id="rId36"/>
    <p:sldId id="289" r:id="rId37"/>
    <p:sldId id="291"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84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BEDA5A-4F6C-410B-B6DF-68C570570A8B}"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CAFA22-9605-48D9-8DFA-FF2658767268}" type="slidenum">
              <a:rPr lang="en-US" smtClean="0"/>
              <a:t>‹#›</a:t>
            </a:fld>
            <a:endParaRPr lang="en-US"/>
          </a:p>
        </p:txBody>
      </p:sp>
    </p:spTree>
    <p:extLst>
      <p:ext uri="{BB962C8B-B14F-4D97-AF65-F5344CB8AC3E}">
        <p14:creationId xmlns:p14="http://schemas.microsoft.com/office/powerpoint/2010/main" val="223241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BEDA5A-4F6C-410B-B6DF-68C570570A8B}"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CAFA22-9605-48D9-8DFA-FF2658767268}" type="slidenum">
              <a:rPr lang="en-US" smtClean="0"/>
              <a:t>‹#›</a:t>
            </a:fld>
            <a:endParaRPr lang="en-US"/>
          </a:p>
        </p:txBody>
      </p:sp>
    </p:spTree>
    <p:extLst>
      <p:ext uri="{BB962C8B-B14F-4D97-AF65-F5344CB8AC3E}">
        <p14:creationId xmlns:p14="http://schemas.microsoft.com/office/powerpoint/2010/main" val="1118666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BEDA5A-4F6C-410B-B6DF-68C570570A8B}"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CAFA22-9605-48D9-8DFA-FF2658767268}" type="slidenum">
              <a:rPr lang="en-US" smtClean="0"/>
              <a:t>‹#›</a:t>
            </a:fld>
            <a:endParaRPr lang="en-US"/>
          </a:p>
        </p:txBody>
      </p:sp>
    </p:spTree>
    <p:extLst>
      <p:ext uri="{BB962C8B-B14F-4D97-AF65-F5344CB8AC3E}">
        <p14:creationId xmlns:p14="http://schemas.microsoft.com/office/powerpoint/2010/main" val="1282805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BEDA5A-4F6C-410B-B6DF-68C570570A8B}"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CAFA22-9605-48D9-8DFA-FF2658767268}" type="slidenum">
              <a:rPr lang="en-US" smtClean="0"/>
              <a:t>‹#›</a:t>
            </a:fld>
            <a:endParaRPr lang="en-US"/>
          </a:p>
        </p:txBody>
      </p:sp>
    </p:spTree>
    <p:extLst>
      <p:ext uri="{BB962C8B-B14F-4D97-AF65-F5344CB8AC3E}">
        <p14:creationId xmlns:p14="http://schemas.microsoft.com/office/powerpoint/2010/main" val="3862948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1BEDA5A-4F6C-410B-B6DF-68C570570A8B}" type="datetimeFigureOut">
              <a:rPr lang="en-US" smtClean="0"/>
              <a:t>6/6/2024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CAFA22-9605-48D9-8DFA-FF2658767268}" type="slidenum">
              <a:rPr lang="en-US" smtClean="0"/>
              <a:t>‹#›</a:t>
            </a:fld>
            <a:endParaRPr lang="en-US"/>
          </a:p>
        </p:txBody>
      </p:sp>
    </p:spTree>
    <p:extLst>
      <p:ext uri="{BB962C8B-B14F-4D97-AF65-F5344CB8AC3E}">
        <p14:creationId xmlns:p14="http://schemas.microsoft.com/office/powerpoint/2010/main" val="1493645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1BEDA5A-4F6C-410B-B6DF-68C570570A8B}" type="datetimeFigureOut">
              <a:rPr lang="en-US" smtClean="0"/>
              <a:t>6/6/2024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CAFA22-9605-48D9-8DFA-FF2658767268}" type="slidenum">
              <a:rPr lang="en-US" smtClean="0"/>
              <a:t>‹#›</a:t>
            </a:fld>
            <a:endParaRPr lang="en-US"/>
          </a:p>
        </p:txBody>
      </p:sp>
    </p:spTree>
    <p:extLst>
      <p:ext uri="{BB962C8B-B14F-4D97-AF65-F5344CB8AC3E}">
        <p14:creationId xmlns:p14="http://schemas.microsoft.com/office/powerpoint/2010/main" val="1135859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BEDA5A-4F6C-410B-B6DF-68C570570A8B}" type="datetimeFigureOut">
              <a:rPr lang="en-US" smtClean="0"/>
              <a:t>6/6/2024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DCAFA22-9605-48D9-8DFA-FF2658767268}" type="slidenum">
              <a:rPr lang="en-US" smtClean="0"/>
              <a:t>‹#›</a:t>
            </a:fld>
            <a:endParaRPr lang="en-US"/>
          </a:p>
        </p:txBody>
      </p:sp>
    </p:spTree>
    <p:extLst>
      <p:ext uri="{BB962C8B-B14F-4D97-AF65-F5344CB8AC3E}">
        <p14:creationId xmlns:p14="http://schemas.microsoft.com/office/powerpoint/2010/main" val="492115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BEDA5A-4F6C-410B-B6DF-68C570570A8B}"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CAFA22-9605-48D9-8DFA-FF2658767268}" type="slidenum">
              <a:rPr lang="en-US" smtClean="0"/>
              <a:t>‹#›</a:t>
            </a:fld>
            <a:endParaRPr lang="en-US"/>
          </a:p>
        </p:txBody>
      </p:sp>
    </p:spTree>
    <p:extLst>
      <p:ext uri="{BB962C8B-B14F-4D97-AF65-F5344CB8AC3E}">
        <p14:creationId xmlns:p14="http://schemas.microsoft.com/office/powerpoint/2010/main" val="1162368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BEDA5A-4F6C-410B-B6DF-68C570570A8B}"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CAFA22-9605-48D9-8DFA-FF2658767268}" type="slidenum">
              <a:rPr lang="en-US" smtClean="0"/>
              <a:t>‹#›</a:t>
            </a:fld>
            <a:endParaRPr lang="en-US"/>
          </a:p>
        </p:txBody>
      </p:sp>
    </p:spTree>
    <p:extLst>
      <p:ext uri="{BB962C8B-B14F-4D97-AF65-F5344CB8AC3E}">
        <p14:creationId xmlns:p14="http://schemas.microsoft.com/office/powerpoint/2010/main" val="672438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BEDA5A-4F6C-410B-B6DF-68C570570A8B}"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CAFA22-9605-48D9-8DFA-FF2658767268}" type="slidenum">
              <a:rPr lang="en-US" smtClean="0"/>
              <a:t>‹#›</a:t>
            </a:fld>
            <a:endParaRPr lang="en-US"/>
          </a:p>
        </p:txBody>
      </p:sp>
    </p:spTree>
    <p:extLst>
      <p:ext uri="{BB962C8B-B14F-4D97-AF65-F5344CB8AC3E}">
        <p14:creationId xmlns:p14="http://schemas.microsoft.com/office/powerpoint/2010/main" val="3341435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BEDA5A-4F6C-410B-B6DF-68C570570A8B}"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CAFA22-9605-48D9-8DFA-FF2658767268}" type="slidenum">
              <a:rPr lang="en-US" smtClean="0"/>
              <a:t>‹#›</a:t>
            </a:fld>
            <a:endParaRPr lang="en-US"/>
          </a:p>
        </p:txBody>
      </p:sp>
    </p:spTree>
    <p:extLst>
      <p:ext uri="{BB962C8B-B14F-4D97-AF65-F5344CB8AC3E}">
        <p14:creationId xmlns:p14="http://schemas.microsoft.com/office/powerpoint/2010/main" val="2920282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BEDA5A-4F6C-410B-B6DF-68C570570A8B}" type="datetimeFigureOut">
              <a:rPr lang="en-US" smtClean="0"/>
              <a:t>6/6/2024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CAFA22-9605-48D9-8DFA-FF2658767268}" type="slidenum">
              <a:rPr lang="en-US" smtClean="0"/>
              <a:t>‹#›</a:t>
            </a:fld>
            <a:endParaRPr lang="en-US"/>
          </a:p>
        </p:txBody>
      </p:sp>
    </p:spTree>
    <p:extLst>
      <p:ext uri="{BB962C8B-B14F-4D97-AF65-F5344CB8AC3E}">
        <p14:creationId xmlns:p14="http://schemas.microsoft.com/office/powerpoint/2010/main" val="2060741143"/>
      </p:ext>
    </p:extLst>
  </p:cSld>
  <p:clrMap bg1="dk1" tx1="lt1" bg2="dk2" tx2="lt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753057D3-91A1-D604-8FBF-861ACFDB4F13}"/>
              </a:ext>
            </a:extLst>
          </p:cNvPr>
          <p:cNvSpPr>
            <a:spLocks noGrp="1"/>
          </p:cNvSpPr>
          <p:nvPr>
            <p:ph type="ctrTitle"/>
          </p:nvPr>
        </p:nvSpPr>
        <p:spPr>
          <a:xfrm>
            <a:off x="3215729" y="1764407"/>
            <a:ext cx="5760846" cy="2310312"/>
          </a:xfrm>
        </p:spPr>
        <p:txBody>
          <a:bodyPr>
            <a:normAutofit/>
          </a:bodyPr>
          <a:lstStyle/>
          <a:p>
            <a:r>
              <a:rPr lang="en-US" sz="5200" b="1" dirty="0">
                <a:solidFill>
                  <a:schemeClr val="tx2"/>
                </a:solidFill>
              </a:rPr>
              <a:t>GRPC</a:t>
            </a:r>
          </a:p>
        </p:txBody>
      </p:sp>
      <p:sp>
        <p:nvSpPr>
          <p:cNvPr id="3" name="Subtitle 2">
            <a:extLst>
              <a:ext uri="{FF2B5EF4-FFF2-40B4-BE49-F238E27FC236}">
                <a16:creationId xmlns:a16="http://schemas.microsoft.com/office/drawing/2014/main" id="{BE1F1A92-4643-F188-3677-B5524B070369}"/>
              </a:ext>
            </a:extLst>
          </p:cNvPr>
          <p:cNvSpPr>
            <a:spLocks noGrp="1"/>
          </p:cNvSpPr>
          <p:nvPr>
            <p:ph type="subTitle" idx="1"/>
          </p:nvPr>
        </p:nvSpPr>
        <p:spPr>
          <a:xfrm>
            <a:off x="3215729" y="4165152"/>
            <a:ext cx="5760846" cy="682079"/>
          </a:xfrm>
        </p:spPr>
        <p:txBody>
          <a:bodyPr>
            <a:normAutofit fontScale="85000" lnSpcReduction="20000"/>
          </a:bodyPr>
          <a:lstStyle/>
          <a:p>
            <a:r>
              <a:rPr lang="en-US" dirty="0">
                <a:solidFill>
                  <a:schemeClr val="tx2"/>
                </a:solidFill>
              </a:rPr>
              <a:t>By. Ahmed Mohamed Samir</a:t>
            </a:r>
          </a:p>
          <a:p>
            <a:r>
              <a:rPr lang="en-US" dirty="0">
                <a:solidFill>
                  <a:schemeClr val="tx2"/>
                </a:solidFill>
              </a:rPr>
              <a:t>ahmedmohamedmvp@gmail.com</a:t>
            </a:r>
          </a:p>
        </p:txBody>
      </p:sp>
    </p:spTree>
    <p:extLst>
      <p:ext uri="{BB962C8B-B14F-4D97-AF65-F5344CB8AC3E}">
        <p14:creationId xmlns:p14="http://schemas.microsoft.com/office/powerpoint/2010/main" val="761540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ED417-8E69-199D-0C98-4AC6BF42D5CA}"/>
              </a:ext>
            </a:extLst>
          </p:cNvPr>
          <p:cNvSpPr>
            <a:spLocks noGrp="1"/>
          </p:cNvSpPr>
          <p:nvPr>
            <p:ph type="title"/>
          </p:nvPr>
        </p:nvSpPr>
        <p:spPr>
          <a:xfrm>
            <a:off x="838200" y="0"/>
            <a:ext cx="10515600" cy="492369"/>
          </a:xfrm>
        </p:spPr>
        <p:txBody>
          <a:bodyPr>
            <a:noAutofit/>
          </a:bodyPr>
          <a:lstStyle/>
          <a:p>
            <a:r>
              <a:rPr lang="en-US" sz="3600" b="1" dirty="0"/>
              <a:t>Info to help</a:t>
            </a:r>
          </a:p>
        </p:txBody>
      </p:sp>
      <p:sp>
        <p:nvSpPr>
          <p:cNvPr id="3" name="Content Placeholder 2">
            <a:extLst>
              <a:ext uri="{FF2B5EF4-FFF2-40B4-BE49-F238E27FC236}">
                <a16:creationId xmlns:a16="http://schemas.microsoft.com/office/drawing/2014/main" id="{EEB1B46C-AEE7-3C3F-B1F1-137DD295B7B7}"/>
              </a:ext>
            </a:extLst>
          </p:cNvPr>
          <p:cNvSpPr>
            <a:spLocks noGrp="1"/>
          </p:cNvSpPr>
          <p:nvPr>
            <p:ph idx="1"/>
          </p:nvPr>
        </p:nvSpPr>
        <p:spPr>
          <a:xfrm>
            <a:off x="70339" y="492369"/>
            <a:ext cx="12121662" cy="6365631"/>
          </a:xfrm>
        </p:spPr>
        <p:txBody>
          <a:bodyPr>
            <a:normAutofit fontScale="92500"/>
          </a:bodyPr>
          <a:lstStyle/>
          <a:p>
            <a:pPr>
              <a:lnSpc>
                <a:spcPct val="110000"/>
              </a:lnSpc>
              <a:spcAft>
                <a:spcPts val="200"/>
              </a:spcAft>
            </a:pPr>
            <a:r>
              <a:rPr lang="en-US" sz="2200" dirty="0">
                <a:solidFill>
                  <a:srgbClr val="FF0000"/>
                </a:solidFill>
                <a:latin typeface="Tahoma" panose="020B0604030504040204" pitchFamily="34" charset="0"/>
                <a:ea typeface="Tahoma" panose="020B0604030504040204" pitchFamily="34" charset="0"/>
                <a:cs typeface="Tahoma" panose="020B0604030504040204" pitchFamily="34" charset="0"/>
              </a:rPr>
              <a:t>TCP </a:t>
            </a:r>
            <a:r>
              <a:rPr lang="en-US" sz="2200" dirty="0">
                <a:latin typeface="Tahoma" panose="020B0604030504040204" pitchFamily="34" charset="0"/>
                <a:ea typeface="Tahoma" panose="020B0604030504040204" pitchFamily="34" charset="0"/>
                <a:cs typeface="Tahoma" panose="020B0604030504040204" pitchFamily="34" charset="0"/>
              </a:rPr>
              <a:t> connection is a fundamental concept in computer networking that provides reliable, ordered, and error-checked delivery of data between applications running on hosts communicating over an IP (Internet Protocol) network </a:t>
            </a:r>
          </a:p>
          <a:p>
            <a:pPr>
              <a:lnSpc>
                <a:spcPct val="110000"/>
              </a:lnSpc>
              <a:spcAft>
                <a:spcPts val="200"/>
              </a:spcAft>
            </a:pPr>
            <a:r>
              <a:rPr lang="en-US" sz="2200" dirty="0">
                <a:latin typeface="Tahoma" panose="020B0604030504040204" pitchFamily="34" charset="0"/>
                <a:ea typeface="Tahoma" panose="020B0604030504040204" pitchFamily="34" charset="0"/>
                <a:cs typeface="Tahoma" panose="020B0604030504040204" pitchFamily="34" charset="0"/>
              </a:rPr>
              <a:t>Transmission Control Protocol (TCP) is a communications standard that enables application programs and computing devices to exchange messages over a network. It is designed to send packets across the internet and ensure the successful delivery of data and messages over networks.</a:t>
            </a:r>
          </a:p>
          <a:p>
            <a:pPr>
              <a:lnSpc>
                <a:spcPct val="110000"/>
              </a:lnSpc>
              <a:spcAft>
                <a:spcPts val="200"/>
              </a:spcAft>
            </a:pPr>
            <a:r>
              <a:rPr lang="en-US" sz="2200" b="1" dirty="0">
                <a:solidFill>
                  <a:srgbClr val="FF0000"/>
                </a:solidFill>
                <a:latin typeface="Tahoma" panose="020B0604030504040204" pitchFamily="34" charset="0"/>
                <a:ea typeface="Tahoma" panose="020B0604030504040204" pitchFamily="34" charset="0"/>
                <a:cs typeface="Tahoma" panose="020B0604030504040204" pitchFamily="34" charset="0"/>
              </a:rPr>
              <a:t>Frame</a:t>
            </a:r>
            <a:r>
              <a:rPr lang="en-US" sz="2200" dirty="0">
                <a:latin typeface="Tahoma" panose="020B0604030504040204" pitchFamily="34" charset="0"/>
                <a:ea typeface="Tahoma" panose="020B0604030504040204" pitchFamily="34" charset="0"/>
                <a:cs typeface="Tahoma" panose="020B0604030504040204" pitchFamily="34" charset="0"/>
              </a:rPr>
              <a:t> : the basic unit in HTTP2</a:t>
            </a:r>
          </a:p>
          <a:p>
            <a:pPr>
              <a:lnSpc>
                <a:spcPct val="110000"/>
              </a:lnSpc>
              <a:spcAft>
                <a:spcPts val="200"/>
              </a:spcAft>
            </a:pPr>
            <a:r>
              <a:rPr lang="en-US" sz="2200" dirty="0">
                <a:latin typeface="Tahoma" panose="020B0604030504040204" pitchFamily="34" charset="0"/>
                <a:ea typeface="Tahoma" panose="020B0604030504040204" pitchFamily="34" charset="0"/>
                <a:cs typeface="Tahoma" panose="020B0604030504040204" pitchFamily="34" charset="0"/>
              </a:rPr>
              <a:t>HTTP2 divide the message that will be sent from source to destination(server) into </a:t>
            </a:r>
            <a:r>
              <a:rPr lang="en-US" sz="2200" dirty="0">
                <a:solidFill>
                  <a:srgbClr val="FF0000"/>
                </a:solidFill>
                <a:latin typeface="Tahoma" panose="020B0604030504040204" pitchFamily="34" charset="0"/>
                <a:ea typeface="Tahoma" panose="020B0604030504040204" pitchFamily="34" charset="0"/>
                <a:cs typeface="Tahoma" panose="020B0604030504040204" pitchFamily="34" charset="0"/>
              </a:rPr>
              <a:t>frames</a:t>
            </a:r>
          </a:p>
          <a:p>
            <a:pPr>
              <a:lnSpc>
                <a:spcPct val="110000"/>
              </a:lnSpc>
              <a:spcAft>
                <a:spcPts val="200"/>
              </a:spcAft>
            </a:pPr>
            <a:r>
              <a:rPr lang="en-US" sz="2200" b="1" dirty="0">
                <a:solidFill>
                  <a:srgbClr val="FF0000"/>
                </a:solidFill>
                <a:latin typeface="Tahoma" panose="020B0604030504040204" pitchFamily="34" charset="0"/>
                <a:ea typeface="Tahoma" panose="020B0604030504040204" pitchFamily="34" charset="0"/>
                <a:cs typeface="Tahoma" panose="020B0604030504040204" pitchFamily="34" charset="0"/>
              </a:rPr>
              <a:t>Head of line blocking</a:t>
            </a:r>
            <a:r>
              <a:rPr lang="en-US" sz="2200" dirty="0">
                <a:latin typeface="Tahoma" panose="020B0604030504040204" pitchFamily="34" charset="0"/>
                <a:ea typeface="Tahoma" panose="020B0604030504040204" pitchFamily="34" charset="0"/>
                <a:cs typeface="Tahoma" panose="020B0604030504040204" pitchFamily="34" charset="0"/>
              </a:rPr>
              <a:t>: the first packet in a queue prevents the subsequent packets from moving forward until it is successfully processed and removed from the queue even if there are resources available for those subsequent packets.</a:t>
            </a:r>
          </a:p>
          <a:p>
            <a:pPr>
              <a:lnSpc>
                <a:spcPct val="110000"/>
              </a:lnSpc>
              <a:spcAft>
                <a:spcPts val="200"/>
              </a:spcAft>
            </a:pPr>
            <a:r>
              <a:rPr lang="en-US" sz="2200" dirty="0">
                <a:latin typeface="Tahoma" panose="020B0604030504040204" pitchFamily="34" charset="0"/>
                <a:ea typeface="Tahoma" panose="020B0604030504040204" pitchFamily="34" charset="0"/>
                <a:cs typeface="Tahoma" panose="020B0604030504040204" pitchFamily="34" charset="0"/>
              </a:rPr>
              <a:t>HTTP2 support </a:t>
            </a:r>
            <a:r>
              <a:rPr lang="en-US" sz="2200" b="1" dirty="0">
                <a:solidFill>
                  <a:srgbClr val="FF0000"/>
                </a:solidFill>
                <a:latin typeface="Tahoma" panose="020B0604030504040204" pitchFamily="34" charset="0"/>
                <a:ea typeface="Tahoma" panose="020B0604030504040204" pitchFamily="34" charset="0"/>
                <a:cs typeface="Tahoma" panose="020B0604030504040204" pitchFamily="34" charset="0"/>
              </a:rPr>
              <a:t>multiplexing</a:t>
            </a:r>
            <a:r>
              <a:rPr lang="en-US" sz="2200" dirty="0">
                <a:latin typeface="Tahoma" panose="020B0604030504040204" pitchFamily="34" charset="0"/>
                <a:ea typeface="Tahoma" panose="020B0604030504040204" pitchFamily="34" charset="0"/>
                <a:cs typeface="Tahoma" panose="020B0604030504040204" pitchFamily="34" charset="0"/>
              </a:rPr>
              <a:t> that solve head of line blocking </a:t>
            </a:r>
          </a:p>
          <a:p>
            <a:pPr>
              <a:lnSpc>
                <a:spcPct val="110000"/>
              </a:lnSpc>
              <a:spcAft>
                <a:spcPts val="200"/>
              </a:spcAft>
            </a:pPr>
            <a:r>
              <a:rPr lang="en-US" sz="2200" b="1" dirty="0">
                <a:solidFill>
                  <a:srgbClr val="FFFF00"/>
                </a:solidFill>
                <a:latin typeface="Tahoma" panose="020B0604030504040204" pitchFamily="34" charset="0"/>
                <a:ea typeface="Tahoma" panose="020B0604030504040204" pitchFamily="34" charset="0"/>
                <a:cs typeface="Tahoma" panose="020B0604030504040204" pitchFamily="34" charset="0"/>
              </a:rPr>
              <a:t>multiplexing</a:t>
            </a:r>
            <a:r>
              <a:rPr lang="en-US" sz="2200" dirty="0">
                <a:latin typeface="Tahoma" panose="020B0604030504040204" pitchFamily="34" charset="0"/>
                <a:ea typeface="Tahoma" panose="020B0604030504040204" pitchFamily="34" charset="0"/>
                <a:cs typeface="Tahoma" panose="020B0604030504040204" pitchFamily="34" charset="0"/>
              </a:rPr>
              <a:t>: the ability to send more than one request through a single TCP connection, with each request being independent which optimize resources , reduce latency</a:t>
            </a:r>
          </a:p>
          <a:p>
            <a:pPr>
              <a:lnSpc>
                <a:spcPct val="110000"/>
              </a:lnSpc>
              <a:spcAft>
                <a:spcPts val="200"/>
              </a:spcAft>
            </a:pPr>
            <a:r>
              <a:rPr lang="en-US" sz="2200" b="1" dirty="0">
                <a:solidFill>
                  <a:srgbClr val="FFFF00"/>
                </a:solidFill>
                <a:latin typeface="Tahoma" panose="020B0604030504040204" pitchFamily="34" charset="0"/>
                <a:ea typeface="Tahoma" panose="020B0604030504040204" pitchFamily="34" charset="0"/>
                <a:cs typeface="Tahoma" panose="020B0604030504040204" pitchFamily="34" charset="0"/>
              </a:rPr>
              <a:t>Latency</a:t>
            </a:r>
            <a:r>
              <a:rPr lang="en-US" sz="2200" dirty="0"/>
              <a:t> : the amount of  time it takes to send data from source to destination</a:t>
            </a:r>
            <a:endParaRPr lang="en-US" sz="2200" dirty="0">
              <a:latin typeface="Tahoma" panose="020B0604030504040204" pitchFamily="34" charset="0"/>
              <a:ea typeface="Tahoma" panose="020B0604030504040204" pitchFamily="34" charset="0"/>
              <a:cs typeface="Tahoma" panose="020B0604030504040204" pitchFamily="34" charset="0"/>
            </a:endParaRPr>
          </a:p>
          <a:p>
            <a:pPr>
              <a:spcAft>
                <a:spcPts val="200"/>
              </a:spcAft>
            </a:pPr>
            <a:endParaRPr lang="en-US" sz="2200" dirty="0"/>
          </a:p>
        </p:txBody>
      </p:sp>
    </p:spTree>
    <p:extLst>
      <p:ext uri="{BB962C8B-B14F-4D97-AF65-F5344CB8AC3E}">
        <p14:creationId xmlns:p14="http://schemas.microsoft.com/office/powerpoint/2010/main" val="1835161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B1BBF-2FA3-5DB9-0C2B-036421228A5D}"/>
              </a:ext>
            </a:extLst>
          </p:cNvPr>
          <p:cNvSpPr>
            <a:spLocks noGrp="1"/>
          </p:cNvSpPr>
          <p:nvPr>
            <p:ph type="title"/>
          </p:nvPr>
        </p:nvSpPr>
        <p:spPr>
          <a:xfrm>
            <a:off x="838200" y="0"/>
            <a:ext cx="10515600" cy="991402"/>
          </a:xfrm>
        </p:spPr>
        <p:txBody>
          <a:bodyPr>
            <a:noAutofit/>
          </a:bodyPr>
          <a:lstStyle/>
          <a:p>
            <a:r>
              <a:rPr lang="en-US" sz="2800" b="1" dirty="0"/>
              <a:t>How do service communicate with each other</a:t>
            </a:r>
            <a:br>
              <a:rPr lang="en-US" sz="2800" b="1" dirty="0"/>
            </a:br>
            <a:r>
              <a:rPr lang="en-US" sz="2800" b="1" dirty="0"/>
              <a:t>[service to service communication]</a:t>
            </a:r>
          </a:p>
        </p:txBody>
      </p:sp>
      <p:sp>
        <p:nvSpPr>
          <p:cNvPr id="3" name="Content Placeholder 2">
            <a:extLst>
              <a:ext uri="{FF2B5EF4-FFF2-40B4-BE49-F238E27FC236}">
                <a16:creationId xmlns:a16="http://schemas.microsoft.com/office/drawing/2014/main" id="{3A739E94-124C-116F-B8C7-64C638F7BC0A}"/>
              </a:ext>
            </a:extLst>
          </p:cNvPr>
          <p:cNvSpPr>
            <a:spLocks noGrp="1"/>
          </p:cNvSpPr>
          <p:nvPr>
            <p:ph idx="1"/>
          </p:nvPr>
        </p:nvSpPr>
        <p:spPr>
          <a:xfrm>
            <a:off x="532563" y="1165609"/>
            <a:ext cx="11334540" cy="5011354"/>
          </a:xfrm>
        </p:spPr>
        <p:txBody>
          <a:bodyPr>
            <a:normAutofit/>
          </a:bodyPr>
          <a:lstStyle/>
          <a:p>
            <a:r>
              <a:rPr lang="en-US" sz="2200" dirty="0"/>
              <a:t>What do need for successful communication</a:t>
            </a:r>
          </a:p>
          <a:p>
            <a:pPr lvl="1"/>
            <a:r>
              <a:rPr lang="en-US" sz="2200" dirty="0"/>
              <a:t>HTTP, WebSocket, Soap, GRPC</a:t>
            </a:r>
          </a:p>
          <a:p>
            <a:endParaRPr lang="en-US" sz="2200" dirty="0"/>
          </a:p>
        </p:txBody>
      </p:sp>
    </p:spTree>
    <p:extLst>
      <p:ext uri="{BB962C8B-B14F-4D97-AF65-F5344CB8AC3E}">
        <p14:creationId xmlns:p14="http://schemas.microsoft.com/office/powerpoint/2010/main" val="3593588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D9E2F-2A99-76B0-5BD0-26B8BB025CB6}"/>
              </a:ext>
            </a:extLst>
          </p:cNvPr>
          <p:cNvSpPr>
            <a:spLocks noGrp="1"/>
          </p:cNvSpPr>
          <p:nvPr>
            <p:ph type="title"/>
          </p:nvPr>
        </p:nvSpPr>
        <p:spPr>
          <a:xfrm>
            <a:off x="838200" y="18256"/>
            <a:ext cx="10515600" cy="805710"/>
          </a:xfrm>
        </p:spPr>
        <p:txBody>
          <a:bodyPr>
            <a:normAutofit/>
          </a:bodyPr>
          <a:lstStyle/>
          <a:p>
            <a:r>
              <a:rPr lang="en-US" sz="3600" dirty="0"/>
              <a:t>What is RPC</a:t>
            </a:r>
          </a:p>
        </p:txBody>
      </p:sp>
      <p:sp>
        <p:nvSpPr>
          <p:cNvPr id="3" name="Content Placeholder 2">
            <a:extLst>
              <a:ext uri="{FF2B5EF4-FFF2-40B4-BE49-F238E27FC236}">
                <a16:creationId xmlns:a16="http://schemas.microsoft.com/office/drawing/2014/main" id="{BACAEA94-D364-55BC-F029-A28BC2313A2C}"/>
              </a:ext>
            </a:extLst>
          </p:cNvPr>
          <p:cNvSpPr>
            <a:spLocks noGrp="1"/>
          </p:cNvSpPr>
          <p:nvPr>
            <p:ph idx="1"/>
          </p:nvPr>
        </p:nvSpPr>
        <p:spPr>
          <a:xfrm>
            <a:off x="838200" y="1034980"/>
            <a:ext cx="10515600" cy="5141983"/>
          </a:xfrm>
        </p:spPr>
        <p:txBody>
          <a:bodyPr>
            <a:normAutofit/>
          </a:bodyPr>
          <a:lstStyle/>
          <a:p>
            <a:r>
              <a:rPr lang="en-US" sz="2400" dirty="0"/>
              <a:t>RPC: Remote procedure calling</a:t>
            </a:r>
          </a:p>
          <a:p>
            <a:r>
              <a:rPr lang="en-US" sz="2400" dirty="0"/>
              <a:t>GRPC: google Remote procedure calling</a:t>
            </a:r>
          </a:p>
          <a:p>
            <a:r>
              <a:rPr lang="en-US" sz="2400" dirty="0"/>
              <a:t>RPC technique helps you if you have a service and you want to make it communicate with other service</a:t>
            </a:r>
          </a:p>
          <a:p>
            <a:r>
              <a:rPr lang="en-US" sz="2400" dirty="0"/>
              <a:t>Example on RPCs: GRPC, Java remote method invocation</a:t>
            </a:r>
          </a:p>
        </p:txBody>
      </p:sp>
      <p:pic>
        <p:nvPicPr>
          <p:cNvPr id="5" name="Picture 4">
            <a:extLst>
              <a:ext uri="{FF2B5EF4-FFF2-40B4-BE49-F238E27FC236}">
                <a16:creationId xmlns:a16="http://schemas.microsoft.com/office/drawing/2014/main" id="{EB69FD72-77A4-1B8E-B6AB-AF3F2F1790F8}"/>
              </a:ext>
            </a:extLst>
          </p:cNvPr>
          <p:cNvPicPr>
            <a:picLocks noChangeAspect="1"/>
          </p:cNvPicPr>
          <p:nvPr/>
        </p:nvPicPr>
        <p:blipFill>
          <a:blip r:embed="rId2"/>
          <a:stretch>
            <a:fillRect/>
          </a:stretch>
        </p:blipFill>
        <p:spPr>
          <a:xfrm>
            <a:off x="981336" y="3149478"/>
            <a:ext cx="7496175" cy="3009900"/>
          </a:xfrm>
          <a:prstGeom prst="rect">
            <a:avLst/>
          </a:prstGeom>
        </p:spPr>
      </p:pic>
    </p:spTree>
    <p:extLst>
      <p:ext uri="{BB962C8B-B14F-4D97-AF65-F5344CB8AC3E}">
        <p14:creationId xmlns:p14="http://schemas.microsoft.com/office/powerpoint/2010/main" val="1889015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5942E-95C0-D68B-1843-FAEDB1FCB783}"/>
              </a:ext>
            </a:extLst>
          </p:cNvPr>
          <p:cNvSpPr>
            <a:spLocks noGrp="1"/>
          </p:cNvSpPr>
          <p:nvPr>
            <p:ph type="title"/>
          </p:nvPr>
        </p:nvSpPr>
        <p:spPr>
          <a:xfrm>
            <a:off x="838200" y="73723"/>
            <a:ext cx="10515600" cy="478937"/>
          </a:xfrm>
        </p:spPr>
        <p:txBody>
          <a:bodyPr>
            <a:normAutofit fontScale="90000"/>
          </a:bodyPr>
          <a:lstStyle/>
          <a:p>
            <a:r>
              <a:rPr lang="en-US" dirty="0"/>
              <a:t>GRPC</a:t>
            </a:r>
          </a:p>
        </p:txBody>
      </p:sp>
      <p:sp>
        <p:nvSpPr>
          <p:cNvPr id="3" name="Content Placeholder 2">
            <a:extLst>
              <a:ext uri="{FF2B5EF4-FFF2-40B4-BE49-F238E27FC236}">
                <a16:creationId xmlns:a16="http://schemas.microsoft.com/office/drawing/2014/main" id="{4DEA33F4-E2A9-7218-412F-4A605E39B026}"/>
              </a:ext>
            </a:extLst>
          </p:cNvPr>
          <p:cNvSpPr>
            <a:spLocks noGrp="1"/>
          </p:cNvSpPr>
          <p:nvPr>
            <p:ph idx="1"/>
          </p:nvPr>
        </p:nvSpPr>
        <p:spPr>
          <a:xfrm>
            <a:off x="221064" y="773723"/>
            <a:ext cx="11132736" cy="5403240"/>
          </a:xfrm>
        </p:spPr>
        <p:txBody>
          <a:bodyPr>
            <a:normAutofit/>
          </a:bodyPr>
          <a:lstStyle/>
          <a:p>
            <a:r>
              <a:rPr lang="en-US" sz="2200" dirty="0"/>
              <a:t>GRPC: google remote procedure call</a:t>
            </a:r>
          </a:p>
          <a:p>
            <a:r>
              <a:rPr lang="en-US" sz="2200" dirty="0"/>
              <a:t>Developed in 20216 and Based on HTTP2</a:t>
            </a:r>
          </a:p>
          <a:p>
            <a:r>
              <a:rPr lang="en-US" sz="2200" dirty="0"/>
              <a:t>GRPC: Language agnostic which means does not depend on specific language</a:t>
            </a:r>
          </a:p>
          <a:p>
            <a:r>
              <a:rPr lang="en-US" sz="2200" dirty="0"/>
              <a:t>High performance dur to it based on http2 that support binary serialization</a:t>
            </a:r>
          </a:p>
          <a:p>
            <a:endParaRPr lang="en-US" sz="2200" dirty="0"/>
          </a:p>
        </p:txBody>
      </p:sp>
    </p:spTree>
    <p:extLst>
      <p:ext uri="{BB962C8B-B14F-4D97-AF65-F5344CB8AC3E}">
        <p14:creationId xmlns:p14="http://schemas.microsoft.com/office/powerpoint/2010/main" val="615776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A089-D01C-2B1D-D606-25124462B080}"/>
              </a:ext>
            </a:extLst>
          </p:cNvPr>
          <p:cNvSpPr>
            <a:spLocks noGrp="1"/>
          </p:cNvSpPr>
          <p:nvPr>
            <p:ph type="title"/>
          </p:nvPr>
        </p:nvSpPr>
        <p:spPr>
          <a:xfrm>
            <a:off x="838200" y="83771"/>
            <a:ext cx="10515600" cy="780387"/>
          </a:xfrm>
        </p:spPr>
        <p:txBody>
          <a:bodyPr/>
          <a:lstStyle/>
          <a:p>
            <a:r>
              <a:rPr lang="en-US" dirty="0"/>
              <a:t>How does GRPC works</a:t>
            </a:r>
          </a:p>
        </p:txBody>
      </p:sp>
      <p:sp>
        <p:nvSpPr>
          <p:cNvPr id="3" name="Content Placeholder 2">
            <a:extLst>
              <a:ext uri="{FF2B5EF4-FFF2-40B4-BE49-F238E27FC236}">
                <a16:creationId xmlns:a16="http://schemas.microsoft.com/office/drawing/2014/main" id="{82FE3354-6A7E-85B3-C6D7-2BA8DB13F605}"/>
              </a:ext>
            </a:extLst>
          </p:cNvPr>
          <p:cNvSpPr>
            <a:spLocks noGrp="1"/>
          </p:cNvSpPr>
          <p:nvPr>
            <p:ph idx="1"/>
          </p:nvPr>
        </p:nvSpPr>
        <p:spPr>
          <a:xfrm>
            <a:off x="643095" y="864158"/>
            <a:ext cx="11012993" cy="5687367"/>
          </a:xfrm>
        </p:spPr>
        <p:txBody>
          <a:bodyPr>
            <a:normAutofit/>
          </a:bodyPr>
          <a:lstStyle/>
          <a:p>
            <a:r>
              <a:rPr lang="en-US" sz="2200" dirty="0"/>
              <a:t>It’s Contract-first-Api development using </a:t>
            </a:r>
            <a:r>
              <a:rPr lang="en-US" sz="2200" b="1" dirty="0">
                <a:solidFill>
                  <a:srgbClr val="FF0000"/>
                </a:solidFill>
              </a:rPr>
              <a:t>protocol buffer file</a:t>
            </a:r>
            <a:r>
              <a:rPr lang="en-US" sz="2200" dirty="0"/>
              <a:t>, this file </a:t>
            </a:r>
            <a:r>
              <a:rPr lang="en-US" sz="2200" b="1" dirty="0">
                <a:solidFill>
                  <a:srgbClr val="FFFF00"/>
                </a:solidFill>
              </a:rPr>
              <a:t>shared</a:t>
            </a:r>
            <a:r>
              <a:rPr lang="en-US" sz="2200" dirty="0"/>
              <a:t> between the services and by which the communication is performed between services</a:t>
            </a:r>
          </a:p>
          <a:p>
            <a:r>
              <a:rPr lang="en-US" sz="2200" b="1" dirty="0">
                <a:solidFill>
                  <a:srgbClr val="FF0000"/>
                </a:solidFill>
              </a:rPr>
              <a:t>Protocol buffer file </a:t>
            </a:r>
            <a:r>
              <a:rPr lang="en-US" sz="2200" dirty="0"/>
              <a:t>is translated to </a:t>
            </a:r>
            <a:r>
              <a:rPr lang="en-US" sz="2200" dirty="0">
                <a:solidFill>
                  <a:srgbClr val="FFFF00"/>
                </a:solidFill>
              </a:rPr>
              <a:t>server </a:t>
            </a:r>
            <a:r>
              <a:rPr lang="en-US" sz="2200" dirty="0"/>
              <a:t>language, and </a:t>
            </a:r>
            <a:r>
              <a:rPr lang="en-US" sz="2200" dirty="0">
                <a:solidFill>
                  <a:srgbClr val="FFFF00"/>
                </a:solidFill>
              </a:rPr>
              <a:t>client </a:t>
            </a:r>
            <a:r>
              <a:rPr lang="en-US" sz="2200" dirty="0"/>
              <a:t>language using </a:t>
            </a:r>
            <a:r>
              <a:rPr lang="en-US" sz="2200" b="1" dirty="0">
                <a:solidFill>
                  <a:srgbClr val="FFFF00"/>
                </a:solidFill>
              </a:rPr>
              <a:t>GRPC compiler that Generate client stub, server skeleton </a:t>
            </a:r>
          </a:p>
          <a:p>
            <a:r>
              <a:rPr lang="en-US" sz="2200" b="1" dirty="0">
                <a:solidFill>
                  <a:srgbClr val="FF0000"/>
                </a:solidFill>
              </a:rPr>
              <a:t>Protocol buffer file: language agnostic</a:t>
            </a:r>
            <a:endParaRPr lang="en-US" sz="1800" b="1" dirty="0">
              <a:solidFill>
                <a:srgbClr val="FFFF00"/>
              </a:solidFill>
            </a:endParaRPr>
          </a:p>
          <a:p>
            <a:r>
              <a:rPr lang="en-US" sz="2200" dirty="0"/>
              <a:t>Data exchange format : Protocol Buffers proto, Protocol Buffers (proto) format is generally faster and more efficient than XML and JSON for data exchange why ? Protocol Buffers </a:t>
            </a:r>
            <a:r>
              <a:rPr lang="en-US" sz="2200" b="1" dirty="0">
                <a:solidFill>
                  <a:srgbClr val="FFFF00"/>
                </a:solidFill>
              </a:rPr>
              <a:t>serialize data into a compact binary format</a:t>
            </a:r>
            <a:r>
              <a:rPr lang="en-US" sz="2200" dirty="0"/>
              <a:t>, which is much smaller than text-based formats like XML and JSON. This reduces the amount of data that needs to be transmitted over the network, leading to faster data exchange.</a:t>
            </a:r>
          </a:p>
          <a:p>
            <a:r>
              <a:rPr lang="en-US" sz="2200" dirty="0"/>
              <a:t>At GRPC : data is sent in the form of binary format which leads decrease the latency</a:t>
            </a:r>
          </a:p>
          <a:p>
            <a:r>
              <a:rPr lang="en-US" sz="2200" dirty="0"/>
              <a:t>Latency : the amount of  time it takes to send data from source to destination</a:t>
            </a:r>
          </a:p>
          <a:p>
            <a:r>
              <a:rPr lang="en-US" sz="2200" dirty="0"/>
              <a:t>It’s better to use GRPC to with microservices</a:t>
            </a:r>
          </a:p>
          <a:p>
            <a:r>
              <a:rPr lang="en-US" sz="2200" dirty="0"/>
              <a:t>Microservice </a:t>
            </a:r>
            <a:r>
              <a:rPr lang="en-US" sz="2200" dirty="0">
                <a:sym typeface="Wingdings" panose="05000000000000000000" pitchFamily="2" charset="2"/>
              </a:rPr>
              <a:t> each server existed on separate server for example  service 1 on server A, server 2 on server B</a:t>
            </a:r>
          </a:p>
          <a:p>
            <a:endParaRPr lang="en-US" sz="2200" dirty="0"/>
          </a:p>
        </p:txBody>
      </p:sp>
    </p:spTree>
    <p:extLst>
      <p:ext uri="{BB962C8B-B14F-4D97-AF65-F5344CB8AC3E}">
        <p14:creationId xmlns:p14="http://schemas.microsoft.com/office/powerpoint/2010/main" val="1040384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B807E-687E-2225-9748-A4E1EF401002}"/>
              </a:ext>
            </a:extLst>
          </p:cNvPr>
          <p:cNvSpPr>
            <a:spLocks noGrp="1"/>
          </p:cNvSpPr>
          <p:nvPr>
            <p:ph type="title"/>
          </p:nvPr>
        </p:nvSpPr>
        <p:spPr>
          <a:xfrm>
            <a:off x="838200" y="0"/>
            <a:ext cx="10515600" cy="478937"/>
          </a:xfrm>
        </p:spPr>
        <p:txBody>
          <a:bodyPr>
            <a:normAutofit fontScale="90000"/>
          </a:bodyPr>
          <a:lstStyle/>
          <a:p>
            <a:r>
              <a:rPr lang="en-US" dirty="0"/>
              <a:t>Protocol buffer file example</a:t>
            </a:r>
          </a:p>
        </p:txBody>
      </p:sp>
      <p:sp>
        <p:nvSpPr>
          <p:cNvPr id="3" name="Content Placeholder 2">
            <a:extLst>
              <a:ext uri="{FF2B5EF4-FFF2-40B4-BE49-F238E27FC236}">
                <a16:creationId xmlns:a16="http://schemas.microsoft.com/office/drawing/2014/main" id="{A0152587-FF09-1F37-600D-CE66ED756033}"/>
              </a:ext>
            </a:extLst>
          </p:cNvPr>
          <p:cNvSpPr>
            <a:spLocks noGrp="1"/>
          </p:cNvSpPr>
          <p:nvPr>
            <p:ph idx="1"/>
          </p:nvPr>
        </p:nvSpPr>
        <p:spPr>
          <a:xfrm>
            <a:off x="612949" y="974690"/>
            <a:ext cx="11163719" cy="5617029"/>
          </a:xfrm>
        </p:spPr>
        <p:txBody>
          <a:bodyPr/>
          <a:lstStyle/>
          <a:p>
            <a:endParaRPr lang="en-US" dirty="0"/>
          </a:p>
          <a:p>
            <a:endParaRPr lang="en-US" dirty="0"/>
          </a:p>
          <a:p>
            <a:endParaRPr lang="en-US" dirty="0"/>
          </a:p>
          <a:p>
            <a:endParaRPr lang="en-US" dirty="0"/>
          </a:p>
          <a:p>
            <a:endParaRPr lang="en-US" dirty="0"/>
          </a:p>
          <a:p>
            <a:endParaRPr lang="en-US" dirty="0"/>
          </a:p>
          <a:p>
            <a:pPr marL="0" indent="0">
              <a:buNone/>
            </a:pPr>
            <a:endParaRPr lang="en-US" dirty="0"/>
          </a:p>
        </p:txBody>
      </p:sp>
      <p:pic>
        <p:nvPicPr>
          <p:cNvPr id="5" name="Picture 4">
            <a:extLst>
              <a:ext uri="{FF2B5EF4-FFF2-40B4-BE49-F238E27FC236}">
                <a16:creationId xmlns:a16="http://schemas.microsoft.com/office/drawing/2014/main" id="{23D13189-A44E-9328-F940-C8DEB40EE7F5}"/>
              </a:ext>
            </a:extLst>
          </p:cNvPr>
          <p:cNvPicPr>
            <a:picLocks noChangeAspect="1"/>
          </p:cNvPicPr>
          <p:nvPr/>
        </p:nvPicPr>
        <p:blipFill>
          <a:blip r:embed="rId2"/>
          <a:stretch>
            <a:fillRect/>
          </a:stretch>
        </p:blipFill>
        <p:spPr>
          <a:xfrm>
            <a:off x="5373930" y="974690"/>
            <a:ext cx="6086475" cy="5029200"/>
          </a:xfrm>
          <a:prstGeom prst="rect">
            <a:avLst/>
          </a:prstGeom>
        </p:spPr>
      </p:pic>
      <p:sp>
        <p:nvSpPr>
          <p:cNvPr id="6" name="TextBox 5">
            <a:extLst>
              <a:ext uri="{FF2B5EF4-FFF2-40B4-BE49-F238E27FC236}">
                <a16:creationId xmlns:a16="http://schemas.microsoft.com/office/drawing/2014/main" id="{E1C44CF2-44DF-5856-69E4-EB075F11A8FC}"/>
              </a:ext>
            </a:extLst>
          </p:cNvPr>
          <p:cNvSpPr txBox="1"/>
          <p:nvPr/>
        </p:nvSpPr>
        <p:spPr>
          <a:xfrm>
            <a:off x="612949" y="1457011"/>
            <a:ext cx="3969099" cy="2585323"/>
          </a:xfrm>
          <a:prstGeom prst="rect">
            <a:avLst/>
          </a:prstGeom>
          <a:noFill/>
        </p:spPr>
        <p:txBody>
          <a:bodyPr wrap="square" rtlCol="0">
            <a:spAutoFit/>
          </a:bodyPr>
          <a:lstStyle/>
          <a:p>
            <a:r>
              <a:rPr lang="en-US" dirty="0"/>
              <a:t>one of the key reasons why Protocol Buffers (proto) are more efficient for data exchange compared to formats like XML and JSON is that they use numeric tags (field numbers) instead of textual names for variables</a:t>
            </a:r>
          </a:p>
          <a:p>
            <a:endParaRPr lang="en-US" dirty="0"/>
          </a:p>
          <a:p>
            <a:endParaRPr lang="en-US" dirty="0"/>
          </a:p>
          <a:p>
            <a:endParaRPr lang="en-US" dirty="0"/>
          </a:p>
        </p:txBody>
      </p:sp>
    </p:spTree>
    <p:extLst>
      <p:ext uri="{BB962C8B-B14F-4D97-AF65-F5344CB8AC3E}">
        <p14:creationId xmlns:p14="http://schemas.microsoft.com/office/powerpoint/2010/main" val="3388619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F1666-55CA-94A0-28E7-95F75A494406}"/>
              </a:ext>
            </a:extLst>
          </p:cNvPr>
          <p:cNvSpPr>
            <a:spLocks noGrp="1"/>
          </p:cNvSpPr>
          <p:nvPr>
            <p:ph type="title"/>
          </p:nvPr>
        </p:nvSpPr>
        <p:spPr>
          <a:xfrm>
            <a:off x="838200" y="18255"/>
            <a:ext cx="10515600" cy="1325563"/>
          </a:xfrm>
        </p:spPr>
        <p:txBody>
          <a:bodyPr/>
          <a:lstStyle/>
          <a:p>
            <a:r>
              <a:rPr lang="en-US" dirty="0"/>
              <a:t>Proto file option and package</a:t>
            </a:r>
          </a:p>
        </p:txBody>
      </p:sp>
      <p:sp>
        <p:nvSpPr>
          <p:cNvPr id="3" name="Content Placeholder 2">
            <a:extLst>
              <a:ext uri="{FF2B5EF4-FFF2-40B4-BE49-F238E27FC236}">
                <a16:creationId xmlns:a16="http://schemas.microsoft.com/office/drawing/2014/main" id="{D600C100-1BAD-FB83-95E4-22A6B5754911}"/>
              </a:ext>
            </a:extLst>
          </p:cNvPr>
          <p:cNvSpPr>
            <a:spLocks noGrp="1"/>
          </p:cNvSpPr>
          <p:nvPr>
            <p:ph idx="1"/>
          </p:nvPr>
        </p:nvSpPr>
        <p:spPr>
          <a:xfrm>
            <a:off x="381837" y="1343818"/>
            <a:ext cx="10971963" cy="5227804"/>
          </a:xfrm>
        </p:spPr>
        <p:txBody>
          <a:bodyPr/>
          <a:lstStyle/>
          <a:p>
            <a:r>
              <a:rPr lang="en-US" dirty="0"/>
              <a:t>You use one of them at proto file</a:t>
            </a:r>
          </a:p>
          <a:p>
            <a:r>
              <a:rPr lang="en-US" dirty="0"/>
              <a:t>Both refer to the namespace of generated code</a:t>
            </a:r>
          </a:p>
          <a:p>
            <a:r>
              <a:rPr lang="en-US" dirty="0"/>
              <a:t>If both exists, the option override the package</a:t>
            </a:r>
          </a:p>
          <a:p>
            <a:r>
              <a:rPr lang="en-US" b="1" dirty="0">
                <a:solidFill>
                  <a:srgbClr val="FF0000"/>
                </a:solidFill>
              </a:rPr>
              <a:t>option cshap_namespace </a:t>
            </a:r>
            <a:r>
              <a:rPr lang="en-US" dirty="0"/>
              <a:t>for C#</a:t>
            </a:r>
          </a:p>
          <a:p>
            <a:r>
              <a:rPr lang="en-US" b="1" dirty="0">
                <a:solidFill>
                  <a:srgbClr val="FF0000"/>
                </a:solidFill>
              </a:rPr>
              <a:t>package</a:t>
            </a:r>
            <a:r>
              <a:rPr lang="en-US" dirty="0"/>
              <a:t> for all language</a:t>
            </a:r>
          </a:p>
          <a:p>
            <a:endParaRPr lang="en-US" dirty="0"/>
          </a:p>
          <a:p>
            <a:endParaRPr lang="en-US" dirty="0"/>
          </a:p>
          <a:p>
            <a:endParaRPr lang="en-US" dirty="0"/>
          </a:p>
        </p:txBody>
      </p:sp>
      <p:pic>
        <p:nvPicPr>
          <p:cNvPr id="7" name="Picture 6">
            <a:extLst>
              <a:ext uri="{FF2B5EF4-FFF2-40B4-BE49-F238E27FC236}">
                <a16:creationId xmlns:a16="http://schemas.microsoft.com/office/drawing/2014/main" id="{B8AB0596-ADE1-EFFB-EDC8-8368825AD6D9}"/>
              </a:ext>
            </a:extLst>
          </p:cNvPr>
          <p:cNvPicPr>
            <a:picLocks noChangeAspect="1"/>
          </p:cNvPicPr>
          <p:nvPr/>
        </p:nvPicPr>
        <p:blipFill>
          <a:blip r:embed="rId2"/>
          <a:stretch>
            <a:fillRect/>
          </a:stretch>
        </p:blipFill>
        <p:spPr>
          <a:xfrm>
            <a:off x="717620" y="4102240"/>
            <a:ext cx="5495925" cy="742950"/>
          </a:xfrm>
          <a:prstGeom prst="rect">
            <a:avLst/>
          </a:prstGeom>
        </p:spPr>
      </p:pic>
    </p:spTree>
    <p:extLst>
      <p:ext uri="{BB962C8B-B14F-4D97-AF65-F5344CB8AC3E}">
        <p14:creationId xmlns:p14="http://schemas.microsoft.com/office/powerpoint/2010/main" val="1318301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0D240-9BD4-9BF1-8CC6-39EF82D750AD}"/>
              </a:ext>
            </a:extLst>
          </p:cNvPr>
          <p:cNvSpPr>
            <a:spLocks noGrp="1"/>
          </p:cNvSpPr>
          <p:nvPr>
            <p:ph type="title"/>
          </p:nvPr>
        </p:nvSpPr>
        <p:spPr>
          <a:xfrm>
            <a:off x="838200" y="0"/>
            <a:ext cx="10515600" cy="559323"/>
          </a:xfrm>
        </p:spPr>
        <p:txBody>
          <a:bodyPr>
            <a:normAutofit fontScale="90000"/>
          </a:bodyPr>
          <a:lstStyle/>
          <a:p>
            <a:r>
              <a:rPr lang="en-US" dirty="0"/>
              <a:t>Proto file</a:t>
            </a:r>
          </a:p>
        </p:txBody>
      </p:sp>
      <p:sp>
        <p:nvSpPr>
          <p:cNvPr id="3" name="Content Placeholder 2">
            <a:extLst>
              <a:ext uri="{FF2B5EF4-FFF2-40B4-BE49-F238E27FC236}">
                <a16:creationId xmlns:a16="http://schemas.microsoft.com/office/drawing/2014/main" id="{829B672A-155B-4EF9-30F3-4E184A0ED76D}"/>
              </a:ext>
            </a:extLst>
          </p:cNvPr>
          <p:cNvSpPr>
            <a:spLocks noGrp="1"/>
          </p:cNvSpPr>
          <p:nvPr>
            <p:ph idx="1"/>
          </p:nvPr>
        </p:nvSpPr>
        <p:spPr>
          <a:xfrm>
            <a:off x="502418" y="559322"/>
            <a:ext cx="11324492" cy="6298677"/>
          </a:xfrm>
        </p:spPr>
        <p:txBody>
          <a:bodyPr>
            <a:normAutofit/>
          </a:bodyPr>
          <a:lstStyle/>
          <a:p>
            <a:endParaRPr lang="en-US" sz="2400" dirty="0"/>
          </a:p>
          <a:p>
            <a:r>
              <a:rPr lang="en-US" sz="2400" dirty="0"/>
              <a:t>To make empty response </a:t>
            </a:r>
            <a:r>
              <a:rPr lang="en-US" sz="2400" dirty="0">
                <a:sym typeface="Wingdings" panose="05000000000000000000" pitchFamily="2" charset="2"/>
              </a:rPr>
              <a:t> </a:t>
            </a:r>
          </a:p>
          <a:p>
            <a:endParaRPr lang="en-US" sz="2400" dirty="0">
              <a:sym typeface="Wingdings" panose="05000000000000000000" pitchFamily="2" charset="2"/>
            </a:endParaRPr>
          </a:p>
          <a:p>
            <a:r>
              <a:rPr lang="en-US" sz="2400" dirty="0">
                <a:sym typeface="Wingdings" panose="05000000000000000000" pitchFamily="2" charset="2"/>
              </a:rPr>
              <a:t>To use </a:t>
            </a:r>
            <a:r>
              <a:rPr lang="en-US" sz="2400" dirty="0" err="1">
                <a:sym typeface="Wingdings" panose="05000000000000000000" pitchFamily="2" charset="2"/>
              </a:rPr>
              <a:t>timestpan</a:t>
            </a:r>
            <a:r>
              <a:rPr lang="en-US" sz="2400" dirty="0">
                <a:sym typeface="Wingdings" panose="05000000000000000000" pitchFamily="2" charset="2"/>
              </a:rPr>
              <a:t>  </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r>
              <a:rPr lang="en-US" dirty="0"/>
              <a:t>                                                     </a:t>
            </a:r>
          </a:p>
        </p:txBody>
      </p:sp>
      <p:sp>
        <p:nvSpPr>
          <p:cNvPr id="4" name="Rectangle 1">
            <a:extLst>
              <a:ext uri="{FF2B5EF4-FFF2-40B4-BE49-F238E27FC236}">
                <a16:creationId xmlns:a16="http://schemas.microsoft.com/office/drawing/2014/main" id="{73D25BE9-95C0-47DF-01E6-9D4B0925E4BA}"/>
              </a:ext>
            </a:extLst>
          </p:cNvPr>
          <p:cNvSpPr txBox="1">
            <a:spLocks noChangeArrowheads="1"/>
          </p:cNvSpPr>
          <p:nvPr/>
        </p:nvSpPr>
        <p:spPr bwMode="auto">
          <a:xfrm>
            <a:off x="4422112" y="579852"/>
            <a:ext cx="6931688" cy="90794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lnSpc>
                <a:spcPct val="90000"/>
              </a:lnSpc>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lnSpc>
                <a:spcPct val="90000"/>
              </a:lnSpc>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600" dirty="0">
                <a:solidFill>
                  <a:srgbClr val="0000FF"/>
                </a:solidFill>
                <a:latin typeface="Cascadia Mono" panose="020B0609020000020004" pitchFamily="49" charset="0"/>
              </a:rPr>
              <a:t>import</a:t>
            </a:r>
            <a:r>
              <a:rPr lang="en-US" sz="1600" dirty="0">
                <a:solidFill>
                  <a:srgbClr val="000000"/>
                </a:solidFill>
                <a:latin typeface="Cascadia Mono" panose="020B0609020000020004" pitchFamily="49" charset="0"/>
              </a:rPr>
              <a:t> </a:t>
            </a:r>
            <a:r>
              <a:rPr lang="en-US" sz="1600" dirty="0">
                <a:solidFill>
                  <a:srgbClr val="A31515"/>
                </a:solidFill>
                <a:latin typeface="Cascadia Mono" panose="020B0609020000020004" pitchFamily="49" charset="0"/>
              </a:rPr>
              <a:t>"google/</a:t>
            </a:r>
            <a:r>
              <a:rPr lang="en-US" sz="1600" dirty="0" err="1">
                <a:solidFill>
                  <a:srgbClr val="A31515"/>
                </a:solidFill>
                <a:latin typeface="Cascadia Mono" panose="020B0609020000020004" pitchFamily="49" charset="0"/>
              </a:rPr>
              <a:t>protobuf</a:t>
            </a:r>
            <a:r>
              <a:rPr lang="en-US" sz="1600" dirty="0">
                <a:solidFill>
                  <a:srgbClr val="A31515"/>
                </a:solidFill>
                <a:latin typeface="Cascadia Mono" panose="020B0609020000020004" pitchFamily="49" charset="0"/>
              </a:rPr>
              <a:t>/</a:t>
            </a:r>
            <a:r>
              <a:rPr lang="en-US" sz="1600" dirty="0" err="1">
                <a:solidFill>
                  <a:srgbClr val="A31515"/>
                </a:solidFill>
                <a:latin typeface="Cascadia Mono" panose="020B0609020000020004" pitchFamily="49" charset="0"/>
              </a:rPr>
              <a:t>empty.proto</a:t>
            </a:r>
            <a:r>
              <a:rPr lang="en-US" sz="1600" dirty="0">
                <a:solidFill>
                  <a:srgbClr val="A31515"/>
                </a:solidFill>
                <a:latin typeface="Cascadia Mono" panose="020B0609020000020004" pitchFamily="49" charset="0"/>
              </a:rPr>
              <a:t>"</a:t>
            </a:r>
            <a:r>
              <a:rPr lang="en-US" sz="1600" dirty="0">
                <a:solidFill>
                  <a:srgbClr val="000000"/>
                </a:solidFill>
                <a:latin typeface="Cascadia Mono" panose="020B0609020000020004" pitchFamily="49" charset="0"/>
              </a:rPr>
              <a:t>;</a:t>
            </a:r>
          </a:p>
          <a:p>
            <a:pPr marL="36900" indent="0">
              <a:buNone/>
            </a:pPr>
            <a:r>
              <a:rPr lang="en-US" sz="1200" dirty="0">
                <a:solidFill>
                  <a:srgbClr val="000000"/>
                </a:solidFill>
                <a:latin typeface="Cascadia Mono" panose="020B0609020000020004" pitchFamily="49" charset="0"/>
              </a:rPr>
              <a:t>// . . . . .</a:t>
            </a:r>
          </a:p>
          <a:p>
            <a:pPr marL="36900" indent="0">
              <a:buNone/>
            </a:pPr>
            <a:r>
              <a:rPr lang="en-US" sz="1400" dirty="0" err="1">
                <a:solidFill>
                  <a:srgbClr val="0000FF"/>
                </a:solidFill>
                <a:latin typeface="Cascadia Mono" panose="020B0609020000020004" pitchFamily="49" charset="0"/>
              </a:rPr>
              <a:t>rpc</a:t>
            </a:r>
            <a:r>
              <a:rPr lang="en-US" sz="1400" dirty="0">
                <a:solidFill>
                  <a:srgbClr val="000000"/>
                </a:solidFill>
                <a:latin typeface="Cascadia Mono" panose="020B0609020000020004" pitchFamily="49" charset="0"/>
              </a:rPr>
              <a:t> </a:t>
            </a:r>
            <a:r>
              <a:rPr lang="en-US" sz="1400" dirty="0" err="1">
                <a:solidFill>
                  <a:srgbClr val="2B91AF"/>
                </a:solidFill>
                <a:latin typeface="Cascadia Mono" panose="020B0609020000020004" pitchFamily="49" charset="0"/>
              </a:rPr>
              <a:t>KeepAlive</a:t>
            </a:r>
            <a:r>
              <a:rPr lang="en-US" sz="1400" dirty="0">
                <a:solidFill>
                  <a:srgbClr val="000000"/>
                </a:solidFill>
                <a:latin typeface="Cascadia Mono" panose="020B0609020000020004" pitchFamily="49" charset="0"/>
              </a:rPr>
              <a:t>(</a:t>
            </a:r>
            <a:r>
              <a:rPr lang="en-US" sz="1400" dirty="0">
                <a:solidFill>
                  <a:srgbClr val="0000FF"/>
                </a:solidFill>
                <a:latin typeface="Cascadia Mono" panose="020B0609020000020004" pitchFamily="49" charset="0"/>
              </a:rPr>
              <a:t>stream</a:t>
            </a:r>
            <a:r>
              <a:rPr lang="en-US" sz="1400" dirty="0">
                <a:solidFill>
                  <a:srgbClr val="000000"/>
                </a:solidFill>
                <a:latin typeface="Cascadia Mono" panose="020B0609020000020004" pitchFamily="49" charset="0"/>
              </a:rPr>
              <a:t> </a:t>
            </a:r>
            <a:r>
              <a:rPr lang="en-US" sz="1400" dirty="0" err="1">
                <a:solidFill>
                  <a:srgbClr val="2B91AF"/>
                </a:solidFill>
                <a:latin typeface="Cascadia Mono" panose="020B0609020000020004" pitchFamily="49" charset="0"/>
              </a:rPr>
              <a:t>PulseMsg</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returns</a:t>
            </a:r>
            <a:r>
              <a:rPr lang="en-US" sz="1400" dirty="0">
                <a:solidFill>
                  <a:srgbClr val="000000"/>
                </a:solidFill>
                <a:latin typeface="Cascadia Mono" panose="020B0609020000020004" pitchFamily="49" charset="0"/>
              </a:rPr>
              <a:t>(</a:t>
            </a:r>
            <a:r>
              <a:rPr lang="en-US" sz="1400" dirty="0" err="1">
                <a:solidFill>
                  <a:srgbClr val="2B91AF"/>
                </a:solidFill>
                <a:latin typeface="Cascadia Mono" panose="020B0609020000020004" pitchFamily="49" charset="0"/>
              </a:rPr>
              <a:t>google</a:t>
            </a:r>
            <a:r>
              <a:rPr lang="en-US" sz="1400" dirty="0" err="1">
                <a:solidFill>
                  <a:srgbClr val="000000"/>
                </a:solidFill>
                <a:latin typeface="Cascadia Mono" panose="020B0609020000020004" pitchFamily="49" charset="0"/>
              </a:rPr>
              <a:t>.</a:t>
            </a:r>
            <a:r>
              <a:rPr lang="en-US" sz="1400" dirty="0" err="1">
                <a:solidFill>
                  <a:srgbClr val="2B91AF"/>
                </a:solidFill>
                <a:latin typeface="Cascadia Mono" panose="020B0609020000020004" pitchFamily="49" charset="0"/>
              </a:rPr>
              <a:t>protobuf</a:t>
            </a:r>
            <a:r>
              <a:rPr lang="en-US" sz="1400" dirty="0" err="1">
                <a:solidFill>
                  <a:srgbClr val="000000"/>
                </a:solidFill>
                <a:latin typeface="Cascadia Mono" panose="020B0609020000020004" pitchFamily="49" charset="0"/>
              </a:rPr>
              <a:t>.</a:t>
            </a:r>
            <a:r>
              <a:rPr lang="en-US" sz="1400" dirty="0" err="1">
                <a:solidFill>
                  <a:srgbClr val="2B91AF"/>
                </a:solidFill>
                <a:latin typeface="Cascadia Mono" panose="020B0609020000020004" pitchFamily="49" charset="0"/>
              </a:rPr>
              <a:t>Empty</a:t>
            </a:r>
            <a:r>
              <a:rPr lang="en-US" sz="1400" dirty="0">
                <a:solidFill>
                  <a:srgbClr val="000000"/>
                </a:solidFill>
                <a:latin typeface="Cascadia Mono" panose="020B0609020000020004" pitchFamily="49" charset="0"/>
              </a:rPr>
              <a:t>);</a:t>
            </a:r>
            <a:endParaRPr lang="en-US" sz="1200" dirty="0">
              <a:solidFill>
                <a:srgbClr val="000000"/>
              </a:solidFill>
              <a:latin typeface="Cascadia Mono" panose="020B0609020000020004" pitchFamily="49" charset="0"/>
            </a:endParaRPr>
          </a:p>
        </p:txBody>
      </p:sp>
      <p:sp>
        <p:nvSpPr>
          <p:cNvPr id="5" name="Rectangle 1">
            <a:extLst>
              <a:ext uri="{FF2B5EF4-FFF2-40B4-BE49-F238E27FC236}">
                <a16:creationId xmlns:a16="http://schemas.microsoft.com/office/drawing/2014/main" id="{CCF08051-54EE-AB3B-B8EB-488159023FF0}"/>
              </a:ext>
            </a:extLst>
          </p:cNvPr>
          <p:cNvSpPr txBox="1">
            <a:spLocks noChangeArrowheads="1"/>
          </p:cNvSpPr>
          <p:nvPr/>
        </p:nvSpPr>
        <p:spPr bwMode="auto">
          <a:xfrm>
            <a:off x="3676022" y="1199809"/>
            <a:ext cx="8423868" cy="292695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lnSpc>
                <a:spcPct val="90000"/>
              </a:lnSpc>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lnSpc>
                <a:spcPct val="90000"/>
              </a:lnSpc>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600" dirty="0">
                <a:solidFill>
                  <a:srgbClr val="0000FF"/>
                </a:solidFill>
                <a:latin typeface="Cascadia Mono" panose="020B0609020000020004" pitchFamily="49" charset="0"/>
              </a:rPr>
              <a:t>import</a:t>
            </a:r>
            <a:r>
              <a:rPr lang="en-US" sz="1600" dirty="0">
                <a:solidFill>
                  <a:srgbClr val="000000"/>
                </a:solidFill>
                <a:latin typeface="Cascadia Mono" panose="020B0609020000020004" pitchFamily="49" charset="0"/>
              </a:rPr>
              <a:t> </a:t>
            </a:r>
            <a:r>
              <a:rPr lang="en-US" sz="1600" dirty="0">
                <a:solidFill>
                  <a:srgbClr val="A31515"/>
                </a:solidFill>
                <a:latin typeface="Cascadia Mono" panose="020B0609020000020004" pitchFamily="49" charset="0"/>
              </a:rPr>
              <a:t>"google/</a:t>
            </a:r>
            <a:r>
              <a:rPr lang="en-US" sz="1600" dirty="0" err="1">
                <a:solidFill>
                  <a:srgbClr val="A31515"/>
                </a:solidFill>
                <a:latin typeface="Cascadia Mono" panose="020B0609020000020004" pitchFamily="49" charset="0"/>
              </a:rPr>
              <a:t>protobuf</a:t>
            </a:r>
            <a:r>
              <a:rPr lang="en-US" sz="1600" dirty="0">
                <a:solidFill>
                  <a:srgbClr val="A31515"/>
                </a:solidFill>
                <a:latin typeface="Cascadia Mono" panose="020B0609020000020004" pitchFamily="49" charset="0"/>
              </a:rPr>
              <a:t>/</a:t>
            </a:r>
            <a:r>
              <a:rPr lang="en-US" sz="1600" dirty="0" err="1">
                <a:solidFill>
                  <a:srgbClr val="A31515"/>
                </a:solidFill>
                <a:latin typeface="Cascadia Mono" panose="020B0609020000020004" pitchFamily="49" charset="0"/>
              </a:rPr>
              <a:t>timestamp.proto</a:t>
            </a:r>
            <a:r>
              <a:rPr lang="en-US" sz="1600" dirty="0">
                <a:solidFill>
                  <a:srgbClr val="A31515"/>
                </a:solidFill>
                <a:latin typeface="Cascadia Mono" panose="020B0609020000020004" pitchFamily="49" charset="0"/>
              </a:rPr>
              <a:t>"</a:t>
            </a:r>
            <a:r>
              <a:rPr lang="en-US" sz="1600" dirty="0">
                <a:solidFill>
                  <a:srgbClr val="000000"/>
                </a:solidFill>
                <a:latin typeface="Cascadia Mono" panose="020B0609020000020004" pitchFamily="49" charset="0"/>
              </a:rPr>
              <a:t>;</a:t>
            </a:r>
          </a:p>
          <a:p>
            <a:pPr marL="36900" indent="0">
              <a:buNone/>
            </a:pPr>
            <a:r>
              <a:rPr lang="en-US" sz="1200" dirty="0">
                <a:solidFill>
                  <a:srgbClr val="000000"/>
                </a:solidFill>
                <a:latin typeface="Cascadia Mono" panose="020B0609020000020004" pitchFamily="49" charset="0"/>
              </a:rPr>
              <a:t>// . . . . .</a:t>
            </a:r>
          </a:p>
          <a:p>
            <a:pPr marL="36900" indent="0">
              <a:buNone/>
            </a:pPr>
            <a:r>
              <a:rPr lang="en-US" sz="1400" dirty="0" err="1">
                <a:solidFill>
                  <a:srgbClr val="0000FF"/>
                </a:solidFill>
                <a:latin typeface="Cascadia Mono" panose="020B0609020000020004" pitchFamily="49" charset="0"/>
              </a:rPr>
              <a:t>google.protobuf.Timestamp</a:t>
            </a:r>
            <a:r>
              <a:rPr lang="en-US" sz="1400" dirty="0">
                <a:solidFill>
                  <a:srgbClr val="0000FF"/>
                </a:solidFill>
                <a:latin typeface="Cascadia Mono" panose="020B0609020000020004" pitchFamily="49" charset="0"/>
              </a:rPr>
              <a:t> DateTime = 2</a:t>
            </a:r>
          </a:p>
          <a:p>
            <a:pPr marL="36900" indent="0">
              <a:buNone/>
            </a:pPr>
            <a:r>
              <a:rPr lang="en-US" sz="1400" dirty="0">
                <a:solidFill>
                  <a:srgbClr val="0000FF"/>
                </a:solidFill>
                <a:latin typeface="Cascadia Mono" panose="020B0609020000020004" pitchFamily="49" charset="0"/>
              </a:rPr>
              <a:t>----------------------------------------------------</a:t>
            </a:r>
          </a:p>
          <a:p>
            <a:pPr marL="36900" indent="0">
              <a:buNone/>
            </a:pPr>
            <a:r>
              <a:rPr lang="en-US" sz="1400" dirty="0">
                <a:solidFill>
                  <a:srgbClr val="0000FF"/>
                </a:solidFill>
                <a:latin typeface="Cascadia Mono" panose="020B0609020000020004" pitchFamily="49" charset="0"/>
              </a:rPr>
              <a:t>To convert from DateTime to timespan</a:t>
            </a:r>
          </a:p>
          <a:p>
            <a:pPr marL="36900" indent="0">
              <a:buNone/>
            </a:pPr>
            <a:r>
              <a:rPr lang="en-US" sz="1400" dirty="0" err="1">
                <a:solidFill>
                  <a:srgbClr val="000000"/>
                </a:solidFill>
                <a:latin typeface="Cascadia Mono" panose="020B0609020000020004" pitchFamily="49" charset="0"/>
              </a:rPr>
              <a:t>Expiredates</a:t>
            </a:r>
            <a:r>
              <a:rPr lang="en-US" sz="1400" dirty="0">
                <a:solidFill>
                  <a:srgbClr val="000000"/>
                </a:solidFill>
                <a:latin typeface="Cascadia Mono" panose="020B0609020000020004" pitchFamily="49" charset="0"/>
              </a:rPr>
              <a:t>=</a:t>
            </a:r>
            <a:r>
              <a:rPr lang="en-US" sz="1400" dirty="0" err="1">
                <a:solidFill>
                  <a:srgbClr val="000000"/>
                </a:solidFill>
                <a:latin typeface="Cascadia Mono" panose="020B0609020000020004" pitchFamily="49" charset="0"/>
              </a:rPr>
              <a:t>Timestamp.FromDateTime</a:t>
            </a:r>
            <a:r>
              <a:rPr lang="en-US" sz="1400" dirty="0">
                <a:solidFill>
                  <a:srgbClr val="000000"/>
                </a:solidFill>
                <a:latin typeface="Cascadia Mono" panose="020B0609020000020004" pitchFamily="49" charset="0"/>
              </a:rPr>
              <a:t>(</a:t>
            </a:r>
            <a:r>
              <a:rPr lang="en-US" sz="1400" dirty="0" err="1">
                <a:solidFill>
                  <a:srgbClr val="000000"/>
                </a:solidFill>
                <a:latin typeface="Cascadia Mono" panose="020B0609020000020004" pitchFamily="49" charset="0"/>
              </a:rPr>
              <a:t>p.ExpireDate.ToUniversalTime</a:t>
            </a:r>
            <a:r>
              <a:rPr lang="en-US" sz="1400" dirty="0">
                <a:solidFill>
                  <a:srgbClr val="000000"/>
                </a:solidFill>
                <a:latin typeface="Cascadia Mono" panose="020B0609020000020004" pitchFamily="49" charset="0"/>
              </a:rPr>
              <a:t>())</a:t>
            </a:r>
            <a:endParaRPr lang="en-US" sz="1100" dirty="0">
              <a:solidFill>
                <a:srgbClr val="000000"/>
              </a:solidFill>
              <a:latin typeface="Cascadia Mono" panose="020B0609020000020004" pitchFamily="49" charset="0"/>
            </a:endParaRPr>
          </a:p>
          <a:p>
            <a:pPr marL="36900" indent="0">
              <a:buNone/>
            </a:pPr>
            <a:r>
              <a:rPr lang="en-US" sz="1800" dirty="0">
                <a:solidFill>
                  <a:srgbClr val="008000"/>
                </a:solidFill>
                <a:latin typeface="Cascadia Mono" panose="020B0609020000020004" pitchFamily="49" charset="0"/>
              </a:rPr>
              <a:t>------------------------------------------------------ </a:t>
            </a:r>
          </a:p>
          <a:p>
            <a:pPr marL="36900" indent="0">
              <a:buNone/>
            </a:pPr>
            <a:r>
              <a:rPr lang="en-US" sz="1400" dirty="0">
                <a:solidFill>
                  <a:srgbClr val="008000"/>
                </a:solidFill>
                <a:latin typeface="Cascadia Mono" panose="020B0609020000020004" pitchFamily="49" charset="0"/>
              </a:rPr>
              <a:t>Convert Google </a:t>
            </a:r>
            <a:r>
              <a:rPr lang="en-US" sz="1400" dirty="0" err="1">
                <a:solidFill>
                  <a:srgbClr val="008000"/>
                </a:solidFill>
                <a:latin typeface="Cascadia Mono" panose="020B0609020000020004" pitchFamily="49" charset="0"/>
              </a:rPr>
              <a:t>protobuf</a:t>
            </a:r>
            <a:r>
              <a:rPr lang="en-US" sz="1400" dirty="0">
                <a:solidFill>
                  <a:srgbClr val="008000"/>
                </a:solidFill>
                <a:latin typeface="Cascadia Mono" panose="020B0609020000020004" pitchFamily="49" charset="0"/>
              </a:rPr>
              <a:t> Timestamp to DateTime</a:t>
            </a:r>
          </a:p>
          <a:p>
            <a:pPr marL="36900" indent="0">
              <a:buNone/>
            </a:pPr>
            <a:r>
              <a:rPr lang="en-US" sz="1400" dirty="0" err="1">
                <a:solidFill>
                  <a:srgbClr val="000000"/>
                </a:solidFill>
                <a:latin typeface="Cascadia Mono" panose="020B0609020000020004" pitchFamily="49" charset="0"/>
              </a:rPr>
              <a:t>ExpireDate</a:t>
            </a:r>
            <a:r>
              <a:rPr lang="en-US" sz="1400" dirty="0">
                <a:solidFill>
                  <a:srgbClr val="000000"/>
                </a:solidFill>
                <a:latin typeface="Cascadia Mono" panose="020B0609020000020004" pitchFamily="49" charset="0"/>
              </a:rPr>
              <a:t> = </a:t>
            </a:r>
            <a:r>
              <a:rPr lang="en-US" sz="1400" dirty="0" err="1">
                <a:solidFill>
                  <a:srgbClr val="000000"/>
                </a:solidFill>
                <a:latin typeface="Cascadia Mono" panose="020B0609020000020004" pitchFamily="49" charset="0"/>
              </a:rPr>
              <a:t>request.Expiredates.ToDateTime</a:t>
            </a:r>
            <a:r>
              <a:rPr lang="en-US" sz="1400" dirty="0">
                <a:solidFill>
                  <a:srgbClr val="000000"/>
                </a:solidFill>
                <a:latin typeface="Cascadia Mono" panose="020B0609020000020004" pitchFamily="49" charset="0"/>
              </a:rPr>
              <a:t>()</a:t>
            </a:r>
            <a:endParaRPr lang="en-US" sz="800" dirty="0">
              <a:solidFill>
                <a:srgbClr val="000000"/>
              </a:solidFill>
              <a:latin typeface="Cascadia Mono" panose="020B0609020000020004" pitchFamily="49" charset="0"/>
            </a:endParaRPr>
          </a:p>
        </p:txBody>
      </p:sp>
    </p:spTree>
    <p:extLst>
      <p:ext uri="{BB962C8B-B14F-4D97-AF65-F5344CB8AC3E}">
        <p14:creationId xmlns:p14="http://schemas.microsoft.com/office/powerpoint/2010/main" val="4004805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AE2BA-3337-870C-5C2A-BE54CAF10835}"/>
              </a:ext>
            </a:extLst>
          </p:cNvPr>
          <p:cNvSpPr>
            <a:spLocks noGrp="1"/>
          </p:cNvSpPr>
          <p:nvPr>
            <p:ph type="title"/>
          </p:nvPr>
        </p:nvSpPr>
        <p:spPr>
          <a:xfrm>
            <a:off x="838200" y="0"/>
            <a:ext cx="10515600" cy="810532"/>
          </a:xfrm>
        </p:spPr>
        <p:txBody>
          <a:bodyPr/>
          <a:lstStyle/>
          <a:p>
            <a:r>
              <a:rPr lang="en-US" dirty="0"/>
              <a:t>Proto file</a:t>
            </a:r>
          </a:p>
        </p:txBody>
      </p:sp>
      <p:sp>
        <p:nvSpPr>
          <p:cNvPr id="3" name="Content Placeholder 2">
            <a:extLst>
              <a:ext uri="{FF2B5EF4-FFF2-40B4-BE49-F238E27FC236}">
                <a16:creationId xmlns:a16="http://schemas.microsoft.com/office/drawing/2014/main" id="{20D90813-012C-88C4-5EB7-58F3E8A567ED}"/>
              </a:ext>
            </a:extLst>
          </p:cNvPr>
          <p:cNvSpPr>
            <a:spLocks noGrp="1"/>
          </p:cNvSpPr>
          <p:nvPr>
            <p:ph idx="1"/>
          </p:nvPr>
        </p:nvSpPr>
        <p:spPr>
          <a:xfrm>
            <a:off x="838200" y="463328"/>
            <a:ext cx="10515600" cy="5713635"/>
          </a:xfrm>
        </p:spPr>
        <p:txBody>
          <a:bodyPr/>
          <a:lstStyle/>
          <a:p>
            <a:endParaRPr lang="en-US" dirty="0"/>
          </a:p>
          <a:p>
            <a:pPr marL="0" indent="0">
              <a:buNone/>
            </a:pPr>
            <a:endParaRPr lang="en-US" sz="2400" dirty="0"/>
          </a:p>
          <a:p>
            <a:r>
              <a:rPr lang="en-US" sz="2400" dirty="0"/>
              <a:t>To make </a:t>
            </a:r>
            <a:r>
              <a:rPr lang="en-US" sz="2400" dirty="0" err="1"/>
              <a:t>enum</a:t>
            </a:r>
            <a:r>
              <a:rPr lang="en-US" sz="2400" dirty="0"/>
              <a:t>   </a:t>
            </a:r>
            <a:r>
              <a:rPr lang="en-US" sz="2400" dirty="0">
                <a:sym typeface="Wingdings" panose="05000000000000000000" pitchFamily="2" charset="2"/>
              </a:rPr>
              <a:t> </a:t>
            </a:r>
            <a:endParaRPr lang="en-US" sz="2400" dirty="0"/>
          </a:p>
          <a:p>
            <a:pPr lvl="1"/>
            <a:r>
              <a:rPr lang="en-US" dirty="0"/>
              <a:t>Note that number at Enum refers to actual value</a:t>
            </a:r>
          </a:p>
          <a:p>
            <a:r>
              <a:rPr lang="en-US" dirty="0"/>
              <a:t>To convert from </a:t>
            </a:r>
            <a:r>
              <a:rPr lang="en-US" dirty="0" err="1"/>
              <a:t>Protobuf</a:t>
            </a:r>
            <a:r>
              <a:rPr lang="en-US" dirty="0"/>
              <a:t> </a:t>
            </a:r>
            <a:r>
              <a:rPr lang="en-US" dirty="0" err="1"/>
              <a:t>enum</a:t>
            </a:r>
            <a:r>
              <a:rPr lang="en-US" dirty="0"/>
              <a:t> to C# </a:t>
            </a:r>
            <a:r>
              <a:rPr lang="en-US" dirty="0" err="1"/>
              <a:t>enum</a:t>
            </a:r>
            <a:endParaRPr lang="en-US" dirty="0"/>
          </a:p>
          <a:p>
            <a:pPr lvl="1"/>
            <a:r>
              <a:rPr lang="en-US" dirty="0">
                <a:solidFill>
                  <a:srgbClr val="FF0000"/>
                </a:solidFill>
              </a:rPr>
              <a:t>Category</a:t>
            </a:r>
            <a:r>
              <a:rPr lang="en-US" dirty="0"/>
              <a:t> = </a:t>
            </a:r>
            <a:r>
              <a:rPr lang="en-US" dirty="0">
                <a:solidFill>
                  <a:srgbClr val="FFFF00"/>
                </a:solidFill>
              </a:rPr>
              <a:t>(</a:t>
            </a:r>
            <a:r>
              <a:rPr lang="en-US" dirty="0" err="1">
                <a:solidFill>
                  <a:srgbClr val="FFFF00"/>
                </a:solidFill>
              </a:rPr>
              <a:t>ServerAPI.Models.ProductCategory</a:t>
            </a:r>
            <a:r>
              <a:rPr lang="en-US" dirty="0">
                <a:solidFill>
                  <a:srgbClr val="FFFF00"/>
                </a:solidFill>
              </a:rPr>
              <a:t>)</a:t>
            </a:r>
            <a:r>
              <a:rPr lang="en-US" dirty="0" err="1">
                <a:solidFill>
                  <a:srgbClr val="FFFF00"/>
                </a:solidFill>
              </a:rPr>
              <a:t>request.Category</a:t>
            </a:r>
            <a:r>
              <a:rPr lang="en-US" dirty="0">
                <a:solidFill>
                  <a:srgbClr val="FFFF00"/>
                </a:solidFill>
              </a:rPr>
              <a:t>,</a:t>
            </a:r>
          </a:p>
          <a:p>
            <a:r>
              <a:rPr lang="en-US" dirty="0"/>
              <a:t>To convert from  C# </a:t>
            </a:r>
            <a:r>
              <a:rPr lang="en-US" dirty="0" err="1"/>
              <a:t>enum</a:t>
            </a:r>
            <a:r>
              <a:rPr lang="en-US" dirty="0"/>
              <a:t> to a </a:t>
            </a:r>
            <a:r>
              <a:rPr lang="en-US" dirty="0" err="1"/>
              <a:t>Protobuf</a:t>
            </a:r>
            <a:r>
              <a:rPr lang="en-US" dirty="0"/>
              <a:t> </a:t>
            </a:r>
            <a:r>
              <a:rPr lang="en-US" dirty="0" err="1"/>
              <a:t>enum</a:t>
            </a:r>
            <a:endParaRPr lang="en-US" dirty="0"/>
          </a:p>
          <a:p>
            <a:pPr lvl="1"/>
            <a:r>
              <a:rPr lang="en-US" dirty="0">
                <a:solidFill>
                  <a:srgbClr val="FF0000"/>
                </a:solidFill>
              </a:rPr>
              <a:t>Category</a:t>
            </a:r>
            <a:r>
              <a:rPr lang="en-US" dirty="0"/>
              <a:t> </a:t>
            </a:r>
            <a:r>
              <a:rPr lang="en-US" dirty="0">
                <a:solidFill>
                  <a:srgbClr val="FFFF00"/>
                </a:solidFill>
              </a:rPr>
              <a:t>= (</a:t>
            </a:r>
            <a:r>
              <a:rPr lang="en-US" dirty="0" err="1">
                <a:solidFill>
                  <a:srgbClr val="FFFF00"/>
                </a:solidFill>
              </a:rPr>
              <a:t>GRPS_Test.Protos.ProductCategory</a:t>
            </a:r>
            <a:r>
              <a:rPr lang="en-US" dirty="0">
                <a:solidFill>
                  <a:srgbClr val="FFFF00"/>
                </a:solidFill>
              </a:rPr>
              <a:t>) </a:t>
            </a:r>
            <a:r>
              <a:rPr lang="en-US" dirty="0" err="1">
                <a:solidFill>
                  <a:srgbClr val="FFFF00"/>
                </a:solidFill>
              </a:rPr>
              <a:t>p.Category</a:t>
            </a:r>
            <a:r>
              <a:rPr lang="en-US" dirty="0">
                <a:solidFill>
                  <a:srgbClr val="FFFF00"/>
                </a:solidFill>
              </a:rPr>
              <a:t>,</a:t>
            </a:r>
          </a:p>
          <a:p>
            <a:endParaRPr lang="en-US" dirty="0"/>
          </a:p>
        </p:txBody>
      </p:sp>
      <p:pic>
        <p:nvPicPr>
          <p:cNvPr id="7" name="Picture 6">
            <a:extLst>
              <a:ext uri="{FF2B5EF4-FFF2-40B4-BE49-F238E27FC236}">
                <a16:creationId xmlns:a16="http://schemas.microsoft.com/office/drawing/2014/main" id="{78C1D5B5-2FA5-33EC-D66E-3843D79FCC6A}"/>
              </a:ext>
            </a:extLst>
          </p:cNvPr>
          <p:cNvPicPr>
            <a:picLocks noChangeAspect="1"/>
          </p:cNvPicPr>
          <p:nvPr/>
        </p:nvPicPr>
        <p:blipFill>
          <a:blip r:embed="rId2"/>
          <a:stretch>
            <a:fillRect/>
          </a:stretch>
        </p:blipFill>
        <p:spPr>
          <a:xfrm>
            <a:off x="4232397" y="463329"/>
            <a:ext cx="2705217" cy="1371004"/>
          </a:xfrm>
          <a:prstGeom prst="rect">
            <a:avLst/>
          </a:prstGeom>
        </p:spPr>
      </p:pic>
      <p:pic>
        <p:nvPicPr>
          <p:cNvPr id="9" name="Picture 8">
            <a:extLst>
              <a:ext uri="{FF2B5EF4-FFF2-40B4-BE49-F238E27FC236}">
                <a16:creationId xmlns:a16="http://schemas.microsoft.com/office/drawing/2014/main" id="{9C25892E-E3FA-9EE3-A1CD-841E670044CD}"/>
              </a:ext>
            </a:extLst>
          </p:cNvPr>
          <p:cNvPicPr>
            <a:picLocks noChangeAspect="1"/>
          </p:cNvPicPr>
          <p:nvPr/>
        </p:nvPicPr>
        <p:blipFill>
          <a:blip r:embed="rId3"/>
          <a:stretch>
            <a:fillRect/>
          </a:stretch>
        </p:blipFill>
        <p:spPr>
          <a:xfrm>
            <a:off x="7220473" y="1051552"/>
            <a:ext cx="3705125" cy="444615"/>
          </a:xfrm>
          <a:prstGeom prst="rect">
            <a:avLst/>
          </a:prstGeom>
        </p:spPr>
      </p:pic>
    </p:spTree>
    <p:extLst>
      <p:ext uri="{BB962C8B-B14F-4D97-AF65-F5344CB8AC3E}">
        <p14:creationId xmlns:p14="http://schemas.microsoft.com/office/powerpoint/2010/main" val="2348459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B3666-7D3B-A215-D6F1-383AB81DAD7F}"/>
              </a:ext>
            </a:extLst>
          </p:cNvPr>
          <p:cNvSpPr>
            <a:spLocks noGrp="1"/>
          </p:cNvSpPr>
          <p:nvPr>
            <p:ph type="title"/>
          </p:nvPr>
        </p:nvSpPr>
        <p:spPr/>
        <p:txBody>
          <a:bodyPr/>
          <a:lstStyle/>
          <a:p>
            <a:r>
              <a:rPr lang="en-US" dirty="0"/>
              <a:t>Proto file</a:t>
            </a:r>
          </a:p>
        </p:txBody>
      </p:sp>
      <p:sp>
        <p:nvSpPr>
          <p:cNvPr id="3" name="Content Placeholder 2">
            <a:extLst>
              <a:ext uri="{FF2B5EF4-FFF2-40B4-BE49-F238E27FC236}">
                <a16:creationId xmlns:a16="http://schemas.microsoft.com/office/drawing/2014/main" id="{DE887A11-256E-5954-1949-C3497B3F74D8}"/>
              </a:ext>
            </a:extLst>
          </p:cNvPr>
          <p:cNvSpPr>
            <a:spLocks noGrp="1"/>
          </p:cNvSpPr>
          <p:nvPr>
            <p:ph idx="1"/>
          </p:nvPr>
        </p:nvSpPr>
        <p:spPr/>
        <p:txBody>
          <a:bodyPr/>
          <a:lstStyle/>
          <a:p>
            <a:r>
              <a:rPr lang="en-US" dirty="0"/>
              <a:t>To make inner message</a:t>
            </a:r>
          </a:p>
          <a:p>
            <a:endParaRPr lang="en-US" dirty="0"/>
          </a:p>
          <a:p>
            <a:endParaRPr lang="en-US" dirty="0"/>
          </a:p>
          <a:p>
            <a:r>
              <a:rPr lang="en-US" dirty="0"/>
              <a:t>                                                           OR </a:t>
            </a:r>
          </a:p>
          <a:p>
            <a:endParaRPr lang="en-US" dirty="0"/>
          </a:p>
        </p:txBody>
      </p:sp>
      <p:pic>
        <p:nvPicPr>
          <p:cNvPr id="4" name="Picture 3">
            <a:extLst>
              <a:ext uri="{FF2B5EF4-FFF2-40B4-BE49-F238E27FC236}">
                <a16:creationId xmlns:a16="http://schemas.microsoft.com/office/drawing/2014/main" id="{FD862383-C77B-D9F0-836E-3F4E8E6E0BB4}"/>
              </a:ext>
            </a:extLst>
          </p:cNvPr>
          <p:cNvPicPr>
            <a:picLocks noChangeAspect="1"/>
          </p:cNvPicPr>
          <p:nvPr/>
        </p:nvPicPr>
        <p:blipFill>
          <a:blip r:embed="rId2"/>
          <a:stretch>
            <a:fillRect/>
          </a:stretch>
        </p:blipFill>
        <p:spPr>
          <a:xfrm>
            <a:off x="838200" y="2491991"/>
            <a:ext cx="4362450" cy="2306096"/>
          </a:xfrm>
          <a:prstGeom prst="rect">
            <a:avLst/>
          </a:prstGeom>
        </p:spPr>
      </p:pic>
      <p:pic>
        <p:nvPicPr>
          <p:cNvPr id="5" name="Picture 4">
            <a:extLst>
              <a:ext uri="{FF2B5EF4-FFF2-40B4-BE49-F238E27FC236}">
                <a16:creationId xmlns:a16="http://schemas.microsoft.com/office/drawing/2014/main" id="{1A6CE265-4806-1BBA-5006-83444B465C43}"/>
              </a:ext>
            </a:extLst>
          </p:cNvPr>
          <p:cNvPicPr>
            <a:picLocks noChangeAspect="1"/>
          </p:cNvPicPr>
          <p:nvPr/>
        </p:nvPicPr>
        <p:blipFill>
          <a:blip r:embed="rId3"/>
          <a:stretch>
            <a:fillRect/>
          </a:stretch>
        </p:blipFill>
        <p:spPr>
          <a:xfrm>
            <a:off x="7177350" y="2359687"/>
            <a:ext cx="4248150" cy="2438400"/>
          </a:xfrm>
          <a:prstGeom prst="rect">
            <a:avLst/>
          </a:prstGeom>
        </p:spPr>
      </p:pic>
    </p:spTree>
    <p:extLst>
      <p:ext uri="{BB962C8B-B14F-4D97-AF65-F5344CB8AC3E}">
        <p14:creationId xmlns:p14="http://schemas.microsoft.com/office/powerpoint/2010/main" val="2192675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2E580-B199-DC62-34C8-475190DF90A5}"/>
              </a:ext>
            </a:extLst>
          </p:cNvPr>
          <p:cNvSpPr>
            <a:spLocks noGrp="1"/>
          </p:cNvSpPr>
          <p:nvPr>
            <p:ph type="title"/>
          </p:nvPr>
        </p:nvSpPr>
        <p:spPr/>
        <p:txBody>
          <a:bodyPr/>
          <a:lstStyle/>
          <a:p>
            <a:r>
              <a:rPr lang="en-US"/>
              <a:t>Proto file</a:t>
            </a:r>
          </a:p>
        </p:txBody>
      </p:sp>
      <p:sp>
        <p:nvSpPr>
          <p:cNvPr id="3" name="Content Placeholder 2">
            <a:extLst>
              <a:ext uri="{FF2B5EF4-FFF2-40B4-BE49-F238E27FC236}">
                <a16:creationId xmlns:a16="http://schemas.microsoft.com/office/drawing/2014/main" id="{2C0D94A6-E8F6-968A-C806-93159062D84B}"/>
              </a:ext>
            </a:extLst>
          </p:cNvPr>
          <p:cNvSpPr>
            <a:spLocks noGrp="1"/>
          </p:cNvSpPr>
          <p:nvPr>
            <p:ph idx="1"/>
          </p:nvPr>
        </p:nvSpPr>
        <p:spPr>
          <a:xfrm>
            <a:off x="838200" y="1825625"/>
            <a:ext cx="11239920" cy="4351338"/>
          </a:xfrm>
        </p:spPr>
        <p:txBody>
          <a:bodyPr/>
          <a:lstStyle/>
          <a:p>
            <a:r>
              <a:rPr lang="en-US" dirty="0"/>
              <a:t>To ignore the data clint send on specific number</a:t>
            </a:r>
          </a:p>
          <a:p>
            <a:r>
              <a:rPr lang="en-US" dirty="0"/>
              <a:t>To ignore message property		  	       where location is a message</a:t>
            </a:r>
          </a:p>
          <a:p>
            <a:r>
              <a:rPr lang="en-US" dirty="0"/>
              <a:t>To ignore more than message property </a:t>
            </a:r>
            <a:r>
              <a:rPr lang="en-US" dirty="0">
                <a:sym typeface="Wingdings" panose="05000000000000000000" pitchFamily="2" charset="2"/>
              </a:rPr>
              <a:t> </a:t>
            </a:r>
          </a:p>
          <a:p>
            <a:r>
              <a:rPr lang="en-US" dirty="0">
                <a:sym typeface="Wingdings" panose="05000000000000000000" pitchFamily="2" charset="2"/>
              </a:rPr>
              <a:t>To ignore </a:t>
            </a:r>
            <a:r>
              <a:rPr lang="en-US" dirty="0"/>
              <a:t> </a:t>
            </a:r>
          </a:p>
        </p:txBody>
      </p:sp>
      <p:pic>
        <p:nvPicPr>
          <p:cNvPr id="7" name="Picture 6">
            <a:extLst>
              <a:ext uri="{FF2B5EF4-FFF2-40B4-BE49-F238E27FC236}">
                <a16:creationId xmlns:a16="http://schemas.microsoft.com/office/drawing/2014/main" id="{762A2AEB-D75C-DBF6-D570-7E10176BD7DE}"/>
              </a:ext>
            </a:extLst>
          </p:cNvPr>
          <p:cNvPicPr>
            <a:picLocks noChangeAspect="1"/>
          </p:cNvPicPr>
          <p:nvPr/>
        </p:nvPicPr>
        <p:blipFill>
          <a:blip r:embed="rId2"/>
          <a:stretch>
            <a:fillRect/>
          </a:stretch>
        </p:blipFill>
        <p:spPr>
          <a:xfrm>
            <a:off x="8191604" y="1825625"/>
            <a:ext cx="1783811" cy="364043"/>
          </a:xfrm>
          <a:prstGeom prst="rect">
            <a:avLst/>
          </a:prstGeom>
        </p:spPr>
      </p:pic>
      <p:pic>
        <p:nvPicPr>
          <p:cNvPr id="9" name="Picture 8">
            <a:extLst>
              <a:ext uri="{FF2B5EF4-FFF2-40B4-BE49-F238E27FC236}">
                <a16:creationId xmlns:a16="http://schemas.microsoft.com/office/drawing/2014/main" id="{BA5F66A9-ECB1-04A4-1AC2-7CBE3ADBA2C8}"/>
              </a:ext>
            </a:extLst>
          </p:cNvPr>
          <p:cNvPicPr>
            <a:picLocks noChangeAspect="1"/>
          </p:cNvPicPr>
          <p:nvPr/>
        </p:nvPicPr>
        <p:blipFill>
          <a:blip r:embed="rId3"/>
          <a:stretch>
            <a:fillRect/>
          </a:stretch>
        </p:blipFill>
        <p:spPr>
          <a:xfrm>
            <a:off x="5341902" y="2382598"/>
            <a:ext cx="2556103" cy="358751"/>
          </a:xfrm>
          <a:prstGeom prst="rect">
            <a:avLst/>
          </a:prstGeom>
        </p:spPr>
      </p:pic>
      <p:pic>
        <p:nvPicPr>
          <p:cNvPr id="11" name="Picture 10">
            <a:extLst>
              <a:ext uri="{FF2B5EF4-FFF2-40B4-BE49-F238E27FC236}">
                <a16:creationId xmlns:a16="http://schemas.microsoft.com/office/drawing/2014/main" id="{6DBA4505-AA4C-3D0D-AA35-A250D8753F42}"/>
              </a:ext>
            </a:extLst>
          </p:cNvPr>
          <p:cNvPicPr>
            <a:picLocks noChangeAspect="1"/>
          </p:cNvPicPr>
          <p:nvPr/>
        </p:nvPicPr>
        <p:blipFill>
          <a:blip r:embed="rId4"/>
          <a:stretch>
            <a:fillRect/>
          </a:stretch>
        </p:blipFill>
        <p:spPr>
          <a:xfrm>
            <a:off x="7274954" y="2876286"/>
            <a:ext cx="4803166" cy="396722"/>
          </a:xfrm>
          <a:prstGeom prst="rect">
            <a:avLst/>
          </a:prstGeom>
        </p:spPr>
      </p:pic>
      <p:pic>
        <p:nvPicPr>
          <p:cNvPr id="13" name="Picture 12">
            <a:extLst>
              <a:ext uri="{FF2B5EF4-FFF2-40B4-BE49-F238E27FC236}">
                <a16:creationId xmlns:a16="http://schemas.microsoft.com/office/drawing/2014/main" id="{104A676C-0D9B-DCED-899A-76B56D6C207D}"/>
              </a:ext>
            </a:extLst>
          </p:cNvPr>
          <p:cNvPicPr>
            <a:picLocks noChangeAspect="1"/>
          </p:cNvPicPr>
          <p:nvPr/>
        </p:nvPicPr>
        <p:blipFill>
          <a:blip r:embed="rId5"/>
          <a:stretch>
            <a:fillRect/>
          </a:stretch>
        </p:blipFill>
        <p:spPr>
          <a:xfrm>
            <a:off x="3607965" y="3298322"/>
            <a:ext cx="2765434" cy="496360"/>
          </a:xfrm>
          <a:prstGeom prst="rect">
            <a:avLst/>
          </a:prstGeom>
        </p:spPr>
      </p:pic>
    </p:spTree>
    <p:extLst>
      <p:ext uri="{BB962C8B-B14F-4D97-AF65-F5344CB8AC3E}">
        <p14:creationId xmlns:p14="http://schemas.microsoft.com/office/powerpoint/2010/main" val="1575973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66651-C172-A503-96ED-80735B488AEA}"/>
              </a:ext>
            </a:extLst>
          </p:cNvPr>
          <p:cNvSpPr>
            <a:spLocks noGrp="1"/>
          </p:cNvSpPr>
          <p:nvPr>
            <p:ph type="title"/>
          </p:nvPr>
        </p:nvSpPr>
        <p:spPr>
          <a:xfrm>
            <a:off x="838200" y="1133"/>
            <a:ext cx="10515600" cy="679904"/>
          </a:xfrm>
        </p:spPr>
        <p:txBody>
          <a:bodyPr>
            <a:normAutofit fontScale="90000"/>
          </a:bodyPr>
          <a:lstStyle/>
          <a:p>
            <a:r>
              <a:rPr lang="en-US" dirty="0"/>
              <a:t>Proto buffer file</a:t>
            </a:r>
          </a:p>
        </p:txBody>
      </p:sp>
      <p:sp>
        <p:nvSpPr>
          <p:cNvPr id="3" name="Content Placeholder 2">
            <a:extLst>
              <a:ext uri="{FF2B5EF4-FFF2-40B4-BE49-F238E27FC236}">
                <a16:creationId xmlns:a16="http://schemas.microsoft.com/office/drawing/2014/main" id="{D5D6355F-498A-2889-B263-80573724535C}"/>
              </a:ext>
            </a:extLst>
          </p:cNvPr>
          <p:cNvSpPr>
            <a:spLocks noGrp="1"/>
          </p:cNvSpPr>
          <p:nvPr>
            <p:ph idx="1"/>
          </p:nvPr>
        </p:nvSpPr>
        <p:spPr>
          <a:xfrm>
            <a:off x="838200" y="681037"/>
            <a:ext cx="10515600" cy="5495926"/>
          </a:xfrm>
        </p:spPr>
        <p:txBody>
          <a:bodyPr/>
          <a:lstStyle/>
          <a:p>
            <a:r>
              <a:rPr lang="en-US" dirty="0"/>
              <a:t>Based on HTTP2</a:t>
            </a:r>
          </a:p>
          <a:p>
            <a:endParaRPr lang="en-US" dirty="0"/>
          </a:p>
        </p:txBody>
      </p:sp>
    </p:spTree>
    <p:extLst>
      <p:ext uri="{BB962C8B-B14F-4D97-AF65-F5344CB8AC3E}">
        <p14:creationId xmlns:p14="http://schemas.microsoft.com/office/powerpoint/2010/main" val="3402111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9316B-D577-489C-EF1A-63F7A915D96E}"/>
              </a:ext>
            </a:extLst>
          </p:cNvPr>
          <p:cNvSpPr>
            <a:spLocks noGrp="1"/>
          </p:cNvSpPr>
          <p:nvPr>
            <p:ph type="title"/>
          </p:nvPr>
        </p:nvSpPr>
        <p:spPr>
          <a:xfrm>
            <a:off x="838200" y="113864"/>
            <a:ext cx="10515600" cy="810532"/>
          </a:xfrm>
        </p:spPr>
        <p:txBody>
          <a:bodyPr>
            <a:normAutofit fontScale="90000"/>
          </a:bodyPr>
          <a:lstStyle/>
          <a:p>
            <a:r>
              <a:rPr lang="en-US" dirty="0"/>
              <a:t>Let’s have more fun and implement our first GRPC project</a:t>
            </a:r>
          </a:p>
        </p:txBody>
      </p:sp>
      <p:sp>
        <p:nvSpPr>
          <p:cNvPr id="3" name="Content Placeholder 2">
            <a:extLst>
              <a:ext uri="{FF2B5EF4-FFF2-40B4-BE49-F238E27FC236}">
                <a16:creationId xmlns:a16="http://schemas.microsoft.com/office/drawing/2014/main" id="{A84383CF-A4BB-F357-23E7-5054C1B3DEB4}"/>
              </a:ext>
            </a:extLst>
          </p:cNvPr>
          <p:cNvSpPr>
            <a:spLocks noGrp="1"/>
          </p:cNvSpPr>
          <p:nvPr>
            <p:ph idx="1"/>
          </p:nvPr>
        </p:nvSpPr>
        <p:spPr>
          <a:xfrm>
            <a:off x="838200" y="1034980"/>
            <a:ext cx="10515600" cy="5141983"/>
          </a:xfrm>
        </p:spPr>
        <p:txBody>
          <a:bodyPr/>
          <a:lstStyle/>
          <a:p>
            <a:r>
              <a:rPr lang="en-US" dirty="0"/>
              <a:t>We will implement this task</a:t>
            </a:r>
          </a:p>
        </p:txBody>
      </p:sp>
      <p:pic>
        <p:nvPicPr>
          <p:cNvPr id="6" name="Picture 5">
            <a:extLst>
              <a:ext uri="{FF2B5EF4-FFF2-40B4-BE49-F238E27FC236}">
                <a16:creationId xmlns:a16="http://schemas.microsoft.com/office/drawing/2014/main" id="{FF929140-D195-DF7F-7D57-AE3E4F66CF7C}"/>
              </a:ext>
            </a:extLst>
          </p:cNvPr>
          <p:cNvPicPr>
            <a:picLocks noChangeAspect="1"/>
          </p:cNvPicPr>
          <p:nvPr/>
        </p:nvPicPr>
        <p:blipFill>
          <a:blip r:embed="rId2"/>
          <a:stretch>
            <a:fillRect/>
          </a:stretch>
        </p:blipFill>
        <p:spPr>
          <a:xfrm>
            <a:off x="280516" y="1830622"/>
            <a:ext cx="11073284" cy="4621204"/>
          </a:xfrm>
          <a:prstGeom prst="rect">
            <a:avLst/>
          </a:prstGeom>
        </p:spPr>
      </p:pic>
    </p:spTree>
    <p:extLst>
      <p:ext uri="{BB962C8B-B14F-4D97-AF65-F5344CB8AC3E}">
        <p14:creationId xmlns:p14="http://schemas.microsoft.com/office/powerpoint/2010/main" val="1853707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9316B-D577-489C-EF1A-63F7A915D96E}"/>
              </a:ext>
            </a:extLst>
          </p:cNvPr>
          <p:cNvSpPr>
            <a:spLocks noGrp="1"/>
          </p:cNvSpPr>
          <p:nvPr>
            <p:ph type="title"/>
          </p:nvPr>
        </p:nvSpPr>
        <p:spPr>
          <a:xfrm>
            <a:off x="838200" y="113864"/>
            <a:ext cx="10515600" cy="810532"/>
          </a:xfrm>
        </p:spPr>
        <p:txBody>
          <a:bodyPr>
            <a:normAutofit/>
          </a:bodyPr>
          <a:lstStyle/>
          <a:p>
            <a:r>
              <a:rPr lang="en-US" dirty="0"/>
              <a:t>Step 1</a:t>
            </a:r>
          </a:p>
        </p:txBody>
      </p:sp>
      <p:sp>
        <p:nvSpPr>
          <p:cNvPr id="3" name="Content Placeholder 2">
            <a:extLst>
              <a:ext uri="{FF2B5EF4-FFF2-40B4-BE49-F238E27FC236}">
                <a16:creationId xmlns:a16="http://schemas.microsoft.com/office/drawing/2014/main" id="{A84383CF-A4BB-F357-23E7-5054C1B3DEB4}"/>
              </a:ext>
            </a:extLst>
          </p:cNvPr>
          <p:cNvSpPr>
            <a:spLocks noGrp="1"/>
          </p:cNvSpPr>
          <p:nvPr>
            <p:ph idx="1"/>
          </p:nvPr>
        </p:nvSpPr>
        <p:spPr>
          <a:xfrm>
            <a:off x="838200" y="1034980"/>
            <a:ext cx="10515600" cy="5141983"/>
          </a:xfrm>
        </p:spPr>
        <p:txBody>
          <a:bodyPr/>
          <a:lstStyle/>
          <a:p>
            <a:r>
              <a:rPr lang="en-US" dirty="0"/>
              <a:t>At first create Blank solution</a:t>
            </a:r>
          </a:p>
          <a:p>
            <a:endParaRPr lang="en-US" dirty="0"/>
          </a:p>
        </p:txBody>
      </p:sp>
      <p:pic>
        <p:nvPicPr>
          <p:cNvPr id="5" name="Picture 4">
            <a:extLst>
              <a:ext uri="{FF2B5EF4-FFF2-40B4-BE49-F238E27FC236}">
                <a16:creationId xmlns:a16="http://schemas.microsoft.com/office/drawing/2014/main" id="{637469E7-3F18-29DB-4E72-8BAC4C1B2C40}"/>
              </a:ext>
            </a:extLst>
          </p:cNvPr>
          <p:cNvPicPr>
            <a:picLocks noChangeAspect="1"/>
          </p:cNvPicPr>
          <p:nvPr/>
        </p:nvPicPr>
        <p:blipFill>
          <a:blip r:embed="rId2"/>
          <a:stretch>
            <a:fillRect/>
          </a:stretch>
        </p:blipFill>
        <p:spPr>
          <a:xfrm>
            <a:off x="838200" y="1513694"/>
            <a:ext cx="6004727" cy="2847901"/>
          </a:xfrm>
          <a:prstGeom prst="rect">
            <a:avLst/>
          </a:prstGeom>
        </p:spPr>
      </p:pic>
    </p:spTree>
    <p:extLst>
      <p:ext uri="{BB962C8B-B14F-4D97-AF65-F5344CB8AC3E}">
        <p14:creationId xmlns:p14="http://schemas.microsoft.com/office/powerpoint/2010/main" val="3626710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93641-CF0A-FE96-BCF3-7BC0010751B6}"/>
              </a:ext>
            </a:extLst>
          </p:cNvPr>
          <p:cNvSpPr>
            <a:spLocks noGrp="1"/>
          </p:cNvSpPr>
          <p:nvPr>
            <p:ph type="title"/>
          </p:nvPr>
        </p:nvSpPr>
        <p:spPr>
          <a:xfrm>
            <a:off x="838199" y="83771"/>
            <a:ext cx="10837985" cy="780387"/>
          </a:xfrm>
        </p:spPr>
        <p:txBody>
          <a:bodyPr>
            <a:normAutofit/>
          </a:bodyPr>
          <a:lstStyle/>
          <a:p>
            <a:r>
              <a:rPr lang="en-US" dirty="0"/>
              <a:t>Step 2 create server project </a:t>
            </a:r>
            <a:r>
              <a:rPr lang="en-US" dirty="0">
                <a:sym typeface="Wingdings" panose="05000000000000000000" pitchFamily="2" charset="2"/>
              </a:rPr>
              <a:t> WebAPI project</a:t>
            </a:r>
            <a:endParaRPr lang="en-US" dirty="0"/>
          </a:p>
        </p:txBody>
      </p:sp>
      <p:pic>
        <p:nvPicPr>
          <p:cNvPr id="5" name="Content Placeholder 4">
            <a:extLst>
              <a:ext uri="{FF2B5EF4-FFF2-40B4-BE49-F238E27FC236}">
                <a16:creationId xmlns:a16="http://schemas.microsoft.com/office/drawing/2014/main" id="{AE3D860B-F877-2979-CC9F-6087D61CE149}"/>
              </a:ext>
            </a:extLst>
          </p:cNvPr>
          <p:cNvPicPr>
            <a:picLocks noGrp="1" noChangeAspect="1"/>
          </p:cNvPicPr>
          <p:nvPr>
            <p:ph idx="1"/>
          </p:nvPr>
        </p:nvPicPr>
        <p:blipFill>
          <a:blip r:embed="rId2"/>
          <a:stretch>
            <a:fillRect/>
          </a:stretch>
        </p:blipFill>
        <p:spPr>
          <a:xfrm>
            <a:off x="335530" y="864158"/>
            <a:ext cx="3371850" cy="2676525"/>
          </a:xfrm>
        </p:spPr>
      </p:pic>
      <p:pic>
        <p:nvPicPr>
          <p:cNvPr id="7" name="Picture 6">
            <a:extLst>
              <a:ext uri="{FF2B5EF4-FFF2-40B4-BE49-F238E27FC236}">
                <a16:creationId xmlns:a16="http://schemas.microsoft.com/office/drawing/2014/main" id="{460610E6-629F-935F-01B8-EDA948C28764}"/>
              </a:ext>
            </a:extLst>
          </p:cNvPr>
          <p:cNvPicPr>
            <a:picLocks noChangeAspect="1"/>
          </p:cNvPicPr>
          <p:nvPr/>
        </p:nvPicPr>
        <p:blipFill>
          <a:blip r:embed="rId3"/>
          <a:stretch>
            <a:fillRect/>
          </a:stretch>
        </p:blipFill>
        <p:spPr>
          <a:xfrm>
            <a:off x="3820467" y="864158"/>
            <a:ext cx="6781800" cy="3781425"/>
          </a:xfrm>
          <a:prstGeom prst="rect">
            <a:avLst/>
          </a:prstGeom>
        </p:spPr>
      </p:pic>
      <p:sp>
        <p:nvSpPr>
          <p:cNvPr id="8" name="TextBox 7">
            <a:extLst>
              <a:ext uri="{FF2B5EF4-FFF2-40B4-BE49-F238E27FC236}">
                <a16:creationId xmlns:a16="http://schemas.microsoft.com/office/drawing/2014/main" id="{78AFBB6E-0DD3-6911-8E0C-0BA8D284EE03}"/>
              </a:ext>
            </a:extLst>
          </p:cNvPr>
          <p:cNvSpPr txBox="1"/>
          <p:nvPr/>
        </p:nvSpPr>
        <p:spPr>
          <a:xfrm>
            <a:off x="703385" y="5074418"/>
            <a:ext cx="10148835" cy="369332"/>
          </a:xfrm>
          <a:prstGeom prst="rect">
            <a:avLst/>
          </a:prstGeom>
          <a:noFill/>
        </p:spPr>
        <p:txBody>
          <a:bodyPr wrap="square" rtlCol="0">
            <a:spAutoFit/>
          </a:bodyPr>
          <a:lstStyle/>
          <a:p>
            <a:r>
              <a:rPr lang="en-US" dirty="0"/>
              <a:t>I do not need swagger because I don’t make restful API, so I uncheck enable </a:t>
            </a:r>
            <a:r>
              <a:rPr lang="en-US" dirty="0" err="1"/>
              <a:t>OpenAPI</a:t>
            </a:r>
            <a:r>
              <a:rPr lang="en-US" dirty="0"/>
              <a:t> support</a:t>
            </a:r>
          </a:p>
        </p:txBody>
      </p:sp>
    </p:spTree>
    <p:extLst>
      <p:ext uri="{BB962C8B-B14F-4D97-AF65-F5344CB8AC3E}">
        <p14:creationId xmlns:p14="http://schemas.microsoft.com/office/powerpoint/2010/main" val="2750797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B5010-5EAA-E746-05C7-698DD718EA8A}"/>
              </a:ext>
            </a:extLst>
          </p:cNvPr>
          <p:cNvSpPr>
            <a:spLocks noGrp="1"/>
          </p:cNvSpPr>
          <p:nvPr>
            <p:ph type="title"/>
          </p:nvPr>
        </p:nvSpPr>
        <p:spPr>
          <a:xfrm>
            <a:off x="838200" y="0"/>
            <a:ext cx="10515600" cy="1004835"/>
          </a:xfrm>
        </p:spPr>
        <p:txBody>
          <a:bodyPr>
            <a:normAutofit fontScale="90000"/>
          </a:bodyPr>
          <a:lstStyle/>
          <a:p>
            <a:r>
              <a:rPr lang="en-US" dirty="0"/>
              <a:t>Step 3 create the shared protocol buffer file on server</a:t>
            </a:r>
          </a:p>
        </p:txBody>
      </p:sp>
      <p:sp>
        <p:nvSpPr>
          <p:cNvPr id="3" name="Content Placeholder 2">
            <a:extLst>
              <a:ext uri="{FF2B5EF4-FFF2-40B4-BE49-F238E27FC236}">
                <a16:creationId xmlns:a16="http://schemas.microsoft.com/office/drawing/2014/main" id="{3F80878E-02B4-70DE-E7FF-65253D7C7E43}"/>
              </a:ext>
            </a:extLst>
          </p:cNvPr>
          <p:cNvSpPr>
            <a:spLocks noGrp="1"/>
          </p:cNvSpPr>
          <p:nvPr>
            <p:ph idx="1"/>
          </p:nvPr>
        </p:nvSpPr>
        <p:spPr>
          <a:xfrm>
            <a:off x="582804" y="1215851"/>
            <a:ext cx="11073284" cy="4961111"/>
          </a:xfrm>
        </p:spPr>
        <p:txBody>
          <a:bodyPr/>
          <a:lstStyle/>
          <a:p>
            <a:r>
              <a:rPr lang="en-US" dirty="0"/>
              <a:t>Create new folder with name Protos</a:t>
            </a:r>
          </a:p>
          <a:p>
            <a:r>
              <a:rPr lang="en-US" dirty="0"/>
              <a:t>Right click on the Protos folder + add new item + create Proto buffer file</a:t>
            </a:r>
          </a:p>
          <a:p>
            <a:endParaRPr lang="en-US" dirty="0"/>
          </a:p>
          <a:p>
            <a:endParaRPr lang="en-US" dirty="0"/>
          </a:p>
          <a:p>
            <a:endParaRPr lang="en-US" dirty="0"/>
          </a:p>
          <a:p>
            <a:endParaRPr lang="en-US" dirty="0"/>
          </a:p>
          <a:p>
            <a:endParaRPr lang="en-US" dirty="0"/>
          </a:p>
          <a:p>
            <a:r>
              <a:rPr lang="en-US" dirty="0"/>
              <a:t>I named it with </a:t>
            </a:r>
            <a:r>
              <a:rPr lang="en-US" dirty="0" err="1"/>
              <a:t>InventoryService</a:t>
            </a:r>
            <a:endParaRPr lang="en-US" dirty="0"/>
          </a:p>
        </p:txBody>
      </p:sp>
      <p:pic>
        <p:nvPicPr>
          <p:cNvPr id="5" name="Picture 4">
            <a:extLst>
              <a:ext uri="{FF2B5EF4-FFF2-40B4-BE49-F238E27FC236}">
                <a16:creationId xmlns:a16="http://schemas.microsoft.com/office/drawing/2014/main" id="{F5E0C103-DF9C-8522-C0FB-22C132939D74}"/>
              </a:ext>
            </a:extLst>
          </p:cNvPr>
          <p:cNvPicPr>
            <a:picLocks noChangeAspect="1"/>
          </p:cNvPicPr>
          <p:nvPr/>
        </p:nvPicPr>
        <p:blipFill>
          <a:blip r:embed="rId2"/>
          <a:stretch>
            <a:fillRect/>
          </a:stretch>
        </p:blipFill>
        <p:spPr>
          <a:xfrm>
            <a:off x="609600" y="2257425"/>
            <a:ext cx="10972800" cy="2343150"/>
          </a:xfrm>
          <a:prstGeom prst="rect">
            <a:avLst/>
          </a:prstGeom>
        </p:spPr>
      </p:pic>
    </p:spTree>
    <p:extLst>
      <p:ext uri="{BB962C8B-B14F-4D97-AF65-F5344CB8AC3E}">
        <p14:creationId xmlns:p14="http://schemas.microsoft.com/office/powerpoint/2010/main" val="1949798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0D4D3-E9EF-AD92-46C8-7BD00E49FED5}"/>
              </a:ext>
            </a:extLst>
          </p:cNvPr>
          <p:cNvSpPr>
            <a:spLocks noGrp="1"/>
          </p:cNvSpPr>
          <p:nvPr>
            <p:ph type="title"/>
          </p:nvPr>
        </p:nvSpPr>
        <p:spPr>
          <a:xfrm>
            <a:off x="597040" y="45168"/>
            <a:ext cx="10515600" cy="849135"/>
          </a:xfrm>
        </p:spPr>
        <p:txBody>
          <a:bodyPr/>
          <a:lstStyle/>
          <a:p>
            <a:r>
              <a:rPr lang="en-US" dirty="0"/>
              <a:t>Protocol buffer Code </a:t>
            </a:r>
          </a:p>
        </p:txBody>
      </p:sp>
      <p:sp>
        <p:nvSpPr>
          <p:cNvPr id="4" name="Rectangle 1">
            <a:extLst>
              <a:ext uri="{FF2B5EF4-FFF2-40B4-BE49-F238E27FC236}">
                <a16:creationId xmlns:a16="http://schemas.microsoft.com/office/drawing/2014/main" id="{BB7151CD-1590-CBB6-17F3-6C613928E841}"/>
              </a:ext>
            </a:extLst>
          </p:cNvPr>
          <p:cNvSpPr txBox="1">
            <a:spLocks noGrp="1" noChangeArrowheads="1"/>
          </p:cNvSpPr>
          <p:nvPr>
            <p:ph idx="1"/>
          </p:nvPr>
        </p:nvSpPr>
        <p:spPr bwMode="auto">
          <a:xfrm>
            <a:off x="597040" y="1005173"/>
            <a:ext cx="8657492" cy="56907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400" dirty="0">
                <a:solidFill>
                  <a:srgbClr val="0000FF"/>
                </a:solidFill>
                <a:latin typeface="Cascadia Mono" panose="020B0609020000020004" pitchFamily="49" charset="0"/>
              </a:rPr>
              <a:t>syntax</a:t>
            </a:r>
            <a:r>
              <a:rPr lang="en-US" sz="1400" dirty="0">
                <a:solidFill>
                  <a:srgbClr val="000000"/>
                </a:solidFill>
                <a:latin typeface="Cascadia Mono" panose="020B0609020000020004" pitchFamily="49" charset="0"/>
              </a:rPr>
              <a:t> = </a:t>
            </a:r>
            <a:r>
              <a:rPr lang="en-US" sz="1400" dirty="0">
                <a:solidFill>
                  <a:srgbClr val="A31515"/>
                </a:solidFill>
                <a:latin typeface="Cascadia Mono" panose="020B0609020000020004" pitchFamily="49" charset="0"/>
              </a:rPr>
              <a:t>"proto3"</a:t>
            </a:r>
            <a:r>
              <a:rPr lang="en-US" sz="1400" dirty="0">
                <a:solidFill>
                  <a:srgbClr val="000000"/>
                </a:solidFill>
                <a:latin typeface="Cascadia Mono" panose="020B0609020000020004" pitchFamily="49" charset="0"/>
              </a:rPr>
              <a:t>;</a:t>
            </a:r>
          </a:p>
          <a:p>
            <a:pPr marL="36900" indent="0">
              <a:buNone/>
            </a:pPr>
            <a:r>
              <a:rPr lang="en-US" sz="1400" dirty="0">
                <a:solidFill>
                  <a:srgbClr val="0000FF"/>
                </a:solidFill>
                <a:latin typeface="Cascadia Mono" panose="020B0609020000020004" pitchFamily="49" charset="0"/>
              </a:rPr>
              <a:t>option</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csharp_namespace</a:t>
            </a:r>
            <a:r>
              <a:rPr lang="en-US" sz="1400" dirty="0">
                <a:solidFill>
                  <a:srgbClr val="000000"/>
                </a:solidFill>
                <a:latin typeface="Cascadia Mono" panose="020B0609020000020004" pitchFamily="49" charset="0"/>
              </a:rPr>
              <a:t> = </a:t>
            </a:r>
            <a:r>
              <a:rPr lang="en-US" sz="1400" dirty="0">
                <a:solidFill>
                  <a:srgbClr val="A31515"/>
                </a:solidFill>
                <a:latin typeface="Cascadia Mono" panose="020B0609020000020004" pitchFamily="49" charset="0"/>
              </a:rPr>
              <a:t>"</a:t>
            </a:r>
            <a:r>
              <a:rPr lang="en-US" sz="1400" dirty="0" err="1">
                <a:solidFill>
                  <a:srgbClr val="A31515"/>
                </a:solidFill>
                <a:latin typeface="Cascadia Mono" panose="020B0609020000020004" pitchFamily="49" charset="0"/>
              </a:rPr>
              <a:t>ServerAPI.Protos</a:t>
            </a:r>
            <a:r>
              <a:rPr lang="en-US" sz="1400" dirty="0">
                <a:solidFill>
                  <a:srgbClr val="A31515"/>
                </a:solidFill>
                <a:latin typeface="Cascadia Mono" panose="020B0609020000020004" pitchFamily="49" charset="0"/>
              </a:rPr>
              <a:t>"</a:t>
            </a:r>
            <a:r>
              <a:rPr lang="en-US" sz="1400" dirty="0">
                <a:solidFill>
                  <a:srgbClr val="000000"/>
                </a:solidFill>
                <a:latin typeface="Cascadia Mono" panose="020B0609020000020004" pitchFamily="49" charset="0"/>
              </a:rPr>
              <a:t>;</a:t>
            </a:r>
            <a:endParaRPr lang="en-US" sz="1100" dirty="0">
              <a:solidFill>
                <a:srgbClr val="000000"/>
              </a:solidFill>
              <a:latin typeface="Cascadia Mono" panose="020B0609020000020004" pitchFamily="49" charset="0"/>
            </a:endParaRPr>
          </a:p>
          <a:p>
            <a:pPr marL="36900" indent="0">
              <a:buNone/>
            </a:pPr>
            <a:r>
              <a:rPr lang="en-US" sz="1400" dirty="0">
                <a:solidFill>
                  <a:srgbClr val="0000FF"/>
                </a:solidFill>
                <a:latin typeface="Cascadia Mono" panose="020B0609020000020004" pitchFamily="49" charset="0"/>
              </a:rPr>
              <a:t>service</a:t>
            </a:r>
            <a:r>
              <a:rPr lang="en-US" sz="1400" dirty="0">
                <a:solidFill>
                  <a:srgbClr val="000000"/>
                </a:solidFill>
                <a:latin typeface="Cascadia Mono" panose="020B0609020000020004" pitchFamily="49" charset="0"/>
              </a:rPr>
              <a:t> </a:t>
            </a:r>
            <a:r>
              <a:rPr lang="en-US" sz="1400" dirty="0" err="1">
                <a:solidFill>
                  <a:srgbClr val="2B91AF"/>
                </a:solidFill>
                <a:latin typeface="Cascadia Mono" panose="020B0609020000020004" pitchFamily="49" charset="0"/>
              </a:rPr>
              <a:t>InventoryService</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r>
              <a:rPr lang="en-US" sz="1400" dirty="0" err="1">
                <a:solidFill>
                  <a:srgbClr val="0000FF"/>
                </a:solidFill>
                <a:latin typeface="Cascadia Mono" panose="020B0609020000020004" pitchFamily="49" charset="0"/>
              </a:rPr>
              <a:t>rpc</a:t>
            </a:r>
            <a:r>
              <a:rPr lang="en-US" sz="1400" dirty="0">
                <a:solidFill>
                  <a:srgbClr val="000000"/>
                </a:solidFill>
                <a:latin typeface="Cascadia Mono" panose="020B0609020000020004" pitchFamily="49" charset="0"/>
              </a:rPr>
              <a:t> </a:t>
            </a:r>
            <a:r>
              <a:rPr lang="en-US" sz="1400" dirty="0" err="1">
                <a:solidFill>
                  <a:srgbClr val="2B91AF"/>
                </a:solidFill>
                <a:latin typeface="Cascadia Mono" panose="020B0609020000020004" pitchFamily="49" charset="0"/>
              </a:rPr>
              <a:t>GetProdById</a:t>
            </a:r>
            <a:r>
              <a:rPr lang="en-US" sz="1400" dirty="0">
                <a:solidFill>
                  <a:srgbClr val="000000"/>
                </a:solidFill>
                <a:latin typeface="Cascadia Mono" panose="020B0609020000020004" pitchFamily="49" charset="0"/>
              </a:rPr>
              <a:t>(</a:t>
            </a:r>
            <a:r>
              <a:rPr lang="en-US" sz="1400" dirty="0">
                <a:solidFill>
                  <a:srgbClr val="2B91AF"/>
                </a:solidFill>
                <a:latin typeface="Cascadia Mono" panose="020B0609020000020004" pitchFamily="49" charset="0"/>
              </a:rPr>
              <a:t>prodIdMsg</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returns</a:t>
            </a:r>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ProdExistResponse</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r>
              <a:rPr lang="en-US" sz="1400" dirty="0" err="1">
                <a:solidFill>
                  <a:srgbClr val="0000FF"/>
                </a:solidFill>
                <a:latin typeface="Cascadia Mono" panose="020B0609020000020004" pitchFamily="49" charset="0"/>
              </a:rPr>
              <a:t>rpc</a:t>
            </a:r>
            <a:r>
              <a:rPr lang="en-US" sz="1400" dirty="0">
                <a:solidFill>
                  <a:srgbClr val="000000"/>
                </a:solidFill>
                <a:latin typeface="Cascadia Mono" panose="020B0609020000020004" pitchFamily="49" charset="0"/>
              </a:rPr>
              <a:t> </a:t>
            </a:r>
            <a:r>
              <a:rPr lang="en-US" sz="1400" dirty="0" err="1">
                <a:solidFill>
                  <a:srgbClr val="2B91AF"/>
                </a:solidFill>
                <a:latin typeface="Cascadia Mono" panose="020B0609020000020004" pitchFamily="49" charset="0"/>
              </a:rPr>
              <a:t>AddProduct</a:t>
            </a:r>
            <a:r>
              <a:rPr lang="en-US" sz="1400" dirty="0">
                <a:solidFill>
                  <a:srgbClr val="000000"/>
                </a:solidFill>
                <a:latin typeface="Cascadia Mono" panose="020B0609020000020004" pitchFamily="49" charset="0"/>
              </a:rPr>
              <a:t>(</a:t>
            </a:r>
            <a:r>
              <a:rPr lang="en-US" sz="1400" dirty="0" err="1">
                <a:solidFill>
                  <a:srgbClr val="2B91AF"/>
                </a:solidFill>
                <a:latin typeface="Cascadia Mono" panose="020B0609020000020004" pitchFamily="49" charset="0"/>
              </a:rPr>
              <a:t>productMsg</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returns</a:t>
            </a:r>
            <a:r>
              <a:rPr lang="en-US" sz="1400" dirty="0">
                <a:solidFill>
                  <a:srgbClr val="000000"/>
                </a:solidFill>
                <a:latin typeface="Cascadia Mono" panose="020B0609020000020004" pitchFamily="49" charset="0"/>
              </a:rPr>
              <a:t> (</a:t>
            </a:r>
            <a:r>
              <a:rPr lang="en-US" sz="1400" dirty="0" err="1">
                <a:solidFill>
                  <a:srgbClr val="2B91AF"/>
                </a:solidFill>
                <a:latin typeface="Cascadia Mono" panose="020B0609020000020004" pitchFamily="49" charset="0"/>
              </a:rPr>
              <a:t>productMsg</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r>
              <a:rPr lang="en-US" sz="1400" dirty="0" err="1">
                <a:solidFill>
                  <a:srgbClr val="0000FF"/>
                </a:solidFill>
                <a:latin typeface="Cascadia Mono" panose="020B0609020000020004" pitchFamily="49" charset="0"/>
              </a:rPr>
              <a:t>rpc</a:t>
            </a:r>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UpdateProduct</a:t>
            </a:r>
            <a:r>
              <a:rPr lang="en-US" sz="1400" dirty="0">
                <a:solidFill>
                  <a:srgbClr val="000000"/>
                </a:solidFill>
                <a:latin typeface="Cascadia Mono" panose="020B0609020000020004" pitchFamily="49" charset="0"/>
              </a:rPr>
              <a:t>(</a:t>
            </a:r>
            <a:r>
              <a:rPr lang="en-US" sz="1400" dirty="0" err="1">
                <a:solidFill>
                  <a:srgbClr val="2B91AF"/>
                </a:solidFill>
                <a:latin typeface="Cascadia Mono" panose="020B0609020000020004" pitchFamily="49" charset="0"/>
              </a:rPr>
              <a:t>productMsg</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returns</a:t>
            </a:r>
            <a:r>
              <a:rPr lang="en-US" sz="1400" dirty="0">
                <a:solidFill>
                  <a:srgbClr val="000000"/>
                </a:solidFill>
                <a:latin typeface="Cascadia Mono" panose="020B0609020000020004" pitchFamily="49" charset="0"/>
              </a:rPr>
              <a:t> (</a:t>
            </a:r>
            <a:r>
              <a:rPr lang="en-US" sz="1400" dirty="0" err="1">
                <a:solidFill>
                  <a:srgbClr val="2B91AF"/>
                </a:solidFill>
                <a:latin typeface="Cascadia Mono" panose="020B0609020000020004" pitchFamily="49" charset="0"/>
              </a:rPr>
              <a:t>productMsg</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a:t>
            </a:r>
          </a:p>
          <a:p>
            <a:pPr marL="36900" indent="0">
              <a:buNone/>
            </a:pPr>
            <a:r>
              <a:rPr lang="en-US" sz="1400" dirty="0">
                <a:solidFill>
                  <a:srgbClr val="0000FF"/>
                </a:solidFill>
                <a:latin typeface="Cascadia Mono" panose="020B0609020000020004" pitchFamily="49" charset="0"/>
              </a:rPr>
              <a:t>message</a:t>
            </a:r>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prodIdMsg</a:t>
            </a:r>
            <a:r>
              <a:rPr lang="en-US" sz="1400" dirty="0">
                <a:solidFill>
                  <a:srgbClr val="000000"/>
                </a:solidFill>
                <a:latin typeface="Cascadia Mono" panose="020B0609020000020004" pitchFamily="49" charset="0"/>
              </a:rPr>
              <a:t> {</a:t>
            </a:r>
          </a:p>
          <a:p>
            <a:pPr marL="36900" indent="0">
              <a:buNone/>
            </a:pPr>
            <a:r>
              <a:rPr lang="en-US" sz="1400" dirty="0">
                <a:solidFill>
                  <a:srgbClr val="0000FF"/>
                </a:solidFill>
                <a:latin typeface="Cascadia Mono" panose="020B0609020000020004" pitchFamily="49" charset="0"/>
              </a:rPr>
              <a:t>int32</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prodId</a:t>
            </a:r>
            <a:r>
              <a:rPr lang="en-US" sz="1400" dirty="0">
                <a:solidFill>
                  <a:srgbClr val="000000"/>
                </a:solidFill>
                <a:latin typeface="Cascadia Mono" panose="020B0609020000020004" pitchFamily="49" charset="0"/>
              </a:rPr>
              <a:t> = 1;</a:t>
            </a:r>
          </a:p>
          <a:p>
            <a:pPr marL="36900" indent="0">
              <a:buNone/>
            </a:pPr>
            <a:r>
              <a:rPr lang="en-US" sz="1400" dirty="0">
                <a:solidFill>
                  <a:srgbClr val="000000"/>
                </a:solidFill>
                <a:latin typeface="Cascadia Mono" panose="020B0609020000020004" pitchFamily="49" charset="0"/>
              </a:rPr>
              <a:t>}</a:t>
            </a:r>
          </a:p>
          <a:p>
            <a:pPr marL="36900" indent="0">
              <a:buNone/>
            </a:pPr>
            <a:r>
              <a:rPr lang="en-US" sz="1400" dirty="0">
                <a:solidFill>
                  <a:srgbClr val="0000FF"/>
                </a:solidFill>
                <a:latin typeface="Cascadia Mono" panose="020B0609020000020004" pitchFamily="49" charset="0"/>
              </a:rPr>
              <a:t>message</a:t>
            </a:r>
            <a:r>
              <a:rPr lang="en-US" sz="1400" dirty="0">
                <a:solidFill>
                  <a:srgbClr val="000000"/>
                </a:solidFill>
                <a:latin typeface="Cascadia Mono" panose="020B0609020000020004" pitchFamily="49" charset="0"/>
              </a:rPr>
              <a:t> </a:t>
            </a:r>
            <a:r>
              <a:rPr lang="en-US" sz="1400" dirty="0" err="1">
                <a:solidFill>
                  <a:srgbClr val="2B91AF"/>
                </a:solidFill>
                <a:latin typeface="Cascadia Mono" panose="020B0609020000020004" pitchFamily="49" charset="0"/>
              </a:rPr>
              <a:t>productMsg</a:t>
            </a: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int32</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prodId</a:t>
            </a:r>
            <a:r>
              <a:rPr lang="en-US" sz="1400" dirty="0">
                <a:solidFill>
                  <a:srgbClr val="000000"/>
                </a:solidFill>
                <a:latin typeface="Cascadia Mono" panose="020B0609020000020004" pitchFamily="49" charset="0"/>
              </a:rPr>
              <a:t> = 1;</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string</a:t>
            </a:r>
            <a:r>
              <a:rPr lang="en-US" sz="1400" dirty="0">
                <a:solidFill>
                  <a:srgbClr val="000000"/>
                </a:solidFill>
                <a:latin typeface="Cascadia Mono" panose="020B0609020000020004" pitchFamily="49" charset="0"/>
              </a:rPr>
              <a:t> name = 2;</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string</a:t>
            </a:r>
            <a:r>
              <a:rPr lang="en-US" sz="1400" dirty="0">
                <a:solidFill>
                  <a:srgbClr val="000000"/>
                </a:solidFill>
                <a:latin typeface="Cascadia Mono" panose="020B0609020000020004" pitchFamily="49" charset="0"/>
              </a:rPr>
              <a:t> description = 3;</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float</a:t>
            </a:r>
            <a:r>
              <a:rPr lang="en-US" sz="1400" dirty="0">
                <a:solidFill>
                  <a:srgbClr val="000000"/>
                </a:solidFill>
                <a:latin typeface="Cascadia Mono" panose="020B0609020000020004" pitchFamily="49" charset="0"/>
              </a:rPr>
              <a:t> price = 4;</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int32</a:t>
            </a:r>
            <a:r>
              <a:rPr lang="en-US" sz="1400" dirty="0">
                <a:solidFill>
                  <a:srgbClr val="000000"/>
                </a:solidFill>
                <a:latin typeface="Cascadia Mono" panose="020B0609020000020004" pitchFamily="49" charset="0"/>
              </a:rPr>
              <a:t> quantity = 5;</a:t>
            </a:r>
          </a:p>
          <a:p>
            <a:pPr marL="36900" indent="0">
              <a:buNone/>
            </a:pPr>
            <a:r>
              <a:rPr lang="en-US" sz="1400" dirty="0">
                <a:solidFill>
                  <a:srgbClr val="000000"/>
                </a:solidFill>
                <a:latin typeface="Cascadia Mono" panose="020B0609020000020004" pitchFamily="49" charset="0"/>
              </a:rPr>
              <a:t>}</a:t>
            </a:r>
          </a:p>
          <a:p>
            <a:pPr marL="36900" indent="0">
              <a:buNone/>
            </a:pPr>
            <a:r>
              <a:rPr lang="en-US" sz="1400" dirty="0">
                <a:solidFill>
                  <a:srgbClr val="0000FF"/>
                </a:solidFill>
                <a:latin typeface="Cascadia Mono" panose="020B0609020000020004" pitchFamily="49" charset="0"/>
              </a:rPr>
              <a:t>message</a:t>
            </a:r>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ProdExistResponse</a:t>
            </a:r>
            <a:r>
              <a:rPr lang="en-US" sz="1400" dirty="0">
                <a:solidFill>
                  <a:srgbClr val="000000"/>
                </a:solidFill>
                <a:latin typeface="Cascadia Mono" panose="020B0609020000020004" pitchFamily="49" charset="0"/>
              </a:rPr>
              <a:t> { </a:t>
            </a:r>
            <a:r>
              <a:rPr lang="en-US" sz="1400" dirty="0">
                <a:solidFill>
                  <a:srgbClr val="0000FF"/>
                </a:solidFill>
                <a:latin typeface="Cascadia Mono" panose="020B0609020000020004" pitchFamily="49" charset="0"/>
              </a:rPr>
              <a:t>bool</a:t>
            </a:r>
            <a:r>
              <a:rPr lang="en-US" sz="1400" dirty="0">
                <a:solidFill>
                  <a:srgbClr val="000000"/>
                </a:solidFill>
                <a:latin typeface="Cascadia Mono" panose="020B0609020000020004" pitchFamily="49" charset="0"/>
              </a:rPr>
              <a:t> exists = 1;}</a:t>
            </a:r>
            <a:endParaRPr lang="en-US" altLang="en-US" sz="180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66026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30E97-EBC5-93E4-23B4-32327973F74B}"/>
              </a:ext>
            </a:extLst>
          </p:cNvPr>
          <p:cNvSpPr>
            <a:spLocks noGrp="1"/>
          </p:cNvSpPr>
          <p:nvPr>
            <p:ph type="title"/>
          </p:nvPr>
        </p:nvSpPr>
        <p:spPr>
          <a:xfrm>
            <a:off x="180870" y="-1"/>
            <a:ext cx="11836959" cy="1225899"/>
          </a:xfrm>
        </p:spPr>
        <p:txBody>
          <a:bodyPr>
            <a:normAutofit fontScale="90000"/>
          </a:bodyPr>
          <a:lstStyle/>
          <a:p>
            <a:r>
              <a:rPr lang="en-US" dirty="0"/>
              <a:t>Step 4 install Grpc.AspNetCore package in server project </a:t>
            </a:r>
          </a:p>
        </p:txBody>
      </p:sp>
      <p:sp>
        <p:nvSpPr>
          <p:cNvPr id="3" name="Content Placeholder 2">
            <a:extLst>
              <a:ext uri="{FF2B5EF4-FFF2-40B4-BE49-F238E27FC236}">
                <a16:creationId xmlns:a16="http://schemas.microsoft.com/office/drawing/2014/main" id="{2E0CF30A-A533-4A68-4FF9-B2E6BDEFECB1}"/>
              </a:ext>
            </a:extLst>
          </p:cNvPr>
          <p:cNvSpPr>
            <a:spLocks noGrp="1"/>
          </p:cNvSpPr>
          <p:nvPr>
            <p:ph idx="1"/>
          </p:nvPr>
        </p:nvSpPr>
        <p:spPr>
          <a:xfrm>
            <a:off x="542611" y="1356527"/>
            <a:ext cx="11475218" cy="4820436"/>
          </a:xfrm>
        </p:spPr>
        <p:txBody>
          <a:bodyPr>
            <a:normAutofit/>
          </a:bodyPr>
          <a:lstStyle/>
          <a:p>
            <a:r>
              <a:rPr lang="en-US" sz="2200" dirty="0"/>
              <a:t>After implementation of proto buffer file </a:t>
            </a:r>
            <a:r>
              <a:rPr lang="en-US" sz="2200" b="1" dirty="0">
                <a:solidFill>
                  <a:srgbClr val="FFFF00"/>
                </a:solidFill>
              </a:rPr>
              <a:t>Install-package Grpc.AspNetCore </a:t>
            </a:r>
            <a:r>
              <a:rPr lang="en-US" sz="2200" dirty="0"/>
              <a:t>in server project </a:t>
            </a:r>
          </a:p>
          <a:p>
            <a:r>
              <a:rPr lang="en-US" sz="2200" b="1" dirty="0">
                <a:solidFill>
                  <a:srgbClr val="FFFF00"/>
                </a:solidFill>
              </a:rPr>
              <a:t>Grpc.AspNetCore </a:t>
            </a:r>
            <a:r>
              <a:rPr lang="en-US" sz="2200" dirty="0"/>
              <a:t> package adds GRPC compiler that generate server code </a:t>
            </a:r>
          </a:p>
          <a:p>
            <a:r>
              <a:rPr lang="en-US" sz="2200" dirty="0"/>
              <a:t>After installing package go to proto buffer file -&gt; right click -&gt; properties </a:t>
            </a:r>
          </a:p>
          <a:p>
            <a:endParaRPr lang="en-US" sz="2200" dirty="0"/>
          </a:p>
          <a:p>
            <a:endParaRPr lang="en-US" sz="2200" dirty="0"/>
          </a:p>
          <a:p>
            <a:endParaRPr lang="en-US" sz="2200" dirty="0"/>
          </a:p>
          <a:p>
            <a:r>
              <a:rPr lang="en-US" sz="2200" dirty="0"/>
              <a:t>Right click on server project + build</a:t>
            </a:r>
          </a:p>
        </p:txBody>
      </p:sp>
      <p:pic>
        <p:nvPicPr>
          <p:cNvPr id="9" name="Picture 8">
            <a:extLst>
              <a:ext uri="{FF2B5EF4-FFF2-40B4-BE49-F238E27FC236}">
                <a16:creationId xmlns:a16="http://schemas.microsoft.com/office/drawing/2014/main" id="{77CCA1B3-A0F6-E44C-33EA-2BA5F637CEC7}"/>
              </a:ext>
            </a:extLst>
          </p:cNvPr>
          <p:cNvPicPr>
            <a:picLocks noChangeAspect="1"/>
          </p:cNvPicPr>
          <p:nvPr/>
        </p:nvPicPr>
        <p:blipFill>
          <a:blip r:embed="rId2"/>
          <a:stretch>
            <a:fillRect/>
          </a:stretch>
        </p:blipFill>
        <p:spPr>
          <a:xfrm>
            <a:off x="848249" y="2766620"/>
            <a:ext cx="6657975" cy="1000125"/>
          </a:xfrm>
          <a:prstGeom prst="rect">
            <a:avLst/>
          </a:prstGeom>
        </p:spPr>
      </p:pic>
    </p:spTree>
    <p:extLst>
      <p:ext uri="{BB962C8B-B14F-4D97-AF65-F5344CB8AC3E}">
        <p14:creationId xmlns:p14="http://schemas.microsoft.com/office/powerpoint/2010/main" val="75104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6EA71-7A87-8F16-3149-8941E1DA25AC}"/>
              </a:ext>
            </a:extLst>
          </p:cNvPr>
          <p:cNvSpPr>
            <a:spLocks noGrp="1"/>
          </p:cNvSpPr>
          <p:nvPr>
            <p:ph type="title"/>
          </p:nvPr>
        </p:nvSpPr>
        <p:spPr>
          <a:xfrm>
            <a:off x="838200" y="0"/>
            <a:ext cx="10515600" cy="681037"/>
          </a:xfrm>
        </p:spPr>
        <p:txBody>
          <a:bodyPr>
            <a:normAutofit fontScale="90000"/>
          </a:bodyPr>
          <a:lstStyle/>
          <a:p>
            <a:r>
              <a:rPr lang="en-US" dirty="0"/>
              <a:t>Step 5 implement service at server project</a:t>
            </a:r>
          </a:p>
        </p:txBody>
      </p:sp>
      <p:sp>
        <p:nvSpPr>
          <p:cNvPr id="3" name="Content Placeholder 2">
            <a:extLst>
              <a:ext uri="{FF2B5EF4-FFF2-40B4-BE49-F238E27FC236}">
                <a16:creationId xmlns:a16="http://schemas.microsoft.com/office/drawing/2014/main" id="{CE0166C0-FA1B-A1E3-5CCE-3A448A8ADA58}"/>
              </a:ext>
            </a:extLst>
          </p:cNvPr>
          <p:cNvSpPr>
            <a:spLocks noGrp="1"/>
          </p:cNvSpPr>
          <p:nvPr>
            <p:ph idx="1"/>
          </p:nvPr>
        </p:nvSpPr>
        <p:spPr>
          <a:xfrm>
            <a:off x="180871" y="681038"/>
            <a:ext cx="11666136" cy="5880536"/>
          </a:xfrm>
        </p:spPr>
        <p:txBody>
          <a:bodyPr>
            <a:normAutofit/>
          </a:bodyPr>
          <a:lstStyle/>
          <a:p>
            <a:r>
              <a:rPr lang="en-US" sz="2200" dirty="0"/>
              <a:t>Create folder services</a:t>
            </a:r>
          </a:p>
          <a:p>
            <a:r>
              <a:rPr lang="en-US" sz="2200" dirty="0"/>
              <a:t>Create class with name </a:t>
            </a:r>
            <a:r>
              <a:rPr lang="en-US" sz="2200" dirty="0">
                <a:solidFill>
                  <a:srgbClr val="2B91AF"/>
                </a:solidFill>
                <a:latin typeface="Cascadia Mono" panose="020B0609020000020004" pitchFamily="49" charset="0"/>
              </a:rPr>
              <a:t>InventoryServiceMessage [name it as you want]</a:t>
            </a:r>
            <a:endParaRPr lang="en-US" sz="2200" dirty="0"/>
          </a:p>
          <a:p>
            <a:r>
              <a:rPr lang="en-US" sz="2200" dirty="0"/>
              <a:t>The class generated from proto  buffer file is </a:t>
            </a:r>
            <a:r>
              <a:rPr lang="en-US" sz="2200" dirty="0" err="1">
                <a:solidFill>
                  <a:srgbClr val="2B91AF"/>
                </a:solidFill>
                <a:latin typeface="Cascadia Mono" panose="020B0609020000020004" pitchFamily="49" charset="0"/>
              </a:rPr>
              <a:t>InventoryServiceBase</a:t>
            </a:r>
            <a:endParaRPr lang="en-US" sz="2200" dirty="0">
              <a:solidFill>
                <a:srgbClr val="2B91AF"/>
              </a:solidFill>
              <a:latin typeface="Cascadia Mono" panose="020B0609020000020004" pitchFamily="49" charset="0"/>
            </a:endParaRPr>
          </a:p>
          <a:p>
            <a:r>
              <a:rPr lang="en-US" sz="2200" dirty="0"/>
              <a:t>Inherit from the </a:t>
            </a:r>
            <a:r>
              <a:rPr lang="en-US" sz="2200" dirty="0" err="1">
                <a:solidFill>
                  <a:srgbClr val="2B91AF"/>
                </a:solidFill>
                <a:latin typeface="Cascadia Mono" panose="020B0609020000020004" pitchFamily="49" charset="0"/>
              </a:rPr>
              <a:t>InventoryServiceBase</a:t>
            </a:r>
            <a:r>
              <a:rPr lang="en-US" sz="2200" dirty="0">
                <a:solidFill>
                  <a:srgbClr val="2B91AF"/>
                </a:solidFill>
                <a:latin typeface="Cascadia Mono" panose="020B0609020000020004" pitchFamily="49" charset="0"/>
              </a:rPr>
              <a:t> </a:t>
            </a:r>
            <a:r>
              <a:rPr lang="en-US" sz="2200" dirty="0"/>
              <a:t>and override the methods for example</a:t>
            </a:r>
          </a:p>
          <a:p>
            <a:endParaRPr lang="en-US" sz="2200" dirty="0"/>
          </a:p>
          <a:p>
            <a:endParaRPr lang="en-US" sz="2200" dirty="0"/>
          </a:p>
          <a:p>
            <a:endParaRPr lang="en-US" sz="2200" dirty="0"/>
          </a:p>
          <a:p>
            <a:endParaRPr lang="en-US" sz="2200" dirty="0"/>
          </a:p>
        </p:txBody>
      </p:sp>
      <p:sp>
        <p:nvSpPr>
          <p:cNvPr id="7" name="Arrow: Right 6">
            <a:extLst>
              <a:ext uri="{FF2B5EF4-FFF2-40B4-BE49-F238E27FC236}">
                <a16:creationId xmlns:a16="http://schemas.microsoft.com/office/drawing/2014/main" id="{69E22CEA-554E-C3E5-7FC4-3E9141CF19DE}"/>
              </a:ext>
            </a:extLst>
          </p:cNvPr>
          <p:cNvSpPr/>
          <p:nvPr/>
        </p:nvSpPr>
        <p:spPr>
          <a:xfrm>
            <a:off x="2069960" y="3798277"/>
            <a:ext cx="5878286" cy="10852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73508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6795D3EE-0D04-9EBF-F51B-200C64725D1B}"/>
              </a:ext>
            </a:extLst>
          </p:cNvPr>
          <p:cNvSpPr txBox="1">
            <a:spLocks noChangeArrowheads="1"/>
          </p:cNvSpPr>
          <p:nvPr/>
        </p:nvSpPr>
        <p:spPr bwMode="auto">
          <a:xfrm>
            <a:off x="0" y="278885"/>
            <a:ext cx="12191999" cy="58169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lnSpc>
                <a:spcPct val="90000"/>
              </a:lnSpc>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lnSpc>
                <a:spcPct val="90000"/>
              </a:lnSpc>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class</a:t>
            </a:r>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InventoryServiceMessage</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InventoryServiceBase</a:t>
            </a: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List&lt;Product&gt; products;</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InventoryServiceMessage</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products = </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List&lt;Product&gt;(){</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Product(){Id=1,Name=</a:t>
            </a:r>
            <a:r>
              <a:rPr lang="en-US" sz="1400" dirty="0">
                <a:solidFill>
                  <a:srgbClr val="A31515"/>
                </a:solidFill>
                <a:latin typeface="Cascadia Mono" panose="020B0609020000020004" pitchFamily="49" charset="0"/>
              </a:rPr>
              <a:t>"car"</a:t>
            </a:r>
            <a:r>
              <a:rPr lang="en-US" sz="1400" dirty="0">
                <a:solidFill>
                  <a:srgbClr val="000000"/>
                </a:solidFill>
                <a:latin typeface="Cascadia Mono" panose="020B0609020000020004" pitchFamily="49" charset="0"/>
              </a:rPr>
              <a:t>,       									   		Description=</a:t>
            </a:r>
            <a:r>
              <a:rPr lang="en-US" sz="1400" dirty="0">
                <a:solidFill>
                  <a:srgbClr val="A31515"/>
                </a:solidFill>
                <a:latin typeface="Cascadia Mono" panose="020B0609020000020004" pitchFamily="49" charset="0"/>
              </a:rPr>
              <a:t>"this is car"</a:t>
            </a:r>
            <a:r>
              <a:rPr lang="en-US" sz="1400" dirty="0">
                <a:solidFill>
                  <a:srgbClr val="000000"/>
                </a:solidFill>
                <a:latin typeface="Cascadia Mono" panose="020B0609020000020004" pitchFamily="49" charset="0"/>
              </a:rPr>
              <a:t>, price=45, 	quantity=14 },</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override</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async</a:t>
            </a:r>
            <a:r>
              <a:rPr lang="en-US" sz="1400" dirty="0">
                <a:solidFill>
                  <a:srgbClr val="000000"/>
                </a:solidFill>
                <a:latin typeface="Cascadia Mono" panose="020B0609020000020004" pitchFamily="49" charset="0"/>
              </a:rPr>
              <a:t> Task&lt;ProdExistResponse&gt; </a:t>
            </a:r>
            <a:r>
              <a:rPr lang="en-US" sz="1400" dirty="0" err="1">
                <a:solidFill>
                  <a:srgbClr val="000000"/>
                </a:solidFill>
                <a:latin typeface="Cascadia Mono" panose="020B0609020000020004" pitchFamily="49" charset="0"/>
              </a:rPr>
              <a:t>GetProdById</a:t>
            </a:r>
            <a:r>
              <a:rPr lang="en-US" sz="1400" dirty="0">
                <a:solidFill>
                  <a:srgbClr val="000000"/>
                </a:solidFill>
                <a:latin typeface="Cascadia Mono" panose="020B0609020000020004" pitchFamily="49" charset="0"/>
              </a:rPr>
              <a:t>(prodIdMsg request, </a:t>
            </a:r>
            <a:r>
              <a:rPr lang="en-US" sz="1400" dirty="0" err="1">
                <a:solidFill>
                  <a:srgbClr val="000000"/>
                </a:solidFill>
                <a:latin typeface="Cascadia Mono" panose="020B0609020000020004" pitchFamily="49" charset="0"/>
              </a:rPr>
              <a:t>ServerCallContext</a:t>
            </a:r>
            <a:r>
              <a:rPr lang="en-US" sz="1400" dirty="0">
                <a:solidFill>
                  <a:srgbClr val="000000"/>
                </a:solidFill>
                <a:latin typeface="Cascadia Mono" panose="020B0609020000020004" pitchFamily="49" charset="0"/>
              </a:rPr>
              <a:t> context){</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var</a:t>
            </a:r>
            <a:r>
              <a:rPr lang="en-US" sz="1400" dirty="0">
                <a:solidFill>
                  <a:srgbClr val="000000"/>
                </a:solidFill>
                <a:latin typeface="Cascadia Mono" panose="020B0609020000020004" pitchFamily="49" charset="0"/>
              </a:rPr>
              <a:t> res = </a:t>
            </a:r>
            <a:r>
              <a:rPr lang="en-US" sz="1400" dirty="0" err="1">
                <a:solidFill>
                  <a:srgbClr val="000000"/>
                </a:solidFill>
                <a:latin typeface="Cascadia Mono" panose="020B0609020000020004" pitchFamily="49" charset="0"/>
              </a:rPr>
              <a:t>products.FirstOrDefault</a:t>
            </a:r>
            <a:r>
              <a:rPr lang="en-US" sz="1400" dirty="0">
                <a:solidFill>
                  <a:srgbClr val="000000"/>
                </a:solidFill>
                <a:latin typeface="Cascadia Mono" panose="020B0609020000020004" pitchFamily="49" charset="0"/>
              </a:rPr>
              <a:t>(x =&gt; </a:t>
            </a:r>
            <a:r>
              <a:rPr lang="en-US" sz="1400" dirty="0" err="1">
                <a:solidFill>
                  <a:srgbClr val="000000"/>
                </a:solidFill>
                <a:latin typeface="Cascadia Mono" panose="020B0609020000020004" pitchFamily="49" charset="0"/>
              </a:rPr>
              <a:t>x.Id</a:t>
            </a:r>
            <a:r>
              <a:rPr lang="en-US" sz="1400" dirty="0">
                <a:solidFill>
                  <a:srgbClr val="000000"/>
                </a:solidFill>
                <a:latin typeface="Cascadia Mono" panose="020B0609020000020004" pitchFamily="49" charset="0"/>
              </a:rPr>
              <a:t> == </a:t>
            </a:r>
            <a:r>
              <a:rPr lang="en-US" sz="1400" dirty="0" err="1">
                <a:solidFill>
                  <a:srgbClr val="000000"/>
                </a:solidFill>
                <a:latin typeface="Cascadia Mono" panose="020B0609020000020004" pitchFamily="49" charset="0"/>
              </a:rPr>
              <a:t>request.ProdId</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if</a:t>
            </a:r>
            <a:r>
              <a:rPr lang="en-US" sz="1400" dirty="0">
                <a:solidFill>
                  <a:srgbClr val="000000"/>
                </a:solidFill>
                <a:latin typeface="Cascadia Mono" panose="020B0609020000020004" pitchFamily="49" charset="0"/>
              </a:rPr>
              <a:t> (res != </a:t>
            </a:r>
            <a:r>
              <a:rPr lang="en-US" sz="1400" dirty="0">
                <a:solidFill>
                  <a:srgbClr val="0000FF"/>
                </a:solidFill>
                <a:latin typeface="Cascadia Mono" panose="020B0609020000020004" pitchFamily="49" charset="0"/>
              </a:rPr>
              <a:t>null</a:t>
            </a:r>
            <a:r>
              <a:rPr lang="en-US" sz="1400" dirty="0">
                <a:solidFill>
                  <a:srgbClr val="000000"/>
                </a:solidFill>
                <a:latin typeface="Cascadia Mono" panose="020B0609020000020004" pitchFamily="49" charset="0"/>
              </a:rPr>
              <a:t>) { </a:t>
            </a:r>
            <a:r>
              <a:rPr lang="en-US" sz="1400" dirty="0">
                <a:solidFill>
                  <a:srgbClr val="0000FF"/>
                </a:solidFill>
                <a:latin typeface="Cascadia Mono" panose="020B0609020000020004" pitchFamily="49" charset="0"/>
              </a:rPr>
              <a:t>return</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await</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Task.FromResult</a:t>
            </a:r>
            <a:r>
              <a:rPr lang="en-US" sz="1400" dirty="0">
                <a:solidFill>
                  <a:srgbClr val="000000"/>
                </a:solidFill>
                <a:latin typeface="Cascadia Mono" panose="020B0609020000020004" pitchFamily="49" charset="0"/>
              </a:rPr>
              <a:t>(</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ProdExistResponse() { Exists = </a:t>
            </a:r>
            <a:r>
              <a:rPr lang="en-US" sz="1400" dirty="0">
                <a:solidFill>
                  <a:srgbClr val="0000FF"/>
                </a:solidFill>
                <a:latin typeface="Cascadia Mono" panose="020B0609020000020004" pitchFamily="49" charset="0"/>
              </a:rPr>
              <a:t>true</a:t>
            </a: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return</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await</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Task.FromResult</a:t>
            </a:r>
            <a:r>
              <a:rPr lang="en-US" sz="1400" dirty="0">
                <a:solidFill>
                  <a:srgbClr val="000000"/>
                </a:solidFill>
                <a:latin typeface="Cascadia Mono" panose="020B0609020000020004" pitchFamily="49" charset="0"/>
              </a:rPr>
              <a:t>(</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ProdExistResponse() { Exists = </a:t>
            </a:r>
            <a:r>
              <a:rPr lang="en-US" sz="1400" dirty="0">
                <a:solidFill>
                  <a:srgbClr val="0000FF"/>
                </a:solidFill>
                <a:latin typeface="Cascadia Mono" panose="020B0609020000020004" pitchFamily="49" charset="0"/>
              </a:rPr>
              <a:t>false</a:t>
            </a: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override</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async</a:t>
            </a:r>
            <a:r>
              <a:rPr lang="en-US" sz="1400" dirty="0">
                <a:solidFill>
                  <a:srgbClr val="000000"/>
                </a:solidFill>
                <a:latin typeface="Cascadia Mono" panose="020B0609020000020004" pitchFamily="49" charset="0"/>
              </a:rPr>
              <a:t> Task&lt;</a:t>
            </a:r>
            <a:r>
              <a:rPr lang="en-US" sz="1400" dirty="0" err="1">
                <a:solidFill>
                  <a:srgbClr val="000000"/>
                </a:solidFill>
                <a:latin typeface="Cascadia Mono" panose="020B0609020000020004" pitchFamily="49" charset="0"/>
              </a:rPr>
              <a:t>productMsg</a:t>
            </a:r>
            <a:r>
              <a:rPr lang="en-US" sz="1400" dirty="0">
                <a:solidFill>
                  <a:srgbClr val="000000"/>
                </a:solidFill>
                <a:latin typeface="Cascadia Mono" panose="020B0609020000020004" pitchFamily="49" charset="0"/>
              </a:rPr>
              <a:t>&gt; </a:t>
            </a:r>
            <a:r>
              <a:rPr lang="en-US" sz="1400" dirty="0" err="1">
                <a:solidFill>
                  <a:srgbClr val="000000"/>
                </a:solidFill>
                <a:latin typeface="Cascadia Mono" panose="020B0609020000020004" pitchFamily="49" charset="0"/>
              </a:rPr>
              <a:t>AddProduct</a:t>
            </a:r>
            <a:r>
              <a:rPr lang="en-US" sz="1400" dirty="0">
                <a:solidFill>
                  <a:srgbClr val="000000"/>
                </a:solidFill>
                <a:latin typeface="Cascadia Mono" panose="020B0609020000020004" pitchFamily="49" charset="0"/>
              </a:rPr>
              <a:t>(</a:t>
            </a:r>
            <a:r>
              <a:rPr lang="en-US" sz="1400" dirty="0" err="1">
                <a:solidFill>
                  <a:srgbClr val="000000"/>
                </a:solidFill>
                <a:latin typeface="Cascadia Mono" panose="020B0609020000020004" pitchFamily="49" charset="0"/>
              </a:rPr>
              <a:t>productMsg</a:t>
            </a:r>
            <a:r>
              <a:rPr lang="en-US" sz="1400" dirty="0">
                <a:solidFill>
                  <a:srgbClr val="000000"/>
                </a:solidFill>
                <a:latin typeface="Cascadia Mono" panose="020B0609020000020004" pitchFamily="49" charset="0"/>
              </a:rPr>
              <a:t> request, </a:t>
            </a:r>
            <a:r>
              <a:rPr lang="en-US" sz="1400" dirty="0" err="1">
                <a:solidFill>
                  <a:srgbClr val="000000"/>
                </a:solidFill>
                <a:latin typeface="Cascadia Mono" panose="020B0609020000020004" pitchFamily="49" charset="0"/>
              </a:rPr>
              <a:t>ServerCallContext</a:t>
            </a:r>
            <a:r>
              <a:rPr lang="en-US" sz="1400" dirty="0">
                <a:solidFill>
                  <a:srgbClr val="000000"/>
                </a:solidFill>
                <a:latin typeface="Cascadia Mono" panose="020B0609020000020004" pitchFamily="49" charset="0"/>
              </a:rPr>
              <a:t> context)</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Product </a:t>
            </a:r>
            <a:r>
              <a:rPr lang="en-US" sz="1400" dirty="0" err="1">
                <a:solidFill>
                  <a:srgbClr val="000000"/>
                </a:solidFill>
                <a:latin typeface="Cascadia Mono" panose="020B0609020000020004" pitchFamily="49" charset="0"/>
              </a:rPr>
              <a:t>newProd</a:t>
            </a:r>
            <a:r>
              <a:rPr lang="en-US" sz="1400" dirty="0">
                <a:solidFill>
                  <a:srgbClr val="000000"/>
                </a:solidFill>
                <a:latin typeface="Cascadia Mono" panose="020B0609020000020004" pitchFamily="49" charset="0"/>
              </a:rPr>
              <a:t> = </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Product(){ Id=</a:t>
            </a:r>
            <a:r>
              <a:rPr lang="en-US" sz="1400" dirty="0" err="1">
                <a:solidFill>
                  <a:srgbClr val="000000"/>
                </a:solidFill>
                <a:latin typeface="Cascadia Mono" panose="020B0609020000020004" pitchFamily="49" charset="0"/>
              </a:rPr>
              <a:t>request.ProdId,Name</a:t>
            </a:r>
            <a:r>
              <a:rPr lang="en-US" sz="1400" dirty="0">
                <a:solidFill>
                  <a:srgbClr val="000000"/>
                </a:solidFill>
                <a:latin typeface="Cascadia Mono" panose="020B0609020000020004" pitchFamily="49" charset="0"/>
              </a:rPr>
              <a:t>=</a:t>
            </a:r>
            <a:r>
              <a:rPr lang="en-US" sz="1400" dirty="0" err="1">
                <a:solidFill>
                  <a:srgbClr val="000000"/>
                </a:solidFill>
                <a:latin typeface="Cascadia Mono" panose="020B0609020000020004" pitchFamily="49" charset="0"/>
              </a:rPr>
              <a:t>request.Name</a:t>
            </a:r>
            <a:r>
              <a:rPr lang="en-US" sz="1400" dirty="0">
                <a:solidFill>
                  <a:srgbClr val="000000"/>
                </a:solidFill>
                <a:latin typeface="Cascadia Mono" panose="020B0609020000020004" pitchFamily="49" charset="0"/>
              </a:rPr>
              <a:t>, Description= </a:t>
            </a:r>
            <a:r>
              <a:rPr lang="en-US" sz="1400" dirty="0" err="1">
                <a:solidFill>
                  <a:srgbClr val="000000"/>
                </a:solidFill>
                <a:latin typeface="Cascadia Mono" panose="020B0609020000020004" pitchFamily="49" charset="0"/>
              </a:rPr>
              <a:t>request.Description</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price = </a:t>
            </a:r>
            <a:r>
              <a:rPr lang="en-US" sz="1400" dirty="0" err="1">
                <a:solidFill>
                  <a:srgbClr val="000000"/>
                </a:solidFill>
                <a:latin typeface="Cascadia Mono" panose="020B0609020000020004" pitchFamily="49" charset="0"/>
              </a:rPr>
              <a:t>request.Price,quantity</a:t>
            </a:r>
            <a:r>
              <a:rPr lang="en-US" sz="1400" dirty="0">
                <a:solidFill>
                  <a:srgbClr val="000000"/>
                </a:solidFill>
                <a:latin typeface="Cascadia Mono" panose="020B0609020000020004" pitchFamily="49" charset="0"/>
              </a:rPr>
              <a:t> = </a:t>
            </a:r>
            <a:r>
              <a:rPr lang="en-US" sz="1400" dirty="0" err="1">
                <a:solidFill>
                  <a:srgbClr val="000000"/>
                </a:solidFill>
                <a:latin typeface="Cascadia Mono" panose="020B0609020000020004" pitchFamily="49" charset="0"/>
              </a:rPr>
              <a:t>request.Quantity</a:t>
            </a: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products.Add</a:t>
            </a:r>
            <a:r>
              <a:rPr lang="en-US" sz="1400" dirty="0">
                <a:solidFill>
                  <a:srgbClr val="000000"/>
                </a:solidFill>
                <a:latin typeface="Cascadia Mono" panose="020B0609020000020004" pitchFamily="49" charset="0"/>
              </a:rPr>
              <a:t>(</a:t>
            </a:r>
            <a:r>
              <a:rPr lang="en-US" sz="1400" dirty="0" err="1">
                <a:solidFill>
                  <a:srgbClr val="000000"/>
                </a:solidFill>
                <a:latin typeface="Cascadia Mono" panose="020B0609020000020004" pitchFamily="49" charset="0"/>
              </a:rPr>
              <a:t>newProd</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return</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await</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Task.FromResult</a:t>
            </a:r>
            <a:r>
              <a:rPr lang="en-US" sz="1400" dirty="0">
                <a:solidFill>
                  <a:srgbClr val="000000"/>
                </a:solidFill>
                <a:latin typeface="Cascadia Mono" panose="020B0609020000020004" pitchFamily="49" charset="0"/>
              </a:rPr>
              <a:t>(request);</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endParaRPr lang="en-US" altLang="en-US" sz="140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F50313FA-F241-7DCE-CD5B-7E33EA8A0F49}"/>
              </a:ext>
            </a:extLst>
          </p:cNvPr>
          <p:cNvSpPr txBox="1"/>
          <p:nvPr/>
        </p:nvSpPr>
        <p:spPr>
          <a:xfrm>
            <a:off x="1055076" y="6219930"/>
            <a:ext cx="8490857" cy="369332"/>
          </a:xfrm>
          <a:prstGeom prst="rect">
            <a:avLst/>
          </a:prstGeom>
          <a:noFill/>
        </p:spPr>
        <p:txBody>
          <a:bodyPr wrap="square" rtlCol="0">
            <a:spAutoFit/>
          </a:bodyPr>
          <a:lstStyle/>
          <a:p>
            <a:r>
              <a:rPr lang="en-US" b="1" dirty="0"/>
              <a:t>Note that generated class name is </a:t>
            </a:r>
            <a:r>
              <a:rPr lang="en-US" b="1" dirty="0">
                <a:sym typeface="Wingdings" panose="05000000000000000000" pitchFamily="2" charset="2"/>
              </a:rPr>
              <a:t> </a:t>
            </a:r>
            <a:r>
              <a:rPr lang="en-US" b="1" dirty="0"/>
              <a:t> </a:t>
            </a:r>
            <a:r>
              <a:rPr lang="en-US" b="1" dirty="0" err="1">
                <a:solidFill>
                  <a:srgbClr val="00B0F0"/>
                </a:solidFill>
              </a:rPr>
              <a:t>InventoryServiceBase</a:t>
            </a:r>
            <a:endParaRPr lang="en-US" b="1" dirty="0">
              <a:solidFill>
                <a:srgbClr val="00B0F0"/>
              </a:solidFill>
            </a:endParaRPr>
          </a:p>
        </p:txBody>
      </p:sp>
    </p:spTree>
    <p:extLst>
      <p:ext uri="{BB962C8B-B14F-4D97-AF65-F5344CB8AC3E}">
        <p14:creationId xmlns:p14="http://schemas.microsoft.com/office/powerpoint/2010/main" val="1073481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E3F50-3E28-91C3-E83C-D80E755ED482}"/>
              </a:ext>
            </a:extLst>
          </p:cNvPr>
          <p:cNvSpPr>
            <a:spLocks noGrp="1"/>
          </p:cNvSpPr>
          <p:nvPr>
            <p:ph type="title"/>
          </p:nvPr>
        </p:nvSpPr>
        <p:spPr>
          <a:xfrm>
            <a:off x="838200" y="0"/>
            <a:ext cx="10515600" cy="911016"/>
          </a:xfrm>
        </p:spPr>
        <p:txBody>
          <a:bodyPr/>
          <a:lstStyle/>
          <a:p>
            <a:r>
              <a:rPr lang="en-US" dirty="0"/>
              <a:t>Step 6: inject GRPC service</a:t>
            </a:r>
          </a:p>
        </p:txBody>
      </p:sp>
      <p:sp>
        <p:nvSpPr>
          <p:cNvPr id="3" name="Content Placeholder 2">
            <a:extLst>
              <a:ext uri="{FF2B5EF4-FFF2-40B4-BE49-F238E27FC236}">
                <a16:creationId xmlns:a16="http://schemas.microsoft.com/office/drawing/2014/main" id="{821E3A53-D067-9733-FB57-93F4DF67FC46}"/>
              </a:ext>
            </a:extLst>
          </p:cNvPr>
          <p:cNvSpPr>
            <a:spLocks noGrp="1"/>
          </p:cNvSpPr>
          <p:nvPr>
            <p:ph idx="1"/>
          </p:nvPr>
        </p:nvSpPr>
        <p:spPr>
          <a:xfrm>
            <a:off x="371789" y="911016"/>
            <a:ext cx="11615895" cy="5265947"/>
          </a:xfrm>
        </p:spPr>
        <p:txBody>
          <a:bodyPr/>
          <a:lstStyle/>
          <a:p>
            <a:r>
              <a:rPr lang="en-US" dirty="0"/>
              <a:t>At server </a:t>
            </a:r>
            <a:r>
              <a:rPr lang="en-US" dirty="0" err="1"/>
              <a:t>program.cs</a:t>
            </a:r>
            <a:endParaRPr lang="en-US" dirty="0"/>
          </a:p>
          <a:p>
            <a:endParaRPr lang="en-US" dirty="0"/>
          </a:p>
          <a:p>
            <a:endParaRPr lang="en-US" dirty="0"/>
          </a:p>
          <a:p>
            <a:endParaRPr lang="en-US" dirty="0"/>
          </a:p>
          <a:p>
            <a:endParaRPr lang="en-US" dirty="0"/>
          </a:p>
          <a:p>
            <a:endParaRPr lang="en-US" dirty="0"/>
          </a:p>
          <a:p>
            <a:r>
              <a:rPr lang="en-US" dirty="0"/>
              <a:t>NOW OUR SERVER IS READY TO RECEIVE REMOTE CALL FOR THIS service</a:t>
            </a:r>
            <a:endParaRPr lang="ar-EG" dirty="0"/>
          </a:p>
          <a:p>
            <a:r>
              <a:rPr lang="en-US" dirty="0"/>
              <a:t>Each call translated to POST Request</a:t>
            </a:r>
          </a:p>
          <a:p>
            <a:endParaRPr lang="en-US" dirty="0"/>
          </a:p>
        </p:txBody>
      </p:sp>
      <p:sp>
        <p:nvSpPr>
          <p:cNvPr id="4" name="Rectangle 1">
            <a:extLst>
              <a:ext uri="{FF2B5EF4-FFF2-40B4-BE49-F238E27FC236}">
                <a16:creationId xmlns:a16="http://schemas.microsoft.com/office/drawing/2014/main" id="{1438A780-CC56-7699-F188-28400EEF9D29}"/>
              </a:ext>
            </a:extLst>
          </p:cNvPr>
          <p:cNvSpPr txBox="1">
            <a:spLocks noChangeArrowheads="1"/>
          </p:cNvSpPr>
          <p:nvPr/>
        </p:nvSpPr>
        <p:spPr bwMode="auto">
          <a:xfrm>
            <a:off x="564382" y="2162644"/>
            <a:ext cx="11063235" cy="11049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lnSpc>
                <a:spcPct val="90000"/>
              </a:lnSpc>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lnSpc>
                <a:spcPct val="90000"/>
              </a:lnSpc>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800" dirty="0" err="1">
                <a:solidFill>
                  <a:srgbClr val="000000"/>
                </a:solidFill>
                <a:latin typeface="Cascadia Mono" panose="020B0609020000020004" pitchFamily="49" charset="0"/>
              </a:rPr>
              <a:t>builder.Services.AddGrpc</a:t>
            </a:r>
            <a:r>
              <a:rPr lang="en-US" sz="1800" dirty="0">
                <a:solidFill>
                  <a:srgbClr val="000000"/>
                </a:solidFill>
                <a:latin typeface="Cascadia Mono" panose="020B0609020000020004" pitchFamily="49" charset="0"/>
              </a:rPr>
              <a:t>();</a:t>
            </a:r>
          </a:p>
          <a:p>
            <a:pPr marL="36900" indent="0">
              <a:buNone/>
            </a:pPr>
            <a:r>
              <a:rPr lang="en-US" sz="1800" dirty="0">
                <a:solidFill>
                  <a:srgbClr val="000000"/>
                </a:solidFill>
                <a:latin typeface="Cascadia Mono" panose="020B0609020000020004" pitchFamily="49" charset="0"/>
              </a:rPr>
              <a:t>//    . . . . . .</a:t>
            </a:r>
          </a:p>
          <a:p>
            <a:pPr marL="36900" indent="0">
              <a:buNone/>
            </a:pPr>
            <a:r>
              <a:rPr lang="en-US" sz="1800" dirty="0" err="1">
                <a:solidFill>
                  <a:srgbClr val="000000"/>
                </a:solidFill>
                <a:latin typeface="Cascadia Mono" panose="020B0609020000020004" pitchFamily="49" charset="0"/>
              </a:rPr>
              <a:t>app.MapGrpcService</a:t>
            </a:r>
            <a:r>
              <a:rPr lang="en-US" sz="1800" dirty="0">
                <a:solidFill>
                  <a:srgbClr val="000000"/>
                </a:solidFill>
                <a:latin typeface="Cascadia Mono" panose="020B0609020000020004" pitchFamily="49" charset="0"/>
              </a:rPr>
              <a:t>&lt;</a:t>
            </a:r>
            <a:r>
              <a:rPr lang="en-US" sz="1800" dirty="0" err="1">
                <a:solidFill>
                  <a:srgbClr val="00B0F0"/>
                </a:solidFill>
                <a:latin typeface="Cascadia Mono" panose="020B0609020000020004" pitchFamily="49" charset="0"/>
              </a:rPr>
              <a:t>MessageInventoryService</a:t>
            </a:r>
            <a:r>
              <a:rPr lang="en-US" sz="1800" dirty="0">
                <a:solidFill>
                  <a:srgbClr val="000000"/>
                </a:solidFill>
                <a:latin typeface="Cascadia Mono" panose="020B0609020000020004" pitchFamily="49" charset="0"/>
              </a:rPr>
              <a:t>&gt;();</a:t>
            </a:r>
          </a:p>
        </p:txBody>
      </p:sp>
    </p:spTree>
    <p:extLst>
      <p:ext uri="{BB962C8B-B14F-4D97-AF65-F5344CB8AC3E}">
        <p14:creationId xmlns:p14="http://schemas.microsoft.com/office/powerpoint/2010/main" val="24241153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42484-C8E5-84D8-0DB4-C35A6FF218DE}"/>
              </a:ext>
            </a:extLst>
          </p:cNvPr>
          <p:cNvSpPr>
            <a:spLocks noGrp="1"/>
          </p:cNvSpPr>
          <p:nvPr>
            <p:ph type="title"/>
          </p:nvPr>
        </p:nvSpPr>
        <p:spPr>
          <a:xfrm>
            <a:off x="838200" y="18255"/>
            <a:ext cx="10515600" cy="956435"/>
          </a:xfrm>
        </p:spPr>
        <p:txBody>
          <a:bodyPr/>
          <a:lstStyle/>
          <a:p>
            <a:r>
              <a:rPr lang="en-US" dirty="0"/>
              <a:t>Create client application WebAPI</a:t>
            </a:r>
          </a:p>
        </p:txBody>
      </p:sp>
      <p:sp>
        <p:nvSpPr>
          <p:cNvPr id="3" name="Content Placeholder 2">
            <a:extLst>
              <a:ext uri="{FF2B5EF4-FFF2-40B4-BE49-F238E27FC236}">
                <a16:creationId xmlns:a16="http://schemas.microsoft.com/office/drawing/2014/main" id="{00548146-6A54-26D7-E0A2-797D27BF1FEF}"/>
              </a:ext>
            </a:extLst>
          </p:cNvPr>
          <p:cNvSpPr>
            <a:spLocks noGrp="1"/>
          </p:cNvSpPr>
          <p:nvPr>
            <p:ph idx="1"/>
          </p:nvPr>
        </p:nvSpPr>
        <p:spPr>
          <a:xfrm>
            <a:off x="838200" y="974690"/>
            <a:ext cx="10515600" cy="5202273"/>
          </a:xfrm>
        </p:spPr>
        <p:txBody>
          <a:bodyPr>
            <a:normAutofit lnSpcReduction="10000"/>
          </a:bodyPr>
          <a:lstStyle/>
          <a:p>
            <a:r>
              <a:rPr lang="en-US" dirty="0"/>
              <a:t>Make the same proto buffer file</a:t>
            </a:r>
          </a:p>
          <a:p>
            <a:r>
              <a:rPr lang="en-US" dirty="0"/>
              <a:t> install these 3 packages to generate the client code</a:t>
            </a:r>
          </a:p>
          <a:p>
            <a:pPr lvl="1"/>
            <a:r>
              <a:rPr lang="en-US" dirty="0"/>
              <a:t>Install-package </a:t>
            </a:r>
            <a:r>
              <a:rPr lang="en-US" dirty="0" err="1"/>
              <a:t>Grpc.Tools</a:t>
            </a:r>
            <a:endParaRPr lang="en-US" dirty="0"/>
          </a:p>
          <a:p>
            <a:pPr lvl="1"/>
            <a:r>
              <a:rPr lang="en-US" dirty="0"/>
              <a:t>Install-package </a:t>
            </a:r>
            <a:r>
              <a:rPr lang="en-US" dirty="0" err="1"/>
              <a:t>Grpc.Net.Client</a:t>
            </a:r>
            <a:endParaRPr lang="en-US" dirty="0"/>
          </a:p>
          <a:p>
            <a:pPr lvl="1"/>
            <a:r>
              <a:rPr lang="en-US" dirty="0"/>
              <a:t>Install-package </a:t>
            </a:r>
            <a:r>
              <a:rPr lang="en-US" dirty="0" err="1"/>
              <a:t>Google.Protobuf</a:t>
            </a:r>
            <a:endParaRPr lang="en-US" dirty="0"/>
          </a:p>
          <a:p>
            <a:pPr lvl="1"/>
            <a:r>
              <a:rPr lang="en-US" dirty="0"/>
              <a:t>Install-Package </a:t>
            </a:r>
            <a:r>
              <a:rPr lang="en-US" dirty="0" err="1"/>
              <a:t>Grpc.Net.ClientFactory</a:t>
            </a:r>
            <a:r>
              <a:rPr lang="en-US" dirty="0"/>
              <a:t>   // to inject client</a:t>
            </a:r>
          </a:p>
          <a:p>
            <a:r>
              <a:rPr lang="en-US" dirty="0"/>
              <a:t>After installing packages go to properties of proto buffer file</a:t>
            </a:r>
          </a:p>
          <a:p>
            <a:endParaRPr lang="en-US" dirty="0"/>
          </a:p>
          <a:p>
            <a:endParaRPr lang="en-US" dirty="0"/>
          </a:p>
          <a:p>
            <a:endParaRPr lang="en-US" dirty="0"/>
          </a:p>
          <a:p>
            <a:endParaRPr lang="en-US" dirty="0"/>
          </a:p>
          <a:p>
            <a:r>
              <a:rPr lang="en-US" dirty="0"/>
              <a:t>Build the application</a:t>
            </a:r>
          </a:p>
        </p:txBody>
      </p:sp>
      <p:pic>
        <p:nvPicPr>
          <p:cNvPr id="5" name="Picture 4">
            <a:extLst>
              <a:ext uri="{FF2B5EF4-FFF2-40B4-BE49-F238E27FC236}">
                <a16:creationId xmlns:a16="http://schemas.microsoft.com/office/drawing/2014/main" id="{C49A5B48-9451-2B46-DFB8-71F5458555C8}"/>
              </a:ext>
            </a:extLst>
          </p:cNvPr>
          <p:cNvPicPr>
            <a:picLocks noChangeAspect="1"/>
          </p:cNvPicPr>
          <p:nvPr/>
        </p:nvPicPr>
        <p:blipFill>
          <a:blip r:embed="rId2"/>
          <a:stretch>
            <a:fillRect/>
          </a:stretch>
        </p:blipFill>
        <p:spPr>
          <a:xfrm>
            <a:off x="1072085" y="3837083"/>
            <a:ext cx="4581525" cy="1552575"/>
          </a:xfrm>
          <a:prstGeom prst="rect">
            <a:avLst/>
          </a:prstGeom>
        </p:spPr>
      </p:pic>
    </p:spTree>
    <p:extLst>
      <p:ext uri="{BB962C8B-B14F-4D97-AF65-F5344CB8AC3E}">
        <p14:creationId xmlns:p14="http://schemas.microsoft.com/office/powerpoint/2010/main" val="26956635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9F586-E1EB-59D3-D7EB-829E0EF83060}"/>
              </a:ext>
            </a:extLst>
          </p:cNvPr>
          <p:cNvSpPr>
            <a:spLocks noGrp="1"/>
          </p:cNvSpPr>
          <p:nvPr>
            <p:ph type="title"/>
          </p:nvPr>
        </p:nvSpPr>
        <p:spPr>
          <a:xfrm>
            <a:off x="838200" y="0"/>
            <a:ext cx="10515600" cy="941161"/>
          </a:xfrm>
        </p:spPr>
        <p:txBody>
          <a:bodyPr/>
          <a:lstStyle/>
          <a:p>
            <a:r>
              <a:rPr lang="en-US" dirty="0"/>
              <a:t>At client project</a:t>
            </a:r>
          </a:p>
        </p:txBody>
      </p:sp>
      <p:sp>
        <p:nvSpPr>
          <p:cNvPr id="3" name="Content Placeholder 2">
            <a:extLst>
              <a:ext uri="{FF2B5EF4-FFF2-40B4-BE49-F238E27FC236}">
                <a16:creationId xmlns:a16="http://schemas.microsoft.com/office/drawing/2014/main" id="{712F402D-A9DE-0499-CF78-322524A09C25}"/>
              </a:ext>
            </a:extLst>
          </p:cNvPr>
          <p:cNvSpPr>
            <a:spLocks noGrp="1"/>
          </p:cNvSpPr>
          <p:nvPr>
            <p:ph idx="1"/>
          </p:nvPr>
        </p:nvSpPr>
        <p:spPr>
          <a:xfrm>
            <a:off x="351692" y="941160"/>
            <a:ext cx="11002108" cy="5690751"/>
          </a:xfrm>
        </p:spPr>
        <p:txBody>
          <a:bodyPr/>
          <a:lstStyle/>
          <a:p>
            <a:r>
              <a:rPr lang="en-US" dirty="0"/>
              <a:t>Make channel with server</a:t>
            </a:r>
          </a:p>
          <a:p>
            <a:r>
              <a:rPr lang="en-US" dirty="0"/>
              <a:t>The naïve way</a:t>
            </a:r>
          </a:p>
          <a:p>
            <a:endParaRPr lang="en-US" dirty="0"/>
          </a:p>
          <a:p>
            <a:endParaRPr lang="en-US" dirty="0"/>
          </a:p>
          <a:p>
            <a:endParaRPr lang="en-US" dirty="0"/>
          </a:p>
          <a:p>
            <a:endParaRPr lang="en-US" dirty="0"/>
          </a:p>
          <a:p>
            <a:pPr marL="0" indent="0">
              <a:buNone/>
            </a:pPr>
            <a:endParaRPr lang="en-US" dirty="0"/>
          </a:p>
          <a:p>
            <a:endParaRPr lang="en-US" dirty="0"/>
          </a:p>
          <a:p>
            <a:endParaRPr lang="en-US" dirty="0"/>
          </a:p>
          <a:p>
            <a:r>
              <a:rPr lang="en-US" b="1" dirty="0"/>
              <a:t>Note that generated class name is </a:t>
            </a:r>
            <a:r>
              <a:rPr lang="en-US" b="1" dirty="0">
                <a:sym typeface="Wingdings" panose="05000000000000000000" pitchFamily="2" charset="2"/>
              </a:rPr>
              <a:t> </a:t>
            </a:r>
            <a:r>
              <a:rPr lang="en-US" b="1" dirty="0"/>
              <a:t> </a:t>
            </a:r>
            <a:r>
              <a:rPr lang="en-US" b="1" dirty="0" err="1">
                <a:solidFill>
                  <a:srgbClr val="00B0F0"/>
                </a:solidFill>
              </a:rPr>
              <a:t>InventoryServiceClient</a:t>
            </a:r>
            <a:endParaRPr lang="en-US" b="1" dirty="0">
              <a:solidFill>
                <a:srgbClr val="00B0F0"/>
              </a:solidFill>
            </a:endParaRPr>
          </a:p>
          <a:p>
            <a:r>
              <a:rPr lang="en-US" dirty="0"/>
              <a:t>The client can make the calling to remote service methods</a:t>
            </a:r>
          </a:p>
        </p:txBody>
      </p:sp>
      <p:sp>
        <p:nvSpPr>
          <p:cNvPr id="4" name="Rectangle 1">
            <a:extLst>
              <a:ext uri="{FF2B5EF4-FFF2-40B4-BE49-F238E27FC236}">
                <a16:creationId xmlns:a16="http://schemas.microsoft.com/office/drawing/2014/main" id="{E11BAEB9-9270-BD9D-9ED6-E33EE98A0E3E}"/>
              </a:ext>
            </a:extLst>
          </p:cNvPr>
          <p:cNvSpPr txBox="1">
            <a:spLocks noChangeArrowheads="1"/>
          </p:cNvSpPr>
          <p:nvPr/>
        </p:nvSpPr>
        <p:spPr bwMode="auto">
          <a:xfrm>
            <a:off x="612949" y="2003251"/>
            <a:ext cx="8299939" cy="31116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lnSpc>
                <a:spcPct val="90000"/>
              </a:lnSpc>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lnSpc>
                <a:spcPct val="90000"/>
              </a:lnSpc>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class</a:t>
            </a:r>
            <a:r>
              <a:rPr lang="en-US" sz="1400" dirty="0">
                <a:solidFill>
                  <a:srgbClr val="000000"/>
                </a:solidFill>
                <a:latin typeface="Cascadia Mono" panose="020B0609020000020004" pitchFamily="49" charset="0"/>
              </a:rPr>
              <a:t> </a:t>
            </a:r>
            <a:r>
              <a:rPr lang="en-US" sz="1400" dirty="0" err="1">
                <a:solidFill>
                  <a:srgbClr val="2B91AF"/>
                </a:solidFill>
                <a:latin typeface="Cascadia Mono" panose="020B0609020000020004" pitchFamily="49" charset="0"/>
              </a:rPr>
              <a:t>ProductController</a:t>
            </a:r>
            <a:r>
              <a:rPr lang="en-US" sz="1400" dirty="0">
                <a:solidFill>
                  <a:srgbClr val="000000"/>
                </a:solidFill>
                <a:latin typeface="Cascadia Mono" panose="020B0609020000020004" pitchFamily="49" charset="0"/>
              </a:rPr>
              <a:t> : ControllerBase</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private</a:t>
            </a:r>
            <a:r>
              <a:rPr lang="en-US" sz="1400" dirty="0">
                <a:solidFill>
                  <a:srgbClr val="000000"/>
                </a:solidFill>
                <a:latin typeface="Cascadia Mono" panose="020B0609020000020004" pitchFamily="49" charset="0"/>
              </a:rPr>
              <a:t> </a:t>
            </a:r>
            <a:r>
              <a:rPr lang="en-US" sz="1400" dirty="0" err="1">
                <a:solidFill>
                  <a:srgbClr val="0000FF"/>
                </a:solidFill>
                <a:latin typeface="Cascadia Mono" panose="020B0609020000020004" pitchFamily="49" charset="0"/>
              </a:rPr>
              <a:t>readonly</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GrpcChannel</a:t>
            </a:r>
            <a:r>
              <a:rPr lang="en-US" sz="1400" dirty="0">
                <a:solidFill>
                  <a:srgbClr val="000000"/>
                </a:solidFill>
                <a:latin typeface="Cascadia Mono" panose="020B0609020000020004" pitchFamily="49" charset="0"/>
              </a:rPr>
              <a:t> channel;</a:t>
            </a:r>
          </a:p>
          <a:p>
            <a:pPr marL="36900" indent="0">
              <a:buNone/>
            </a:pP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InventoryServiceClient</a:t>
            </a:r>
            <a:r>
              <a:rPr lang="en-US" sz="1400" dirty="0">
                <a:solidFill>
                  <a:srgbClr val="000000"/>
                </a:solidFill>
                <a:latin typeface="Cascadia Mono" panose="020B0609020000020004" pitchFamily="49" charset="0"/>
              </a:rPr>
              <a:t> client;</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err="1">
                <a:solidFill>
                  <a:srgbClr val="2B91AF"/>
                </a:solidFill>
                <a:latin typeface="Cascadia Mono" panose="020B0609020000020004" pitchFamily="49" charset="0"/>
              </a:rPr>
              <a:t>ProductController</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channel = </a:t>
            </a:r>
            <a:r>
              <a:rPr lang="en-US" sz="1400" dirty="0" err="1">
                <a:solidFill>
                  <a:srgbClr val="000000"/>
                </a:solidFill>
                <a:latin typeface="Cascadia Mono" panose="020B0609020000020004" pitchFamily="49" charset="0"/>
              </a:rPr>
              <a:t>GrpcChannel.ForAddress</a:t>
            </a:r>
            <a:r>
              <a:rPr lang="en-US" sz="1400" dirty="0">
                <a:solidFill>
                  <a:srgbClr val="000000"/>
                </a:solidFill>
                <a:latin typeface="Cascadia Mono" panose="020B0609020000020004" pitchFamily="49" charset="0"/>
              </a:rPr>
              <a:t>(</a:t>
            </a:r>
            <a:r>
              <a:rPr lang="en-US" sz="1400" dirty="0">
                <a:solidFill>
                  <a:srgbClr val="A31515"/>
                </a:solidFill>
                <a:latin typeface="Cascadia Mono" panose="020B0609020000020004" pitchFamily="49" charset="0"/>
              </a:rPr>
              <a:t>"https://localhost:7266"</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client = </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InventoryServiceClient</a:t>
            </a:r>
            <a:r>
              <a:rPr lang="en-US" sz="1400" dirty="0">
                <a:solidFill>
                  <a:srgbClr val="000000"/>
                </a:solidFill>
                <a:latin typeface="Cascadia Mono" panose="020B0609020000020004" pitchFamily="49" charset="0"/>
              </a:rPr>
              <a:t>(channel);</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endParaRPr lang="en-US" altLang="en-US" sz="110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314109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BB4AB-DD90-2177-75A7-81E93F382F2D}"/>
              </a:ext>
            </a:extLst>
          </p:cNvPr>
          <p:cNvSpPr>
            <a:spLocks noGrp="1"/>
          </p:cNvSpPr>
          <p:nvPr>
            <p:ph type="title"/>
          </p:nvPr>
        </p:nvSpPr>
        <p:spPr>
          <a:xfrm>
            <a:off x="838200" y="0"/>
            <a:ext cx="10515600" cy="850726"/>
          </a:xfrm>
        </p:spPr>
        <p:txBody>
          <a:bodyPr/>
          <a:lstStyle/>
          <a:p>
            <a:r>
              <a:rPr lang="en-US" dirty="0"/>
              <a:t>Inject client instead of ask </a:t>
            </a:r>
          </a:p>
        </p:txBody>
      </p:sp>
      <p:sp>
        <p:nvSpPr>
          <p:cNvPr id="3" name="Content Placeholder 2">
            <a:extLst>
              <a:ext uri="{FF2B5EF4-FFF2-40B4-BE49-F238E27FC236}">
                <a16:creationId xmlns:a16="http://schemas.microsoft.com/office/drawing/2014/main" id="{ED15F8CE-A252-9539-4348-FC9FFC2517AD}"/>
              </a:ext>
            </a:extLst>
          </p:cNvPr>
          <p:cNvSpPr>
            <a:spLocks noGrp="1"/>
          </p:cNvSpPr>
          <p:nvPr>
            <p:ph idx="1"/>
          </p:nvPr>
        </p:nvSpPr>
        <p:spPr>
          <a:xfrm>
            <a:off x="838200" y="1014883"/>
            <a:ext cx="10515600" cy="5162079"/>
          </a:xfrm>
        </p:spPr>
        <p:txBody>
          <a:bodyPr/>
          <a:lstStyle/>
          <a:p>
            <a:r>
              <a:rPr lang="en-US" dirty="0"/>
              <a:t>At </a:t>
            </a:r>
            <a:r>
              <a:rPr lang="en-US" dirty="0" err="1"/>
              <a:t>program.cs</a:t>
            </a:r>
            <a:endParaRPr lang="en-US" dirty="0"/>
          </a:p>
          <a:p>
            <a:r>
              <a:rPr lang="en-US" dirty="0"/>
              <a:t>Ensure that you install this package</a:t>
            </a:r>
          </a:p>
          <a:p>
            <a:pPr lvl="1"/>
            <a:r>
              <a:rPr lang="en-US" dirty="0"/>
              <a:t>Install-Package </a:t>
            </a:r>
            <a:r>
              <a:rPr lang="en-US" dirty="0" err="1"/>
              <a:t>Grpc.Net.ClientFactory</a:t>
            </a:r>
            <a:r>
              <a:rPr lang="en-US" dirty="0"/>
              <a:t>   // to inject client</a:t>
            </a:r>
          </a:p>
        </p:txBody>
      </p:sp>
      <p:sp>
        <p:nvSpPr>
          <p:cNvPr id="4" name="Rectangle 1">
            <a:extLst>
              <a:ext uri="{FF2B5EF4-FFF2-40B4-BE49-F238E27FC236}">
                <a16:creationId xmlns:a16="http://schemas.microsoft.com/office/drawing/2014/main" id="{36C2C893-0C13-C7A6-6952-63F04ED1B86C}"/>
              </a:ext>
            </a:extLst>
          </p:cNvPr>
          <p:cNvSpPr txBox="1">
            <a:spLocks noChangeArrowheads="1"/>
          </p:cNvSpPr>
          <p:nvPr/>
        </p:nvSpPr>
        <p:spPr bwMode="auto">
          <a:xfrm>
            <a:off x="838200" y="2551988"/>
            <a:ext cx="8747927" cy="139115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lnSpc>
                <a:spcPct val="90000"/>
              </a:lnSpc>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lnSpc>
                <a:spcPct val="90000"/>
              </a:lnSpc>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builder.Services.AddGrpcClient</a:t>
            </a:r>
            <a:r>
              <a:rPr lang="en-US" sz="1600" dirty="0">
                <a:solidFill>
                  <a:srgbClr val="000000"/>
                </a:solidFill>
                <a:latin typeface="Cascadia Mono" panose="020B0609020000020004" pitchFamily="49" charset="0"/>
              </a:rPr>
              <a:t>&lt;</a:t>
            </a:r>
            <a:r>
              <a:rPr lang="en-US" sz="1600" dirty="0" err="1">
                <a:solidFill>
                  <a:srgbClr val="000000"/>
                </a:solidFill>
                <a:latin typeface="Cascadia Mono" panose="020B0609020000020004" pitchFamily="49" charset="0"/>
              </a:rPr>
              <a:t>InventoryServiceClient</a:t>
            </a:r>
            <a:r>
              <a:rPr lang="en-US" sz="1600" dirty="0">
                <a:solidFill>
                  <a:srgbClr val="000000"/>
                </a:solidFill>
                <a:latin typeface="Cascadia Mono" panose="020B0609020000020004" pitchFamily="49" charset="0"/>
              </a:rPr>
              <a:t>&gt;(o =&gt;</a:t>
            </a:r>
          </a:p>
          <a:p>
            <a:pPr marL="36900" indent="0">
              <a:buNone/>
            </a:pPr>
            <a:r>
              <a:rPr lang="en-US" sz="1600" dirty="0">
                <a:solidFill>
                  <a:srgbClr val="000000"/>
                </a:solidFill>
                <a:latin typeface="Cascadia Mono" panose="020B0609020000020004" pitchFamily="49" charset="0"/>
              </a:rPr>
              <a:t> {</a:t>
            </a:r>
          </a:p>
          <a:p>
            <a:pPr marL="36900" indent="0">
              <a:buNone/>
            </a:pP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o.Address</a:t>
            </a:r>
            <a:r>
              <a:rPr lang="en-US" sz="1600" dirty="0">
                <a:solidFill>
                  <a:srgbClr val="000000"/>
                </a:solidFill>
                <a:latin typeface="Cascadia Mono" panose="020B0609020000020004" pitchFamily="49" charset="0"/>
              </a:rPr>
              <a:t> = </a:t>
            </a:r>
            <a:r>
              <a:rPr lang="en-US" sz="1600" dirty="0">
                <a:solidFill>
                  <a:srgbClr val="0000FF"/>
                </a:solidFill>
                <a:latin typeface="Cascadia Mono" panose="020B0609020000020004" pitchFamily="49" charset="0"/>
              </a:rPr>
              <a:t>new</a:t>
            </a:r>
            <a:r>
              <a:rPr lang="en-US" sz="1600" dirty="0">
                <a:solidFill>
                  <a:srgbClr val="000000"/>
                </a:solidFill>
                <a:latin typeface="Cascadia Mono" panose="020B0609020000020004" pitchFamily="49" charset="0"/>
              </a:rPr>
              <a:t> Uri(</a:t>
            </a:r>
            <a:r>
              <a:rPr lang="en-US" sz="1600" dirty="0">
                <a:solidFill>
                  <a:srgbClr val="A31515"/>
                </a:solidFill>
                <a:latin typeface="Cascadia Mono" panose="020B0609020000020004" pitchFamily="49" charset="0"/>
              </a:rPr>
              <a:t>"https://localhost:</a:t>
            </a:r>
            <a:r>
              <a:rPr lang="en-US" sz="1800" dirty="0">
                <a:solidFill>
                  <a:srgbClr val="A31515"/>
                </a:solidFill>
                <a:latin typeface="Cascadia Mono" panose="020B0609020000020004" pitchFamily="49" charset="0"/>
              </a:rPr>
              <a:t>7091</a:t>
            </a:r>
            <a:r>
              <a:rPr lang="en-US" sz="1600" dirty="0">
                <a:solidFill>
                  <a:srgbClr val="A31515"/>
                </a:solidFill>
                <a:latin typeface="Cascadia Mono" panose="020B0609020000020004" pitchFamily="49" charset="0"/>
              </a:rPr>
              <a:t>"</a:t>
            </a:r>
            <a:r>
              <a:rPr lang="en-US" sz="1600" dirty="0">
                <a:solidFill>
                  <a:srgbClr val="000000"/>
                </a:solidFill>
                <a:latin typeface="Cascadia Mono" panose="020B0609020000020004" pitchFamily="49" charset="0"/>
              </a:rPr>
              <a:t>);</a:t>
            </a:r>
          </a:p>
          <a:p>
            <a:pPr marL="36900" indent="0">
              <a:buNone/>
            </a:pPr>
            <a:r>
              <a:rPr lang="en-US" sz="1600" dirty="0">
                <a:solidFill>
                  <a:srgbClr val="000000"/>
                </a:solidFill>
                <a:latin typeface="Cascadia Mono" panose="020B0609020000020004" pitchFamily="49" charset="0"/>
              </a:rPr>
              <a:t> });</a:t>
            </a:r>
            <a:endParaRPr lang="en-US" altLang="en-US" sz="105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1DC6DAE2-35FF-DE2D-1BAF-2FE9D511848F}"/>
              </a:ext>
            </a:extLst>
          </p:cNvPr>
          <p:cNvSpPr txBox="1">
            <a:spLocks noChangeArrowheads="1"/>
          </p:cNvSpPr>
          <p:nvPr/>
        </p:nvSpPr>
        <p:spPr bwMode="auto">
          <a:xfrm>
            <a:off x="838200" y="4204758"/>
            <a:ext cx="8607251" cy="18558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lnSpc>
                <a:spcPct val="90000"/>
              </a:lnSpc>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lnSpc>
                <a:spcPct val="90000"/>
              </a:lnSpc>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class</a:t>
            </a:r>
            <a:r>
              <a:rPr lang="en-US" sz="1400" dirty="0">
                <a:solidFill>
                  <a:srgbClr val="000000"/>
                </a:solidFill>
                <a:latin typeface="Cascadia Mono" panose="020B0609020000020004" pitchFamily="49" charset="0"/>
              </a:rPr>
              <a:t> </a:t>
            </a:r>
            <a:r>
              <a:rPr lang="en-US" sz="1400" dirty="0" err="1">
                <a:solidFill>
                  <a:srgbClr val="2B91AF"/>
                </a:solidFill>
                <a:latin typeface="Cascadia Mono" panose="020B0609020000020004" pitchFamily="49" charset="0"/>
              </a:rPr>
              <a:t>ProductController</a:t>
            </a:r>
            <a:r>
              <a:rPr lang="en-US" sz="1400" dirty="0">
                <a:solidFill>
                  <a:srgbClr val="000000"/>
                </a:solidFill>
                <a:latin typeface="Cascadia Mono" panose="020B0609020000020004" pitchFamily="49" charset="0"/>
              </a:rPr>
              <a:t> : ControllerBase {</a:t>
            </a:r>
          </a:p>
          <a:p>
            <a:pPr marL="36900" indent="0">
              <a:buNone/>
            </a:pP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InventoryServiceClient</a:t>
            </a:r>
            <a:r>
              <a:rPr lang="en-US" sz="1400" dirty="0">
                <a:solidFill>
                  <a:srgbClr val="000000"/>
                </a:solidFill>
                <a:latin typeface="Cascadia Mono" panose="020B0609020000020004" pitchFamily="49" charset="0"/>
              </a:rPr>
              <a:t> client;</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 </a:t>
            </a:r>
            <a:r>
              <a:rPr lang="en-US" sz="1400" dirty="0" err="1">
                <a:solidFill>
                  <a:srgbClr val="2B91AF"/>
                </a:solidFill>
                <a:latin typeface="Cascadia Mono" panose="020B0609020000020004" pitchFamily="49" charset="0"/>
              </a:rPr>
              <a:t>ProductController</a:t>
            </a:r>
            <a:r>
              <a:rPr lang="en-US" sz="1400" dirty="0">
                <a:solidFill>
                  <a:srgbClr val="000000"/>
                </a:solidFill>
                <a:latin typeface="Cascadia Mono" panose="020B0609020000020004" pitchFamily="49" charset="0"/>
              </a:rPr>
              <a:t>(</a:t>
            </a:r>
            <a:r>
              <a:rPr lang="en-US" sz="1400" dirty="0" err="1">
                <a:solidFill>
                  <a:srgbClr val="000000"/>
                </a:solidFill>
                <a:latin typeface="Cascadia Mono" panose="020B0609020000020004" pitchFamily="49" charset="0"/>
              </a:rPr>
              <a:t>InventoryServiceClient</a:t>
            </a:r>
            <a:r>
              <a:rPr lang="en-US" sz="1400" dirty="0">
                <a:solidFill>
                  <a:srgbClr val="000000"/>
                </a:solidFill>
                <a:latin typeface="Cascadia Mono" panose="020B0609020000020004" pitchFamily="49" charset="0"/>
              </a:rPr>
              <a:t> _client)</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r>
              <a:rPr lang="en-US" sz="1400" dirty="0" err="1">
                <a:solidFill>
                  <a:srgbClr val="0000FF"/>
                </a:solidFill>
                <a:latin typeface="Cascadia Mono" panose="020B0609020000020004" pitchFamily="49" charset="0"/>
              </a:rPr>
              <a:t>this</a:t>
            </a:r>
            <a:r>
              <a:rPr lang="en-US" sz="1400" dirty="0" err="1">
                <a:solidFill>
                  <a:srgbClr val="000000"/>
                </a:solidFill>
                <a:latin typeface="Cascadia Mono" panose="020B0609020000020004" pitchFamily="49" charset="0"/>
              </a:rPr>
              <a:t>.client</a:t>
            </a:r>
            <a:r>
              <a:rPr lang="en-US" sz="1400" dirty="0">
                <a:solidFill>
                  <a:srgbClr val="000000"/>
                </a:solidFill>
                <a:latin typeface="Cascadia Mono" panose="020B0609020000020004" pitchFamily="49" charset="0"/>
              </a:rPr>
              <a:t> = _client;</a:t>
            </a:r>
          </a:p>
          <a:p>
            <a:pPr marL="36900" indent="0">
              <a:buNone/>
            </a:pPr>
            <a:r>
              <a:rPr lang="en-US" sz="1400" dirty="0">
                <a:solidFill>
                  <a:srgbClr val="000000"/>
                </a:solidFill>
                <a:latin typeface="Cascadia Mono" panose="020B0609020000020004" pitchFamily="49" charset="0"/>
              </a:rPr>
              <a:t>        }</a:t>
            </a:r>
            <a:endParaRPr lang="en-US" altLang="en-US" sz="140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36156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40CE7-DD2D-343C-2A63-5AE0DDCBE0AF}"/>
              </a:ext>
            </a:extLst>
          </p:cNvPr>
          <p:cNvSpPr>
            <a:spLocks noGrp="1"/>
          </p:cNvSpPr>
          <p:nvPr>
            <p:ph type="title"/>
          </p:nvPr>
        </p:nvSpPr>
        <p:spPr>
          <a:xfrm>
            <a:off x="838200" y="45167"/>
            <a:ext cx="10515600" cy="949620"/>
          </a:xfrm>
        </p:spPr>
        <p:txBody>
          <a:bodyPr>
            <a:normAutofit fontScale="90000"/>
          </a:bodyPr>
          <a:lstStyle/>
          <a:p>
            <a:r>
              <a:rPr lang="en-US" sz="4000" dirty="0"/>
              <a:t>Call methods of service existed on server using client [</a:t>
            </a:r>
            <a:r>
              <a:rPr lang="en-US" sz="4000" dirty="0" err="1"/>
              <a:t>InventoryServiceClient</a:t>
            </a:r>
            <a:r>
              <a:rPr lang="en-US" sz="4000" dirty="0"/>
              <a:t>]</a:t>
            </a:r>
          </a:p>
        </p:txBody>
      </p:sp>
      <p:sp>
        <p:nvSpPr>
          <p:cNvPr id="4" name="Rectangle 1">
            <a:extLst>
              <a:ext uri="{FF2B5EF4-FFF2-40B4-BE49-F238E27FC236}">
                <a16:creationId xmlns:a16="http://schemas.microsoft.com/office/drawing/2014/main" id="{5B521A5E-D79B-2F96-1636-78B1E5E9BEB4}"/>
              </a:ext>
            </a:extLst>
          </p:cNvPr>
          <p:cNvSpPr txBox="1">
            <a:spLocks noGrp="1" noChangeArrowheads="1"/>
          </p:cNvSpPr>
          <p:nvPr>
            <p:ph idx="1"/>
          </p:nvPr>
        </p:nvSpPr>
        <p:spPr bwMode="auto">
          <a:xfrm>
            <a:off x="3078971" y="1119417"/>
            <a:ext cx="7180385" cy="562307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lnSpc>
                <a:spcPct val="90000"/>
              </a:lnSpc>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lnSpc>
                <a:spcPct val="90000"/>
              </a:lnSpc>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HttpPost</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async</a:t>
            </a:r>
            <a:r>
              <a:rPr lang="en-US" sz="1400" dirty="0">
                <a:solidFill>
                  <a:srgbClr val="000000"/>
                </a:solidFill>
                <a:latin typeface="Cascadia Mono" panose="020B0609020000020004" pitchFamily="49" charset="0"/>
              </a:rPr>
              <a:t> Task&lt;ActionResult&gt; Post(Product product){</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var</a:t>
            </a:r>
            <a:r>
              <a:rPr lang="en-US" sz="1400" dirty="0">
                <a:solidFill>
                  <a:srgbClr val="000000"/>
                </a:solidFill>
                <a:latin typeface="Cascadia Mono" panose="020B0609020000020004" pitchFamily="49" charset="0"/>
              </a:rPr>
              <a:t> req = </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prodIdMsg() { </a:t>
            </a:r>
            <a:r>
              <a:rPr lang="en-US" sz="1400" dirty="0" err="1">
                <a:solidFill>
                  <a:srgbClr val="000000"/>
                </a:solidFill>
                <a:latin typeface="Cascadia Mono" panose="020B0609020000020004" pitchFamily="49" charset="0"/>
              </a:rPr>
              <a:t>ProdId</a:t>
            </a:r>
            <a:r>
              <a:rPr lang="en-US" sz="1400" dirty="0">
                <a:solidFill>
                  <a:srgbClr val="000000"/>
                </a:solidFill>
                <a:latin typeface="Cascadia Mono" panose="020B0609020000020004" pitchFamily="49" charset="0"/>
              </a:rPr>
              <a:t> = </a:t>
            </a:r>
            <a:r>
              <a:rPr lang="en-US" sz="1400" dirty="0" err="1">
                <a:solidFill>
                  <a:srgbClr val="000000"/>
                </a:solidFill>
                <a:latin typeface="Cascadia Mono" panose="020B0609020000020004" pitchFamily="49" charset="0"/>
              </a:rPr>
              <a:t>product.Id</a:t>
            </a: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var</a:t>
            </a:r>
            <a:r>
              <a:rPr lang="en-US" sz="1400" dirty="0">
                <a:solidFill>
                  <a:srgbClr val="000000"/>
                </a:solidFill>
                <a:latin typeface="Cascadia Mono" panose="020B0609020000020004" pitchFamily="49" charset="0"/>
              </a:rPr>
              <a:t> res = </a:t>
            </a:r>
            <a:r>
              <a:rPr lang="en-US" sz="1400" dirty="0">
                <a:solidFill>
                  <a:srgbClr val="0000FF"/>
                </a:solidFill>
                <a:latin typeface="Cascadia Mono" panose="020B0609020000020004" pitchFamily="49" charset="0"/>
              </a:rPr>
              <a:t>await</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client.GetProdByIdAsync</a:t>
            </a:r>
            <a:r>
              <a:rPr lang="en-US" sz="1400" dirty="0">
                <a:solidFill>
                  <a:srgbClr val="000000"/>
                </a:solidFill>
                <a:latin typeface="Cascadia Mono" panose="020B0609020000020004" pitchFamily="49" charset="0"/>
              </a:rPr>
              <a:t>(req);</a:t>
            </a:r>
          </a:p>
          <a:p>
            <a:pPr marL="36900" indent="0">
              <a:buNone/>
            </a:pP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productMsg</a:t>
            </a:r>
            <a:r>
              <a:rPr lang="en-US" sz="1400" dirty="0">
                <a:solidFill>
                  <a:srgbClr val="000000"/>
                </a:solidFill>
                <a:latin typeface="Cascadia Mono" panose="020B0609020000020004" pitchFamily="49" charset="0"/>
              </a:rPr>
              <a:t> prod = </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productMsg</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ProdId</a:t>
            </a:r>
            <a:r>
              <a:rPr lang="en-US" sz="1400" dirty="0">
                <a:solidFill>
                  <a:srgbClr val="000000"/>
                </a:solidFill>
                <a:latin typeface="Cascadia Mono" panose="020B0609020000020004" pitchFamily="49" charset="0"/>
              </a:rPr>
              <a:t> = </a:t>
            </a:r>
            <a:r>
              <a:rPr lang="en-US" sz="1400" dirty="0" err="1">
                <a:solidFill>
                  <a:srgbClr val="000000"/>
                </a:solidFill>
                <a:latin typeface="Cascadia Mono" panose="020B0609020000020004" pitchFamily="49" charset="0"/>
              </a:rPr>
              <a:t>product.Id</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Description = </a:t>
            </a:r>
            <a:r>
              <a:rPr lang="en-US" sz="1400" dirty="0" err="1">
                <a:solidFill>
                  <a:srgbClr val="000000"/>
                </a:solidFill>
                <a:latin typeface="Cascadia Mono" panose="020B0609020000020004" pitchFamily="49" charset="0"/>
              </a:rPr>
              <a:t>product.Description</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Name = </a:t>
            </a:r>
            <a:r>
              <a:rPr lang="en-US" sz="1400" dirty="0" err="1">
                <a:solidFill>
                  <a:srgbClr val="000000"/>
                </a:solidFill>
                <a:latin typeface="Cascadia Mono" panose="020B0609020000020004" pitchFamily="49" charset="0"/>
              </a:rPr>
              <a:t>product.Name</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Price = </a:t>
            </a:r>
            <a:r>
              <a:rPr lang="en-US" sz="1400" dirty="0" err="1">
                <a:solidFill>
                  <a:srgbClr val="000000"/>
                </a:solidFill>
                <a:latin typeface="Cascadia Mono" panose="020B0609020000020004" pitchFamily="49" charset="0"/>
              </a:rPr>
              <a:t>product.price</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Quantity = </a:t>
            </a:r>
            <a:r>
              <a:rPr lang="en-US" sz="1400" dirty="0" err="1">
                <a:solidFill>
                  <a:srgbClr val="000000"/>
                </a:solidFill>
                <a:latin typeface="Cascadia Mono" panose="020B0609020000020004" pitchFamily="49" charset="0"/>
              </a:rPr>
              <a:t>product.quantity</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if</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res.Exists</a:t>
            </a:r>
            <a:r>
              <a:rPr lang="en-US" sz="1400" dirty="0">
                <a:solidFill>
                  <a:srgbClr val="000000"/>
                </a:solidFill>
                <a:latin typeface="Cascadia Mono" panose="020B0609020000020004" pitchFamily="49" charset="0"/>
              </a:rPr>
              <a:t> == </a:t>
            </a:r>
            <a:r>
              <a:rPr lang="en-US" sz="1400" dirty="0">
                <a:solidFill>
                  <a:srgbClr val="0000FF"/>
                </a:solidFill>
                <a:latin typeface="Cascadia Mono" panose="020B0609020000020004" pitchFamily="49" charset="0"/>
              </a:rPr>
              <a:t>true</a:t>
            </a: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await</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client.UpdateProductAsync</a:t>
            </a:r>
            <a:r>
              <a:rPr lang="en-US" sz="1400" dirty="0">
                <a:solidFill>
                  <a:srgbClr val="000000"/>
                </a:solidFill>
                <a:latin typeface="Cascadia Mono" panose="020B0609020000020004" pitchFamily="49" charset="0"/>
              </a:rPr>
              <a:t>(prod);</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return</a:t>
            </a:r>
            <a:r>
              <a:rPr lang="en-US" sz="1400" dirty="0">
                <a:solidFill>
                  <a:srgbClr val="000000"/>
                </a:solidFill>
                <a:latin typeface="Cascadia Mono" panose="020B0609020000020004" pitchFamily="49" charset="0"/>
              </a:rPr>
              <a:t> Created(</a:t>
            </a:r>
            <a:r>
              <a:rPr lang="en-US" sz="1400" dirty="0">
                <a:solidFill>
                  <a:srgbClr val="A31515"/>
                </a:solidFill>
                <a:latin typeface="Cascadia Mono" panose="020B0609020000020004" pitchFamily="49" charset="0"/>
              </a:rPr>
              <a:t>"product updated successfully"</a:t>
            </a:r>
            <a:r>
              <a:rPr lang="en-US" sz="1400" dirty="0">
                <a:solidFill>
                  <a:srgbClr val="000000"/>
                </a:solidFill>
                <a:latin typeface="Cascadia Mono" panose="020B0609020000020004" pitchFamily="49" charset="0"/>
              </a:rPr>
              <a:t>, product);</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await</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client.AddProductAsync</a:t>
            </a:r>
            <a:r>
              <a:rPr lang="en-US" sz="1400" dirty="0">
                <a:solidFill>
                  <a:srgbClr val="000000"/>
                </a:solidFill>
                <a:latin typeface="Cascadia Mono" panose="020B0609020000020004" pitchFamily="49" charset="0"/>
              </a:rPr>
              <a:t>(prod);</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return</a:t>
            </a:r>
            <a:r>
              <a:rPr lang="en-US" sz="1400" dirty="0">
                <a:solidFill>
                  <a:srgbClr val="000000"/>
                </a:solidFill>
                <a:latin typeface="Cascadia Mono" panose="020B0609020000020004" pitchFamily="49" charset="0"/>
              </a:rPr>
              <a:t> Ok(product);</a:t>
            </a:r>
          </a:p>
          <a:p>
            <a:pPr marL="36900" indent="0">
              <a:buNone/>
            </a:pPr>
            <a:r>
              <a:rPr lang="en-US" sz="1400" dirty="0">
                <a:solidFill>
                  <a:srgbClr val="000000"/>
                </a:solidFill>
                <a:latin typeface="Cascadia Mono" panose="020B0609020000020004" pitchFamily="49" charset="0"/>
              </a:rPr>
              <a:t>  }</a:t>
            </a:r>
            <a:endParaRPr lang="en-US" altLang="en-US" sz="90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330220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66DFC-532F-8509-4065-7C27F68E01E3}"/>
              </a:ext>
            </a:extLst>
          </p:cNvPr>
          <p:cNvSpPr>
            <a:spLocks noGrp="1"/>
          </p:cNvSpPr>
          <p:nvPr>
            <p:ph type="title"/>
          </p:nvPr>
        </p:nvSpPr>
        <p:spPr>
          <a:xfrm>
            <a:off x="838200" y="0"/>
            <a:ext cx="10515600" cy="681037"/>
          </a:xfrm>
        </p:spPr>
        <p:txBody>
          <a:bodyPr>
            <a:normAutofit fontScale="90000"/>
          </a:bodyPr>
          <a:lstStyle/>
          <a:p>
            <a:r>
              <a:rPr lang="en-US" dirty="0"/>
              <a:t>The difference between JSON &amp; XML &amp; Buffer</a:t>
            </a:r>
          </a:p>
        </p:txBody>
      </p:sp>
      <p:graphicFrame>
        <p:nvGraphicFramePr>
          <p:cNvPr id="4" name="Content Placeholder 3">
            <a:extLst>
              <a:ext uri="{FF2B5EF4-FFF2-40B4-BE49-F238E27FC236}">
                <a16:creationId xmlns:a16="http://schemas.microsoft.com/office/drawing/2014/main" id="{0AF35D18-AE4E-4F74-4381-4357512B84FD}"/>
              </a:ext>
            </a:extLst>
          </p:cNvPr>
          <p:cNvGraphicFramePr>
            <a:graphicFrameLocks noGrp="1"/>
          </p:cNvGraphicFramePr>
          <p:nvPr>
            <p:ph idx="1"/>
            <p:extLst>
              <p:ext uri="{D42A27DB-BD31-4B8C-83A1-F6EECF244321}">
                <p14:modId xmlns:p14="http://schemas.microsoft.com/office/powerpoint/2010/main" val="3991068176"/>
              </p:ext>
            </p:extLst>
          </p:nvPr>
        </p:nvGraphicFramePr>
        <p:xfrm>
          <a:off x="190919" y="931321"/>
          <a:ext cx="11847006" cy="4130034"/>
        </p:xfrm>
        <a:graphic>
          <a:graphicData uri="http://schemas.openxmlformats.org/drawingml/2006/table">
            <a:tbl>
              <a:tblPr firstRow="1" bandRow="1">
                <a:tableStyleId>{5C22544A-7EE6-4342-B048-85BDC9FD1C3A}</a:tableStyleId>
              </a:tblPr>
              <a:tblGrid>
                <a:gridCol w="2137026">
                  <a:extLst>
                    <a:ext uri="{9D8B030D-6E8A-4147-A177-3AD203B41FA5}">
                      <a16:colId xmlns:a16="http://schemas.microsoft.com/office/drawing/2014/main" val="110575728"/>
                    </a:ext>
                  </a:extLst>
                </a:gridCol>
                <a:gridCol w="3153668">
                  <a:extLst>
                    <a:ext uri="{9D8B030D-6E8A-4147-A177-3AD203B41FA5}">
                      <a16:colId xmlns:a16="http://schemas.microsoft.com/office/drawing/2014/main" val="2804822475"/>
                    </a:ext>
                  </a:extLst>
                </a:gridCol>
                <a:gridCol w="3205537">
                  <a:extLst>
                    <a:ext uri="{9D8B030D-6E8A-4147-A177-3AD203B41FA5}">
                      <a16:colId xmlns:a16="http://schemas.microsoft.com/office/drawing/2014/main" val="1196736083"/>
                    </a:ext>
                  </a:extLst>
                </a:gridCol>
                <a:gridCol w="3350775">
                  <a:extLst>
                    <a:ext uri="{9D8B030D-6E8A-4147-A177-3AD203B41FA5}">
                      <a16:colId xmlns:a16="http://schemas.microsoft.com/office/drawing/2014/main" val="2548388214"/>
                    </a:ext>
                  </a:extLst>
                </a:gridCol>
              </a:tblGrid>
              <a:tr h="558825">
                <a:tc>
                  <a:txBody>
                    <a:bodyPr/>
                    <a:lstStyle/>
                    <a:p>
                      <a:pPr algn="ctr"/>
                      <a:r>
                        <a:rPr lang="en-US" sz="2000" dirty="0"/>
                        <a:t>feature</a:t>
                      </a:r>
                    </a:p>
                  </a:txBody>
                  <a:tcPr/>
                </a:tc>
                <a:tc>
                  <a:txBody>
                    <a:bodyPr/>
                    <a:lstStyle/>
                    <a:p>
                      <a:pPr algn="ctr"/>
                      <a:r>
                        <a:rPr lang="en-US" sz="2000" dirty="0"/>
                        <a:t>JSON</a:t>
                      </a:r>
                    </a:p>
                  </a:txBody>
                  <a:tcPr/>
                </a:tc>
                <a:tc>
                  <a:txBody>
                    <a:bodyPr/>
                    <a:lstStyle/>
                    <a:p>
                      <a:pPr algn="ctr"/>
                      <a:r>
                        <a:rPr lang="en-US" sz="2000" dirty="0"/>
                        <a:t>XML</a:t>
                      </a:r>
                    </a:p>
                  </a:txBody>
                  <a:tcPr/>
                </a:tc>
                <a:tc>
                  <a:txBody>
                    <a:bodyPr/>
                    <a:lstStyle/>
                    <a:p>
                      <a:pPr algn="ctr"/>
                      <a:r>
                        <a:rPr lang="en-US" sz="2000" b="1" i="0" kern="1200" dirty="0" err="1">
                          <a:solidFill>
                            <a:schemeClr val="lt1"/>
                          </a:solidFill>
                          <a:effectLst/>
                          <a:latin typeface="+mn-lt"/>
                          <a:ea typeface="+mn-ea"/>
                          <a:cs typeface="+mn-cs"/>
                        </a:rPr>
                        <a:t>Protobuf</a:t>
                      </a:r>
                      <a:endParaRPr lang="en-US" sz="2000" b="1" i="0" kern="1200" dirty="0">
                        <a:solidFill>
                          <a:schemeClr val="lt1"/>
                        </a:solidFill>
                        <a:effectLst/>
                        <a:latin typeface="+mn-lt"/>
                        <a:ea typeface="+mn-ea"/>
                        <a:cs typeface="+mn-cs"/>
                      </a:endParaRPr>
                    </a:p>
                  </a:txBody>
                  <a:tcPr/>
                </a:tc>
                <a:extLst>
                  <a:ext uri="{0D108BD9-81ED-4DB2-BD59-A6C34878D82A}">
                    <a16:rowId xmlns:a16="http://schemas.microsoft.com/office/drawing/2014/main" val="1644691476"/>
                  </a:ext>
                </a:extLst>
              </a:tr>
              <a:tr h="447726">
                <a:tc>
                  <a:txBody>
                    <a:bodyPr/>
                    <a:lstStyle/>
                    <a:p>
                      <a:r>
                        <a:rPr lang="en-US" sz="1800" b="1" i="0" kern="1200" dirty="0">
                          <a:solidFill>
                            <a:schemeClr val="dk1"/>
                          </a:solidFill>
                          <a:effectLst/>
                          <a:latin typeface="+mn-lt"/>
                          <a:ea typeface="+mn-ea"/>
                          <a:cs typeface="+mn-cs"/>
                        </a:rPr>
                        <a:t>Stands for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JavaScript Object Notation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err="1">
                          <a:solidFill>
                            <a:schemeClr val="dk1"/>
                          </a:solidFill>
                          <a:effectLst/>
                          <a:latin typeface="+mn-lt"/>
                          <a:ea typeface="+mn-ea"/>
                          <a:cs typeface="+mn-cs"/>
                        </a:rPr>
                        <a:t>eXtensible</a:t>
                      </a:r>
                      <a:r>
                        <a:rPr lang="en-US" sz="1800" b="1" i="0" kern="1200" dirty="0">
                          <a:solidFill>
                            <a:schemeClr val="dk1"/>
                          </a:solidFill>
                          <a:effectLst/>
                          <a:latin typeface="+mn-lt"/>
                          <a:ea typeface="+mn-ea"/>
                          <a:cs typeface="+mn-cs"/>
                        </a:rPr>
                        <a:t> Markup Language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Protocol Buffers</a:t>
                      </a:r>
                    </a:p>
                  </a:txBody>
                  <a:tcPr/>
                </a:tc>
                <a:extLst>
                  <a:ext uri="{0D108BD9-81ED-4DB2-BD59-A6C34878D82A}">
                    <a16:rowId xmlns:a16="http://schemas.microsoft.com/office/drawing/2014/main" val="131217268"/>
                  </a:ext>
                </a:extLst>
              </a:tr>
              <a:tr h="523001">
                <a:tc>
                  <a:txBody>
                    <a:bodyPr/>
                    <a:lstStyle/>
                    <a:p>
                      <a:r>
                        <a:rPr lang="en-US" sz="1800" b="1" i="0" kern="1200" dirty="0">
                          <a:solidFill>
                            <a:schemeClr val="dk1"/>
                          </a:solidFill>
                          <a:effectLst/>
                          <a:latin typeface="+mn-lt"/>
                          <a:ea typeface="+mn-ea"/>
                          <a:cs typeface="+mn-cs"/>
                        </a:rPr>
                        <a:t>Structure</a:t>
                      </a:r>
                    </a:p>
                  </a:txBody>
                  <a:tcPr/>
                </a:tc>
                <a:tc>
                  <a:txBody>
                    <a:bodyPr/>
                    <a:lstStyle/>
                    <a:p>
                      <a:r>
                        <a:rPr lang="en-US" sz="1800" b="1" i="0" kern="1200" dirty="0">
                          <a:solidFill>
                            <a:schemeClr val="dk1"/>
                          </a:solidFill>
                          <a:effectLst/>
                          <a:latin typeface="+mn-lt"/>
                          <a:ea typeface="+mn-ea"/>
                          <a:cs typeface="+mn-cs"/>
                        </a:rPr>
                        <a:t>Based on key-value pairs</a:t>
                      </a:r>
                    </a:p>
                  </a:txBody>
                  <a:tcPr/>
                </a:tc>
                <a:tc>
                  <a:txBody>
                    <a:bodyPr/>
                    <a:lstStyle/>
                    <a:p>
                      <a:pPr marL="0" algn="l" defTabSz="914400" rtl="0" eaLnBrk="1" latinLnBrk="0" hangingPunct="1"/>
                      <a:r>
                        <a:rPr lang="en-US" sz="1800" b="1" i="0" kern="1200" dirty="0">
                          <a:solidFill>
                            <a:schemeClr val="dk1"/>
                          </a:solidFill>
                          <a:effectLst/>
                          <a:latin typeface="+mn-lt"/>
                          <a:ea typeface="+mn-ea"/>
                          <a:cs typeface="+mn-cs"/>
                        </a:rPr>
                        <a:t>Tag-based </a:t>
                      </a:r>
                    </a:p>
                  </a:txBody>
                  <a:tcPr/>
                </a:tc>
                <a:tc>
                  <a:txBody>
                    <a:bodyPr/>
                    <a:lstStyle/>
                    <a:p>
                      <a:r>
                        <a:rPr lang="en-US" sz="1800" b="1" i="0" kern="1200" dirty="0">
                          <a:solidFill>
                            <a:schemeClr val="dk1"/>
                          </a:solidFill>
                          <a:effectLst/>
                          <a:latin typeface="+mn-lt"/>
                          <a:ea typeface="+mn-ea"/>
                          <a:cs typeface="+mn-cs"/>
                        </a:rPr>
                        <a:t>Compact binary with schema</a:t>
                      </a:r>
                    </a:p>
                  </a:txBody>
                  <a:tcPr/>
                </a:tc>
                <a:extLst>
                  <a:ext uri="{0D108BD9-81ED-4DB2-BD59-A6C34878D82A}">
                    <a16:rowId xmlns:a16="http://schemas.microsoft.com/office/drawing/2014/main" val="76190088"/>
                  </a:ext>
                </a:extLst>
              </a:tr>
              <a:tr h="523001">
                <a:tc>
                  <a:txBody>
                    <a:bodyPr/>
                    <a:lstStyle/>
                    <a:p>
                      <a:r>
                        <a:rPr lang="en-US" sz="1800" b="1" i="0" kern="1200" dirty="0">
                          <a:solidFill>
                            <a:schemeClr val="dk1"/>
                          </a:solidFill>
                          <a:effectLst/>
                          <a:latin typeface="+mn-lt"/>
                          <a:ea typeface="+mn-ea"/>
                          <a:cs typeface="+mn-cs"/>
                        </a:rPr>
                        <a:t>Usage</a:t>
                      </a:r>
                    </a:p>
                  </a:txBody>
                  <a:tcPr/>
                </a:tc>
                <a:tc>
                  <a:txBody>
                    <a:bodyPr/>
                    <a:lstStyle/>
                    <a:p>
                      <a:r>
                        <a:rPr lang="en-US" sz="1800" b="1" i="0" kern="1200" dirty="0">
                          <a:solidFill>
                            <a:schemeClr val="dk1"/>
                          </a:solidFill>
                          <a:effectLst/>
                          <a:latin typeface="+mn-lt"/>
                          <a:ea typeface="+mn-ea"/>
                          <a:cs typeface="+mn-cs"/>
                        </a:rPr>
                        <a:t>Web APIs, </a:t>
                      </a:r>
                    </a:p>
                  </a:txBody>
                  <a:tcPr/>
                </a:tc>
                <a:tc>
                  <a:txBody>
                    <a:bodyPr/>
                    <a:lstStyle/>
                    <a:p>
                      <a:pPr marL="0" algn="l" defTabSz="914400" rtl="0" eaLnBrk="1" latinLnBrk="0" hangingPunct="1"/>
                      <a:r>
                        <a:rPr lang="en-US" sz="1800" b="1" i="0" kern="1200" dirty="0">
                          <a:solidFill>
                            <a:schemeClr val="dk1"/>
                          </a:solidFill>
                          <a:effectLst/>
                          <a:latin typeface="+mn-lt"/>
                          <a:ea typeface="+mn-ea"/>
                          <a:cs typeface="+mn-cs"/>
                        </a:rPr>
                        <a:t>Enterprise systems</a:t>
                      </a:r>
                    </a:p>
                  </a:txBody>
                  <a:tcPr/>
                </a:tc>
                <a:tc>
                  <a:txBody>
                    <a:bodyPr/>
                    <a:lstStyle/>
                    <a:p>
                      <a:r>
                        <a:rPr lang="en-US" sz="1800" b="1" i="0" kern="1200" dirty="0">
                          <a:solidFill>
                            <a:schemeClr val="dk1"/>
                          </a:solidFill>
                          <a:effectLst/>
                          <a:latin typeface="+mn-lt"/>
                          <a:ea typeface="+mn-ea"/>
                          <a:cs typeface="+mn-cs"/>
                        </a:rPr>
                        <a:t>service communication</a:t>
                      </a:r>
                    </a:p>
                  </a:txBody>
                  <a:tcPr/>
                </a:tc>
                <a:extLst>
                  <a:ext uri="{0D108BD9-81ED-4DB2-BD59-A6C34878D82A}">
                    <a16:rowId xmlns:a16="http://schemas.microsoft.com/office/drawing/2014/main" val="1960166711"/>
                  </a:ext>
                </a:extLst>
              </a:tr>
              <a:tr h="523001">
                <a:tc>
                  <a:txBody>
                    <a:bodyPr/>
                    <a:lstStyle/>
                    <a:p>
                      <a:r>
                        <a:rPr lang="en-US" sz="1800" b="1" i="0" kern="1200" dirty="0">
                          <a:solidFill>
                            <a:schemeClr val="dk1"/>
                          </a:solidFill>
                          <a:effectLst/>
                          <a:latin typeface="+mn-lt"/>
                          <a:ea typeface="+mn-ea"/>
                          <a:cs typeface="+mn-cs"/>
                        </a:rPr>
                        <a:t>Pros</a:t>
                      </a:r>
                    </a:p>
                  </a:txBody>
                  <a:tcPr/>
                </a:tc>
                <a:tc>
                  <a:txBody>
                    <a:bodyPr/>
                    <a:lstStyle/>
                    <a:p>
                      <a:pPr marL="285750" indent="-285750">
                        <a:buFont typeface="Arial" panose="020B0604020202020204" pitchFamily="34" charset="0"/>
                        <a:buChar char="•"/>
                      </a:pPr>
                      <a:r>
                        <a:rPr lang="en-US" sz="1800" b="1" i="0" kern="1200" dirty="0">
                          <a:solidFill>
                            <a:schemeClr val="dk1"/>
                          </a:solidFill>
                          <a:effectLst/>
                          <a:latin typeface="+mn-lt"/>
                          <a:ea typeface="+mn-ea"/>
                          <a:cs typeface="+mn-cs"/>
                        </a:rPr>
                        <a:t>Readable</a:t>
                      </a:r>
                    </a:p>
                  </a:txBody>
                  <a:tcPr/>
                </a:tc>
                <a:tc>
                  <a:txBody>
                    <a:bodyPr/>
                    <a:lstStyle/>
                    <a:p>
                      <a:pPr marL="0" algn="l" defTabSz="914400" rtl="0" eaLnBrk="1" latinLnBrk="0" hangingPunct="1"/>
                      <a:r>
                        <a:rPr lang="en-US" dirty="0"/>
                        <a:t>Flexible,</a:t>
                      </a:r>
                    </a:p>
                    <a:p>
                      <a:pPr marL="0" algn="l" defTabSz="914400" rtl="0" eaLnBrk="1" latinLnBrk="0" hangingPunct="1"/>
                      <a:r>
                        <a:rPr lang="en-US" dirty="0"/>
                        <a:t>extensible</a:t>
                      </a:r>
                      <a:endParaRPr lang="en-US" sz="1800" b="1" i="0" kern="1200" dirty="0">
                        <a:solidFill>
                          <a:schemeClr val="dk1"/>
                        </a:solidFill>
                        <a:effectLst/>
                        <a:latin typeface="+mn-lt"/>
                        <a:ea typeface="+mn-ea"/>
                        <a:cs typeface="+mn-cs"/>
                      </a:endParaRPr>
                    </a:p>
                  </a:txBody>
                  <a:tcPr/>
                </a:tc>
                <a:tc>
                  <a:txBody>
                    <a:bodyPr/>
                    <a:lstStyle/>
                    <a:p>
                      <a:pPr marL="285750" indent="-285750">
                        <a:buFont typeface="Arial" panose="020B0604020202020204" pitchFamily="34" charset="0"/>
                        <a:buChar char="•"/>
                      </a:pPr>
                      <a:r>
                        <a:rPr lang="en-US" sz="1800" b="1" i="0" kern="1200" dirty="0">
                          <a:solidFill>
                            <a:schemeClr val="dk1"/>
                          </a:solidFill>
                          <a:effectLst/>
                          <a:latin typeface="+mn-lt"/>
                          <a:ea typeface="+mn-ea"/>
                          <a:cs typeface="+mn-cs"/>
                        </a:rPr>
                        <a:t>Efficiency (size, speed)</a:t>
                      </a:r>
                    </a:p>
                    <a:p>
                      <a:pPr marL="285750" indent="-285750">
                        <a:buFont typeface="Arial" panose="020B0604020202020204" pitchFamily="34" charset="0"/>
                        <a:buChar char="•"/>
                      </a:pPr>
                      <a:r>
                        <a:rPr lang="en-US" sz="1800" b="1" i="0" kern="1200" dirty="0">
                          <a:solidFill>
                            <a:schemeClr val="dk1"/>
                          </a:solidFill>
                          <a:effectLst/>
                          <a:latin typeface="+mn-lt"/>
                          <a:ea typeface="+mn-ea"/>
                          <a:cs typeface="+mn-cs"/>
                        </a:rPr>
                        <a:t>language-agnostic </a:t>
                      </a:r>
                    </a:p>
                    <a:p>
                      <a:pPr marL="285750" indent="-285750">
                        <a:buFont typeface="Arial" panose="020B0604020202020204" pitchFamily="34" charset="0"/>
                        <a:buChar char="•"/>
                      </a:pPr>
                      <a:r>
                        <a:rPr lang="en-US" sz="1800" b="1" i="0" kern="1200" dirty="0">
                          <a:solidFill>
                            <a:schemeClr val="dk1"/>
                          </a:solidFill>
                          <a:effectLst/>
                          <a:latin typeface="+mn-lt"/>
                          <a:ea typeface="+mn-ea"/>
                          <a:cs typeface="+mn-cs"/>
                        </a:rPr>
                        <a:t>high-performance</a:t>
                      </a:r>
                    </a:p>
                  </a:txBody>
                  <a:tcPr/>
                </a:tc>
                <a:extLst>
                  <a:ext uri="{0D108BD9-81ED-4DB2-BD59-A6C34878D82A}">
                    <a16:rowId xmlns:a16="http://schemas.microsoft.com/office/drawing/2014/main" val="1917471086"/>
                  </a:ext>
                </a:extLst>
              </a:tr>
              <a:tr h="523001">
                <a:tc>
                  <a:txBody>
                    <a:bodyPr/>
                    <a:lstStyle/>
                    <a:p>
                      <a:r>
                        <a:rPr lang="en-US" sz="1800" b="1" i="0" kern="1200" dirty="0">
                          <a:solidFill>
                            <a:schemeClr val="dk1"/>
                          </a:solidFill>
                          <a:effectLst/>
                          <a:latin typeface="+mn-lt"/>
                          <a:ea typeface="+mn-ea"/>
                          <a:cs typeface="+mn-cs"/>
                        </a:rPr>
                        <a:t>cons</a:t>
                      </a:r>
                    </a:p>
                  </a:txBody>
                  <a:tcPr/>
                </a:tc>
                <a:tc>
                  <a:txBody>
                    <a:bodyPr/>
                    <a:lstStyle/>
                    <a:p>
                      <a:r>
                        <a:rPr lang="en-US" sz="1800" b="1" i="0" kern="1200" dirty="0">
                          <a:solidFill>
                            <a:schemeClr val="dk1"/>
                          </a:solidFill>
                          <a:effectLst/>
                          <a:latin typeface="+mn-lt"/>
                          <a:ea typeface="+mn-ea"/>
                          <a:cs typeface="+mn-cs"/>
                        </a:rPr>
                        <a:t>Limited Data Types</a:t>
                      </a:r>
                    </a:p>
                  </a:txBody>
                  <a:tcPr/>
                </a:tc>
                <a:tc>
                  <a:txBody>
                    <a:bodyPr/>
                    <a:lstStyle/>
                    <a:p>
                      <a:pPr marL="0" algn="l" defTabSz="914400" rtl="0" eaLnBrk="1" latinLnBrk="0" hangingPunct="1"/>
                      <a:r>
                        <a:rPr lang="en-US" sz="1800" b="1" i="0" kern="1200" dirty="0">
                          <a:solidFill>
                            <a:schemeClr val="dk1"/>
                          </a:solidFill>
                          <a:effectLst/>
                          <a:latin typeface="+mn-lt"/>
                          <a:ea typeface="+mn-ea"/>
                          <a:cs typeface="+mn-cs"/>
                        </a:rPr>
                        <a:t>Verbose</a:t>
                      </a:r>
                    </a:p>
                  </a:txBody>
                  <a:tcPr/>
                </a:tc>
                <a:tc>
                  <a:txBody>
                    <a:bodyPr/>
                    <a:lstStyle/>
                    <a:p>
                      <a:r>
                        <a:rPr lang="en-US" sz="1800" b="1" i="0" kern="1200" dirty="0">
                          <a:solidFill>
                            <a:schemeClr val="dk1"/>
                          </a:solidFill>
                          <a:effectLst/>
                          <a:latin typeface="+mn-lt"/>
                          <a:ea typeface="+mn-ea"/>
                          <a:cs typeface="+mn-cs"/>
                        </a:rPr>
                        <a:t>not Human-Readable</a:t>
                      </a:r>
                    </a:p>
                    <a:p>
                      <a:r>
                        <a:rPr lang="en-US" sz="1800" b="1" i="0" kern="1200" dirty="0">
                          <a:solidFill>
                            <a:schemeClr val="dk1"/>
                          </a:solidFill>
                          <a:effectLst/>
                          <a:latin typeface="+mn-lt"/>
                          <a:ea typeface="+mn-ea"/>
                          <a:cs typeface="+mn-cs"/>
                        </a:rPr>
                        <a:t>Schema Dependency</a:t>
                      </a:r>
                    </a:p>
                  </a:txBody>
                  <a:tcPr/>
                </a:tc>
                <a:extLst>
                  <a:ext uri="{0D108BD9-81ED-4DB2-BD59-A6C34878D82A}">
                    <a16:rowId xmlns:a16="http://schemas.microsoft.com/office/drawing/2014/main" val="2650624100"/>
                  </a:ext>
                </a:extLst>
              </a:tr>
              <a:tr h="523001">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900487050"/>
                  </a:ext>
                </a:extLst>
              </a:tr>
            </a:tbl>
          </a:graphicData>
        </a:graphic>
      </p:graphicFrame>
      <p:sp>
        <p:nvSpPr>
          <p:cNvPr id="5" name="TextBox 4">
            <a:extLst>
              <a:ext uri="{FF2B5EF4-FFF2-40B4-BE49-F238E27FC236}">
                <a16:creationId xmlns:a16="http://schemas.microsoft.com/office/drawing/2014/main" id="{B3909B69-D5AC-1A48-F718-D2AFB1CF8481}"/>
              </a:ext>
            </a:extLst>
          </p:cNvPr>
          <p:cNvSpPr txBox="1"/>
          <p:nvPr/>
        </p:nvSpPr>
        <p:spPr>
          <a:xfrm>
            <a:off x="753626" y="5034224"/>
            <a:ext cx="9696660" cy="646331"/>
          </a:xfrm>
          <a:prstGeom prst="rect">
            <a:avLst/>
          </a:prstGeom>
          <a:noFill/>
        </p:spPr>
        <p:txBody>
          <a:bodyPr wrap="square" rtlCol="0">
            <a:spAutoFit/>
          </a:bodyPr>
          <a:lstStyle/>
          <a:p>
            <a:r>
              <a:rPr lang="en-US" b="1" dirty="0"/>
              <a:t>Verbose</a:t>
            </a:r>
            <a:r>
              <a:rPr lang="en-US" dirty="0"/>
              <a:t>: A verbose format means it includes a lot of additional information, often making it larger in size and potentially harder to read or process quickly.</a:t>
            </a:r>
          </a:p>
        </p:txBody>
      </p:sp>
    </p:spTree>
    <p:extLst>
      <p:ext uri="{BB962C8B-B14F-4D97-AF65-F5344CB8AC3E}">
        <p14:creationId xmlns:p14="http://schemas.microsoft.com/office/powerpoint/2010/main" val="28968967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AF35D18-AE4E-4F74-4381-4357512B84FD}"/>
              </a:ext>
            </a:extLst>
          </p:cNvPr>
          <p:cNvGraphicFramePr>
            <a:graphicFrameLocks noGrp="1"/>
          </p:cNvGraphicFramePr>
          <p:nvPr>
            <p:ph idx="1"/>
            <p:extLst>
              <p:ext uri="{D42A27DB-BD31-4B8C-83A1-F6EECF244321}">
                <p14:modId xmlns:p14="http://schemas.microsoft.com/office/powerpoint/2010/main" val="906344686"/>
              </p:ext>
            </p:extLst>
          </p:nvPr>
        </p:nvGraphicFramePr>
        <p:xfrm>
          <a:off x="202642" y="2"/>
          <a:ext cx="11786716" cy="6826148"/>
        </p:xfrm>
        <a:graphic>
          <a:graphicData uri="http://schemas.openxmlformats.org/drawingml/2006/table">
            <a:tbl>
              <a:tblPr firstRow="1" bandRow="1">
                <a:tableStyleId>{5C22544A-7EE6-4342-B048-85BDC9FD1C3A}</a:tableStyleId>
              </a:tblPr>
              <a:tblGrid>
                <a:gridCol w="1340112">
                  <a:extLst>
                    <a:ext uri="{9D8B030D-6E8A-4147-A177-3AD203B41FA5}">
                      <a16:colId xmlns:a16="http://schemas.microsoft.com/office/drawing/2014/main" val="110575728"/>
                    </a:ext>
                  </a:extLst>
                </a:gridCol>
                <a:gridCol w="3983839">
                  <a:extLst>
                    <a:ext uri="{9D8B030D-6E8A-4147-A177-3AD203B41FA5}">
                      <a16:colId xmlns:a16="http://schemas.microsoft.com/office/drawing/2014/main" val="2804822475"/>
                    </a:ext>
                  </a:extLst>
                </a:gridCol>
                <a:gridCol w="2857791">
                  <a:extLst>
                    <a:ext uri="{9D8B030D-6E8A-4147-A177-3AD203B41FA5}">
                      <a16:colId xmlns:a16="http://schemas.microsoft.com/office/drawing/2014/main" val="1196736083"/>
                    </a:ext>
                  </a:extLst>
                </a:gridCol>
                <a:gridCol w="3604974">
                  <a:extLst>
                    <a:ext uri="{9D8B030D-6E8A-4147-A177-3AD203B41FA5}">
                      <a16:colId xmlns:a16="http://schemas.microsoft.com/office/drawing/2014/main" val="2548388214"/>
                    </a:ext>
                  </a:extLst>
                </a:gridCol>
              </a:tblGrid>
              <a:tr h="450987">
                <a:tc>
                  <a:txBody>
                    <a:bodyPr/>
                    <a:lstStyle/>
                    <a:p>
                      <a:pPr algn="ctr"/>
                      <a:r>
                        <a:rPr lang="en-US" sz="2000" dirty="0"/>
                        <a:t>feature</a:t>
                      </a:r>
                    </a:p>
                  </a:txBody>
                  <a:tcPr/>
                </a:tc>
                <a:tc>
                  <a:txBody>
                    <a:bodyPr/>
                    <a:lstStyle/>
                    <a:p>
                      <a:pPr algn="ctr"/>
                      <a:r>
                        <a:rPr lang="en-US" sz="2000" dirty="0"/>
                        <a:t>REST</a:t>
                      </a:r>
                    </a:p>
                  </a:txBody>
                  <a:tcPr/>
                </a:tc>
                <a:tc>
                  <a:txBody>
                    <a:bodyPr/>
                    <a:lstStyle/>
                    <a:p>
                      <a:pPr algn="ctr"/>
                      <a:r>
                        <a:rPr lang="en-US" sz="2000" dirty="0" err="1"/>
                        <a:t>GraphQL</a:t>
                      </a:r>
                      <a:endParaRPr lang="en-US" sz="2000" dirty="0"/>
                    </a:p>
                  </a:txBody>
                  <a:tcPr/>
                </a:tc>
                <a:tc>
                  <a:txBody>
                    <a:bodyPr/>
                    <a:lstStyle/>
                    <a:p>
                      <a:pPr algn="ctr"/>
                      <a:r>
                        <a:rPr lang="en-US" sz="2000" dirty="0"/>
                        <a:t>GRPC</a:t>
                      </a:r>
                      <a:endParaRPr lang="en-US" sz="2000" b="1" i="0" kern="1200" dirty="0">
                        <a:solidFill>
                          <a:schemeClr val="lt1"/>
                        </a:solidFill>
                        <a:effectLst/>
                        <a:latin typeface="+mn-lt"/>
                        <a:ea typeface="+mn-ea"/>
                        <a:cs typeface="+mn-cs"/>
                      </a:endParaRPr>
                    </a:p>
                  </a:txBody>
                  <a:tcPr/>
                </a:tc>
                <a:extLst>
                  <a:ext uri="{0D108BD9-81ED-4DB2-BD59-A6C34878D82A}">
                    <a16:rowId xmlns:a16="http://schemas.microsoft.com/office/drawing/2014/main" val="1644691476"/>
                  </a:ext>
                </a:extLst>
              </a:tr>
              <a:tr h="1436263">
                <a:tc>
                  <a:txBody>
                    <a:bodyPr/>
                    <a:lstStyle/>
                    <a:p>
                      <a:r>
                        <a:rPr lang="en-US" sz="1800" b="1" i="0" kern="1200" dirty="0">
                          <a:solidFill>
                            <a:schemeClr val="dk1"/>
                          </a:solidFill>
                          <a:effectLst/>
                          <a:latin typeface="+mn-lt"/>
                          <a:ea typeface="+mn-ea"/>
                          <a:cs typeface="+mn-cs"/>
                        </a:rPr>
                        <a:t>brief</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using HTTP as the protocol, Resources are identified by URLs, and operations are performed using standard HTTP methods such as GET, POST, PUT, DELETE, etc.</a:t>
                      </a:r>
                      <a:endParaRPr lang="en-US" sz="1800" b="1" i="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allows clients to request exactly the data they need and nothing more. Clients can specify the structure of the response,</a:t>
                      </a:r>
                      <a:endParaRPr lang="en-US" sz="1800" b="1" i="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uses Protocol Buffers (</a:t>
                      </a:r>
                      <a:r>
                        <a:rPr lang="en-US" dirty="0" err="1"/>
                        <a:t>Protobuf</a:t>
                      </a:r>
                      <a:r>
                        <a:rPr lang="en-US" dirty="0"/>
                        <a:t>) for defining service methods and message types, allowing for efficient binary </a:t>
                      </a:r>
                      <a:r>
                        <a:rPr lang="en-US"/>
                        <a:t>serialization. </a:t>
                      </a:r>
                      <a:r>
                        <a:rPr lang="en-US" dirty="0"/>
                        <a:t>and can use HTTP/2 for transport,</a:t>
                      </a:r>
                      <a:endParaRPr lang="en-US" sz="1800" b="1" i="0" kern="1200" dirty="0">
                        <a:solidFill>
                          <a:schemeClr val="dk1"/>
                        </a:solidFill>
                        <a:effectLst/>
                        <a:latin typeface="+mn-lt"/>
                        <a:ea typeface="+mn-ea"/>
                        <a:cs typeface="+mn-cs"/>
                      </a:endParaRPr>
                    </a:p>
                  </a:txBody>
                  <a:tcPr/>
                </a:tc>
                <a:extLst>
                  <a:ext uri="{0D108BD9-81ED-4DB2-BD59-A6C34878D82A}">
                    <a16:rowId xmlns:a16="http://schemas.microsoft.com/office/drawing/2014/main" val="131217268"/>
                  </a:ext>
                </a:extLst>
              </a:tr>
              <a:tr h="897664">
                <a:tc>
                  <a:txBody>
                    <a:bodyPr/>
                    <a:lstStyle/>
                    <a:p>
                      <a:r>
                        <a:rPr lang="en-US" sz="1800" b="1" i="0" kern="1200" dirty="0">
                          <a:solidFill>
                            <a:schemeClr val="dk1"/>
                          </a:solidFill>
                          <a:effectLst/>
                          <a:latin typeface="+mn-lt"/>
                          <a:ea typeface="+mn-ea"/>
                          <a:cs typeface="+mn-cs"/>
                        </a:rPr>
                        <a:t>Use case</a:t>
                      </a:r>
                    </a:p>
                  </a:txBody>
                  <a:tcPr/>
                </a:tc>
                <a:tc>
                  <a:txBody>
                    <a:bodyPr/>
                    <a:lstStyle/>
                    <a:p>
                      <a:r>
                        <a:rPr lang="en-US" dirty="0"/>
                        <a:t>Simple CRUD </a:t>
                      </a:r>
                      <a:endParaRPr lang="en-US" sz="1800" b="1" i="0" kern="1200" dirty="0">
                        <a:solidFill>
                          <a:schemeClr val="dk1"/>
                        </a:solidFill>
                        <a:effectLst/>
                        <a:latin typeface="+mn-lt"/>
                        <a:ea typeface="+mn-ea"/>
                        <a:cs typeface="+mn-cs"/>
                      </a:endParaRPr>
                    </a:p>
                  </a:txBody>
                  <a:tcPr/>
                </a:tc>
                <a:tc>
                  <a:txBody>
                    <a:bodyPr/>
                    <a:lstStyle/>
                    <a:p>
                      <a:pPr marL="0" algn="l" defTabSz="914400" rtl="0" eaLnBrk="1" latinLnBrk="0" hangingPunct="1"/>
                      <a:r>
                        <a:rPr lang="en-US" dirty="0"/>
                        <a:t>Mobile and web applications where efficient data retrieval is crucial.</a:t>
                      </a:r>
                      <a:endParaRPr lang="en-US" sz="1800" b="1" i="0" kern="1200" dirty="0">
                        <a:solidFill>
                          <a:schemeClr val="dk1"/>
                        </a:solidFill>
                        <a:effectLst/>
                        <a:latin typeface="+mn-lt"/>
                        <a:ea typeface="+mn-ea"/>
                        <a:cs typeface="+mn-cs"/>
                      </a:endParaRPr>
                    </a:p>
                  </a:txBody>
                  <a:tcPr/>
                </a:tc>
                <a:tc>
                  <a:txBody>
                    <a:bodyPr/>
                    <a:lstStyle/>
                    <a:p>
                      <a:r>
                        <a:rPr lang="en-US" dirty="0"/>
                        <a:t>Microservices communication</a:t>
                      </a:r>
                      <a:endParaRPr lang="en-US" sz="1800" b="1" i="0" kern="1200" dirty="0">
                        <a:solidFill>
                          <a:schemeClr val="dk1"/>
                        </a:solidFill>
                        <a:effectLst/>
                        <a:latin typeface="+mn-lt"/>
                        <a:ea typeface="+mn-ea"/>
                        <a:cs typeface="+mn-cs"/>
                      </a:endParaRPr>
                    </a:p>
                  </a:txBody>
                  <a:tcPr/>
                </a:tc>
                <a:extLst>
                  <a:ext uri="{0D108BD9-81ED-4DB2-BD59-A6C34878D82A}">
                    <a16:rowId xmlns:a16="http://schemas.microsoft.com/office/drawing/2014/main" val="1960166711"/>
                  </a:ext>
                </a:extLst>
              </a:tr>
              <a:tr h="2112003">
                <a:tc>
                  <a:txBody>
                    <a:bodyPr/>
                    <a:lstStyle/>
                    <a:p>
                      <a:r>
                        <a:rPr lang="en-US" sz="1800" b="1" i="0" kern="1200" dirty="0">
                          <a:solidFill>
                            <a:schemeClr val="dk1"/>
                          </a:solidFill>
                          <a:effectLst/>
                          <a:latin typeface="+mn-lt"/>
                          <a:ea typeface="+mn-ea"/>
                          <a:cs typeface="+mn-cs"/>
                        </a:rPr>
                        <a:t>Pros</a:t>
                      </a:r>
                    </a:p>
                  </a:txBody>
                  <a:tcPr/>
                </a:tc>
                <a:tc>
                  <a:txBody>
                    <a:bodyPr/>
                    <a:lstStyle/>
                    <a:p>
                      <a:pPr marL="285750" indent="-285750">
                        <a:buFont typeface="Arial" panose="020B0604020202020204" pitchFamily="34" charset="0"/>
                        <a:buChar char="•"/>
                      </a:pPr>
                      <a:r>
                        <a:rPr lang="en-US" b="1" dirty="0"/>
                        <a:t>Statelessness</a:t>
                      </a:r>
                      <a:r>
                        <a:rPr lang="en-US" dirty="0"/>
                        <a:t>: Each request must contain all the information needed to understand and process the request.</a:t>
                      </a:r>
                    </a:p>
                    <a:p>
                      <a:pPr marL="285750" indent="-285750">
                        <a:buFont typeface="Arial" panose="020B0604020202020204" pitchFamily="34" charset="0"/>
                        <a:buChar char="•"/>
                      </a:pPr>
                      <a:r>
                        <a:rPr lang="en-US" b="1" dirty="0"/>
                        <a:t>Caching</a:t>
                      </a:r>
                    </a:p>
                    <a:p>
                      <a:pPr marL="285750" indent="-285750">
                        <a:buFont typeface="Arial" panose="020B0604020202020204" pitchFamily="34" charset="0"/>
                        <a:buChar char="•"/>
                      </a:pPr>
                      <a:r>
                        <a:rPr lang="en-US" b="1" dirty="0"/>
                        <a:t>Flexibility</a:t>
                      </a:r>
                      <a:r>
                        <a:rPr lang="en-US" dirty="0"/>
                        <a:t>: Works well with multiple data formats (JSON, XML)</a:t>
                      </a:r>
                      <a:endParaRPr lang="en-US" sz="1800" b="1" i="0" kern="1200" dirty="0">
                        <a:solidFill>
                          <a:schemeClr val="dk1"/>
                        </a:solidFill>
                        <a:effectLst/>
                        <a:latin typeface="+mn-lt"/>
                        <a:ea typeface="+mn-ea"/>
                        <a:cs typeface="+mn-cs"/>
                      </a:endParaRPr>
                    </a:p>
                  </a:txBody>
                  <a:tcPr/>
                </a:tc>
                <a:tc>
                  <a:txBody>
                    <a:bodyPr/>
                    <a:lstStyle/>
                    <a:p>
                      <a:pPr marL="285750" indent="-285750" algn="l" defTabSz="914400" rtl="0" eaLnBrk="1" latinLnBrk="0" hangingPunct="1">
                        <a:buFont typeface="Arial" panose="020B0604020202020204" pitchFamily="34" charset="0"/>
                        <a:buChar char="•"/>
                      </a:pPr>
                      <a:r>
                        <a:rPr lang="en-US" sz="1800" b="1" kern="1200" dirty="0">
                          <a:solidFill>
                            <a:schemeClr val="dk1"/>
                          </a:solidFill>
                          <a:latin typeface="+mn-lt"/>
                          <a:ea typeface="+mn-ea"/>
                          <a:cs typeface="+mn-cs"/>
                        </a:rPr>
                        <a:t>Flexible Queries</a:t>
                      </a:r>
                      <a:r>
                        <a:rPr lang="en-US" dirty="0"/>
                        <a:t>: Clients can request exactly the data they need</a:t>
                      </a:r>
                    </a:p>
                    <a:p>
                      <a:pPr marL="285750" indent="-285750" algn="l" defTabSz="914400" rtl="0" eaLnBrk="1" latinLnBrk="0" hangingPunct="1">
                        <a:buFont typeface="Arial" panose="020B0604020202020204" pitchFamily="34" charset="0"/>
                        <a:buChar char="•"/>
                      </a:pPr>
                      <a:r>
                        <a:rPr lang="en-US" b="1" dirty="0"/>
                        <a:t>Single Endpoint</a:t>
                      </a:r>
                      <a:r>
                        <a:rPr lang="en-US" dirty="0"/>
                        <a:t>: All interactions happen through a single endpoint</a:t>
                      </a:r>
                      <a:endParaRPr lang="en-US" sz="1800" b="1" i="0" kern="1200" dirty="0">
                        <a:solidFill>
                          <a:schemeClr val="dk1"/>
                        </a:solidFill>
                        <a:effectLst/>
                        <a:latin typeface="+mn-lt"/>
                        <a:ea typeface="+mn-ea"/>
                        <a:cs typeface="+mn-cs"/>
                      </a:endParaRPr>
                    </a:p>
                  </a:txBody>
                  <a:tcPr/>
                </a:tc>
                <a:tc>
                  <a:txBody>
                    <a:bodyPr/>
                    <a:lstStyle/>
                    <a:p>
                      <a:pPr marL="285750" indent="-285750">
                        <a:buFont typeface="Arial" panose="020B0604020202020204" pitchFamily="34" charset="0"/>
                        <a:buChar char="•"/>
                      </a:pPr>
                      <a:r>
                        <a:rPr lang="en-US" b="1" dirty="0"/>
                        <a:t>Cross-language Support</a:t>
                      </a:r>
                      <a:r>
                        <a:rPr lang="en-US" dirty="0"/>
                        <a:t>: Compatible with multiple programming languages</a:t>
                      </a:r>
                    </a:p>
                    <a:p>
                      <a:pPr marL="285750" indent="-285750">
                        <a:buFont typeface="Arial" panose="020B0604020202020204" pitchFamily="34" charset="0"/>
                        <a:buChar char="•"/>
                      </a:pPr>
                      <a:r>
                        <a:rPr lang="en-US" dirty="0"/>
                        <a:t>Performance: binary serialization (</a:t>
                      </a:r>
                      <a:r>
                        <a:rPr lang="en-US" dirty="0" err="1"/>
                        <a:t>Protobuf</a:t>
                      </a:r>
                      <a:r>
                        <a:rPr lang="en-US" dirty="0"/>
                        <a:t>) </a:t>
                      </a:r>
                      <a:endParaRPr lang="en-US" sz="1800" b="1" i="0" kern="1200" dirty="0">
                        <a:solidFill>
                          <a:schemeClr val="dk1"/>
                        </a:solidFill>
                        <a:effectLst/>
                        <a:latin typeface="+mn-lt"/>
                        <a:ea typeface="+mn-ea"/>
                        <a:cs typeface="+mn-cs"/>
                      </a:endParaRPr>
                    </a:p>
                    <a:p>
                      <a:pPr marL="285750" indent="-285750">
                        <a:buFont typeface="Arial" panose="020B0604020202020204" pitchFamily="34" charset="0"/>
                        <a:buChar char="•"/>
                      </a:pPr>
                      <a:r>
                        <a:rPr lang="en-US" dirty="0"/>
                        <a:t>Streaming</a:t>
                      </a:r>
                      <a:endParaRPr lang="en-US" sz="1800" b="1" i="0" kern="1200" dirty="0">
                        <a:solidFill>
                          <a:schemeClr val="dk1"/>
                        </a:solidFill>
                        <a:effectLst/>
                        <a:latin typeface="+mn-lt"/>
                        <a:ea typeface="+mn-ea"/>
                        <a:cs typeface="+mn-cs"/>
                      </a:endParaRPr>
                    </a:p>
                  </a:txBody>
                  <a:tcPr/>
                </a:tc>
                <a:extLst>
                  <a:ext uri="{0D108BD9-81ED-4DB2-BD59-A6C34878D82A}">
                    <a16:rowId xmlns:a16="http://schemas.microsoft.com/office/drawing/2014/main" val="1917471086"/>
                  </a:ext>
                </a:extLst>
              </a:tr>
              <a:tr h="1885718">
                <a:tc>
                  <a:txBody>
                    <a:bodyPr/>
                    <a:lstStyle/>
                    <a:p>
                      <a:r>
                        <a:rPr lang="en-US" sz="1800" b="1" i="0" kern="1200" dirty="0">
                          <a:solidFill>
                            <a:schemeClr val="dk1"/>
                          </a:solidFill>
                          <a:effectLst/>
                          <a:latin typeface="+mn-lt"/>
                          <a:ea typeface="+mn-ea"/>
                          <a:cs typeface="+mn-cs"/>
                        </a:rPr>
                        <a:t>cons</a:t>
                      </a:r>
                    </a:p>
                  </a:txBody>
                  <a:tcPr/>
                </a:tc>
                <a:tc>
                  <a:txBody>
                    <a:bodyPr/>
                    <a:lstStyle/>
                    <a:p>
                      <a:pPr marL="285750" indent="-285750">
                        <a:buFont typeface="Arial" panose="020B0604020202020204" pitchFamily="34" charset="0"/>
                        <a:buChar char="•"/>
                      </a:pPr>
                      <a:r>
                        <a:rPr lang="en-US" b="1" dirty="0"/>
                        <a:t>Tight coupling</a:t>
                      </a:r>
                      <a:r>
                        <a:rPr lang="en-US" dirty="0"/>
                        <a:t>: Changes in the API can require significant client-side updates</a:t>
                      </a:r>
                    </a:p>
                    <a:p>
                      <a:pPr marL="285750" indent="-285750">
                        <a:buFont typeface="Arial" panose="020B0604020202020204" pitchFamily="34" charset="0"/>
                        <a:buChar char="•"/>
                      </a:pPr>
                      <a:r>
                        <a:rPr lang="en-US" b="1" dirty="0"/>
                        <a:t>Over-fetching/Under-fetching</a:t>
                      </a:r>
                      <a:r>
                        <a:rPr lang="en-US" dirty="0"/>
                        <a:t>: Clients may receive too much or too little data in a single request.</a:t>
                      </a:r>
                      <a:endParaRPr lang="en-US" sz="1800" b="1" i="0" kern="1200" dirty="0">
                        <a:solidFill>
                          <a:schemeClr val="dk1"/>
                        </a:solidFill>
                        <a:effectLst/>
                        <a:latin typeface="+mn-lt"/>
                        <a:ea typeface="+mn-ea"/>
                        <a:cs typeface="+mn-cs"/>
                      </a:endParaRPr>
                    </a:p>
                  </a:txBody>
                  <a:tcPr/>
                </a:tc>
                <a:tc>
                  <a:txBody>
                    <a:bodyPr/>
                    <a:lstStyle/>
                    <a:p>
                      <a:pPr marL="0" algn="l" defTabSz="914400" rtl="0" eaLnBrk="1" latinLnBrk="0" hangingPunct="1"/>
                      <a:r>
                        <a:rPr lang="en-US" b="1" dirty="0"/>
                        <a:t>Caching</a:t>
                      </a:r>
                      <a:r>
                        <a:rPr lang="en-US" dirty="0"/>
                        <a:t>: More complex compared to REST due to dynamic query nature.</a:t>
                      </a:r>
                      <a:endParaRPr lang="en-US" sz="1800" b="1" i="0" kern="1200" dirty="0">
                        <a:solidFill>
                          <a:schemeClr val="dk1"/>
                        </a:solidFill>
                        <a:effectLst/>
                        <a:latin typeface="+mn-lt"/>
                        <a:ea typeface="+mn-ea"/>
                        <a:cs typeface="+mn-cs"/>
                      </a:endParaRPr>
                    </a:p>
                  </a:txBody>
                  <a:tcPr/>
                </a:tc>
                <a:tc>
                  <a:txBody>
                    <a:bodyPr/>
                    <a:lstStyle/>
                    <a:p>
                      <a:pPr marL="285750" indent="-285750">
                        <a:buFont typeface="Arial" panose="020B0604020202020204" pitchFamily="34" charset="0"/>
                        <a:buChar char="•"/>
                      </a:pPr>
                      <a:r>
                        <a:rPr lang="en-US" b="1" dirty="0"/>
                        <a:t>Complexity</a:t>
                      </a:r>
                      <a:r>
                        <a:rPr lang="en-US" dirty="0"/>
                        <a:t>: Requires setup of </a:t>
                      </a:r>
                      <a:r>
                        <a:rPr lang="en-US" dirty="0" err="1"/>
                        <a:t>Protobuf</a:t>
                      </a:r>
                      <a:r>
                        <a:rPr lang="en-US" dirty="0"/>
                        <a:t> schemas</a:t>
                      </a:r>
                    </a:p>
                    <a:p>
                      <a:pPr marL="285750" indent="-285750">
                        <a:buFont typeface="Arial" panose="020B0604020202020204" pitchFamily="34" charset="0"/>
                        <a:buChar char="•"/>
                      </a:pPr>
                      <a:r>
                        <a:rPr lang="en-US" sz="1800" b="1" i="0" kern="1200" dirty="0">
                          <a:solidFill>
                            <a:schemeClr val="dk1"/>
                          </a:solidFill>
                          <a:effectLst/>
                          <a:latin typeface="+mn-lt"/>
                          <a:ea typeface="+mn-ea"/>
                          <a:cs typeface="+mn-cs"/>
                        </a:rPr>
                        <a:t>Not </a:t>
                      </a:r>
                      <a:r>
                        <a:rPr lang="en-US" b="1" dirty="0"/>
                        <a:t>Human-readable</a:t>
                      </a:r>
                      <a:r>
                        <a:rPr lang="en-US" dirty="0"/>
                        <a:t>: Binary format is not human-readable,</a:t>
                      </a:r>
                      <a:endParaRPr lang="en-US" sz="1800" b="1" i="0" kern="1200" dirty="0">
                        <a:solidFill>
                          <a:schemeClr val="dk1"/>
                        </a:solidFill>
                        <a:effectLst/>
                        <a:latin typeface="+mn-lt"/>
                        <a:ea typeface="+mn-ea"/>
                        <a:cs typeface="+mn-cs"/>
                      </a:endParaRPr>
                    </a:p>
                  </a:txBody>
                  <a:tcPr/>
                </a:tc>
                <a:extLst>
                  <a:ext uri="{0D108BD9-81ED-4DB2-BD59-A6C34878D82A}">
                    <a16:rowId xmlns:a16="http://schemas.microsoft.com/office/drawing/2014/main" val="2650624100"/>
                  </a:ext>
                </a:extLst>
              </a:tr>
            </a:tbl>
          </a:graphicData>
        </a:graphic>
      </p:graphicFrame>
    </p:spTree>
    <p:extLst>
      <p:ext uri="{BB962C8B-B14F-4D97-AF65-F5344CB8AC3E}">
        <p14:creationId xmlns:p14="http://schemas.microsoft.com/office/powerpoint/2010/main" val="28680780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B67D1-C27C-9C4B-EA3E-33730BC07521}"/>
              </a:ext>
            </a:extLst>
          </p:cNvPr>
          <p:cNvSpPr>
            <a:spLocks noGrp="1"/>
          </p:cNvSpPr>
          <p:nvPr>
            <p:ph type="title"/>
          </p:nvPr>
        </p:nvSpPr>
        <p:spPr>
          <a:xfrm>
            <a:off x="838200" y="0"/>
            <a:ext cx="10515600" cy="890919"/>
          </a:xfrm>
        </p:spPr>
        <p:txBody>
          <a:bodyPr/>
          <a:lstStyle/>
          <a:p>
            <a:r>
              <a:rPr lang="en-US" dirty="0"/>
              <a:t>Shared proto file between client and server</a:t>
            </a:r>
          </a:p>
        </p:txBody>
      </p:sp>
      <p:sp>
        <p:nvSpPr>
          <p:cNvPr id="3" name="Content Placeholder 2">
            <a:extLst>
              <a:ext uri="{FF2B5EF4-FFF2-40B4-BE49-F238E27FC236}">
                <a16:creationId xmlns:a16="http://schemas.microsoft.com/office/drawing/2014/main" id="{6D54EB69-CA1E-5941-798F-02E2B11EBF08}"/>
              </a:ext>
            </a:extLst>
          </p:cNvPr>
          <p:cNvSpPr>
            <a:spLocks noGrp="1"/>
          </p:cNvSpPr>
          <p:nvPr>
            <p:ph idx="1"/>
          </p:nvPr>
        </p:nvSpPr>
        <p:spPr>
          <a:xfrm>
            <a:off x="140677" y="803868"/>
            <a:ext cx="11927393" cy="5898383"/>
          </a:xfrm>
        </p:spPr>
        <p:txBody>
          <a:bodyPr/>
          <a:lstStyle/>
          <a:p>
            <a:r>
              <a:rPr lang="en-US" sz="2400" dirty="0"/>
              <a:t>It’s better to Make the namespace name of proto buffer file logical</a:t>
            </a:r>
          </a:p>
          <a:p>
            <a:r>
              <a:rPr lang="en-US" sz="2400" dirty="0"/>
              <a:t>At Directory of file solution explorer create Protos folder and put your proto buffer file inside that folder</a:t>
            </a:r>
          </a:p>
          <a:p>
            <a:endParaRPr lang="en-US" dirty="0"/>
          </a:p>
          <a:p>
            <a:r>
              <a:rPr lang="en-US" sz="2400" dirty="0"/>
              <a:t>On solution explorer double click on server project name to open </a:t>
            </a:r>
            <a:r>
              <a:rPr lang="en-US" sz="2400" b="1" dirty="0">
                <a:solidFill>
                  <a:srgbClr val="FF0000"/>
                </a:solidFill>
              </a:rPr>
              <a:t>csproj</a:t>
            </a:r>
            <a:r>
              <a:rPr lang="en-US" sz="2400" dirty="0"/>
              <a:t> file , this is the picture of file content</a:t>
            </a:r>
          </a:p>
          <a:p>
            <a:pPr marL="0" indent="0">
              <a:buNone/>
            </a:pPr>
            <a:endParaRPr lang="en-US" dirty="0"/>
          </a:p>
          <a:p>
            <a:r>
              <a:rPr lang="en-US" sz="2400" dirty="0"/>
              <a:t>At</a:t>
            </a:r>
            <a:r>
              <a:rPr lang="en-US" sz="2400" b="1" dirty="0">
                <a:solidFill>
                  <a:srgbClr val="FF0000"/>
                </a:solidFill>
              </a:rPr>
              <a:t> </a:t>
            </a:r>
            <a:r>
              <a:rPr lang="en-US" sz="2400" b="1" dirty="0" err="1">
                <a:solidFill>
                  <a:srgbClr val="FF0000"/>
                </a:solidFill>
              </a:rPr>
              <a:t>ItemGroup</a:t>
            </a:r>
            <a:r>
              <a:rPr lang="en-US" sz="2400" b="1" dirty="0">
                <a:solidFill>
                  <a:srgbClr val="FF0000"/>
                </a:solidFill>
              </a:rPr>
              <a:t> tag </a:t>
            </a:r>
            <a:r>
              <a:rPr lang="en-US" sz="2400" dirty="0"/>
              <a:t>group add </a:t>
            </a:r>
          </a:p>
          <a:p>
            <a:endParaRPr lang="en-US" dirty="0"/>
          </a:p>
          <a:p>
            <a:r>
              <a:rPr lang="en-US" sz="2400" dirty="0"/>
              <a:t>Include: refers to the actual(real, physical) path of the proto file</a:t>
            </a:r>
          </a:p>
          <a:p>
            <a:r>
              <a:rPr lang="en-US" sz="2400" dirty="0"/>
              <a:t>Link: the proto file will appear as if it located at Protos/</a:t>
            </a:r>
            <a:r>
              <a:rPr lang="en-US" sz="2400" dirty="0" err="1"/>
              <a:t>InventoryService.proto</a:t>
            </a:r>
            <a:endParaRPr lang="en-US" sz="2400" dirty="0"/>
          </a:p>
          <a:p>
            <a:r>
              <a:rPr lang="en-US" sz="2000" dirty="0" err="1">
                <a:solidFill>
                  <a:srgbClr val="FF0000"/>
                </a:solidFill>
                <a:latin typeface="Cascadia Mono" panose="020B0609020000020004" pitchFamily="49" charset="0"/>
              </a:rPr>
              <a:t>GrpcServices</a:t>
            </a:r>
            <a:r>
              <a:rPr lang="en-US" sz="2400" dirty="0"/>
              <a:t>: to determine the generated GPRC code Server, or Client or server and client</a:t>
            </a:r>
          </a:p>
        </p:txBody>
      </p:sp>
      <p:pic>
        <p:nvPicPr>
          <p:cNvPr id="5" name="Picture 4">
            <a:extLst>
              <a:ext uri="{FF2B5EF4-FFF2-40B4-BE49-F238E27FC236}">
                <a16:creationId xmlns:a16="http://schemas.microsoft.com/office/drawing/2014/main" id="{1E177EC3-4076-3675-240D-6BED64410873}"/>
              </a:ext>
            </a:extLst>
          </p:cNvPr>
          <p:cNvPicPr>
            <a:picLocks noChangeAspect="1"/>
          </p:cNvPicPr>
          <p:nvPr/>
        </p:nvPicPr>
        <p:blipFill>
          <a:blip r:embed="rId2"/>
          <a:stretch>
            <a:fillRect/>
          </a:stretch>
        </p:blipFill>
        <p:spPr>
          <a:xfrm>
            <a:off x="5697415" y="2433753"/>
            <a:ext cx="4411227" cy="1328861"/>
          </a:xfrm>
          <a:prstGeom prst="rect">
            <a:avLst/>
          </a:prstGeom>
        </p:spPr>
      </p:pic>
      <p:pic>
        <p:nvPicPr>
          <p:cNvPr id="7" name="Picture 6">
            <a:extLst>
              <a:ext uri="{FF2B5EF4-FFF2-40B4-BE49-F238E27FC236}">
                <a16:creationId xmlns:a16="http://schemas.microsoft.com/office/drawing/2014/main" id="{6F9E65EE-D9BE-6C1D-1990-1823ED59B023}"/>
              </a:ext>
            </a:extLst>
          </p:cNvPr>
          <p:cNvPicPr>
            <a:picLocks noChangeAspect="1"/>
          </p:cNvPicPr>
          <p:nvPr/>
        </p:nvPicPr>
        <p:blipFill>
          <a:blip r:embed="rId3"/>
          <a:stretch>
            <a:fillRect/>
          </a:stretch>
        </p:blipFill>
        <p:spPr>
          <a:xfrm>
            <a:off x="2083358" y="1694787"/>
            <a:ext cx="2025868" cy="973706"/>
          </a:xfrm>
          <a:prstGeom prst="rect">
            <a:avLst/>
          </a:prstGeom>
        </p:spPr>
      </p:pic>
      <p:sp>
        <p:nvSpPr>
          <p:cNvPr id="8" name="Rectangle 1">
            <a:extLst>
              <a:ext uri="{FF2B5EF4-FFF2-40B4-BE49-F238E27FC236}">
                <a16:creationId xmlns:a16="http://schemas.microsoft.com/office/drawing/2014/main" id="{9D468ADA-082B-3D07-E7E7-6E4696965048}"/>
              </a:ext>
            </a:extLst>
          </p:cNvPr>
          <p:cNvSpPr txBox="1">
            <a:spLocks noChangeArrowheads="1"/>
          </p:cNvSpPr>
          <p:nvPr/>
        </p:nvSpPr>
        <p:spPr bwMode="auto">
          <a:xfrm>
            <a:off x="236554" y="3808703"/>
            <a:ext cx="11735637" cy="5909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lnSpc>
                <a:spcPct val="90000"/>
              </a:lnSpc>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lnSpc>
                <a:spcPct val="90000"/>
              </a:lnSpc>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800" dirty="0">
                <a:solidFill>
                  <a:srgbClr val="0000FF"/>
                </a:solidFill>
                <a:latin typeface="Cascadia Mono" panose="020B0609020000020004" pitchFamily="49" charset="0"/>
              </a:rPr>
              <a:t>&lt;</a:t>
            </a:r>
            <a:r>
              <a:rPr lang="en-US" sz="1800" dirty="0" err="1">
                <a:solidFill>
                  <a:srgbClr val="A31515"/>
                </a:solidFill>
                <a:latin typeface="Cascadia Mono" panose="020B0609020000020004" pitchFamily="49" charset="0"/>
              </a:rPr>
              <a:t>Protobuf</a:t>
            </a:r>
            <a:r>
              <a:rPr lang="en-US" sz="1800" dirty="0">
                <a:solidFill>
                  <a:srgbClr val="0000FF"/>
                </a:solidFill>
                <a:latin typeface="Cascadia Mono" panose="020B0609020000020004" pitchFamily="49" charset="0"/>
              </a:rPr>
              <a:t> </a:t>
            </a:r>
            <a:r>
              <a:rPr lang="en-US" sz="1800" dirty="0">
                <a:solidFill>
                  <a:srgbClr val="FF0000"/>
                </a:solidFill>
                <a:latin typeface="Cascadia Mono" panose="020B0609020000020004" pitchFamily="49" charset="0"/>
              </a:rPr>
              <a:t>Include</a:t>
            </a:r>
            <a:r>
              <a:rPr lang="en-US" sz="1800" dirty="0">
                <a:solidFill>
                  <a:srgbClr val="0000FF"/>
                </a:solidFill>
                <a:latin typeface="Cascadia Mono" panose="020B0609020000020004" pitchFamily="49" charset="0"/>
              </a:rPr>
              <a:t>=</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..\Protos\</a:t>
            </a:r>
            <a:r>
              <a:rPr lang="en-US" sz="1800" dirty="0" err="1">
                <a:solidFill>
                  <a:srgbClr val="0000FF"/>
                </a:solidFill>
                <a:latin typeface="Cascadia Mono" panose="020B0609020000020004" pitchFamily="49" charset="0"/>
              </a:rPr>
              <a:t>InventoryService.proto</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 </a:t>
            </a:r>
            <a:r>
              <a:rPr lang="en-US" sz="1800" dirty="0" err="1">
                <a:solidFill>
                  <a:srgbClr val="FF0000"/>
                </a:solidFill>
                <a:latin typeface="Cascadia Mono" panose="020B0609020000020004" pitchFamily="49" charset="0"/>
              </a:rPr>
              <a:t>GrpcServices</a:t>
            </a:r>
            <a:r>
              <a:rPr lang="en-US" sz="1800" dirty="0">
                <a:solidFill>
                  <a:srgbClr val="0000FF"/>
                </a:solidFill>
                <a:latin typeface="Cascadia Mono" panose="020B0609020000020004" pitchFamily="49" charset="0"/>
              </a:rPr>
              <a:t>=</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Server</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 </a:t>
            </a:r>
            <a:r>
              <a:rPr lang="en-US" sz="1800" dirty="0">
                <a:solidFill>
                  <a:srgbClr val="FF0000"/>
                </a:solidFill>
                <a:latin typeface="Cascadia Mono" panose="020B0609020000020004" pitchFamily="49" charset="0"/>
              </a:rPr>
              <a:t>Link</a:t>
            </a:r>
            <a:r>
              <a:rPr lang="en-US" sz="1800" dirty="0">
                <a:solidFill>
                  <a:srgbClr val="0000FF"/>
                </a:solidFill>
                <a:latin typeface="Cascadia Mono" panose="020B0609020000020004" pitchFamily="49" charset="0"/>
              </a:rPr>
              <a:t>=</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Protos/</a:t>
            </a:r>
            <a:r>
              <a:rPr lang="en-US" sz="1800" dirty="0" err="1">
                <a:solidFill>
                  <a:srgbClr val="0000FF"/>
                </a:solidFill>
                <a:latin typeface="Cascadia Mono" panose="020B0609020000020004" pitchFamily="49" charset="0"/>
              </a:rPr>
              <a:t>InventoryService.proto</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&gt;&lt;/</a:t>
            </a:r>
            <a:r>
              <a:rPr lang="en-US" sz="1800" dirty="0" err="1">
                <a:solidFill>
                  <a:srgbClr val="A31515"/>
                </a:solidFill>
                <a:latin typeface="Cascadia Mono" panose="020B0609020000020004" pitchFamily="49" charset="0"/>
              </a:rPr>
              <a:t>Protobuf</a:t>
            </a:r>
            <a:r>
              <a:rPr lang="en-US" sz="1800" dirty="0">
                <a:solidFill>
                  <a:srgbClr val="0000FF"/>
                </a:solidFill>
                <a:latin typeface="Cascadia Mono" panose="020B0609020000020004" pitchFamily="49" charset="0"/>
              </a:rPr>
              <a:t>&gt;</a:t>
            </a:r>
            <a:endParaRPr lang="en-US" altLang="en-US" sz="1400" dirty="0">
              <a:ln>
                <a:noFill/>
              </a:ln>
              <a:solidFill>
                <a:schemeClr val="tx1"/>
              </a:solidFill>
              <a:effectLst/>
              <a:latin typeface="Arial" panose="020B0604020202020204" pitchFamily="34" charset="0"/>
            </a:endParaRPr>
          </a:p>
        </p:txBody>
      </p:sp>
      <p:sp>
        <p:nvSpPr>
          <p:cNvPr id="9" name="Arrow: Right 8">
            <a:extLst>
              <a:ext uri="{FF2B5EF4-FFF2-40B4-BE49-F238E27FC236}">
                <a16:creationId xmlns:a16="http://schemas.microsoft.com/office/drawing/2014/main" id="{67A923C8-6B4D-0EC1-2A72-D409C2AC14B6}"/>
              </a:ext>
            </a:extLst>
          </p:cNvPr>
          <p:cNvSpPr/>
          <p:nvPr/>
        </p:nvSpPr>
        <p:spPr>
          <a:xfrm>
            <a:off x="944545" y="6370655"/>
            <a:ext cx="5617029" cy="3097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90936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AD441F-F099-E22A-0719-F7C51C7A83F8}"/>
              </a:ext>
            </a:extLst>
          </p:cNvPr>
          <p:cNvSpPr>
            <a:spLocks noGrp="1"/>
          </p:cNvSpPr>
          <p:nvPr>
            <p:ph idx="1"/>
          </p:nvPr>
        </p:nvSpPr>
        <p:spPr>
          <a:xfrm>
            <a:off x="0" y="743579"/>
            <a:ext cx="11857055" cy="5433384"/>
          </a:xfrm>
        </p:spPr>
        <p:txBody>
          <a:bodyPr>
            <a:normAutofit/>
          </a:bodyPr>
          <a:lstStyle/>
          <a:p>
            <a:r>
              <a:rPr lang="en-US" sz="2400" dirty="0"/>
              <a:t>At the client csproj file add </a:t>
            </a:r>
          </a:p>
          <a:p>
            <a:endParaRPr lang="en-US" sz="2400" dirty="0"/>
          </a:p>
          <a:p>
            <a:endParaRPr lang="en-US" sz="2400" dirty="0"/>
          </a:p>
          <a:p>
            <a:r>
              <a:rPr lang="en-US" sz="2400" dirty="0"/>
              <a:t>Right click on solution and clean </a:t>
            </a:r>
            <a:r>
              <a:rPr lang="en-US" sz="2400" dirty="0">
                <a:sym typeface="Wingdings" panose="05000000000000000000" pitchFamily="2" charset="2"/>
              </a:rPr>
              <a:t> you’ll finds the Protos folder inside server and client projects</a:t>
            </a:r>
          </a:p>
          <a:p>
            <a:endParaRPr lang="en-US" sz="2400" dirty="0"/>
          </a:p>
        </p:txBody>
      </p:sp>
      <p:sp>
        <p:nvSpPr>
          <p:cNvPr id="4" name="Title 1">
            <a:extLst>
              <a:ext uri="{FF2B5EF4-FFF2-40B4-BE49-F238E27FC236}">
                <a16:creationId xmlns:a16="http://schemas.microsoft.com/office/drawing/2014/main" id="{17D02E51-3413-5AEB-A572-67F8822BD0CA}"/>
              </a:ext>
            </a:extLst>
          </p:cNvPr>
          <p:cNvSpPr>
            <a:spLocks noGrp="1"/>
          </p:cNvSpPr>
          <p:nvPr>
            <p:ph type="title"/>
          </p:nvPr>
        </p:nvSpPr>
        <p:spPr>
          <a:xfrm>
            <a:off x="838200" y="0"/>
            <a:ext cx="10515600" cy="890919"/>
          </a:xfrm>
        </p:spPr>
        <p:txBody>
          <a:bodyPr>
            <a:normAutofit fontScale="90000"/>
          </a:bodyPr>
          <a:lstStyle/>
          <a:p>
            <a:r>
              <a:rPr lang="en-US" dirty="0"/>
              <a:t>Shared proto file between client and server [cont.]</a:t>
            </a:r>
          </a:p>
        </p:txBody>
      </p:sp>
      <p:sp>
        <p:nvSpPr>
          <p:cNvPr id="6" name="Rectangle 1">
            <a:extLst>
              <a:ext uri="{FF2B5EF4-FFF2-40B4-BE49-F238E27FC236}">
                <a16:creationId xmlns:a16="http://schemas.microsoft.com/office/drawing/2014/main" id="{B4814537-9730-870E-4B7C-C59FA665DBE5}"/>
              </a:ext>
            </a:extLst>
          </p:cNvPr>
          <p:cNvSpPr txBox="1">
            <a:spLocks noChangeArrowheads="1"/>
          </p:cNvSpPr>
          <p:nvPr/>
        </p:nvSpPr>
        <p:spPr bwMode="auto">
          <a:xfrm>
            <a:off x="228181" y="1226276"/>
            <a:ext cx="11735637" cy="5909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lnSpc>
                <a:spcPct val="90000"/>
              </a:lnSpc>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lnSpc>
                <a:spcPct val="90000"/>
              </a:lnSpc>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lnSpc>
                <a:spcPct val="90000"/>
              </a:lnSpc>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800" dirty="0">
                <a:solidFill>
                  <a:srgbClr val="0000FF"/>
                </a:solidFill>
                <a:latin typeface="Cascadia Mono" panose="020B0609020000020004" pitchFamily="49" charset="0"/>
              </a:rPr>
              <a:t>&lt;</a:t>
            </a:r>
            <a:r>
              <a:rPr lang="en-US" sz="1800" dirty="0" err="1">
                <a:solidFill>
                  <a:srgbClr val="A31515"/>
                </a:solidFill>
                <a:latin typeface="Cascadia Mono" panose="020B0609020000020004" pitchFamily="49" charset="0"/>
              </a:rPr>
              <a:t>Protobuf</a:t>
            </a:r>
            <a:r>
              <a:rPr lang="en-US" sz="1800" dirty="0">
                <a:solidFill>
                  <a:srgbClr val="0000FF"/>
                </a:solidFill>
                <a:latin typeface="Cascadia Mono" panose="020B0609020000020004" pitchFamily="49" charset="0"/>
              </a:rPr>
              <a:t> </a:t>
            </a:r>
            <a:r>
              <a:rPr lang="en-US" sz="1800" dirty="0">
                <a:solidFill>
                  <a:srgbClr val="FF0000"/>
                </a:solidFill>
                <a:latin typeface="Cascadia Mono" panose="020B0609020000020004" pitchFamily="49" charset="0"/>
              </a:rPr>
              <a:t>Include</a:t>
            </a:r>
            <a:r>
              <a:rPr lang="en-US" sz="1800" dirty="0">
                <a:solidFill>
                  <a:srgbClr val="0000FF"/>
                </a:solidFill>
                <a:latin typeface="Cascadia Mono" panose="020B0609020000020004" pitchFamily="49" charset="0"/>
              </a:rPr>
              <a:t>=</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..\Protos\</a:t>
            </a:r>
            <a:r>
              <a:rPr lang="en-US" sz="1800" dirty="0" err="1">
                <a:solidFill>
                  <a:srgbClr val="0000FF"/>
                </a:solidFill>
                <a:latin typeface="Cascadia Mono" panose="020B0609020000020004" pitchFamily="49" charset="0"/>
              </a:rPr>
              <a:t>InventoryService.proto</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 </a:t>
            </a:r>
            <a:r>
              <a:rPr lang="en-US" sz="1800" dirty="0" err="1">
                <a:solidFill>
                  <a:srgbClr val="FF0000"/>
                </a:solidFill>
                <a:latin typeface="Cascadia Mono" panose="020B0609020000020004" pitchFamily="49" charset="0"/>
              </a:rPr>
              <a:t>GrpcServices</a:t>
            </a:r>
            <a:r>
              <a:rPr lang="en-US" sz="1800" dirty="0">
                <a:solidFill>
                  <a:srgbClr val="0000FF"/>
                </a:solidFill>
                <a:latin typeface="Cascadia Mono" panose="020B0609020000020004" pitchFamily="49" charset="0"/>
              </a:rPr>
              <a:t>=</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Client</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 </a:t>
            </a:r>
            <a:r>
              <a:rPr lang="en-US" sz="1800" dirty="0">
                <a:solidFill>
                  <a:srgbClr val="FF0000"/>
                </a:solidFill>
                <a:latin typeface="Cascadia Mono" panose="020B0609020000020004" pitchFamily="49" charset="0"/>
              </a:rPr>
              <a:t>Link</a:t>
            </a:r>
            <a:r>
              <a:rPr lang="en-US" sz="1800" dirty="0">
                <a:solidFill>
                  <a:srgbClr val="0000FF"/>
                </a:solidFill>
                <a:latin typeface="Cascadia Mono" panose="020B0609020000020004" pitchFamily="49" charset="0"/>
              </a:rPr>
              <a:t>=</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Protos/</a:t>
            </a:r>
            <a:r>
              <a:rPr lang="en-US" sz="1800" dirty="0" err="1">
                <a:solidFill>
                  <a:srgbClr val="0000FF"/>
                </a:solidFill>
                <a:latin typeface="Cascadia Mono" panose="020B0609020000020004" pitchFamily="49" charset="0"/>
              </a:rPr>
              <a:t>InventoryService.proto</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&gt;&lt;/</a:t>
            </a:r>
            <a:r>
              <a:rPr lang="en-US" sz="1800" dirty="0" err="1">
                <a:solidFill>
                  <a:srgbClr val="A31515"/>
                </a:solidFill>
                <a:latin typeface="Cascadia Mono" panose="020B0609020000020004" pitchFamily="49" charset="0"/>
              </a:rPr>
              <a:t>Protobuf</a:t>
            </a:r>
            <a:r>
              <a:rPr lang="en-US" sz="1800" dirty="0">
                <a:solidFill>
                  <a:srgbClr val="0000FF"/>
                </a:solidFill>
                <a:latin typeface="Cascadia Mono" panose="020B0609020000020004" pitchFamily="49" charset="0"/>
              </a:rPr>
              <a:t>&gt;</a:t>
            </a:r>
            <a:endParaRPr lang="en-US" altLang="en-US" sz="140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50816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E5055-97F7-E947-0C08-67D280FBB59F}"/>
              </a:ext>
            </a:extLst>
          </p:cNvPr>
          <p:cNvSpPr>
            <a:spLocks noGrp="1"/>
          </p:cNvSpPr>
          <p:nvPr>
            <p:ph type="title"/>
          </p:nvPr>
        </p:nvSpPr>
        <p:spPr>
          <a:xfrm>
            <a:off x="838200" y="18255"/>
            <a:ext cx="10515600" cy="896145"/>
          </a:xfrm>
        </p:spPr>
        <p:txBody>
          <a:bodyPr/>
          <a:lstStyle/>
          <a:p>
            <a:r>
              <a:rPr lang="en-US" dirty="0"/>
              <a:t>GRPC communication patterns</a:t>
            </a:r>
          </a:p>
        </p:txBody>
      </p:sp>
      <p:sp>
        <p:nvSpPr>
          <p:cNvPr id="3" name="Content Placeholder 2">
            <a:extLst>
              <a:ext uri="{FF2B5EF4-FFF2-40B4-BE49-F238E27FC236}">
                <a16:creationId xmlns:a16="http://schemas.microsoft.com/office/drawing/2014/main" id="{B2E81360-DE46-9D5D-5F03-1F4F8B9E56EA}"/>
              </a:ext>
            </a:extLst>
          </p:cNvPr>
          <p:cNvSpPr>
            <a:spLocks noGrp="1"/>
          </p:cNvSpPr>
          <p:nvPr>
            <p:ph idx="1"/>
          </p:nvPr>
        </p:nvSpPr>
        <p:spPr>
          <a:xfrm>
            <a:off x="0" y="823965"/>
            <a:ext cx="11897247" cy="6015780"/>
          </a:xfrm>
        </p:spPr>
        <p:txBody>
          <a:bodyPr>
            <a:normAutofit/>
          </a:bodyPr>
          <a:lstStyle/>
          <a:p>
            <a:r>
              <a:rPr lang="en-US" sz="2400" b="1" dirty="0">
                <a:solidFill>
                  <a:srgbClr val="FF0000"/>
                </a:solidFill>
              </a:rPr>
              <a:t>UNARY RPCs</a:t>
            </a:r>
            <a:r>
              <a:rPr lang="en-US" sz="2400" dirty="0"/>
              <a:t>: where client sends single request to the server and gets single response back</a:t>
            </a:r>
          </a:p>
          <a:p>
            <a:endParaRPr lang="en-US" sz="2400" dirty="0"/>
          </a:p>
          <a:p>
            <a:endParaRPr lang="en-US" sz="2400" b="1" dirty="0">
              <a:solidFill>
                <a:srgbClr val="FF0000"/>
              </a:solidFill>
            </a:endParaRPr>
          </a:p>
          <a:p>
            <a:r>
              <a:rPr lang="en-US" sz="2400" b="1" dirty="0">
                <a:solidFill>
                  <a:srgbClr val="FF0000"/>
                </a:solidFill>
              </a:rPr>
              <a:t>Server streaming RPCs</a:t>
            </a:r>
            <a:r>
              <a:rPr lang="en-US" sz="2400" dirty="0"/>
              <a:t>: where clint sends single request to the server and the server respond with more than response (stream of response)</a:t>
            </a:r>
          </a:p>
          <a:p>
            <a:endParaRPr lang="en-US" sz="2400" dirty="0"/>
          </a:p>
          <a:p>
            <a:endParaRPr lang="en-US" sz="2400" b="1" dirty="0">
              <a:solidFill>
                <a:srgbClr val="FF0000"/>
              </a:solidFill>
            </a:endParaRPr>
          </a:p>
          <a:p>
            <a:r>
              <a:rPr lang="en-US" sz="2400" b="1" dirty="0">
                <a:solidFill>
                  <a:srgbClr val="FF0000"/>
                </a:solidFill>
              </a:rPr>
              <a:t>client streaming RPCs : </a:t>
            </a:r>
            <a:r>
              <a:rPr lang="en-US" sz="2400" dirty="0"/>
              <a:t>clint sends more than one request to the server and server respond with one response</a:t>
            </a:r>
          </a:p>
          <a:p>
            <a:endParaRPr lang="en-US" sz="2400" b="1" dirty="0">
              <a:solidFill>
                <a:srgbClr val="FF0000"/>
              </a:solidFill>
            </a:endParaRPr>
          </a:p>
          <a:p>
            <a:r>
              <a:rPr lang="en-US" sz="2400" b="1" dirty="0">
                <a:solidFill>
                  <a:srgbClr val="FF0000"/>
                </a:solidFill>
              </a:rPr>
              <a:t>Bidirectional streaming</a:t>
            </a:r>
            <a:r>
              <a:rPr lang="en-US" sz="2400" dirty="0"/>
              <a:t>: clint sends more than one request to the server respond with more than response (stream of response)</a:t>
            </a:r>
          </a:p>
          <a:p>
            <a:endParaRPr lang="en-US" sz="2400" dirty="0"/>
          </a:p>
          <a:p>
            <a:r>
              <a:rPr lang="en-US" sz="2400" dirty="0"/>
              <a:t>Note: stream key word refers to more than </a:t>
            </a:r>
          </a:p>
        </p:txBody>
      </p:sp>
      <p:pic>
        <p:nvPicPr>
          <p:cNvPr id="5" name="Picture 4">
            <a:extLst>
              <a:ext uri="{FF2B5EF4-FFF2-40B4-BE49-F238E27FC236}">
                <a16:creationId xmlns:a16="http://schemas.microsoft.com/office/drawing/2014/main" id="{63C904BE-29A3-A670-C604-50BE18DDD1EA}"/>
              </a:ext>
            </a:extLst>
          </p:cNvPr>
          <p:cNvPicPr>
            <a:picLocks noChangeAspect="1"/>
          </p:cNvPicPr>
          <p:nvPr/>
        </p:nvPicPr>
        <p:blipFill>
          <a:blip r:embed="rId2"/>
          <a:stretch>
            <a:fillRect/>
          </a:stretch>
        </p:blipFill>
        <p:spPr>
          <a:xfrm>
            <a:off x="2762197" y="1240729"/>
            <a:ext cx="5715000" cy="809625"/>
          </a:xfrm>
          <a:prstGeom prst="rect">
            <a:avLst/>
          </a:prstGeom>
        </p:spPr>
      </p:pic>
      <p:pic>
        <p:nvPicPr>
          <p:cNvPr id="7" name="Picture 6">
            <a:extLst>
              <a:ext uri="{FF2B5EF4-FFF2-40B4-BE49-F238E27FC236}">
                <a16:creationId xmlns:a16="http://schemas.microsoft.com/office/drawing/2014/main" id="{01A58C96-9D08-937F-D614-98BB4BD52729}"/>
              </a:ext>
            </a:extLst>
          </p:cNvPr>
          <p:cNvPicPr>
            <a:picLocks noChangeAspect="1"/>
          </p:cNvPicPr>
          <p:nvPr/>
        </p:nvPicPr>
        <p:blipFill>
          <a:blip r:embed="rId3"/>
          <a:stretch>
            <a:fillRect/>
          </a:stretch>
        </p:blipFill>
        <p:spPr>
          <a:xfrm>
            <a:off x="5353572" y="2856065"/>
            <a:ext cx="6543675" cy="809625"/>
          </a:xfrm>
          <a:prstGeom prst="rect">
            <a:avLst/>
          </a:prstGeom>
        </p:spPr>
      </p:pic>
      <p:pic>
        <p:nvPicPr>
          <p:cNvPr id="9" name="Picture 8">
            <a:extLst>
              <a:ext uri="{FF2B5EF4-FFF2-40B4-BE49-F238E27FC236}">
                <a16:creationId xmlns:a16="http://schemas.microsoft.com/office/drawing/2014/main" id="{4257BF8A-BF3B-BD90-5DD3-F0E0EDB10860}"/>
              </a:ext>
            </a:extLst>
          </p:cNvPr>
          <p:cNvPicPr>
            <a:picLocks noChangeAspect="1"/>
          </p:cNvPicPr>
          <p:nvPr/>
        </p:nvPicPr>
        <p:blipFill>
          <a:blip r:embed="rId4"/>
          <a:stretch>
            <a:fillRect/>
          </a:stretch>
        </p:blipFill>
        <p:spPr>
          <a:xfrm>
            <a:off x="2847975" y="4283700"/>
            <a:ext cx="6496050" cy="714375"/>
          </a:xfrm>
          <a:prstGeom prst="rect">
            <a:avLst/>
          </a:prstGeom>
        </p:spPr>
      </p:pic>
      <p:pic>
        <p:nvPicPr>
          <p:cNvPr id="11" name="Picture 10">
            <a:extLst>
              <a:ext uri="{FF2B5EF4-FFF2-40B4-BE49-F238E27FC236}">
                <a16:creationId xmlns:a16="http://schemas.microsoft.com/office/drawing/2014/main" id="{F153E35C-6E0E-4888-DC0D-0692EA175029}"/>
              </a:ext>
            </a:extLst>
          </p:cNvPr>
          <p:cNvPicPr>
            <a:picLocks noChangeAspect="1"/>
          </p:cNvPicPr>
          <p:nvPr/>
        </p:nvPicPr>
        <p:blipFill>
          <a:blip r:embed="rId5"/>
          <a:stretch>
            <a:fillRect/>
          </a:stretch>
        </p:blipFill>
        <p:spPr>
          <a:xfrm>
            <a:off x="4854976" y="5494222"/>
            <a:ext cx="6581775" cy="619125"/>
          </a:xfrm>
          <a:prstGeom prst="rect">
            <a:avLst/>
          </a:prstGeom>
        </p:spPr>
      </p:pic>
    </p:spTree>
    <p:extLst>
      <p:ext uri="{BB962C8B-B14F-4D97-AF65-F5344CB8AC3E}">
        <p14:creationId xmlns:p14="http://schemas.microsoft.com/office/powerpoint/2010/main" val="365804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C221B-5F72-6671-B3EE-724B6C72975F}"/>
              </a:ext>
            </a:extLst>
          </p:cNvPr>
          <p:cNvSpPr>
            <a:spLocks noGrp="1"/>
          </p:cNvSpPr>
          <p:nvPr>
            <p:ph type="title"/>
          </p:nvPr>
        </p:nvSpPr>
        <p:spPr>
          <a:xfrm>
            <a:off x="838200" y="11182"/>
            <a:ext cx="10515600" cy="669855"/>
          </a:xfrm>
        </p:spPr>
        <p:txBody>
          <a:bodyPr>
            <a:normAutofit fontScale="90000"/>
          </a:bodyPr>
          <a:lstStyle/>
          <a:p>
            <a:r>
              <a:rPr lang="en-US" sz="4400" b="1" dirty="0">
                <a:solidFill>
                  <a:srgbClr val="FF0000"/>
                </a:solidFill>
              </a:rPr>
              <a:t>client streaming RPCs </a:t>
            </a:r>
            <a:r>
              <a:rPr lang="en-US" sz="4400" b="1" dirty="0" err="1">
                <a:solidFill>
                  <a:srgbClr val="FF0000"/>
                </a:solidFill>
              </a:rPr>
              <a:t>exmaple</a:t>
            </a:r>
            <a:endParaRPr lang="en-US" dirty="0"/>
          </a:p>
        </p:txBody>
      </p:sp>
      <p:sp>
        <p:nvSpPr>
          <p:cNvPr id="3" name="Content Placeholder 2">
            <a:extLst>
              <a:ext uri="{FF2B5EF4-FFF2-40B4-BE49-F238E27FC236}">
                <a16:creationId xmlns:a16="http://schemas.microsoft.com/office/drawing/2014/main" id="{73132E02-0549-1EC6-C04B-027982D64818}"/>
              </a:ext>
            </a:extLst>
          </p:cNvPr>
          <p:cNvSpPr>
            <a:spLocks noGrp="1"/>
          </p:cNvSpPr>
          <p:nvPr>
            <p:ph idx="1"/>
          </p:nvPr>
        </p:nvSpPr>
        <p:spPr>
          <a:xfrm>
            <a:off x="838200" y="681037"/>
            <a:ext cx="10515600" cy="5495926"/>
          </a:xfrm>
        </p:spPr>
        <p:txBody>
          <a:bodyPr/>
          <a:lstStyle/>
          <a:p>
            <a:r>
              <a:rPr lang="en-US" sz="1800" dirty="0" err="1">
                <a:solidFill>
                  <a:srgbClr val="0000FF"/>
                </a:solidFill>
                <a:latin typeface="Cascadia Mono" panose="020B0609020000020004" pitchFamily="49" charset="0"/>
              </a:rPr>
              <a:t>rpc</a:t>
            </a:r>
            <a:r>
              <a:rPr lang="en-US" sz="1800" dirty="0">
                <a:solidFill>
                  <a:srgbClr val="000000"/>
                </a:solidFill>
                <a:latin typeface="Cascadia Mono" panose="020B0609020000020004" pitchFamily="49" charset="0"/>
              </a:rPr>
              <a:t> </a:t>
            </a:r>
            <a:r>
              <a:rPr lang="en-US" sz="1800" dirty="0" err="1">
                <a:solidFill>
                  <a:srgbClr val="2B91AF"/>
                </a:solidFill>
                <a:latin typeface="Cascadia Mono" panose="020B0609020000020004" pitchFamily="49" charset="0"/>
              </a:rPr>
              <a:t>KeepAlive</a:t>
            </a:r>
            <a:r>
              <a:rPr lang="en-US" sz="1800" dirty="0">
                <a:solidFill>
                  <a:srgbClr val="2B91AF"/>
                </a:solidFill>
                <a:latin typeface="Cascadia Mono" panose="020B0609020000020004" pitchFamily="49" charset="0"/>
              </a:rPr>
              <a:t> </a:t>
            </a:r>
            <a:r>
              <a:rPr lang="en-US" sz="1800" dirty="0">
                <a:solidFill>
                  <a:srgbClr val="FF0000"/>
                </a:solidFill>
                <a:latin typeface="Cascadia Mono" panose="020B0609020000020004" pitchFamily="49" charset="0"/>
              </a:rPr>
              <a:t>(</a:t>
            </a:r>
            <a:r>
              <a:rPr lang="en-US" sz="1800" dirty="0">
                <a:solidFill>
                  <a:srgbClr val="0000FF"/>
                </a:solidFill>
                <a:latin typeface="Cascadia Mono" panose="020B0609020000020004" pitchFamily="49" charset="0"/>
              </a:rPr>
              <a:t>stream</a:t>
            </a:r>
            <a:r>
              <a:rPr lang="en-US" sz="1800" dirty="0">
                <a:solidFill>
                  <a:srgbClr val="2B91AF"/>
                </a:solidFill>
                <a:latin typeface="Cascadia Mono" panose="020B0609020000020004" pitchFamily="49" charset="0"/>
              </a:rPr>
              <a:t> </a:t>
            </a:r>
            <a:r>
              <a:rPr lang="en-US" sz="1800" dirty="0" err="1">
                <a:solidFill>
                  <a:srgbClr val="2B91AF"/>
                </a:solidFill>
                <a:latin typeface="Cascadia Mono" panose="020B0609020000020004" pitchFamily="49" charset="0"/>
              </a:rPr>
              <a:t>PulseMsg</a:t>
            </a:r>
            <a:r>
              <a:rPr lang="en-US" sz="1800" dirty="0">
                <a:solidFill>
                  <a:srgbClr val="2B91AF"/>
                </a:solidFill>
                <a:latin typeface="Cascadia Mono" panose="020B0609020000020004" pitchFamily="49" charset="0"/>
              </a:rPr>
              <a:t>) returns(</a:t>
            </a:r>
            <a:r>
              <a:rPr lang="en-US" sz="1800" dirty="0" err="1">
                <a:solidFill>
                  <a:srgbClr val="2B91AF"/>
                </a:solidFill>
                <a:latin typeface="Cascadia Mono" panose="020B0609020000020004" pitchFamily="49" charset="0"/>
              </a:rPr>
              <a:t>google.protobuf.Empty</a:t>
            </a:r>
            <a:r>
              <a:rPr lang="en-US" sz="1800" dirty="0">
                <a:solidFill>
                  <a:srgbClr val="2B91AF"/>
                </a:solidFill>
                <a:latin typeface="Cascadia Mono" panose="020B0609020000020004" pitchFamily="49" charset="0"/>
              </a:rPr>
              <a:t>);</a:t>
            </a:r>
          </a:p>
          <a:p>
            <a:r>
              <a:rPr lang="en-US" dirty="0"/>
              <a:t>Server implementation</a:t>
            </a:r>
          </a:p>
          <a:p>
            <a:endParaRPr lang="en-US" dirty="0"/>
          </a:p>
          <a:p>
            <a:endParaRPr lang="en-US" dirty="0"/>
          </a:p>
          <a:p>
            <a:endParaRPr lang="en-US" dirty="0"/>
          </a:p>
          <a:p>
            <a:endParaRPr lang="en-US" dirty="0"/>
          </a:p>
          <a:p>
            <a:endParaRPr lang="en-US" dirty="0"/>
          </a:p>
          <a:p>
            <a:r>
              <a:rPr lang="en-US" dirty="0"/>
              <a:t>Another way to loop on client streams</a:t>
            </a:r>
          </a:p>
          <a:p>
            <a:endParaRPr lang="en-US" dirty="0"/>
          </a:p>
        </p:txBody>
      </p:sp>
      <p:pic>
        <p:nvPicPr>
          <p:cNvPr id="5" name="Picture 4">
            <a:extLst>
              <a:ext uri="{FF2B5EF4-FFF2-40B4-BE49-F238E27FC236}">
                <a16:creationId xmlns:a16="http://schemas.microsoft.com/office/drawing/2014/main" id="{249841F5-8BD2-41CD-A08D-8BEE992455DF}"/>
              </a:ext>
            </a:extLst>
          </p:cNvPr>
          <p:cNvPicPr>
            <a:picLocks noChangeAspect="1"/>
          </p:cNvPicPr>
          <p:nvPr/>
        </p:nvPicPr>
        <p:blipFill>
          <a:blip r:embed="rId2"/>
          <a:stretch>
            <a:fillRect/>
          </a:stretch>
        </p:blipFill>
        <p:spPr>
          <a:xfrm>
            <a:off x="838200" y="1509795"/>
            <a:ext cx="8898653" cy="2630131"/>
          </a:xfrm>
          <a:prstGeom prst="rect">
            <a:avLst/>
          </a:prstGeom>
        </p:spPr>
      </p:pic>
      <p:pic>
        <p:nvPicPr>
          <p:cNvPr id="7" name="Picture 6">
            <a:extLst>
              <a:ext uri="{FF2B5EF4-FFF2-40B4-BE49-F238E27FC236}">
                <a16:creationId xmlns:a16="http://schemas.microsoft.com/office/drawing/2014/main" id="{D06035F7-2EAA-3F0E-39FD-A64259E9DF98}"/>
              </a:ext>
            </a:extLst>
          </p:cNvPr>
          <p:cNvPicPr>
            <a:picLocks noChangeAspect="1"/>
          </p:cNvPicPr>
          <p:nvPr/>
        </p:nvPicPr>
        <p:blipFill>
          <a:blip r:embed="rId3"/>
          <a:stretch>
            <a:fillRect/>
          </a:stretch>
        </p:blipFill>
        <p:spPr>
          <a:xfrm>
            <a:off x="838200" y="4681716"/>
            <a:ext cx="9286875" cy="1743075"/>
          </a:xfrm>
          <a:prstGeom prst="rect">
            <a:avLst/>
          </a:prstGeom>
        </p:spPr>
      </p:pic>
    </p:spTree>
    <p:extLst>
      <p:ext uri="{BB962C8B-B14F-4D97-AF65-F5344CB8AC3E}">
        <p14:creationId xmlns:p14="http://schemas.microsoft.com/office/powerpoint/2010/main" val="5370070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740E3-E1D1-A1F8-04E8-125626952C46}"/>
              </a:ext>
            </a:extLst>
          </p:cNvPr>
          <p:cNvSpPr>
            <a:spLocks noGrp="1"/>
          </p:cNvSpPr>
          <p:nvPr>
            <p:ph type="title"/>
          </p:nvPr>
        </p:nvSpPr>
        <p:spPr>
          <a:xfrm>
            <a:off x="838200" y="365125"/>
            <a:ext cx="10515600" cy="659807"/>
          </a:xfrm>
        </p:spPr>
        <p:txBody>
          <a:bodyPr>
            <a:normAutofit fontScale="90000"/>
          </a:bodyPr>
          <a:lstStyle/>
          <a:p>
            <a:r>
              <a:rPr lang="en-US" sz="4400" b="1" dirty="0">
                <a:solidFill>
                  <a:srgbClr val="FF0000"/>
                </a:solidFill>
              </a:rPr>
              <a:t>client streaming RPCs example [cont.]</a:t>
            </a:r>
            <a:endParaRPr lang="en-US" dirty="0"/>
          </a:p>
        </p:txBody>
      </p:sp>
      <p:sp>
        <p:nvSpPr>
          <p:cNvPr id="3" name="Content Placeholder 2">
            <a:extLst>
              <a:ext uri="{FF2B5EF4-FFF2-40B4-BE49-F238E27FC236}">
                <a16:creationId xmlns:a16="http://schemas.microsoft.com/office/drawing/2014/main" id="{957B3915-FE18-E8CB-0A19-CBFA2124604D}"/>
              </a:ext>
            </a:extLst>
          </p:cNvPr>
          <p:cNvSpPr>
            <a:spLocks noGrp="1"/>
          </p:cNvSpPr>
          <p:nvPr>
            <p:ph idx="1"/>
          </p:nvPr>
        </p:nvSpPr>
        <p:spPr>
          <a:xfrm>
            <a:off x="838200" y="1024932"/>
            <a:ext cx="10515600" cy="5467943"/>
          </a:xfrm>
        </p:spPr>
        <p:txBody>
          <a:bodyPr>
            <a:normAutofit/>
          </a:bodyPr>
          <a:lstStyle/>
          <a:p>
            <a:r>
              <a:rPr lang="en-US" dirty="0"/>
              <a:t>At client application</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ADCFCFC7-D4D5-83FC-BB34-FEBDAB20A82D}"/>
              </a:ext>
            </a:extLst>
          </p:cNvPr>
          <p:cNvPicPr>
            <a:picLocks noChangeAspect="1"/>
          </p:cNvPicPr>
          <p:nvPr/>
        </p:nvPicPr>
        <p:blipFill>
          <a:blip r:embed="rId2"/>
          <a:stretch>
            <a:fillRect/>
          </a:stretch>
        </p:blipFill>
        <p:spPr>
          <a:xfrm>
            <a:off x="918324" y="1519734"/>
            <a:ext cx="5934075" cy="4162425"/>
          </a:xfrm>
          <a:prstGeom prst="rect">
            <a:avLst/>
          </a:prstGeom>
        </p:spPr>
      </p:pic>
      <p:pic>
        <p:nvPicPr>
          <p:cNvPr id="7" name="Picture 6">
            <a:extLst>
              <a:ext uri="{FF2B5EF4-FFF2-40B4-BE49-F238E27FC236}">
                <a16:creationId xmlns:a16="http://schemas.microsoft.com/office/drawing/2014/main" id="{A2F79D0E-714A-F07A-128E-88984A7ED20F}"/>
              </a:ext>
            </a:extLst>
          </p:cNvPr>
          <p:cNvPicPr>
            <a:picLocks noChangeAspect="1"/>
          </p:cNvPicPr>
          <p:nvPr/>
        </p:nvPicPr>
        <p:blipFill>
          <a:blip r:embed="rId3"/>
          <a:stretch>
            <a:fillRect/>
          </a:stretch>
        </p:blipFill>
        <p:spPr>
          <a:xfrm>
            <a:off x="7338174" y="1303739"/>
            <a:ext cx="4095750" cy="381000"/>
          </a:xfrm>
          <a:prstGeom prst="rect">
            <a:avLst/>
          </a:prstGeom>
        </p:spPr>
      </p:pic>
      <p:sp>
        <p:nvSpPr>
          <p:cNvPr id="8" name="TextBox 7">
            <a:extLst>
              <a:ext uri="{FF2B5EF4-FFF2-40B4-BE49-F238E27FC236}">
                <a16:creationId xmlns:a16="http://schemas.microsoft.com/office/drawing/2014/main" id="{0703C279-0486-998F-2258-2E378E60A19E}"/>
              </a:ext>
            </a:extLst>
          </p:cNvPr>
          <p:cNvSpPr txBox="1"/>
          <p:nvPr/>
        </p:nvSpPr>
        <p:spPr>
          <a:xfrm>
            <a:off x="7636747" y="1979525"/>
            <a:ext cx="3636929" cy="646331"/>
          </a:xfrm>
          <a:prstGeom prst="rect">
            <a:avLst/>
          </a:prstGeom>
          <a:noFill/>
        </p:spPr>
        <p:txBody>
          <a:bodyPr wrap="square" rtlCol="0">
            <a:spAutoFit/>
          </a:bodyPr>
          <a:lstStyle/>
          <a:p>
            <a:r>
              <a:rPr lang="en-US" dirty="0"/>
              <a:t>To inform the server that the client complete sending requests</a:t>
            </a:r>
          </a:p>
        </p:txBody>
      </p:sp>
    </p:spTree>
    <p:extLst>
      <p:ext uri="{BB962C8B-B14F-4D97-AF65-F5344CB8AC3E}">
        <p14:creationId xmlns:p14="http://schemas.microsoft.com/office/powerpoint/2010/main" val="7286212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9CBFC-37D5-8855-647C-C4F0512D7848}"/>
              </a:ext>
            </a:extLst>
          </p:cNvPr>
          <p:cNvSpPr>
            <a:spLocks noGrp="1"/>
          </p:cNvSpPr>
          <p:nvPr>
            <p:ph type="title"/>
          </p:nvPr>
        </p:nvSpPr>
        <p:spPr>
          <a:xfrm>
            <a:off x="838200" y="31279"/>
            <a:ext cx="10515600" cy="551526"/>
          </a:xfrm>
        </p:spPr>
        <p:txBody>
          <a:bodyPr>
            <a:normAutofit fontScale="90000"/>
          </a:bodyPr>
          <a:lstStyle/>
          <a:p>
            <a:r>
              <a:rPr lang="en-US" dirty="0"/>
              <a:t>Implement server response with stream</a:t>
            </a:r>
          </a:p>
        </p:txBody>
      </p:sp>
      <p:sp>
        <p:nvSpPr>
          <p:cNvPr id="3" name="Content Placeholder 2">
            <a:extLst>
              <a:ext uri="{FF2B5EF4-FFF2-40B4-BE49-F238E27FC236}">
                <a16:creationId xmlns:a16="http://schemas.microsoft.com/office/drawing/2014/main" id="{CE3E2372-F66D-B89B-DA25-9A186E4FB76F}"/>
              </a:ext>
            </a:extLst>
          </p:cNvPr>
          <p:cNvSpPr>
            <a:spLocks noGrp="1"/>
          </p:cNvSpPr>
          <p:nvPr>
            <p:ph idx="1"/>
          </p:nvPr>
        </p:nvSpPr>
        <p:spPr>
          <a:xfrm>
            <a:off x="838200" y="681037"/>
            <a:ext cx="10515600" cy="5495926"/>
          </a:xfrm>
        </p:spPr>
        <p:txBody>
          <a:bodyPr/>
          <a:lstStyle/>
          <a:p>
            <a:r>
              <a:rPr lang="en-US" dirty="0"/>
              <a:t>The proto</a:t>
            </a:r>
          </a:p>
          <a:p>
            <a:r>
              <a:rPr lang="en-US" dirty="0"/>
              <a:t> </a:t>
            </a:r>
          </a:p>
          <a:p>
            <a:endParaRPr lang="en-US" dirty="0"/>
          </a:p>
          <a:p>
            <a:endParaRPr lang="en-US" dirty="0"/>
          </a:p>
          <a:p>
            <a:endParaRPr lang="en-US" dirty="0"/>
          </a:p>
          <a:p>
            <a:r>
              <a:rPr lang="en-US" dirty="0"/>
              <a:t>Server implementation</a:t>
            </a:r>
          </a:p>
          <a:p>
            <a:endParaRPr lang="en-US" dirty="0"/>
          </a:p>
        </p:txBody>
      </p:sp>
      <p:pic>
        <p:nvPicPr>
          <p:cNvPr id="5" name="Picture 4">
            <a:extLst>
              <a:ext uri="{FF2B5EF4-FFF2-40B4-BE49-F238E27FC236}">
                <a16:creationId xmlns:a16="http://schemas.microsoft.com/office/drawing/2014/main" id="{2108EDCC-469A-B421-E192-A76645FE8903}"/>
              </a:ext>
            </a:extLst>
          </p:cNvPr>
          <p:cNvPicPr>
            <a:picLocks noChangeAspect="1"/>
          </p:cNvPicPr>
          <p:nvPr/>
        </p:nvPicPr>
        <p:blipFill>
          <a:blip r:embed="rId2"/>
          <a:stretch>
            <a:fillRect/>
          </a:stretch>
        </p:blipFill>
        <p:spPr>
          <a:xfrm>
            <a:off x="7955624" y="766763"/>
            <a:ext cx="3781425" cy="1704975"/>
          </a:xfrm>
          <a:prstGeom prst="rect">
            <a:avLst/>
          </a:prstGeom>
        </p:spPr>
      </p:pic>
      <p:pic>
        <p:nvPicPr>
          <p:cNvPr id="7" name="Picture 6">
            <a:extLst>
              <a:ext uri="{FF2B5EF4-FFF2-40B4-BE49-F238E27FC236}">
                <a16:creationId xmlns:a16="http://schemas.microsoft.com/office/drawing/2014/main" id="{F29833E3-3A48-0F2E-5493-640FBB75646F}"/>
              </a:ext>
            </a:extLst>
          </p:cNvPr>
          <p:cNvPicPr>
            <a:picLocks noChangeAspect="1"/>
          </p:cNvPicPr>
          <p:nvPr/>
        </p:nvPicPr>
        <p:blipFill>
          <a:blip r:embed="rId3"/>
          <a:stretch>
            <a:fillRect/>
          </a:stretch>
        </p:blipFill>
        <p:spPr>
          <a:xfrm>
            <a:off x="2780723" y="794133"/>
            <a:ext cx="4962525" cy="285750"/>
          </a:xfrm>
          <a:prstGeom prst="rect">
            <a:avLst/>
          </a:prstGeom>
        </p:spPr>
      </p:pic>
      <p:pic>
        <p:nvPicPr>
          <p:cNvPr id="9" name="Picture 8">
            <a:extLst>
              <a:ext uri="{FF2B5EF4-FFF2-40B4-BE49-F238E27FC236}">
                <a16:creationId xmlns:a16="http://schemas.microsoft.com/office/drawing/2014/main" id="{C5DCAA82-7004-F770-84EF-E999A2BBE483}"/>
              </a:ext>
            </a:extLst>
          </p:cNvPr>
          <p:cNvPicPr>
            <a:picLocks noChangeAspect="1"/>
          </p:cNvPicPr>
          <p:nvPr/>
        </p:nvPicPr>
        <p:blipFill>
          <a:blip r:embed="rId4"/>
          <a:stretch>
            <a:fillRect/>
          </a:stretch>
        </p:blipFill>
        <p:spPr>
          <a:xfrm>
            <a:off x="4548031" y="2870584"/>
            <a:ext cx="7296150" cy="3705225"/>
          </a:xfrm>
          <a:prstGeom prst="rect">
            <a:avLst/>
          </a:prstGeom>
        </p:spPr>
      </p:pic>
    </p:spTree>
    <p:extLst>
      <p:ext uri="{BB962C8B-B14F-4D97-AF65-F5344CB8AC3E}">
        <p14:creationId xmlns:p14="http://schemas.microsoft.com/office/powerpoint/2010/main" val="717848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493A7-BA6C-EED2-0D95-550045B5695C}"/>
              </a:ext>
            </a:extLst>
          </p:cNvPr>
          <p:cNvSpPr>
            <a:spLocks noGrp="1"/>
          </p:cNvSpPr>
          <p:nvPr>
            <p:ph type="title"/>
          </p:nvPr>
        </p:nvSpPr>
        <p:spPr>
          <a:xfrm>
            <a:off x="838200" y="0"/>
            <a:ext cx="10515600" cy="790435"/>
          </a:xfrm>
        </p:spPr>
        <p:txBody>
          <a:bodyPr/>
          <a:lstStyle/>
          <a:p>
            <a:r>
              <a:rPr lang="en-US" dirty="0"/>
              <a:t>Implement server response with stream</a:t>
            </a:r>
          </a:p>
        </p:txBody>
      </p:sp>
      <p:sp>
        <p:nvSpPr>
          <p:cNvPr id="3" name="Content Placeholder 2">
            <a:extLst>
              <a:ext uri="{FF2B5EF4-FFF2-40B4-BE49-F238E27FC236}">
                <a16:creationId xmlns:a16="http://schemas.microsoft.com/office/drawing/2014/main" id="{540BDF9D-5584-9F23-5B33-5C6130774E63}"/>
              </a:ext>
            </a:extLst>
          </p:cNvPr>
          <p:cNvSpPr>
            <a:spLocks noGrp="1"/>
          </p:cNvSpPr>
          <p:nvPr>
            <p:ph idx="1"/>
          </p:nvPr>
        </p:nvSpPr>
        <p:spPr>
          <a:xfrm>
            <a:off x="411982" y="790435"/>
            <a:ext cx="10941818" cy="5751042"/>
          </a:xfrm>
        </p:spPr>
        <p:txBody>
          <a:bodyPr/>
          <a:lstStyle/>
          <a:p>
            <a:r>
              <a:rPr lang="en-US" dirty="0"/>
              <a:t>At client project</a:t>
            </a:r>
          </a:p>
          <a:p>
            <a:endParaRPr lang="en-US" dirty="0"/>
          </a:p>
          <a:p>
            <a:endParaRPr lang="en-US" dirty="0"/>
          </a:p>
        </p:txBody>
      </p:sp>
      <p:pic>
        <p:nvPicPr>
          <p:cNvPr id="5" name="Picture 4">
            <a:extLst>
              <a:ext uri="{FF2B5EF4-FFF2-40B4-BE49-F238E27FC236}">
                <a16:creationId xmlns:a16="http://schemas.microsoft.com/office/drawing/2014/main" id="{73C421B4-BC42-17DC-E164-F969F67873B9}"/>
              </a:ext>
            </a:extLst>
          </p:cNvPr>
          <p:cNvPicPr>
            <a:picLocks noChangeAspect="1"/>
          </p:cNvPicPr>
          <p:nvPr/>
        </p:nvPicPr>
        <p:blipFill>
          <a:blip r:embed="rId2"/>
          <a:stretch>
            <a:fillRect/>
          </a:stretch>
        </p:blipFill>
        <p:spPr>
          <a:xfrm>
            <a:off x="510477" y="1283519"/>
            <a:ext cx="6267450" cy="1457325"/>
          </a:xfrm>
          <a:prstGeom prst="rect">
            <a:avLst/>
          </a:prstGeom>
        </p:spPr>
      </p:pic>
    </p:spTree>
    <p:extLst>
      <p:ext uri="{BB962C8B-B14F-4D97-AF65-F5344CB8AC3E}">
        <p14:creationId xmlns:p14="http://schemas.microsoft.com/office/powerpoint/2010/main" val="11613052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C4821-AC68-9B17-E8FA-A3CA7A6DE586}"/>
              </a:ext>
            </a:extLst>
          </p:cNvPr>
          <p:cNvSpPr>
            <a:spLocks noGrp="1"/>
          </p:cNvSpPr>
          <p:nvPr>
            <p:ph type="title"/>
          </p:nvPr>
        </p:nvSpPr>
        <p:spPr>
          <a:xfrm>
            <a:off x="838200" y="0"/>
            <a:ext cx="10515600" cy="860774"/>
          </a:xfrm>
        </p:spPr>
        <p:txBody>
          <a:bodyPr/>
          <a:lstStyle/>
          <a:p>
            <a:r>
              <a:rPr lang="en-US" dirty="0"/>
              <a:t>GRPC service versioning</a:t>
            </a:r>
          </a:p>
        </p:txBody>
      </p:sp>
      <p:sp>
        <p:nvSpPr>
          <p:cNvPr id="3" name="Content Placeholder 2">
            <a:extLst>
              <a:ext uri="{FF2B5EF4-FFF2-40B4-BE49-F238E27FC236}">
                <a16:creationId xmlns:a16="http://schemas.microsoft.com/office/drawing/2014/main" id="{BA082CE7-9580-502F-FA52-2A65FF1057D6}"/>
              </a:ext>
            </a:extLst>
          </p:cNvPr>
          <p:cNvSpPr>
            <a:spLocks noGrp="1"/>
          </p:cNvSpPr>
          <p:nvPr>
            <p:ph idx="1"/>
          </p:nvPr>
        </p:nvSpPr>
        <p:spPr>
          <a:xfrm>
            <a:off x="432079" y="860774"/>
            <a:ext cx="11344589" cy="5771138"/>
          </a:xfrm>
        </p:spPr>
        <p:txBody>
          <a:bodyPr/>
          <a:lstStyle/>
          <a:p>
            <a:r>
              <a:rPr lang="en-US" dirty="0"/>
              <a:t>This case when client and server have two separate proto file not share the same file</a:t>
            </a:r>
          </a:p>
        </p:txBody>
      </p:sp>
    </p:spTree>
    <p:extLst>
      <p:ext uri="{BB962C8B-B14F-4D97-AF65-F5344CB8AC3E}">
        <p14:creationId xmlns:p14="http://schemas.microsoft.com/office/powerpoint/2010/main" val="2465664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7C141-4DC5-25FD-41B5-52B9C0BF0398}"/>
              </a:ext>
            </a:extLst>
          </p:cNvPr>
          <p:cNvSpPr>
            <a:spLocks noGrp="1"/>
          </p:cNvSpPr>
          <p:nvPr>
            <p:ph type="title"/>
          </p:nvPr>
        </p:nvSpPr>
        <p:spPr/>
        <p:txBody>
          <a:bodyPr/>
          <a:lstStyle/>
          <a:p>
            <a:r>
              <a:rPr lang="en-US" dirty="0"/>
              <a:t>Authentication</a:t>
            </a:r>
          </a:p>
        </p:txBody>
      </p:sp>
      <p:sp>
        <p:nvSpPr>
          <p:cNvPr id="3" name="Content Placeholder 2">
            <a:extLst>
              <a:ext uri="{FF2B5EF4-FFF2-40B4-BE49-F238E27FC236}">
                <a16:creationId xmlns:a16="http://schemas.microsoft.com/office/drawing/2014/main" id="{4BDB7D1F-E0ED-00B5-EA05-A20AC782855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22784609"/>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2013 - 2022 Theme</Template>
  <TotalTime>2740</TotalTime>
  <Words>2414</Words>
  <Application>Microsoft Office PowerPoint</Application>
  <PresentationFormat>Widescreen</PresentationFormat>
  <Paragraphs>361</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Calibri Light</vt:lpstr>
      <vt:lpstr>Cascadia Mono</vt:lpstr>
      <vt:lpstr>Tahoma</vt:lpstr>
      <vt:lpstr>Wingdings</vt:lpstr>
      <vt:lpstr>Office 2013 - 2022 Theme</vt:lpstr>
      <vt:lpstr>GRPC</vt:lpstr>
      <vt:lpstr>Info to help</vt:lpstr>
      <vt:lpstr>How do service communicate with each other [service to service communication]</vt:lpstr>
      <vt:lpstr>What is RPC</vt:lpstr>
      <vt:lpstr>GRPC</vt:lpstr>
      <vt:lpstr>How does GRPC works</vt:lpstr>
      <vt:lpstr>Protocol buffer file example</vt:lpstr>
      <vt:lpstr>Proto file option and package</vt:lpstr>
      <vt:lpstr>Proto file</vt:lpstr>
      <vt:lpstr>Proto file</vt:lpstr>
      <vt:lpstr>Proto file</vt:lpstr>
      <vt:lpstr>Proto file</vt:lpstr>
      <vt:lpstr>Proto buffer file</vt:lpstr>
      <vt:lpstr>Let’s have more fun and implement our first GRPC project</vt:lpstr>
      <vt:lpstr>Step 1</vt:lpstr>
      <vt:lpstr>Step 2 create server project  WebAPI project</vt:lpstr>
      <vt:lpstr>Step 3 create the shared protocol buffer file on server</vt:lpstr>
      <vt:lpstr>Protocol buffer Code </vt:lpstr>
      <vt:lpstr>Step 4 install Grpc.AspNetCore package in server project </vt:lpstr>
      <vt:lpstr>Step 5 implement service at server project</vt:lpstr>
      <vt:lpstr>PowerPoint Presentation</vt:lpstr>
      <vt:lpstr>Step 6: inject GRPC service</vt:lpstr>
      <vt:lpstr>Create client application WebAPI</vt:lpstr>
      <vt:lpstr>At client project</vt:lpstr>
      <vt:lpstr>Inject client instead of ask </vt:lpstr>
      <vt:lpstr>Call methods of service existed on server using client [InventoryServiceClient]</vt:lpstr>
      <vt:lpstr>The difference between JSON &amp; XML &amp; Buffer</vt:lpstr>
      <vt:lpstr>PowerPoint Presentation</vt:lpstr>
      <vt:lpstr>Shared proto file between client and server</vt:lpstr>
      <vt:lpstr>Shared proto file between client and server [cont.]</vt:lpstr>
      <vt:lpstr>GRPC communication patterns</vt:lpstr>
      <vt:lpstr>client streaming RPCs exmaple</vt:lpstr>
      <vt:lpstr>client streaming RPCs example [cont.]</vt:lpstr>
      <vt:lpstr>Implement server response with stream</vt:lpstr>
      <vt:lpstr>Implement server response with stream</vt:lpstr>
      <vt:lpstr>GRPC service versioning</vt:lpstr>
      <vt:lpstr>Authentication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GRPC</dc:title>
  <dc:creator>احمد محمد سمير</dc:creator>
  <cp:lastModifiedBy>احمد محمد سمير</cp:lastModifiedBy>
  <cp:revision>146</cp:revision>
  <dcterms:created xsi:type="dcterms:W3CDTF">2024-05-31T13:07:33Z</dcterms:created>
  <dcterms:modified xsi:type="dcterms:W3CDTF">2024-06-07T01:08:55Z</dcterms:modified>
</cp:coreProperties>
</file>