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6"/>
  </p:notes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361" r:id="rId17"/>
    <p:sldId id="270" r:id="rId18"/>
    <p:sldId id="271" r:id="rId19"/>
    <p:sldId id="272" r:id="rId20"/>
    <p:sldId id="273" r:id="rId21"/>
    <p:sldId id="292" r:id="rId22"/>
    <p:sldId id="295" r:id="rId23"/>
    <p:sldId id="293" r:id="rId24"/>
    <p:sldId id="296" r:id="rId25"/>
    <p:sldId id="298" r:id="rId26"/>
    <p:sldId id="297" r:id="rId27"/>
    <p:sldId id="294" r:id="rId28"/>
    <p:sldId id="362" r:id="rId29"/>
    <p:sldId id="363" r:id="rId30"/>
    <p:sldId id="276" r:id="rId31"/>
    <p:sldId id="274" r:id="rId32"/>
    <p:sldId id="340" r:id="rId33"/>
    <p:sldId id="275" r:id="rId34"/>
    <p:sldId id="339" r:id="rId35"/>
    <p:sldId id="366" r:id="rId36"/>
    <p:sldId id="367" r:id="rId37"/>
    <p:sldId id="277" r:id="rId38"/>
    <p:sldId id="368" r:id="rId39"/>
    <p:sldId id="383" r:id="rId40"/>
    <p:sldId id="387" r:id="rId41"/>
    <p:sldId id="388" r:id="rId42"/>
    <p:sldId id="389" r:id="rId43"/>
    <p:sldId id="390" r:id="rId44"/>
    <p:sldId id="391" r:id="rId45"/>
    <p:sldId id="278" r:id="rId46"/>
    <p:sldId id="279" r:id="rId47"/>
    <p:sldId id="386" r:id="rId48"/>
    <p:sldId id="299" r:id="rId49"/>
    <p:sldId id="300" r:id="rId50"/>
    <p:sldId id="301" r:id="rId51"/>
    <p:sldId id="304" r:id="rId52"/>
    <p:sldId id="305" r:id="rId53"/>
    <p:sldId id="306" r:id="rId54"/>
    <p:sldId id="303" r:id="rId55"/>
    <p:sldId id="302" r:id="rId56"/>
    <p:sldId id="308" r:id="rId57"/>
    <p:sldId id="307" r:id="rId58"/>
    <p:sldId id="315" r:id="rId59"/>
    <p:sldId id="319" r:id="rId60"/>
    <p:sldId id="321" r:id="rId61"/>
    <p:sldId id="320" r:id="rId62"/>
    <p:sldId id="323" r:id="rId63"/>
    <p:sldId id="329" r:id="rId64"/>
    <p:sldId id="310" r:id="rId65"/>
    <p:sldId id="351" r:id="rId66"/>
    <p:sldId id="350" r:id="rId67"/>
    <p:sldId id="311" r:id="rId68"/>
    <p:sldId id="396" r:id="rId69"/>
    <p:sldId id="398" r:id="rId70"/>
    <p:sldId id="397" r:id="rId71"/>
    <p:sldId id="314" r:id="rId72"/>
    <p:sldId id="328" r:id="rId73"/>
    <p:sldId id="342" r:id="rId74"/>
    <p:sldId id="346" r:id="rId75"/>
    <p:sldId id="353" r:id="rId76"/>
    <p:sldId id="354" r:id="rId77"/>
    <p:sldId id="355" r:id="rId78"/>
    <p:sldId id="356" r:id="rId79"/>
    <p:sldId id="369" r:id="rId80"/>
    <p:sldId id="372" r:id="rId81"/>
    <p:sldId id="330" r:id="rId82"/>
    <p:sldId id="326" r:id="rId83"/>
    <p:sldId id="333" r:id="rId84"/>
    <p:sldId id="334" r:id="rId85"/>
    <p:sldId id="327" r:id="rId86"/>
    <p:sldId id="344" r:id="rId87"/>
    <p:sldId id="313" r:id="rId88"/>
    <p:sldId id="345" r:id="rId89"/>
    <p:sldId id="347" r:id="rId90"/>
    <p:sldId id="349" r:id="rId91"/>
    <p:sldId id="352" r:id="rId92"/>
    <p:sldId id="348" r:id="rId93"/>
    <p:sldId id="316" r:id="rId94"/>
    <p:sldId id="335" r:id="rId95"/>
    <p:sldId id="289" r:id="rId96"/>
    <p:sldId id="290" r:id="rId97"/>
    <p:sldId id="312" r:id="rId98"/>
    <p:sldId id="357" r:id="rId99"/>
    <p:sldId id="399" r:id="rId100"/>
    <p:sldId id="341" r:id="rId101"/>
    <p:sldId id="322" r:id="rId102"/>
    <p:sldId id="280" r:id="rId103"/>
    <p:sldId id="358" r:id="rId104"/>
    <p:sldId id="360" r:id="rId105"/>
    <p:sldId id="373" r:id="rId106"/>
    <p:sldId id="374" r:id="rId107"/>
    <p:sldId id="375" r:id="rId108"/>
    <p:sldId id="382" r:id="rId109"/>
    <p:sldId id="359" r:id="rId110"/>
    <p:sldId id="376" r:id="rId111"/>
    <p:sldId id="379" r:id="rId112"/>
    <p:sldId id="380" r:id="rId113"/>
    <p:sldId id="381" r:id="rId114"/>
    <p:sldId id="392" r:id="rId115"/>
    <p:sldId id="394" r:id="rId116"/>
    <p:sldId id="393" r:id="rId117"/>
    <p:sldId id="378" r:id="rId118"/>
    <p:sldId id="269" r:id="rId119"/>
    <p:sldId id="309" r:id="rId120"/>
    <p:sldId id="324" r:id="rId121"/>
    <p:sldId id="317" r:id="rId122"/>
    <p:sldId id="331" r:id="rId123"/>
    <p:sldId id="336" r:id="rId124"/>
    <p:sldId id="268" r:id="rId1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35B1F55-086F-4E48-B9CC-106EC9368258}">
          <p14:sldIdLst>
            <p14:sldId id="256"/>
            <p14:sldId id="266"/>
            <p14:sldId id="265"/>
            <p14:sldId id="284"/>
            <p14:sldId id="257"/>
            <p14:sldId id="258"/>
            <p14:sldId id="260"/>
            <p14:sldId id="261"/>
            <p14:sldId id="262"/>
            <p14:sldId id="263"/>
            <p14:sldId id="267"/>
            <p14:sldId id="337"/>
            <p14:sldId id="264"/>
            <p14:sldId id="318"/>
            <p14:sldId id="338"/>
            <p14:sldId id="361"/>
            <p14:sldId id="270"/>
            <p14:sldId id="271"/>
            <p14:sldId id="272"/>
            <p14:sldId id="273"/>
            <p14:sldId id="292"/>
            <p14:sldId id="295"/>
            <p14:sldId id="293"/>
            <p14:sldId id="296"/>
            <p14:sldId id="298"/>
            <p14:sldId id="297"/>
            <p14:sldId id="294"/>
            <p14:sldId id="362"/>
            <p14:sldId id="363"/>
            <p14:sldId id="276"/>
            <p14:sldId id="274"/>
            <p14:sldId id="340"/>
            <p14:sldId id="275"/>
            <p14:sldId id="339"/>
            <p14:sldId id="366"/>
            <p14:sldId id="367"/>
            <p14:sldId id="277"/>
            <p14:sldId id="368"/>
            <p14:sldId id="383"/>
            <p14:sldId id="387"/>
            <p14:sldId id="388"/>
            <p14:sldId id="389"/>
            <p14:sldId id="390"/>
            <p14:sldId id="391"/>
            <p14:sldId id="278"/>
            <p14:sldId id="279"/>
            <p14:sldId id="386"/>
            <p14:sldId id="299"/>
            <p14:sldId id="300"/>
            <p14:sldId id="301"/>
            <p14:sldId id="304"/>
            <p14:sldId id="305"/>
            <p14:sldId id="306"/>
            <p14:sldId id="303"/>
            <p14:sldId id="302"/>
            <p14:sldId id="308"/>
            <p14:sldId id="307"/>
            <p14:sldId id="315"/>
            <p14:sldId id="319"/>
            <p14:sldId id="321"/>
            <p14:sldId id="320"/>
            <p14:sldId id="323"/>
            <p14:sldId id="329"/>
            <p14:sldId id="310"/>
            <p14:sldId id="351"/>
            <p14:sldId id="350"/>
            <p14:sldId id="311"/>
            <p14:sldId id="396"/>
            <p14:sldId id="398"/>
            <p14:sldId id="397"/>
            <p14:sldId id="314"/>
            <p14:sldId id="328"/>
            <p14:sldId id="342"/>
            <p14:sldId id="346"/>
            <p14:sldId id="353"/>
            <p14:sldId id="354"/>
            <p14:sldId id="355"/>
            <p14:sldId id="356"/>
            <p14:sldId id="369"/>
            <p14:sldId id="372"/>
            <p14:sldId id="330"/>
            <p14:sldId id="326"/>
            <p14:sldId id="333"/>
            <p14:sldId id="334"/>
            <p14:sldId id="327"/>
            <p14:sldId id="344"/>
            <p14:sldId id="313"/>
            <p14:sldId id="345"/>
            <p14:sldId id="347"/>
            <p14:sldId id="349"/>
            <p14:sldId id="352"/>
            <p14:sldId id="348"/>
            <p14:sldId id="316"/>
            <p14:sldId id="335"/>
            <p14:sldId id="289"/>
            <p14:sldId id="290"/>
            <p14:sldId id="312"/>
            <p14:sldId id="357"/>
            <p14:sldId id="399"/>
            <p14:sldId id="341"/>
            <p14:sldId id="322"/>
            <p14:sldId id="280"/>
            <p14:sldId id="358"/>
            <p14:sldId id="360"/>
            <p14:sldId id="373"/>
            <p14:sldId id="374"/>
            <p14:sldId id="375"/>
            <p14:sldId id="382"/>
            <p14:sldId id="359"/>
            <p14:sldId id="376"/>
            <p14:sldId id="379"/>
            <p14:sldId id="380"/>
            <p14:sldId id="381"/>
            <p14:sldId id="392"/>
            <p14:sldId id="394"/>
            <p14:sldId id="393"/>
            <p14:sldId id="378"/>
            <p14:sldId id="269"/>
            <p14:sldId id="309"/>
            <p14:sldId id="324"/>
            <p14:sldId id="317"/>
            <p14:sldId id="331"/>
            <p14:sldId id="33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6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7F856-C08C-4D83-8D37-28A6206D94A8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F432B-6366-4A70-9E8F-11E1E8450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459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F432B-6366-4A70-9E8F-11E1E8450E9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262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2835917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69E4-AEBB-D18C-40E1-04387CDC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F285-F64F-E46E-5F12-D0FEAE0C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CSS</a:t>
            </a:r>
          </a:p>
        </p:txBody>
      </p:sp>
    </p:spTree>
    <p:extLst>
      <p:ext uri="{BB962C8B-B14F-4D97-AF65-F5344CB8AC3E}">
        <p14:creationId xmlns:p14="http://schemas.microsoft.com/office/powerpoint/2010/main" val="38976978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D825-945B-DE52-D932-59CACBC4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111F-5D8E-225A-25F4-349D8B03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CSS</a:t>
            </a:r>
          </a:p>
        </p:txBody>
      </p:sp>
    </p:spTree>
    <p:extLst>
      <p:ext uri="{BB962C8B-B14F-4D97-AF65-F5344CB8AC3E}">
        <p14:creationId xmlns:p14="http://schemas.microsoft.com/office/powerpoint/2010/main" val="19180587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E6BD-0C7B-6BA4-77ED-677D5406A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1182502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360A-4087-24E1-28BE-F5321870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30" y="974690"/>
            <a:ext cx="11224009" cy="5255288"/>
          </a:xfrm>
        </p:spPr>
        <p:txBody>
          <a:bodyPr/>
          <a:lstStyle/>
          <a:p>
            <a:r>
              <a:rPr lang="en-US" b="1"/>
              <a:t>The behavior of following code will be</a:t>
            </a:r>
          </a:p>
          <a:p>
            <a:pPr lvl="1"/>
            <a:r>
              <a:rPr lang="en-US" b="1"/>
              <a:t>A side bar that appears at md+ screens</a:t>
            </a:r>
          </a:p>
          <a:p>
            <a:pPr lvl="1"/>
            <a:r>
              <a:rPr lang="en-US" b="1"/>
              <a:t>At screen less than md+ the side bar will disappeared and toggle (hamburger) button will appear to toggle the sidebar</a:t>
            </a:r>
          </a:p>
          <a:p>
            <a:pPr lvl="1"/>
            <a:r>
              <a:rPr lang="en-US" b="1"/>
              <a:t>The sidebar will be as offcanvas</a:t>
            </a:r>
          </a:p>
        </p:txBody>
      </p:sp>
    </p:spTree>
    <p:extLst>
      <p:ext uri="{BB962C8B-B14F-4D97-AF65-F5344CB8AC3E}">
        <p14:creationId xmlns:p14="http://schemas.microsoft.com/office/powerpoint/2010/main" val="21220244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E56E-2E6A-CCA4-7CA5-D8DA7644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Side bar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18D38-5CF9-77A1-0A46-D29F1C11CEC6}"/>
              </a:ext>
            </a:extLst>
          </p:cNvPr>
          <p:cNvSpPr txBox="1"/>
          <p:nvPr/>
        </p:nvSpPr>
        <p:spPr>
          <a:xfrm>
            <a:off x="0" y="1452771"/>
            <a:ext cx="12108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h-100"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&lt;!-- ONE sidebar: works as offcanvas on from xs to sm, normal from md --&gt;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 offcanvas-start d-md-block border-0"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tabindex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"-1"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"a-sidebar"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"offcanvas-header d-md-none"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"offcanvas-title"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"btn-close"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data-bs-dismiss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"offcanvas-body p-0"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 flex-column p-2"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"/mainLayout/Product"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 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[routerLink]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'/mainLayout'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'about'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About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</a:p>
        </p:txBody>
      </p:sp>
    </p:spTree>
    <p:extLst>
      <p:ext uri="{BB962C8B-B14F-4D97-AF65-F5344CB8AC3E}">
        <p14:creationId xmlns:p14="http://schemas.microsoft.com/office/powerpoint/2010/main" val="3254954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0CF1E-44AC-5ADC-AB26-66866B16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83771"/>
          </a:xfrm>
        </p:spPr>
        <p:txBody>
          <a:bodyPr/>
          <a:lstStyle/>
          <a:p>
            <a:r>
              <a:rPr lang="en-US"/>
              <a:t>Sidebar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BA032D-8EF7-03AF-C94F-ED0F7013B336}"/>
              </a:ext>
            </a:extLst>
          </p:cNvPr>
          <p:cNvSpPr txBox="1"/>
          <p:nvPr/>
        </p:nvSpPr>
        <p:spPr>
          <a:xfrm>
            <a:off x="552659" y="1492969"/>
            <a:ext cx="1086226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background-color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#343a40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@media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768px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the default is transform: translateX(-100%); 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default visibility: hidden*/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visibility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visible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/*default position: fixed*/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              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100vh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150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0D53-CF4D-31D7-9D22-43AF00A3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70450"/>
          </a:xfrm>
        </p:spPr>
        <p:txBody>
          <a:bodyPr/>
          <a:lstStyle/>
          <a:p>
            <a:r>
              <a:rPr lang="en-US"/>
              <a:t>Sidebar 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FEA6-9D42-E1F3-3E26-C2A2D1833FF3}"/>
              </a:ext>
            </a:extLst>
          </p:cNvPr>
          <p:cNvSpPr txBox="1"/>
          <p:nvPr/>
        </p:nvSpPr>
        <p:spPr>
          <a:xfrm>
            <a:off x="522515" y="970450"/>
            <a:ext cx="110230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Component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'@angular/core'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RouterLink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'@angular/router'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'app-side-bar'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'./side-bar.component.html'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'./side-bar.component.css'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723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2B855-9938-F497-3B22-185FB16B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844"/>
            <a:ext cx="10353762" cy="970450"/>
          </a:xfrm>
        </p:spPr>
        <p:txBody>
          <a:bodyPr/>
          <a:lstStyle/>
          <a:p>
            <a:r>
              <a:rPr lang="en-US"/>
              <a:t>Main layout.ts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34F83-1273-DC7E-B6B8-6EFC0D9727B8}"/>
              </a:ext>
            </a:extLst>
          </p:cNvPr>
          <p:cNvSpPr txBox="1"/>
          <p:nvPr/>
        </p:nvSpPr>
        <p:spPr>
          <a:xfrm>
            <a:off x="291402" y="1225689"/>
            <a:ext cx="1135463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'app-main-layout'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RouterOutlet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'./main-layout.component.html'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'./main-layout.component.css'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MainLayoutComponent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ngOnInit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85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Main-layout.html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1D297-3B11-1BBF-3588-0C5A1FAAE4A8}"/>
              </a:ext>
            </a:extLst>
          </p:cNvPr>
          <p:cNvSpPr txBox="1"/>
          <p:nvPr/>
        </p:nvSpPr>
        <p:spPr>
          <a:xfrm>
            <a:off x="0" y="1319436"/>
            <a:ext cx="12192000" cy="4812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mw-100"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"col flex-column page-content"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"layout-header d-flex align-items-center text-bg-dark p-10"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"font-family: cursive;"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btn-primary  me-10 fs-4 me-2"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data-bs-toggle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data-bs-target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"#a-sidebar"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☰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"d-flex justify-content-between w-100"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"p-0 m-0 fw-bold fs-4"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btn-outline-light"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(click)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{{ </a:t>
            </a:r>
            <a:r>
              <a:rPr lang="en-US" sz="120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'English'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ar-EG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العربية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'}}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ar-EG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1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  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"fluid-container p-10"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main layout  (app.routes.ts)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0" y="1607736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38B0-7FC1-476B-675A-8A5AD2C1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98E-1D5A-7922-6501-046FFA0BF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477355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5" y="592853"/>
            <a:ext cx="12101565" cy="6265147"/>
          </a:xfrm>
        </p:spPr>
        <p:txBody>
          <a:bodyPr>
            <a:normAutofit lnSpcReduction="10000"/>
          </a:bodyPr>
          <a:lstStyle/>
          <a:p>
            <a:r>
              <a:rPr lang="en-US" b="1"/>
              <a:t>FormGroup 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 b="1"/>
              <a:t> : { username: 'Ahmed' , password: '123456' }</a:t>
            </a:r>
          </a:p>
          <a:p>
            <a:pPr lvl="1"/>
            <a:r>
              <a:rPr lang="en-US" b="1"/>
              <a:t>getRawValue():  Includes disabled controls</a:t>
            </a:r>
          </a:p>
          <a:p>
            <a:pPr lvl="1"/>
            <a:r>
              <a:rPr lang="en-US" b="1">
                <a:effectLst/>
              </a:rPr>
              <a:t>controls['ColorHexCode']   // </a:t>
            </a:r>
          </a:p>
          <a:p>
            <a:pPr lvl="1"/>
            <a:r>
              <a:rPr lang="en-US" b="1">
                <a:effectLst/>
              </a:rPr>
              <a:t>get('ColorHexCode')		// </a:t>
            </a:r>
          </a:p>
          <a:p>
            <a:pPr lvl="1"/>
            <a:r>
              <a:rPr lang="en-US" b="1"/>
              <a:t>valid: bool, </a:t>
            </a:r>
            <a:r>
              <a:rPr lang="en-US" b="1">
                <a:effectLst/>
              </a:rPr>
              <a:t>A control is valid when its status is VALID</a:t>
            </a:r>
            <a:endParaRPr lang="en-US" b="1"/>
          </a:p>
          <a:p>
            <a:pPr lvl="1"/>
            <a:r>
              <a:rPr lang="en-US" b="1"/>
              <a:t>invalid</a:t>
            </a:r>
          </a:p>
          <a:p>
            <a:pPr lvl="1"/>
            <a:r>
              <a:rPr lang="en-US" b="1"/>
              <a:t>errors // Errors applied to the group itself (not children)</a:t>
            </a:r>
          </a:p>
          <a:p>
            <a:pPr lvl="1"/>
            <a:r>
              <a:rPr lang="en-US" b="1"/>
              <a:t>status </a:t>
            </a:r>
          </a:p>
          <a:p>
            <a:pPr lvl="1"/>
            <a:r>
              <a:rPr lang="en-US" b="1"/>
              <a:t>form.setValue({ username: 'Ahmed’, password: '123’ }); // Must include ALL controls</a:t>
            </a:r>
          </a:p>
          <a:p>
            <a:pPr lvl="1"/>
            <a:r>
              <a:rPr lang="en-US" b="1"/>
              <a:t>form.patchValue({  username: 'Ahmed’ }); // lets you update only the fields you provide, </a:t>
            </a:r>
            <a:r>
              <a:rPr lang="en-US" sz="1600" b="1"/>
              <a:t>always triggers validation</a:t>
            </a:r>
            <a:endParaRPr lang="en-US" b="1"/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 b="1"/>
              <a:t>(); // The form control has been blurred (focused and then left).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 b="1"/>
              <a:t>();   // The value has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 b="1"/>
              <a:t>();  // The value has not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 b="1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9075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Sweat Alert</a:t>
            </a:r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73614-4A5D-57A3-2066-B233B8F6C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D689-324F-7A20-90B5-59151A21E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Validation</a:t>
            </a:r>
          </a:p>
        </p:txBody>
      </p:sp>
    </p:spTree>
    <p:extLst>
      <p:ext uri="{BB962C8B-B14F-4D97-AF65-F5344CB8AC3E}">
        <p14:creationId xmlns:p14="http://schemas.microsoft.com/office/powerpoint/2010/main" val="920371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5632-BAA9-D22C-D580-BDA47538F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Is Name Unique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D26F9-0E7E-A9E9-BC92-BB0D42C46120}"/>
              </a:ext>
            </a:extLst>
          </p:cNvPr>
          <p:cNvSpPr txBox="1"/>
          <p:nvPr/>
        </p:nvSpPr>
        <p:spPr>
          <a:xfrm>
            <a:off x="160774" y="849519"/>
            <a:ext cx="1192739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IsNameUniqueValidator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AsyncValidatorFn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AbstractControl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Observable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ValidationErrors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.IsEditMode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.SelectedCategory.name)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.categoryService.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.SelectedCategory?.id)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.data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 nameIsNotUnique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})),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catchError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209169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36C6-02CF-8AA3-982A-D81C3927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80128-2B4A-5795-A0C4-1088037BB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Validation</a:t>
            </a:r>
          </a:p>
        </p:txBody>
      </p:sp>
    </p:spTree>
    <p:extLst>
      <p:ext uri="{BB962C8B-B14F-4D97-AF65-F5344CB8AC3E}">
        <p14:creationId xmlns:p14="http://schemas.microsoft.com/office/powerpoint/2010/main" val="38375357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81FC6-4B70-AE29-654E-CB73924B4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2EE4B-5411-108B-F096-5EA7CAEDB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6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F826-99F3-E16F-3175-E8761712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DE2AC-220C-CDAC-98EA-694781CE7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/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F8F5-DF2D-7BFF-3958-CDA0AC17B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</a:t>
            </a:r>
            <a:r>
              <a:rPr lang="en-US">
                <a:solidFill>
                  <a:srgbClr val="FFFF00"/>
                </a:solidFill>
              </a:rPr>
              <a:t>HttpErrorResponse</a:t>
            </a:r>
            <a:r>
              <a:rPr lang="en-US">
                <a:sym typeface="Wingdings" panose="05000000000000000000" pitchFamily="2" charset="2"/>
              </a:rPr>
              <a:t>)=&gt;{}</a:t>
            </a:r>
          </a:p>
          <a:p>
            <a:r>
              <a:rPr lang="en-US" b="1">
                <a:solidFill>
                  <a:srgbClr val="FFFF00"/>
                </a:solidFill>
              </a:rPr>
              <a:t>HttpErrorResponse properties</a:t>
            </a:r>
          </a:p>
          <a:p>
            <a:pPr lvl="1"/>
            <a:r>
              <a:rPr lang="en-US"/>
              <a:t>status: </a:t>
            </a:r>
            <a:r>
              <a:rPr lang="en-US">
                <a:effectLst/>
              </a:rPr>
              <a:t>HttpStatusCode (enum)</a:t>
            </a:r>
          </a:p>
          <a:p>
            <a:pPr lvl="1"/>
            <a:r>
              <a:rPr lang="en-US"/>
              <a:t>statusText</a:t>
            </a:r>
          </a:p>
          <a:p>
            <a:pPr lvl="1"/>
            <a:r>
              <a:rPr lang="en-US"/>
              <a:t>url</a:t>
            </a:r>
          </a:p>
          <a:p>
            <a:pPr lvl="1"/>
            <a:r>
              <a:rPr lang="en-US"/>
              <a:t>error: Contains the actual error returned by the backend.</a:t>
            </a:r>
          </a:p>
          <a:p>
            <a:pPr lvl="1"/>
            <a:r>
              <a:rPr lang="en-US"/>
              <a:t>ok: boolean</a:t>
            </a:r>
          </a:p>
          <a:p>
            <a:pPr lvl="1"/>
            <a:endParaRPr lang="en-US"/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74228375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pPr lvl="1"/>
            <a:r>
              <a:rPr lang="en-US" b="1"/>
              <a:t>At edit</a:t>
            </a:r>
          </a:p>
          <a:p>
            <a:pPr marL="810000" lvl="2" indent="0">
              <a:buNone/>
            </a:pPr>
            <a:r>
              <a:rPr lang="en-US" sz="1800" b="1">
                <a:effectLst/>
              </a:rPr>
              <a:t>if(categoryDTO.Image instanceof </a:t>
            </a:r>
            <a:r>
              <a:rPr lang="en-US" sz="1800" b="1">
                <a:solidFill>
                  <a:srgbClr val="00B0F0"/>
                </a:solidFill>
                <a:effectLst/>
              </a:rPr>
              <a:t>File</a:t>
            </a:r>
            <a:r>
              <a:rPr lang="en-US" sz="1800" b="1">
                <a:effectLst/>
              </a:rPr>
              <a:t>) { formData.append("image", categoryDTO.Image as File) }</a:t>
            </a:r>
          </a:p>
          <a:p>
            <a:pPr lvl="2"/>
            <a:r>
              <a:rPr lang="en-US" b="1">
                <a:effectLst/>
              </a:rPr>
              <a:t>categoryDTO.Image // </a:t>
            </a:r>
            <a:r>
              <a:rPr lang="en-US">
                <a:effectLst/>
              </a:rPr>
              <a:t>Image: File | null</a:t>
            </a:r>
          </a:p>
          <a:p>
            <a:pPr lvl="2"/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A434-D969-4DB6-BF4E-B2D7460E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>
                <a:effectLst/>
              </a:rPr>
              <a:t>mat-autocomplete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4C1E7-F5C0-DC7D-5482-55AE04A45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5477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837" y="582805"/>
            <a:ext cx="10885720" cy="6119446"/>
          </a:xfrm>
        </p:spPr>
        <p:txBody>
          <a:bodyPr/>
          <a:lstStyle/>
          <a:p>
            <a:r>
              <a:rPr lang="en-US"/>
              <a:t>Installation and configuration</a:t>
            </a:r>
          </a:p>
          <a:p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</a:t>
            </a:r>
            <a:r>
              <a:rPr lang="en-US" b="1">
                <a:solidFill>
                  <a:srgbClr val="FFC000"/>
                </a:solidFill>
              </a:rPr>
              <a:t>app.config.ts</a:t>
            </a:r>
            <a:r>
              <a:rPr lang="en-US"/>
              <a:t>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fallbackLang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5C11-06CA-D8AB-FD07-606BB04E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22031"/>
          </a:xfrm>
        </p:spPr>
        <p:txBody>
          <a:bodyPr>
            <a:normAutofit fontScale="90000"/>
          </a:bodyPr>
          <a:lstStyle/>
          <a:p>
            <a:r>
              <a:rPr lang="en-US">
                <a:effectLst/>
              </a:rPr>
              <a:t>LanguageService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49EDB5-0CC4-7270-20D6-744A17ED2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12258"/>
            <a:ext cx="9611889" cy="27030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B4C9F-B012-FAE7-80BB-EFCE87F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91" y="3285600"/>
            <a:ext cx="5695950" cy="3028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7DD2C-685A-7C2C-06D6-5F3D3225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934" y="3739110"/>
            <a:ext cx="4798826" cy="212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5056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5C2B-B9C6-C16E-D1CA-9E348E14F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2659"/>
          </a:xfrm>
        </p:spPr>
        <p:txBody>
          <a:bodyPr>
            <a:normAutofit fontScale="90000"/>
          </a:bodyPr>
          <a:lstStyle/>
          <a:p>
            <a:r>
              <a:rPr lang="en-US"/>
              <a:t>At App.Component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27E5-5EA1-1212-CF9E-2C078FEE0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73240"/>
            <a:ext cx="10905816" cy="6069203"/>
          </a:xfrm>
        </p:spPr>
        <p:txBody>
          <a:bodyPr/>
          <a:lstStyle/>
          <a:p>
            <a:r>
              <a:rPr lang="en-US"/>
              <a:t>you must ensure LanguageService is instantiated during app startup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constructor</a:t>
            </a:r>
            <a:r>
              <a:rPr lang="en-US" b="1">
                <a:effectLst/>
              </a:rPr>
              <a:t>(</a:t>
            </a:r>
            <a:r>
              <a:rPr lang="en-US" b="1">
                <a:solidFill>
                  <a:srgbClr val="CC3399"/>
                </a:solidFill>
                <a:effectLst/>
              </a:rPr>
              <a:t>private</a:t>
            </a:r>
            <a:r>
              <a:rPr lang="en-US" b="1">
                <a:effectLst/>
              </a:rPr>
              <a:t> </a:t>
            </a:r>
            <a:r>
              <a:rPr lang="en-US" b="1">
                <a:solidFill>
                  <a:srgbClr val="FFFF00"/>
                </a:solidFill>
                <a:effectLst/>
              </a:rPr>
              <a:t>LanguageService</a:t>
            </a:r>
            <a:r>
              <a:rPr lang="en-US" b="1">
                <a:effectLst/>
              </a:rPr>
              <a:t>: LanguageService){}</a:t>
            </a:r>
          </a:p>
          <a:p>
            <a:pPr marL="36900" indent="0">
              <a:buNone/>
            </a:pPr>
            <a:r>
              <a:rPr lang="en-US">
                <a:effectLst/>
              </a:rPr>
              <a:t>Why : to call its constructor to get the last chosen lang</a:t>
            </a:r>
          </a:p>
          <a:p>
            <a:pPr marL="36900" indent="0">
              <a:buNone/>
            </a:pPr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914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A01B3-3CD4-46AC-8171-C2869D151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86637"/>
          </a:xfrm>
        </p:spPr>
        <p:txBody>
          <a:bodyPr>
            <a:normAutofit fontScale="90000"/>
          </a:bodyPr>
          <a:lstStyle/>
          <a:p>
            <a:r>
              <a:rPr lang="en-US"/>
              <a:t>Usage At component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9D2F7A-3D97-7161-67DF-A871F5062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894302"/>
            <a:ext cx="11656088" cy="5963697"/>
          </a:xfrm>
        </p:spPr>
        <p:txBody>
          <a:bodyPr/>
          <a:lstStyle/>
          <a:p>
            <a:r>
              <a:rPr lang="en-US">
                <a:effectLst/>
              </a:rPr>
              <a:t>To change the lang in all app and vice versw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3DB0663-B853-8A1B-85EE-6F7B6B42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97" y="1570595"/>
            <a:ext cx="6626409" cy="31136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458814-30B6-F40F-F367-E3E7B852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6" y="4883529"/>
            <a:ext cx="6626409" cy="88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7738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2016-9D4D-97FB-894C-AC6D20B0E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BAC87-2A21-0C78-9BB9-60D4200C9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effectLst/>
              </a:rPr>
              <a:t>if you intend to use key from en.json or ar.json at component</a:t>
            </a:r>
            <a:endParaRPr lang="en-US"/>
          </a:p>
          <a:p>
            <a:pPr lvl="1"/>
            <a:r>
              <a:rPr lang="en-US" sz="2000"/>
              <a:t>.html</a:t>
            </a:r>
          </a:p>
          <a:p>
            <a:pPr lvl="2"/>
            <a:r>
              <a:rPr lang="en-US" sz="1800"/>
              <a:t>you need to import  </a:t>
            </a:r>
            <a:r>
              <a:rPr lang="en-US" sz="1800">
                <a:effectLst/>
              </a:rPr>
              <a:t>TranslatePipe</a:t>
            </a:r>
          </a:p>
          <a:p>
            <a:pPr lvl="2"/>
            <a:r>
              <a:rPr lang="en-US" sz="1800">
                <a:effectLst/>
              </a:rPr>
              <a:t>imports: [</a:t>
            </a:r>
            <a:r>
              <a:rPr lang="en-US" sz="1800" b="1">
                <a:solidFill>
                  <a:srgbClr val="FFFF00"/>
                </a:solidFill>
                <a:effectLst/>
              </a:rPr>
              <a:t>TranslatePipe</a:t>
            </a:r>
            <a:r>
              <a:rPr lang="en-US" sz="1800">
                <a:effectLst/>
              </a:rPr>
              <a:t>],</a:t>
            </a:r>
          </a:p>
          <a:p>
            <a:pPr lvl="2"/>
            <a:r>
              <a:rPr lang="en-US" sz="1800">
                <a:effectLst/>
              </a:rPr>
              <a:t>At html    &lt;label class="ms-2"&gt;{{"nameAr" | translate}}&lt;/label&gt;</a:t>
            </a:r>
          </a:p>
          <a:p>
            <a:pPr lvl="1"/>
            <a:r>
              <a:rPr lang="en-US"/>
              <a:t>ts</a:t>
            </a:r>
          </a:p>
          <a:p>
            <a:pPr lvl="2"/>
            <a:r>
              <a:rPr lang="en-US" sz="1800">
                <a:effectLst/>
              </a:rPr>
              <a:t>At ts : this.translate.use(lang);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072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00BA-09F5-CC31-4890-0431F9407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interceptors</a:t>
            </a:r>
          </a:p>
        </p:txBody>
      </p:sp>
    </p:spTree>
    <p:extLst>
      <p:ext uri="{BB962C8B-B14F-4D97-AF65-F5344CB8AC3E}">
        <p14:creationId xmlns:p14="http://schemas.microsoft.com/office/powerpoint/2010/main" val="7820105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CBBCD-3318-4190-7632-572F67C37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8207"/>
          </a:xfrm>
        </p:spPr>
        <p:txBody>
          <a:bodyPr>
            <a:normAutofit fontScale="90000"/>
          </a:bodyPr>
          <a:lstStyle/>
          <a:p>
            <a:r>
              <a:rPr lang="en-US"/>
              <a:t>Creating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B4862-CCB4-40A1-9075-223076C4D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9890" y="763675"/>
            <a:ext cx="3989196" cy="6094325"/>
          </a:xfrm>
        </p:spPr>
        <p:txBody>
          <a:bodyPr/>
          <a:lstStyle/>
          <a:p>
            <a:r>
              <a:rPr lang="en-US"/>
              <a:t>For example we are going to implement interceptor that handle </a:t>
            </a:r>
            <a:r>
              <a:rPr lang="en-US">
                <a:effectLst/>
              </a:rPr>
              <a:t>HttpErrorResponse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6E01F-E87D-064C-964F-EE89F2301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8208"/>
            <a:ext cx="8149213" cy="62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2727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A2D8-AEDE-CFCB-A4A7-B03E052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/>
              <a:t>Register the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A7A1-809F-19E0-8CA5-0D70065F3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93336"/>
            <a:ext cx="11927393" cy="5878285"/>
          </a:xfrm>
        </p:spPr>
        <p:txBody>
          <a:bodyPr/>
          <a:lstStyle/>
          <a:p>
            <a:r>
              <a:rPr lang="en-US">
                <a:effectLst/>
              </a:rPr>
              <a:t>{ </a:t>
            </a:r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>
                <a:effectLst/>
              </a:rPr>
              <a:t>: HttpErrorInterceptor, </a:t>
            </a:r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 },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</a:t>
            </a:r>
          </a:p>
          <a:p>
            <a:pPr lvl="1"/>
            <a:r>
              <a:rPr lang="en-US">
                <a:effectLst/>
              </a:rPr>
              <a:t>It means I register this to participate in HTTP interceptor pipeline</a:t>
            </a:r>
          </a:p>
          <a:p>
            <a:pPr lvl="1"/>
            <a:r>
              <a:rPr lang="en-US">
                <a:effectLst/>
              </a:rPr>
              <a:t>Angular later looks for everything registered under HTTP_INTERCEPTORS and builds the interceptor chain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/>
              <a:t>: </a:t>
            </a:r>
            <a:r>
              <a:rPr lang="en-US">
                <a:effectLst/>
              </a:rPr>
              <a:t>HttpErrorInterceptor</a:t>
            </a:r>
          </a:p>
          <a:p>
            <a:pPr lvl="1"/>
            <a:r>
              <a:rPr lang="en-US">
                <a:effectLst/>
              </a:rPr>
              <a:t>The class itself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</a:t>
            </a:r>
          </a:p>
          <a:p>
            <a:pPr lvl="1"/>
            <a:r>
              <a:rPr lang="en-US" b="1"/>
              <a:t>Withtout multi: true, angular would expect only one value for HTTP_INTERCEPTOR and every new registration will overwrite the previous one</a:t>
            </a:r>
          </a:p>
          <a:p>
            <a:pPr lvl="1"/>
            <a:r>
              <a:rPr lang="en-US" sz="1400" b="1">
                <a:effectLst/>
              </a:rPr>
              <a:t>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HttpErrorInterceptor}, 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AuthInterceptor},</a:t>
            </a:r>
          </a:p>
          <a:p>
            <a:pPr lvl="1"/>
            <a:r>
              <a:rPr lang="en-US" sz="1600" b="1">
                <a:effectLst/>
              </a:rPr>
              <a:t>INTERCEPTORS = AuthInterceptor // cause it is the last one</a:t>
            </a:r>
            <a:endParaRPr lang="en-US" sz="1600" b="1"/>
          </a:p>
          <a:p>
            <a:pPr lvl="1"/>
            <a:r>
              <a:rPr lang="en-US"/>
              <a:t>With multi: true, </a:t>
            </a:r>
            <a:r>
              <a:rPr lang="en-US" sz="1600" b="1">
                <a:solidFill>
                  <a:srgbClr val="FFFF00"/>
                </a:solidFill>
                <a:effectLst/>
              </a:rPr>
              <a:t>HTTP_INTERCEPTORS </a:t>
            </a:r>
            <a:r>
              <a:rPr lang="en-US" sz="1600" b="1">
                <a:effectLst/>
              </a:rPr>
              <a:t>= [</a:t>
            </a:r>
            <a:r>
              <a:rPr lang="en-US" sz="1600" b="1">
                <a:solidFill>
                  <a:srgbClr val="00B0F0"/>
                </a:solidFill>
                <a:effectLst/>
              </a:rPr>
              <a:t>AuthInterceptor</a:t>
            </a:r>
            <a:r>
              <a:rPr lang="en-US" sz="1600" b="1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HttpErrorInterceptor</a:t>
            </a:r>
            <a:r>
              <a:rPr lang="en-US" b="1">
                <a:effectLst/>
              </a:rPr>
              <a:t> ]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3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9BD1-13B1-E2FD-B3E8-31B230F97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97169"/>
          </a:xfrm>
        </p:spPr>
        <p:txBody>
          <a:bodyPr/>
          <a:lstStyle/>
          <a:p>
            <a:r>
              <a:rPr lang="en-US"/>
              <a:t>Configuring HttpClient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99D2-B706-4DA7-F3E6-0725523E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7169"/>
            <a:ext cx="11746523" cy="5945275"/>
          </a:xfrm>
        </p:spPr>
        <p:txBody>
          <a:bodyPr/>
          <a:lstStyle/>
          <a:p>
            <a:r>
              <a:rPr lang="en-US">
                <a:effectLst/>
              </a:rPr>
              <a:t>provideHttpClient(withFetch(), </a:t>
            </a:r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  <a:r>
              <a:rPr lang="en-US">
                <a:effectLst/>
              </a:rPr>
              <a:t> )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</a:p>
          <a:p>
            <a:pPr lvl="1"/>
            <a:r>
              <a:rPr lang="en-US" b="1"/>
              <a:t>look in DI container for anything registered under </a:t>
            </a:r>
            <a:r>
              <a:rPr lang="en-US" b="1">
                <a:solidFill>
                  <a:srgbClr val="00B0F0"/>
                </a:solidFill>
              </a:rPr>
              <a:t>HTTP_INTERCEPTORS and use those interceptors to build interceptors chain</a:t>
            </a:r>
          </a:p>
          <a:p>
            <a:r>
              <a:rPr lang="en-US" sz="1800" b="1"/>
              <a:t>HttpClient </a:t>
            </a:r>
            <a:r>
              <a:rPr lang="en-US" sz="1800" b="1">
                <a:sym typeface="Wingdings" panose="05000000000000000000" pitchFamily="2" charset="2"/>
              </a:rPr>
              <a:t></a:t>
            </a:r>
            <a:r>
              <a:rPr lang="en-US" sz="1800" b="1"/>
              <a:t> All registered interceptors </a:t>
            </a:r>
            <a:r>
              <a:rPr lang="en-US" sz="1800" b="1">
                <a:sym typeface="Wingdings" panose="05000000000000000000" pitchFamily="2" charset="2"/>
              </a:rPr>
              <a:t> Fetch Backend</a:t>
            </a:r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1768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1BF1E-FA0A-2C71-C2E4-141E87F59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Pipes</a:t>
            </a:r>
          </a:p>
        </p:txBody>
      </p:sp>
    </p:spTree>
    <p:extLst>
      <p:ext uri="{BB962C8B-B14F-4D97-AF65-F5344CB8AC3E}">
        <p14:creationId xmlns:p14="http://schemas.microsoft.com/office/powerpoint/2010/main" val="145631655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7944-3FB1-C1BB-018F-FF580C7CD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pipes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C0826-2045-F9BD-6023-17AFCF37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53" y="970450"/>
            <a:ext cx="10674704" cy="5761946"/>
          </a:xfrm>
        </p:spPr>
        <p:txBody>
          <a:bodyPr/>
          <a:lstStyle/>
          <a:p>
            <a:r>
              <a:rPr lang="en-US"/>
              <a:t>applied on </a:t>
            </a:r>
            <a:r>
              <a:rPr lang="en-US" b="1">
                <a:solidFill>
                  <a:srgbClr val="FF0000"/>
                </a:solidFill>
              </a:rPr>
              <a:t>value</a:t>
            </a:r>
            <a:r>
              <a:rPr lang="en-US"/>
              <a:t> while directive applied on </a:t>
            </a:r>
            <a:r>
              <a:rPr lang="en-US" b="1">
                <a:solidFill>
                  <a:srgbClr val="FF0000"/>
                </a:solidFill>
              </a:rPr>
              <a:t>elements</a:t>
            </a:r>
          </a:p>
          <a:p>
            <a:r>
              <a:rPr lang="en-US"/>
              <a:t>used to display (transform) value in a desired format</a:t>
            </a:r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async</a:t>
            </a:r>
            <a:r>
              <a:rPr lang="en-US"/>
              <a:t> : subscribe to an Observable or Promise and display its latest value.</a:t>
            </a:r>
          </a:p>
          <a:p>
            <a:r>
              <a:rPr lang="en-US"/>
              <a:t>uppercase</a:t>
            </a:r>
          </a:p>
          <a:p>
            <a:r>
              <a:rPr lang="en-US"/>
              <a:t>lowercase</a:t>
            </a:r>
          </a:p>
          <a:p>
            <a:r>
              <a:rPr lang="en-US"/>
              <a:t>titlecase: [ pascal case ]</a:t>
            </a:r>
          </a:p>
          <a:p>
            <a:r>
              <a:rPr lang="en-US"/>
              <a:t>date</a:t>
            </a:r>
          </a:p>
          <a:p>
            <a:pPr lvl="1"/>
            <a:r>
              <a:rPr lang="en-US"/>
              <a:t>{{ today | date }} // Jun 12, 2026</a:t>
            </a:r>
          </a:p>
          <a:p>
            <a:pPr lvl="1"/>
            <a:r>
              <a:rPr lang="en-US"/>
              <a:t>{{ today | date:'dd/MM/yyyy’ }} // 12/06/2026</a:t>
            </a:r>
          </a:p>
          <a:p>
            <a:r>
              <a:rPr lang="en-US"/>
              <a:t>json</a:t>
            </a:r>
          </a:p>
          <a:p>
            <a:endParaRPr lang="en-US"/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039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8072E-1875-9970-D7A2-E0658BDA1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6684-90B7-F69D-FB0E-AFD6E9AE9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Pipes</a:t>
            </a:r>
          </a:p>
        </p:txBody>
      </p:sp>
    </p:spTree>
    <p:extLst>
      <p:ext uri="{BB962C8B-B14F-4D97-AF65-F5344CB8AC3E}">
        <p14:creationId xmlns:p14="http://schemas.microsoft.com/office/powerpoint/2010/main" val="438755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89004-FEC8-579F-7143-8FA9BC13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5DEDE-A2B9-94BC-6B7B-DAD9C5548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interceptors</a:t>
            </a:r>
          </a:p>
        </p:txBody>
      </p:sp>
    </p:spTree>
    <p:extLst>
      <p:ext uri="{BB962C8B-B14F-4D97-AF65-F5344CB8AC3E}">
        <p14:creationId xmlns:p14="http://schemas.microsoft.com/office/powerpoint/2010/main" val="428446006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87380</TotalTime>
  <Words>5171</Words>
  <Application>Microsoft Office PowerPoint</Application>
  <PresentationFormat>Widescreen</PresentationFormat>
  <Paragraphs>784</Paragraphs>
  <Slides>124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30" baseType="lpstr">
      <vt:lpstr>Aptos</vt:lpstr>
      <vt:lpstr>Calisto MT</vt:lpstr>
      <vt:lpstr>Consolas</vt:lpstr>
      <vt:lpstr>Wingdings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Start Observable</vt:lpstr>
      <vt:lpstr>Observable</vt:lpstr>
      <vt:lpstr>Observer</vt:lpstr>
      <vt:lpstr>Subscriber</vt:lpstr>
      <vt:lpstr>Observable example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End Bootstrap</vt:lpstr>
      <vt:lpstr>End Bootstrap</vt:lpstr>
      <vt:lpstr>Start CSS</vt:lpstr>
      <vt:lpstr>Addin CSS file globally</vt:lpstr>
      <vt:lpstr>End CSS</vt:lpstr>
      <vt:lpstr>Start SideBar with Layout 1</vt:lpstr>
      <vt:lpstr>PowerPoint Presentation</vt:lpstr>
      <vt:lpstr>Side bar HTML</vt:lpstr>
      <vt:lpstr>Sidebar CSS</vt:lpstr>
      <vt:lpstr>Sidebar ts</vt:lpstr>
      <vt:lpstr>Main layout.ts</vt:lpstr>
      <vt:lpstr>Main-layout.html</vt:lpstr>
      <vt:lpstr>main layout  (app.routes.ts)</vt:lpstr>
      <vt:lpstr>End Sidebar with layout 1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Validation</vt:lpstr>
      <vt:lpstr>Is Name Unique validation</vt:lpstr>
      <vt:lpstr>End Validation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HttpErrorResponse</vt:lpstr>
      <vt:lpstr>HttpErrorResponse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mat-autocomplete</vt:lpstr>
      <vt:lpstr>End Angular Material </vt:lpstr>
      <vt:lpstr>Febric.js</vt:lpstr>
      <vt:lpstr>Layout [cont.]</vt:lpstr>
      <vt:lpstr>Start Localization</vt:lpstr>
      <vt:lpstr>localization</vt:lpstr>
      <vt:lpstr>LanguageService</vt:lpstr>
      <vt:lpstr>At App.Component</vt:lpstr>
      <vt:lpstr>Usage At component</vt:lpstr>
      <vt:lpstr>PowerPoint Presentation</vt:lpstr>
      <vt:lpstr>End Localization</vt:lpstr>
      <vt:lpstr>Start interceptors</vt:lpstr>
      <vt:lpstr>Creating interceptor</vt:lpstr>
      <vt:lpstr>Register the interceptor</vt:lpstr>
      <vt:lpstr>Configuring HttpClient</vt:lpstr>
      <vt:lpstr>Start Pipes</vt:lpstr>
      <vt:lpstr>pipes</vt:lpstr>
      <vt:lpstr>End Pipes</vt:lpstr>
      <vt:lpstr>End interceptors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 Mohamed Samir</cp:lastModifiedBy>
  <cp:revision>675</cp:revision>
  <dcterms:created xsi:type="dcterms:W3CDTF">2026-01-29T20:04:39Z</dcterms:created>
  <dcterms:modified xsi:type="dcterms:W3CDTF">2026-07-14T07:04:59Z</dcterms:modified>
</cp:coreProperties>
</file>