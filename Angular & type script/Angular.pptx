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1"/>
  </p:notesMasterIdLst>
  <p:sldIdLst>
    <p:sldId id="256" r:id="rId2"/>
    <p:sldId id="266" r:id="rId3"/>
    <p:sldId id="265" r:id="rId4"/>
    <p:sldId id="400" r:id="rId5"/>
    <p:sldId id="284" r:id="rId6"/>
    <p:sldId id="257" r:id="rId7"/>
    <p:sldId id="258" r:id="rId8"/>
    <p:sldId id="260" r:id="rId9"/>
    <p:sldId id="261" r:id="rId10"/>
    <p:sldId id="262" r:id="rId11"/>
    <p:sldId id="263" r:id="rId12"/>
    <p:sldId id="267" r:id="rId13"/>
    <p:sldId id="408" r:id="rId14"/>
    <p:sldId id="409" r:id="rId15"/>
    <p:sldId id="412" r:id="rId16"/>
    <p:sldId id="413" r:id="rId17"/>
    <p:sldId id="410" r:id="rId18"/>
    <p:sldId id="415" r:id="rId19"/>
    <p:sldId id="416" r:id="rId20"/>
    <p:sldId id="418" r:id="rId21"/>
    <p:sldId id="417" r:id="rId22"/>
    <p:sldId id="419" r:id="rId23"/>
    <p:sldId id="420" r:id="rId24"/>
    <p:sldId id="411" r:id="rId25"/>
    <p:sldId id="337" r:id="rId26"/>
    <p:sldId id="264" r:id="rId27"/>
    <p:sldId id="318" r:id="rId28"/>
    <p:sldId id="338" r:id="rId29"/>
    <p:sldId id="421" r:id="rId30"/>
    <p:sldId id="423" r:id="rId31"/>
    <p:sldId id="424" r:id="rId32"/>
    <p:sldId id="422" r:id="rId33"/>
    <p:sldId id="361" r:id="rId34"/>
    <p:sldId id="270" r:id="rId35"/>
    <p:sldId id="271" r:id="rId36"/>
    <p:sldId id="272" r:id="rId37"/>
    <p:sldId id="273" r:id="rId38"/>
    <p:sldId id="403" r:id="rId39"/>
    <p:sldId id="404" r:id="rId40"/>
    <p:sldId id="292" r:id="rId41"/>
    <p:sldId id="295" r:id="rId42"/>
    <p:sldId id="293" r:id="rId43"/>
    <p:sldId id="296" r:id="rId44"/>
    <p:sldId id="298" r:id="rId45"/>
    <p:sldId id="297" r:id="rId46"/>
    <p:sldId id="294" r:id="rId47"/>
    <p:sldId id="300" r:id="rId48"/>
    <p:sldId id="301" r:id="rId49"/>
    <p:sldId id="304" r:id="rId50"/>
    <p:sldId id="305" r:id="rId51"/>
    <p:sldId id="306" r:id="rId52"/>
    <p:sldId id="303" r:id="rId53"/>
    <p:sldId id="302" r:id="rId54"/>
    <p:sldId id="401" r:id="rId55"/>
    <p:sldId id="402" r:id="rId56"/>
    <p:sldId id="405" r:id="rId57"/>
    <p:sldId id="407" r:id="rId58"/>
    <p:sldId id="406" r:id="rId59"/>
    <p:sldId id="362" r:id="rId60"/>
    <p:sldId id="363" r:id="rId61"/>
    <p:sldId id="276" r:id="rId62"/>
    <p:sldId id="274" r:id="rId63"/>
    <p:sldId id="340" r:id="rId64"/>
    <p:sldId id="275" r:id="rId65"/>
    <p:sldId id="339" r:id="rId66"/>
    <p:sldId id="366" r:id="rId67"/>
    <p:sldId id="367" r:id="rId68"/>
    <p:sldId id="277" r:id="rId69"/>
    <p:sldId id="368" r:id="rId70"/>
    <p:sldId id="383" r:id="rId71"/>
    <p:sldId id="387" r:id="rId72"/>
    <p:sldId id="388" r:id="rId73"/>
    <p:sldId id="389" r:id="rId74"/>
    <p:sldId id="390" r:id="rId75"/>
    <p:sldId id="391" r:id="rId76"/>
    <p:sldId id="278" r:id="rId77"/>
    <p:sldId id="279" r:id="rId78"/>
    <p:sldId id="386" r:id="rId79"/>
    <p:sldId id="299" r:id="rId80"/>
    <p:sldId id="308" r:id="rId81"/>
    <p:sldId id="307" r:id="rId82"/>
    <p:sldId id="315" r:id="rId83"/>
    <p:sldId id="319" r:id="rId84"/>
    <p:sldId id="321" r:id="rId85"/>
    <p:sldId id="320" r:id="rId86"/>
    <p:sldId id="323" r:id="rId87"/>
    <p:sldId id="329" r:id="rId88"/>
    <p:sldId id="310" r:id="rId89"/>
    <p:sldId id="351" r:id="rId90"/>
    <p:sldId id="350" r:id="rId91"/>
    <p:sldId id="311" r:id="rId92"/>
    <p:sldId id="396" r:id="rId93"/>
    <p:sldId id="398" r:id="rId94"/>
    <p:sldId id="397" r:id="rId95"/>
    <p:sldId id="314" r:id="rId96"/>
    <p:sldId id="328" r:id="rId97"/>
    <p:sldId id="342" r:id="rId98"/>
    <p:sldId id="346" r:id="rId99"/>
    <p:sldId id="353" r:id="rId100"/>
    <p:sldId id="354" r:id="rId101"/>
    <p:sldId id="355" r:id="rId102"/>
    <p:sldId id="356" r:id="rId103"/>
    <p:sldId id="369" r:id="rId104"/>
    <p:sldId id="372" r:id="rId105"/>
    <p:sldId id="330" r:id="rId106"/>
    <p:sldId id="326" r:id="rId107"/>
    <p:sldId id="333" r:id="rId108"/>
    <p:sldId id="334" r:id="rId109"/>
    <p:sldId id="327" r:id="rId110"/>
    <p:sldId id="344" r:id="rId111"/>
    <p:sldId id="313" r:id="rId112"/>
    <p:sldId id="345" r:id="rId113"/>
    <p:sldId id="347" r:id="rId114"/>
    <p:sldId id="349" r:id="rId115"/>
    <p:sldId id="352" r:id="rId116"/>
    <p:sldId id="348" r:id="rId117"/>
    <p:sldId id="316" r:id="rId118"/>
    <p:sldId id="335" r:id="rId119"/>
    <p:sldId id="289" r:id="rId120"/>
    <p:sldId id="290" r:id="rId121"/>
    <p:sldId id="312" r:id="rId122"/>
    <p:sldId id="357" r:id="rId123"/>
    <p:sldId id="399" r:id="rId124"/>
    <p:sldId id="341" r:id="rId125"/>
    <p:sldId id="322" r:id="rId126"/>
    <p:sldId id="280" r:id="rId127"/>
    <p:sldId id="358" r:id="rId128"/>
    <p:sldId id="360" r:id="rId129"/>
    <p:sldId id="373" r:id="rId130"/>
    <p:sldId id="374" r:id="rId131"/>
    <p:sldId id="375" r:id="rId132"/>
    <p:sldId id="382" r:id="rId133"/>
    <p:sldId id="359" r:id="rId134"/>
    <p:sldId id="376" r:id="rId135"/>
    <p:sldId id="379" r:id="rId136"/>
    <p:sldId id="380" r:id="rId137"/>
    <p:sldId id="381" r:id="rId138"/>
    <p:sldId id="392" r:id="rId139"/>
    <p:sldId id="394" r:id="rId140"/>
    <p:sldId id="393" r:id="rId141"/>
    <p:sldId id="378" r:id="rId142"/>
    <p:sldId id="269" r:id="rId143"/>
    <p:sldId id="309" r:id="rId144"/>
    <p:sldId id="414" r:id="rId145"/>
    <p:sldId id="324" r:id="rId146"/>
    <p:sldId id="317" r:id="rId147"/>
    <p:sldId id="331" r:id="rId148"/>
    <p:sldId id="336" r:id="rId149"/>
    <p:sldId id="268" r:id="rId1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35B1F55-086F-4E48-B9CC-106EC9368258}">
          <p14:sldIdLst>
            <p14:sldId id="256"/>
            <p14:sldId id="266"/>
            <p14:sldId id="265"/>
            <p14:sldId id="400"/>
            <p14:sldId id="284"/>
            <p14:sldId id="257"/>
            <p14:sldId id="258"/>
            <p14:sldId id="260"/>
            <p14:sldId id="261"/>
            <p14:sldId id="262"/>
            <p14:sldId id="263"/>
            <p14:sldId id="267"/>
            <p14:sldId id="408"/>
            <p14:sldId id="409"/>
            <p14:sldId id="412"/>
            <p14:sldId id="413"/>
            <p14:sldId id="410"/>
            <p14:sldId id="415"/>
            <p14:sldId id="416"/>
            <p14:sldId id="418"/>
            <p14:sldId id="417"/>
            <p14:sldId id="419"/>
            <p14:sldId id="420"/>
            <p14:sldId id="411"/>
            <p14:sldId id="337"/>
            <p14:sldId id="264"/>
            <p14:sldId id="318"/>
            <p14:sldId id="338"/>
            <p14:sldId id="421"/>
            <p14:sldId id="423"/>
            <p14:sldId id="424"/>
            <p14:sldId id="422"/>
            <p14:sldId id="361"/>
            <p14:sldId id="270"/>
            <p14:sldId id="271"/>
            <p14:sldId id="272"/>
            <p14:sldId id="273"/>
            <p14:sldId id="403"/>
            <p14:sldId id="404"/>
            <p14:sldId id="292"/>
            <p14:sldId id="295"/>
            <p14:sldId id="293"/>
            <p14:sldId id="296"/>
            <p14:sldId id="298"/>
            <p14:sldId id="297"/>
            <p14:sldId id="294"/>
            <p14:sldId id="300"/>
            <p14:sldId id="301"/>
            <p14:sldId id="304"/>
            <p14:sldId id="305"/>
            <p14:sldId id="306"/>
            <p14:sldId id="303"/>
            <p14:sldId id="302"/>
            <p14:sldId id="401"/>
            <p14:sldId id="402"/>
            <p14:sldId id="405"/>
            <p14:sldId id="407"/>
            <p14:sldId id="406"/>
            <p14:sldId id="362"/>
            <p14:sldId id="363"/>
            <p14:sldId id="276"/>
            <p14:sldId id="274"/>
            <p14:sldId id="340"/>
            <p14:sldId id="275"/>
            <p14:sldId id="339"/>
            <p14:sldId id="366"/>
            <p14:sldId id="367"/>
            <p14:sldId id="277"/>
            <p14:sldId id="368"/>
            <p14:sldId id="383"/>
            <p14:sldId id="387"/>
            <p14:sldId id="388"/>
            <p14:sldId id="389"/>
            <p14:sldId id="390"/>
            <p14:sldId id="391"/>
            <p14:sldId id="278"/>
            <p14:sldId id="279"/>
            <p14:sldId id="386"/>
            <p14:sldId id="299"/>
            <p14:sldId id="308"/>
            <p14:sldId id="307"/>
            <p14:sldId id="315"/>
            <p14:sldId id="319"/>
            <p14:sldId id="321"/>
            <p14:sldId id="320"/>
            <p14:sldId id="323"/>
            <p14:sldId id="329"/>
            <p14:sldId id="310"/>
            <p14:sldId id="351"/>
            <p14:sldId id="350"/>
            <p14:sldId id="311"/>
            <p14:sldId id="396"/>
            <p14:sldId id="398"/>
            <p14:sldId id="397"/>
            <p14:sldId id="314"/>
            <p14:sldId id="328"/>
            <p14:sldId id="342"/>
            <p14:sldId id="346"/>
            <p14:sldId id="353"/>
            <p14:sldId id="354"/>
            <p14:sldId id="355"/>
            <p14:sldId id="356"/>
            <p14:sldId id="369"/>
            <p14:sldId id="372"/>
            <p14:sldId id="330"/>
            <p14:sldId id="326"/>
            <p14:sldId id="333"/>
            <p14:sldId id="334"/>
            <p14:sldId id="327"/>
            <p14:sldId id="344"/>
            <p14:sldId id="313"/>
            <p14:sldId id="345"/>
            <p14:sldId id="347"/>
            <p14:sldId id="349"/>
            <p14:sldId id="352"/>
            <p14:sldId id="348"/>
            <p14:sldId id="316"/>
            <p14:sldId id="335"/>
            <p14:sldId id="289"/>
            <p14:sldId id="290"/>
            <p14:sldId id="312"/>
            <p14:sldId id="357"/>
            <p14:sldId id="399"/>
            <p14:sldId id="341"/>
            <p14:sldId id="322"/>
            <p14:sldId id="280"/>
            <p14:sldId id="358"/>
            <p14:sldId id="360"/>
            <p14:sldId id="373"/>
            <p14:sldId id="374"/>
            <p14:sldId id="375"/>
            <p14:sldId id="382"/>
            <p14:sldId id="359"/>
            <p14:sldId id="376"/>
            <p14:sldId id="379"/>
            <p14:sldId id="380"/>
            <p14:sldId id="381"/>
            <p14:sldId id="392"/>
            <p14:sldId id="394"/>
            <p14:sldId id="393"/>
            <p14:sldId id="378"/>
            <p14:sldId id="269"/>
            <p14:sldId id="309"/>
            <p14:sldId id="414"/>
            <p14:sldId id="324"/>
            <p14:sldId id="317"/>
            <p14:sldId id="331"/>
            <p14:sldId id="336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4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55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7F856-C08C-4D83-8D37-28A6206D94A8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F432B-6366-4A70-9E8F-11E1E8450E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459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0F432B-6366-4A70-9E8F-11E1E8450E94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520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22915-E856-580B-C0A9-EEBBDDC80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/>
              <a:t>Run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DCD1A-BDE0-A9AD-11C5-10DEE6BC4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30" y="612949"/>
            <a:ext cx="11917344" cy="6069205"/>
          </a:xfrm>
        </p:spPr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>
                <a:effectLst/>
              </a:rPr>
              <a:t>ng serve --port 5000  // run the project at specific port [temporary solution]</a:t>
            </a:r>
          </a:p>
          <a:p>
            <a:pPr marL="494100" indent="-457200">
              <a:buFont typeface="+mj-lt"/>
              <a:buAutoNum type="arabicPeriod"/>
            </a:pPr>
            <a:r>
              <a:rPr lang="en-US">
                <a:effectLst/>
              </a:rPr>
              <a:t>Open </a:t>
            </a:r>
            <a:r>
              <a:rPr lang="en-US" b="1">
                <a:effectLst/>
              </a:rPr>
              <a:t>package.json</a:t>
            </a:r>
            <a:r>
              <a:rPr lang="en-US">
                <a:effectLst/>
              </a:rPr>
              <a:t> + "scripts" object + Change the "start" include the port</a:t>
            </a:r>
          </a:p>
          <a:p>
            <a:pPr marL="871200" lvl="1" indent="-457200">
              <a:buFont typeface="+mj-lt"/>
              <a:buAutoNum type="arabicPeriod"/>
            </a:pPr>
            <a:r>
              <a:rPr lang="en-US">
                <a:effectLst/>
              </a:rPr>
              <a:t>"start": "ng serve --port 5000"</a:t>
            </a:r>
          </a:p>
          <a:p>
            <a:pPr marL="494100" indent="-457200">
              <a:buFont typeface="+mj-lt"/>
              <a:buAutoNum type="arabicPeriod"/>
            </a:pPr>
            <a:r>
              <a:rPr lang="en-US">
                <a:effectLst/>
              </a:rPr>
              <a:t>Angular.json </a:t>
            </a:r>
            <a:r>
              <a:rPr lang="en-US"/>
              <a:t>➔</a:t>
            </a:r>
            <a:r>
              <a:rPr lang="en-US">
                <a:effectLst/>
              </a:rPr>
              <a:t> </a:t>
            </a:r>
            <a:r>
              <a:rPr lang="en-US"/>
              <a:t>projects ➔ your-project-name ➔ </a:t>
            </a:r>
            <a:r>
              <a:rPr lang="en-US">
                <a:effectLst/>
              </a:rPr>
              <a:t>architect</a:t>
            </a:r>
            <a:r>
              <a:rPr lang="en-US"/>
              <a:t> ➔ </a:t>
            </a:r>
            <a:r>
              <a:rPr lang="en-US">
                <a:effectLst/>
              </a:rPr>
              <a:t>serve</a:t>
            </a:r>
            <a:r>
              <a:rPr lang="en-US"/>
              <a:t> ➔ </a:t>
            </a:r>
            <a:r>
              <a:rPr lang="en-US">
                <a:effectLst/>
              </a:rPr>
              <a:t>options</a:t>
            </a:r>
            <a:r>
              <a:rPr lang="en-US"/>
              <a:t> ➔ Add a </a:t>
            </a:r>
            <a:r>
              <a:rPr lang="en-US">
                <a:effectLst/>
              </a:rPr>
              <a:t>"port"</a:t>
            </a:r>
            <a:r>
              <a:rPr lang="en-US"/>
              <a:t> property inside the </a:t>
            </a:r>
            <a:r>
              <a:rPr lang="en-US">
                <a:effectLst/>
              </a:rPr>
              <a:t>"options"</a:t>
            </a:r>
            <a:r>
              <a:rPr lang="en-US"/>
              <a:t> block </a:t>
            </a:r>
            <a:r>
              <a:rPr lang="en-US">
                <a:sym typeface="Wingdings" panose="05000000000000000000" pitchFamily="2" charset="2"/>
              </a:rPr>
              <a:t> </a:t>
            </a:r>
            <a:r>
              <a:rPr lang="en-US">
                <a:effectLst/>
              </a:rPr>
              <a:t>"port": 5555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02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371F9-2F94-B74C-B705-4AA87EC4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49DF7-6C7F-55BD-FFDB-0B904F016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3145134"/>
            <a:ext cx="10353762" cy="1808703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6600" b="1">
                <a:solidFill>
                  <a:srgbClr val="FF0000"/>
                </a:solidFill>
              </a:rPr>
              <a:t>END Routing</a:t>
            </a:r>
          </a:p>
        </p:txBody>
      </p:sp>
    </p:spTree>
    <p:extLst>
      <p:ext uri="{BB962C8B-B14F-4D97-AF65-F5344CB8AC3E}">
        <p14:creationId xmlns:p14="http://schemas.microsoft.com/office/powerpoint/2010/main" val="3932260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51CE4-596C-EB7E-21BF-693308980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Angular Life 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2524F-A0E5-B8BF-6837-77D5E510D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19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D8A7-4D3D-D805-06C4-213F5CC52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44062"/>
          </a:xfrm>
        </p:spPr>
        <p:txBody>
          <a:bodyPr/>
          <a:lstStyle/>
          <a:p>
            <a:r>
              <a:rPr lang="en-US"/>
              <a:t>1. constructor()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FE5F4-9ECC-FCE3-1AA9-1982236BA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70450"/>
            <a:ext cx="10353762" cy="5661461"/>
          </a:xfrm>
        </p:spPr>
        <p:txBody>
          <a:bodyPr/>
          <a:lstStyle/>
          <a:p>
            <a:pPr marL="36900" indent="0">
              <a:buNone/>
            </a:pPr>
            <a:endParaRPr lang="en-US"/>
          </a:p>
          <a:p>
            <a:r>
              <a:rPr lang="en-US"/>
              <a:t>Triggers when</a:t>
            </a:r>
          </a:p>
          <a:p>
            <a:pPr lvl="1"/>
            <a:r>
              <a:rPr lang="en-US"/>
              <a:t>called when Angular initializes the component class</a:t>
            </a:r>
          </a:p>
          <a:p>
            <a:endParaRPr lang="en-US"/>
          </a:p>
          <a:p>
            <a:r>
              <a:rPr lang="en-US"/>
              <a:t>What should happen here</a:t>
            </a:r>
          </a:p>
          <a:p>
            <a:pPr lvl="1"/>
            <a:r>
              <a:rPr lang="en-US"/>
              <a:t>initialization and injection</a:t>
            </a:r>
          </a:p>
          <a:p>
            <a:pPr lvl="1"/>
            <a:r>
              <a:rPr lang="en-US"/>
              <a:t>Avoid trying to interact with the DOM or perform complex initializations here.</a:t>
            </a:r>
          </a:p>
          <a:p>
            <a:pPr lvl="1"/>
            <a:r>
              <a:rPr lang="en-US"/>
              <a:t>Avoid making API calls here.</a:t>
            </a:r>
          </a:p>
          <a:p>
            <a:pPr lvl="1"/>
            <a:r>
              <a:rPr lang="en-US"/>
              <a:t>The component isn’t fully created yet, so the view (DOM elements) isn’t available, and input properties are not yet initialized.</a:t>
            </a:r>
          </a:p>
        </p:txBody>
      </p:sp>
    </p:spTree>
    <p:extLst>
      <p:ext uri="{BB962C8B-B14F-4D97-AF65-F5344CB8AC3E}">
        <p14:creationId xmlns:p14="http://schemas.microsoft.com/office/powerpoint/2010/main" val="3620533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9F0F3-5F90-53FA-6451-62F05AA2F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2. ngOnChanges()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FA19E-74EE-2FF0-9C2E-A6B7CFDD8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33530"/>
            <a:ext cx="11927393" cy="6124469"/>
          </a:xfrm>
        </p:spPr>
        <p:txBody>
          <a:bodyPr>
            <a:normAutofit/>
          </a:bodyPr>
          <a:lstStyle/>
          <a:p>
            <a:r>
              <a:rPr lang="en-US" sz="1800" b="1"/>
              <a:t>Triggers when</a:t>
            </a:r>
          </a:p>
          <a:p>
            <a:pPr lvl="1"/>
            <a:r>
              <a:rPr lang="en-US" b="1"/>
              <a:t>whenever an @Input() value changes.</a:t>
            </a:r>
          </a:p>
          <a:p>
            <a:pPr lvl="1"/>
            <a:r>
              <a:rPr lang="en-US" b="1"/>
              <a:t>Runs every time the component's inputs properties have been changed.</a:t>
            </a:r>
          </a:p>
          <a:p>
            <a:pPr lvl="1"/>
            <a:r>
              <a:rPr lang="en-US" b="1"/>
              <a:t>It is triggered at least once before ngOnInit in case of you have properties with Input decorator</a:t>
            </a:r>
          </a:p>
          <a:p>
            <a:pPr lvl="1"/>
            <a:r>
              <a:rPr lang="en-US" b="1"/>
              <a:t>ngOnChanges will only run when input properties change, so it's not triggered if there are no input properties in the component.</a:t>
            </a:r>
          </a:p>
          <a:p>
            <a:r>
              <a:rPr lang="en-US" sz="1800" b="1"/>
              <a:t>What should happen here</a:t>
            </a:r>
          </a:p>
          <a:p>
            <a:pPr lvl="1"/>
            <a:r>
              <a:rPr lang="en-US" sz="1600" b="1"/>
              <a:t>You receive information about what changed.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ngOnChanges</a:t>
            </a:r>
            <a:r>
              <a:rPr lang="en-US" sz="1600" b="1"/>
              <a:t>(changes: SimpleChanges) { console.log(changes); }</a:t>
            </a:r>
          </a:p>
          <a:p>
            <a:pPr lvl="1"/>
            <a:endParaRPr lang="en-US" sz="1600" b="1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5A51D9-A565-CD66-6D7E-348D053E9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76914"/>
            <a:ext cx="3371850" cy="14192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F3AC84-BA02-82C2-E0AB-AD9CC78AD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644" y="4500614"/>
            <a:ext cx="2828925" cy="22955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7F14F0-BEBA-A18A-D76A-CFC983CF8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701" y="3795764"/>
            <a:ext cx="1809750" cy="30003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579260-C200-C657-C7D9-4A2C99F7C8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1196" y="3059867"/>
            <a:ext cx="3076445" cy="373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06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B9820-D928-D24F-08F1-39AD1CD63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ngOnInit()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33117-0584-26E3-27CA-461EA23F5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</a:t>
            </a:r>
            <a:r>
              <a:rPr lang="en-US" b="1"/>
              <a:t>once</a:t>
            </a:r>
            <a:r>
              <a:rPr lang="en-US"/>
              <a:t> after Angular has initialized the component.</a:t>
            </a:r>
            <a:endParaRPr lang="en-US" b="1"/>
          </a:p>
          <a:p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API calls,  Loading data</a:t>
            </a:r>
            <a:endParaRPr lang="en-US" b="1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436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AA2E0-73ED-B36A-AD0B-40A7B7FD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ngDoCheck()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7E774-17D1-67DE-89AD-4A340D9CA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</a:t>
            </a:r>
            <a:r>
              <a:rPr lang="en-US" b="1"/>
              <a:t>every time Angular checks the component</a:t>
            </a:r>
            <a:r>
              <a:rPr lang="en-US"/>
              <a:t>.</a:t>
            </a:r>
          </a:p>
          <a:p>
            <a:pPr lvl="1"/>
            <a:r>
              <a:rPr lang="en-US"/>
              <a:t>This happens a lot: Button clicked, Even moving the mouse can trigger many checks depending on your app.</a:t>
            </a:r>
          </a:p>
          <a:p>
            <a:pPr lvl="1"/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API calls,  Loading data</a:t>
            </a:r>
            <a:endParaRPr lang="en-US" b="1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118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F9D1-EB7C-FE9D-5E43-0A8732AB1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5. ngAfterContentInit()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66A94-EC50-7A03-1C29-D8FF6FA1E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If component is  a child and inserted into parent</a:t>
            </a:r>
          </a:p>
          <a:p>
            <a:pPr lvl="1"/>
            <a:r>
              <a:rPr lang="en-US"/>
              <a:t>So inside child ngAfterContentInit() is called</a:t>
            </a:r>
          </a:p>
          <a:p>
            <a:pPr lvl="1"/>
            <a:r>
              <a:rPr lang="en-US"/>
              <a:t>runs once.</a:t>
            </a:r>
          </a:p>
          <a:p>
            <a:pPr lvl="1"/>
            <a:endParaRPr lang="en-US" b="1"/>
          </a:p>
          <a:p>
            <a:r>
              <a:rPr lang="en-US" b="1"/>
              <a:t>What should happen here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498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5C5C-BC0D-0C9E-2143-27052D98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6. ngAfterContentChecked()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0BB54-6039-1C20-FD5A-944A3A4B3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185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0726-AE7C-213E-E6A1-9AB1A0100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7 ngAfterViewInit()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352F9-B351-96C1-4C67-3E6EAEC34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after Angular creates the component's HTML.</a:t>
            </a:r>
          </a:p>
          <a:p>
            <a:pPr lvl="1"/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Use this hook to perform actions that require access to the component’s rendered view or the DOM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5108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8E818-528C-502D-EF01-FBB5EDA84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8. ngAfterViewChecked()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F24C7-7F7F-393D-54F3-794320520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70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A79FA-141C-542A-EDA0-8D406DD3F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9. ngOnDestroy()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8AE35-55A9-83E9-C6EC-40639BFB9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before Angular removes the component.</a:t>
            </a:r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Perfect place for cleanup.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12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A04C8-F35A-592F-5B87-0AF973DD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00DF5-8135-CC7B-2AF2-41E83C724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081497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Angular Life cycles</a:t>
            </a:r>
          </a:p>
        </p:txBody>
      </p:sp>
    </p:spTree>
    <p:extLst>
      <p:ext uri="{BB962C8B-B14F-4D97-AF65-F5344CB8AC3E}">
        <p14:creationId xmlns:p14="http://schemas.microsoft.com/office/powerpoint/2010/main" val="1082699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F2DD4-D862-E89B-3A1F-B3DEAFE55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98831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Start Access element</a:t>
            </a:r>
          </a:p>
        </p:txBody>
      </p:sp>
    </p:spTree>
    <p:extLst>
      <p:ext uri="{BB962C8B-B14F-4D97-AF65-F5344CB8AC3E}">
        <p14:creationId xmlns:p14="http://schemas.microsoft.com/office/powerpoint/2010/main" val="3103173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E00C2-04D2-89D3-8778-1A453F8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62708"/>
          </a:xfrm>
        </p:spPr>
        <p:txBody>
          <a:bodyPr>
            <a:normAutofit fontScale="90000"/>
          </a:bodyPr>
          <a:lstStyle/>
          <a:p>
            <a:r>
              <a:rPr lang="en-US" b="1"/>
              <a:t>access element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B42E6-FCE9-5BB9-CB78-0243399CB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5" y="562709"/>
            <a:ext cx="11806814" cy="6099348"/>
          </a:xfrm>
        </p:spPr>
        <p:txBody>
          <a:bodyPr/>
          <a:lstStyle/>
          <a:p>
            <a:r>
              <a:rPr lang="en-US"/>
              <a:t>To access the element in Agular you need to assign to it  </a:t>
            </a:r>
            <a:r>
              <a:rPr lang="en-US" b="1"/>
              <a:t>Template Reference Variable</a:t>
            </a:r>
          </a:p>
          <a:p>
            <a:r>
              <a:rPr lang="en-US" b="1"/>
              <a:t>For example</a:t>
            </a:r>
          </a:p>
          <a:p>
            <a:pPr lvl="1"/>
            <a:r>
              <a:rPr lang="en-US"/>
              <a:t>&lt;div </a:t>
            </a:r>
            <a:r>
              <a:rPr lang="en-US" b="1">
                <a:solidFill>
                  <a:srgbClr val="FFFF00"/>
                </a:solidFill>
              </a:rPr>
              <a:t>#myElement</a:t>
            </a:r>
            <a:r>
              <a:rPr lang="en-US"/>
              <a:t>&gt;Some content&lt;/div&gt;</a:t>
            </a:r>
          </a:p>
          <a:p>
            <a:pPr lvl="2"/>
            <a:r>
              <a:rPr lang="en-US" b="1"/>
              <a:t>The </a:t>
            </a:r>
            <a:r>
              <a:rPr lang="en-US" b="1">
                <a:solidFill>
                  <a:srgbClr val="FFFF00"/>
                </a:solidFill>
              </a:rPr>
              <a:t>#myElement</a:t>
            </a:r>
            <a:r>
              <a:rPr lang="en-US" b="1"/>
              <a:t> is called a </a:t>
            </a:r>
            <a:r>
              <a:rPr lang="en-US" b="1">
                <a:solidFill>
                  <a:srgbClr val="FFFF00"/>
                </a:solidFill>
                <a:effectLst/>
              </a:rPr>
              <a:t>Template Reference Variable.</a:t>
            </a:r>
          </a:p>
          <a:p>
            <a:pPr lvl="2"/>
            <a:r>
              <a:rPr lang="en-US" b="1"/>
              <a:t>Pointer to that specific DOM element</a:t>
            </a:r>
          </a:p>
          <a:p>
            <a:pPr lvl="2"/>
            <a:r>
              <a:rPr lang="en-US" b="1"/>
              <a:t>The # is to declare the variable</a:t>
            </a:r>
          </a:p>
          <a:p>
            <a:pPr lvl="2"/>
            <a:r>
              <a:rPr lang="en-US" b="1">
                <a:solidFill>
                  <a:srgbClr val="FFFF00"/>
                </a:solidFill>
              </a:rPr>
              <a:t>ElementRef&lt;any&gt;</a:t>
            </a:r>
            <a:r>
              <a:rPr lang="en-US" b="1"/>
              <a:t> , any is determined as needed, could be </a:t>
            </a:r>
            <a:r>
              <a:rPr lang="en-US" b="1">
                <a:solidFill>
                  <a:srgbClr val="FFFF00"/>
                </a:solidFill>
                <a:effectLst/>
              </a:rPr>
              <a:t>HTMLSelectElement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FFFF00"/>
                </a:solidFill>
                <a:effectLst/>
              </a:rPr>
              <a:t>HTMLInputElement</a:t>
            </a:r>
            <a:endParaRPr lang="en-US" b="1">
              <a:solidFill>
                <a:srgbClr val="FFFF00"/>
              </a:solidFill>
            </a:endParaRPr>
          </a:p>
          <a:p>
            <a:r>
              <a:rPr lang="en-US" b="1"/>
              <a:t>To access the element in HTML </a:t>
            </a:r>
          </a:p>
          <a:p>
            <a:pPr lvl="1"/>
            <a:r>
              <a:rPr lang="en-US" b="1"/>
              <a:t>&lt;input type="number" #inputCount&gt;</a:t>
            </a:r>
          </a:p>
          <a:p>
            <a:pPr lvl="1"/>
            <a:r>
              <a:rPr lang="en-US" b="1"/>
              <a:t>&lt;button  (click)="calc(inputCount.value)"&gt;calc&lt;/button&gt;</a:t>
            </a:r>
          </a:p>
          <a:p>
            <a:pPr lvl="1"/>
            <a:endParaRPr lang="en-US"/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79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7D9E3-B8F9-9893-4998-1A30C543B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3095"/>
          </a:xfrm>
        </p:spPr>
        <p:txBody>
          <a:bodyPr>
            <a:normAutofit/>
          </a:bodyPr>
          <a:lstStyle/>
          <a:p>
            <a:r>
              <a:rPr lang="en-US" sz="3200" b="1"/>
              <a:t>access element [ViewChild]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113A3-2665-D5E5-1693-8118F9DDF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4" y="643095"/>
            <a:ext cx="11857055" cy="6099349"/>
          </a:xfrm>
        </p:spPr>
        <p:txBody>
          <a:bodyPr/>
          <a:lstStyle/>
          <a:p>
            <a:r>
              <a:rPr lang="en-US"/>
              <a:t>To access the element in ts</a:t>
            </a:r>
          </a:p>
          <a:p>
            <a:pPr lvl="1"/>
            <a:r>
              <a:rPr lang="en-US">
                <a:effectLst/>
              </a:rPr>
              <a:t>@</a:t>
            </a:r>
            <a:r>
              <a:rPr lang="en-US">
                <a:solidFill>
                  <a:srgbClr val="FFFF00"/>
                </a:solidFill>
                <a:effectLst/>
              </a:rPr>
              <a:t>ViewChild</a:t>
            </a:r>
            <a:r>
              <a:rPr lang="en-US">
                <a:effectLst/>
              </a:rPr>
              <a:t>('</a:t>
            </a:r>
            <a:r>
              <a:rPr lang="en-US" b="1"/>
              <a:t>TemplateReferenceVariable</a:t>
            </a:r>
            <a:r>
              <a:rPr lang="en-US">
                <a:effectLst/>
              </a:rPr>
              <a:t>') selectElement!: ElementRef&lt;HTMLSelectElement&gt;;</a:t>
            </a:r>
          </a:p>
          <a:p>
            <a:pPr lvl="1"/>
            <a:r>
              <a:rPr lang="en-US">
                <a:effectLst/>
              </a:rPr>
              <a:t>@ViewChild('selectElement', { static: true }) secondElement!: ElementRef&lt;HTMLSelectElement&gt;;</a:t>
            </a:r>
            <a:endParaRPr lang="en-US"/>
          </a:p>
          <a:p>
            <a:r>
              <a:rPr lang="en-US"/>
              <a:t>Without </a:t>
            </a:r>
            <a:r>
              <a:rPr lang="en-US">
                <a:effectLst/>
              </a:rPr>
              <a:t>{ static: false }</a:t>
            </a:r>
          </a:p>
          <a:p>
            <a:pPr lvl="1"/>
            <a:r>
              <a:rPr lang="en-US"/>
              <a:t>It the default, you do not need to write it</a:t>
            </a:r>
          </a:p>
          <a:p>
            <a:pPr lvl="1"/>
            <a:r>
              <a:rPr lang="en-US"/>
              <a:t>The element will be available only in </a:t>
            </a:r>
            <a:r>
              <a:rPr lang="en-US" b="1">
                <a:solidFill>
                  <a:srgbClr val="FFFF00"/>
                </a:solidFill>
              </a:rPr>
              <a:t>ngAfterViewInit</a:t>
            </a:r>
            <a:r>
              <a:rPr lang="en-US"/>
              <a:t>()</a:t>
            </a:r>
          </a:p>
          <a:p>
            <a:pPr lvl="1"/>
            <a:r>
              <a:rPr lang="en-US"/>
              <a:t>Use this if the element is inside a structural directive like </a:t>
            </a:r>
            <a:r>
              <a:rPr lang="en-US">
                <a:effectLst/>
              </a:rPr>
              <a:t>*ngIf</a:t>
            </a:r>
            <a:r>
              <a:rPr lang="en-US"/>
              <a:t> or </a:t>
            </a:r>
            <a:r>
              <a:rPr lang="en-US">
                <a:effectLst/>
              </a:rPr>
              <a:t>*ngFor</a:t>
            </a:r>
            <a:r>
              <a:rPr lang="en-US"/>
              <a:t>.</a:t>
            </a:r>
          </a:p>
          <a:p>
            <a:pPr lvl="1"/>
            <a:r>
              <a:rPr lang="en-US"/>
              <a:t>It will be </a:t>
            </a:r>
            <a:r>
              <a:rPr lang="en-US">
                <a:effectLst/>
              </a:rPr>
              <a:t>undefined if it is used inside </a:t>
            </a:r>
            <a:r>
              <a:rPr lang="en-US"/>
              <a:t>ngOnInit</a:t>
            </a:r>
          </a:p>
          <a:p>
            <a:r>
              <a:rPr lang="en-US"/>
              <a:t>With </a:t>
            </a:r>
            <a:r>
              <a:rPr lang="en-US">
                <a:effectLst/>
              </a:rPr>
              <a:t>{ static: true }</a:t>
            </a:r>
          </a:p>
          <a:p>
            <a:pPr lvl="1"/>
            <a:r>
              <a:rPr lang="en-US"/>
              <a:t>The element will be available in ngOnInit ()</a:t>
            </a:r>
          </a:p>
          <a:p>
            <a:pPr lvl="1"/>
            <a:r>
              <a:rPr lang="en-US"/>
              <a:t>Use this if the element is always present in the DOM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94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4CBC6-128E-942C-0E6B-8D55DF3FF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F802F-28D9-309C-77BC-ABFEEADAB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98831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Access element</a:t>
            </a:r>
          </a:p>
        </p:txBody>
      </p:sp>
    </p:spTree>
    <p:extLst>
      <p:ext uri="{BB962C8B-B14F-4D97-AF65-F5344CB8AC3E}">
        <p14:creationId xmlns:p14="http://schemas.microsoft.com/office/powerpoint/2010/main" val="1299457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548D-0C11-F00B-C5A2-BFB09807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Observable</a:t>
            </a:r>
          </a:p>
        </p:txBody>
      </p:sp>
    </p:spTree>
    <p:extLst>
      <p:ext uri="{BB962C8B-B14F-4D97-AF65-F5344CB8AC3E}">
        <p14:creationId xmlns:p14="http://schemas.microsoft.com/office/powerpoint/2010/main" val="17420120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DA1AC-105A-848C-3352-D6E107198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2514"/>
          </a:xfrm>
        </p:spPr>
        <p:txBody>
          <a:bodyPr>
            <a:normAutofit fontScale="90000"/>
          </a:bodyPr>
          <a:lstStyle/>
          <a:p>
            <a:r>
              <a:rPr lang="en-US"/>
              <a:t>Next()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DA791-4E7C-1F36-6391-0F8A90BD2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22514"/>
            <a:ext cx="10353762" cy="5868237"/>
          </a:xfrm>
        </p:spPr>
        <p:txBody>
          <a:bodyPr/>
          <a:lstStyle/>
          <a:p>
            <a:r>
              <a:rPr lang="en-US"/>
              <a:t>The next could only be in the observer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5877F6-21A8-6AB9-5C0A-F59E08EB8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957" y="1149018"/>
            <a:ext cx="4409028" cy="326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9795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61C75-4C44-83FD-3C4D-7C4175254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/>
              <a:t>Complete()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3C8B1-3490-2F46-DB7D-37DC08CFD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is called </a:t>
            </a:r>
            <a:r>
              <a:rPr lang="en-US" b="1"/>
              <a:t>after the Observable has finished emitting all its values</a:t>
            </a:r>
            <a:r>
              <a:rPr lang="en-US"/>
              <a:t> and only if no error occurred.</a:t>
            </a:r>
          </a:p>
        </p:txBody>
      </p:sp>
    </p:spTree>
    <p:extLst>
      <p:ext uri="{BB962C8B-B14F-4D97-AF65-F5344CB8AC3E}">
        <p14:creationId xmlns:p14="http://schemas.microsoft.com/office/powerpoint/2010/main" val="30009803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valuw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643895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953144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8845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0006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124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3121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5960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8E624-CC17-FEE6-C6D8-C70572D7F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Finalize()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F086E-4FD5-8554-3405-A8AA317AB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4" y="693336"/>
            <a:ext cx="11625943" cy="6164664"/>
          </a:xfrm>
        </p:spPr>
        <p:txBody>
          <a:bodyPr/>
          <a:lstStyle/>
          <a:p>
            <a:r>
              <a:rPr lang="en-US"/>
              <a:t>is an operator that lets you run code </a:t>
            </a:r>
            <a:r>
              <a:rPr lang="en-US" b="1"/>
              <a:t>when an Observable finishes</a:t>
            </a:r>
            <a:r>
              <a:rPr lang="en-US"/>
              <a:t>, regardless of </a:t>
            </a:r>
            <a:r>
              <a:rPr lang="en-US" i="1"/>
              <a:t>how</a:t>
            </a:r>
            <a:r>
              <a:rPr lang="en-US"/>
              <a:t> it finishes.</a:t>
            </a:r>
          </a:p>
          <a:p>
            <a:r>
              <a:rPr lang="en-US"/>
              <a:t>It runs at these scenarios:</a:t>
            </a:r>
          </a:p>
          <a:p>
            <a:pPr lvl="1"/>
            <a:r>
              <a:rPr lang="en-US" sz="2000"/>
              <a:t>The Observable completes successfully. </a:t>
            </a:r>
          </a:p>
          <a:p>
            <a:pPr lvl="1"/>
            <a:r>
              <a:rPr lang="en-US" sz="2000"/>
              <a:t> The Observable throws an error. </a:t>
            </a:r>
          </a:p>
          <a:p>
            <a:pPr lvl="1"/>
            <a:r>
              <a:rPr lang="en-US" sz="2000"/>
              <a:t> The subscription is manually unsubscribed.</a:t>
            </a:r>
          </a:p>
          <a:p>
            <a:r>
              <a:rPr lang="en-US"/>
              <a:t>It’s mechanism like Think of </a:t>
            </a:r>
            <a:r>
              <a:rPr lang="en-US">
                <a:effectLst/>
              </a:rPr>
              <a:t>finalize()</a:t>
            </a:r>
            <a:r>
              <a:rPr lang="en-US"/>
              <a:t> like the </a:t>
            </a:r>
            <a:r>
              <a:rPr lang="en-US">
                <a:effectLst/>
              </a:rPr>
              <a:t>finally</a:t>
            </a:r>
            <a:r>
              <a:rPr lang="en-US"/>
              <a:t> block in a standard JavaScript </a:t>
            </a:r>
            <a:r>
              <a:rPr lang="en-US">
                <a:effectLst/>
              </a:rPr>
              <a:t>try/catch/finally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2604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5BF13-9081-36D4-4B7F-C905D8664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Finalize() [cont.1]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74F5D1-9945-FB9A-55FD-04FDEF53E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1003"/>
            <a:ext cx="4881825" cy="25518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AC6C44-1A39-E00E-349B-B1D84B595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1825" y="743577"/>
            <a:ext cx="4666304" cy="5918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5894EA4-1699-049C-2C19-77F4E0C79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3765" y="743577"/>
            <a:ext cx="2502325" cy="537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35858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943C3-9986-2795-5397-FF69B1AB5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9532"/>
          </a:xfrm>
        </p:spPr>
        <p:txBody>
          <a:bodyPr/>
          <a:lstStyle/>
          <a:p>
            <a:r>
              <a:rPr lang="en-US" b="1"/>
              <a:t>Of()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58854-7013-F406-9263-C46345736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0450"/>
            <a:ext cx="8149213" cy="5651413"/>
          </a:xfrm>
        </p:spPr>
        <p:txBody>
          <a:bodyPr/>
          <a:lstStyle/>
          <a:p>
            <a:r>
              <a:rPr lang="en-US"/>
              <a:t>creates an Observable from the values you provide.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 b="1"/>
              <a:t>of(5) </a:t>
            </a:r>
            <a:r>
              <a:rPr lang="en-US" b="1">
                <a:sym typeface="Wingdings" panose="05000000000000000000" pitchFamily="2" charset="2"/>
              </a:rPr>
              <a:t></a:t>
            </a:r>
            <a:r>
              <a:rPr lang="en-US">
                <a:sym typeface="Wingdings" panose="05000000000000000000" pitchFamily="2" charset="2"/>
              </a:rPr>
              <a:t> 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267AA0-92E6-559F-0D40-F86BA86E7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09" y="1424720"/>
            <a:ext cx="4049434" cy="20852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22DE8A-273A-9B47-1256-21889BCB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306" y="1424720"/>
            <a:ext cx="1529188" cy="20852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BAAD37-33B0-7906-396B-E071832AB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676" y="1424720"/>
            <a:ext cx="1682164" cy="20852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FCFB10-EDC1-2F1C-B6DE-490E7D9CC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0026" y="3700698"/>
            <a:ext cx="2969552" cy="273024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53831F-A369-3088-1C73-67BB26196FA3}"/>
              </a:ext>
            </a:extLst>
          </p:cNvPr>
          <p:cNvSpPr txBox="1"/>
          <p:nvPr/>
        </p:nvSpPr>
        <p:spPr>
          <a:xfrm>
            <a:off x="7712424" y="3964246"/>
            <a:ext cx="423706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/>
              <a:t>Why use it in Angular? </a:t>
            </a:r>
            <a:r>
              <a:rPr lang="en-US" sz="2000" b="1">
                <a:solidFill>
                  <a:srgbClr val="00B0F0"/>
                </a:solidFill>
              </a:rPr>
              <a:t>Often for testing or when you already have data and need an Observable:</a:t>
            </a:r>
          </a:p>
        </p:txBody>
      </p:sp>
    </p:spTree>
    <p:extLst>
      <p:ext uri="{BB962C8B-B14F-4D97-AF65-F5344CB8AC3E}">
        <p14:creationId xmlns:p14="http://schemas.microsoft.com/office/powerpoint/2010/main" val="31586597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E5053-5FF1-4E28-50B6-EEBCE09CA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82321"/>
          </a:xfrm>
        </p:spPr>
        <p:txBody>
          <a:bodyPr>
            <a:normAutofit fontScale="90000"/>
          </a:bodyPr>
          <a:lstStyle/>
          <a:p>
            <a:r>
              <a:rPr lang="en-US"/>
              <a:t>tap()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5EC4AB-5D7E-B34D-3985-3926E192E3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725" y="666750"/>
            <a:ext cx="4508484" cy="30619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22A6CD-55E2-0CAE-2B83-8279FE4D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075" y="754531"/>
            <a:ext cx="6934200" cy="401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2351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9DD7-D191-A6D0-B508-FE9FD137C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/>
              <a:t>tap()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D01C3-CCF1-1173-94A8-599A17ACA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72756"/>
            <a:ext cx="11686233" cy="6079253"/>
          </a:xfrm>
        </p:spPr>
        <p:txBody>
          <a:bodyPr>
            <a:normAutofit lnSpcReduction="10000"/>
          </a:bodyPr>
          <a:lstStyle/>
          <a:p>
            <a:r>
              <a:rPr lang="en-US"/>
              <a:t>look at values emitted by observable without changing it, map() could change the values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Notice that tap() sees the values but does not modify them.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182BFA-67B2-A21B-4016-39FD00D1A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7" y="1334551"/>
            <a:ext cx="3496826" cy="4277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EE16-EDB4-53B9-C8D8-A1C6E7729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4184" y="1004835"/>
            <a:ext cx="3496826" cy="5724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6966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2C2F-28FC-4F15-C67A-2F9ABA5B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4103-3158-6B5D-CAA8-6052AEC0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Observable</a:t>
            </a:r>
          </a:p>
        </p:txBody>
      </p:sp>
    </p:spTree>
    <p:extLst>
      <p:ext uri="{BB962C8B-B14F-4D97-AF65-F5344CB8AC3E}">
        <p14:creationId xmlns:p14="http://schemas.microsoft.com/office/powerpoint/2010/main" val="25163865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5831-9ABD-4BDF-3724-5DDD29B8B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3530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visible$ | async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E03B-CB90-1824-3342-A2B2EAFEC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33530"/>
            <a:ext cx="10353762" cy="5948623"/>
          </a:xfrm>
        </p:spPr>
        <p:txBody>
          <a:bodyPr>
            <a:normAutofit/>
          </a:bodyPr>
          <a:lstStyle/>
          <a:p>
            <a:r>
              <a:rPr lang="en-US"/>
              <a:t>&lt;div class="loading" *ngIf="</a:t>
            </a:r>
            <a:r>
              <a:rPr lang="en-US" b="1">
                <a:solidFill>
                  <a:srgbClr val="CC3399"/>
                </a:solidFill>
              </a:rPr>
              <a:t>visible$</a:t>
            </a:r>
            <a:r>
              <a:rPr lang="en-US"/>
              <a:t> | </a:t>
            </a:r>
            <a:r>
              <a:rPr lang="en-US" b="1">
                <a:solidFill>
                  <a:srgbClr val="00B0F0"/>
                </a:solidFill>
              </a:rPr>
              <a:t>async</a:t>
            </a:r>
            <a:r>
              <a:rPr lang="en-US"/>
              <a:t>"&gt;&lt;/div&gt;</a:t>
            </a:r>
          </a:p>
          <a:p>
            <a:r>
              <a:rPr lang="en-US"/>
              <a:t>visible$ is observable -- you component.ts has:  </a:t>
            </a:r>
            <a:r>
              <a:rPr lang="en-US" b="1">
                <a:solidFill>
                  <a:srgbClr val="FFFF00"/>
                </a:solidFill>
              </a:rPr>
              <a:t>visible$</a:t>
            </a:r>
            <a:r>
              <a:rPr lang="en-US" b="1"/>
              <a:t>: Observable&lt;</a:t>
            </a:r>
            <a:r>
              <a:rPr lang="en-US" b="1">
                <a:solidFill>
                  <a:srgbClr val="CC3399"/>
                </a:solidFill>
              </a:rPr>
              <a:t>boolean</a:t>
            </a:r>
            <a:r>
              <a:rPr lang="en-US" b="1"/>
              <a:t>&gt;;</a:t>
            </a:r>
          </a:p>
          <a:p>
            <a:r>
              <a:rPr lang="en-US"/>
              <a:t>The async pipe </a:t>
            </a:r>
          </a:p>
          <a:p>
            <a:pPr lvl="1"/>
            <a:r>
              <a:rPr lang="en-US" b="1"/>
              <a:t>subscribes to the observable </a:t>
            </a:r>
          </a:p>
          <a:p>
            <a:pPr lvl="1"/>
            <a:r>
              <a:rPr lang="en-US" b="1"/>
              <a:t>gets the latest emitted value </a:t>
            </a:r>
          </a:p>
          <a:p>
            <a:pPr lvl="1"/>
            <a:r>
              <a:rPr lang="en-US" b="1"/>
              <a:t>updates the UI when the value changes </a:t>
            </a:r>
          </a:p>
          <a:p>
            <a:pPr lvl="1"/>
            <a:r>
              <a:rPr lang="en-US" b="1"/>
              <a:t>unsubscribes when the component is destroyed </a:t>
            </a:r>
            <a:endParaRPr lang="en-US"/>
          </a:p>
          <a:p>
            <a:r>
              <a:rPr lang="en-US" b="1"/>
              <a:t>Without async, you'd need: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false;</a:t>
            </a:r>
          </a:p>
          <a:p>
            <a:pPr lvl="1"/>
            <a:r>
              <a:rPr lang="en-US"/>
              <a:t>ngOnInit() { this.spinnerService.visible$.subscribe(value =&gt; { this.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value; });  }</a:t>
            </a:r>
          </a:p>
          <a:p>
            <a:pPr lvl="1"/>
            <a:r>
              <a:rPr lang="en-US"/>
              <a:t>&lt;div *ngIf="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"&gt;&lt;/div&gt;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857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2835917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69E4-AEBB-D18C-40E1-04387CDC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F285-F64F-E46E-5F12-D0FEAE0C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CSS</a:t>
            </a:r>
          </a:p>
        </p:txBody>
      </p:sp>
    </p:spTree>
    <p:extLst>
      <p:ext uri="{BB962C8B-B14F-4D97-AF65-F5344CB8AC3E}">
        <p14:creationId xmlns:p14="http://schemas.microsoft.com/office/powerpoint/2010/main" val="38976978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AD825-945B-DE52-D932-59CACBC4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D111F-5D8E-225A-25F4-349D8B030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CSS</a:t>
            </a:r>
          </a:p>
        </p:txBody>
      </p:sp>
    </p:spTree>
    <p:extLst>
      <p:ext uri="{BB962C8B-B14F-4D97-AF65-F5344CB8AC3E}">
        <p14:creationId xmlns:p14="http://schemas.microsoft.com/office/powerpoint/2010/main" val="191805879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E6BD-0C7B-6BA4-77ED-677D5406A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118250250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B360A-4087-24E1-28BE-F53218708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030" y="974690"/>
            <a:ext cx="11224009" cy="5255288"/>
          </a:xfrm>
        </p:spPr>
        <p:txBody>
          <a:bodyPr/>
          <a:lstStyle/>
          <a:p>
            <a:r>
              <a:rPr lang="en-US" b="1"/>
              <a:t>The behavior of following code will be</a:t>
            </a:r>
          </a:p>
          <a:p>
            <a:pPr lvl="1"/>
            <a:r>
              <a:rPr lang="en-US" b="1"/>
              <a:t>A side bar that appears at md+ screens</a:t>
            </a:r>
          </a:p>
          <a:p>
            <a:pPr lvl="1"/>
            <a:r>
              <a:rPr lang="en-US" b="1"/>
              <a:t>At screen less than md+ the side bar will disappeared and toggle (hamburger) button will appear to toggle the sidebar</a:t>
            </a:r>
          </a:p>
          <a:p>
            <a:pPr lvl="1"/>
            <a:r>
              <a:rPr lang="en-US" b="1"/>
              <a:t>The sidebar will be as offcanvas</a:t>
            </a:r>
          </a:p>
        </p:txBody>
      </p:sp>
    </p:spTree>
    <p:extLst>
      <p:ext uri="{BB962C8B-B14F-4D97-AF65-F5344CB8AC3E}">
        <p14:creationId xmlns:p14="http://schemas.microsoft.com/office/powerpoint/2010/main" val="212202448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E56E-2E6A-CCA4-7CA5-D8DA7644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Side bar HTML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18D38-5CF9-77A1-0A46-D29F1C11CEC6}"/>
              </a:ext>
            </a:extLst>
          </p:cNvPr>
          <p:cNvSpPr txBox="1"/>
          <p:nvPr/>
        </p:nvSpPr>
        <p:spPr>
          <a:xfrm>
            <a:off x="0" y="1452771"/>
            <a:ext cx="121082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h-100"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&lt;!-- ONE sidebar: works as offcanvas on from xs to sm, normal from md --&gt;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 offcanvas-start d-md-block border-0"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tabindex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"-1"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"a-sidebar"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"offcanvas-header d-md-none"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"offcanvas-title"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"btn-close"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data-bs-dismiss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"offcanvas-body p-0"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 flex-column p-2"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"/mainLayout/Product"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 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[routerLink]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'/mainLayout'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'about'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About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</a:p>
        </p:txBody>
      </p:sp>
    </p:spTree>
    <p:extLst>
      <p:ext uri="{BB962C8B-B14F-4D97-AF65-F5344CB8AC3E}">
        <p14:creationId xmlns:p14="http://schemas.microsoft.com/office/powerpoint/2010/main" val="32549544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0CF1E-44AC-5ADC-AB26-66866B16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83771"/>
          </a:xfrm>
        </p:spPr>
        <p:txBody>
          <a:bodyPr/>
          <a:lstStyle/>
          <a:p>
            <a:r>
              <a:rPr lang="en-US"/>
              <a:t>Sidebar CSS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BA032D-8EF7-03AF-C94F-ED0F7013B336}"/>
              </a:ext>
            </a:extLst>
          </p:cNvPr>
          <p:cNvSpPr txBox="1"/>
          <p:nvPr/>
        </p:nvSpPr>
        <p:spPr>
          <a:xfrm>
            <a:off x="552659" y="1492969"/>
            <a:ext cx="1086226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background-color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#343a40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@media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768px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the default is transform: translateX(-100%); 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default visibility: hidden*/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visibility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visible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/*default position: fixed*/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              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100vh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811506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E0D53-CF4D-31D7-9D22-43AF00A3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70450"/>
          </a:xfrm>
        </p:spPr>
        <p:txBody>
          <a:bodyPr/>
          <a:lstStyle/>
          <a:p>
            <a:r>
              <a:rPr lang="en-US"/>
              <a:t>Sidebar 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FEA6-9D42-E1F3-3E26-C2A2D1833FF3}"/>
              </a:ext>
            </a:extLst>
          </p:cNvPr>
          <p:cNvSpPr txBox="1"/>
          <p:nvPr/>
        </p:nvSpPr>
        <p:spPr>
          <a:xfrm>
            <a:off x="522515" y="970450"/>
            <a:ext cx="110230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Component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'@angular/core'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RouterLink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'@angular/router'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'app-side-bar'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'./side-bar.component.html'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'./side-bar.component.css'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27232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2B855-9938-F497-3B22-185FB16B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844"/>
            <a:ext cx="10353762" cy="970450"/>
          </a:xfrm>
        </p:spPr>
        <p:txBody>
          <a:bodyPr/>
          <a:lstStyle/>
          <a:p>
            <a:r>
              <a:rPr lang="en-US"/>
              <a:t>Main layout.ts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34F83-1273-DC7E-B6B8-6EFC0D9727B8}"/>
              </a:ext>
            </a:extLst>
          </p:cNvPr>
          <p:cNvSpPr txBox="1"/>
          <p:nvPr/>
        </p:nvSpPr>
        <p:spPr>
          <a:xfrm>
            <a:off x="291402" y="1225689"/>
            <a:ext cx="1135463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'app-main-layout'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RouterOutlet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'./main-layout.component.html'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'./main-layout.component.css'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MainLayoutComponent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ngOnInit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05856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Main-layout.html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1D297-3B11-1BBF-3588-0C5A1FAAE4A8}"/>
              </a:ext>
            </a:extLst>
          </p:cNvPr>
          <p:cNvSpPr txBox="1"/>
          <p:nvPr/>
        </p:nvSpPr>
        <p:spPr>
          <a:xfrm>
            <a:off x="0" y="1319436"/>
            <a:ext cx="12192000" cy="4812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mw-100"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"col flex-column page-content"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"layout-header d-flex align-items-center text-bg-dark p-10"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style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"font-family: cursive;"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btn-primary  me-10 fs-4 me-2"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"button"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data-bs-toggle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data-bs-target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"#a-sidebar"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☰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"d-flex justify-content-between w-100"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"p-0 m-0 fw-bold fs-4"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btn-outline-light"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(click)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{{ </a:t>
            </a:r>
            <a:r>
              <a:rPr lang="en-US" sz="1200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'English'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ar-EG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العربية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'}}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ar-EG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1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  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"fluid-container p-10"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main layout  (app.routes.ts)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0" y="1607736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A38B0-7FC1-476B-675A-8A5AD2C17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98E-1D5A-7922-6501-046FFA0BF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4773559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  // automatically triggers validation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5" y="592853"/>
            <a:ext cx="12101565" cy="6265147"/>
          </a:xfrm>
        </p:spPr>
        <p:txBody>
          <a:bodyPr>
            <a:normAutofit lnSpcReduction="10000"/>
          </a:bodyPr>
          <a:lstStyle/>
          <a:p>
            <a:r>
              <a:rPr lang="en-US" b="1"/>
              <a:t>FormGroup 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 b="1"/>
              <a:t> : { username: 'Ahmed' , password: '123456' }</a:t>
            </a:r>
          </a:p>
          <a:p>
            <a:pPr lvl="1"/>
            <a:r>
              <a:rPr lang="en-US" b="1"/>
              <a:t>getRawValue():  Includes disabled controls</a:t>
            </a:r>
          </a:p>
          <a:p>
            <a:pPr lvl="1"/>
            <a:r>
              <a:rPr lang="en-US" b="1">
                <a:effectLst/>
              </a:rPr>
              <a:t>controls['ColorHexCode']   // </a:t>
            </a:r>
          </a:p>
          <a:p>
            <a:pPr lvl="1"/>
            <a:r>
              <a:rPr lang="en-US" b="1">
                <a:effectLst/>
              </a:rPr>
              <a:t>get('ColorHexCode')		// </a:t>
            </a:r>
          </a:p>
          <a:p>
            <a:pPr lvl="1"/>
            <a:r>
              <a:rPr lang="en-US" b="1"/>
              <a:t>valid: bool, </a:t>
            </a:r>
            <a:r>
              <a:rPr lang="en-US" b="1">
                <a:effectLst/>
              </a:rPr>
              <a:t>A control is valid when its status is VALID</a:t>
            </a:r>
            <a:endParaRPr lang="en-US" b="1"/>
          </a:p>
          <a:p>
            <a:pPr lvl="1"/>
            <a:r>
              <a:rPr lang="en-US" b="1"/>
              <a:t>invalid</a:t>
            </a:r>
          </a:p>
          <a:p>
            <a:pPr lvl="1"/>
            <a:r>
              <a:rPr lang="en-US" b="1"/>
              <a:t>errors // Errors applied to the group itself (not children)</a:t>
            </a:r>
          </a:p>
          <a:p>
            <a:pPr lvl="1"/>
            <a:r>
              <a:rPr lang="en-US" b="1"/>
              <a:t>status </a:t>
            </a:r>
          </a:p>
          <a:p>
            <a:pPr lvl="1"/>
            <a:r>
              <a:rPr lang="en-US" b="1"/>
              <a:t>form.setValue({ username: 'Ahmed’, password: '123’ }); // Must include ALL controls</a:t>
            </a:r>
          </a:p>
          <a:p>
            <a:pPr lvl="1"/>
            <a:r>
              <a:rPr lang="en-US" b="1"/>
              <a:t>form.patchValue({  username: 'Ahmed’ }); // lets you update only the fields you provide, </a:t>
            </a:r>
            <a:r>
              <a:rPr lang="en-US" sz="1600" b="1"/>
              <a:t>always triggers validation</a:t>
            </a:r>
            <a:endParaRPr lang="en-US" b="1"/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 b="1"/>
              <a:t>(); // The form control has been blurred (focused and then left).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 b="1"/>
              <a:t>();   // The value has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 b="1"/>
              <a:t>();  // The value has not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 b="1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9075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Sweat Alert</a:t>
            </a:r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73614-4A5D-57A3-2066-B233B8F6C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D689-324F-7A20-90B5-59151A21E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Validation</a:t>
            </a:r>
          </a:p>
        </p:txBody>
      </p:sp>
    </p:spTree>
    <p:extLst>
      <p:ext uri="{BB962C8B-B14F-4D97-AF65-F5344CB8AC3E}">
        <p14:creationId xmlns:p14="http://schemas.microsoft.com/office/powerpoint/2010/main" val="9203717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5632-BAA9-D22C-D580-BDA47538F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Is Name Unique validation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D26F9-0E7E-A9E9-BC92-BB0D42C46120}"/>
              </a:ext>
            </a:extLst>
          </p:cNvPr>
          <p:cNvSpPr txBox="1"/>
          <p:nvPr/>
        </p:nvSpPr>
        <p:spPr>
          <a:xfrm>
            <a:off x="160774" y="849519"/>
            <a:ext cx="1192739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IsNameUniqueValidator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AsyncValidatorFn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AbstractControl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Observable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ValidationErrors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.IsEditMode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.SelectedCategory.name)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.categoryService.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.SelectedCategory?.id)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.data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 nameIsNotUnique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})),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catchError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209169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A36C6-02CF-8AA3-982A-D81C3927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80128-2B4A-5795-A0C4-1088037BB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Validation</a:t>
            </a:r>
          </a:p>
        </p:txBody>
      </p:sp>
    </p:spTree>
    <p:extLst>
      <p:ext uri="{BB962C8B-B14F-4D97-AF65-F5344CB8AC3E}">
        <p14:creationId xmlns:p14="http://schemas.microsoft.com/office/powerpoint/2010/main" val="383753571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81FC6-4B70-AE29-654E-CB73924B4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2EE4B-5411-108B-F096-5EA7CAEDB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0465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F826-99F3-E16F-3175-E8761712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DE2AC-220C-CDAC-98EA-694781CE7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/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EF8F5-DF2D-7BFF-3958-CDA0AC17B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</a:t>
            </a:r>
            <a:r>
              <a:rPr lang="en-US">
                <a:solidFill>
                  <a:srgbClr val="FFFF00"/>
                </a:solidFill>
              </a:rPr>
              <a:t>HttpErrorResponse</a:t>
            </a:r>
            <a:r>
              <a:rPr lang="en-US">
                <a:sym typeface="Wingdings" panose="05000000000000000000" pitchFamily="2" charset="2"/>
              </a:rPr>
              <a:t>)=&gt;{}</a:t>
            </a:r>
          </a:p>
          <a:p>
            <a:r>
              <a:rPr lang="en-US" b="1">
                <a:solidFill>
                  <a:srgbClr val="FFFF00"/>
                </a:solidFill>
              </a:rPr>
              <a:t>HttpErrorResponse properties</a:t>
            </a:r>
          </a:p>
          <a:p>
            <a:pPr lvl="1"/>
            <a:r>
              <a:rPr lang="en-US"/>
              <a:t>status: </a:t>
            </a:r>
            <a:r>
              <a:rPr lang="en-US">
                <a:effectLst/>
              </a:rPr>
              <a:t>HttpStatusCode (enum)</a:t>
            </a:r>
          </a:p>
          <a:p>
            <a:pPr lvl="1"/>
            <a:r>
              <a:rPr lang="en-US"/>
              <a:t>statusText</a:t>
            </a:r>
          </a:p>
          <a:p>
            <a:pPr lvl="1"/>
            <a:r>
              <a:rPr lang="en-US"/>
              <a:t>url</a:t>
            </a:r>
          </a:p>
          <a:p>
            <a:pPr lvl="1"/>
            <a:r>
              <a:rPr lang="en-US"/>
              <a:t>error: Contains the actual error returned by the backend.</a:t>
            </a:r>
          </a:p>
          <a:p>
            <a:pPr lvl="1"/>
            <a:r>
              <a:rPr lang="en-US"/>
              <a:t>ok: boolean</a:t>
            </a:r>
          </a:p>
          <a:p>
            <a:pPr lvl="1"/>
            <a:endParaRPr lang="en-US"/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74228375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Download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pPr lvl="1"/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>
                <a:effectLst/>
              </a:rPr>
              <a:t>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pPr lvl="1"/>
            <a:r>
              <a:rPr lang="en-US" b="1"/>
              <a:t>At edit</a:t>
            </a:r>
          </a:p>
          <a:p>
            <a:pPr marL="810000" lvl="2" indent="0">
              <a:buNone/>
            </a:pPr>
            <a:r>
              <a:rPr lang="en-US" sz="1800" b="1">
                <a:effectLst/>
              </a:rPr>
              <a:t>if(categoryDTO.Image instanceof </a:t>
            </a:r>
            <a:r>
              <a:rPr lang="en-US" sz="1800" b="1">
                <a:solidFill>
                  <a:srgbClr val="00B0F0"/>
                </a:solidFill>
                <a:effectLst/>
              </a:rPr>
              <a:t>File</a:t>
            </a:r>
            <a:r>
              <a:rPr lang="en-US" sz="1800" b="1">
                <a:effectLst/>
              </a:rPr>
              <a:t>) { formData.append("image", categoryDTO.Image as File) }</a:t>
            </a:r>
          </a:p>
          <a:p>
            <a:pPr lvl="2"/>
            <a:r>
              <a:rPr lang="en-US" b="1">
                <a:effectLst/>
              </a:rPr>
              <a:t>categoryDTO.Image // </a:t>
            </a:r>
            <a:r>
              <a:rPr lang="en-US">
                <a:effectLst/>
              </a:rPr>
              <a:t>Image: File | null</a:t>
            </a:r>
          </a:p>
          <a:p>
            <a:pPr lvl="2"/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AEC-0EFE-A3C1-B982-F0A40451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&lt;mat-divider&gt;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C5A86-3E9B-A5CC-49E8-49BB71F6F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633047"/>
            <a:ext cx="11736475" cy="6129494"/>
          </a:xfrm>
        </p:spPr>
        <p:txBody>
          <a:bodyPr/>
          <a:lstStyle/>
          <a:p>
            <a:r>
              <a:rPr lang="en-US">
                <a:effectLst/>
              </a:rPr>
              <a:t>create a horizontal or vertical line styled with a Material theme</a:t>
            </a:r>
          </a:p>
          <a:p>
            <a:endParaRPr lang="en-US">
              <a:effectLst/>
            </a:endParaRPr>
          </a:p>
          <a:p>
            <a:r>
              <a:rPr lang="en-US" sz="1800" b="1">
                <a:effectLst/>
              </a:rPr>
              <a:t> &lt;mat-divider&gt;&lt;/mat-divider&gt;   // horizontal</a:t>
            </a:r>
            <a:endParaRPr lang="ar-EG" sz="1800" b="1">
              <a:effectLst/>
            </a:endParaRPr>
          </a:p>
          <a:p>
            <a:r>
              <a:rPr lang="en-US" sz="1800" b="1">
                <a:effectLst/>
              </a:rPr>
              <a:t>&lt;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 [vertical]="true"&gt;&lt;/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&gt;</a:t>
            </a:r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309407146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A434-D969-4DB6-BF4E-B2D7460E5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>
                <a:effectLst/>
              </a:rPr>
              <a:t>mat-autocomplete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4C1E7-F5C0-DC7D-5482-55AE04A45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5477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E403-0C1D-E280-07E7-84EDF9AC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1844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Localization</a:t>
            </a:r>
          </a:p>
        </p:txBody>
      </p:sp>
    </p:spTree>
    <p:extLst>
      <p:ext uri="{BB962C8B-B14F-4D97-AF65-F5344CB8AC3E}">
        <p14:creationId xmlns:p14="http://schemas.microsoft.com/office/powerpoint/2010/main" val="397900069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71352-8B4F-82B1-BD5E-51061C21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2804"/>
          </a:xfrm>
        </p:spPr>
        <p:txBody>
          <a:bodyPr>
            <a:normAutofit fontScale="90000"/>
          </a:bodyPr>
          <a:lstStyle/>
          <a:p>
            <a:r>
              <a:rPr lang="en-US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C0FAE-2D0B-57FF-F845-0AAF6D487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837" y="582805"/>
            <a:ext cx="10885720" cy="6119446"/>
          </a:xfrm>
        </p:spPr>
        <p:txBody>
          <a:bodyPr/>
          <a:lstStyle/>
          <a:p>
            <a:r>
              <a:rPr lang="en-US"/>
              <a:t>Installation and configuration</a:t>
            </a:r>
          </a:p>
          <a:p>
            <a:endParaRPr lang="en-US"/>
          </a:p>
          <a:p>
            <a:r>
              <a:rPr lang="en-US"/>
              <a:t>npm install @ngx-translate/core @ngx-translate/http-loader</a:t>
            </a:r>
          </a:p>
          <a:p>
            <a:r>
              <a:rPr lang="en-US"/>
              <a:t>At </a:t>
            </a:r>
            <a:r>
              <a:rPr lang="en-US" b="1">
                <a:solidFill>
                  <a:srgbClr val="FFC000"/>
                </a:solidFill>
              </a:rPr>
              <a:t>app.config.ts</a:t>
            </a:r>
            <a:r>
              <a:rPr lang="en-US"/>
              <a:t> , </a:t>
            </a:r>
            <a:r>
              <a:rPr lang="en-US" b="1"/>
              <a:t>provider</a:t>
            </a:r>
          </a:p>
          <a:p>
            <a:pPr lvl="1"/>
            <a:r>
              <a:rPr lang="en-US" b="1">
                <a:effectLst/>
              </a:rPr>
              <a:t>provideTranslateHttpLoader({ prefix: './assets/Localization/', suffix: '.json' }),</a:t>
            </a:r>
          </a:p>
          <a:p>
            <a:pPr lvl="1"/>
            <a:r>
              <a:rPr lang="en-US" sz="1600" b="1">
                <a:effectLst/>
              </a:rPr>
              <a:t>provideTranslateService({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fallbackLang</a:t>
            </a:r>
            <a:r>
              <a:rPr lang="en-US" b="1">
                <a:effectLst/>
              </a:rPr>
              <a:t>: 'ar’,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loader</a:t>
            </a:r>
            <a:r>
              <a:rPr lang="en-US" b="1">
                <a:effectLst/>
              </a:rPr>
              <a:t>: {  provide: </a:t>
            </a:r>
            <a:r>
              <a:rPr lang="en-US" b="1">
                <a:solidFill>
                  <a:srgbClr val="FFFF00"/>
                </a:solidFill>
                <a:effectLst/>
              </a:rPr>
              <a:t>TranslateLoader</a:t>
            </a:r>
            <a:r>
              <a:rPr lang="en-US" b="1">
                <a:effectLst/>
              </a:rPr>
              <a:t> 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 b="1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TranslateHttpLoader</a:t>
            </a:r>
            <a:r>
              <a:rPr lang="en-US" b="1">
                <a:effectLst/>
              </a:rPr>
              <a:t> }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})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0679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A5C11-06CA-D8AB-FD07-606BB04EC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22031"/>
          </a:xfrm>
        </p:spPr>
        <p:txBody>
          <a:bodyPr>
            <a:normAutofit fontScale="90000"/>
          </a:bodyPr>
          <a:lstStyle/>
          <a:p>
            <a:r>
              <a:rPr lang="en-US">
                <a:effectLst/>
              </a:rPr>
              <a:t>LanguageService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49EDB5-0CC4-7270-20D6-744A17ED26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12258"/>
            <a:ext cx="9611889" cy="270300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DB4C9F-B012-FAE7-80BB-EFCE87F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91" y="3285600"/>
            <a:ext cx="5695950" cy="3028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57DD2C-685A-7C2C-06D6-5F3D3225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934" y="3739110"/>
            <a:ext cx="4798826" cy="212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5056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D5C2B-B9C6-C16E-D1CA-9E348E14F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2659"/>
          </a:xfrm>
        </p:spPr>
        <p:txBody>
          <a:bodyPr>
            <a:normAutofit fontScale="90000"/>
          </a:bodyPr>
          <a:lstStyle/>
          <a:p>
            <a:r>
              <a:rPr lang="en-US"/>
              <a:t>At App.Component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A27E5-5EA1-1212-CF9E-2C078FEE0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73240"/>
            <a:ext cx="10905816" cy="6069203"/>
          </a:xfrm>
        </p:spPr>
        <p:txBody>
          <a:bodyPr/>
          <a:lstStyle/>
          <a:p>
            <a:r>
              <a:rPr lang="en-US"/>
              <a:t>you must ensure LanguageService is instantiated during app startup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constructor</a:t>
            </a:r>
            <a:r>
              <a:rPr lang="en-US" b="1">
                <a:effectLst/>
              </a:rPr>
              <a:t>(</a:t>
            </a:r>
            <a:r>
              <a:rPr lang="en-US" b="1">
                <a:solidFill>
                  <a:srgbClr val="CC3399"/>
                </a:solidFill>
                <a:effectLst/>
              </a:rPr>
              <a:t>private</a:t>
            </a:r>
            <a:r>
              <a:rPr lang="en-US" b="1">
                <a:effectLst/>
              </a:rPr>
              <a:t> </a:t>
            </a:r>
            <a:r>
              <a:rPr lang="en-US" b="1">
                <a:solidFill>
                  <a:srgbClr val="FFFF00"/>
                </a:solidFill>
                <a:effectLst/>
              </a:rPr>
              <a:t>LanguageService</a:t>
            </a:r>
            <a:r>
              <a:rPr lang="en-US" b="1">
                <a:effectLst/>
              </a:rPr>
              <a:t>: LanguageService){}</a:t>
            </a:r>
          </a:p>
          <a:p>
            <a:pPr marL="36900" indent="0">
              <a:buNone/>
            </a:pPr>
            <a:r>
              <a:rPr lang="en-US">
                <a:effectLst/>
              </a:rPr>
              <a:t>Why : to call its constructor to get the last chosen lang</a:t>
            </a:r>
          </a:p>
          <a:p>
            <a:pPr marL="36900" indent="0">
              <a:buNone/>
            </a:pPr>
            <a:br>
              <a:rPr lang="en-US">
                <a:effectLst/>
              </a:rPr>
            </a:b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914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A01B3-3CD4-46AC-8171-C2869D151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86637"/>
          </a:xfrm>
        </p:spPr>
        <p:txBody>
          <a:bodyPr>
            <a:normAutofit fontScale="90000"/>
          </a:bodyPr>
          <a:lstStyle/>
          <a:p>
            <a:r>
              <a:rPr lang="en-US"/>
              <a:t>Usage At component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9D2F7A-3D97-7161-67DF-A871F5062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894302"/>
            <a:ext cx="11656088" cy="5963697"/>
          </a:xfrm>
        </p:spPr>
        <p:txBody>
          <a:bodyPr/>
          <a:lstStyle/>
          <a:p>
            <a:r>
              <a:rPr lang="en-US">
                <a:effectLst/>
              </a:rPr>
              <a:t>To change the lang in all app and vice versw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93DB0663-B853-8A1B-85EE-6F7B6B426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97" y="1570595"/>
            <a:ext cx="6626409" cy="31136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458814-30B6-F40F-F367-E3E7B8526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96" y="4883529"/>
            <a:ext cx="6626409" cy="88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7738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82016-9D4D-97FB-894C-AC6D20B0E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BAC87-2A21-0C78-9BB9-60D4200C9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effectLst/>
              </a:rPr>
              <a:t>if you intend to use key from en.json or ar.json at component</a:t>
            </a:r>
            <a:endParaRPr lang="en-US"/>
          </a:p>
          <a:p>
            <a:pPr lvl="1"/>
            <a:r>
              <a:rPr lang="en-US" sz="2000"/>
              <a:t>.html</a:t>
            </a:r>
          </a:p>
          <a:p>
            <a:pPr lvl="2"/>
            <a:r>
              <a:rPr lang="en-US" sz="1800"/>
              <a:t>you need to import  </a:t>
            </a:r>
            <a:r>
              <a:rPr lang="en-US" sz="1800">
                <a:effectLst/>
              </a:rPr>
              <a:t>TranslatePipe</a:t>
            </a:r>
          </a:p>
          <a:p>
            <a:pPr lvl="2"/>
            <a:r>
              <a:rPr lang="en-US" sz="1800">
                <a:effectLst/>
              </a:rPr>
              <a:t>imports: [</a:t>
            </a:r>
            <a:r>
              <a:rPr lang="en-US" sz="1800" b="1">
                <a:solidFill>
                  <a:srgbClr val="FFFF00"/>
                </a:solidFill>
                <a:effectLst/>
              </a:rPr>
              <a:t>TranslatePipe</a:t>
            </a:r>
            <a:r>
              <a:rPr lang="en-US" sz="1800">
                <a:effectLst/>
              </a:rPr>
              <a:t>],</a:t>
            </a:r>
          </a:p>
          <a:p>
            <a:pPr lvl="2"/>
            <a:r>
              <a:rPr lang="en-US" sz="1800">
                <a:effectLst/>
              </a:rPr>
              <a:t>At html    &lt;label class="ms-2"&gt;{{"nameAr" | translate}}&lt;/label&gt;</a:t>
            </a:r>
          </a:p>
          <a:p>
            <a:pPr lvl="1"/>
            <a:r>
              <a:rPr lang="en-US"/>
              <a:t>ts</a:t>
            </a:r>
          </a:p>
          <a:p>
            <a:pPr lvl="2"/>
            <a:r>
              <a:rPr lang="en-US" sz="1800">
                <a:effectLst/>
              </a:rPr>
              <a:t>At ts : this.translate.use(lang);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2072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6245-A428-C239-B19C-583684394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0D9-6497-D7C5-3874-1849D510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70076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Localization</a:t>
            </a:r>
          </a:p>
        </p:txBody>
      </p:sp>
    </p:spTree>
    <p:extLst>
      <p:ext uri="{BB962C8B-B14F-4D97-AF65-F5344CB8AC3E}">
        <p14:creationId xmlns:p14="http://schemas.microsoft.com/office/powerpoint/2010/main" val="86772094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00BA-09F5-CC31-4890-0431F9407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interceptors</a:t>
            </a:r>
          </a:p>
        </p:txBody>
      </p:sp>
    </p:spTree>
    <p:extLst>
      <p:ext uri="{BB962C8B-B14F-4D97-AF65-F5344CB8AC3E}">
        <p14:creationId xmlns:p14="http://schemas.microsoft.com/office/powerpoint/2010/main" val="78201058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CBBCD-3318-4190-7632-572F67C37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8207"/>
          </a:xfrm>
        </p:spPr>
        <p:txBody>
          <a:bodyPr>
            <a:normAutofit fontScale="90000"/>
          </a:bodyPr>
          <a:lstStyle/>
          <a:p>
            <a:r>
              <a:rPr lang="en-US"/>
              <a:t>Creating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B4862-CCB4-40A1-9075-223076C4D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9890" y="763675"/>
            <a:ext cx="3989196" cy="6094325"/>
          </a:xfrm>
        </p:spPr>
        <p:txBody>
          <a:bodyPr/>
          <a:lstStyle/>
          <a:p>
            <a:r>
              <a:rPr lang="en-US"/>
              <a:t>For example we are going to implement interceptor that handle </a:t>
            </a:r>
            <a:r>
              <a:rPr lang="en-US">
                <a:effectLst/>
              </a:rPr>
              <a:t>HttpErrorResponse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6E01F-E87D-064C-964F-EE89F2301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8208"/>
            <a:ext cx="8149213" cy="62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27277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A2D8-AEDE-CFCB-A4A7-B03E052E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/>
              <a:t>Register the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A7A1-809F-19E0-8CA5-0D70065F3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93336"/>
            <a:ext cx="11927393" cy="5878285"/>
          </a:xfrm>
        </p:spPr>
        <p:txBody>
          <a:bodyPr/>
          <a:lstStyle/>
          <a:p>
            <a:r>
              <a:rPr lang="en-US">
                <a:effectLst/>
              </a:rPr>
              <a:t>{ </a:t>
            </a:r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>
                <a:effectLst/>
              </a:rPr>
              <a:t>: HttpErrorInterceptor, </a:t>
            </a:r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 },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</a:t>
            </a:r>
          </a:p>
          <a:p>
            <a:pPr lvl="1"/>
            <a:r>
              <a:rPr lang="en-US">
                <a:effectLst/>
              </a:rPr>
              <a:t>It means I register this to participate in HTTP interceptor pipeline</a:t>
            </a:r>
          </a:p>
          <a:p>
            <a:pPr lvl="1"/>
            <a:r>
              <a:rPr lang="en-US">
                <a:effectLst/>
              </a:rPr>
              <a:t>Angular later looks for everything registered under HTTP_INTERCEPTORS and builds the interceptor chain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/>
              <a:t>: </a:t>
            </a:r>
            <a:r>
              <a:rPr lang="en-US">
                <a:effectLst/>
              </a:rPr>
              <a:t>HttpErrorInterceptor</a:t>
            </a:r>
          </a:p>
          <a:p>
            <a:pPr lvl="1"/>
            <a:r>
              <a:rPr lang="en-US">
                <a:effectLst/>
              </a:rPr>
              <a:t>The class itself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</a:t>
            </a:r>
          </a:p>
          <a:p>
            <a:pPr lvl="1"/>
            <a:r>
              <a:rPr lang="en-US" b="1"/>
              <a:t>Withtout multi: true, angular would expect only one value for HTTP_INTERCEPTOR and every new registration will overwrite the previous one</a:t>
            </a:r>
          </a:p>
          <a:p>
            <a:pPr lvl="1"/>
            <a:r>
              <a:rPr lang="en-US" sz="1400" b="1">
                <a:effectLst/>
              </a:rPr>
              <a:t>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HttpErrorInterceptor}, 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AuthInterceptor},</a:t>
            </a:r>
          </a:p>
          <a:p>
            <a:pPr lvl="1"/>
            <a:r>
              <a:rPr lang="en-US" sz="1600" b="1">
                <a:effectLst/>
              </a:rPr>
              <a:t>INTERCEPTORS = AuthInterceptor // cause it is the last one</a:t>
            </a:r>
            <a:endParaRPr lang="en-US" sz="1600" b="1"/>
          </a:p>
          <a:p>
            <a:pPr lvl="1"/>
            <a:r>
              <a:rPr lang="en-US"/>
              <a:t>With multi: true, </a:t>
            </a:r>
            <a:r>
              <a:rPr lang="en-US" sz="1600" b="1">
                <a:solidFill>
                  <a:srgbClr val="FFFF00"/>
                </a:solidFill>
                <a:effectLst/>
              </a:rPr>
              <a:t>HTTP_INTERCEPTORS </a:t>
            </a:r>
            <a:r>
              <a:rPr lang="en-US" sz="1600" b="1">
                <a:effectLst/>
              </a:rPr>
              <a:t>= [</a:t>
            </a:r>
            <a:r>
              <a:rPr lang="en-US" sz="1600" b="1">
                <a:solidFill>
                  <a:srgbClr val="00B0F0"/>
                </a:solidFill>
                <a:effectLst/>
              </a:rPr>
              <a:t>AuthInterceptor</a:t>
            </a:r>
            <a:r>
              <a:rPr lang="en-US" sz="1600" b="1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HttpErrorInterceptor</a:t>
            </a:r>
            <a:r>
              <a:rPr lang="en-US" b="1">
                <a:effectLst/>
              </a:rPr>
              <a:t> ]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9033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89BD1-13B1-E2FD-B3E8-31B230F97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97169"/>
          </a:xfrm>
        </p:spPr>
        <p:txBody>
          <a:bodyPr/>
          <a:lstStyle/>
          <a:p>
            <a:r>
              <a:rPr lang="en-US"/>
              <a:t>Configuring HttpClient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99D2-B706-4DA7-F3E6-0725523E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97169"/>
            <a:ext cx="11746523" cy="5945275"/>
          </a:xfrm>
        </p:spPr>
        <p:txBody>
          <a:bodyPr/>
          <a:lstStyle/>
          <a:p>
            <a:r>
              <a:rPr lang="en-US">
                <a:effectLst/>
              </a:rPr>
              <a:t>provideHttpClient(withFetch(), </a:t>
            </a:r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  <a:r>
              <a:rPr lang="en-US">
                <a:effectLst/>
              </a:rPr>
              <a:t> )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</a:p>
          <a:p>
            <a:pPr lvl="1"/>
            <a:r>
              <a:rPr lang="en-US" b="1"/>
              <a:t>look in DI container for anything registered under </a:t>
            </a:r>
            <a:r>
              <a:rPr lang="en-US" b="1">
                <a:solidFill>
                  <a:srgbClr val="00B0F0"/>
                </a:solidFill>
              </a:rPr>
              <a:t>HTTP_INTERCEPTORS and use those interceptors to build interceptors chain</a:t>
            </a:r>
          </a:p>
          <a:p>
            <a:r>
              <a:rPr lang="en-US" sz="1800" b="1"/>
              <a:t>HttpClient </a:t>
            </a:r>
            <a:r>
              <a:rPr lang="en-US" sz="1800" b="1">
                <a:sym typeface="Wingdings" panose="05000000000000000000" pitchFamily="2" charset="2"/>
              </a:rPr>
              <a:t></a:t>
            </a:r>
            <a:r>
              <a:rPr lang="en-US" sz="1800" b="1"/>
              <a:t> All registered interceptors </a:t>
            </a:r>
            <a:r>
              <a:rPr lang="en-US" sz="1800" b="1">
                <a:sym typeface="Wingdings" panose="05000000000000000000" pitchFamily="2" charset="2"/>
              </a:rPr>
              <a:t> Fetch Backend</a:t>
            </a:r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17687107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1BF1E-FA0A-2C71-C2E4-141E87F59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Pipes</a:t>
            </a:r>
          </a:p>
        </p:txBody>
      </p:sp>
    </p:spTree>
    <p:extLst>
      <p:ext uri="{BB962C8B-B14F-4D97-AF65-F5344CB8AC3E}">
        <p14:creationId xmlns:p14="http://schemas.microsoft.com/office/powerpoint/2010/main" val="1456316557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97944-3FB1-C1BB-018F-FF580C7CD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pipes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C0826-2045-F9BD-6023-17AFCF37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53" y="970450"/>
            <a:ext cx="10674704" cy="5761946"/>
          </a:xfrm>
        </p:spPr>
        <p:txBody>
          <a:bodyPr/>
          <a:lstStyle/>
          <a:p>
            <a:r>
              <a:rPr lang="en-US"/>
              <a:t>applied on </a:t>
            </a:r>
            <a:r>
              <a:rPr lang="en-US" b="1">
                <a:solidFill>
                  <a:srgbClr val="FF0000"/>
                </a:solidFill>
              </a:rPr>
              <a:t>value</a:t>
            </a:r>
            <a:r>
              <a:rPr lang="en-US"/>
              <a:t> while directive applied on </a:t>
            </a:r>
            <a:r>
              <a:rPr lang="en-US" b="1">
                <a:solidFill>
                  <a:srgbClr val="FF0000"/>
                </a:solidFill>
              </a:rPr>
              <a:t>elements</a:t>
            </a:r>
          </a:p>
          <a:p>
            <a:r>
              <a:rPr lang="en-US"/>
              <a:t>used to display (transform) value in a desired format</a:t>
            </a:r>
          </a:p>
          <a:p>
            <a:endParaRPr lang="en-US"/>
          </a:p>
          <a:p>
            <a:r>
              <a:rPr lang="en-US" b="1">
                <a:solidFill>
                  <a:srgbClr val="FF0000"/>
                </a:solidFill>
              </a:rPr>
              <a:t>async</a:t>
            </a:r>
            <a:r>
              <a:rPr lang="en-US"/>
              <a:t> : subscribe to an Observable or Promise and display its latest value.</a:t>
            </a:r>
          </a:p>
          <a:p>
            <a:r>
              <a:rPr lang="en-US"/>
              <a:t>uppercase</a:t>
            </a:r>
          </a:p>
          <a:p>
            <a:r>
              <a:rPr lang="en-US"/>
              <a:t>lowercase</a:t>
            </a:r>
          </a:p>
          <a:p>
            <a:r>
              <a:rPr lang="en-US"/>
              <a:t>titlecase: [ pascal case ]</a:t>
            </a:r>
          </a:p>
          <a:p>
            <a:r>
              <a:rPr lang="en-US"/>
              <a:t>date</a:t>
            </a:r>
          </a:p>
          <a:p>
            <a:pPr lvl="1"/>
            <a:r>
              <a:rPr lang="en-US"/>
              <a:t>{{ today | date }} // Jun 12, 2026</a:t>
            </a:r>
          </a:p>
          <a:p>
            <a:pPr lvl="1"/>
            <a:r>
              <a:rPr lang="en-US"/>
              <a:t>{{ today | date:'dd/MM/yyyy’ }} // 12/06/2026</a:t>
            </a:r>
          </a:p>
          <a:p>
            <a:r>
              <a:rPr lang="en-US"/>
              <a:t>json</a:t>
            </a:r>
          </a:p>
          <a:p>
            <a:endParaRPr lang="en-US"/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0397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8072E-1875-9970-D7A2-E0658BDA1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E6684-90B7-F69D-FB0E-AFD6E9AE9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Pipes</a:t>
            </a:r>
          </a:p>
        </p:txBody>
      </p:sp>
    </p:spTree>
    <p:extLst>
      <p:ext uri="{BB962C8B-B14F-4D97-AF65-F5344CB8AC3E}">
        <p14:creationId xmlns:p14="http://schemas.microsoft.com/office/powerpoint/2010/main" val="4387557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89004-FEC8-579F-7143-8FA9BC133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5DEDE-A2B9-94BC-6B7B-DAD9C5548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interceptors</a:t>
            </a:r>
          </a:p>
        </p:txBody>
      </p:sp>
    </p:spTree>
    <p:extLst>
      <p:ext uri="{BB962C8B-B14F-4D97-AF65-F5344CB8AC3E}">
        <p14:creationId xmlns:p14="http://schemas.microsoft.com/office/powerpoint/2010/main" val="42844600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E2E32-EFED-F35A-9424-023F63E70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DBD8A-04CE-0168-E84D-334290C80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called the </a:t>
            </a:r>
            <a:r>
              <a:rPr lang="en-US" b="1">
                <a:effectLst/>
              </a:rPr>
              <a:t>definite assignment assertion operator</a:t>
            </a:r>
          </a:p>
          <a:p>
            <a:r>
              <a:rPr lang="en-US"/>
              <a:t>It tells the compiler "I promise this variable will be assigned a value later, so stop showing an uninitialized error</a:t>
            </a:r>
          </a:p>
          <a:p>
            <a:r>
              <a:rPr lang="en-US"/>
              <a:t>When </a:t>
            </a:r>
            <a:r>
              <a:rPr lang="en-US" b="1">
                <a:effectLst/>
              </a:rPr>
              <a:t>Strict Mode</a:t>
            </a:r>
            <a:r>
              <a:rPr lang="en-US"/>
              <a:t> is enabled in TypeScript, you must initialize every variable or property you declare.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1654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98109</TotalTime>
  <Words>6034</Words>
  <Application>Microsoft Office PowerPoint</Application>
  <PresentationFormat>Widescreen</PresentationFormat>
  <Paragraphs>913</Paragraphs>
  <Slides>149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149</vt:i4>
      </vt:variant>
    </vt:vector>
  </HeadingPairs>
  <TitlesOfParts>
    <vt:vector size="155" baseType="lpstr">
      <vt:lpstr>Aptos</vt:lpstr>
      <vt:lpstr>Calisto MT</vt:lpstr>
      <vt:lpstr>Consolas</vt:lpstr>
      <vt:lpstr>Wingdings</vt:lpstr>
      <vt:lpstr>Wingdings 2</vt:lpstr>
      <vt:lpstr>Slate</vt:lpstr>
      <vt:lpstr>Angular &amp; TypeScript</vt:lpstr>
      <vt:lpstr>Installation</vt:lpstr>
      <vt:lpstr>Creating Project </vt:lpstr>
      <vt:lpstr>Run the project</vt:lpstr>
      <vt:lpstr>Environment Creation</vt:lpstr>
      <vt:lpstr>Start 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PowerPoint Presentation</vt:lpstr>
      <vt:lpstr>Start Angular Life cycle</vt:lpstr>
      <vt:lpstr>1. constructor() [commonly used]</vt:lpstr>
      <vt:lpstr>2. ngOnChanges() [commonly used]</vt:lpstr>
      <vt:lpstr>3. ngOnInit() [commonly used]</vt:lpstr>
      <vt:lpstr>4. ngDoCheck()</vt:lpstr>
      <vt:lpstr>5. ngAfterContentInit()</vt:lpstr>
      <vt:lpstr>6. ngAfterContentChecked()</vt:lpstr>
      <vt:lpstr>7 ngAfterViewInit() [commonly used]</vt:lpstr>
      <vt:lpstr>8. ngAfterViewChecked()</vt:lpstr>
      <vt:lpstr>9. ngOnDestroy()</vt:lpstr>
      <vt:lpstr>End Angular Life cycles</vt:lpstr>
      <vt:lpstr>Start Binding</vt:lpstr>
      <vt:lpstr>Binding</vt:lpstr>
      <vt:lpstr>Event binding</vt:lpstr>
      <vt:lpstr>End Binding</vt:lpstr>
      <vt:lpstr>Start Access element</vt:lpstr>
      <vt:lpstr>access element</vt:lpstr>
      <vt:lpstr>access element [ViewChild]</vt:lpstr>
      <vt:lpstr>End Access element</vt:lpstr>
      <vt:lpstr>Start Observable</vt:lpstr>
      <vt:lpstr>Observable</vt:lpstr>
      <vt:lpstr>Observer</vt:lpstr>
      <vt:lpstr>Subscriber</vt:lpstr>
      <vt:lpstr>Observable example</vt:lpstr>
      <vt:lpstr>Next()</vt:lpstr>
      <vt:lpstr>Complete()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Plain Subject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Finalize()</vt:lpstr>
      <vt:lpstr>Finalize() [cont.1]</vt:lpstr>
      <vt:lpstr>Of()</vt:lpstr>
      <vt:lpstr>tap()</vt:lpstr>
      <vt:lpstr>tap()</vt:lpstr>
      <vt:lpstr>End Observable</vt:lpstr>
      <vt:lpstr>visible$ | async</vt:lpstr>
      <vt:lpstr>Creating side bar</vt:lpstr>
      <vt:lpstr>Creating new component</vt:lpstr>
      <vt:lpstr>Start Bootstrap</vt:lpstr>
      <vt:lpstr>Adding bootstrap &amp; Bootstrap icon</vt:lpstr>
      <vt:lpstr>End Bootstrap</vt:lpstr>
      <vt:lpstr>End Bootstrap</vt:lpstr>
      <vt:lpstr>Start CSS</vt:lpstr>
      <vt:lpstr>Addin CSS file globally</vt:lpstr>
      <vt:lpstr>End CSS</vt:lpstr>
      <vt:lpstr>Start SideBar with Layout 1</vt:lpstr>
      <vt:lpstr>PowerPoint Presentation</vt:lpstr>
      <vt:lpstr>Side bar HTML</vt:lpstr>
      <vt:lpstr>Sidebar CSS</vt:lpstr>
      <vt:lpstr>Sidebar ts</vt:lpstr>
      <vt:lpstr>Main layout.ts</vt:lpstr>
      <vt:lpstr>Main-layout.html</vt:lpstr>
      <vt:lpstr>main layout  (app.routes.ts)</vt:lpstr>
      <vt:lpstr>End Sidebar with layout 1</vt:lpstr>
      <vt:lpstr>@Injectable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Validation</vt:lpstr>
      <vt:lpstr>Is Name Unique validation</vt:lpstr>
      <vt:lpstr>End Validation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HttpErrorResponse</vt:lpstr>
      <vt:lpstr>HttpErrorResponse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Download &amp; Upload</vt:lpstr>
      <vt:lpstr>Download 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&lt;mat-divider&gt;</vt:lpstr>
      <vt:lpstr>mat-autocomplete</vt:lpstr>
      <vt:lpstr>End Angular Material </vt:lpstr>
      <vt:lpstr>Febric.js</vt:lpstr>
      <vt:lpstr>Layout [cont.]</vt:lpstr>
      <vt:lpstr>Start Localization</vt:lpstr>
      <vt:lpstr>localization</vt:lpstr>
      <vt:lpstr>LanguageService</vt:lpstr>
      <vt:lpstr>At App.Component</vt:lpstr>
      <vt:lpstr>Usage At component</vt:lpstr>
      <vt:lpstr>PowerPoint Presentation</vt:lpstr>
      <vt:lpstr>End Localization</vt:lpstr>
      <vt:lpstr>Start interceptors</vt:lpstr>
      <vt:lpstr>Creating interceptor</vt:lpstr>
      <vt:lpstr>Register the interceptor</vt:lpstr>
      <vt:lpstr>Configuring HttpClient</vt:lpstr>
      <vt:lpstr>Start Pipes</vt:lpstr>
      <vt:lpstr>pipes</vt:lpstr>
      <vt:lpstr>End Pipes</vt:lpstr>
      <vt:lpstr>End interceptors</vt:lpstr>
      <vt:lpstr>Type Script</vt:lpstr>
      <vt:lpstr>Optional chaining [ ?.]</vt:lpstr>
      <vt:lpstr>! 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Mohamed</cp:lastModifiedBy>
  <cp:revision>737</cp:revision>
  <dcterms:created xsi:type="dcterms:W3CDTF">2026-01-29T20:04:39Z</dcterms:created>
  <dcterms:modified xsi:type="dcterms:W3CDTF">2026-07-02T13:02:57Z</dcterms:modified>
</cp:coreProperties>
</file>