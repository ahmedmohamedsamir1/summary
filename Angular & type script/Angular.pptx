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2" r:id="rId5"/>
    <p:sldId id="259" r:id="rId6"/>
    <p:sldId id="283" r:id="rId7"/>
    <p:sldId id="288" r:id="rId8"/>
    <p:sldId id="284" r:id="rId9"/>
    <p:sldId id="285" r:id="rId10"/>
    <p:sldId id="287" r:id="rId11"/>
    <p:sldId id="286" r:id="rId12"/>
    <p:sldId id="257" r:id="rId13"/>
    <p:sldId id="317" r:id="rId14"/>
    <p:sldId id="318" r:id="rId15"/>
    <p:sldId id="258" r:id="rId16"/>
    <p:sldId id="260" r:id="rId17"/>
    <p:sldId id="261" r:id="rId18"/>
    <p:sldId id="262" r:id="rId19"/>
    <p:sldId id="263" r:id="rId20"/>
    <p:sldId id="267" r:id="rId21"/>
    <p:sldId id="264" r:id="rId22"/>
    <p:sldId id="270" r:id="rId23"/>
    <p:sldId id="271" r:id="rId24"/>
    <p:sldId id="272" r:id="rId25"/>
    <p:sldId id="273" r:id="rId26"/>
    <p:sldId id="294" r:id="rId27"/>
    <p:sldId id="292" r:id="rId28"/>
    <p:sldId id="295" r:id="rId29"/>
    <p:sldId id="293" r:id="rId30"/>
    <p:sldId id="296" r:id="rId31"/>
    <p:sldId id="298" r:id="rId32"/>
    <p:sldId id="297" r:id="rId33"/>
    <p:sldId id="274" r:id="rId34"/>
    <p:sldId id="276" r:id="rId35"/>
    <p:sldId id="275" r:id="rId36"/>
    <p:sldId id="277" r:id="rId37"/>
    <p:sldId id="278" r:id="rId38"/>
    <p:sldId id="279" r:id="rId39"/>
    <p:sldId id="299" r:id="rId40"/>
    <p:sldId id="300" r:id="rId41"/>
    <p:sldId id="301" r:id="rId42"/>
    <p:sldId id="304" r:id="rId43"/>
    <p:sldId id="305" r:id="rId44"/>
    <p:sldId id="306" r:id="rId45"/>
    <p:sldId id="303" r:id="rId46"/>
    <p:sldId id="302" r:id="rId47"/>
    <p:sldId id="308" r:id="rId48"/>
    <p:sldId id="307" r:id="rId49"/>
    <p:sldId id="315" r:id="rId50"/>
    <p:sldId id="310" r:id="rId51"/>
    <p:sldId id="311" r:id="rId52"/>
    <p:sldId id="314" r:id="rId53"/>
    <p:sldId id="313" r:id="rId54"/>
    <p:sldId id="316" r:id="rId55"/>
    <p:sldId id="289" r:id="rId56"/>
    <p:sldId id="290" r:id="rId57"/>
    <p:sldId id="312" r:id="rId58"/>
    <p:sldId id="269" r:id="rId59"/>
    <p:sldId id="309" r:id="rId60"/>
    <p:sldId id="280" r:id="rId61"/>
    <p:sldId id="268" r:id="rId6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62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8A399-696D-AA40-A828-B9F6B419C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3191"/>
          </a:xfrm>
        </p:spPr>
        <p:txBody>
          <a:bodyPr>
            <a:normAutofit fontScale="90000"/>
          </a:bodyPr>
          <a:lstStyle/>
          <a:p>
            <a:r>
              <a:rPr lang="en-US" b="1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E18DD8-DCD6-A95B-D1B4-49DD639A97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870" y="663191"/>
            <a:ext cx="11847007" cy="6089301"/>
          </a:xfrm>
        </p:spPr>
        <p:txBody>
          <a:bodyPr/>
          <a:lstStyle/>
          <a:p>
            <a:r>
              <a:rPr lang="en-US"/>
              <a:t>App folder</a:t>
            </a:r>
          </a:p>
          <a:p>
            <a:pPr lvl="1"/>
            <a:r>
              <a:rPr lang="en-US"/>
              <a:t>Core</a:t>
            </a:r>
          </a:p>
          <a:p>
            <a:pPr lvl="1"/>
            <a:r>
              <a:rPr lang="en-US"/>
              <a:t>Features</a:t>
            </a:r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267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CF7D4E-E9DF-520F-77A7-2C837037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756C4-12AC-68A7-C575-F9674002C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1354" y="633047"/>
            <a:ext cx="11826910" cy="5958672"/>
          </a:xfrm>
        </p:spPr>
        <p:txBody>
          <a:bodyPr/>
          <a:lstStyle/>
          <a:p>
            <a:r>
              <a:rPr lang="en-US" sz="2800" err="1">
                <a:solidFill>
                  <a:srgbClr val="FF0000"/>
                </a:solidFill>
              </a:rPr>
              <a:t>src</a:t>
            </a:r>
            <a:endParaRPr lang="en-US">
              <a:solidFill>
                <a:srgbClr val="FF0000"/>
              </a:solidFill>
            </a:endParaRPr>
          </a:p>
          <a:p>
            <a:pPr lvl="1"/>
            <a:r>
              <a:rPr lang="en-US" sz="2000" b="1">
                <a:solidFill>
                  <a:srgbClr val="FF0000"/>
                </a:solidFill>
              </a:rPr>
              <a:t>app folder</a:t>
            </a:r>
          </a:p>
          <a:p>
            <a:pPr lvl="2"/>
            <a:r>
              <a:rPr lang="en-US" sz="1800" b="1">
                <a:solidFill>
                  <a:srgbClr val="FF0000"/>
                </a:solidFill>
              </a:rPr>
              <a:t>Components folder</a:t>
            </a:r>
          </a:p>
          <a:p>
            <a:pPr lvl="2"/>
            <a:r>
              <a:rPr lang="en-US" sz="1800" b="1">
                <a:solidFill>
                  <a:srgbClr val="FF0000"/>
                </a:solidFill>
              </a:rPr>
              <a:t>DTOs folder</a:t>
            </a:r>
          </a:p>
          <a:p>
            <a:pPr lvl="2"/>
            <a:r>
              <a:rPr lang="en-US" sz="1800" b="1" err="1">
                <a:solidFill>
                  <a:srgbClr val="FFFF00"/>
                </a:solidFill>
              </a:rPr>
              <a:t>app.route.ts</a:t>
            </a:r>
            <a:endParaRPr lang="en-US" sz="1800" b="1">
              <a:solidFill>
                <a:srgbClr val="FFFF00"/>
              </a:solidFill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assets folder</a:t>
            </a:r>
          </a:p>
          <a:p>
            <a:pPr lvl="1"/>
            <a:r>
              <a:rPr lang="en-US" b="1">
                <a:solidFill>
                  <a:srgbClr val="00B050"/>
                </a:solidFill>
              </a:rPr>
              <a:t>css folder</a:t>
            </a:r>
          </a:p>
          <a:p>
            <a:pPr lvl="1"/>
            <a:r>
              <a:rPr lang="en-US" b="1"/>
              <a:t>index.html</a:t>
            </a:r>
          </a:p>
          <a:p>
            <a:pPr lvl="1"/>
            <a:r>
              <a:rPr lang="en-US" b="1" err="1">
                <a:solidFill>
                  <a:schemeClr val="accent5">
                    <a:lumMod val="40000"/>
                    <a:lumOff val="60000"/>
                  </a:schemeClr>
                </a:solidFill>
              </a:rPr>
              <a:t>main.ts</a:t>
            </a:r>
            <a:endParaRPr lang="en-US" b="1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pPr lvl="1"/>
            <a:r>
              <a:rPr lang="en-US" b="1">
                <a:solidFill>
                  <a:srgbClr val="FFC000"/>
                </a:solidFill>
              </a:rPr>
              <a:t>style.css</a:t>
            </a:r>
          </a:p>
          <a:p>
            <a:endParaRPr lang="en-US"/>
          </a:p>
          <a:p>
            <a:endParaRPr lang="en-US"/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109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555F-1F4C-F99E-0C84-E0E0F7B2F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734" y="107183"/>
            <a:ext cx="10778532" cy="746927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D0838-12BA-A35E-B1C3-40FEC10CE7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418" y="1077633"/>
            <a:ext cx="10982848" cy="5554279"/>
          </a:xfrm>
        </p:spPr>
        <p:txBody>
          <a:bodyPr/>
          <a:lstStyle/>
          <a:p>
            <a:r>
              <a:rPr lang="en-US"/>
              <a:t>A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D9BF44-3A44-C230-3B43-FC2CFB9604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418" y="1905261"/>
            <a:ext cx="6810984" cy="4264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9701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DDBFC-0859-C305-91EF-073D0AD74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32079"/>
          </a:xfrm>
        </p:spPr>
        <p:txBody>
          <a:bodyPr>
            <a:normAutofit fontScale="90000"/>
          </a:bodyPr>
          <a:lstStyle/>
          <a:p>
            <a:r>
              <a:rPr lang="en-US" b="1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19249-8C27-E0D3-3645-3AD29CACB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432080"/>
            <a:ext cx="11857055" cy="6425920"/>
          </a:xfrm>
        </p:spPr>
        <p:txBody>
          <a:bodyPr>
            <a:noAutofit/>
          </a:bodyPr>
          <a:lstStyle/>
          <a:p>
            <a:r>
              <a:rPr lang="en-US" sz="1500" b="1"/>
              <a:t>Inside app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core</a:t>
            </a:r>
            <a:r>
              <a:rPr lang="en-US" sz="1500" b="1"/>
              <a:t> : contains the things that is are not connected with UI</a:t>
            </a:r>
          </a:p>
          <a:p>
            <a:pPr lvl="2"/>
            <a:r>
              <a:rPr lang="en-US" sz="1500" b="1"/>
              <a:t>Interceptors</a:t>
            </a:r>
          </a:p>
          <a:p>
            <a:pPr lvl="2"/>
            <a:r>
              <a:rPr lang="en-US" sz="1500" b="1"/>
              <a:t>gaurds</a:t>
            </a:r>
          </a:p>
          <a:p>
            <a:pPr lvl="2"/>
            <a:r>
              <a:rPr lang="en-US" sz="1500" b="1"/>
              <a:t>services</a:t>
            </a:r>
          </a:p>
          <a:p>
            <a:pPr lvl="2"/>
            <a:r>
              <a:rPr lang="en-US" sz="1500" b="1"/>
              <a:t>constants</a:t>
            </a:r>
          </a:p>
          <a:p>
            <a:pPr lvl="3"/>
            <a:r>
              <a:rPr lang="en-US" sz="1500" b="1"/>
              <a:t>Global.Constant.ts</a:t>
            </a:r>
          </a:p>
          <a:p>
            <a:pPr lvl="2"/>
            <a:r>
              <a:rPr lang="en-US" sz="1500" b="1"/>
              <a:t>models</a:t>
            </a:r>
          </a:p>
          <a:p>
            <a:pPr lvl="3"/>
            <a:r>
              <a:rPr lang="en-US" sz="1500" b="1"/>
              <a:t>classes</a:t>
            </a:r>
          </a:p>
          <a:p>
            <a:pPr lvl="3"/>
            <a:r>
              <a:rPr lang="en-US" sz="1500" b="1"/>
              <a:t>Interfaces : ColorOptionDTOs</a:t>
            </a:r>
          </a:p>
          <a:p>
            <a:pPr lvl="2"/>
            <a:r>
              <a:rPr lang="en-US" sz="1500" b="1"/>
              <a:t>enums</a:t>
            </a:r>
          </a:p>
          <a:p>
            <a:pPr lvl="2"/>
            <a:r>
              <a:rPr lang="en-US" sz="1500" b="1"/>
              <a:t>Helpers</a:t>
            </a:r>
          </a:p>
          <a:p>
            <a:pPr lvl="3"/>
            <a:r>
              <a:rPr lang="en-US" sz="1500" b="1"/>
              <a:t>common.helper.ts</a:t>
            </a:r>
          </a:p>
          <a:p>
            <a:pPr lvl="2"/>
            <a:r>
              <a:rPr lang="en-US" sz="1500" b="1"/>
              <a:t>resolvers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Pages</a:t>
            </a:r>
            <a:endParaRPr lang="en-US" sz="1500" b="1">
              <a:solidFill>
                <a:srgbClr val="FF0000"/>
              </a:solidFill>
            </a:endParaRPr>
          </a:p>
          <a:p>
            <a:pPr lvl="2"/>
            <a:r>
              <a:rPr lang="en-US" sz="1500" b="1"/>
              <a:t>contains the components which is not reusable and could be accessed via route</a:t>
            </a:r>
          </a:p>
          <a:p>
            <a:pPr lvl="1"/>
            <a:r>
              <a:rPr lang="en-US" sz="1600" b="1">
                <a:solidFill>
                  <a:srgbClr val="FF0000"/>
                </a:solidFill>
              </a:rPr>
              <a:t>shared</a:t>
            </a:r>
            <a:endParaRPr lang="en-US" sz="1500" b="1">
              <a:solidFill>
                <a:srgbClr val="FF0000"/>
              </a:solidFill>
            </a:endParaRPr>
          </a:p>
          <a:p>
            <a:pPr lvl="2"/>
            <a:r>
              <a:rPr lang="en-US" sz="1500" b="1"/>
              <a:t>contains things that are connected with UI like directives, pipes, reusable components</a:t>
            </a:r>
          </a:p>
        </p:txBody>
      </p:sp>
    </p:spTree>
    <p:extLst>
      <p:ext uri="{BB962C8B-B14F-4D97-AF65-F5344CB8AC3E}">
        <p14:creationId xmlns:p14="http://schemas.microsoft.com/office/powerpoint/2010/main" val="1099757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3282-4201-A672-3DDD-2529F44FD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2828" y="16747"/>
            <a:ext cx="10353762" cy="666541"/>
          </a:xfrm>
        </p:spPr>
        <p:txBody>
          <a:bodyPr>
            <a:normAutofit fontScale="90000"/>
          </a:bodyPr>
          <a:lstStyle/>
          <a:p>
            <a:r>
              <a:rPr lang="en-US" b="1"/>
              <a:t>Core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D83F7-332B-ACD9-139D-B3C2E1D4E0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683289"/>
            <a:ext cx="11756571" cy="6059156"/>
          </a:xfrm>
        </p:spPr>
        <p:txBody>
          <a:bodyPr>
            <a:normAutofit/>
          </a:bodyPr>
          <a:lstStyle/>
          <a:p>
            <a:r>
              <a:rPr lang="en-US"/>
              <a:t>Inside app</a:t>
            </a:r>
          </a:p>
          <a:p>
            <a:pPr lvl="1"/>
            <a:r>
              <a:rPr lang="en-US"/>
              <a:t>core : contains the things that is are not connected with UI</a:t>
            </a:r>
          </a:p>
          <a:p>
            <a:pPr lvl="2"/>
            <a:r>
              <a:rPr lang="en-US"/>
              <a:t>Interceptors</a:t>
            </a:r>
          </a:p>
          <a:p>
            <a:pPr lvl="2"/>
            <a:r>
              <a:rPr lang="en-US"/>
              <a:t>gaurds</a:t>
            </a:r>
          </a:p>
          <a:p>
            <a:pPr lvl="2"/>
            <a:r>
              <a:rPr lang="en-US" sz="1800"/>
              <a:t>services</a:t>
            </a:r>
          </a:p>
          <a:p>
            <a:pPr lvl="2"/>
            <a:r>
              <a:rPr lang="en-US" sz="1800"/>
              <a:t>constants</a:t>
            </a:r>
          </a:p>
          <a:p>
            <a:pPr lvl="3"/>
            <a:r>
              <a:rPr lang="en-US" sz="1600"/>
              <a:t>Global.Constant.ts</a:t>
            </a:r>
          </a:p>
          <a:p>
            <a:pPr lvl="2"/>
            <a:r>
              <a:rPr lang="en-US" sz="1800"/>
              <a:t>models</a:t>
            </a:r>
          </a:p>
          <a:p>
            <a:pPr lvl="3"/>
            <a:r>
              <a:rPr lang="en-US" sz="1800"/>
              <a:t>classes</a:t>
            </a:r>
          </a:p>
          <a:p>
            <a:pPr lvl="3"/>
            <a:r>
              <a:rPr lang="en-US" sz="1800"/>
              <a:t>interfaces</a:t>
            </a:r>
          </a:p>
          <a:p>
            <a:pPr lvl="2"/>
            <a:r>
              <a:rPr lang="en-US" sz="1800"/>
              <a:t>enums</a:t>
            </a:r>
          </a:p>
          <a:p>
            <a:pPr lvl="2"/>
            <a:r>
              <a:rPr lang="en-US" sz="1800"/>
              <a:t>Helpers</a:t>
            </a:r>
          </a:p>
          <a:p>
            <a:pPr lvl="3"/>
            <a:r>
              <a:rPr lang="en-US" sz="1600"/>
              <a:t>common.helper.ts</a:t>
            </a:r>
          </a:p>
          <a:p>
            <a:pPr lvl="2"/>
            <a:r>
              <a:rPr lang="en-US" sz="1800"/>
              <a:t>resolvers</a:t>
            </a:r>
          </a:p>
        </p:txBody>
      </p:sp>
    </p:spTree>
    <p:extLst>
      <p:ext uri="{BB962C8B-B14F-4D97-AF65-F5344CB8AC3E}">
        <p14:creationId xmlns:p14="http://schemas.microsoft.com/office/powerpoint/2010/main" val="33313186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EACA9-ED7F-FFC3-6BB8-E431F02A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Shared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D2451-8AF8-5BA1-6AE2-2C98C8AAF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970451"/>
            <a:ext cx="10353762" cy="4820750"/>
          </a:xfrm>
        </p:spPr>
        <p:txBody>
          <a:bodyPr/>
          <a:lstStyle/>
          <a:p>
            <a:r>
              <a:rPr lang="en-US"/>
              <a:t>app folder</a:t>
            </a:r>
          </a:p>
          <a:p>
            <a:pPr lvl="1"/>
            <a:r>
              <a:rPr lang="en-US"/>
              <a:t>Shared : contains things that are connected with UI like directives, pipes, reusable components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400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75598-8B9C-17B3-4A42-1E65F59739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807218"/>
          </a:xfrm>
        </p:spPr>
        <p:txBody>
          <a:bodyPr/>
          <a:lstStyle/>
          <a:p>
            <a:r>
              <a:rPr lang="en-US" b="1"/>
              <a:t>Pages Folder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4491EA-F511-601B-31E3-FF557B4C29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807219"/>
            <a:ext cx="11435024" cy="5854838"/>
          </a:xfrm>
        </p:spPr>
        <p:txBody>
          <a:bodyPr/>
          <a:lstStyle/>
          <a:p>
            <a:r>
              <a:rPr lang="en-US"/>
              <a:t>Inside app</a:t>
            </a:r>
          </a:p>
          <a:p>
            <a:pPr lvl="1"/>
            <a:r>
              <a:rPr lang="en-US"/>
              <a:t>Pages: contains the components which is not reusable and could be accessed via route</a:t>
            </a:r>
          </a:p>
          <a:p>
            <a:pPr lvl="2"/>
            <a:r>
              <a:rPr lang="en-US" sz="1800"/>
              <a:t>employee</a:t>
            </a:r>
          </a:p>
          <a:p>
            <a:pPr lvl="3"/>
            <a:r>
              <a:rPr lang="en-US" sz="1800"/>
              <a:t>employee-list</a:t>
            </a:r>
          </a:p>
          <a:p>
            <a:pPr lvl="3"/>
            <a:r>
              <a:rPr lang="en-US" sz="1800"/>
              <a:t>new-employee</a:t>
            </a:r>
          </a:p>
          <a:p>
            <a:pPr lvl="2"/>
            <a:r>
              <a:rPr lang="en-US"/>
              <a:t>Department folder</a:t>
            </a:r>
          </a:p>
          <a:p>
            <a:pPr lvl="3"/>
            <a:r>
              <a:rPr lang="en-US" sz="1800"/>
              <a:t>Department-list</a:t>
            </a:r>
          </a:p>
          <a:p>
            <a:pPr lvl="3"/>
            <a:r>
              <a:rPr lang="en-US" sz="1800"/>
              <a:t>New-department</a:t>
            </a:r>
          </a:p>
        </p:txBody>
      </p:sp>
    </p:spTree>
    <p:extLst>
      <p:ext uri="{BB962C8B-B14F-4D97-AF65-F5344CB8AC3E}">
        <p14:creationId xmlns:p14="http://schemas.microsoft.com/office/powerpoint/2010/main" val="3202478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36CAA-EEDE-204E-89C4-2547B913A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D3E12-0C36-6E23-75FB-7F2B043ACF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73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BE1BB-4237-706E-F366-8912E8FE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9520" y="0"/>
            <a:ext cx="10353762" cy="523875"/>
          </a:xfrm>
        </p:spPr>
        <p:txBody>
          <a:bodyPr>
            <a:normAutofit fontScale="90000"/>
          </a:bodyPr>
          <a:lstStyle/>
          <a:p>
            <a:r>
              <a:rPr lang="en-US" dirty="0"/>
              <a:t>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4B450-9268-8F3E-649D-C415DA709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523875"/>
            <a:ext cx="11153775" cy="6238875"/>
          </a:xfrm>
        </p:spPr>
        <p:txBody>
          <a:bodyPr/>
          <a:lstStyle/>
          <a:p>
            <a:r>
              <a:rPr lang="en-US" dirty="0"/>
              <a:t>At </a:t>
            </a:r>
            <a:r>
              <a:rPr lang="en-US" b="1" dirty="0">
                <a:solidFill>
                  <a:srgbClr val="FF0000"/>
                </a:solidFill>
              </a:rPr>
              <a:t>'</a:t>
            </a:r>
            <a:r>
              <a:rPr lang="en-US" b="1" dirty="0" err="1">
                <a:solidFill>
                  <a:srgbClr val="FF0000"/>
                </a:solidFill>
              </a:rPr>
              <a:t>tsconfig.app.json</a:t>
            </a:r>
            <a:r>
              <a:rPr lang="en-US" b="1" dirty="0">
                <a:solidFill>
                  <a:srgbClr val="FF0000"/>
                </a:solidFill>
              </a:rPr>
              <a:t>'</a:t>
            </a:r>
            <a:r>
              <a:rPr lang="en-US" dirty="0"/>
              <a:t> The ‘</a:t>
            </a:r>
            <a:r>
              <a:rPr lang="en-US" dirty="0" err="1"/>
              <a:t>RootDir</a:t>
            </a:r>
            <a:r>
              <a:rPr lang="en-US" dirty="0"/>
              <a:t>' setting must be explicitly set to this or another path</a:t>
            </a:r>
          </a:p>
          <a:p>
            <a:pPr lvl="1"/>
            <a:r>
              <a:rPr lang="en-US" dirty="0"/>
              <a:t>Solution : </a:t>
            </a:r>
            <a:r>
              <a:rPr lang="en-US" dirty="0" err="1"/>
              <a:t>tsconfig.spec.json</a:t>
            </a:r>
            <a:r>
              <a:rPr lang="en-US" dirty="0"/>
              <a:t> , </a:t>
            </a:r>
            <a:r>
              <a:rPr lang="en-US" dirty="0" err="1"/>
              <a:t>tsconfig.app.json</a:t>
            </a:r>
            <a:r>
              <a:rPr lang="en-US" dirty="0"/>
              <a:t> --- add:  </a:t>
            </a:r>
            <a:r>
              <a:rPr lang="en-US" sz="2000" b="1" dirty="0">
                <a:solidFill>
                  <a:srgbClr val="FFC000"/>
                </a:solidFill>
                <a:effectLst/>
              </a:rPr>
              <a:t>"</a:t>
            </a:r>
            <a:r>
              <a:rPr lang="en-US" sz="2000" b="1" dirty="0" err="1">
                <a:solidFill>
                  <a:srgbClr val="FFC000"/>
                </a:solidFill>
                <a:effectLst/>
              </a:rPr>
              <a:t>rootDir</a:t>
            </a:r>
            <a:r>
              <a:rPr lang="en-US" sz="2000" b="1" dirty="0">
                <a:solidFill>
                  <a:srgbClr val="FFC000"/>
                </a:solidFill>
                <a:effectLst/>
              </a:rPr>
              <a:t>": "./</a:t>
            </a:r>
            <a:r>
              <a:rPr lang="en-US" sz="2000" b="1" dirty="0" err="1">
                <a:solidFill>
                  <a:srgbClr val="FFC000"/>
                </a:solidFill>
                <a:effectLst/>
              </a:rPr>
              <a:t>src</a:t>
            </a:r>
            <a:r>
              <a:rPr lang="en-US" sz="2000" b="1" dirty="0">
                <a:solidFill>
                  <a:srgbClr val="FFC000"/>
                </a:solidFill>
                <a:effectLst/>
              </a:rPr>
              <a:t>",</a:t>
            </a:r>
            <a:r>
              <a:rPr lang="en-US" dirty="0">
                <a:effectLst/>
              </a:rPr>
              <a:t> to </a:t>
            </a:r>
            <a:r>
              <a:rPr lang="en-US" dirty="0" err="1">
                <a:effectLst/>
              </a:rPr>
              <a:t>compilerOptions</a:t>
            </a:r>
            <a:r>
              <a:rPr lang="en-US" dirty="0">
                <a:effectLst/>
              </a:rPr>
              <a:t> object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26259-14FE-72C0-D0D9-65F6AFC4E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20" y="1381083"/>
            <a:ext cx="2878797" cy="129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1771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/>
              <a:t>it is used to handle (manage) asynchronous operations</a:t>
            </a:r>
          </a:p>
          <a:p>
            <a:r>
              <a:rPr lang="en-US"/>
              <a:t>Emits multiple values over time (better for data streaming) (data producer)</a:t>
            </a:r>
          </a:p>
          <a:p>
            <a:r>
              <a:rPr lang="en-US"/>
              <a:t>Lazy (executed when subscribed).</a:t>
            </a:r>
          </a:p>
          <a:p>
            <a:r>
              <a:rPr lang="en-US"/>
              <a:t>Can be canceled (by unsubscribing).</a:t>
            </a:r>
          </a:p>
          <a:p>
            <a:r>
              <a:rPr lang="en-US"/>
              <a:t>Included in ReactiveX Library</a:t>
            </a:r>
          </a:p>
          <a:p>
            <a:r>
              <a:rPr lang="en-US">
                <a:effectLst/>
              </a:rPr>
              <a:t>A stream of data or events (like news) that can be sent over time.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/>
              <a:t>stores the latest value</a:t>
            </a:r>
            <a:endParaRPr lang="en-US" b="1"/>
          </a:p>
          <a:p>
            <a:pPr lvl="1"/>
            <a:r>
              <a:rPr lang="en-US"/>
              <a:t>Immediately sends the last value to new subscribers</a:t>
            </a:r>
            <a:endParaRPr lang="en-US" b="1"/>
          </a:p>
          <a:p>
            <a:r>
              <a:rPr lang="en-US" sz="1800"/>
              <a:t>So any component that subscribes will always receive the </a:t>
            </a:r>
            <a:r>
              <a:rPr lang="en-US" sz="1800" b="1"/>
              <a:t>current state instantly</a:t>
            </a:r>
            <a:r>
              <a:rPr lang="en-US" sz="1800"/>
              <a:t>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6121" y="2465477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220" y="3429001"/>
            <a:ext cx="5091165" cy="2605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BehaviorSubject</a:t>
            </a:r>
            <a:r>
              <a:rPr lang="en-US" b="1" dirty="0">
                <a:solidFill>
                  <a:srgbClr val="FF0000"/>
                </a:solidFill>
              </a:rPr>
              <a:t> [cont.]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500" y="580103"/>
            <a:ext cx="12112500" cy="6145162"/>
          </a:xfrm>
        </p:spPr>
        <p:txBody>
          <a:bodyPr/>
          <a:lstStyle/>
          <a:p>
            <a:r>
              <a:rPr lang="en-US" dirty="0"/>
              <a:t>ng g c </a:t>
            </a:r>
            <a:r>
              <a:rPr lang="en-US" dirty="0" err="1"/>
              <a:t>componentName</a:t>
            </a:r>
            <a:r>
              <a:rPr lang="en-US" dirty="0"/>
              <a:t> --skip-tests</a:t>
            </a:r>
          </a:p>
          <a:p>
            <a:r>
              <a:rPr lang="en-US" b="1" dirty="0">
                <a:solidFill>
                  <a:srgbClr val="FF0000"/>
                </a:solidFill>
              </a:rPr>
              <a:t>ng</a:t>
            </a:r>
            <a:r>
              <a:rPr lang="en-US" dirty="0"/>
              <a:t> g c project-details </a:t>
            </a:r>
            <a:r>
              <a:rPr lang="en-US" b="1" dirty="0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 dirty="0"/>
              <a:t>project-details folder will be created and includes</a:t>
            </a:r>
          </a:p>
          <a:p>
            <a:pPr lvl="2"/>
            <a:r>
              <a:rPr lang="en-US" sz="1800" dirty="0" err="1"/>
              <a:t>ProjectDetails.component.ts</a:t>
            </a:r>
            <a:endParaRPr lang="en-US" sz="1800" dirty="0"/>
          </a:p>
          <a:p>
            <a:pPr lvl="2"/>
            <a:r>
              <a:rPr lang="en-US" sz="1800" dirty="0"/>
              <a:t>ProjectDetails.Component.html</a:t>
            </a:r>
          </a:p>
          <a:p>
            <a:pPr lvl="2"/>
            <a:r>
              <a:rPr lang="en-US" sz="1800" dirty="0"/>
              <a:t>ProjectDetails.Component.css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4296" y="737419"/>
            <a:ext cx="11472517" cy="5456904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</a:p>
          <a:p>
            <a:pPr lvl="1"/>
            <a:endParaRPr lang="en-US" sz="1600" b="1"/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287" y="1164512"/>
            <a:ext cx="4752975" cy="183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017177" cy="1455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5" y="596202"/>
            <a:ext cx="11716378" cy="604575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price</a:t>
            </a:r>
            <a:r>
              <a:rPr lang="en-US" sz="1800" b="1"/>
              <a:t>.</a:t>
            </a:r>
            <a:r>
              <a:rPr lang="en-US" sz="1800" b="1">
                <a:solidFill>
                  <a:srgbClr val="FFC000"/>
                </a:solidFill>
              </a:rPr>
              <a:t>ColorName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chemeClr val="tx1"/>
                </a:solidFill>
              </a:rPr>
              <a:t>this.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90"/>
            <a:ext cx="4839956" cy="158345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('</a:t>
            </a:r>
            <a:r>
              <a:rPr lang="en-US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emitted event object.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33047"/>
            <a:ext cx="10353762" cy="5158154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462226"/>
            <a:ext cx="11796765" cy="6395774"/>
          </a:xfrm>
        </p:spPr>
        <p:txBody>
          <a:bodyPr>
            <a:normAutofit fontScale="925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solidFill>
                  <a:srgbClr val="00B0F0"/>
                </a:solidFill>
                <a:effectLst/>
              </a:rPr>
              <a:t>declare</a:t>
            </a:r>
            <a:r>
              <a:rPr lang="en-US">
                <a:effectLst/>
              </a:rPr>
              <a:t> (event) MatPaginator.page: </a:t>
            </a:r>
            <a:r>
              <a:rPr lang="en-US">
                <a:solidFill>
                  <a:srgbClr val="00B0F0"/>
                </a:solidFill>
                <a:effectLst/>
              </a:rPr>
              <a:t>EventEmitter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>
                <a:effectLst/>
              </a:rPr>
              <a:t>&gt;</a:t>
            </a:r>
          </a:p>
          <a:p>
            <a:pPr lvl="1"/>
            <a:r>
              <a:rPr lang="en-US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>
                <a:effectLst/>
              </a:rPr>
              <a:t> as parameter</a:t>
            </a:r>
          </a:p>
          <a:p>
            <a:pPr lvl="1"/>
            <a:r>
              <a:rPr lang="en-US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>
                <a:effectLst/>
              </a:rPr>
              <a:t> or </a:t>
            </a:r>
            <a:r>
              <a:rPr lang="en-US">
                <a:solidFill>
                  <a:srgbClr val="00B0F0"/>
                </a:solidFill>
                <a:effectLst/>
              </a:rPr>
              <a:t>page index</a:t>
            </a:r>
            <a:r>
              <a:rPr lang="en-US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: number;</a:t>
            </a:r>
          </a:p>
          <a:p>
            <a:pPr lvl="1"/>
            <a:r>
              <a:rPr lang="en-US"/>
              <a:t>previousPageIndex?: number;</a:t>
            </a:r>
          </a:p>
          <a:p>
            <a:pPr lvl="1"/>
            <a:r>
              <a:rPr lang="en-US"/>
              <a:t>pageSize: number;</a:t>
            </a:r>
          </a:p>
          <a:p>
            <a:pPr lvl="1"/>
            <a:r>
              <a:rPr lang="en-US"/>
              <a:t>length: number;</a:t>
            </a:r>
            <a:br>
              <a:rPr lang="en-US">
                <a:effectLst/>
              </a:rPr>
            </a:b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211014" y="861644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6162991" y="974690"/>
            <a:ext cx="6029009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pageEvent.pageIndex+1;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21415</TotalTime>
  <Words>1874</Words>
  <Application>Microsoft Office PowerPoint</Application>
  <PresentationFormat>Widescreen</PresentationFormat>
  <Paragraphs>324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Project Structure</vt:lpstr>
      <vt:lpstr>Project Structure</vt:lpstr>
      <vt:lpstr>PowerPoint Presentation</vt:lpstr>
      <vt:lpstr>Architecture</vt:lpstr>
      <vt:lpstr>Environment Creation</vt:lpstr>
      <vt:lpstr>Core Folder</vt:lpstr>
      <vt:lpstr>Shared folder</vt:lpstr>
      <vt:lpstr>Pages Folder</vt:lpstr>
      <vt:lpstr>Routing</vt:lpstr>
      <vt:lpstr>PowerPoint Presentation</vt:lpstr>
      <vt:lpstr>Errors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Binding</vt:lpstr>
      <vt:lpstr>Observable</vt:lpstr>
      <vt:lpstr>Observer</vt:lpstr>
      <vt:lpstr>Subscriber</vt:lpstr>
      <vt:lpstr>Observable example</vt:lpstr>
      <vt:lpstr>Plain Subject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Creating new component</vt:lpstr>
      <vt:lpstr>Creating side bar</vt:lpstr>
      <vt:lpstr>Adding bootstrap &amp; Bootstrap icon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Forms</vt:lpstr>
      <vt:lpstr>Template Driven Forms</vt:lpstr>
      <vt:lpstr>ReactiveFormsModule (model driven forms)</vt:lpstr>
      <vt:lpstr>Sweat Alert </vt:lpstr>
      <vt:lpstr>HTTP Client </vt:lpstr>
      <vt:lpstr>New Types </vt:lpstr>
      <vt:lpstr>New Variables</vt:lpstr>
      <vt:lpstr>Modal</vt:lpstr>
      <vt:lpstr>Angular Material </vt:lpstr>
      <vt:lpstr>Installation</vt:lpstr>
      <vt:lpstr>mat-paginator</vt:lpstr>
      <vt:lpstr>Type Script</vt:lpstr>
      <vt:lpstr>Optional chaining [ ?.]</vt:lpstr>
      <vt:lpstr>Layout [cont.]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 Mohamed Samir</cp:lastModifiedBy>
  <cp:revision>334</cp:revision>
  <dcterms:created xsi:type="dcterms:W3CDTF">2026-01-29T20:04:39Z</dcterms:created>
  <dcterms:modified xsi:type="dcterms:W3CDTF">2026-04-07T10:17:36Z</dcterms:modified>
</cp:coreProperties>
</file>