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361" r:id="rId17"/>
    <p:sldId id="270" r:id="rId18"/>
    <p:sldId id="271" r:id="rId19"/>
    <p:sldId id="272" r:id="rId20"/>
    <p:sldId id="273" r:id="rId21"/>
    <p:sldId id="292" r:id="rId22"/>
    <p:sldId id="295" r:id="rId23"/>
    <p:sldId id="293" r:id="rId24"/>
    <p:sldId id="296" r:id="rId25"/>
    <p:sldId id="298" r:id="rId26"/>
    <p:sldId id="297" r:id="rId27"/>
    <p:sldId id="294" r:id="rId28"/>
    <p:sldId id="362" r:id="rId29"/>
    <p:sldId id="363" r:id="rId30"/>
    <p:sldId id="276" r:id="rId31"/>
    <p:sldId id="274" r:id="rId32"/>
    <p:sldId id="340" r:id="rId33"/>
    <p:sldId id="275" r:id="rId34"/>
    <p:sldId id="339" r:id="rId35"/>
    <p:sldId id="277" r:id="rId36"/>
    <p:sldId id="278" r:id="rId37"/>
    <p:sldId id="279" r:id="rId38"/>
    <p:sldId id="299" r:id="rId39"/>
    <p:sldId id="300" r:id="rId40"/>
    <p:sldId id="301" r:id="rId41"/>
    <p:sldId id="304" r:id="rId42"/>
    <p:sldId id="305" r:id="rId43"/>
    <p:sldId id="306" r:id="rId44"/>
    <p:sldId id="303" r:id="rId45"/>
    <p:sldId id="302" r:id="rId46"/>
    <p:sldId id="308" r:id="rId47"/>
    <p:sldId id="307" r:id="rId48"/>
    <p:sldId id="315" r:id="rId49"/>
    <p:sldId id="319" r:id="rId50"/>
    <p:sldId id="321" r:id="rId51"/>
    <p:sldId id="320" r:id="rId52"/>
    <p:sldId id="323" r:id="rId53"/>
    <p:sldId id="329" r:id="rId54"/>
    <p:sldId id="310" r:id="rId55"/>
    <p:sldId id="351" r:id="rId56"/>
    <p:sldId id="350" r:id="rId57"/>
    <p:sldId id="311" r:id="rId58"/>
    <p:sldId id="325" r:id="rId59"/>
    <p:sldId id="314" r:id="rId60"/>
    <p:sldId id="328" r:id="rId61"/>
    <p:sldId id="342" r:id="rId62"/>
    <p:sldId id="346" r:id="rId63"/>
    <p:sldId id="353" r:id="rId64"/>
    <p:sldId id="354" r:id="rId65"/>
    <p:sldId id="355" r:id="rId66"/>
    <p:sldId id="356" r:id="rId67"/>
    <p:sldId id="330" r:id="rId68"/>
    <p:sldId id="326" r:id="rId69"/>
    <p:sldId id="333" r:id="rId70"/>
    <p:sldId id="334" r:id="rId71"/>
    <p:sldId id="327" r:id="rId72"/>
    <p:sldId id="344" r:id="rId73"/>
    <p:sldId id="313" r:id="rId74"/>
    <p:sldId id="345" r:id="rId75"/>
    <p:sldId id="347" r:id="rId76"/>
    <p:sldId id="349" r:id="rId77"/>
    <p:sldId id="352" r:id="rId78"/>
    <p:sldId id="348" r:id="rId79"/>
    <p:sldId id="316" r:id="rId80"/>
    <p:sldId id="335" r:id="rId81"/>
    <p:sldId id="289" r:id="rId82"/>
    <p:sldId id="290" r:id="rId83"/>
    <p:sldId id="312" r:id="rId84"/>
    <p:sldId id="357" r:id="rId85"/>
    <p:sldId id="341" r:id="rId86"/>
    <p:sldId id="322" r:id="rId87"/>
    <p:sldId id="280" r:id="rId88"/>
    <p:sldId id="358" r:id="rId89"/>
    <p:sldId id="360" r:id="rId90"/>
    <p:sldId id="359" r:id="rId91"/>
    <p:sldId id="269" r:id="rId92"/>
    <p:sldId id="309" r:id="rId93"/>
    <p:sldId id="324" r:id="rId94"/>
    <p:sldId id="317" r:id="rId95"/>
    <p:sldId id="331" r:id="rId96"/>
    <p:sldId id="336" r:id="rId97"/>
    <p:sldId id="268" r:id="rId9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388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548D-0C11-F00B-C5A2-BFB09807E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Observable</a:t>
            </a:r>
          </a:p>
        </p:txBody>
      </p:sp>
    </p:spTree>
    <p:extLst>
      <p:ext uri="{BB962C8B-B14F-4D97-AF65-F5344CB8AC3E}">
        <p14:creationId xmlns:p14="http://schemas.microsoft.com/office/powerpoint/2010/main" val="1742012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b="1"/>
              <a:t>it is used to handle (manage) asynchronous operations</a:t>
            </a:r>
          </a:p>
          <a:p>
            <a:r>
              <a:rPr lang="en-US" b="1"/>
              <a:t>Emits multiple values over time (better for data streaming) (data producer)</a:t>
            </a:r>
          </a:p>
          <a:p>
            <a:r>
              <a:rPr lang="en-US" b="1"/>
              <a:t>Lazy (executed when subscribed).</a:t>
            </a:r>
          </a:p>
          <a:p>
            <a:r>
              <a:rPr lang="en-US" b="1"/>
              <a:t>Can be canceled (by unsubscribing).</a:t>
            </a:r>
          </a:p>
          <a:p>
            <a:r>
              <a:rPr lang="en-US" b="1"/>
              <a:t>Included in ReactiveX Library</a:t>
            </a:r>
          </a:p>
          <a:p>
            <a:r>
              <a:rPr lang="en-US" b="1">
                <a:effectLst/>
              </a:rPr>
              <a:t>A stream of data or events (like news) that can be sent over time.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 b="1"/>
              <a:t>stores the latest value</a:t>
            </a:r>
          </a:p>
          <a:p>
            <a:pPr lvl="1"/>
            <a:r>
              <a:rPr lang="en-US" b="1"/>
              <a:t>Immediately sends the last value to new subscribers</a:t>
            </a:r>
          </a:p>
          <a:p>
            <a:r>
              <a:rPr lang="en-US" sz="1800" b="1"/>
              <a:t>So any component that subscribes will always receive the current state instantly.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  <a:p>
            <a:r>
              <a:rPr lang="en-US" sz="2000"/>
              <a:t>The subscriber is like listener to valuw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2C2F-28FC-4F15-C67A-2F9ABA5B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4103-3158-6B5D-CAA8-6052AEC03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Observable</a:t>
            </a:r>
          </a:p>
        </p:txBody>
      </p:sp>
    </p:spTree>
    <p:extLst>
      <p:ext uri="{BB962C8B-B14F-4D97-AF65-F5344CB8AC3E}">
        <p14:creationId xmlns:p14="http://schemas.microsoft.com/office/powerpoint/2010/main" val="25163865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5831-9ABD-4BDF-3724-5DDD29B8B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3530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visible$ | async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E03B-CB90-1824-3342-A2B2EAFEC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33530"/>
            <a:ext cx="10353762" cy="5948623"/>
          </a:xfrm>
        </p:spPr>
        <p:txBody>
          <a:bodyPr>
            <a:normAutofit/>
          </a:bodyPr>
          <a:lstStyle/>
          <a:p>
            <a:r>
              <a:rPr lang="en-US"/>
              <a:t>&lt;div class="loading" *ngIf="</a:t>
            </a:r>
            <a:r>
              <a:rPr lang="en-US" b="1">
                <a:solidFill>
                  <a:srgbClr val="CC3399"/>
                </a:solidFill>
              </a:rPr>
              <a:t>visible$</a:t>
            </a:r>
            <a:r>
              <a:rPr lang="en-US"/>
              <a:t> | </a:t>
            </a:r>
            <a:r>
              <a:rPr lang="en-US" b="1">
                <a:solidFill>
                  <a:srgbClr val="00B0F0"/>
                </a:solidFill>
              </a:rPr>
              <a:t>async</a:t>
            </a:r>
            <a:r>
              <a:rPr lang="en-US"/>
              <a:t>"&gt;&lt;/div&gt;</a:t>
            </a:r>
          </a:p>
          <a:p>
            <a:r>
              <a:rPr lang="en-US"/>
              <a:t>visible$ is observable -- you component.ts has:  </a:t>
            </a:r>
            <a:r>
              <a:rPr lang="en-US" b="1">
                <a:solidFill>
                  <a:srgbClr val="FFFF00"/>
                </a:solidFill>
              </a:rPr>
              <a:t>visible$</a:t>
            </a:r>
            <a:r>
              <a:rPr lang="en-US" b="1"/>
              <a:t>: Observable&lt;</a:t>
            </a:r>
            <a:r>
              <a:rPr lang="en-US" b="1">
                <a:solidFill>
                  <a:srgbClr val="CC3399"/>
                </a:solidFill>
              </a:rPr>
              <a:t>boolean</a:t>
            </a:r>
            <a:r>
              <a:rPr lang="en-US" b="1"/>
              <a:t>&gt;;</a:t>
            </a:r>
          </a:p>
          <a:p>
            <a:r>
              <a:rPr lang="en-US"/>
              <a:t>The async pipe </a:t>
            </a:r>
          </a:p>
          <a:p>
            <a:pPr lvl="1"/>
            <a:r>
              <a:rPr lang="en-US" b="1"/>
              <a:t>subscribes to the observable </a:t>
            </a:r>
          </a:p>
          <a:p>
            <a:pPr lvl="1"/>
            <a:r>
              <a:rPr lang="en-US" b="1"/>
              <a:t>gets the latest emitted value </a:t>
            </a:r>
          </a:p>
          <a:p>
            <a:pPr lvl="1"/>
            <a:r>
              <a:rPr lang="en-US" b="1"/>
              <a:t>updates the UI when the value changes </a:t>
            </a:r>
          </a:p>
          <a:p>
            <a:pPr lvl="1"/>
            <a:r>
              <a:rPr lang="en-US" b="1"/>
              <a:t>unsubscribes when the component is destroyed </a:t>
            </a:r>
            <a:endParaRPr lang="en-US"/>
          </a:p>
          <a:p>
            <a:r>
              <a:rPr lang="en-US" b="1"/>
              <a:t>Without async, you'd need: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false;</a:t>
            </a:r>
          </a:p>
          <a:p>
            <a:pPr lvl="1"/>
            <a:r>
              <a:rPr lang="en-US"/>
              <a:t>ngOnInit() { this.spinnerService.visible$.subscribe(value =&gt; { this.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value; });  }</a:t>
            </a:r>
          </a:p>
          <a:p>
            <a:pPr lvl="1"/>
            <a:r>
              <a:rPr lang="en-US"/>
              <a:t>&lt;div *ngIf="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"&gt;&lt;/div&gt;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585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69" y="804093"/>
            <a:ext cx="11859490" cy="5882457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/>
              <a:t>npm install @ng-bootstrap/ng-bootstrap --force</a:t>
            </a:r>
            <a:endParaRPr lang="en-US" sz="1800" b="1"/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/>
              <a:t>This layout has layout </a:t>
            </a:r>
            <a:r>
              <a:rPr lang="en-US" sz="2400" b="1">
                <a:solidFill>
                  <a:srgbClr val="FFFF00"/>
                </a:solidFill>
              </a:rPr>
              <a:t>header and sidebar </a:t>
            </a:r>
            <a:r>
              <a:rPr lang="en-US"/>
              <a:t>(</a:t>
            </a:r>
            <a:r>
              <a:rPr lang="en-US" err="1"/>
              <a:t>offcanvas</a:t>
            </a:r>
            <a:r>
              <a:rPr lang="en-US"/>
              <a:t> sidebar)</a:t>
            </a:r>
          </a:p>
          <a:p>
            <a:r>
              <a:rPr lang="en-US"/>
              <a:t>Create </a:t>
            </a:r>
            <a:r>
              <a:rPr lang="en-US" b="1">
                <a:solidFill>
                  <a:srgbClr val="FF0000"/>
                </a:solidFill>
              </a:rPr>
              <a:t>main-layout</a:t>
            </a:r>
            <a:r>
              <a:rPr lang="en-US"/>
              <a:t> components at app/Layouts folder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2853"/>
            <a:ext cx="12192000" cy="6139543"/>
          </a:xfrm>
        </p:spPr>
        <p:txBody>
          <a:bodyPr>
            <a:normAutofit/>
          </a:bodyPr>
          <a:lstStyle/>
          <a:p>
            <a:r>
              <a:rPr lang="en-US" b="1"/>
              <a:t>FormGroup </a:t>
            </a:r>
            <a:r>
              <a:rPr lang="en-US"/>
              <a:t>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 : { username: 'Ahmed' , password: '123456' }</a:t>
            </a:r>
          </a:p>
          <a:p>
            <a:pPr lvl="1"/>
            <a:r>
              <a:rPr lang="en-US"/>
              <a:t>getRawValue():  Includes </a:t>
            </a:r>
            <a:r>
              <a:rPr lang="en-US" b="1"/>
              <a:t>disabled controls</a:t>
            </a:r>
            <a:endParaRPr lang="en-US"/>
          </a:p>
          <a:p>
            <a:pPr lvl="1"/>
            <a:r>
              <a:rPr lang="en-US">
                <a:effectLst/>
              </a:rPr>
              <a:t>controls['ColorHexCode']   // </a:t>
            </a:r>
          </a:p>
          <a:p>
            <a:pPr lvl="1"/>
            <a:r>
              <a:rPr lang="en-US">
                <a:effectLst/>
              </a:rPr>
              <a:t>get('ColorHexCode')		// </a:t>
            </a:r>
          </a:p>
          <a:p>
            <a:pPr lvl="1"/>
            <a:r>
              <a:rPr lang="en-US"/>
              <a:t>valid: bool, </a:t>
            </a:r>
            <a:r>
              <a:rPr lang="en-US">
                <a:effectLst/>
              </a:rPr>
              <a:t>A control is valid when its status is VALID</a:t>
            </a:r>
            <a:endParaRPr lang="en-US"/>
          </a:p>
          <a:p>
            <a:pPr lvl="1"/>
            <a:r>
              <a:rPr lang="en-US"/>
              <a:t>invalid</a:t>
            </a:r>
          </a:p>
          <a:p>
            <a:pPr lvl="1"/>
            <a:r>
              <a:rPr lang="en-US"/>
              <a:t>errors // Errors applied to the </a:t>
            </a:r>
            <a:r>
              <a:rPr lang="en-US" b="1"/>
              <a:t>group itself</a:t>
            </a:r>
            <a:r>
              <a:rPr lang="en-US"/>
              <a:t> (not children)</a:t>
            </a:r>
          </a:p>
          <a:p>
            <a:pPr lvl="1"/>
            <a:r>
              <a:rPr lang="en-US"/>
              <a:t>status </a:t>
            </a:r>
          </a:p>
          <a:p>
            <a:pPr lvl="1"/>
            <a:r>
              <a:rPr lang="en-US"/>
              <a:t>form.setValue({ username: 'Ahmed’, password: '123’ }); // Must include ALL controls</a:t>
            </a:r>
          </a:p>
          <a:p>
            <a:pPr lvl="1"/>
            <a:r>
              <a:rPr lang="en-US"/>
              <a:t>form.patchValue({  username: 'Ahmed’ }); // lets you update </a:t>
            </a:r>
            <a:r>
              <a:rPr lang="en-US" b="1"/>
              <a:t>only the fields you provide, </a:t>
            </a:r>
            <a:r>
              <a:rPr lang="en-US" sz="1600" b="1"/>
              <a:t>always triggers validation</a:t>
            </a:r>
            <a:endParaRPr lang="en-US"/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endParaRPr lang="en-US"/>
          </a:p>
          <a:p>
            <a:r>
              <a:rPr lang="en-US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D6289-A31A-D2F3-CA0A-FDBD3D53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53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Start Sweat Alert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7E92C-3C88-05B1-405C-56CC9651C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95325"/>
            <a:ext cx="10353762" cy="59912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2721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F6CD6-0D81-7390-4CDC-26D1A4E1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3625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Sweat Alert</a:t>
            </a:r>
          </a:p>
        </p:txBody>
      </p:sp>
    </p:spTree>
    <p:extLst>
      <p:ext uri="{BB962C8B-B14F-4D97-AF65-F5344CB8AC3E}">
        <p14:creationId xmlns:p14="http://schemas.microsoft.com/office/powerpoint/2010/main" val="8819422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EB160-5530-65CA-AC3A-EEED12B3B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Angular DT</a:t>
            </a:r>
          </a:p>
        </p:txBody>
      </p:sp>
    </p:spTree>
    <p:extLst>
      <p:ext uri="{BB962C8B-B14F-4D97-AF65-F5344CB8AC3E}">
        <p14:creationId xmlns:p14="http://schemas.microsoft.com/office/powerpoint/2010/main" val="14058692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62B24-9DD0-F698-7EC2-FE771EE56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HttpRequest</a:t>
            </a:r>
            <a:endParaRPr lang="en-US" b="1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99B50-7E7C-8FA8-2DF6-AB4A59F5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600075"/>
            <a:ext cx="11944350" cy="6115050"/>
          </a:xfrm>
        </p:spPr>
        <p:txBody>
          <a:bodyPr/>
          <a:lstStyle/>
          <a:p>
            <a:r>
              <a:rPr lang="en-US"/>
              <a:t>This creates a custom Angular HTTP </a:t>
            </a:r>
            <a:r>
              <a:rPr lang="en-US" b="1"/>
              <a:t>request </a:t>
            </a:r>
            <a:r>
              <a:rPr lang="en-US"/>
              <a:t>object </a:t>
            </a:r>
          </a:p>
          <a:p>
            <a:r>
              <a:rPr lang="en-US"/>
              <a:t>Creates a manual HTTP request instead of using shortcuts like:</a:t>
            </a:r>
          </a:p>
          <a:p>
            <a:pPr lvl="1"/>
            <a:r>
              <a:rPr lang="en-US"/>
              <a:t>this.http.get() , this.http.post()</a:t>
            </a:r>
          </a:p>
          <a:p>
            <a:r>
              <a:rPr lang="en-US" sz="1800"/>
              <a:t>It gives you more control over: </a:t>
            </a:r>
            <a:r>
              <a:rPr lang="en-US" sz="1800" b="1"/>
              <a:t>Headers, upload progress, download progress, body, header,  response type, events</a:t>
            </a:r>
          </a:p>
          <a:p>
            <a:r>
              <a:rPr lang="en-US" sz="1800"/>
              <a:t>new HttpRequest(</a:t>
            </a:r>
            <a:r>
              <a:rPr lang="en-US" sz="1800">
                <a:solidFill>
                  <a:srgbClr val="FFFF00"/>
                </a:solidFill>
              </a:rPr>
              <a:t>method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url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body</a:t>
            </a:r>
            <a:r>
              <a:rPr lang="en-US" sz="1800"/>
              <a:t>?, </a:t>
            </a:r>
            <a:r>
              <a:rPr lang="en-US" sz="1800" b="1">
                <a:solidFill>
                  <a:srgbClr val="FFFF00"/>
                </a:solidFill>
              </a:rPr>
              <a:t>options</a:t>
            </a:r>
            <a:r>
              <a:rPr lang="en-US" sz="1800"/>
              <a:t>? )</a:t>
            </a:r>
          </a:p>
          <a:p>
            <a:r>
              <a:rPr lang="en-US"/>
              <a:t>It is immutable DT</a:t>
            </a:r>
          </a:p>
          <a:p>
            <a:r>
              <a:rPr lang="en-US"/>
              <a:t>Options: it is an object its members as following</a:t>
            </a:r>
          </a:p>
          <a:p>
            <a:pPr lvl="1"/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b="1">
                <a:solidFill>
                  <a:schemeClr val="tx1"/>
                </a:solidFill>
              </a:rPr>
              <a:t>Params:</a:t>
            </a:r>
            <a:r>
              <a:rPr lang="en-US" b="1">
                <a:solidFill>
                  <a:srgbClr val="FFFF00"/>
                </a:solidFill>
              </a:rPr>
              <a:t> HttpParams</a:t>
            </a:r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5614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F51-C929-37BD-EADE-E2BCA15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45" y="-66675"/>
            <a:ext cx="10353762" cy="6858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HttpHeaders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78EA5-CC87-D0AE-E17B-19344AD6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" y="619125"/>
            <a:ext cx="11934825" cy="6086476"/>
          </a:xfrm>
        </p:spPr>
        <p:txBody>
          <a:bodyPr>
            <a:normAutofit/>
          </a:bodyPr>
          <a:lstStyle/>
          <a:p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sz="1600" b="1"/>
              <a:t>const </a:t>
            </a:r>
            <a:r>
              <a:rPr lang="en-US" sz="1600" b="1">
                <a:solidFill>
                  <a:srgbClr val="FFFF00"/>
                </a:solidFill>
              </a:rPr>
              <a:t>headers</a:t>
            </a:r>
            <a:r>
              <a:rPr lang="en-US" sz="1600" b="1"/>
              <a:t> = new </a:t>
            </a:r>
            <a:r>
              <a:rPr lang="en-US" sz="1600" b="1">
                <a:solidFill>
                  <a:srgbClr val="00B050"/>
                </a:solidFill>
              </a:rPr>
              <a:t>HttpHeaders</a:t>
            </a:r>
            <a:r>
              <a:rPr lang="en-US" sz="1600" b="1"/>
              <a:t>({</a:t>
            </a:r>
            <a:br>
              <a:rPr lang="en-US" sz="1600" b="1"/>
            </a:br>
            <a:r>
              <a:rPr lang="en-US" sz="1600" b="1"/>
              <a:t>	</a:t>
            </a:r>
            <a:r>
              <a:rPr lang="en-US" sz="1600" b="1">
                <a:solidFill>
                  <a:srgbClr val="00B0F0"/>
                </a:solidFill>
              </a:rPr>
              <a:t>Authorization</a:t>
            </a:r>
            <a:r>
              <a:rPr lang="en-US" sz="1600" b="1"/>
              <a:t>: 'Bearer token’,</a:t>
            </a:r>
            <a:br>
              <a:rPr lang="en-US" sz="1600" b="1"/>
            </a:br>
            <a:r>
              <a:rPr lang="en-US" sz="1600" b="1"/>
              <a:t>	'Content-Type' : 'application/json'</a:t>
            </a:r>
            <a:br>
              <a:rPr lang="en-US" sz="1600" b="1"/>
            </a:br>
            <a:r>
              <a:rPr lang="en-US" sz="1600" b="1"/>
              <a:t>});</a:t>
            </a:r>
          </a:p>
          <a:p>
            <a:pPr lvl="1"/>
            <a:r>
              <a:rPr lang="en-US" sz="1600"/>
              <a:t>Add Header: </a:t>
            </a:r>
            <a:r>
              <a:rPr lang="en-US" sz="1600" b="1"/>
              <a:t>headers.</a:t>
            </a:r>
            <a:r>
              <a:rPr lang="en-US" sz="1600" b="1">
                <a:solidFill>
                  <a:srgbClr val="00B0F0"/>
                </a:solidFill>
              </a:rPr>
              <a:t>append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Set Header: headers.</a:t>
            </a:r>
            <a:r>
              <a:rPr lang="en-US" sz="1600" b="1">
                <a:solidFill>
                  <a:srgbClr val="00B0F0"/>
                </a:solidFill>
              </a:rPr>
              <a:t>set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Delete  Header: headers.</a:t>
            </a:r>
            <a:r>
              <a:rPr lang="en-US" sz="1600" b="1">
                <a:solidFill>
                  <a:srgbClr val="00B0F0"/>
                </a:solidFill>
              </a:rPr>
              <a:t>delete</a:t>
            </a:r>
            <a:r>
              <a:rPr lang="en-US" sz="1600" b="1"/>
              <a:t>('token');</a:t>
            </a:r>
          </a:p>
          <a:p>
            <a:pPr lvl="1"/>
            <a:r>
              <a:rPr lang="en-US" sz="1600" b="1"/>
              <a:t>Get Header : headers.</a:t>
            </a:r>
            <a:r>
              <a:rPr lang="en-US" sz="1600" b="1">
                <a:solidFill>
                  <a:srgbClr val="00B0F0"/>
                </a:solidFill>
              </a:rPr>
              <a:t>get</a:t>
            </a:r>
            <a:r>
              <a:rPr lang="en-US" sz="1600" b="1"/>
              <a:t>('Authorization');</a:t>
            </a:r>
          </a:p>
          <a:p>
            <a:r>
              <a:rPr lang="en-US" sz="1600"/>
              <a:t>HttpHeaders objects are immutable. That means methods like .set(), .append(), and .delete() do not modify the existing instance — they return a new HttpHeaders object instead.</a:t>
            </a:r>
          </a:p>
          <a:p>
            <a:r>
              <a:rPr lang="en-US" sz="1800"/>
              <a:t>Usage</a:t>
            </a:r>
            <a:endParaRPr lang="en-US"/>
          </a:p>
          <a:p>
            <a:pPr lvl="1"/>
            <a:r>
              <a:rPr lang="en-US" sz="1700"/>
              <a:t>let headers = new HttpHeaders();    headers = headers.set('Authorization', 'Bearer token');</a:t>
            </a:r>
          </a:p>
          <a:p>
            <a:pPr lvl="1"/>
            <a:r>
              <a:rPr lang="en-US" sz="1600" b="1"/>
              <a:t>const headers = new </a:t>
            </a:r>
            <a:r>
              <a:rPr lang="en-US" sz="1600" b="1">
                <a:solidFill>
                  <a:srgbClr val="FFFF00"/>
                </a:solidFill>
              </a:rPr>
              <a:t>HttpHeaders</a:t>
            </a:r>
            <a:r>
              <a:rPr lang="en-US" sz="1600" b="1"/>
              <a:t>()</a:t>
            </a:r>
            <a:br>
              <a:rPr lang="en-US" sz="1600" b="1"/>
            </a:br>
            <a:r>
              <a:rPr lang="en-US" sz="1600" b="1"/>
              <a:t>	.set('Authorization', 'Bearer token’)</a:t>
            </a:r>
            <a:br>
              <a:rPr lang="en-US" sz="1600" b="1"/>
            </a:br>
            <a:r>
              <a:rPr lang="en-US" sz="1600" b="1"/>
              <a:t>	.set('Content-Type', 'application/json’);</a:t>
            </a:r>
          </a:p>
          <a:p>
            <a:r>
              <a:rPr lang="en-US" sz="1800"/>
              <a:t>const clonedReq = req.</a:t>
            </a:r>
            <a:r>
              <a:rPr lang="en-US" sz="1800">
                <a:solidFill>
                  <a:srgbClr val="00B0F0"/>
                </a:solidFill>
              </a:rPr>
              <a:t>clone</a:t>
            </a:r>
            <a:r>
              <a:rPr lang="en-US" sz="1800"/>
              <a:t>({ headers: req.headers.set('x-token', token)});</a:t>
            </a:r>
          </a:p>
        </p:txBody>
      </p:sp>
    </p:spTree>
    <p:extLst>
      <p:ext uri="{BB962C8B-B14F-4D97-AF65-F5344CB8AC3E}">
        <p14:creationId xmlns:p14="http://schemas.microsoft.com/office/powerpoint/2010/main" val="283269695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5FD5-E5AE-5498-8957-BE1C6B5A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67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C24F4-AB0F-8418-EE8A-AD357B2C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66726"/>
            <a:ext cx="11744325" cy="6305550"/>
          </a:xfrm>
        </p:spPr>
        <p:txBody>
          <a:bodyPr>
            <a:normAutofit/>
          </a:bodyPr>
          <a:lstStyle/>
          <a:p>
            <a:r>
              <a:rPr lang="en-US" sz="1800"/>
              <a:t>is the class used to build and manage URL query</a:t>
            </a:r>
          </a:p>
          <a:p>
            <a:r>
              <a:rPr lang="en-US"/>
              <a:t>HttpParams</a:t>
            </a:r>
            <a:r>
              <a:rPr lang="en-US" sz="1800"/>
              <a:t> is </a:t>
            </a:r>
            <a:r>
              <a:rPr lang="en-US" sz="1800" b="1"/>
              <a:t>immutable</a:t>
            </a:r>
            <a:r>
              <a:rPr lang="en-US" sz="1800"/>
              <a:t>.</a:t>
            </a:r>
            <a:endParaRPr lang="en-US" sz="1800" b="1"/>
          </a:p>
          <a:p>
            <a:endParaRPr lang="en-US" sz="1800" b="1"/>
          </a:p>
          <a:p>
            <a:r>
              <a:rPr lang="en-US" sz="1800" b="1"/>
              <a:t>params: new </a:t>
            </a:r>
            <a:r>
              <a:rPr lang="en-US" sz="1800" b="1">
                <a:solidFill>
                  <a:srgbClr val="FFFF00"/>
                </a:solidFill>
              </a:rPr>
              <a:t>HttpParams</a:t>
            </a:r>
            <a:r>
              <a:rPr lang="en-US" sz="1800" b="1"/>
              <a:t>()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('page', '1’)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('limit', '10’);</a:t>
            </a:r>
          </a:p>
          <a:p>
            <a:pPr lvl="1"/>
            <a:r>
              <a:rPr lang="en-US" b="1"/>
              <a:t>Set replace value</a:t>
            </a:r>
          </a:p>
          <a:p>
            <a:pPr lvl="1"/>
            <a:r>
              <a:rPr lang="fr-FR" sz="1600" b="1"/>
              <a:t>Final URL: /api/users?</a:t>
            </a:r>
            <a:r>
              <a:rPr lang="fr-FR" sz="1600" b="1">
                <a:solidFill>
                  <a:srgbClr val="00B0F0"/>
                </a:solidFill>
              </a:rPr>
              <a:t>page</a:t>
            </a:r>
            <a:r>
              <a:rPr lang="fr-FR" sz="1600" b="1"/>
              <a:t>=1&amp;</a:t>
            </a:r>
            <a:r>
              <a:rPr lang="fr-FR" sz="1600" b="1">
                <a:solidFill>
                  <a:srgbClr val="00B0F0"/>
                </a:solidFill>
              </a:rPr>
              <a:t>limit</a:t>
            </a:r>
            <a:r>
              <a:rPr lang="fr-FR" sz="1600" b="1"/>
              <a:t>=10</a:t>
            </a:r>
            <a:endParaRPr lang="fr-FR" b="1"/>
          </a:p>
          <a:p>
            <a:endParaRPr lang="en-US" sz="1800" b="1"/>
          </a:p>
          <a:p>
            <a:r>
              <a:rPr lang="en-US" sz="1800" b="1"/>
              <a:t>new HttpParams()</a:t>
            </a:r>
          </a:p>
          <a:p>
            <a:pPr marL="450000" lvl="1" indent="0">
              <a:buNone/>
            </a:pP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'books')</a:t>
            </a:r>
            <a:br>
              <a:rPr lang="en-US" sz="1600" b="1"/>
            </a:b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'movies’)</a:t>
            </a:r>
          </a:p>
          <a:p>
            <a:pPr lvl="1"/>
            <a:r>
              <a:rPr lang="en-US" b="1"/>
              <a:t>Append: add another value, Useful for </a:t>
            </a:r>
            <a:r>
              <a:rPr lang="en-US" b="1">
                <a:solidFill>
                  <a:srgbClr val="FFFF00"/>
                </a:solidFill>
              </a:rPr>
              <a:t>Multi-Select, Array</a:t>
            </a:r>
          </a:p>
          <a:p>
            <a:pPr lvl="1"/>
            <a:r>
              <a:rPr lang="en-US" b="1"/>
              <a:t>params.</a:t>
            </a:r>
            <a:r>
              <a:rPr lang="en-US" b="1">
                <a:solidFill>
                  <a:srgbClr val="00B0F0"/>
                </a:solidFill>
              </a:rPr>
              <a:t>getAll</a:t>
            </a:r>
            <a:r>
              <a:rPr lang="en-US" b="1"/>
              <a:t>('category’); // ['books', 'movies']</a:t>
            </a:r>
            <a:endParaRPr lang="en-US" b="1">
              <a:solidFill>
                <a:srgbClr val="FFFF00"/>
              </a:solidFill>
            </a:endParaRPr>
          </a:p>
          <a:p>
            <a:pPr lvl="1"/>
            <a:r>
              <a:rPr lang="fr-FR" sz="1600" b="1"/>
              <a:t>Final URL: /api/user?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=books&amp;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=movies</a:t>
            </a:r>
          </a:p>
          <a:p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116762284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1B7E-8E2A-9BB4-BA3C-DBF083CF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7620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 [ 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D206E-AB2E-71F3-1B72-7F3E6EBB8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3874"/>
            <a:ext cx="11668125" cy="6334125"/>
          </a:xfrm>
        </p:spPr>
        <p:txBody>
          <a:bodyPr>
            <a:normAutofit/>
          </a:bodyPr>
          <a:lstStyle/>
          <a:p>
            <a:r>
              <a:rPr lang="en-US" sz="1800" b="1"/>
              <a:t>Add many params at once using appendAll</a:t>
            </a:r>
            <a:endParaRPr lang="en-US" sz="1600" b="1"/>
          </a:p>
          <a:p>
            <a:pPr lvl="1"/>
            <a:r>
              <a:rPr lang="en-US" sz="1600" b="1"/>
              <a:t>const params = new HttpParams().appendAll (  { page: 1,  limit: 10,  sort: 'name'  }   );</a:t>
            </a:r>
            <a:endParaRPr lang="en-US"/>
          </a:p>
          <a:p>
            <a:r>
              <a:rPr lang="en-US"/>
              <a:t>Initialize from object.</a:t>
            </a:r>
          </a:p>
          <a:p>
            <a:pPr lvl="1"/>
            <a:r>
              <a:rPr lang="en-US"/>
              <a:t>const params = new HttpParams({    </a:t>
            </a:r>
            <a:r>
              <a:rPr lang="en-US" sz="1800"/>
              <a:t>fromObject: { page: '1’, limit: '10’, search: 'john’ }   </a:t>
            </a:r>
            <a:r>
              <a:rPr lang="en-US"/>
              <a:t>});</a:t>
            </a:r>
          </a:p>
          <a:p>
            <a:r>
              <a:rPr lang="en-US" sz="1800"/>
              <a:t>Reading</a:t>
            </a:r>
            <a:endParaRPr lang="en-US"/>
          </a:p>
          <a:p>
            <a:pPr lvl="1"/>
            <a:r>
              <a:rPr lang="en-US"/>
              <a:t>params.get('page’);    // 1</a:t>
            </a:r>
          </a:p>
          <a:p>
            <a:pPr lvl="1"/>
            <a:r>
              <a:rPr lang="en-US"/>
              <a:t>params.getAll('category’);  // ['books', 'movies’]</a:t>
            </a:r>
          </a:p>
          <a:p>
            <a:pPr lvl="1"/>
            <a:r>
              <a:rPr lang="en-US"/>
              <a:t>params.keys();  // Returns all parameter names.</a:t>
            </a:r>
          </a:p>
          <a:p>
            <a:r>
              <a:rPr lang="en-US" sz="1800"/>
              <a:t>Checks existence</a:t>
            </a:r>
            <a:r>
              <a:rPr lang="en-US"/>
              <a:t>.</a:t>
            </a:r>
          </a:p>
          <a:p>
            <a:pPr lvl="1"/>
            <a:r>
              <a:rPr lang="en-US"/>
              <a:t>params.has('page’);</a:t>
            </a:r>
          </a:p>
          <a:p>
            <a:r>
              <a:rPr lang="en-US" b="1"/>
              <a:t>delete()</a:t>
            </a:r>
            <a:endParaRPr lang="en-US"/>
          </a:p>
          <a:p>
            <a:pPr lvl="1"/>
            <a:r>
              <a:rPr lang="en-US"/>
              <a:t>params = params.delete('page');</a:t>
            </a:r>
          </a:p>
          <a:p>
            <a:pPr lvl="1"/>
            <a:r>
              <a:rPr lang="en-US"/>
              <a:t>params = params.delete('category', 'books’);</a:t>
            </a:r>
          </a:p>
          <a:p>
            <a:r>
              <a:rPr lang="en-US" sz="1800" b="1"/>
              <a:t>Converting to String</a:t>
            </a:r>
          </a:p>
          <a:p>
            <a:pPr lvl="1"/>
            <a:r>
              <a:rPr lang="en-US"/>
              <a:t>params.toString();  // page=1&amp;limit=10</a:t>
            </a:r>
          </a:p>
        </p:txBody>
      </p:sp>
    </p:spTree>
    <p:extLst>
      <p:ext uri="{BB962C8B-B14F-4D97-AF65-F5344CB8AC3E}">
        <p14:creationId xmlns:p14="http://schemas.microsoft.com/office/powerpoint/2010/main" val="39922006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F29F7-A718-CBF6-52BB-CA8584ACE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93089169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DFD20-716D-7F23-5AA9-05C0CE569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061" y="0"/>
            <a:ext cx="10353762" cy="618067"/>
          </a:xfrm>
        </p:spPr>
        <p:txBody>
          <a:bodyPr>
            <a:normAutofit fontScale="90000"/>
          </a:bodyPr>
          <a:lstStyle/>
          <a:p>
            <a:r>
              <a:rPr lang="en-US"/>
              <a:t>Download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EA7C-9279-2FBF-1913-3A8FBF4A1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685800"/>
            <a:ext cx="10844224" cy="6172200"/>
          </a:xfrm>
        </p:spPr>
        <p:txBody>
          <a:bodyPr>
            <a:normAutofit/>
          </a:bodyPr>
          <a:lstStyle/>
          <a:p>
            <a:r>
              <a:rPr lang="en-US"/>
              <a:t>At Service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httpClient</a:t>
            </a:r>
            <a:r>
              <a:rPr lang="en-US" b="1"/>
              <a:t>.post(URL,  payload, { response: blob });</a:t>
            </a:r>
          </a:p>
          <a:p>
            <a:r>
              <a:rPr lang="en-US" b="1"/>
              <a:t>At ts code</a:t>
            </a:r>
          </a:p>
          <a:p>
            <a:pPr lvl="1"/>
            <a:r>
              <a:rPr lang="en-US" b="1"/>
              <a:t>request  = this.service.download(payload).</a:t>
            </a:r>
            <a:r>
              <a:rPr lang="en-US" b="1">
                <a:effectLst/>
              </a:rPr>
              <a:t>subscribe({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next: (response: Blob)=&gt;{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>
                <a:effectLst/>
              </a:rPr>
              <a:t>const downloadURL = window.URL.</a:t>
            </a:r>
            <a:r>
              <a:rPr lang="en-US" b="1">
                <a:solidFill>
                  <a:srgbClr val="FFFF00"/>
                </a:solidFill>
                <a:effectLst/>
              </a:rPr>
              <a:t>createObjectURL</a:t>
            </a:r>
            <a:r>
              <a:rPr lang="en-US">
                <a:effectLst/>
              </a:rPr>
              <a:t>(response);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const link = document.</a:t>
            </a:r>
            <a:r>
              <a:rPr lang="en-US" b="1">
                <a:solidFill>
                  <a:srgbClr val="FFFF00"/>
                </a:solidFill>
                <a:effectLst/>
              </a:rPr>
              <a:t>createElement</a:t>
            </a:r>
            <a:r>
              <a:rPr lang="en-US">
                <a:effectLst/>
              </a:rPr>
              <a:t>('a’);   link.href = downloadURL;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 	link.download = 'SanctionAML_Report.xlsx’;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appendChild</a:t>
            </a:r>
            <a:r>
              <a:rPr lang="en-US">
                <a:effectLst/>
              </a:rPr>
              <a:t>(link);  link.click();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removeChild</a:t>
            </a:r>
            <a:r>
              <a:rPr lang="en-US">
                <a:effectLst/>
              </a:rPr>
              <a:t>(link);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window.URL.</a:t>
            </a:r>
            <a:r>
              <a:rPr lang="en-US" b="1">
                <a:solidFill>
                  <a:srgbClr val="FFFF00"/>
                </a:solidFill>
                <a:effectLst/>
              </a:rPr>
              <a:t>revokeObjectURL</a:t>
            </a:r>
            <a:r>
              <a:rPr lang="en-US">
                <a:effectLst/>
              </a:rPr>
              <a:t>(downloadURL);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/>
              <a:t>Swal.close();    // close the current opening sweat alert</a:t>
            </a:r>
            <a:endParaRPr lang="en-US" b="1">
              <a:effectLst/>
            </a:endParaRPr>
          </a:p>
          <a:p>
            <a:pPr marL="810000" lvl="2" indent="0">
              <a:buNone/>
            </a:pPr>
            <a:r>
              <a:rPr lang="en-US" b="1">
                <a:effectLst/>
              </a:rPr>
              <a:t>}</a:t>
            </a:r>
          </a:p>
          <a:p>
            <a:pPr marL="450000" lvl="1" indent="0">
              <a:buNone/>
            </a:pPr>
            <a:r>
              <a:rPr lang="en-US" b="1">
                <a:effectLst/>
              </a:rPr>
              <a:t>	 });</a:t>
            </a:r>
          </a:p>
          <a:p>
            <a:r>
              <a:rPr lang="en-US" sz="1600" b="1">
                <a:effectLst/>
              </a:rPr>
              <a:t>To cancel the operation (download) : </a:t>
            </a:r>
            <a:r>
              <a:rPr lang="en-US" b="1">
                <a:solidFill>
                  <a:srgbClr val="FFFF00"/>
                </a:solidFill>
                <a:effectLst/>
              </a:rPr>
              <a:t>request</a:t>
            </a:r>
            <a:r>
              <a:rPr lang="en-US">
                <a:effectLst/>
              </a:rPr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unsubscribe</a:t>
            </a:r>
            <a:r>
              <a:rPr lang="en-US">
                <a:effectLst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3764993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8971-4F44-64C9-F90F-D05555003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6250"/>
          </a:xfrm>
        </p:spPr>
        <p:txBody>
          <a:bodyPr>
            <a:normAutofit fontScale="90000"/>
          </a:bodyPr>
          <a:lstStyle/>
          <a:p>
            <a:r>
              <a:rPr lang="en-US" b="1"/>
              <a:t>Uploading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786D0-6974-AED6-FB0C-6F9234604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71499"/>
            <a:ext cx="11601450" cy="6067425"/>
          </a:xfrm>
        </p:spPr>
        <p:txBody>
          <a:bodyPr/>
          <a:lstStyle/>
          <a:p>
            <a:r>
              <a:rPr lang="en-US" b="1"/>
              <a:t>At service</a:t>
            </a:r>
          </a:p>
          <a:p>
            <a:pPr lvl="1"/>
            <a:r>
              <a:rPr lang="en-US">
                <a:effectLst/>
              </a:rPr>
              <a:t> const </a:t>
            </a:r>
            <a:r>
              <a:rPr lang="en-US" b="1">
                <a:solidFill>
                  <a:srgbClr val="00B0F0"/>
                </a:solidFill>
                <a:effectLst/>
              </a:rPr>
              <a:t>formData</a:t>
            </a:r>
            <a:r>
              <a:rPr lang="en-US">
                <a:effectLst/>
              </a:rPr>
              <a:t> = new </a:t>
            </a:r>
            <a:r>
              <a:rPr lang="en-US" b="1">
                <a:solidFill>
                  <a:srgbClr val="FFFF00"/>
                </a:solidFill>
                <a:effectLst/>
              </a:rPr>
              <a:t>FormData()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>
                <a:effectLst/>
              </a:rPr>
              <a:t>formData.</a:t>
            </a:r>
            <a:r>
              <a:rPr lang="en-US" b="1">
                <a:solidFill>
                  <a:srgbClr val="FFFF00"/>
                </a:solidFill>
                <a:effectLst/>
              </a:rPr>
              <a:t>append</a:t>
            </a:r>
            <a:r>
              <a:rPr lang="en-US">
                <a:effectLst/>
              </a:rPr>
              <a:t>("Image", </a:t>
            </a:r>
            <a:r>
              <a:rPr lang="en-US" b="1">
                <a:solidFill>
                  <a:srgbClr val="FFFF00"/>
                </a:solidFill>
                <a:effectLst/>
              </a:rPr>
              <a:t>productDTO</a:t>
            </a:r>
            <a:r>
              <a:rPr lang="en-US">
                <a:effectLst/>
              </a:rPr>
              <a:t>.Image as </a:t>
            </a:r>
            <a:r>
              <a:rPr lang="en-US" b="1">
                <a:solidFill>
                  <a:srgbClr val="92D050"/>
                </a:solidFill>
                <a:effectLst/>
              </a:rPr>
              <a:t>File</a:t>
            </a:r>
            <a:r>
              <a:rPr lang="en-US">
                <a:effectLst/>
              </a:rPr>
              <a:t>);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81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15B46-34F3-1065-FF9E-E4290DFC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FCBF-612E-6C21-E7A7-6ADCE6A7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382512475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AEC-0EFE-A3C1-B982-F0A40451E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&lt;mat-divider&gt;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C5A86-3E9B-A5CC-49E8-49BB71F6F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633047"/>
            <a:ext cx="11736475" cy="6129494"/>
          </a:xfrm>
        </p:spPr>
        <p:txBody>
          <a:bodyPr/>
          <a:lstStyle/>
          <a:p>
            <a:r>
              <a:rPr lang="en-US">
                <a:effectLst/>
              </a:rPr>
              <a:t>create a horizontal or vertical line styled with a Material theme</a:t>
            </a:r>
          </a:p>
          <a:p>
            <a:endParaRPr lang="en-US">
              <a:effectLst/>
            </a:endParaRPr>
          </a:p>
          <a:p>
            <a:r>
              <a:rPr lang="en-US" sz="1800" b="1">
                <a:effectLst/>
              </a:rPr>
              <a:t> &lt;mat-divider&gt;&lt;/mat-divider&gt;   // horizontal</a:t>
            </a:r>
            <a:endParaRPr lang="ar-EG" sz="1800" b="1">
              <a:effectLst/>
            </a:endParaRPr>
          </a:p>
          <a:p>
            <a:r>
              <a:rPr lang="en-US" sz="1800" b="1">
                <a:effectLst/>
              </a:rPr>
              <a:t>&lt;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 [vertical]="true"&gt;&lt;/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&gt;</a:t>
            </a:r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309407146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DE403-0C1D-E280-07E7-84EDF9AC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1844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Localization</a:t>
            </a:r>
          </a:p>
        </p:txBody>
      </p:sp>
    </p:spTree>
    <p:extLst>
      <p:ext uri="{BB962C8B-B14F-4D97-AF65-F5344CB8AC3E}">
        <p14:creationId xmlns:p14="http://schemas.microsoft.com/office/powerpoint/2010/main" val="397900069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71352-8B4F-82B1-BD5E-51061C21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2804"/>
          </a:xfrm>
        </p:spPr>
        <p:txBody>
          <a:bodyPr>
            <a:normAutofit fontScale="90000"/>
          </a:bodyPr>
          <a:lstStyle/>
          <a:p>
            <a:r>
              <a:rPr lang="en-US"/>
              <a:t>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C0FAE-2D0B-57FF-F845-0AAF6D487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82805"/>
            <a:ext cx="10353762" cy="5208396"/>
          </a:xfrm>
        </p:spPr>
        <p:txBody>
          <a:bodyPr/>
          <a:lstStyle/>
          <a:p>
            <a:r>
              <a:rPr lang="en-US"/>
              <a:t>npm install @ngx-translate/core @ngx-translate/http-loader</a:t>
            </a:r>
          </a:p>
          <a:p>
            <a:r>
              <a:rPr lang="en-US"/>
              <a:t>At app.config.ts , </a:t>
            </a:r>
            <a:r>
              <a:rPr lang="en-US" b="1"/>
              <a:t>provider</a:t>
            </a:r>
          </a:p>
          <a:p>
            <a:pPr lvl="1"/>
            <a:r>
              <a:rPr lang="en-US" b="1">
                <a:effectLst/>
              </a:rPr>
              <a:t>provideTranslateHttpLoader({ prefix: './assets/Localization/', suffix: '.json' }),</a:t>
            </a:r>
          </a:p>
          <a:p>
            <a:pPr lvl="1"/>
            <a:r>
              <a:rPr lang="en-US" sz="1600" b="1">
                <a:effectLst/>
              </a:rPr>
              <a:t>provideTranslateService({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defaultLanguage</a:t>
            </a:r>
            <a:r>
              <a:rPr lang="en-US" b="1">
                <a:effectLst/>
              </a:rPr>
              <a:t>: 'ar’,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loader</a:t>
            </a:r>
            <a:r>
              <a:rPr lang="en-US" b="1">
                <a:effectLst/>
              </a:rPr>
              <a:t>: {  provide: </a:t>
            </a:r>
            <a:r>
              <a:rPr lang="en-US" b="1">
                <a:solidFill>
                  <a:srgbClr val="FFFF00"/>
                </a:solidFill>
                <a:effectLst/>
              </a:rPr>
              <a:t>TranslateLoader</a:t>
            </a:r>
            <a:r>
              <a:rPr lang="en-US" b="1">
                <a:effectLst/>
              </a:rPr>
              <a:t> 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 b="1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TranslateHttpLoader</a:t>
            </a:r>
            <a:r>
              <a:rPr lang="en-US" b="1">
                <a:effectLst/>
              </a:rPr>
              <a:t> }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})</a:t>
            </a:r>
          </a:p>
          <a:p>
            <a:pPr lvl="1"/>
            <a:endParaRPr lang="en-US"/>
          </a:p>
          <a:p>
            <a:r>
              <a:rPr lang="en-US"/>
              <a:t>npm install @ngx-translate/core @ngx-translate/http-loader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0679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56245-A428-C239-B19C-583684394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B0D9-6497-D7C5-3874-1849D510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70076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Localization</a:t>
            </a:r>
          </a:p>
        </p:txBody>
      </p:sp>
    </p:spTree>
    <p:extLst>
      <p:ext uri="{BB962C8B-B14F-4D97-AF65-F5344CB8AC3E}">
        <p14:creationId xmlns:p14="http://schemas.microsoft.com/office/powerpoint/2010/main" val="86772094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78081</TotalTime>
  <Words>3810</Words>
  <Application>Microsoft Office PowerPoint</Application>
  <PresentationFormat>Widescreen</PresentationFormat>
  <Paragraphs>600</Paragraphs>
  <Slides>97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00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Start Observable</vt:lpstr>
      <vt:lpstr>Observable</vt:lpstr>
      <vt:lpstr>Observer</vt:lpstr>
      <vt:lpstr>Subscriber</vt:lpstr>
      <vt:lpstr>Observable example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Plain Subject</vt:lpstr>
      <vt:lpstr>End Observable</vt:lpstr>
      <vt:lpstr>visible$ | async</vt:lpstr>
      <vt:lpstr>Creating side bar</vt:lpstr>
      <vt:lpstr>Creating new component</vt:lpstr>
      <vt:lpstr>Start Bootstrap</vt:lpstr>
      <vt:lpstr>Adding bootstrap &amp; Bootstrap icon</vt:lpstr>
      <vt:lpstr>Start Bootstrap</vt:lpstr>
      <vt:lpstr>Addin CSS file globally</vt:lpstr>
      <vt:lpstr>Create main layout </vt:lpstr>
      <vt:lpstr>Create main layout  (cont.)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Start Sweat Alert</vt:lpstr>
      <vt:lpstr>End Sweat Alert</vt:lpstr>
      <vt:lpstr>HTTP Client </vt:lpstr>
      <vt:lpstr>Start Angular DT</vt:lpstr>
      <vt:lpstr>New Types </vt:lpstr>
      <vt:lpstr>AsyncValidatorFn &amp; ValidatorFn &amp; ValidationErrors</vt:lpstr>
      <vt:lpstr>Type</vt:lpstr>
      <vt:lpstr>EventEmitter</vt:lpstr>
      <vt:lpstr>HttpRequest</vt:lpstr>
      <vt:lpstr>HttpHeaders</vt:lpstr>
      <vt:lpstr>HttpParams</vt:lpstr>
      <vt:lpstr>HttpParams [ CONT.]</vt:lpstr>
      <vt:lpstr>ng-container</vt:lpstr>
      <vt:lpstr>ng-template</vt:lpstr>
      <vt:lpstr>ng-template</vt:lpstr>
      <vt:lpstr>ng-template [cont.2]</vt:lpstr>
      <vt:lpstr>End Angular DT</vt:lpstr>
      <vt:lpstr>Start new variable</vt:lpstr>
      <vt:lpstr>New Variables</vt:lpstr>
      <vt:lpstr>End new variable</vt:lpstr>
      <vt:lpstr>Start Download &amp; Upload</vt:lpstr>
      <vt:lpstr>Download code</vt:lpstr>
      <vt:lpstr>Uploading </vt:lpstr>
      <vt:lpstr>End Download &amp; Upload</vt:lpstr>
      <vt:lpstr>Modal</vt:lpstr>
      <vt:lpstr>Modal [cont.]</vt:lpstr>
      <vt:lpstr>Start Angular Material </vt:lpstr>
      <vt:lpstr>Installation</vt:lpstr>
      <vt:lpstr>mat-paginator</vt:lpstr>
      <vt:lpstr>&lt;mat-divider&gt;</vt:lpstr>
      <vt:lpstr>End Angular Material </vt:lpstr>
      <vt:lpstr>Febric.js</vt:lpstr>
      <vt:lpstr>Layout [cont.]</vt:lpstr>
      <vt:lpstr>Start Localization</vt:lpstr>
      <vt:lpstr>localization</vt:lpstr>
      <vt:lpstr>End Localization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 Mohamed Samir</cp:lastModifiedBy>
  <cp:revision>612</cp:revision>
  <dcterms:created xsi:type="dcterms:W3CDTF">2026-01-29T20:04:39Z</dcterms:created>
  <dcterms:modified xsi:type="dcterms:W3CDTF">2026-06-04T10:31:36Z</dcterms:modified>
</cp:coreProperties>
</file>