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59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264" r:id="rId13"/>
    <p:sldId id="270" r:id="rId14"/>
    <p:sldId id="271" r:id="rId15"/>
    <p:sldId id="272" r:id="rId16"/>
    <p:sldId id="273" r:id="rId17"/>
    <p:sldId id="274" r:id="rId18"/>
    <p:sldId id="276" r:id="rId19"/>
    <p:sldId id="275" r:id="rId20"/>
    <p:sldId id="277" r:id="rId21"/>
    <p:sldId id="269" r:id="rId22"/>
    <p:sldId id="278" r:id="rId23"/>
    <p:sldId id="279" r:id="rId24"/>
    <p:sldId id="280" r:id="rId25"/>
    <p:sldId id="268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7" d="100"/>
          <a:sy n="77" d="100"/>
        </p:scale>
        <p:origin x="88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 dirty="0"/>
              <a:t>ng new projectName // it will cerate new folder with name projectName</a:t>
            </a:r>
          </a:p>
          <a:p>
            <a:pPr lvl="1"/>
            <a:r>
              <a:rPr lang="en-US" b="1" dirty="0"/>
              <a:t>which </a:t>
            </a:r>
            <a:r>
              <a:rPr lang="en-US" b="1" dirty="0">
                <a:solidFill>
                  <a:srgbClr val="FFFF00"/>
                </a:solidFill>
              </a:rPr>
              <a:t>stylesheet</a:t>
            </a:r>
            <a:r>
              <a:rPr lang="en-US" b="1" dirty="0"/>
              <a:t> format would you like to use ---- choose css</a:t>
            </a:r>
          </a:p>
          <a:p>
            <a:pPr lvl="1"/>
            <a:r>
              <a:rPr lang="en-US" b="1" dirty="0"/>
              <a:t>do you want to enable server-side rendering     ---- choose NO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7D4E-E9DF-520F-77A7-2C837037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756C4-12AC-68A7-C575-F9674002C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633047"/>
            <a:ext cx="11957538" cy="5958672"/>
          </a:xfrm>
        </p:spPr>
        <p:txBody>
          <a:bodyPr/>
          <a:lstStyle/>
          <a:p>
            <a:r>
              <a:rPr lang="en-US" sz="2800" dirty="0" err="1">
                <a:solidFill>
                  <a:srgbClr val="FF0000"/>
                </a:solidFill>
              </a:rPr>
              <a:t>src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app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Components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DTOs folder</a:t>
            </a:r>
          </a:p>
          <a:p>
            <a:pPr lvl="2"/>
            <a:r>
              <a:rPr lang="en-US" sz="1800" b="1" dirty="0" err="1">
                <a:solidFill>
                  <a:srgbClr val="FFFF00"/>
                </a:solidFill>
              </a:rPr>
              <a:t>app.route.ts</a:t>
            </a:r>
            <a:endParaRPr lang="en-US" sz="1800" b="1" dirty="0">
              <a:solidFill>
                <a:srgbClr val="FFFF00"/>
              </a:solidFill>
            </a:endParaRPr>
          </a:p>
          <a:p>
            <a:pPr lvl="1"/>
            <a:r>
              <a:rPr lang="en-US" b="1" dirty="0">
                <a:solidFill>
                  <a:srgbClr val="FFFF00"/>
                </a:solidFill>
              </a:rPr>
              <a:t>assets folder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css folder</a:t>
            </a:r>
          </a:p>
          <a:p>
            <a:pPr lvl="1"/>
            <a:r>
              <a:rPr lang="en-US" b="1" dirty="0"/>
              <a:t>index.html</a:t>
            </a:r>
          </a:p>
          <a:p>
            <a:pPr lvl="1"/>
            <a:r>
              <a:rPr lang="en-US" b="1" dirty="0" err="1">
                <a:solidFill>
                  <a:schemeClr val="accent5">
                    <a:lumMod val="40000"/>
                    <a:lumOff val="60000"/>
                  </a:schemeClr>
                </a:solidFill>
              </a:rPr>
              <a:t>main.ts</a:t>
            </a:r>
            <a:endParaRPr lang="en-US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style.css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09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Routes [</a:t>
            </a:r>
            <a:r>
              <a:rPr lang="en-US" b="1" dirty="0" err="1">
                <a:solidFill>
                  <a:srgbClr val="FF0000"/>
                </a:solidFill>
              </a:rPr>
              <a:t>app.route.ts</a:t>
            </a:r>
            <a:r>
              <a:rPr lang="en-US" b="1" dirty="0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 dirty="0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</a:t>
            </a:r>
            <a:r>
              <a:rPr lang="en-US" b="1" dirty="0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routerLinkActiveOptions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dirty="0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 dirty="0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Binding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 dirty="0"/>
              <a:t>Interpolation</a:t>
            </a:r>
          </a:p>
          <a:p>
            <a:r>
              <a:rPr lang="en-US" b="1" dirty="0"/>
              <a:t>attribute (property) binding</a:t>
            </a:r>
          </a:p>
          <a:p>
            <a:r>
              <a:rPr lang="en-US" b="1" dirty="0"/>
              <a:t>class binding</a:t>
            </a:r>
          </a:p>
          <a:p>
            <a:r>
              <a:rPr lang="en-US" b="1" dirty="0"/>
              <a:t>style binding</a:t>
            </a:r>
          </a:p>
          <a:p>
            <a:r>
              <a:rPr lang="en-US" b="1" dirty="0"/>
              <a:t>Event Binding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dirty="0"/>
              <a:t>it is used to handle (manage) asynchronous operations</a:t>
            </a:r>
          </a:p>
          <a:p>
            <a:r>
              <a:rPr lang="en-US" dirty="0"/>
              <a:t>Emits multiple values over time (better for data streaming) (data producer)</a:t>
            </a:r>
          </a:p>
          <a:p>
            <a:r>
              <a:rPr lang="en-US" dirty="0"/>
              <a:t>Lazy (executed when subscribed).</a:t>
            </a:r>
          </a:p>
          <a:p>
            <a:r>
              <a:rPr lang="en-US" dirty="0"/>
              <a:t>Can be canceled (by unsubscribing).</a:t>
            </a:r>
          </a:p>
          <a:p>
            <a:r>
              <a:rPr lang="en-US" dirty="0"/>
              <a:t>Included in ReactiveX Library</a:t>
            </a:r>
          </a:p>
          <a:p>
            <a:r>
              <a:rPr lang="en-US" dirty="0">
                <a:effectLst/>
              </a:rPr>
              <a:t>A stream of data or events (like news) that can be sent over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156" y="599769"/>
            <a:ext cx="11759380" cy="6105832"/>
          </a:xfrm>
        </p:spPr>
        <p:txBody>
          <a:bodyPr/>
          <a:lstStyle/>
          <a:p>
            <a:r>
              <a:rPr lang="en-US" dirty="0">
                <a:effectLst/>
              </a:rPr>
              <a:t>It is an object (or a set of callbacks) that defines </a:t>
            </a:r>
            <a:r>
              <a:rPr lang="en-US" i="1" dirty="0">
                <a:effectLst/>
              </a:rPr>
              <a:t>how</a:t>
            </a:r>
            <a:r>
              <a:rPr lang="en-US" dirty="0">
                <a:effectLst/>
              </a:rPr>
              <a:t> to handle the data coming from the Observable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r>
              <a:rPr lang="en-US"/>
              <a:t>The </a:t>
            </a:r>
            <a:r>
              <a:rPr lang="en-US" dirty="0"/>
              <a:t>object passed inside the </a:t>
            </a:r>
            <a:r>
              <a:rPr lang="en-US" b="1" dirty="0">
                <a:solidFill>
                  <a:srgbClr val="FFFF00"/>
                </a:solidFill>
              </a:rPr>
              <a:t>.subscribe()</a:t>
            </a:r>
            <a:r>
              <a:rPr lang="en-US" dirty="0"/>
              <a:t> method is </a:t>
            </a:r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995180"/>
            <a:ext cx="4176416" cy="19269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8F0157-5E2D-F2CD-B55F-8D421DA4F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463" y="3830210"/>
            <a:ext cx="4346927" cy="2486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 dirty="0">
                <a:effectLst/>
              </a:rPr>
              <a:t>acts as the middleman: It takes value from the Observable and hands it to the Observer's next() method</a:t>
            </a:r>
            <a:endParaRPr lang="en-US" dirty="0"/>
          </a:p>
          <a:p>
            <a:r>
              <a:rPr lang="en-US" dirty="0"/>
              <a:t>The </a:t>
            </a:r>
            <a:r>
              <a:rPr lang="en-US" b="1" dirty="0">
                <a:solidFill>
                  <a:srgbClr val="FFFF00"/>
                </a:solidFill>
              </a:rPr>
              <a:t>subscriber</a:t>
            </a:r>
            <a:r>
              <a:rPr lang="en-US" dirty="0"/>
              <a:t> parameter inside the new </a:t>
            </a:r>
            <a:r>
              <a:rPr lang="en-US" b="1" dirty="0">
                <a:solidFill>
                  <a:srgbClr val="FFFF00"/>
                </a:solidFill>
              </a:rPr>
              <a:t>Observable constructor</a:t>
            </a:r>
            <a:r>
              <a:rPr lang="en-US" dirty="0"/>
              <a:t> </a:t>
            </a:r>
            <a:r>
              <a:rPr lang="en-US"/>
              <a:t>is the </a:t>
            </a:r>
            <a:r>
              <a:rPr lang="en-US" b="1">
                <a:solidFill>
                  <a:srgbClr val="00B050"/>
                </a:solidFill>
              </a:rPr>
              <a:t>Subscriber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 dirty="0"/>
              <a:t>ng g c </a:t>
            </a:r>
            <a:r>
              <a:rPr lang="en-US" dirty="0" err="1"/>
              <a:t>componentName</a:t>
            </a:r>
            <a:r>
              <a:rPr lang="en-US" dirty="0"/>
              <a:t> --skip-tests</a:t>
            </a:r>
          </a:p>
          <a:p>
            <a:r>
              <a:rPr lang="en-US" b="1" dirty="0">
                <a:solidFill>
                  <a:srgbClr val="FF0000"/>
                </a:solidFill>
              </a:rPr>
              <a:t>ng</a:t>
            </a:r>
            <a:r>
              <a:rPr lang="en-US" dirty="0"/>
              <a:t> g c project-details </a:t>
            </a:r>
            <a:r>
              <a:rPr lang="en-US" b="1" dirty="0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 dirty="0"/>
              <a:t>project-details folder will be created and includes</a:t>
            </a:r>
          </a:p>
          <a:p>
            <a:pPr lvl="2"/>
            <a:r>
              <a:rPr lang="en-US" sz="1800" dirty="0" err="1"/>
              <a:t>ProjectDetails.component.ts</a:t>
            </a:r>
            <a:endParaRPr lang="en-US" sz="1800" dirty="0"/>
          </a:p>
          <a:p>
            <a:pPr lvl="2"/>
            <a:r>
              <a:rPr lang="en-US" sz="1800" dirty="0"/>
              <a:t>ProjectDetails.Component.html</a:t>
            </a:r>
          </a:p>
          <a:p>
            <a:pPr lvl="2"/>
            <a:r>
              <a:rPr lang="en-US" sz="1800" dirty="0"/>
              <a:t>ProjectDetails.Component.css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 dirty="0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 dirty="0"/>
              <a:t>ng g c </a:t>
            </a:r>
            <a:r>
              <a:rPr lang="en-US" dirty="0" err="1"/>
              <a:t>SideBar</a:t>
            </a:r>
            <a:r>
              <a:rPr lang="en-US" dirty="0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296" y="737419"/>
            <a:ext cx="11472517" cy="5456904"/>
          </a:xfrm>
        </p:spPr>
        <p:txBody>
          <a:bodyPr>
            <a:normAutofit/>
          </a:bodyPr>
          <a:lstStyle/>
          <a:p>
            <a:r>
              <a:rPr lang="en-US" sz="1800" b="1" dirty="0">
                <a:solidFill>
                  <a:srgbClr val="FFFF00"/>
                </a:solidFill>
              </a:rPr>
              <a:t>ng</a:t>
            </a:r>
            <a:r>
              <a:rPr lang="en-US" sz="1800" dirty="0"/>
              <a:t> </a:t>
            </a:r>
            <a:r>
              <a:rPr lang="en-US" sz="1800" b="1" dirty="0">
                <a:solidFill>
                  <a:srgbClr val="00B0F0"/>
                </a:solidFill>
              </a:rPr>
              <a:t>add</a:t>
            </a:r>
            <a:r>
              <a:rPr lang="en-US" sz="1800" dirty="0"/>
              <a:t> </a:t>
            </a:r>
            <a:r>
              <a:rPr lang="en-US" sz="1800" b="1" dirty="0">
                <a:solidFill>
                  <a:srgbClr val="00B050"/>
                </a:solidFill>
              </a:rPr>
              <a:t>@ng-bootstrap/ng-bootstrap</a:t>
            </a:r>
            <a:r>
              <a:rPr lang="en-US" sz="1800" dirty="0"/>
              <a:t>  //</a:t>
            </a:r>
            <a:r>
              <a:rPr lang="en-US" sz="1800" b="1" dirty="0"/>
              <a:t>recommended, to use the component that need the JS code</a:t>
            </a:r>
          </a:p>
          <a:p>
            <a:r>
              <a:rPr lang="en-US" sz="1800" b="1" dirty="0" err="1">
                <a:solidFill>
                  <a:srgbClr val="FFFF00"/>
                </a:solidFill>
              </a:rPr>
              <a:t>npm</a:t>
            </a:r>
            <a:r>
              <a:rPr lang="en-US" sz="1800" b="1" dirty="0"/>
              <a:t> </a:t>
            </a:r>
            <a:r>
              <a:rPr lang="en-US" sz="1800" b="1" dirty="0" err="1"/>
              <a:t>i</a:t>
            </a:r>
            <a:r>
              <a:rPr lang="en-US" sz="1800" b="1" dirty="0"/>
              <a:t> @ng-bootstrap/ng-bootstrap  // like the above</a:t>
            </a:r>
          </a:p>
          <a:p>
            <a:r>
              <a:rPr lang="en-US" sz="1800" b="1" dirty="0"/>
              <a:t>at </a:t>
            </a:r>
            <a:r>
              <a:rPr lang="en-US" sz="1800" b="1" dirty="0" err="1"/>
              <a:t>angular.json</a:t>
            </a:r>
            <a:r>
              <a:rPr lang="en-US" sz="1800" b="1" dirty="0"/>
              <a:t> / at architect object / build object / options object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styles array</a:t>
            </a:r>
            <a:r>
              <a:rPr lang="en-US" b="1" dirty="0"/>
              <a:t>    -- "</a:t>
            </a:r>
            <a:r>
              <a:rPr lang="en-US" b="1" dirty="0" err="1"/>
              <a:t>node_modules</a:t>
            </a:r>
            <a:r>
              <a:rPr lang="en-US" b="1" dirty="0"/>
              <a:t>/bootstrap/</a:t>
            </a:r>
            <a:r>
              <a:rPr lang="en-US" b="1" dirty="0" err="1"/>
              <a:t>dist</a:t>
            </a:r>
            <a:r>
              <a:rPr lang="en-US" b="1" dirty="0"/>
              <a:t>/</a:t>
            </a:r>
            <a:r>
              <a:rPr lang="en-US" b="1" dirty="0" err="1"/>
              <a:t>css</a:t>
            </a:r>
            <a:r>
              <a:rPr lang="en-US" b="1" dirty="0"/>
              <a:t>/bootstrap.min.css",        // bootstrap CSS file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scripts array</a:t>
            </a:r>
            <a:r>
              <a:rPr lang="en-US" b="1" dirty="0"/>
              <a:t>  -- "</a:t>
            </a:r>
            <a:r>
              <a:rPr lang="en-US" b="1" dirty="0" err="1"/>
              <a:t>node_modules</a:t>
            </a:r>
            <a:r>
              <a:rPr lang="en-US" b="1" dirty="0"/>
              <a:t>/bootstrap/</a:t>
            </a:r>
            <a:r>
              <a:rPr lang="en-US" b="1" dirty="0" err="1"/>
              <a:t>dist</a:t>
            </a:r>
            <a:r>
              <a:rPr lang="en-US" b="1" dirty="0"/>
              <a:t>/</a:t>
            </a:r>
            <a:r>
              <a:rPr lang="en-US" b="1" dirty="0" err="1"/>
              <a:t>js</a:t>
            </a:r>
            <a:r>
              <a:rPr lang="en-US" b="1" dirty="0"/>
              <a:t>/bootstrap.bundle.min.js"  // bootstrap JS file</a:t>
            </a:r>
          </a:p>
          <a:p>
            <a:r>
              <a:rPr lang="en-US" sz="1800" b="1" dirty="0"/>
              <a:t>For angular 17 , ng-bootstrap 16</a:t>
            </a:r>
            <a:r>
              <a:rPr lang="en-US" sz="1800" dirty="0"/>
              <a:t> → Stable</a:t>
            </a:r>
          </a:p>
          <a:p>
            <a:pPr lvl="1"/>
            <a:r>
              <a:rPr lang="en-US" b="1" dirty="0" err="1">
                <a:solidFill>
                  <a:srgbClr val="FFFF00"/>
                </a:solidFill>
              </a:rPr>
              <a:t>npm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@ng-bootstrap/ng-bootstrap</a:t>
            </a:r>
          </a:p>
          <a:p>
            <a:r>
              <a:rPr lang="en-US" sz="1800" b="1" dirty="0" err="1">
                <a:solidFill>
                  <a:srgbClr val="FFFF00"/>
                </a:solidFill>
              </a:rPr>
              <a:t>npm</a:t>
            </a:r>
            <a:r>
              <a:rPr lang="en-US" sz="1800" b="1" dirty="0"/>
              <a:t> </a:t>
            </a:r>
            <a:r>
              <a:rPr lang="en-US" sz="1800" b="1" dirty="0" err="1"/>
              <a:t>i</a:t>
            </a:r>
            <a:r>
              <a:rPr lang="en-US" sz="1800" b="1" dirty="0"/>
              <a:t> </a:t>
            </a:r>
            <a:r>
              <a:rPr lang="en-US" sz="1800" b="1" dirty="0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style array</a:t>
            </a:r>
            <a:r>
              <a:rPr lang="en-US" b="1" dirty="0"/>
              <a:t> "</a:t>
            </a:r>
            <a:r>
              <a:rPr lang="en-US" b="1" dirty="0" err="1"/>
              <a:t>node_modules</a:t>
            </a:r>
            <a:r>
              <a:rPr lang="en-US" b="1" dirty="0"/>
              <a:t>/bootstrap-icons/font/bootstrap-icons.min.css"</a:t>
            </a:r>
          </a:p>
          <a:p>
            <a:pPr lvl="1"/>
            <a:endParaRPr lang="en-US" sz="1600" b="1" dirty="0"/>
          </a:p>
          <a:p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 dirty="0"/>
              <a:t>at </a:t>
            </a:r>
            <a:r>
              <a:rPr lang="en-US" dirty="0" err="1"/>
              <a:t>src</a:t>
            </a:r>
            <a:r>
              <a:rPr lang="en-US" dirty="0"/>
              <a:t> folder / </a:t>
            </a:r>
            <a:r>
              <a:rPr lang="en-US" dirty="0" err="1"/>
              <a:t>css</a:t>
            </a:r>
            <a:r>
              <a:rPr lang="en-US" dirty="0"/>
              <a:t> folder / css-extensions.css</a:t>
            </a:r>
          </a:p>
          <a:p>
            <a:r>
              <a:rPr lang="en-US" b="1" dirty="0"/>
              <a:t>at </a:t>
            </a:r>
            <a:r>
              <a:rPr lang="en-US" b="1" dirty="0" err="1"/>
              <a:t>angular.json</a:t>
            </a:r>
            <a:r>
              <a:rPr lang="en-US" b="1" dirty="0"/>
              <a:t> / at architect object / build object / options object</a:t>
            </a:r>
            <a:endParaRPr lang="en-US" dirty="0"/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styles array</a:t>
            </a:r>
            <a:r>
              <a:rPr lang="en-US" b="1" dirty="0"/>
              <a:t>    --- </a:t>
            </a:r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</a:t>
            </a:r>
            <a:r>
              <a:rPr lang="en-US" dirty="0" err="1">
                <a:effectLst/>
              </a:rPr>
              <a:t>css</a:t>
            </a:r>
            <a:r>
              <a:rPr lang="en-US" dirty="0">
                <a:effectLst/>
              </a:rPr>
              <a:t>/css-extension.css"</a:t>
            </a:r>
          </a:p>
          <a:p>
            <a:r>
              <a:rPr lang="en-US" dirty="0"/>
              <a:t>Adding styles via </a:t>
            </a:r>
            <a:r>
              <a:rPr lang="en-US" b="1" dirty="0" err="1">
                <a:effectLst/>
              </a:rPr>
              <a:t>angular.json</a:t>
            </a:r>
            <a:r>
              <a:rPr lang="en-US" dirty="0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 dirty="0">
                <a:effectLst/>
              </a:rPr>
              <a:t>Why angular.json is usually faster</a:t>
            </a:r>
          </a:p>
          <a:p>
            <a:pPr lvl="1"/>
            <a:r>
              <a:rPr lang="en-US" b="1" dirty="0">
                <a:effectLst/>
              </a:rPr>
              <a:t>Reduced HTTP Requests</a:t>
            </a:r>
            <a:r>
              <a:rPr lang="en-US" dirty="0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 dirty="0">
              <a:effectLst/>
            </a:endParaRPr>
          </a:p>
          <a:p>
            <a:endParaRPr lang="en-US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 dirty="0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 dirty="0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 dirty="0"/>
              <a:t>This layout has layout </a:t>
            </a:r>
            <a:r>
              <a:rPr lang="en-US" sz="2400" b="1" dirty="0">
                <a:solidFill>
                  <a:srgbClr val="FFFF00"/>
                </a:solidFill>
              </a:rPr>
              <a:t>header and sidebar </a:t>
            </a:r>
            <a:r>
              <a:rPr lang="en-US" dirty="0"/>
              <a:t>(</a:t>
            </a:r>
            <a:r>
              <a:rPr lang="en-US" dirty="0" err="1"/>
              <a:t>offcanvas</a:t>
            </a:r>
            <a:r>
              <a:rPr lang="en-US" dirty="0"/>
              <a:t> sidebar)</a:t>
            </a:r>
          </a:p>
          <a:p>
            <a:r>
              <a:rPr lang="en-US" dirty="0"/>
              <a:t>Create </a:t>
            </a:r>
            <a:r>
              <a:rPr lang="en-US" b="1" dirty="0">
                <a:solidFill>
                  <a:srgbClr val="FF0000"/>
                </a:solidFill>
              </a:rPr>
              <a:t>main-layout</a:t>
            </a:r>
            <a:r>
              <a:rPr lang="en-US" dirty="0"/>
              <a:t> components at app/Layouts folder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 dirty="0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 dirty="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 dirty="0"/>
              <a:t>Create sidebar component at components folder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note : Enums in TypeScript are technically objects where :</a:t>
            </a:r>
          </a:p>
          <a:p>
            <a:pPr lvl="1"/>
            <a:r>
              <a:rPr lang="en-US" dirty="0"/>
              <a:t>Keys are strings.</a:t>
            </a:r>
          </a:p>
          <a:p>
            <a:pPr lvl="1"/>
            <a:r>
              <a:rPr lang="en-US" dirty="0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6955</TotalTime>
  <Words>635</Words>
  <Application>Microsoft Office PowerPoint</Application>
  <PresentationFormat>Widescreen</PresentationFormat>
  <Paragraphs>104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Project Structure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Binding</vt:lpstr>
      <vt:lpstr>Observable</vt:lpstr>
      <vt:lpstr>Observer</vt:lpstr>
      <vt:lpstr>Subscriber</vt:lpstr>
      <vt:lpstr>Observable example</vt:lpstr>
      <vt:lpstr>Creating new component</vt:lpstr>
      <vt:lpstr>Creating side bar</vt:lpstr>
      <vt:lpstr>Adding bootstrap &amp; Bootstrap icon</vt:lpstr>
      <vt:lpstr>Addin CSS file globally</vt:lpstr>
      <vt:lpstr>Type Script</vt:lpstr>
      <vt:lpstr>Create main layout </vt:lpstr>
      <vt:lpstr>Create main layout  (cont.)</vt:lpstr>
      <vt:lpstr>Layout [cont.]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IT Department</cp:lastModifiedBy>
  <cp:revision>169</cp:revision>
  <dcterms:created xsi:type="dcterms:W3CDTF">2026-01-29T20:04:39Z</dcterms:created>
  <dcterms:modified xsi:type="dcterms:W3CDTF">2026-03-06T00:24:01Z</dcterms:modified>
</cp:coreProperties>
</file>