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4"/>
  </p:notesMasterIdLst>
  <p:sldIdLst>
    <p:sldId id="256" r:id="rId2"/>
    <p:sldId id="266" r:id="rId3"/>
    <p:sldId id="265" r:id="rId4"/>
    <p:sldId id="400" r:id="rId5"/>
    <p:sldId id="284" r:id="rId6"/>
    <p:sldId id="257" r:id="rId7"/>
    <p:sldId id="258" r:id="rId8"/>
    <p:sldId id="260" r:id="rId9"/>
    <p:sldId id="261" r:id="rId10"/>
    <p:sldId id="262" r:id="rId11"/>
    <p:sldId id="263" r:id="rId12"/>
    <p:sldId id="267" r:id="rId13"/>
    <p:sldId id="408" r:id="rId14"/>
    <p:sldId id="445" r:id="rId15"/>
    <p:sldId id="447" r:id="rId16"/>
    <p:sldId id="449" r:id="rId17"/>
    <p:sldId id="448" r:id="rId18"/>
    <p:sldId id="446" r:id="rId19"/>
    <p:sldId id="409" r:id="rId20"/>
    <p:sldId id="412" r:id="rId21"/>
    <p:sldId id="413" r:id="rId22"/>
    <p:sldId id="410" r:id="rId23"/>
    <p:sldId id="415" r:id="rId24"/>
    <p:sldId id="416" r:id="rId25"/>
    <p:sldId id="418" r:id="rId26"/>
    <p:sldId id="417" r:id="rId27"/>
    <p:sldId id="419" r:id="rId28"/>
    <p:sldId id="420" r:id="rId29"/>
    <p:sldId id="411" r:id="rId30"/>
    <p:sldId id="337" r:id="rId31"/>
    <p:sldId id="264" r:id="rId32"/>
    <p:sldId id="318" r:id="rId33"/>
    <p:sldId id="338" r:id="rId34"/>
    <p:sldId id="421" r:id="rId35"/>
    <p:sldId id="423" r:id="rId36"/>
    <p:sldId id="424" r:id="rId37"/>
    <p:sldId id="422" r:id="rId38"/>
    <p:sldId id="361" r:id="rId39"/>
    <p:sldId id="270" r:id="rId40"/>
    <p:sldId id="271" r:id="rId41"/>
    <p:sldId id="272" r:id="rId42"/>
    <p:sldId id="273" r:id="rId43"/>
    <p:sldId id="403" r:id="rId44"/>
    <p:sldId id="404" r:id="rId45"/>
    <p:sldId id="292" r:id="rId46"/>
    <p:sldId id="295" r:id="rId47"/>
    <p:sldId id="293" r:id="rId48"/>
    <p:sldId id="296" r:id="rId49"/>
    <p:sldId id="298" r:id="rId50"/>
    <p:sldId id="297" r:id="rId51"/>
    <p:sldId id="294" r:id="rId52"/>
    <p:sldId id="300" r:id="rId53"/>
    <p:sldId id="301" r:id="rId54"/>
    <p:sldId id="304" r:id="rId55"/>
    <p:sldId id="305" r:id="rId56"/>
    <p:sldId id="306" r:id="rId57"/>
    <p:sldId id="303" r:id="rId58"/>
    <p:sldId id="302" r:id="rId59"/>
    <p:sldId id="401" r:id="rId60"/>
    <p:sldId id="402" r:id="rId61"/>
    <p:sldId id="405" r:id="rId62"/>
    <p:sldId id="407" r:id="rId63"/>
    <p:sldId id="406" r:id="rId64"/>
    <p:sldId id="427" r:id="rId65"/>
    <p:sldId id="428" r:id="rId66"/>
    <p:sldId id="429" r:id="rId67"/>
    <p:sldId id="431" r:id="rId68"/>
    <p:sldId id="433" r:id="rId69"/>
    <p:sldId id="432" r:id="rId70"/>
    <p:sldId id="444" r:id="rId71"/>
    <p:sldId id="362" r:id="rId72"/>
    <p:sldId id="437" r:id="rId73"/>
    <p:sldId id="439" r:id="rId74"/>
    <p:sldId id="435" r:id="rId75"/>
    <p:sldId id="438" r:id="rId76"/>
    <p:sldId id="363" r:id="rId77"/>
    <p:sldId id="276" r:id="rId78"/>
    <p:sldId id="274" r:id="rId79"/>
    <p:sldId id="340" r:id="rId80"/>
    <p:sldId id="275" r:id="rId81"/>
    <p:sldId id="339" r:id="rId82"/>
    <p:sldId id="366" r:id="rId83"/>
    <p:sldId id="367" r:id="rId84"/>
    <p:sldId id="277" r:id="rId85"/>
    <p:sldId id="368" r:id="rId86"/>
    <p:sldId id="383" r:id="rId87"/>
    <p:sldId id="387" r:id="rId88"/>
    <p:sldId id="388" r:id="rId89"/>
    <p:sldId id="389" r:id="rId90"/>
    <p:sldId id="390" r:id="rId91"/>
    <p:sldId id="391" r:id="rId92"/>
    <p:sldId id="278" r:id="rId93"/>
    <p:sldId id="279" r:id="rId94"/>
    <p:sldId id="386" r:id="rId95"/>
    <p:sldId id="299" r:id="rId96"/>
    <p:sldId id="308" r:id="rId97"/>
    <p:sldId id="307" r:id="rId98"/>
    <p:sldId id="315" r:id="rId99"/>
    <p:sldId id="319" r:id="rId100"/>
    <p:sldId id="321" r:id="rId101"/>
    <p:sldId id="320" r:id="rId102"/>
    <p:sldId id="425" r:id="rId103"/>
    <p:sldId id="323" r:id="rId104"/>
    <p:sldId id="329" r:id="rId105"/>
    <p:sldId id="310" r:id="rId106"/>
    <p:sldId id="351" r:id="rId107"/>
    <p:sldId id="350" r:id="rId108"/>
    <p:sldId id="311" r:id="rId109"/>
    <p:sldId id="396" r:id="rId110"/>
    <p:sldId id="398" r:id="rId111"/>
    <p:sldId id="397" r:id="rId112"/>
    <p:sldId id="314" r:id="rId113"/>
    <p:sldId id="328" r:id="rId114"/>
    <p:sldId id="342" r:id="rId115"/>
    <p:sldId id="346" r:id="rId116"/>
    <p:sldId id="353" r:id="rId117"/>
    <p:sldId id="354" r:id="rId118"/>
    <p:sldId id="355" r:id="rId119"/>
    <p:sldId id="356" r:id="rId120"/>
    <p:sldId id="369" r:id="rId121"/>
    <p:sldId id="372" r:id="rId122"/>
    <p:sldId id="330" r:id="rId123"/>
    <p:sldId id="326" r:id="rId124"/>
    <p:sldId id="333" r:id="rId125"/>
    <p:sldId id="334" r:id="rId126"/>
    <p:sldId id="327" r:id="rId127"/>
    <p:sldId id="344" r:id="rId128"/>
    <p:sldId id="313" r:id="rId129"/>
    <p:sldId id="345" r:id="rId130"/>
    <p:sldId id="347" r:id="rId131"/>
    <p:sldId id="434" r:id="rId132"/>
    <p:sldId id="349" r:id="rId133"/>
    <p:sldId id="352" r:id="rId134"/>
    <p:sldId id="348" r:id="rId135"/>
    <p:sldId id="316" r:id="rId136"/>
    <p:sldId id="335" r:id="rId137"/>
    <p:sldId id="289" r:id="rId138"/>
    <p:sldId id="290" r:id="rId139"/>
    <p:sldId id="312" r:id="rId140"/>
    <p:sldId id="357" r:id="rId141"/>
    <p:sldId id="399" r:id="rId142"/>
    <p:sldId id="341" r:id="rId143"/>
    <p:sldId id="322" r:id="rId144"/>
    <p:sldId id="280" r:id="rId145"/>
    <p:sldId id="358" r:id="rId146"/>
    <p:sldId id="360" r:id="rId147"/>
    <p:sldId id="373" r:id="rId148"/>
    <p:sldId id="374" r:id="rId149"/>
    <p:sldId id="375" r:id="rId150"/>
    <p:sldId id="382" r:id="rId151"/>
    <p:sldId id="359" r:id="rId152"/>
    <p:sldId id="376" r:id="rId153"/>
    <p:sldId id="379" r:id="rId154"/>
    <p:sldId id="380" r:id="rId155"/>
    <p:sldId id="381" r:id="rId156"/>
    <p:sldId id="392" r:id="rId157"/>
    <p:sldId id="394" r:id="rId158"/>
    <p:sldId id="393" r:id="rId159"/>
    <p:sldId id="378" r:id="rId160"/>
    <p:sldId id="269" r:id="rId161"/>
    <p:sldId id="309" r:id="rId162"/>
    <p:sldId id="414" r:id="rId163"/>
    <p:sldId id="324" r:id="rId164"/>
    <p:sldId id="317" r:id="rId165"/>
    <p:sldId id="331" r:id="rId166"/>
    <p:sldId id="336" r:id="rId167"/>
    <p:sldId id="268" r:id="rId168"/>
    <p:sldId id="426" r:id="rId169"/>
    <p:sldId id="440" r:id="rId170"/>
    <p:sldId id="442" r:id="rId171"/>
    <p:sldId id="441" r:id="rId172"/>
    <p:sldId id="443" r:id="rId17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35B1F55-086F-4E48-B9CC-106EC9368258}">
          <p14:sldIdLst>
            <p14:sldId id="256"/>
            <p14:sldId id="266"/>
            <p14:sldId id="265"/>
            <p14:sldId id="400"/>
            <p14:sldId id="284"/>
            <p14:sldId id="257"/>
            <p14:sldId id="258"/>
            <p14:sldId id="260"/>
            <p14:sldId id="261"/>
            <p14:sldId id="262"/>
            <p14:sldId id="263"/>
            <p14:sldId id="267"/>
            <p14:sldId id="408"/>
            <p14:sldId id="445"/>
            <p14:sldId id="447"/>
            <p14:sldId id="449"/>
            <p14:sldId id="448"/>
            <p14:sldId id="446"/>
            <p14:sldId id="409"/>
            <p14:sldId id="412"/>
            <p14:sldId id="413"/>
            <p14:sldId id="410"/>
            <p14:sldId id="415"/>
            <p14:sldId id="416"/>
            <p14:sldId id="418"/>
            <p14:sldId id="417"/>
            <p14:sldId id="419"/>
            <p14:sldId id="420"/>
            <p14:sldId id="411"/>
            <p14:sldId id="337"/>
            <p14:sldId id="264"/>
            <p14:sldId id="318"/>
            <p14:sldId id="338"/>
            <p14:sldId id="421"/>
            <p14:sldId id="423"/>
            <p14:sldId id="424"/>
            <p14:sldId id="422"/>
            <p14:sldId id="361"/>
            <p14:sldId id="270"/>
            <p14:sldId id="271"/>
            <p14:sldId id="272"/>
            <p14:sldId id="273"/>
            <p14:sldId id="403"/>
            <p14:sldId id="404"/>
            <p14:sldId id="292"/>
            <p14:sldId id="295"/>
            <p14:sldId id="293"/>
            <p14:sldId id="296"/>
            <p14:sldId id="298"/>
            <p14:sldId id="297"/>
            <p14:sldId id="294"/>
            <p14:sldId id="300"/>
            <p14:sldId id="301"/>
            <p14:sldId id="304"/>
            <p14:sldId id="305"/>
            <p14:sldId id="306"/>
            <p14:sldId id="303"/>
            <p14:sldId id="302"/>
            <p14:sldId id="401"/>
            <p14:sldId id="402"/>
            <p14:sldId id="405"/>
            <p14:sldId id="407"/>
            <p14:sldId id="406"/>
            <p14:sldId id="427"/>
            <p14:sldId id="428"/>
            <p14:sldId id="429"/>
            <p14:sldId id="431"/>
            <p14:sldId id="433"/>
            <p14:sldId id="432"/>
            <p14:sldId id="444"/>
            <p14:sldId id="362"/>
            <p14:sldId id="437"/>
            <p14:sldId id="439"/>
            <p14:sldId id="435"/>
            <p14:sldId id="438"/>
            <p14:sldId id="363"/>
            <p14:sldId id="276"/>
            <p14:sldId id="274"/>
            <p14:sldId id="340"/>
            <p14:sldId id="275"/>
            <p14:sldId id="339"/>
            <p14:sldId id="366"/>
            <p14:sldId id="367"/>
            <p14:sldId id="277"/>
            <p14:sldId id="368"/>
            <p14:sldId id="383"/>
            <p14:sldId id="387"/>
            <p14:sldId id="388"/>
            <p14:sldId id="389"/>
            <p14:sldId id="390"/>
            <p14:sldId id="391"/>
            <p14:sldId id="278"/>
            <p14:sldId id="279"/>
            <p14:sldId id="386"/>
            <p14:sldId id="299"/>
            <p14:sldId id="308"/>
            <p14:sldId id="307"/>
            <p14:sldId id="315"/>
            <p14:sldId id="319"/>
            <p14:sldId id="321"/>
            <p14:sldId id="320"/>
            <p14:sldId id="425"/>
            <p14:sldId id="323"/>
            <p14:sldId id="329"/>
            <p14:sldId id="310"/>
            <p14:sldId id="351"/>
            <p14:sldId id="350"/>
            <p14:sldId id="311"/>
            <p14:sldId id="396"/>
            <p14:sldId id="398"/>
            <p14:sldId id="397"/>
            <p14:sldId id="314"/>
            <p14:sldId id="328"/>
            <p14:sldId id="342"/>
            <p14:sldId id="346"/>
            <p14:sldId id="353"/>
            <p14:sldId id="354"/>
            <p14:sldId id="355"/>
            <p14:sldId id="356"/>
            <p14:sldId id="369"/>
            <p14:sldId id="372"/>
            <p14:sldId id="330"/>
            <p14:sldId id="326"/>
            <p14:sldId id="333"/>
            <p14:sldId id="334"/>
            <p14:sldId id="327"/>
            <p14:sldId id="344"/>
            <p14:sldId id="313"/>
            <p14:sldId id="345"/>
            <p14:sldId id="347"/>
            <p14:sldId id="434"/>
            <p14:sldId id="349"/>
            <p14:sldId id="352"/>
            <p14:sldId id="348"/>
            <p14:sldId id="316"/>
            <p14:sldId id="335"/>
            <p14:sldId id="289"/>
            <p14:sldId id="290"/>
            <p14:sldId id="312"/>
            <p14:sldId id="357"/>
            <p14:sldId id="399"/>
            <p14:sldId id="341"/>
            <p14:sldId id="322"/>
            <p14:sldId id="280"/>
            <p14:sldId id="358"/>
            <p14:sldId id="360"/>
            <p14:sldId id="373"/>
            <p14:sldId id="374"/>
            <p14:sldId id="375"/>
            <p14:sldId id="382"/>
            <p14:sldId id="359"/>
            <p14:sldId id="376"/>
            <p14:sldId id="379"/>
            <p14:sldId id="380"/>
            <p14:sldId id="381"/>
            <p14:sldId id="392"/>
            <p14:sldId id="394"/>
            <p14:sldId id="393"/>
            <p14:sldId id="378"/>
            <p14:sldId id="269"/>
            <p14:sldId id="309"/>
            <p14:sldId id="414"/>
            <p14:sldId id="324"/>
            <p14:sldId id="317"/>
            <p14:sldId id="331"/>
            <p14:sldId id="336"/>
            <p14:sldId id="268"/>
            <p14:sldId id="426"/>
            <p14:sldId id="440"/>
            <p14:sldId id="442"/>
            <p14:sldId id="441"/>
            <p14:sldId id="44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84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77" Type="http://schemas.openxmlformats.org/officeDocument/2006/relationships/theme" Target="theme/theme1.xml"/><Relationship Id="rId172" Type="http://schemas.openxmlformats.org/officeDocument/2006/relationships/slide" Target="slides/slide17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notesMaster" Target="notesMasters/notesMaster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presProps" Target="presProps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viewProps" Target="viewProps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57F856-C08C-4D83-8D37-28A6206D94A8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0F432B-6366-4A70-9E8F-11E1E8450E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4592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0F432B-6366-4A70-9E8F-11E1E8450E94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5202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97FD3-0E3C-4940-AC08-248FE3BAAF7F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E4303-CC65-4D52-A3E4-D34B88259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9481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97FD3-0E3C-4940-AC08-248FE3BAAF7F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E4303-CC65-4D52-A3E4-D34B88259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045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97FD3-0E3C-4940-AC08-248FE3BAAF7F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E4303-CC65-4D52-A3E4-D34B88259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96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97FD3-0E3C-4940-AC08-248FE3BAAF7F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E4303-CC65-4D52-A3E4-D34B88259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382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97FD3-0E3C-4940-AC08-248FE3BAAF7F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E4303-CC65-4D52-A3E4-D34B88259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0778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97FD3-0E3C-4940-AC08-248FE3BAAF7F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E4303-CC65-4D52-A3E4-D34B88259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466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97FD3-0E3C-4940-AC08-248FE3BAAF7F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E4303-CC65-4D52-A3E4-D34B88259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737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97FD3-0E3C-4940-AC08-248FE3BAAF7F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E4303-CC65-4D52-A3E4-D34B88259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6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97FD3-0E3C-4940-AC08-248FE3BAAF7F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E4303-CC65-4D52-A3E4-D34B88259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0241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97FD3-0E3C-4940-AC08-248FE3BAAF7F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E4303-CC65-4D52-A3E4-D34B88259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0241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97FD3-0E3C-4940-AC08-248FE3BAAF7F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E4303-CC65-4D52-A3E4-D34B88259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9888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97FD3-0E3C-4940-AC08-248FE3BAAF7F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E4303-CC65-4D52-A3E4-D34B882591C9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586577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97FD3-0E3C-4940-AC08-248FE3BAAF7F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E4303-CC65-4D52-A3E4-D34B88259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1525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97FD3-0E3C-4940-AC08-248FE3BAAF7F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E4303-CC65-4D52-A3E4-D34B88259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6528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97FD3-0E3C-4940-AC08-248FE3BAAF7F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E4303-CC65-4D52-A3E4-D34B88259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029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97FD3-0E3C-4940-AC08-248FE3BAAF7F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E4303-CC65-4D52-A3E4-D34B88259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4677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97FD3-0E3C-4940-AC08-248FE3BAAF7F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E4303-CC65-4D52-A3E4-D34B88259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464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BFD97FD3-0E3C-4940-AC08-248FE3BAAF7F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7E1E4303-CC65-4D52-A3E4-D34B88259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57160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1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4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0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3.png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9.png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2.png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8.png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1.png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4.png"/></Relationships>
</file>

<file path=ppt/slides/_rels/slide1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CF1E4-0D28-D7EA-7965-239A745D8F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Angular &amp; TypeScript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9CF8B3-0D29-D356-42C5-62C1962330A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By. ahmedmohamedmvp@gmail.com</a:t>
            </a:r>
          </a:p>
        </p:txBody>
      </p:sp>
    </p:spTree>
    <p:extLst>
      <p:ext uri="{BB962C8B-B14F-4D97-AF65-F5344CB8AC3E}">
        <p14:creationId xmlns:p14="http://schemas.microsoft.com/office/powerpoint/2010/main" val="37853018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6E4D5-76F9-66CF-D54B-FA70D7214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Installation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183F88-F295-1AB5-0837-35AF7BCF83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4173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2646F-CD7E-D994-0559-6788B3698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693336"/>
          </a:xfrm>
        </p:spPr>
        <p:txBody>
          <a:bodyPr>
            <a:normAutofit fontScale="90000"/>
          </a:bodyPr>
          <a:lstStyle/>
          <a:p>
            <a:r>
              <a:rPr lang="en-US" b="1"/>
              <a:t>Creating Project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E4577F-6B57-3330-540E-DCA4B34EB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741" y="693337"/>
            <a:ext cx="11424975" cy="6018962"/>
          </a:xfrm>
        </p:spPr>
        <p:txBody>
          <a:bodyPr/>
          <a:lstStyle/>
          <a:p>
            <a:r>
              <a:rPr lang="en-US"/>
              <a:t>ng new projectName // it will cerate new folder with name projectName</a:t>
            </a:r>
          </a:p>
          <a:p>
            <a:pPr lvl="1"/>
            <a:r>
              <a:rPr lang="en-US" b="1"/>
              <a:t>which </a:t>
            </a:r>
            <a:r>
              <a:rPr lang="en-US" b="1">
                <a:solidFill>
                  <a:srgbClr val="FFFF00"/>
                </a:solidFill>
              </a:rPr>
              <a:t>stylesheet</a:t>
            </a:r>
            <a:r>
              <a:rPr lang="en-US" b="1"/>
              <a:t> format would you like to use ---- choose css</a:t>
            </a:r>
          </a:p>
          <a:p>
            <a:pPr lvl="1"/>
            <a:r>
              <a:rPr lang="en-US" b="1"/>
              <a:t>do you want to enable server-side rendering     ---- choose NO</a:t>
            </a:r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3228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22915-E856-580B-C0A9-EEBBDDC80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612949"/>
          </a:xfrm>
        </p:spPr>
        <p:txBody>
          <a:bodyPr>
            <a:normAutofit fontScale="90000"/>
          </a:bodyPr>
          <a:lstStyle/>
          <a:p>
            <a:r>
              <a:rPr lang="en-US"/>
              <a:t>Run 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5DCD1A-BDE0-A9AD-11C5-10DEE6BC4F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630" y="612949"/>
            <a:ext cx="11917344" cy="6069205"/>
          </a:xfrm>
        </p:spPr>
        <p:txBody>
          <a:bodyPr/>
          <a:lstStyle/>
          <a:p>
            <a:pPr marL="494100" indent="-457200">
              <a:buFont typeface="+mj-lt"/>
              <a:buAutoNum type="arabicPeriod"/>
            </a:pPr>
            <a:r>
              <a:rPr lang="en-US">
                <a:effectLst/>
              </a:rPr>
              <a:t>ng serve --port 5000  // run the project at specific port [temporary solution]</a:t>
            </a:r>
          </a:p>
          <a:p>
            <a:pPr marL="494100" indent="-457200">
              <a:buFont typeface="+mj-lt"/>
              <a:buAutoNum type="arabicPeriod"/>
            </a:pPr>
            <a:r>
              <a:rPr lang="en-US">
                <a:effectLst/>
              </a:rPr>
              <a:t>Open </a:t>
            </a:r>
            <a:r>
              <a:rPr lang="en-US" b="1">
                <a:effectLst/>
              </a:rPr>
              <a:t>package.json</a:t>
            </a:r>
            <a:r>
              <a:rPr lang="en-US">
                <a:effectLst/>
              </a:rPr>
              <a:t> + "scripts" object + Change the "start" include the port</a:t>
            </a:r>
          </a:p>
          <a:p>
            <a:pPr marL="871200" lvl="1" indent="-457200">
              <a:buFont typeface="+mj-lt"/>
              <a:buAutoNum type="arabicPeriod"/>
            </a:pPr>
            <a:r>
              <a:rPr lang="en-US">
                <a:effectLst/>
              </a:rPr>
              <a:t>"start": "ng serve --port 5000"</a:t>
            </a:r>
          </a:p>
          <a:p>
            <a:pPr marL="494100" indent="-457200">
              <a:buFont typeface="+mj-lt"/>
              <a:buAutoNum type="arabicPeriod"/>
            </a:pPr>
            <a:r>
              <a:rPr lang="en-US">
                <a:effectLst/>
              </a:rPr>
              <a:t>Angular.json </a:t>
            </a:r>
            <a:r>
              <a:rPr lang="en-US"/>
              <a:t>➔</a:t>
            </a:r>
            <a:r>
              <a:rPr lang="en-US">
                <a:effectLst/>
              </a:rPr>
              <a:t> </a:t>
            </a:r>
            <a:r>
              <a:rPr lang="en-US"/>
              <a:t>projects ➔ your-project-name ➔ </a:t>
            </a:r>
            <a:r>
              <a:rPr lang="en-US">
                <a:effectLst/>
              </a:rPr>
              <a:t>architect</a:t>
            </a:r>
            <a:r>
              <a:rPr lang="en-US"/>
              <a:t> ➔ </a:t>
            </a:r>
            <a:r>
              <a:rPr lang="en-US">
                <a:effectLst/>
              </a:rPr>
              <a:t>serve</a:t>
            </a:r>
            <a:r>
              <a:rPr lang="en-US"/>
              <a:t> ➔ </a:t>
            </a:r>
            <a:r>
              <a:rPr lang="en-US">
                <a:effectLst/>
              </a:rPr>
              <a:t>options</a:t>
            </a:r>
            <a:r>
              <a:rPr lang="en-US"/>
              <a:t> ➔ Add a </a:t>
            </a:r>
            <a:r>
              <a:rPr lang="en-US">
                <a:effectLst/>
              </a:rPr>
              <a:t>"port"</a:t>
            </a:r>
            <a:r>
              <a:rPr lang="en-US"/>
              <a:t> property inside the </a:t>
            </a:r>
            <a:r>
              <a:rPr lang="en-US">
                <a:effectLst/>
              </a:rPr>
              <a:t>"options"</a:t>
            </a:r>
            <a:r>
              <a:rPr lang="en-US"/>
              <a:t> block </a:t>
            </a:r>
            <a:r>
              <a:rPr lang="en-US">
                <a:sym typeface="Wingdings" panose="05000000000000000000" pitchFamily="2" charset="2"/>
              </a:rPr>
              <a:t> </a:t>
            </a:r>
            <a:r>
              <a:rPr lang="en-US">
                <a:effectLst/>
              </a:rPr>
              <a:t>"port": 5555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9025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BD5F5-1EB6-2753-8B20-F6CE7ED52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4133" y="0"/>
            <a:ext cx="10353762" cy="622998"/>
          </a:xfrm>
        </p:spPr>
        <p:txBody>
          <a:bodyPr>
            <a:normAutofit fontScale="90000"/>
          </a:bodyPr>
          <a:lstStyle/>
          <a:p>
            <a:r>
              <a:rPr lang="en-US" b="1"/>
              <a:t>Environment Creation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BBF66A-A19F-2476-A12C-29D7291316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644" y="622999"/>
            <a:ext cx="10925913" cy="6039058"/>
          </a:xfrm>
        </p:spPr>
        <p:txBody>
          <a:bodyPr/>
          <a:lstStyle/>
          <a:p>
            <a:r>
              <a:rPr lang="en-US"/>
              <a:t>Inside </a:t>
            </a:r>
            <a:r>
              <a:rPr lang="en-US" err="1"/>
              <a:t>src</a:t>
            </a:r>
            <a:r>
              <a:rPr lang="en-US"/>
              <a:t> folder</a:t>
            </a:r>
          </a:p>
          <a:p>
            <a:r>
              <a:rPr lang="en-US"/>
              <a:t>ng g environments</a:t>
            </a:r>
          </a:p>
          <a:p>
            <a:pPr lvl="1"/>
            <a:r>
              <a:rPr lang="en-US" sz="2000"/>
              <a:t>It creates two folder: </a:t>
            </a:r>
          </a:p>
          <a:p>
            <a:pPr lvl="2"/>
            <a:r>
              <a:rPr lang="en-US" sz="2000"/>
              <a:t>environment.ts 				// when you build this file will be considered</a:t>
            </a:r>
          </a:p>
          <a:p>
            <a:pPr lvl="2"/>
            <a:r>
              <a:rPr lang="en-US" sz="2000"/>
              <a:t>environment.development.ts // when you run this file will be considered</a:t>
            </a:r>
            <a:endParaRPr lang="en-US"/>
          </a:p>
          <a:p>
            <a:pPr lvl="1"/>
            <a:r>
              <a:rPr lang="en-US"/>
              <a:t>Update Angular.json</a:t>
            </a:r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3EF84D-472C-0006-10E2-A858018E63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717" y="3439735"/>
            <a:ext cx="5830714" cy="1262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9541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59EA1-B5EF-4182-712D-DE9FA736D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070" y="2337917"/>
            <a:ext cx="10353762" cy="970450"/>
          </a:xfrm>
        </p:spPr>
        <p:txBody>
          <a:bodyPr>
            <a:normAutofit/>
          </a:bodyPr>
          <a:lstStyle/>
          <a:p>
            <a:r>
              <a:rPr lang="en-US" sz="4800" b="1">
                <a:solidFill>
                  <a:srgbClr val="FF0000"/>
                </a:solidFill>
              </a:rPr>
              <a:t>Start Routing</a:t>
            </a:r>
          </a:p>
        </p:txBody>
      </p:sp>
    </p:spTree>
    <p:extLst>
      <p:ext uri="{BB962C8B-B14F-4D97-AF65-F5344CB8AC3E}">
        <p14:creationId xmlns:p14="http://schemas.microsoft.com/office/powerpoint/2010/main" val="24522977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13025-464A-F3C0-EA1F-E214128D5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512900"/>
          </a:xfrm>
        </p:spPr>
        <p:txBody>
          <a:bodyPr>
            <a:normAutofit fontScale="90000"/>
          </a:bodyPr>
          <a:lstStyle/>
          <a:p>
            <a:r>
              <a:rPr lang="en-US" b="1">
                <a:solidFill>
                  <a:srgbClr val="FF0000"/>
                </a:solidFill>
              </a:rPr>
              <a:t>Routes [</a:t>
            </a:r>
            <a:r>
              <a:rPr lang="en-US" b="1" err="1">
                <a:solidFill>
                  <a:srgbClr val="FF0000"/>
                </a:solidFill>
              </a:rPr>
              <a:t>app.route.ts</a:t>
            </a:r>
            <a:r>
              <a:rPr lang="en-US" b="1">
                <a:solidFill>
                  <a:srgbClr val="FF0000"/>
                </a:solidFill>
              </a:rPr>
              <a:t>] , Lazy loading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23E028D-620A-F0B4-90F4-4DBD6B8BB8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474" y="779822"/>
            <a:ext cx="6603007" cy="1209752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D0A3FA7-0F9C-4110-F411-E227B971C5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4426" y="593264"/>
            <a:ext cx="5322100" cy="23377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A7A6604-B775-CCD0-6B68-94AB167F5B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75" y="3002811"/>
            <a:ext cx="9940471" cy="3855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882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61FF9-5732-8B38-AE0F-02650F615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83048"/>
            <a:ext cx="10353762" cy="630386"/>
          </a:xfrm>
        </p:spPr>
        <p:txBody>
          <a:bodyPr>
            <a:normAutofit fontScale="90000"/>
          </a:bodyPr>
          <a:lstStyle/>
          <a:p>
            <a:r>
              <a:rPr lang="en-US" b="1"/>
              <a:t>Navigate Via HTML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7539ED8-C96E-6231-2F1A-ED9CACC5B9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0796" y="1437008"/>
            <a:ext cx="9552979" cy="630386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F1A0193-51DD-5F37-A766-20A7013983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797" y="2213176"/>
            <a:ext cx="9552982" cy="63038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FF85CF3-A54B-3CAA-A07C-2B77E01A64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96" y="713435"/>
            <a:ext cx="4090285" cy="64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7401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DDFF4-8539-CDAC-581A-0E7EA59E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96350"/>
            <a:ext cx="10353762" cy="970450"/>
          </a:xfrm>
        </p:spPr>
        <p:txBody>
          <a:bodyPr/>
          <a:lstStyle/>
          <a:p>
            <a:r>
              <a:rPr lang="en-US"/>
              <a:t>Navigate Via 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79201EF-0C16-9208-FEFB-608B13E75C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3795" y="1066800"/>
            <a:ext cx="6024406" cy="640224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CE1A31C-79F1-19F1-8861-F95ED2039B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795" y="1865672"/>
            <a:ext cx="6024406" cy="640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3991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74E3F-1632-D5DC-2837-58BED44C5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472273"/>
          </a:xfrm>
        </p:spPr>
        <p:txBody>
          <a:bodyPr>
            <a:normAutofit fontScale="90000"/>
          </a:bodyPr>
          <a:lstStyle/>
          <a:p>
            <a:r>
              <a:rPr lang="en-US" b="1" err="1">
                <a:solidFill>
                  <a:srgbClr val="FF0000"/>
                </a:solidFill>
              </a:rPr>
              <a:t>RouterLinkActive</a:t>
            </a:r>
            <a:r>
              <a:rPr lang="en-US" b="1">
                <a:solidFill>
                  <a:srgbClr val="FF0000"/>
                </a:solidFill>
              </a:rPr>
              <a:t>,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541D93D-A3A5-9C73-82B4-5E3B80BFD9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9959" y="637632"/>
            <a:ext cx="3665353" cy="5806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AD4D536-5A2F-6CAB-63C3-79706F63B5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959" y="1314438"/>
            <a:ext cx="3778176" cy="47227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D07B321-3FD8-A0A1-21D3-F6C13CE6DF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959" y="1882866"/>
            <a:ext cx="3778176" cy="60847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21C60A0-82B2-91E0-AAF1-AEA2694311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959" y="2638587"/>
            <a:ext cx="5375868" cy="1000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5249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A01A3-1E11-9C77-884C-98E8ACBF7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542611"/>
          </a:xfrm>
        </p:spPr>
        <p:txBody>
          <a:bodyPr>
            <a:normAutofit fontScale="90000"/>
          </a:bodyPr>
          <a:lstStyle/>
          <a:p>
            <a:r>
              <a:rPr lang="en-US" b="1" err="1">
                <a:solidFill>
                  <a:srgbClr val="FF0000"/>
                </a:solidFill>
              </a:rPr>
              <a:t>routerLinkActiveOptions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69ABF2-B39B-7000-B910-D04E38E145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33" y="542610"/>
            <a:ext cx="5150788" cy="23412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3388C7C-297C-31FB-B9C6-A792CA4B88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33" y="3074797"/>
            <a:ext cx="3972921" cy="308640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982232A-3E3C-20CB-6FF6-1F07B89185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0388" y="3743010"/>
            <a:ext cx="1590675" cy="19621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4F43EB5-4E9C-5036-DB47-7C79AB4A5C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4035" y="866060"/>
            <a:ext cx="3523205" cy="241353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6440FA3-1361-A746-4C2B-61CCD53B74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17240" y="1177477"/>
            <a:ext cx="1876425" cy="17907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652D9DB-C436-C549-F06C-BB59EA4B27C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7873" y="3743010"/>
            <a:ext cx="4771809" cy="179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9332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291A9-D68F-593A-1138-70C5711B2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970450"/>
          </a:xfrm>
        </p:spPr>
        <p:txBody>
          <a:bodyPr/>
          <a:lstStyle/>
          <a:p>
            <a:r>
              <a:rPr lang="en-US"/>
              <a:t>Router outlet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C2FC2D-1F50-F2D6-CA80-6F4001707B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580" y="970451"/>
            <a:ext cx="11635991" cy="5681558"/>
          </a:xfrm>
        </p:spPr>
        <p:txBody>
          <a:bodyPr/>
          <a:lstStyle/>
          <a:p>
            <a:r>
              <a:rPr lang="en-US"/>
              <a:t>In this example we have sidebar(dashboard) component // existed at layouts/dashboard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135703-096A-213A-39E5-64F8AD9844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251" y="1382872"/>
            <a:ext cx="3568700" cy="5735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3632FE0-BBF0-41EE-5F36-135295B69C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251" y="1956417"/>
            <a:ext cx="10755201" cy="3048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2288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C49DF7-6C7F-55BD-FFDB-0B904F016F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3145134"/>
            <a:ext cx="10353762" cy="1808703"/>
          </a:xfrm>
        </p:spPr>
        <p:txBody>
          <a:bodyPr>
            <a:normAutofit/>
          </a:bodyPr>
          <a:lstStyle/>
          <a:p>
            <a:pPr marL="36900" indent="0" algn="ctr">
              <a:buNone/>
            </a:pPr>
            <a:r>
              <a:rPr lang="en-US" sz="6600" b="1">
                <a:solidFill>
                  <a:srgbClr val="FF0000"/>
                </a:solidFill>
              </a:rPr>
              <a:t>END Routing</a:t>
            </a:r>
          </a:p>
        </p:txBody>
      </p:sp>
    </p:spTree>
    <p:extLst>
      <p:ext uri="{BB962C8B-B14F-4D97-AF65-F5344CB8AC3E}">
        <p14:creationId xmlns:p14="http://schemas.microsoft.com/office/powerpoint/2010/main" val="39322605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D6CA2-77EC-A14B-62E0-5F0885ACC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F606D1-1532-DBB4-3976-807B6C321A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291028"/>
            <a:ext cx="10353762" cy="1135464"/>
          </a:xfrm>
        </p:spPr>
        <p:txBody>
          <a:bodyPr>
            <a:normAutofit/>
          </a:bodyPr>
          <a:lstStyle/>
          <a:p>
            <a:pPr marL="36900" indent="0" algn="ctr">
              <a:buNone/>
            </a:pPr>
            <a:r>
              <a:rPr lang="en-US" sz="6600" b="1">
                <a:solidFill>
                  <a:srgbClr val="FF0000"/>
                </a:solidFill>
              </a:rPr>
              <a:t>Start Read data from URL</a:t>
            </a:r>
          </a:p>
        </p:txBody>
      </p:sp>
    </p:spTree>
    <p:extLst>
      <p:ext uri="{BB962C8B-B14F-4D97-AF65-F5344CB8AC3E}">
        <p14:creationId xmlns:p14="http://schemas.microsoft.com/office/powerpoint/2010/main" val="40317328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E4E7DC-F716-48A2-A043-400EA3C0BC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1547" y="592853"/>
            <a:ext cx="10951334" cy="5928527"/>
          </a:xfrm>
        </p:spPr>
        <p:txBody>
          <a:bodyPr/>
          <a:lstStyle/>
          <a:p>
            <a:r>
              <a:rPr lang="en-US"/>
              <a:t>Route Parameters (Path Segments like </a:t>
            </a:r>
            <a:r>
              <a:rPr lang="en-US" b="1">
                <a:effectLst/>
              </a:rPr>
              <a:t>/user/:id</a:t>
            </a:r>
            <a:r>
              <a:rPr lang="en-US"/>
              <a:t>)</a:t>
            </a:r>
          </a:p>
          <a:p>
            <a:pPr lvl="1"/>
            <a:r>
              <a:rPr lang="en-US"/>
              <a:t>You could Use </a:t>
            </a:r>
            <a:r>
              <a:rPr lang="en-US">
                <a:effectLst/>
              </a:rPr>
              <a:t>paramMap</a:t>
            </a:r>
            <a:r>
              <a:rPr lang="en-US"/>
              <a:t> or </a:t>
            </a:r>
            <a:r>
              <a:rPr lang="en-US">
                <a:effectLst/>
              </a:rPr>
              <a:t>params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8756E46-F589-9548-3AAE-91375D0FC6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497" y="1633066"/>
            <a:ext cx="7467600" cy="384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5336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C36CF-2CC5-5D37-82E4-A19ACF700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D890B5-7A1B-DCDB-5E96-18FC4C23FE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1547" y="592853"/>
            <a:ext cx="10951334" cy="5928527"/>
          </a:xfrm>
        </p:spPr>
        <p:txBody>
          <a:bodyPr/>
          <a:lstStyle/>
          <a:p>
            <a:r>
              <a:rPr lang="en-US" b="1">
                <a:effectLst/>
              </a:rPr>
              <a:t>2. Query Parameters (Search Parameters like ?search=angular&amp;page=1)</a:t>
            </a:r>
          </a:p>
          <a:p>
            <a:r>
              <a:rPr lang="en-US">
                <a:effectLst/>
              </a:rPr>
              <a:t>constructor(   private route: ActivatedRoute ) {}</a:t>
            </a:r>
          </a:p>
          <a:p>
            <a:endParaRPr lang="en-US" b="1">
              <a:effectLst/>
            </a:endParaRPr>
          </a:p>
          <a:p>
            <a:endParaRPr lang="en-US" b="1">
              <a:effectLst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427E35-8E72-4568-B669-6B0C769D3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422" y="1521696"/>
            <a:ext cx="4867275" cy="1543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3923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FDB2C-E776-C775-186A-A3F43D411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Combine params and queryParams together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E42B9A4-EF73-9152-8542-A31118ECD5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78782" y="2237529"/>
            <a:ext cx="6391275" cy="322897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38758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FA4EF4-EAA5-19F6-59B6-FEF7BAC56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E08ED-7224-31C7-50BD-C98019D3BC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3145134"/>
            <a:ext cx="10353762" cy="1808703"/>
          </a:xfrm>
        </p:spPr>
        <p:txBody>
          <a:bodyPr>
            <a:normAutofit/>
          </a:bodyPr>
          <a:lstStyle/>
          <a:p>
            <a:pPr marL="36900" indent="0" algn="ctr">
              <a:buNone/>
            </a:pPr>
            <a:r>
              <a:rPr lang="en-US" sz="6600" b="1">
                <a:solidFill>
                  <a:srgbClr val="FF0000"/>
                </a:solidFill>
              </a:rPr>
              <a:t>End Read data from URL</a:t>
            </a:r>
          </a:p>
        </p:txBody>
      </p:sp>
    </p:spTree>
    <p:extLst>
      <p:ext uri="{BB962C8B-B14F-4D97-AF65-F5344CB8AC3E}">
        <p14:creationId xmlns:p14="http://schemas.microsoft.com/office/powerpoint/2010/main" val="34653583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51CE4-596C-EB7E-21BF-693308980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rgbClr val="FF0000"/>
                </a:solidFill>
              </a:rPr>
              <a:t>Start Angular Life cycle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92524F-A0E5-B8BF-6837-77D5E510D2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0191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DD8A7-4D3D-D805-06C4-213F5CC52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844062"/>
          </a:xfrm>
        </p:spPr>
        <p:txBody>
          <a:bodyPr/>
          <a:lstStyle/>
          <a:p>
            <a:r>
              <a:rPr lang="en-US"/>
              <a:t>1. constructor() [commonly used]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FE5F4-9ECC-FCE3-1AA9-1982236BA6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970450"/>
            <a:ext cx="10353762" cy="5661461"/>
          </a:xfrm>
        </p:spPr>
        <p:txBody>
          <a:bodyPr/>
          <a:lstStyle/>
          <a:p>
            <a:pPr marL="36900" indent="0">
              <a:buNone/>
            </a:pPr>
            <a:endParaRPr lang="en-US"/>
          </a:p>
          <a:p>
            <a:r>
              <a:rPr lang="en-US"/>
              <a:t>Triggers when</a:t>
            </a:r>
          </a:p>
          <a:p>
            <a:pPr lvl="1"/>
            <a:r>
              <a:rPr lang="en-US"/>
              <a:t>called when Angular initializes the component class</a:t>
            </a:r>
          </a:p>
          <a:p>
            <a:endParaRPr lang="en-US"/>
          </a:p>
          <a:p>
            <a:r>
              <a:rPr lang="en-US"/>
              <a:t>What should happen here</a:t>
            </a:r>
          </a:p>
          <a:p>
            <a:pPr lvl="1"/>
            <a:r>
              <a:rPr lang="en-US"/>
              <a:t>initialization and injection</a:t>
            </a:r>
          </a:p>
          <a:p>
            <a:pPr lvl="1"/>
            <a:r>
              <a:rPr lang="en-US"/>
              <a:t>Avoid trying to interact with the DOM or perform complex initializations here.</a:t>
            </a:r>
          </a:p>
          <a:p>
            <a:pPr lvl="1"/>
            <a:r>
              <a:rPr lang="en-US"/>
              <a:t>Avoid making API calls here.</a:t>
            </a:r>
          </a:p>
          <a:p>
            <a:pPr lvl="1"/>
            <a:r>
              <a:rPr lang="en-US"/>
              <a:t>The component isn’t fully created yet, so the view (DOM elements) isn’t available, and input properties are not yet initialized.</a:t>
            </a:r>
          </a:p>
        </p:txBody>
      </p:sp>
    </p:spTree>
    <p:extLst>
      <p:ext uri="{BB962C8B-B14F-4D97-AF65-F5344CB8AC3E}">
        <p14:creationId xmlns:p14="http://schemas.microsoft.com/office/powerpoint/2010/main" val="36205333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9F0F3-5F90-53FA-6451-62F05AA2F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633046"/>
          </a:xfrm>
        </p:spPr>
        <p:txBody>
          <a:bodyPr>
            <a:normAutofit fontScale="90000"/>
          </a:bodyPr>
          <a:lstStyle/>
          <a:p>
            <a:r>
              <a:rPr lang="en-US"/>
              <a:t>2. ngOnChanges() [commonly used]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5FA19E-74EE-2FF0-9C2E-A6B7CFDD84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33530"/>
            <a:ext cx="11927393" cy="6124469"/>
          </a:xfrm>
        </p:spPr>
        <p:txBody>
          <a:bodyPr>
            <a:normAutofit/>
          </a:bodyPr>
          <a:lstStyle/>
          <a:p>
            <a:r>
              <a:rPr lang="en-US" sz="1800" b="1"/>
              <a:t>Triggers when</a:t>
            </a:r>
          </a:p>
          <a:p>
            <a:pPr lvl="1"/>
            <a:r>
              <a:rPr lang="en-US" b="1"/>
              <a:t>whenever an @Input() value changes.</a:t>
            </a:r>
          </a:p>
          <a:p>
            <a:pPr lvl="1"/>
            <a:r>
              <a:rPr lang="en-US" b="1"/>
              <a:t>Runs every time the component's inputs properties have been changed.</a:t>
            </a:r>
          </a:p>
          <a:p>
            <a:pPr lvl="1"/>
            <a:r>
              <a:rPr lang="en-US" b="1"/>
              <a:t>It is triggered at least once before ngOnInit in case of you have properties with Input decorator</a:t>
            </a:r>
          </a:p>
          <a:p>
            <a:pPr lvl="1"/>
            <a:r>
              <a:rPr lang="en-US" b="1"/>
              <a:t>ngOnChanges will only run when input properties change, so it's not triggered if there are no input properties in the component.</a:t>
            </a:r>
          </a:p>
          <a:p>
            <a:r>
              <a:rPr lang="en-US" sz="1800" b="1"/>
              <a:t>What should happen here</a:t>
            </a:r>
          </a:p>
          <a:p>
            <a:pPr lvl="1"/>
            <a:r>
              <a:rPr lang="en-US" sz="1600" b="1"/>
              <a:t>You receive information about what changed.</a:t>
            </a:r>
          </a:p>
          <a:p>
            <a:pPr lvl="1"/>
            <a:r>
              <a:rPr lang="en-US" sz="1600" b="1">
                <a:solidFill>
                  <a:srgbClr val="FFFF00"/>
                </a:solidFill>
              </a:rPr>
              <a:t>ngOnChanges</a:t>
            </a:r>
            <a:r>
              <a:rPr lang="en-US" sz="1600" b="1"/>
              <a:t>(changes: SimpleChanges) { console.log(changes); }</a:t>
            </a:r>
          </a:p>
          <a:p>
            <a:pPr lvl="1"/>
            <a:endParaRPr lang="en-US" sz="1600" b="1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5A51D9-A565-CD66-6D7E-348D053E93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76914"/>
            <a:ext cx="3371850" cy="14192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2F3AC84-BA02-82C2-E0AB-AD9CC78ADF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5644" y="4500614"/>
            <a:ext cx="2828925" cy="22955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E7F14F0-BEBA-A18A-D76A-CFC983CF8D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0701" y="3795764"/>
            <a:ext cx="1809750" cy="300037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6579260-C200-C657-C7D9-4A2C99F7C8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91196" y="3059867"/>
            <a:ext cx="3076445" cy="3736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064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B9820-D928-D24F-08F1-39AD1CD63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ngOnInit() [commonly used]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333117-0584-26E3-27CA-461EA23F5A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/>
              <a:t>Triggers when</a:t>
            </a:r>
          </a:p>
          <a:p>
            <a:pPr lvl="1"/>
            <a:r>
              <a:rPr lang="en-US"/>
              <a:t>Runs </a:t>
            </a:r>
            <a:r>
              <a:rPr lang="en-US" b="1"/>
              <a:t>once</a:t>
            </a:r>
            <a:r>
              <a:rPr lang="en-US"/>
              <a:t> after Angular has initialized the component.</a:t>
            </a:r>
            <a:endParaRPr lang="en-US" b="1"/>
          </a:p>
          <a:p>
            <a:endParaRPr lang="en-US" b="1"/>
          </a:p>
          <a:p>
            <a:r>
              <a:rPr lang="en-US" b="1"/>
              <a:t>What should happen here</a:t>
            </a:r>
          </a:p>
          <a:p>
            <a:pPr lvl="1"/>
            <a:r>
              <a:rPr lang="en-US"/>
              <a:t>API calls,  Loading data</a:t>
            </a:r>
            <a:endParaRPr lang="en-US" b="1"/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4362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AA2E0-73ED-B36A-AD0B-40A7B7FDE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4. ngDoCheck()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A7E774-17D1-67DE-89AD-4A340D9CAF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/>
              <a:t>Triggers when</a:t>
            </a:r>
          </a:p>
          <a:p>
            <a:pPr lvl="1"/>
            <a:r>
              <a:rPr lang="en-US"/>
              <a:t>Runs </a:t>
            </a:r>
            <a:r>
              <a:rPr lang="en-US" b="1"/>
              <a:t>every time Angular checks the component</a:t>
            </a:r>
            <a:r>
              <a:rPr lang="en-US"/>
              <a:t>.</a:t>
            </a:r>
          </a:p>
          <a:p>
            <a:pPr lvl="1"/>
            <a:r>
              <a:rPr lang="en-US"/>
              <a:t>This happens a lot: Button clicked, Even moving the mouse can trigger many checks depending on your app.</a:t>
            </a:r>
          </a:p>
          <a:p>
            <a:pPr lvl="1"/>
            <a:endParaRPr lang="en-US" b="1"/>
          </a:p>
          <a:p>
            <a:r>
              <a:rPr lang="en-US" b="1"/>
              <a:t>What should happen here</a:t>
            </a:r>
          </a:p>
          <a:p>
            <a:pPr lvl="1"/>
            <a:r>
              <a:rPr lang="en-US"/>
              <a:t>API calls,  Loading data</a:t>
            </a:r>
            <a:endParaRPr lang="en-US" b="1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1189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5F9D1-EB7C-FE9D-5E43-0A8732AB1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/>
              <a:t>5. ngAfterContentInit()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A66A94-EC50-7A03-1C29-D8FF6FA1ED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/>
              <a:t>Triggers when</a:t>
            </a:r>
          </a:p>
          <a:p>
            <a:pPr lvl="1"/>
            <a:r>
              <a:rPr lang="en-US"/>
              <a:t>If component is  a child and inserted into parent</a:t>
            </a:r>
          </a:p>
          <a:p>
            <a:pPr lvl="1"/>
            <a:r>
              <a:rPr lang="en-US"/>
              <a:t>So inside child ngAfterContentInit() is called</a:t>
            </a:r>
          </a:p>
          <a:p>
            <a:pPr lvl="1"/>
            <a:r>
              <a:rPr lang="en-US"/>
              <a:t>runs once.</a:t>
            </a:r>
          </a:p>
          <a:p>
            <a:pPr lvl="1"/>
            <a:endParaRPr lang="en-US" b="1"/>
          </a:p>
          <a:p>
            <a:r>
              <a:rPr lang="en-US" b="1"/>
              <a:t>What should happen here</a:t>
            </a:r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4987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35C5C-BC0D-0C9E-2143-27052D982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/>
              <a:t>6. ngAfterContentChecked()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0BB54-6039-1C20-FD5A-944A3A4B3A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1850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60726-AE7C-213E-E6A1-9AB1A0100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7 ngAfterViewInit() [commonly used]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6352F9-B351-96C1-4C67-3E6EAEC349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/>
              <a:t>Triggers when</a:t>
            </a:r>
          </a:p>
          <a:p>
            <a:pPr lvl="1"/>
            <a:r>
              <a:rPr lang="en-US"/>
              <a:t>Runs after Angular creates the component's HTML.</a:t>
            </a:r>
          </a:p>
          <a:p>
            <a:pPr lvl="1"/>
            <a:endParaRPr lang="en-US" b="1"/>
          </a:p>
          <a:p>
            <a:r>
              <a:rPr lang="en-US" b="1"/>
              <a:t>What should happen here</a:t>
            </a:r>
          </a:p>
          <a:p>
            <a:pPr lvl="1"/>
            <a:r>
              <a:rPr lang="en-US"/>
              <a:t>Use this hook to perform actions that require access to the component’s rendered view or the DOM</a:t>
            </a:r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5108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8E818-528C-502D-EF01-FBB5EDA84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/>
              <a:t>8. ngAfterViewChecked()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7F24C7-7F7F-393D-54F3-794320520D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0070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A79FA-141C-542A-EDA0-8D406DD3F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9. ngOnDestroy()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B8AE35-55A9-83E9-C6EC-40639BFB94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/>
              <a:t>Triggers when</a:t>
            </a:r>
          </a:p>
          <a:p>
            <a:pPr lvl="1"/>
            <a:r>
              <a:rPr lang="en-US"/>
              <a:t>Runs before Angular removes the component.</a:t>
            </a:r>
            <a:endParaRPr lang="en-US" b="1"/>
          </a:p>
          <a:p>
            <a:r>
              <a:rPr lang="en-US" b="1"/>
              <a:t>What should happen here</a:t>
            </a:r>
          </a:p>
          <a:p>
            <a:pPr lvl="1"/>
            <a:r>
              <a:rPr lang="en-US"/>
              <a:t>Perfect place for cleanup.</a:t>
            </a:r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8127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A04C8-F35A-592F-5B87-0AF973DDE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00DF5-8135-CC7B-2AF2-41E83C724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3081497"/>
            <a:ext cx="10353762" cy="970450"/>
          </a:xfrm>
        </p:spPr>
        <p:txBody>
          <a:bodyPr/>
          <a:lstStyle/>
          <a:p>
            <a:r>
              <a:rPr lang="en-US" b="1">
                <a:solidFill>
                  <a:srgbClr val="FF0000"/>
                </a:solidFill>
              </a:rPr>
              <a:t>End Angular Life cycles</a:t>
            </a:r>
          </a:p>
        </p:txBody>
      </p:sp>
    </p:spTree>
    <p:extLst>
      <p:ext uri="{BB962C8B-B14F-4D97-AF65-F5344CB8AC3E}">
        <p14:creationId xmlns:p14="http://schemas.microsoft.com/office/powerpoint/2010/main" val="10826995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28761-724C-C01B-B135-895E216EC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1105320"/>
            <a:ext cx="10353762" cy="3717890"/>
          </a:xfrm>
        </p:spPr>
        <p:txBody>
          <a:bodyPr>
            <a:normAutofit/>
          </a:bodyPr>
          <a:lstStyle/>
          <a:p>
            <a:r>
              <a:rPr lang="en-US" sz="7200" b="1">
                <a:solidFill>
                  <a:srgbClr val="FF0000"/>
                </a:solidFill>
              </a:rPr>
              <a:t>Start Binding</a:t>
            </a:r>
          </a:p>
        </p:txBody>
      </p:sp>
    </p:spTree>
    <p:extLst>
      <p:ext uri="{BB962C8B-B14F-4D97-AF65-F5344CB8AC3E}">
        <p14:creationId xmlns:p14="http://schemas.microsoft.com/office/powerpoint/2010/main" val="22661863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8FB81-CAF0-BEDE-05F1-96E505B87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970450"/>
          </a:xfrm>
        </p:spPr>
        <p:txBody>
          <a:bodyPr>
            <a:normAutofit/>
          </a:bodyPr>
          <a:lstStyle/>
          <a:p>
            <a:r>
              <a:rPr lang="en-US" sz="4400" b="1">
                <a:solidFill>
                  <a:srgbClr val="FF0000"/>
                </a:solidFill>
              </a:rPr>
              <a:t>Binding</a:t>
            </a:r>
            <a:endParaRPr lang="en-US" sz="4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14B1D5-538A-EA13-52C2-4F04C8BE92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090" y="999946"/>
            <a:ext cx="10776155" cy="5204207"/>
          </a:xfrm>
        </p:spPr>
        <p:txBody>
          <a:bodyPr/>
          <a:lstStyle/>
          <a:p>
            <a:r>
              <a:rPr lang="en-US" b="1"/>
              <a:t>Interpolation</a:t>
            </a:r>
          </a:p>
          <a:p>
            <a:r>
              <a:rPr lang="en-US" b="1"/>
              <a:t>attribute (property) binding</a:t>
            </a:r>
          </a:p>
          <a:p>
            <a:r>
              <a:rPr lang="en-US" b="1"/>
              <a:t>class binding</a:t>
            </a:r>
          </a:p>
          <a:p>
            <a:r>
              <a:rPr lang="en-US" b="1"/>
              <a:t>style binding</a:t>
            </a:r>
          </a:p>
          <a:p>
            <a:r>
              <a:rPr lang="en-US" b="1"/>
              <a:t>Event Binding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2199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EB9FE-AB7D-CDD7-BEF9-70EA3EBEB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726831"/>
          </a:xfrm>
        </p:spPr>
        <p:txBody>
          <a:bodyPr/>
          <a:lstStyle/>
          <a:p>
            <a:r>
              <a:rPr lang="en-US" b="1">
                <a:solidFill>
                  <a:srgbClr val="FF0000"/>
                </a:solidFill>
              </a:rPr>
              <a:t>Event binding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C67971-C05A-29CD-B962-ACCE29ECF6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726831"/>
            <a:ext cx="10353762" cy="5064369"/>
          </a:xfrm>
        </p:spPr>
        <p:txBody>
          <a:bodyPr/>
          <a:lstStyle/>
          <a:p>
            <a:r>
              <a:rPr lang="en-US">
                <a:effectLst/>
              </a:rPr>
              <a:t>Function in event binding should be invoked</a:t>
            </a:r>
          </a:p>
          <a:p>
            <a:pPr lvl="1"/>
            <a:r>
              <a:rPr lang="en-US">
                <a:effectLst/>
              </a:rPr>
              <a:t>(submit)="SubmitAddingColorOption"  // XXX</a:t>
            </a:r>
          </a:p>
          <a:p>
            <a:pPr lvl="1"/>
            <a:r>
              <a:rPr lang="en-US">
                <a:effectLst/>
              </a:rPr>
              <a:t>(submit)="SubmitAddingColorOption()" 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4726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B163C-BE07-DC9B-86D8-C2A225BDC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644" y="609600"/>
            <a:ext cx="11354637" cy="5911780"/>
          </a:xfrm>
        </p:spPr>
        <p:txBody>
          <a:bodyPr>
            <a:normAutofit/>
          </a:bodyPr>
          <a:lstStyle/>
          <a:p>
            <a:r>
              <a:rPr lang="en-US" sz="7200" b="1">
                <a:solidFill>
                  <a:srgbClr val="FF0000"/>
                </a:solidFill>
              </a:rPr>
              <a:t>End Binding</a:t>
            </a:r>
            <a:endParaRPr lang="en-US" sz="7200"/>
          </a:p>
        </p:txBody>
      </p:sp>
    </p:spTree>
    <p:extLst>
      <p:ext uri="{BB962C8B-B14F-4D97-AF65-F5344CB8AC3E}">
        <p14:creationId xmlns:p14="http://schemas.microsoft.com/office/powerpoint/2010/main" val="40479307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F2DD4-D862-E89B-3A1F-B3DEAFE55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599"/>
            <a:ext cx="10353762" cy="5298831"/>
          </a:xfrm>
        </p:spPr>
        <p:txBody>
          <a:bodyPr>
            <a:normAutofit/>
          </a:bodyPr>
          <a:lstStyle/>
          <a:p>
            <a:r>
              <a:rPr lang="en-US" sz="4400" b="1">
                <a:solidFill>
                  <a:srgbClr val="FF0000"/>
                </a:solidFill>
              </a:rPr>
              <a:t>Start Access element</a:t>
            </a:r>
          </a:p>
        </p:txBody>
      </p:sp>
    </p:spTree>
    <p:extLst>
      <p:ext uri="{BB962C8B-B14F-4D97-AF65-F5344CB8AC3E}">
        <p14:creationId xmlns:p14="http://schemas.microsoft.com/office/powerpoint/2010/main" val="31031734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E00C2-04D2-89D3-8778-1A453F86D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"/>
            <a:ext cx="10353762" cy="562708"/>
          </a:xfrm>
        </p:spPr>
        <p:txBody>
          <a:bodyPr>
            <a:normAutofit fontScale="90000"/>
          </a:bodyPr>
          <a:lstStyle/>
          <a:p>
            <a:r>
              <a:rPr lang="en-US" b="1"/>
              <a:t>access element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CB42E6-FCE9-5BB9-CB78-0243399CB0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1015" y="562709"/>
            <a:ext cx="11806814" cy="6099348"/>
          </a:xfrm>
        </p:spPr>
        <p:txBody>
          <a:bodyPr/>
          <a:lstStyle/>
          <a:p>
            <a:r>
              <a:rPr lang="en-US"/>
              <a:t>To access the element in Agular you need to assign to it  </a:t>
            </a:r>
            <a:r>
              <a:rPr lang="en-US" b="1"/>
              <a:t>Template Reference Variable</a:t>
            </a:r>
          </a:p>
          <a:p>
            <a:r>
              <a:rPr lang="en-US" b="1"/>
              <a:t>For example</a:t>
            </a:r>
          </a:p>
          <a:p>
            <a:pPr lvl="1"/>
            <a:r>
              <a:rPr lang="en-US"/>
              <a:t>&lt;div </a:t>
            </a:r>
            <a:r>
              <a:rPr lang="en-US" b="1">
                <a:solidFill>
                  <a:srgbClr val="FFFF00"/>
                </a:solidFill>
              </a:rPr>
              <a:t>#myElement</a:t>
            </a:r>
            <a:r>
              <a:rPr lang="en-US"/>
              <a:t>&gt;Some content&lt;/div&gt;</a:t>
            </a:r>
          </a:p>
          <a:p>
            <a:pPr lvl="2"/>
            <a:r>
              <a:rPr lang="en-US" b="1"/>
              <a:t>The </a:t>
            </a:r>
            <a:r>
              <a:rPr lang="en-US" b="1">
                <a:solidFill>
                  <a:srgbClr val="FFFF00"/>
                </a:solidFill>
              </a:rPr>
              <a:t>#myElement</a:t>
            </a:r>
            <a:r>
              <a:rPr lang="en-US" b="1"/>
              <a:t> is called a </a:t>
            </a:r>
            <a:r>
              <a:rPr lang="en-US" b="1">
                <a:solidFill>
                  <a:srgbClr val="FFFF00"/>
                </a:solidFill>
                <a:effectLst/>
              </a:rPr>
              <a:t>Template Reference Variable.</a:t>
            </a:r>
          </a:p>
          <a:p>
            <a:pPr lvl="2"/>
            <a:r>
              <a:rPr lang="en-US" b="1"/>
              <a:t>Pointer to that specific DOM element</a:t>
            </a:r>
          </a:p>
          <a:p>
            <a:pPr lvl="2"/>
            <a:r>
              <a:rPr lang="en-US" b="1"/>
              <a:t>The # is to declare the variable</a:t>
            </a:r>
          </a:p>
          <a:p>
            <a:pPr lvl="2"/>
            <a:r>
              <a:rPr lang="en-US" b="1">
                <a:solidFill>
                  <a:srgbClr val="FFFF00"/>
                </a:solidFill>
              </a:rPr>
              <a:t>ElementRef&lt;any&gt;</a:t>
            </a:r>
            <a:r>
              <a:rPr lang="en-US" b="1"/>
              <a:t> , any is determined as needed, could be </a:t>
            </a:r>
            <a:r>
              <a:rPr lang="en-US" b="1">
                <a:solidFill>
                  <a:srgbClr val="FFFF00"/>
                </a:solidFill>
                <a:effectLst/>
              </a:rPr>
              <a:t>HTMLSelectElement</a:t>
            </a:r>
            <a:r>
              <a:rPr lang="en-US">
                <a:effectLst/>
              </a:rPr>
              <a:t>, </a:t>
            </a:r>
            <a:r>
              <a:rPr lang="en-US" b="1">
                <a:solidFill>
                  <a:srgbClr val="FFFF00"/>
                </a:solidFill>
                <a:effectLst/>
              </a:rPr>
              <a:t>HTMLInputElement</a:t>
            </a:r>
            <a:endParaRPr lang="en-US" b="1">
              <a:solidFill>
                <a:srgbClr val="FFFF00"/>
              </a:solidFill>
            </a:endParaRPr>
          </a:p>
          <a:p>
            <a:r>
              <a:rPr lang="en-US" b="1"/>
              <a:t>To access the element in HTML </a:t>
            </a:r>
          </a:p>
          <a:p>
            <a:pPr lvl="1"/>
            <a:r>
              <a:rPr lang="en-US" b="1"/>
              <a:t>&lt;input type="number" #inputCount&gt;</a:t>
            </a:r>
          </a:p>
          <a:p>
            <a:pPr lvl="1"/>
            <a:r>
              <a:rPr lang="en-US" b="1"/>
              <a:t>&lt;button  (click)="calc(inputCount.value)"&gt;calc&lt;/button&gt;</a:t>
            </a:r>
          </a:p>
          <a:p>
            <a:pPr lvl="1"/>
            <a:endParaRPr lang="en-US"/>
          </a:p>
          <a:p>
            <a:pPr marL="3690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1791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7D9E3-B8F9-9893-4998-1A30C543B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643095"/>
          </a:xfrm>
        </p:spPr>
        <p:txBody>
          <a:bodyPr>
            <a:normAutofit/>
          </a:bodyPr>
          <a:lstStyle/>
          <a:p>
            <a:r>
              <a:rPr lang="en-US" sz="3200" b="1"/>
              <a:t>access element [ViewChild]</a:t>
            </a:r>
            <a:endParaRPr lang="en-US" sz="3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9113A3-2665-D5E5-1693-8118F9DDFC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724" y="643095"/>
            <a:ext cx="11857055" cy="6099349"/>
          </a:xfrm>
        </p:spPr>
        <p:txBody>
          <a:bodyPr/>
          <a:lstStyle/>
          <a:p>
            <a:r>
              <a:rPr lang="en-US"/>
              <a:t>To access the element in ts</a:t>
            </a:r>
          </a:p>
          <a:p>
            <a:pPr lvl="1"/>
            <a:r>
              <a:rPr lang="en-US">
                <a:effectLst/>
              </a:rPr>
              <a:t>@</a:t>
            </a:r>
            <a:r>
              <a:rPr lang="en-US">
                <a:solidFill>
                  <a:srgbClr val="FFFF00"/>
                </a:solidFill>
                <a:effectLst/>
              </a:rPr>
              <a:t>ViewChild</a:t>
            </a:r>
            <a:r>
              <a:rPr lang="en-US">
                <a:effectLst/>
              </a:rPr>
              <a:t>('</a:t>
            </a:r>
            <a:r>
              <a:rPr lang="en-US" b="1"/>
              <a:t>TemplateReferenceVariable</a:t>
            </a:r>
            <a:r>
              <a:rPr lang="en-US">
                <a:effectLst/>
              </a:rPr>
              <a:t>') selectElement!: ElementRef&lt;HTMLSelectElement&gt;;</a:t>
            </a:r>
          </a:p>
          <a:p>
            <a:pPr lvl="1"/>
            <a:r>
              <a:rPr lang="en-US">
                <a:effectLst/>
              </a:rPr>
              <a:t>@ViewChild('selectElement', { static: true }) secondElement!: ElementRef&lt;HTMLSelectElement&gt;;</a:t>
            </a:r>
            <a:endParaRPr lang="en-US"/>
          </a:p>
          <a:p>
            <a:r>
              <a:rPr lang="en-US"/>
              <a:t>Without </a:t>
            </a:r>
            <a:r>
              <a:rPr lang="en-US">
                <a:effectLst/>
              </a:rPr>
              <a:t>{ static: false }</a:t>
            </a:r>
          </a:p>
          <a:p>
            <a:pPr lvl="1"/>
            <a:r>
              <a:rPr lang="en-US"/>
              <a:t>It the default, you do not need to write it</a:t>
            </a:r>
          </a:p>
          <a:p>
            <a:pPr lvl="1"/>
            <a:r>
              <a:rPr lang="en-US"/>
              <a:t>The element will be available only in </a:t>
            </a:r>
            <a:r>
              <a:rPr lang="en-US" b="1">
                <a:solidFill>
                  <a:srgbClr val="FFFF00"/>
                </a:solidFill>
              </a:rPr>
              <a:t>ngAfterViewInit</a:t>
            </a:r>
            <a:r>
              <a:rPr lang="en-US"/>
              <a:t>()</a:t>
            </a:r>
          </a:p>
          <a:p>
            <a:pPr lvl="1"/>
            <a:r>
              <a:rPr lang="en-US"/>
              <a:t>Use this if the element is inside a structural directive like </a:t>
            </a:r>
            <a:r>
              <a:rPr lang="en-US">
                <a:effectLst/>
              </a:rPr>
              <a:t>*ngIf</a:t>
            </a:r>
            <a:r>
              <a:rPr lang="en-US"/>
              <a:t> or </a:t>
            </a:r>
            <a:r>
              <a:rPr lang="en-US">
                <a:effectLst/>
              </a:rPr>
              <a:t>*ngFor</a:t>
            </a:r>
            <a:r>
              <a:rPr lang="en-US"/>
              <a:t>.</a:t>
            </a:r>
          </a:p>
          <a:p>
            <a:pPr lvl="1"/>
            <a:r>
              <a:rPr lang="en-US"/>
              <a:t>It will be </a:t>
            </a:r>
            <a:r>
              <a:rPr lang="en-US">
                <a:effectLst/>
              </a:rPr>
              <a:t>undefined if it is used inside </a:t>
            </a:r>
            <a:r>
              <a:rPr lang="en-US"/>
              <a:t>ngOnInit</a:t>
            </a:r>
          </a:p>
          <a:p>
            <a:r>
              <a:rPr lang="en-US"/>
              <a:t>With </a:t>
            </a:r>
            <a:r>
              <a:rPr lang="en-US">
                <a:effectLst/>
              </a:rPr>
              <a:t>{ static: true }</a:t>
            </a:r>
          </a:p>
          <a:p>
            <a:pPr lvl="1"/>
            <a:r>
              <a:rPr lang="en-US"/>
              <a:t>The element will be available in ngOnInit ()</a:t>
            </a:r>
          </a:p>
          <a:p>
            <a:pPr lvl="1"/>
            <a:r>
              <a:rPr lang="en-US"/>
              <a:t>Use this if the element is always present in the DOM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09440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64CBC6-128E-942C-0E6B-8D55DF3FF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F802F-28D9-309C-77BC-ABFEEADAB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599"/>
            <a:ext cx="10353762" cy="5298831"/>
          </a:xfrm>
        </p:spPr>
        <p:txBody>
          <a:bodyPr>
            <a:normAutofit/>
          </a:bodyPr>
          <a:lstStyle/>
          <a:p>
            <a:r>
              <a:rPr lang="en-US" sz="4400" b="1">
                <a:solidFill>
                  <a:srgbClr val="FF0000"/>
                </a:solidFill>
              </a:rPr>
              <a:t>End Access element</a:t>
            </a:r>
          </a:p>
        </p:txBody>
      </p:sp>
    </p:spTree>
    <p:extLst>
      <p:ext uri="{BB962C8B-B14F-4D97-AF65-F5344CB8AC3E}">
        <p14:creationId xmlns:p14="http://schemas.microsoft.com/office/powerpoint/2010/main" val="129945796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B548D-0C11-F00B-C5A2-BFB09807E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5208396"/>
          </a:xfrm>
        </p:spPr>
        <p:txBody>
          <a:bodyPr/>
          <a:lstStyle/>
          <a:p>
            <a:r>
              <a:rPr lang="en-US" b="1">
                <a:solidFill>
                  <a:srgbClr val="FF0000"/>
                </a:solidFill>
              </a:rPr>
              <a:t>Start Observable</a:t>
            </a:r>
          </a:p>
        </p:txBody>
      </p:sp>
    </p:spTree>
    <p:extLst>
      <p:ext uri="{BB962C8B-B14F-4D97-AF65-F5344CB8AC3E}">
        <p14:creationId xmlns:p14="http://schemas.microsoft.com/office/powerpoint/2010/main" val="174201209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23F1A-83BC-D35C-BA4C-54902FC85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550606"/>
          </a:xfrm>
        </p:spPr>
        <p:txBody>
          <a:bodyPr>
            <a:normAutofit fontScale="90000"/>
          </a:bodyPr>
          <a:lstStyle/>
          <a:p>
            <a:r>
              <a:rPr lang="en-US" b="1"/>
              <a:t>Observable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733B1E-E103-C154-025F-8F7D67B2F0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3794" y="550607"/>
            <a:ext cx="11415251" cy="5978012"/>
          </a:xfrm>
        </p:spPr>
        <p:txBody>
          <a:bodyPr/>
          <a:lstStyle/>
          <a:p>
            <a:r>
              <a:rPr lang="en-US" b="1"/>
              <a:t>it is used to handle (manage) asynchronous operations</a:t>
            </a:r>
          </a:p>
          <a:p>
            <a:r>
              <a:rPr lang="en-US" b="1"/>
              <a:t>Emits multiple values over time (better for data streaming) (data producer)</a:t>
            </a:r>
          </a:p>
          <a:p>
            <a:r>
              <a:rPr lang="en-US" b="1"/>
              <a:t>Lazy (executed when subscribed).</a:t>
            </a:r>
          </a:p>
          <a:p>
            <a:r>
              <a:rPr lang="en-US" b="1"/>
              <a:t>Can be canceled (by unsubscribing).</a:t>
            </a:r>
          </a:p>
          <a:p>
            <a:r>
              <a:rPr lang="en-US" b="1"/>
              <a:t>Included in ReactiveX Library</a:t>
            </a:r>
          </a:p>
          <a:p>
            <a:r>
              <a:rPr lang="en-US" b="1">
                <a:effectLst/>
              </a:rPr>
              <a:t>A stream of data or events (like news) that can be sent over time.</a:t>
            </a:r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133511938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9BF36-BBE9-F3EC-68D8-A0C569DEB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599768"/>
          </a:xfrm>
        </p:spPr>
        <p:txBody>
          <a:bodyPr>
            <a:normAutofit fontScale="90000"/>
          </a:bodyPr>
          <a:lstStyle/>
          <a:p>
            <a:r>
              <a:rPr lang="en-US" b="1">
                <a:solidFill>
                  <a:srgbClr val="FF0000"/>
                </a:solidFill>
              </a:rPr>
              <a:t>Observer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6FE41-5DF8-3B8A-99CF-C4F98A2003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464" y="599769"/>
            <a:ext cx="11641393" cy="5997676"/>
          </a:xfrm>
        </p:spPr>
        <p:txBody>
          <a:bodyPr/>
          <a:lstStyle/>
          <a:p>
            <a:r>
              <a:rPr lang="en-US">
                <a:effectLst/>
              </a:rPr>
              <a:t>It is an object (or a set of callbacks) that defines </a:t>
            </a:r>
            <a:r>
              <a:rPr lang="en-US" i="1">
                <a:effectLst/>
              </a:rPr>
              <a:t>how</a:t>
            </a:r>
            <a:r>
              <a:rPr lang="en-US">
                <a:effectLst/>
              </a:rPr>
              <a:t> to handle the data coming from the Observable</a:t>
            </a:r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pPr marL="36900" indent="0">
              <a:buNone/>
            </a:pPr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The object passed inside the </a:t>
            </a:r>
            <a:r>
              <a:rPr lang="en-US" b="1">
                <a:solidFill>
                  <a:srgbClr val="FFFF00"/>
                </a:solidFill>
              </a:rPr>
              <a:t>.subscribe()</a:t>
            </a:r>
            <a:r>
              <a:rPr lang="en-US"/>
              <a:t> method is the </a:t>
            </a:r>
            <a:r>
              <a:rPr lang="en-US" b="1">
                <a:solidFill>
                  <a:srgbClr val="FFFF00"/>
                </a:solidFill>
              </a:rPr>
              <a:t>Observer</a:t>
            </a:r>
          </a:p>
          <a:p>
            <a:r>
              <a:rPr lang="en-US"/>
              <a:t>The complete is called when the Observable finishes its lifecycle , NOT called if an error happens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E29D33-4B89-224D-D545-09A825300F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464" y="1253367"/>
            <a:ext cx="5275062" cy="2433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81389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0F302-55BD-6F9E-F1D9-C6B30B72D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619432"/>
          </a:xfrm>
        </p:spPr>
        <p:txBody>
          <a:bodyPr>
            <a:normAutofit fontScale="90000"/>
          </a:bodyPr>
          <a:lstStyle/>
          <a:p>
            <a:r>
              <a:rPr lang="en-US" sz="4400" b="1">
                <a:solidFill>
                  <a:srgbClr val="FF0000"/>
                </a:solidFill>
              </a:rPr>
              <a:t>Subscriber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78A388-1F3E-2877-3CB0-63D95487DD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645" y="707923"/>
            <a:ext cx="11818374" cy="5899354"/>
          </a:xfrm>
        </p:spPr>
        <p:txBody>
          <a:bodyPr/>
          <a:lstStyle/>
          <a:p>
            <a:r>
              <a:rPr lang="en-US">
                <a:effectLst/>
              </a:rPr>
              <a:t>acts as the middleman: It takes value from the Observable and hands it to the Observer's next() method</a:t>
            </a:r>
            <a:endParaRPr lang="en-US"/>
          </a:p>
          <a:p>
            <a:r>
              <a:rPr lang="en-US"/>
              <a:t>The </a:t>
            </a:r>
            <a:r>
              <a:rPr lang="en-US" b="1">
                <a:solidFill>
                  <a:srgbClr val="FFFF00"/>
                </a:solidFill>
              </a:rPr>
              <a:t>subscriber</a:t>
            </a:r>
            <a:r>
              <a:rPr lang="en-US"/>
              <a:t> parameter inside the new </a:t>
            </a:r>
            <a:r>
              <a:rPr lang="en-US" b="1">
                <a:solidFill>
                  <a:srgbClr val="FFFF00"/>
                </a:solidFill>
              </a:rPr>
              <a:t>Observable constructor</a:t>
            </a:r>
            <a:r>
              <a:rPr lang="en-US"/>
              <a:t> is Subscriber.</a:t>
            </a:r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6793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FDAFF-652F-D97C-B156-17FBE471C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589935"/>
          </a:xfrm>
        </p:spPr>
        <p:txBody>
          <a:bodyPr>
            <a:normAutofit fontScale="90000"/>
          </a:bodyPr>
          <a:lstStyle/>
          <a:p>
            <a:r>
              <a:rPr lang="en-US" b="1"/>
              <a:t>Observable example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72204C2-0829-E37C-9C3D-E7463B466F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8889" y="721816"/>
            <a:ext cx="5728817" cy="2193464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08C0BDF-7358-793F-BD0C-A5CFDE7B1E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565" y="3298371"/>
            <a:ext cx="5727141" cy="2427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00260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DA1AC-105A-848C-3352-D6E107198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522514"/>
          </a:xfrm>
        </p:spPr>
        <p:txBody>
          <a:bodyPr>
            <a:normAutofit fontScale="90000"/>
          </a:bodyPr>
          <a:lstStyle/>
          <a:p>
            <a:r>
              <a:rPr lang="en-US"/>
              <a:t>Next()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1DA791-4E7C-1F36-6391-0F8A90BD27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522514"/>
            <a:ext cx="10353762" cy="5868237"/>
          </a:xfrm>
        </p:spPr>
        <p:txBody>
          <a:bodyPr/>
          <a:lstStyle/>
          <a:p>
            <a:r>
              <a:rPr lang="en-US"/>
              <a:t>The next could only be in the observer</a:t>
            </a:r>
          </a:p>
          <a:p>
            <a:endParaRPr lang="en-US"/>
          </a:p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5877F6-21A8-6AB9-5C0A-F59E08EB82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3957" y="1149018"/>
            <a:ext cx="4409028" cy="3268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97956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61C75-4C44-83FD-3C4D-7C4175254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612949"/>
          </a:xfrm>
        </p:spPr>
        <p:txBody>
          <a:bodyPr>
            <a:normAutofit fontScale="90000"/>
          </a:bodyPr>
          <a:lstStyle/>
          <a:p>
            <a:r>
              <a:rPr lang="en-US"/>
              <a:t>Complete()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33C8B1-3490-2F46-DB7D-37DC08CFD5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is called </a:t>
            </a:r>
            <a:r>
              <a:rPr lang="en-US" b="1"/>
              <a:t>after the Observable has finished emitting all its values</a:t>
            </a:r>
            <a:r>
              <a:rPr lang="en-US"/>
              <a:t> and only if no error occurred.</a:t>
            </a:r>
          </a:p>
        </p:txBody>
      </p:sp>
    </p:spTree>
    <p:extLst>
      <p:ext uri="{BB962C8B-B14F-4D97-AF65-F5344CB8AC3E}">
        <p14:creationId xmlns:p14="http://schemas.microsoft.com/office/powerpoint/2010/main" val="300098038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03C6D-5605-0212-1DF2-26BBF1A8A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"/>
            <a:ext cx="10353762" cy="520840"/>
          </a:xfrm>
        </p:spPr>
        <p:txBody>
          <a:bodyPr>
            <a:normAutofit fontScale="90000"/>
          </a:bodyPr>
          <a:lstStyle/>
          <a:p>
            <a:r>
              <a:rPr lang="en-US" b="1">
                <a:solidFill>
                  <a:srgbClr val="FF0000"/>
                </a:solidFill>
              </a:rPr>
              <a:t>BehaviorSubject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CFE6A4-EB49-E428-D7E3-26728F58B1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86" y="520842"/>
            <a:ext cx="12111613" cy="6337158"/>
          </a:xfrm>
        </p:spPr>
        <p:txBody>
          <a:bodyPr>
            <a:normAutofit/>
          </a:bodyPr>
          <a:lstStyle/>
          <a:p>
            <a:r>
              <a:rPr lang="en-US" sz="1800"/>
              <a:t>manage </a:t>
            </a:r>
            <a:r>
              <a:rPr lang="en-US" sz="1800" b="1"/>
              <a:t>shared state between components</a:t>
            </a:r>
            <a:r>
              <a:rPr lang="en-US" sz="1800"/>
              <a:t>, like login status, theme changes, cart updates, etc.</a:t>
            </a:r>
          </a:p>
          <a:p>
            <a:r>
              <a:rPr lang="en-US" sz="1800"/>
              <a:t>A </a:t>
            </a:r>
            <a:r>
              <a:rPr lang="en-US" sz="1800" b="1"/>
              <a:t>BehaviorSubject</a:t>
            </a:r>
            <a:r>
              <a:rPr lang="en-US" sz="1800"/>
              <a:t> is a special type of </a:t>
            </a:r>
            <a:r>
              <a:rPr lang="en-US" sz="1800" b="1"/>
              <a:t>Observable </a:t>
            </a:r>
            <a:r>
              <a:rPr lang="en-US" sz="1800"/>
              <a:t>that </a:t>
            </a:r>
          </a:p>
          <a:p>
            <a:pPr lvl="1"/>
            <a:r>
              <a:rPr lang="en-US" b="1"/>
              <a:t>stores the latest value</a:t>
            </a:r>
          </a:p>
          <a:p>
            <a:pPr lvl="1"/>
            <a:r>
              <a:rPr lang="en-US" b="1"/>
              <a:t>Immediately sends the last value to new subscribers</a:t>
            </a:r>
          </a:p>
          <a:p>
            <a:r>
              <a:rPr lang="en-US" sz="1800" b="1"/>
              <a:t>So any component that subscribes will always receive the current state instantly.</a:t>
            </a:r>
          </a:p>
          <a:p>
            <a:r>
              <a:rPr lang="en-US" sz="1800" b="1"/>
              <a:t>BehaviorSubject = Observable + Current Value Storage</a:t>
            </a:r>
          </a:p>
          <a:p>
            <a:endParaRPr lang="en-US" sz="180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D57395D-480D-4A9A-E183-7328C3D96D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508" y="2465476"/>
            <a:ext cx="4785492" cy="439252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C3D7E00-8E9E-74B4-53FC-B844DD2C69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545" y="3097405"/>
            <a:ext cx="4572001" cy="260542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75824B4-C5B7-AA14-0CEB-78DD29A4BD4F}"/>
              </a:ext>
            </a:extLst>
          </p:cNvPr>
          <p:cNvSpPr txBox="1"/>
          <p:nvPr/>
        </p:nvSpPr>
        <p:spPr>
          <a:xfrm>
            <a:off x="357153" y="5861157"/>
            <a:ext cx="609388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When a </a:t>
            </a:r>
            <a:r>
              <a:rPr lang="en-US"/>
              <a:t>Subject</a:t>
            </a:r>
            <a:r>
              <a:rPr lang="en-US" sz="2000"/>
              <a:t> </a:t>
            </a:r>
            <a:r>
              <a:rPr lang="en-US" sz="2000" b="1">
                <a:solidFill>
                  <a:srgbClr val="FFC000"/>
                </a:solidFill>
              </a:rPr>
              <a:t>emits</a:t>
            </a:r>
            <a:r>
              <a:rPr lang="en-US" sz="2000"/>
              <a:t> a value </a:t>
            </a:r>
            <a:r>
              <a:rPr lang="en-US" sz="2000" b="1">
                <a:solidFill>
                  <a:srgbClr val="FFC000"/>
                </a:solidFill>
              </a:rPr>
              <a:t>using </a:t>
            </a:r>
            <a:r>
              <a:rPr lang="en-US" b="1">
                <a:solidFill>
                  <a:srgbClr val="FFC000"/>
                </a:solidFill>
              </a:rPr>
              <a:t>.next()</a:t>
            </a:r>
            <a:r>
              <a:rPr lang="en-US" sz="2000"/>
              <a:t>, </a:t>
            </a:r>
            <a:r>
              <a:rPr lang="en-US" sz="2000" b="1"/>
              <a:t>all current </a:t>
            </a:r>
            <a:r>
              <a:rPr lang="en-US" sz="2000" b="1">
                <a:solidFill>
                  <a:srgbClr val="FFC000"/>
                </a:solidFill>
              </a:rPr>
              <a:t>subscribers</a:t>
            </a:r>
            <a:r>
              <a:rPr lang="en-US" sz="2000"/>
              <a:t> </a:t>
            </a:r>
            <a:r>
              <a:rPr lang="en-US" sz="2000" b="1">
                <a:solidFill>
                  <a:srgbClr val="92D050"/>
                </a:solidFill>
              </a:rPr>
              <a:t>receive</a:t>
            </a:r>
            <a:r>
              <a:rPr lang="en-US" sz="2000"/>
              <a:t> that value.</a:t>
            </a:r>
          </a:p>
          <a:p>
            <a:r>
              <a:rPr lang="en-US" sz="2000"/>
              <a:t>The subscriber is like listener to value</a:t>
            </a:r>
          </a:p>
        </p:txBody>
      </p:sp>
    </p:spTree>
    <p:extLst>
      <p:ext uri="{BB962C8B-B14F-4D97-AF65-F5344CB8AC3E}">
        <p14:creationId xmlns:p14="http://schemas.microsoft.com/office/powerpoint/2010/main" val="209167500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DD2ED-C010-3A25-B3D4-7D6BCCC81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777073"/>
          </a:xfrm>
        </p:spPr>
        <p:txBody>
          <a:bodyPr/>
          <a:lstStyle/>
          <a:p>
            <a:r>
              <a:rPr lang="en-US" b="1">
                <a:solidFill>
                  <a:srgbClr val="FF0000"/>
                </a:solidFill>
              </a:rPr>
              <a:t>Example 1: Login State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4884EF8-44F0-8020-3758-D09D633C70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938212"/>
            <a:ext cx="5205045" cy="511175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71D5F1D-B4A3-DD0A-447B-EB06D4001B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6256" y="938212"/>
            <a:ext cx="4903595" cy="400681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6C77695-EE4D-20EA-DB98-6C91EDE4A2D3}"/>
              </a:ext>
            </a:extLst>
          </p:cNvPr>
          <p:cNvSpPr/>
          <p:nvPr/>
        </p:nvSpPr>
        <p:spPr>
          <a:xfrm>
            <a:off x="1175656" y="6139543"/>
            <a:ext cx="10018207" cy="7184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/>
              <a:t>The Observable here relays (forwards) whatever the BehaviorSubject emits.</a:t>
            </a:r>
          </a:p>
        </p:txBody>
      </p:sp>
    </p:spTree>
    <p:extLst>
      <p:ext uri="{BB962C8B-B14F-4D97-AF65-F5344CB8AC3E}">
        <p14:creationId xmlns:p14="http://schemas.microsoft.com/office/powerpoint/2010/main" val="159117062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D8548-84FF-0F62-E996-3F97F301F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56" y="0"/>
            <a:ext cx="10353762" cy="622998"/>
          </a:xfrm>
        </p:spPr>
        <p:txBody>
          <a:bodyPr>
            <a:normAutofit fontScale="90000"/>
          </a:bodyPr>
          <a:lstStyle/>
          <a:p>
            <a:r>
              <a:rPr lang="en-US" b="1">
                <a:solidFill>
                  <a:srgbClr val="FF0000"/>
                </a:solidFill>
              </a:rPr>
              <a:t>Example 1: Login State [cont.1]</a:t>
            </a:r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1C252A7A-4B94-1CD8-B5A7-FCB6B8A8C5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622998"/>
            <a:ext cx="6392698" cy="5644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51673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A278E-CBE4-CF30-C56E-8ADB194AF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572756"/>
          </a:xfrm>
        </p:spPr>
        <p:txBody>
          <a:bodyPr>
            <a:normAutofit fontScale="90000"/>
          </a:bodyPr>
          <a:lstStyle/>
          <a:p>
            <a:r>
              <a:rPr lang="en-US" b="1">
                <a:solidFill>
                  <a:srgbClr val="FF0000"/>
                </a:solidFill>
              </a:rPr>
              <a:t>BehaviorSubject [cont.]</a:t>
            </a:r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E6AEAB2-B0E6-0078-12CF-E00DBFF43A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02338"/>
            <a:ext cx="4108154" cy="51207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EEC121D-C332-9F96-074B-1FFA4A1E7D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8154" y="748132"/>
            <a:ext cx="4286250" cy="14382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8E3B65E-1F3F-C36C-0ACC-5493204FB8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5411" y="2361783"/>
            <a:ext cx="4871503" cy="3633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37575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07099-2758-6033-8A35-0FE7B4B56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0"/>
            <a:ext cx="10353762" cy="697470"/>
          </a:xfrm>
        </p:spPr>
        <p:txBody>
          <a:bodyPr>
            <a:normAutofit/>
          </a:bodyPr>
          <a:lstStyle/>
          <a:p>
            <a:r>
              <a:rPr lang="en-US" sz="3600" b="1">
                <a:solidFill>
                  <a:srgbClr val="FF0000"/>
                </a:solidFill>
              </a:rPr>
              <a:t>BehaviorSubject [cont.2]</a:t>
            </a:r>
            <a:endParaRPr lang="en-US" sz="360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965342F-1240-8B02-27B9-A9F4875D5B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566842"/>
            <a:ext cx="6621864" cy="616680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1402666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CFD92-343B-8F2D-B4BE-703234B5E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817266"/>
          </a:xfrm>
        </p:spPr>
        <p:txBody>
          <a:bodyPr/>
          <a:lstStyle/>
          <a:p>
            <a:r>
              <a:rPr lang="en-US" b="1">
                <a:solidFill>
                  <a:srgbClr val="FF0000"/>
                </a:solidFill>
              </a:rPr>
              <a:t>Advanced Example (User Object)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23F10A0-9D69-567A-4873-BC0C20B471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1015" y="927169"/>
            <a:ext cx="5879661" cy="5789512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7544101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A4861-F8BC-F199-21FB-61F4353A3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208" y="0"/>
            <a:ext cx="11776667" cy="696686"/>
          </a:xfrm>
        </p:spPr>
        <p:txBody>
          <a:bodyPr>
            <a:normAutofit fontScale="90000"/>
          </a:bodyPr>
          <a:lstStyle/>
          <a:p>
            <a:r>
              <a:rPr lang="en-US" b="1">
                <a:solidFill>
                  <a:srgbClr val="FF0000"/>
                </a:solidFill>
              </a:rPr>
              <a:t>Plain Subject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32221E-2F66-AD65-2FC8-F30EF00240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209" y="696686"/>
            <a:ext cx="11776668" cy="6055805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12223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569E3-5080-4C73-6A3F-42BC1A4FE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714703"/>
          </a:xfrm>
        </p:spPr>
        <p:txBody>
          <a:bodyPr/>
          <a:lstStyle/>
          <a:p>
            <a:r>
              <a:rPr lang="en-US" b="1">
                <a:solidFill>
                  <a:srgbClr val="FF0000"/>
                </a:solidFill>
              </a:rPr>
              <a:t>PIPES with Observable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DC09F-B99C-A835-218C-3FFC5845A4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103" y="714704"/>
            <a:ext cx="11950264" cy="6011918"/>
          </a:xfrm>
        </p:spPr>
        <p:txBody>
          <a:bodyPr>
            <a:normAutofit/>
          </a:bodyPr>
          <a:lstStyle/>
          <a:p>
            <a:r>
              <a:rPr lang="en-US" b="1"/>
              <a:t>It allows you to transform, filter, or manipulate the data emitted by an observable before it reaches its final subscribing</a:t>
            </a:r>
          </a:p>
          <a:p>
            <a:r>
              <a:rPr lang="en-US" b="1">
                <a:solidFill>
                  <a:schemeClr val="accent1">
                    <a:lumMod val="40000"/>
                    <a:lumOff val="60000"/>
                  </a:schemeClr>
                </a:solidFill>
              </a:rPr>
              <a:t>Returns a New Observable</a:t>
            </a:r>
            <a:r>
              <a:rPr lang="en-US" b="1"/>
              <a:t>: When you use the pipe method, it doesn't modify the original observable. Instead, it returns a new observable that applies the defined transformations.</a:t>
            </a:r>
          </a:p>
          <a:p>
            <a:pPr marL="36900" indent="0">
              <a:buNone/>
            </a:pPr>
            <a:r>
              <a:rPr lang="en-US" b="1"/>
              <a:t>const </a:t>
            </a:r>
            <a:r>
              <a:rPr lang="en-US" b="1">
                <a:solidFill>
                  <a:srgbClr val="00B0F0"/>
                </a:solidFill>
              </a:rPr>
              <a:t>obs</a:t>
            </a:r>
            <a:r>
              <a:rPr lang="en-US" b="1"/>
              <a:t> = new </a:t>
            </a:r>
            <a:r>
              <a:rPr lang="en-US" b="1">
                <a:solidFill>
                  <a:srgbClr val="00B0F0"/>
                </a:solidFill>
              </a:rPr>
              <a:t>Observable</a:t>
            </a:r>
            <a:r>
              <a:rPr lang="en-US" b="1"/>
              <a:t>((</a:t>
            </a:r>
            <a:r>
              <a:rPr lang="en-US" b="1">
                <a:solidFill>
                  <a:srgbClr val="FFFF00"/>
                </a:solidFill>
              </a:rPr>
              <a:t>subscriber</a:t>
            </a:r>
            <a:r>
              <a:rPr lang="en-US" b="1"/>
              <a:t>) =&gt; {</a:t>
            </a:r>
          </a:p>
          <a:p>
            <a:pPr marL="36900" indent="0">
              <a:buNone/>
            </a:pPr>
            <a:r>
              <a:rPr lang="en-US" b="1"/>
              <a:t>	</a:t>
            </a:r>
            <a:r>
              <a:rPr lang="en-US" b="1">
                <a:solidFill>
                  <a:srgbClr val="FFFF00"/>
                </a:solidFill>
              </a:rPr>
              <a:t>subscriber</a:t>
            </a:r>
            <a:r>
              <a:rPr lang="en-US" b="1"/>
              <a:t>.next(1);	</a:t>
            </a:r>
            <a:r>
              <a:rPr lang="en-US" b="1">
                <a:solidFill>
                  <a:srgbClr val="FFFF00"/>
                </a:solidFill>
              </a:rPr>
              <a:t>subscriber</a:t>
            </a:r>
            <a:r>
              <a:rPr lang="en-US" b="1"/>
              <a:t>.next(2);</a:t>
            </a:r>
          </a:p>
          <a:p>
            <a:pPr marL="36900" indent="0">
              <a:buNone/>
            </a:pPr>
            <a:r>
              <a:rPr lang="en-US" b="1"/>
              <a:t>	</a:t>
            </a:r>
            <a:r>
              <a:rPr lang="en-US" b="1">
                <a:solidFill>
                  <a:srgbClr val="FFFF00"/>
                </a:solidFill>
              </a:rPr>
              <a:t>subscriber</a:t>
            </a:r>
            <a:r>
              <a:rPr lang="en-US" b="1"/>
              <a:t>.next(3);	</a:t>
            </a:r>
            <a:r>
              <a:rPr lang="en-US" b="1">
                <a:solidFill>
                  <a:srgbClr val="FFFF00"/>
                </a:solidFill>
              </a:rPr>
              <a:t>subscriber</a:t>
            </a:r>
            <a:r>
              <a:rPr lang="en-US" b="1"/>
              <a:t>.next(4);	</a:t>
            </a:r>
            <a:r>
              <a:rPr lang="en-US" b="1">
                <a:solidFill>
                  <a:srgbClr val="FFFF00"/>
                </a:solidFill>
              </a:rPr>
              <a:t>subscriber</a:t>
            </a:r>
            <a:r>
              <a:rPr lang="en-US" b="1"/>
              <a:t>.next(5);  </a:t>
            </a:r>
          </a:p>
          <a:p>
            <a:pPr marL="36900" indent="0">
              <a:buNone/>
            </a:pPr>
            <a:r>
              <a:rPr lang="en-US" b="1"/>
              <a:t>	</a:t>
            </a:r>
            <a:r>
              <a:rPr lang="en-US" b="1">
                <a:solidFill>
                  <a:srgbClr val="FFFF00"/>
                </a:solidFill>
              </a:rPr>
              <a:t>subscriber</a:t>
            </a:r>
            <a:r>
              <a:rPr lang="en-US" b="1"/>
              <a:t>.complete();  // Signals that no more values will be emitted</a:t>
            </a:r>
          </a:p>
          <a:p>
            <a:pPr marL="36900" indent="0">
              <a:buNone/>
            </a:pPr>
            <a:r>
              <a:rPr lang="en-US" b="1"/>
              <a:t>}).</a:t>
            </a:r>
            <a:r>
              <a:rPr lang="en-US" b="1">
                <a:solidFill>
                  <a:schemeClr val="accent1">
                    <a:lumMod val="40000"/>
                    <a:lumOff val="60000"/>
                  </a:schemeClr>
                </a:solidFill>
              </a:rPr>
              <a:t>pipe</a:t>
            </a:r>
            <a:r>
              <a:rPr lang="en-US" b="1"/>
              <a:t>(</a:t>
            </a:r>
          </a:p>
          <a:p>
            <a:pPr marL="36900" indent="0">
              <a:buNone/>
            </a:pPr>
            <a:r>
              <a:rPr lang="en-US" sz="1800" b="1"/>
              <a:t>	</a:t>
            </a:r>
            <a:r>
              <a:rPr lang="en-US" b="1">
                <a:solidFill>
                  <a:srgbClr val="00B050"/>
                </a:solidFill>
              </a:rPr>
              <a:t>filter</a:t>
            </a:r>
            <a:r>
              <a:rPr lang="en-US" sz="1800" b="1"/>
              <a:t>((data) =&gt; data &gt; 2),                // Filters out values less than or equal to 2</a:t>
            </a:r>
          </a:p>
          <a:p>
            <a:pPr marL="36900" indent="0">
              <a:buNone/>
            </a:pPr>
            <a:r>
              <a:rPr lang="en-US" sz="1800" b="1"/>
              <a:t>  	</a:t>
            </a:r>
            <a:r>
              <a:rPr lang="en-US" b="1">
                <a:solidFill>
                  <a:srgbClr val="00B050"/>
                </a:solidFill>
              </a:rPr>
              <a:t>map</a:t>
            </a:r>
            <a:r>
              <a:rPr lang="en-US" sz="1800" b="1"/>
              <a:t>((val) =&gt; val * 2)                      // Transforms remaining values by multiplying by 2</a:t>
            </a:r>
            <a:endParaRPr lang="en-US" b="1"/>
          </a:p>
          <a:p>
            <a:pPr marL="36900" indent="0">
              <a:buNone/>
            </a:pPr>
            <a:r>
              <a:rPr lang="en-US" b="1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06438959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E9052-1BE6-21DA-99AF-0D72C69A3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546538"/>
          </a:xfrm>
        </p:spPr>
        <p:txBody>
          <a:bodyPr>
            <a:normAutofit fontScale="90000"/>
          </a:bodyPr>
          <a:lstStyle/>
          <a:p>
            <a:r>
              <a:rPr lang="en-US" sz="3200" b="1">
                <a:solidFill>
                  <a:srgbClr val="FF0000"/>
                </a:solidFill>
              </a:rPr>
              <a:t>PIPES with Observable [cont.1]</a:t>
            </a:r>
            <a:endParaRPr lang="en-US" sz="320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55740B2-8968-545D-C20E-7CE57927A9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24" y="546539"/>
            <a:ext cx="11141433" cy="5244662"/>
          </a:xfrm>
        </p:spPr>
        <p:txBody>
          <a:bodyPr/>
          <a:lstStyle/>
          <a:p>
            <a:r>
              <a:rPr lang="en-US"/>
              <a:t>Pipes could handle errors before the subscriber receives it.</a:t>
            </a:r>
          </a:p>
          <a:p>
            <a:r>
              <a:rPr lang="en-US"/>
              <a:t>pipe() allows you to attach operators to the Observable</a:t>
            </a:r>
          </a:p>
          <a:p>
            <a:r>
              <a:rPr lang="en-US"/>
              <a:t>catchError(Helper.HandleError&lt;OperationResult&gt;('Add’))</a:t>
            </a:r>
          </a:p>
          <a:p>
            <a:pPr fontAlgn="base"/>
            <a:r>
              <a:rPr lang="en-US"/>
              <a:t>This means if request fails : </a:t>
            </a:r>
            <a:r>
              <a:rPr lang="en-US" altLang="en-US"/>
              <a:t>network error,  server error (500), bad request (400)</a:t>
            </a:r>
          </a:p>
          <a:p>
            <a:pPr lvl="1" fontAlgn="base"/>
            <a:r>
              <a:rPr lang="en-US"/>
              <a:t>catchError intercepts the error then calls Helper.HandleError()</a:t>
            </a:r>
            <a:endParaRPr lang="en-US" altLang="en-US"/>
          </a:p>
          <a:p>
            <a:pPr fontAlgn="base"/>
            <a:endParaRPr lang="en-US" altLang="en-US"/>
          </a:p>
        </p:txBody>
      </p:sp>
      <p:pic>
        <p:nvPicPr>
          <p:cNvPr id="10" name="Content Placeholder 6">
            <a:extLst>
              <a:ext uri="{FF2B5EF4-FFF2-40B4-BE49-F238E27FC236}">
                <a16:creationId xmlns:a16="http://schemas.microsoft.com/office/drawing/2014/main" id="{6841B35B-520B-F046-8FE3-8FBFEE89BB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54" y="3429000"/>
            <a:ext cx="9249708" cy="2162504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9531443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09D80-AAED-7B44-CFD1-51147BE33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525517"/>
          </a:xfrm>
        </p:spPr>
        <p:txBody>
          <a:bodyPr>
            <a:normAutofit fontScale="90000"/>
          </a:bodyPr>
          <a:lstStyle/>
          <a:p>
            <a:r>
              <a:rPr lang="en-US" b="1">
                <a:solidFill>
                  <a:srgbClr val="FF0000"/>
                </a:solidFill>
              </a:rPr>
              <a:t>Pipeable 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A79AC3-B4A6-D8CB-0C9B-64B3717FD9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24" y="525517"/>
            <a:ext cx="11866179" cy="6190593"/>
          </a:xfrm>
        </p:spPr>
        <p:txBody>
          <a:bodyPr/>
          <a:lstStyle/>
          <a:p>
            <a:r>
              <a:rPr lang="en-US"/>
              <a:t>inside pipe() you place </a:t>
            </a:r>
            <a:r>
              <a:rPr lang="en-US" b="1"/>
              <a:t>operators</a:t>
            </a:r>
            <a:r>
              <a:rPr lang="en-US"/>
              <a:t>, and they are commonly called </a:t>
            </a:r>
            <a:r>
              <a:rPr lang="en-US" b="1"/>
              <a:t>RxJS operators</a:t>
            </a:r>
            <a:r>
              <a:rPr lang="en-US"/>
              <a:t> (or </a:t>
            </a:r>
            <a:r>
              <a:rPr lang="en-US" b="1"/>
              <a:t>pipeable operators</a:t>
            </a:r>
            <a:r>
              <a:rPr lang="en-US"/>
              <a:t>).</a:t>
            </a:r>
          </a:p>
          <a:p>
            <a:r>
              <a:rPr lang="en-US"/>
              <a:t>map()</a:t>
            </a:r>
          </a:p>
          <a:p>
            <a:r>
              <a:rPr lang="en-US"/>
              <a:t>filter()</a:t>
            </a:r>
          </a:p>
          <a:p>
            <a:r>
              <a:rPr lang="en-US"/>
              <a:t>catchError()</a:t>
            </a:r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88455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181D6-47A1-3B08-2AD2-9B8CF6248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561975"/>
          </a:xfrm>
        </p:spPr>
        <p:txBody>
          <a:bodyPr>
            <a:normAutofit fontScale="90000"/>
          </a:bodyPr>
          <a:lstStyle/>
          <a:p>
            <a:r>
              <a:rPr lang="en-US"/>
              <a:t>Pipeable Operators </a:t>
            </a:r>
            <a:r>
              <a:rPr lang="en-US" b="1">
                <a:solidFill>
                  <a:srgbClr val="FFFF00"/>
                </a:solidFill>
              </a:rPr>
              <a:t>map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ED3A0F-52E1-319A-0737-0CE9334223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883" y="672662"/>
            <a:ext cx="11592910" cy="5980385"/>
          </a:xfrm>
        </p:spPr>
        <p:txBody>
          <a:bodyPr/>
          <a:lstStyle/>
          <a:p>
            <a:r>
              <a:rPr lang="en-US"/>
              <a:t>S</a:t>
            </a:r>
          </a:p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70EB42-6149-7B10-93BA-DF60AA0C5F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2192" y="761835"/>
            <a:ext cx="7847615" cy="5713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00067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6239A-5F43-0C3A-C42F-B9AC0A9D9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3BCE1-D83E-59B8-9A45-532170AE4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561975"/>
          </a:xfrm>
        </p:spPr>
        <p:txBody>
          <a:bodyPr>
            <a:normAutofit fontScale="90000"/>
          </a:bodyPr>
          <a:lstStyle/>
          <a:p>
            <a:r>
              <a:rPr lang="en-US"/>
              <a:t>Pipeable Operators </a:t>
            </a:r>
            <a:r>
              <a:rPr lang="en-US" b="1">
                <a:solidFill>
                  <a:srgbClr val="FFFF00"/>
                </a:solidFill>
              </a:rPr>
              <a:t>filter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C297C2-41A8-E139-A03B-31743F95EF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883" y="672662"/>
            <a:ext cx="11592910" cy="5980385"/>
          </a:xfrm>
        </p:spPr>
        <p:txBody>
          <a:bodyPr/>
          <a:lstStyle/>
          <a:p>
            <a:r>
              <a:rPr lang="en-US"/>
              <a:t>S</a:t>
            </a:r>
          </a:p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FEDC41F-89BF-838A-4451-86D92A4377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4575" y="785812"/>
            <a:ext cx="7562850" cy="528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1244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C9D85-BA3B-6719-5092-8214F434F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641131"/>
          </a:xfrm>
        </p:spPr>
        <p:txBody>
          <a:bodyPr>
            <a:normAutofit fontScale="90000"/>
          </a:bodyPr>
          <a:lstStyle/>
          <a:p>
            <a:r>
              <a:rPr lang="en-US"/>
              <a:t>Pipeable Operators </a:t>
            </a:r>
            <a:r>
              <a:rPr lang="en-US" b="1">
                <a:solidFill>
                  <a:srgbClr val="FFFF00"/>
                </a:solidFill>
              </a:rPr>
              <a:t>CatchError signature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BFBE29-7945-CD2A-04BC-31FC921DDB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41130"/>
            <a:ext cx="12192000" cy="6216869"/>
          </a:xfrm>
        </p:spPr>
        <p:txBody>
          <a:bodyPr/>
          <a:lstStyle/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catchError&lt;OperationResult, Observable&lt;OperationResult&gt;&gt;</a:t>
            </a:r>
          </a:p>
          <a:p>
            <a:pPr lvl="1"/>
            <a:r>
              <a:rPr lang="en-US"/>
              <a:t>OperationResult : Type emitted before error</a:t>
            </a:r>
          </a:p>
          <a:p>
            <a:pPr lvl="1"/>
            <a:r>
              <a:rPr lang="en-US"/>
              <a:t>Observable&lt;OperationResult&gt; : Type emitted before error</a:t>
            </a:r>
          </a:p>
          <a:p>
            <a:r>
              <a:rPr lang="en-US"/>
              <a:t>OperatorFunction&lt;OperationResult, OperationResult&gt;</a:t>
            </a:r>
          </a:p>
          <a:p>
            <a:pPr lvl="1"/>
            <a:r>
              <a:rPr lang="en-US" sz="2000"/>
              <a:t>receives an Observable emitting OperationResult</a:t>
            </a:r>
          </a:p>
          <a:p>
            <a:pPr lvl="1"/>
            <a:r>
              <a:rPr lang="en-US" sz="2000"/>
              <a:t>returns another Observable emitting OperationResult</a:t>
            </a:r>
          </a:p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2A1F74-1586-AEC8-7DFD-3CD9489C0F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1129"/>
            <a:ext cx="8305800" cy="2200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31218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58C64-DA73-C56E-A73F-A4834DA57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767255"/>
          </a:xfrm>
        </p:spPr>
        <p:txBody>
          <a:bodyPr/>
          <a:lstStyle/>
          <a:p>
            <a:r>
              <a:rPr lang="en-US"/>
              <a:t>Pipeable Operators </a:t>
            </a:r>
            <a:r>
              <a:rPr lang="en-US" b="1">
                <a:solidFill>
                  <a:srgbClr val="FFFF00"/>
                </a:solidFill>
              </a:rPr>
              <a:t>CatchError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0E3A6-679E-5089-0654-870D7BCDDF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654" y="756745"/>
            <a:ext cx="12034345" cy="5843752"/>
          </a:xfrm>
        </p:spPr>
        <p:txBody>
          <a:bodyPr/>
          <a:lstStyle/>
          <a:p>
            <a:r>
              <a:rPr lang="en-US"/>
              <a:t>catchError is an </a:t>
            </a:r>
            <a:r>
              <a:rPr lang="en-US" b="1">
                <a:solidFill>
                  <a:srgbClr val="FFFF00"/>
                </a:solidFill>
              </a:rPr>
              <a:t>RxJS operator</a:t>
            </a:r>
            <a:r>
              <a:rPr lang="en-US"/>
              <a:t> used inside pipe() to </a:t>
            </a:r>
            <a:r>
              <a:rPr lang="en-US" b="1"/>
              <a:t>intercept errors from an Observable</a:t>
            </a:r>
            <a:r>
              <a:rPr lang="en-US"/>
              <a:t> and replace them </a:t>
            </a:r>
            <a:r>
              <a:rPr lang="en-US" b="1"/>
              <a:t>with </a:t>
            </a:r>
            <a:r>
              <a:rPr lang="en-US" b="1">
                <a:solidFill>
                  <a:srgbClr val="FFC000"/>
                </a:solidFill>
              </a:rPr>
              <a:t>another Observable</a:t>
            </a:r>
            <a:r>
              <a:rPr lang="en-US"/>
              <a:t>.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pPr marL="36900" indent="0">
              <a:buNone/>
            </a:pPr>
            <a:endParaRPr lang="en-US"/>
          </a:p>
          <a:p>
            <a:r>
              <a:rPr lang="en-US"/>
              <a:t>error: This is the </a:t>
            </a:r>
            <a:r>
              <a:rPr lang="en-US" b="1"/>
              <a:t>error thrown by the observable</a:t>
            </a:r>
            <a:r>
              <a:rPr lang="en-US"/>
              <a:t>.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21F4D9-39EF-8EE6-67E0-A8D38D466F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7071" y="1214753"/>
            <a:ext cx="4752975" cy="18383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42468B1-CB91-647E-0C5C-EB8C1F4729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079" y="3835947"/>
            <a:ext cx="5153025" cy="8667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3B52CE9-B7CC-9B75-EA92-5CEDDEF1DA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654" y="1626640"/>
            <a:ext cx="5124450" cy="188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59606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8E624-CC17-FEE6-C6D8-C70572D7F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693336"/>
          </a:xfrm>
        </p:spPr>
        <p:txBody>
          <a:bodyPr>
            <a:normAutofit fontScale="90000"/>
          </a:bodyPr>
          <a:lstStyle/>
          <a:p>
            <a:r>
              <a:rPr lang="en-US" b="1"/>
              <a:t>Finalize()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9F086E-4FD5-8554-3405-A8AA317AB6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064" y="693336"/>
            <a:ext cx="11625943" cy="6164664"/>
          </a:xfrm>
        </p:spPr>
        <p:txBody>
          <a:bodyPr/>
          <a:lstStyle/>
          <a:p>
            <a:r>
              <a:rPr lang="en-US"/>
              <a:t>is an operator that lets you run code </a:t>
            </a:r>
            <a:r>
              <a:rPr lang="en-US" b="1"/>
              <a:t>when an Observable finishes</a:t>
            </a:r>
            <a:r>
              <a:rPr lang="en-US"/>
              <a:t>, regardless of </a:t>
            </a:r>
            <a:r>
              <a:rPr lang="en-US" i="1"/>
              <a:t>how</a:t>
            </a:r>
            <a:r>
              <a:rPr lang="en-US"/>
              <a:t> it finishes.</a:t>
            </a:r>
          </a:p>
          <a:p>
            <a:r>
              <a:rPr lang="en-US"/>
              <a:t>It runs at these scenarios:</a:t>
            </a:r>
          </a:p>
          <a:p>
            <a:pPr lvl="1"/>
            <a:r>
              <a:rPr lang="en-US" sz="2000"/>
              <a:t>The Observable completes successfully. </a:t>
            </a:r>
          </a:p>
          <a:p>
            <a:pPr lvl="1"/>
            <a:r>
              <a:rPr lang="en-US" sz="2000"/>
              <a:t> The Observable throws an error. </a:t>
            </a:r>
          </a:p>
          <a:p>
            <a:pPr lvl="1"/>
            <a:r>
              <a:rPr lang="en-US" sz="2000"/>
              <a:t> The subscription is manually unsubscribed.</a:t>
            </a:r>
          </a:p>
          <a:p>
            <a:r>
              <a:rPr lang="en-US"/>
              <a:t>It’s mechanism like Think of </a:t>
            </a:r>
            <a:r>
              <a:rPr lang="en-US">
                <a:effectLst/>
              </a:rPr>
              <a:t>finalize()</a:t>
            </a:r>
            <a:r>
              <a:rPr lang="en-US"/>
              <a:t> like the </a:t>
            </a:r>
            <a:r>
              <a:rPr lang="en-US">
                <a:effectLst/>
              </a:rPr>
              <a:t>finally</a:t>
            </a:r>
            <a:r>
              <a:rPr lang="en-US"/>
              <a:t> block in a standard JavaScript </a:t>
            </a:r>
            <a:r>
              <a:rPr lang="en-US">
                <a:effectLst/>
              </a:rPr>
              <a:t>try/catch/finally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26047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5BF13-9081-36D4-4B7F-C905D8664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693336"/>
          </a:xfrm>
        </p:spPr>
        <p:txBody>
          <a:bodyPr>
            <a:normAutofit fontScale="90000"/>
          </a:bodyPr>
          <a:lstStyle/>
          <a:p>
            <a:r>
              <a:rPr lang="en-US" b="1"/>
              <a:t>Finalize() [cont.1]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74F5D1-9945-FB9A-55FD-04FDEF53E0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61003"/>
            <a:ext cx="4881825" cy="25518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CAC6C44-1A39-E00E-349B-B1D84B5958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1825" y="743577"/>
            <a:ext cx="4666304" cy="591847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5894EA4-1699-049C-2C19-77F4E0C79A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3765" y="743577"/>
            <a:ext cx="2502325" cy="5370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35858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943C3-9986-2795-5397-FF69B1AB5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779532"/>
          </a:xfrm>
        </p:spPr>
        <p:txBody>
          <a:bodyPr/>
          <a:lstStyle/>
          <a:p>
            <a:r>
              <a:rPr lang="en-US" b="1"/>
              <a:t>Of()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558854-7013-F406-9263-C46345736B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70450"/>
            <a:ext cx="8149213" cy="5651413"/>
          </a:xfrm>
        </p:spPr>
        <p:txBody>
          <a:bodyPr/>
          <a:lstStyle/>
          <a:p>
            <a:r>
              <a:rPr lang="en-US"/>
              <a:t>creates an Observable from the values you provide.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 b="1"/>
              <a:t>of(5) </a:t>
            </a:r>
            <a:r>
              <a:rPr lang="en-US" b="1">
                <a:sym typeface="Wingdings" panose="05000000000000000000" pitchFamily="2" charset="2"/>
              </a:rPr>
              <a:t></a:t>
            </a:r>
            <a:r>
              <a:rPr lang="en-US">
                <a:sym typeface="Wingdings" panose="05000000000000000000" pitchFamily="2" charset="2"/>
              </a:rPr>
              <a:t> 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267AA0-92E6-559F-0D40-F86BA86E72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309" y="1424720"/>
            <a:ext cx="4049434" cy="20852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022DE8A-273A-9B47-1256-21889BCB6C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2306" y="1424720"/>
            <a:ext cx="1529188" cy="20852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4BAAD37-33B0-7906-396B-E071832AB6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0676" y="1424720"/>
            <a:ext cx="1682164" cy="208525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8FCFB10-EDC1-2F1C-B6DE-490E7D9CC8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0026" y="3700698"/>
            <a:ext cx="2969552" cy="273024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E53831F-A369-3088-1C73-67BB26196FA3}"/>
              </a:ext>
            </a:extLst>
          </p:cNvPr>
          <p:cNvSpPr txBox="1"/>
          <p:nvPr/>
        </p:nvSpPr>
        <p:spPr>
          <a:xfrm>
            <a:off x="7712424" y="3964246"/>
            <a:ext cx="423706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/>
              <a:t>Why use it in Angular? </a:t>
            </a:r>
            <a:r>
              <a:rPr lang="en-US" sz="2000" b="1">
                <a:solidFill>
                  <a:srgbClr val="00B0F0"/>
                </a:solidFill>
              </a:rPr>
              <a:t>Often for testing or when you already have data and need an Observable:</a:t>
            </a:r>
          </a:p>
        </p:txBody>
      </p:sp>
    </p:spTree>
    <p:extLst>
      <p:ext uri="{BB962C8B-B14F-4D97-AF65-F5344CB8AC3E}">
        <p14:creationId xmlns:p14="http://schemas.microsoft.com/office/powerpoint/2010/main" val="315865975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E5053-5FF1-4E28-50B6-EEBCE09CA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482321"/>
          </a:xfrm>
        </p:spPr>
        <p:txBody>
          <a:bodyPr>
            <a:normAutofit fontScale="90000"/>
          </a:bodyPr>
          <a:lstStyle/>
          <a:p>
            <a:r>
              <a:rPr lang="en-US"/>
              <a:t>tap()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15EC4AB-5D7E-B34D-3985-3926E192E3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4725" y="666750"/>
            <a:ext cx="4508484" cy="3061968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B22A6CD-55E2-0CAE-2B83-8279FE4D7B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3075" y="754531"/>
            <a:ext cx="6934200" cy="4010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23515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59DD7-D191-A6D0-B508-FE9FD137C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572756"/>
          </a:xfrm>
        </p:spPr>
        <p:txBody>
          <a:bodyPr>
            <a:normAutofit fontScale="90000"/>
          </a:bodyPr>
          <a:lstStyle/>
          <a:p>
            <a:r>
              <a:rPr lang="en-US"/>
              <a:t>tap()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AD01C3-CCF1-1173-94A8-599A17ACA0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86" y="572756"/>
            <a:ext cx="11686233" cy="6079253"/>
          </a:xfrm>
        </p:spPr>
        <p:txBody>
          <a:bodyPr>
            <a:normAutofit lnSpcReduction="10000"/>
          </a:bodyPr>
          <a:lstStyle/>
          <a:p>
            <a:r>
              <a:rPr lang="en-US"/>
              <a:t>look at values emitted by observable without changing it, map() could change the values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pPr marL="36900" indent="0">
              <a:buNone/>
            </a:pPr>
            <a:endParaRPr lang="en-US"/>
          </a:p>
          <a:p>
            <a:r>
              <a:rPr lang="en-US"/>
              <a:t>Notice that tap() sees the values but does not modify them.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182BFA-67B2-A21B-4016-39FD00D1A9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87" y="1334551"/>
            <a:ext cx="3496826" cy="42771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4DDEE16-EDB4-53B9-C8D8-A1C6E77291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4184" y="1004835"/>
            <a:ext cx="3496826" cy="5724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69665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5407B-EDBD-D49C-C759-979457EAD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SwitchMap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2FA91BC-82EB-06ED-A4B2-5CA185F73E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0569" y="2355649"/>
            <a:ext cx="10557966" cy="2280897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9453447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197D0-D770-7632-BD79-A6DB9A1E1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96350"/>
            <a:ext cx="10353762" cy="546745"/>
          </a:xfrm>
        </p:spPr>
        <p:txBody>
          <a:bodyPr>
            <a:normAutofit fontScale="90000"/>
          </a:bodyPr>
          <a:lstStyle/>
          <a:p>
            <a:r>
              <a:rPr lang="en-US" sz="3600"/>
              <a:t>SwitchMap [cont.1]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604D8D8-6BD0-E628-2FA9-2D28652444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60442" y="643095"/>
            <a:ext cx="5277755" cy="6205253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3872514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0031A-E9D8-72D7-D851-CA6D9D62C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0"/>
            <a:ext cx="10353762" cy="673045"/>
          </a:xfrm>
        </p:spPr>
        <p:txBody>
          <a:bodyPr>
            <a:normAutofit fontScale="90000"/>
          </a:bodyPr>
          <a:lstStyle/>
          <a:p>
            <a:r>
              <a:rPr lang="en-US"/>
              <a:t>SwitchMap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542D952-F0DD-0441-A82F-A8C53B10D4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4042" y="827040"/>
            <a:ext cx="4970569" cy="5835017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3AD3702-D0FA-60D8-686F-142856FD0C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1353" y="750042"/>
            <a:ext cx="2981654" cy="5989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24067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FB56B2-CB3E-0FC6-234F-CCFED7646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6462C-7150-EAD3-0395-577948C12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0"/>
            <a:ext cx="10353762" cy="673045"/>
          </a:xfrm>
        </p:spPr>
        <p:txBody>
          <a:bodyPr>
            <a:normAutofit fontScale="90000"/>
          </a:bodyPr>
          <a:lstStyle/>
          <a:p>
            <a:r>
              <a:rPr lang="en-US"/>
              <a:t>SwitchMap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0208E3D-720A-2439-907E-BB8193BFCC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1353" y="750042"/>
            <a:ext cx="2981654" cy="59890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ED7C8C1-C3BB-1A70-D164-D953120471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962" y="1222440"/>
            <a:ext cx="4536521" cy="516567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193D681-D6D1-0829-BBF1-E590DA5445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7806" y="1006488"/>
            <a:ext cx="2505075" cy="5381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69153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FC89B-FF28-A94A-6EC3-C4E2A05AC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40CE8-9E28-7489-F772-DB22A1D96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0"/>
            <a:ext cx="10353762" cy="673045"/>
          </a:xfrm>
        </p:spPr>
        <p:txBody>
          <a:bodyPr>
            <a:normAutofit fontScale="90000"/>
          </a:bodyPr>
          <a:lstStyle/>
          <a:p>
            <a:r>
              <a:rPr lang="en-US"/>
              <a:t>SwitchMap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70A7CF-9CE8-DB38-26D0-229123DEF7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3045"/>
            <a:ext cx="5057775" cy="59055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C2D2C28-B3D7-6564-B0DF-721BE304EA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9744" y="1691365"/>
            <a:ext cx="4377626" cy="39944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9160177-467F-D516-F012-64FE7232CD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3617" y="1165399"/>
            <a:ext cx="1842342" cy="5234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58015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10FEB-8C2A-8A10-DC15-3F9C1E93A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970450"/>
          </a:xfrm>
        </p:spPr>
        <p:txBody>
          <a:bodyPr/>
          <a:lstStyle/>
          <a:p>
            <a:r>
              <a:rPr lang="en-US"/>
              <a:t>SwitchMap [ multiple switchMap ]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864E0B6-345D-D6A2-2CAF-9C010F978D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223" y="970450"/>
            <a:ext cx="5646117" cy="5782042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052C5A5-0A2A-75F2-5E09-2197B141D5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3214" y="1543678"/>
            <a:ext cx="3472333" cy="4807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89457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3852E-2D8E-6198-2CE9-CFC78B264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970450"/>
          </a:xfrm>
        </p:spPr>
        <p:txBody>
          <a:bodyPr/>
          <a:lstStyle/>
          <a:p>
            <a:r>
              <a:rPr lang="en-US"/>
              <a:t>merge()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C24C82D-D3D0-4DDA-8741-25CDD48A67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5676" y="970450"/>
            <a:ext cx="9303540" cy="448580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8856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32C2F-28FC-4F15-C67A-2F9ABA5BE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74103-3158-6B5D-CAA8-6052AEC03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5208396"/>
          </a:xfrm>
        </p:spPr>
        <p:txBody>
          <a:bodyPr>
            <a:normAutofit/>
          </a:bodyPr>
          <a:lstStyle/>
          <a:p>
            <a:r>
              <a:rPr lang="en-US" sz="4400" b="1">
                <a:solidFill>
                  <a:srgbClr val="FF0000"/>
                </a:solidFill>
              </a:rPr>
              <a:t>End Observable</a:t>
            </a:r>
          </a:p>
        </p:txBody>
      </p:sp>
    </p:spTree>
    <p:extLst>
      <p:ext uri="{BB962C8B-B14F-4D97-AF65-F5344CB8AC3E}">
        <p14:creationId xmlns:p14="http://schemas.microsoft.com/office/powerpoint/2010/main" val="251638655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98AFB-7C2A-096D-AD3C-BA09A3451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47730-6856-C49F-4C2B-D29091901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5208396"/>
          </a:xfrm>
        </p:spPr>
        <p:txBody>
          <a:bodyPr>
            <a:normAutofit/>
          </a:bodyPr>
          <a:lstStyle/>
          <a:p>
            <a:r>
              <a:rPr lang="en-US" sz="4400" b="1">
                <a:solidFill>
                  <a:srgbClr val="FF0000"/>
                </a:solidFill>
              </a:rPr>
              <a:t>Start ResizeObserver</a:t>
            </a:r>
          </a:p>
        </p:txBody>
      </p:sp>
    </p:spTree>
    <p:extLst>
      <p:ext uri="{BB962C8B-B14F-4D97-AF65-F5344CB8AC3E}">
        <p14:creationId xmlns:p14="http://schemas.microsoft.com/office/powerpoint/2010/main" val="72707039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B6AA8-8ADE-6628-DF46-A66B56898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472273"/>
          </a:xfrm>
        </p:spPr>
        <p:txBody>
          <a:bodyPr>
            <a:normAutofit fontScale="90000"/>
          </a:bodyPr>
          <a:lstStyle/>
          <a:p>
            <a:r>
              <a:rPr lang="en-US"/>
              <a:t>ResizeObserver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F6F51-D7DC-B437-DF00-0883FE50FA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1596" y="733531"/>
            <a:ext cx="11625942" cy="5057670"/>
          </a:xfrm>
        </p:spPr>
        <p:txBody>
          <a:bodyPr/>
          <a:lstStyle/>
          <a:p>
            <a:r>
              <a:rPr lang="en-US"/>
              <a:t>is a </a:t>
            </a:r>
            <a:r>
              <a:rPr lang="en-US" b="1"/>
              <a:t>browser API</a:t>
            </a:r>
            <a:r>
              <a:rPr lang="en-US"/>
              <a:t> that allows you to watch an HTML element and get notified when its </a:t>
            </a:r>
            <a:r>
              <a:rPr lang="en-US" b="1"/>
              <a:t>size changes</a:t>
            </a:r>
            <a:r>
              <a:rPr lang="en-US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9A62EA-59C7-B6E3-E1FD-1FF09BE64E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596" y="1332087"/>
            <a:ext cx="5446206" cy="20272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A3E08CF-FAF1-06E4-2B13-520465257A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566" y="1488467"/>
            <a:ext cx="3582237" cy="187442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5817D65-A1C4-672F-D71C-D91AD19E08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596" y="3611388"/>
            <a:ext cx="4648200" cy="191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51542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50449-BE49-B68F-3B58-F9EB362EE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643095"/>
          </a:xfrm>
        </p:spPr>
        <p:txBody>
          <a:bodyPr>
            <a:normAutofit fontScale="90000"/>
          </a:bodyPr>
          <a:lstStyle/>
          <a:p>
            <a:r>
              <a:rPr lang="en-US"/>
              <a:t>Example 1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715AC39-9328-65E9-2E52-6508F527C2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952" y="657225"/>
            <a:ext cx="5229802" cy="320394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645B441-FF08-A1CC-D592-2AF4DFEEC9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952" y="3976532"/>
            <a:ext cx="8905875" cy="82867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53479A7-5312-0602-5DFD-C5D5E22A95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952" y="4920572"/>
            <a:ext cx="8201025" cy="1019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13574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50AC8-264F-67BB-7366-568098235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BAD67-0288-F4A6-6909-E35F98789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5208396"/>
          </a:xfrm>
        </p:spPr>
        <p:txBody>
          <a:bodyPr>
            <a:normAutofit/>
          </a:bodyPr>
          <a:lstStyle/>
          <a:p>
            <a:r>
              <a:rPr lang="en-US" sz="4400" b="1">
                <a:solidFill>
                  <a:srgbClr val="FF0000"/>
                </a:solidFill>
              </a:rPr>
              <a:t>End ResizeObserver</a:t>
            </a:r>
          </a:p>
        </p:txBody>
      </p:sp>
    </p:spTree>
    <p:extLst>
      <p:ext uri="{BB962C8B-B14F-4D97-AF65-F5344CB8AC3E}">
        <p14:creationId xmlns:p14="http://schemas.microsoft.com/office/powerpoint/2010/main" val="327313225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15831-9ABD-4BDF-3724-5DDD29B8B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733530"/>
          </a:xfrm>
        </p:spPr>
        <p:txBody>
          <a:bodyPr/>
          <a:lstStyle/>
          <a:p>
            <a:r>
              <a:rPr lang="en-US" b="1">
                <a:solidFill>
                  <a:srgbClr val="00B0F0"/>
                </a:solidFill>
              </a:rPr>
              <a:t>visible$ | async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EAE03B-CB90-1824-3342-A2B2EAFEC2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733530"/>
            <a:ext cx="10353762" cy="5948623"/>
          </a:xfrm>
        </p:spPr>
        <p:txBody>
          <a:bodyPr>
            <a:normAutofit/>
          </a:bodyPr>
          <a:lstStyle/>
          <a:p>
            <a:r>
              <a:rPr lang="en-US"/>
              <a:t>&lt;div class="loading" *ngIf="</a:t>
            </a:r>
            <a:r>
              <a:rPr lang="en-US" b="1">
                <a:solidFill>
                  <a:srgbClr val="CC3399"/>
                </a:solidFill>
              </a:rPr>
              <a:t>visible$</a:t>
            </a:r>
            <a:r>
              <a:rPr lang="en-US"/>
              <a:t> | </a:t>
            </a:r>
            <a:r>
              <a:rPr lang="en-US" b="1">
                <a:solidFill>
                  <a:srgbClr val="00B0F0"/>
                </a:solidFill>
              </a:rPr>
              <a:t>async</a:t>
            </a:r>
            <a:r>
              <a:rPr lang="en-US"/>
              <a:t>"&gt;&lt;/div&gt;</a:t>
            </a:r>
          </a:p>
          <a:p>
            <a:r>
              <a:rPr lang="en-US"/>
              <a:t>visible$ is observable -- you component.ts has:  </a:t>
            </a:r>
            <a:r>
              <a:rPr lang="en-US" b="1">
                <a:solidFill>
                  <a:srgbClr val="FFFF00"/>
                </a:solidFill>
              </a:rPr>
              <a:t>visible$</a:t>
            </a:r>
            <a:r>
              <a:rPr lang="en-US" b="1"/>
              <a:t>: Observable&lt;</a:t>
            </a:r>
            <a:r>
              <a:rPr lang="en-US" b="1">
                <a:solidFill>
                  <a:srgbClr val="CC3399"/>
                </a:solidFill>
              </a:rPr>
              <a:t>boolean</a:t>
            </a:r>
            <a:r>
              <a:rPr lang="en-US" b="1"/>
              <a:t>&gt;;</a:t>
            </a:r>
          </a:p>
          <a:p>
            <a:r>
              <a:rPr lang="en-US"/>
              <a:t>The async pipe </a:t>
            </a:r>
          </a:p>
          <a:p>
            <a:pPr lvl="1"/>
            <a:r>
              <a:rPr lang="en-US" b="1"/>
              <a:t>subscribes to the observable </a:t>
            </a:r>
          </a:p>
          <a:p>
            <a:pPr lvl="1"/>
            <a:r>
              <a:rPr lang="en-US" b="1"/>
              <a:t>gets the latest emitted value </a:t>
            </a:r>
          </a:p>
          <a:p>
            <a:pPr lvl="1"/>
            <a:r>
              <a:rPr lang="en-US" b="1"/>
              <a:t>updates the UI when the value changes </a:t>
            </a:r>
          </a:p>
          <a:p>
            <a:pPr lvl="1"/>
            <a:r>
              <a:rPr lang="en-US" b="1"/>
              <a:t>unsubscribes when the component is destroyed </a:t>
            </a:r>
            <a:endParaRPr lang="en-US"/>
          </a:p>
          <a:p>
            <a:r>
              <a:rPr lang="en-US" b="1"/>
              <a:t>Without async, you'd need:</a:t>
            </a:r>
          </a:p>
          <a:p>
            <a:pPr lvl="1"/>
            <a:r>
              <a:rPr lang="en-US" b="1">
                <a:solidFill>
                  <a:srgbClr val="CC3399"/>
                </a:solidFill>
              </a:rPr>
              <a:t>isVisible</a:t>
            </a:r>
            <a:r>
              <a:rPr lang="en-US"/>
              <a:t> = false;</a:t>
            </a:r>
          </a:p>
          <a:p>
            <a:pPr lvl="1"/>
            <a:r>
              <a:rPr lang="en-US"/>
              <a:t>ngOnInit() { this.spinnerService.visible$.subscribe(value =&gt; { this.</a:t>
            </a:r>
            <a:r>
              <a:rPr lang="en-US" b="1">
                <a:solidFill>
                  <a:srgbClr val="CC3399"/>
                </a:solidFill>
              </a:rPr>
              <a:t>isVisible</a:t>
            </a:r>
            <a:r>
              <a:rPr lang="en-US"/>
              <a:t> = value; });  }</a:t>
            </a:r>
          </a:p>
          <a:p>
            <a:pPr lvl="1"/>
            <a:r>
              <a:rPr lang="en-US"/>
              <a:t>&lt;div *ngIf="</a:t>
            </a:r>
            <a:r>
              <a:rPr lang="en-US" b="1">
                <a:solidFill>
                  <a:srgbClr val="CC3399"/>
                </a:solidFill>
              </a:rPr>
              <a:t>isVisible</a:t>
            </a:r>
            <a:r>
              <a:rPr lang="en-US"/>
              <a:t>"&gt;&lt;/div&gt;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58575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4C49B-2F1D-97B3-0A85-352A55AC2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747252"/>
          </a:xfrm>
        </p:spPr>
        <p:txBody>
          <a:bodyPr/>
          <a:lstStyle/>
          <a:p>
            <a:r>
              <a:rPr lang="en-US" b="1"/>
              <a:t>Creating side bar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16EB86-5D99-4E2C-2247-FA4A7724D2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134" y="747253"/>
            <a:ext cx="11464413" cy="5702708"/>
          </a:xfrm>
        </p:spPr>
        <p:txBody>
          <a:bodyPr/>
          <a:lstStyle/>
          <a:p>
            <a:r>
              <a:rPr lang="en-US"/>
              <a:t>ng g c </a:t>
            </a:r>
            <a:r>
              <a:rPr lang="en-US" err="1"/>
              <a:t>SideBar</a:t>
            </a:r>
            <a:r>
              <a:rPr lang="en-US"/>
              <a:t> --skip-tests</a:t>
            </a:r>
          </a:p>
        </p:txBody>
      </p:sp>
    </p:spTree>
    <p:extLst>
      <p:ext uri="{BB962C8B-B14F-4D97-AF65-F5344CB8AC3E}">
        <p14:creationId xmlns:p14="http://schemas.microsoft.com/office/powerpoint/2010/main" val="89870142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734B3-3F11-7C03-2D92-0B3DB8D4E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580103"/>
          </a:xfrm>
        </p:spPr>
        <p:txBody>
          <a:bodyPr>
            <a:normAutofit fontScale="90000"/>
          </a:bodyPr>
          <a:lstStyle/>
          <a:p>
            <a:r>
              <a:rPr lang="en-US" b="1">
                <a:solidFill>
                  <a:srgbClr val="FF0000"/>
                </a:solidFill>
              </a:rPr>
              <a:t>Creating new component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3D2559-9DB4-4235-E157-38E45495D0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618" y="580103"/>
            <a:ext cx="11375923" cy="6145162"/>
          </a:xfrm>
        </p:spPr>
        <p:txBody>
          <a:bodyPr/>
          <a:lstStyle/>
          <a:p>
            <a:r>
              <a:rPr lang="en-US"/>
              <a:t>ng g c </a:t>
            </a:r>
            <a:r>
              <a:rPr lang="en-US" err="1"/>
              <a:t>componentName</a:t>
            </a:r>
            <a:r>
              <a:rPr lang="en-US"/>
              <a:t> --skip-tests</a:t>
            </a:r>
          </a:p>
          <a:p>
            <a:r>
              <a:rPr lang="en-US" b="1">
                <a:solidFill>
                  <a:srgbClr val="FF0000"/>
                </a:solidFill>
              </a:rPr>
              <a:t>ng</a:t>
            </a:r>
            <a:r>
              <a:rPr lang="en-US"/>
              <a:t> g c project-details </a:t>
            </a:r>
            <a:r>
              <a:rPr lang="en-US" b="1">
                <a:solidFill>
                  <a:srgbClr val="0070C0"/>
                </a:solidFill>
              </a:rPr>
              <a:t>--skip-tests</a:t>
            </a:r>
          </a:p>
          <a:p>
            <a:pPr lvl="1"/>
            <a:r>
              <a:rPr lang="en-US"/>
              <a:t>project-details folder will be created and includes</a:t>
            </a:r>
          </a:p>
          <a:p>
            <a:pPr lvl="2"/>
            <a:r>
              <a:rPr lang="en-US" sz="1800" err="1"/>
              <a:t>ProjectDetails.component.ts</a:t>
            </a:r>
            <a:endParaRPr lang="en-US" sz="1800"/>
          </a:p>
          <a:p>
            <a:pPr lvl="2"/>
            <a:r>
              <a:rPr lang="en-US" sz="1800"/>
              <a:t>ProjectDetails.Component.html</a:t>
            </a:r>
          </a:p>
          <a:p>
            <a:pPr lvl="2"/>
            <a:r>
              <a:rPr lang="en-US" sz="1800"/>
              <a:t>ProjectDetails.Component.css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637D5B-8B8B-98DD-59F9-9474B5F23C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372" y="3143800"/>
            <a:ext cx="11729041" cy="1810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24728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FFDE5-1E08-14BD-BCC4-85D0620F9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4E7F3-AB74-8C5F-694E-A1DD37CC1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599"/>
            <a:ext cx="10353762" cy="5077767"/>
          </a:xfrm>
        </p:spPr>
        <p:txBody>
          <a:bodyPr>
            <a:normAutofit/>
          </a:bodyPr>
          <a:lstStyle/>
          <a:p>
            <a:r>
              <a:rPr lang="en-US" sz="5400" b="1">
                <a:solidFill>
                  <a:srgbClr val="FF0000"/>
                </a:solidFill>
              </a:rPr>
              <a:t>Start Bootstrap</a:t>
            </a:r>
          </a:p>
        </p:txBody>
      </p:sp>
    </p:spTree>
    <p:extLst>
      <p:ext uri="{BB962C8B-B14F-4D97-AF65-F5344CB8AC3E}">
        <p14:creationId xmlns:p14="http://schemas.microsoft.com/office/powerpoint/2010/main" val="151329952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8D13E-4D03-33C1-BF51-610117BB7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737419"/>
          </a:xfrm>
        </p:spPr>
        <p:txBody>
          <a:bodyPr/>
          <a:lstStyle/>
          <a:p>
            <a:r>
              <a:rPr lang="en-US" b="1">
                <a:solidFill>
                  <a:srgbClr val="0070C0"/>
                </a:solidFill>
              </a:rPr>
              <a:t>Adding bootstrap &amp; Bootstrap icon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9C21FE-7EFF-39B9-60D6-6206D8DBF3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019" y="737418"/>
            <a:ext cx="11859490" cy="6042073"/>
          </a:xfrm>
        </p:spPr>
        <p:txBody>
          <a:bodyPr>
            <a:normAutofit/>
          </a:bodyPr>
          <a:lstStyle/>
          <a:p>
            <a:r>
              <a:rPr lang="en-US" sz="1800" b="1">
                <a:solidFill>
                  <a:srgbClr val="FFFF00"/>
                </a:solidFill>
              </a:rPr>
              <a:t>ng</a:t>
            </a:r>
            <a:r>
              <a:rPr lang="en-US" sz="1800"/>
              <a:t> </a:t>
            </a:r>
            <a:r>
              <a:rPr lang="en-US" sz="1800" b="1">
                <a:solidFill>
                  <a:srgbClr val="00B0F0"/>
                </a:solidFill>
              </a:rPr>
              <a:t>add</a:t>
            </a:r>
            <a:r>
              <a:rPr lang="en-US" sz="1800"/>
              <a:t> </a:t>
            </a:r>
            <a:r>
              <a:rPr lang="en-US" sz="1800" b="1">
                <a:solidFill>
                  <a:srgbClr val="00B050"/>
                </a:solidFill>
              </a:rPr>
              <a:t>@ng-bootstrap/ng-bootstrap</a:t>
            </a:r>
            <a:r>
              <a:rPr lang="en-US" sz="1800"/>
              <a:t>  //</a:t>
            </a:r>
            <a:r>
              <a:rPr lang="en-US" sz="1800" b="1"/>
              <a:t>recommended, to use the component that need the JS code</a:t>
            </a:r>
          </a:p>
          <a:p>
            <a:r>
              <a:rPr lang="en-US" sz="1800" b="1" err="1">
                <a:solidFill>
                  <a:srgbClr val="FFFF00"/>
                </a:solidFill>
              </a:rPr>
              <a:t>npm</a:t>
            </a:r>
            <a:r>
              <a:rPr lang="en-US" sz="1800" b="1"/>
              <a:t> </a:t>
            </a:r>
            <a:r>
              <a:rPr lang="en-US" sz="1800" b="1" err="1"/>
              <a:t>i</a:t>
            </a:r>
            <a:r>
              <a:rPr lang="en-US" sz="1800" b="1"/>
              <a:t> @ng-bootstrap/ng-bootstrap  // like the above</a:t>
            </a:r>
          </a:p>
          <a:p>
            <a:r>
              <a:rPr lang="en-US" sz="1800" b="1"/>
              <a:t>at </a:t>
            </a:r>
            <a:r>
              <a:rPr lang="en-US" sz="1800" b="1" err="1"/>
              <a:t>angular.json</a:t>
            </a:r>
            <a:r>
              <a:rPr lang="en-US" sz="1800" b="1"/>
              <a:t> / at architect object / build object / options object</a:t>
            </a:r>
          </a:p>
          <a:p>
            <a:pPr lvl="1"/>
            <a:r>
              <a:rPr lang="en-US" b="1">
                <a:solidFill>
                  <a:srgbClr val="00B0F0"/>
                </a:solidFill>
              </a:rPr>
              <a:t>at styles array</a:t>
            </a:r>
            <a:r>
              <a:rPr lang="en-US" b="1"/>
              <a:t>    -- "</a:t>
            </a:r>
            <a:r>
              <a:rPr lang="en-US" b="1" err="1"/>
              <a:t>node_modules</a:t>
            </a:r>
            <a:r>
              <a:rPr lang="en-US" b="1"/>
              <a:t>/bootstrap/</a:t>
            </a:r>
            <a:r>
              <a:rPr lang="en-US" b="1" err="1"/>
              <a:t>dist</a:t>
            </a:r>
            <a:r>
              <a:rPr lang="en-US" b="1"/>
              <a:t>/</a:t>
            </a:r>
            <a:r>
              <a:rPr lang="en-US" b="1" err="1"/>
              <a:t>css</a:t>
            </a:r>
            <a:r>
              <a:rPr lang="en-US" b="1"/>
              <a:t>/bootstrap.min.css",        // bootstrap CSS file</a:t>
            </a:r>
          </a:p>
          <a:p>
            <a:pPr lvl="1"/>
            <a:r>
              <a:rPr lang="en-US" b="1">
                <a:solidFill>
                  <a:srgbClr val="00B0F0"/>
                </a:solidFill>
              </a:rPr>
              <a:t>at scripts array</a:t>
            </a:r>
            <a:r>
              <a:rPr lang="en-US" b="1"/>
              <a:t>  -- "</a:t>
            </a:r>
            <a:r>
              <a:rPr lang="en-US" b="1" err="1"/>
              <a:t>node_modules</a:t>
            </a:r>
            <a:r>
              <a:rPr lang="en-US" b="1"/>
              <a:t>/bootstrap/</a:t>
            </a:r>
            <a:r>
              <a:rPr lang="en-US" b="1" err="1"/>
              <a:t>dist</a:t>
            </a:r>
            <a:r>
              <a:rPr lang="en-US" b="1"/>
              <a:t>/</a:t>
            </a:r>
            <a:r>
              <a:rPr lang="en-US" b="1" err="1"/>
              <a:t>js</a:t>
            </a:r>
            <a:r>
              <a:rPr lang="en-US" b="1"/>
              <a:t>/bootstrap.bundle.min.js"  // bootstrap JS file</a:t>
            </a:r>
          </a:p>
          <a:p>
            <a:r>
              <a:rPr lang="en-US" sz="1800" b="1"/>
              <a:t>For angular 17 , ng-bootstrap 16</a:t>
            </a:r>
            <a:r>
              <a:rPr lang="en-US" sz="1800"/>
              <a:t> → Stable</a:t>
            </a:r>
          </a:p>
          <a:p>
            <a:pPr lvl="1"/>
            <a:r>
              <a:rPr lang="en-US" b="1" err="1">
                <a:solidFill>
                  <a:srgbClr val="FFFF00"/>
                </a:solidFill>
              </a:rPr>
              <a:t>npm</a:t>
            </a:r>
            <a:r>
              <a:rPr lang="en-US" b="1"/>
              <a:t> </a:t>
            </a:r>
            <a:r>
              <a:rPr lang="en-US" b="1" err="1"/>
              <a:t>i</a:t>
            </a:r>
            <a:r>
              <a:rPr lang="en-US" b="1"/>
              <a:t> @ng-bootstrap/ng-bootstrap</a:t>
            </a:r>
          </a:p>
          <a:p>
            <a:r>
              <a:rPr lang="en-US" sz="1800" b="1" err="1">
                <a:solidFill>
                  <a:srgbClr val="FFFF00"/>
                </a:solidFill>
              </a:rPr>
              <a:t>npm</a:t>
            </a:r>
            <a:r>
              <a:rPr lang="en-US" sz="1800" b="1"/>
              <a:t> </a:t>
            </a:r>
            <a:r>
              <a:rPr lang="en-US" sz="1800" b="1" err="1"/>
              <a:t>i</a:t>
            </a:r>
            <a:r>
              <a:rPr lang="en-US" sz="1800" b="1"/>
              <a:t> </a:t>
            </a:r>
            <a:r>
              <a:rPr lang="en-US" sz="1800" b="1">
                <a:solidFill>
                  <a:srgbClr val="00B050"/>
                </a:solidFill>
              </a:rPr>
              <a:t>bootstrap-icons</a:t>
            </a:r>
          </a:p>
          <a:p>
            <a:pPr lvl="1"/>
            <a:r>
              <a:rPr lang="en-US" b="1">
                <a:solidFill>
                  <a:srgbClr val="00B0F0"/>
                </a:solidFill>
              </a:rPr>
              <a:t>at style array</a:t>
            </a:r>
            <a:r>
              <a:rPr lang="en-US" b="1"/>
              <a:t> "</a:t>
            </a:r>
            <a:r>
              <a:rPr lang="en-US" b="1" err="1"/>
              <a:t>node_modules</a:t>
            </a:r>
            <a:r>
              <a:rPr lang="en-US" b="1"/>
              <a:t>/bootstrap-icons/font/bootstrap-icons.min.css"</a:t>
            </a:r>
            <a:endParaRPr lang="en-US" sz="1600" b="1"/>
          </a:p>
          <a:p>
            <a:r>
              <a:rPr lang="en-US" sz="1800" b="1"/>
              <a:t>Versions</a:t>
            </a:r>
          </a:p>
          <a:p>
            <a:pPr lvl="1"/>
            <a:r>
              <a:rPr lang="en-US" b="1"/>
              <a:t>npm install @ng-bootstrap/ng-bootstrap@15	// with angular 16</a:t>
            </a:r>
          </a:p>
          <a:p>
            <a:pPr lvl="1"/>
            <a:r>
              <a:rPr lang="en-US" b="1"/>
              <a:t>npm install @ng-bootstrap/ng-bootstrap@16  	// with angular 17</a:t>
            </a:r>
          </a:p>
          <a:p>
            <a:pPr lvl="1"/>
            <a:r>
              <a:rPr lang="en-US" b="1"/>
              <a:t>npm install @ng-bootstrap/ng-bootstrap@17 	// with angular 18</a:t>
            </a:r>
          </a:p>
          <a:p>
            <a:pPr lvl="1"/>
            <a:endParaRPr lang="en-US" sz="1600" b="1"/>
          </a:p>
        </p:txBody>
      </p:sp>
    </p:spTree>
    <p:extLst>
      <p:ext uri="{BB962C8B-B14F-4D97-AF65-F5344CB8AC3E}">
        <p14:creationId xmlns:p14="http://schemas.microsoft.com/office/powerpoint/2010/main" val="2094939905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F0CA1-6F79-AB48-ACE0-4B625881C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599"/>
            <a:ext cx="10353762" cy="5077767"/>
          </a:xfrm>
        </p:spPr>
        <p:txBody>
          <a:bodyPr>
            <a:normAutofit/>
          </a:bodyPr>
          <a:lstStyle/>
          <a:p>
            <a:r>
              <a:rPr lang="en-US" sz="5400" b="1">
                <a:solidFill>
                  <a:srgbClr val="FF0000"/>
                </a:solidFill>
              </a:rPr>
              <a:t>End Bootstrap</a:t>
            </a:r>
          </a:p>
        </p:txBody>
      </p:sp>
    </p:spTree>
    <p:extLst>
      <p:ext uri="{BB962C8B-B14F-4D97-AF65-F5344CB8AC3E}">
        <p14:creationId xmlns:p14="http://schemas.microsoft.com/office/powerpoint/2010/main" val="27253660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F0CA1-6F79-AB48-ACE0-4B625881C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599"/>
            <a:ext cx="10353762" cy="5077767"/>
          </a:xfrm>
        </p:spPr>
        <p:txBody>
          <a:bodyPr>
            <a:normAutofit/>
          </a:bodyPr>
          <a:lstStyle/>
          <a:p>
            <a:r>
              <a:rPr lang="en-US" sz="5400" b="1">
                <a:solidFill>
                  <a:srgbClr val="FF0000"/>
                </a:solidFill>
              </a:rPr>
              <a:t>End Bootstrap</a:t>
            </a:r>
          </a:p>
        </p:txBody>
      </p:sp>
    </p:spTree>
    <p:extLst>
      <p:ext uri="{BB962C8B-B14F-4D97-AF65-F5344CB8AC3E}">
        <p14:creationId xmlns:p14="http://schemas.microsoft.com/office/powerpoint/2010/main" val="228359172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E169E4-AEBB-D18C-40E1-04387CDCC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CF285-F64F-E46E-5F12-D0FEAE0C0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599"/>
            <a:ext cx="10353762" cy="5077767"/>
          </a:xfrm>
        </p:spPr>
        <p:txBody>
          <a:bodyPr>
            <a:normAutofit/>
          </a:bodyPr>
          <a:lstStyle/>
          <a:p>
            <a:r>
              <a:rPr lang="en-US" sz="5400" b="1">
                <a:solidFill>
                  <a:srgbClr val="FF0000"/>
                </a:solidFill>
              </a:rPr>
              <a:t>Start CSS</a:t>
            </a:r>
          </a:p>
        </p:txBody>
      </p:sp>
    </p:spTree>
    <p:extLst>
      <p:ext uri="{BB962C8B-B14F-4D97-AF65-F5344CB8AC3E}">
        <p14:creationId xmlns:p14="http://schemas.microsoft.com/office/powerpoint/2010/main" val="389769782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78EBE-03FD-D8DE-35CF-1926B0CA3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688258"/>
          </a:xfrm>
        </p:spPr>
        <p:txBody>
          <a:bodyPr>
            <a:normAutofit fontScale="90000"/>
          </a:bodyPr>
          <a:lstStyle/>
          <a:p>
            <a:r>
              <a:rPr lang="en-US" b="1"/>
              <a:t>Addin CSS file globally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A55FB4-19F2-A5D7-3E15-C94C5CEB2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774" y="688258"/>
            <a:ext cx="11887200" cy="5938683"/>
          </a:xfrm>
        </p:spPr>
        <p:txBody>
          <a:bodyPr/>
          <a:lstStyle/>
          <a:p>
            <a:r>
              <a:rPr lang="en-US"/>
              <a:t>at </a:t>
            </a:r>
            <a:r>
              <a:rPr lang="en-US" err="1"/>
              <a:t>src</a:t>
            </a:r>
            <a:r>
              <a:rPr lang="en-US"/>
              <a:t> folder / </a:t>
            </a:r>
            <a:r>
              <a:rPr lang="en-US" err="1"/>
              <a:t>css</a:t>
            </a:r>
            <a:r>
              <a:rPr lang="en-US"/>
              <a:t> folder / css-extensions.css</a:t>
            </a:r>
          </a:p>
          <a:p>
            <a:r>
              <a:rPr lang="en-US" b="1"/>
              <a:t>at </a:t>
            </a:r>
            <a:r>
              <a:rPr lang="en-US" b="1" err="1"/>
              <a:t>angular.json</a:t>
            </a:r>
            <a:r>
              <a:rPr lang="en-US" b="1"/>
              <a:t> / at architect object / build object / options object</a:t>
            </a:r>
            <a:endParaRPr lang="en-US"/>
          </a:p>
          <a:p>
            <a:pPr lvl="1"/>
            <a:r>
              <a:rPr lang="en-US" b="1">
                <a:solidFill>
                  <a:srgbClr val="00B0F0"/>
                </a:solidFill>
              </a:rPr>
              <a:t>at styles array</a:t>
            </a:r>
            <a:r>
              <a:rPr lang="en-US" b="1"/>
              <a:t>    --- </a:t>
            </a:r>
            <a:r>
              <a:rPr lang="en-US">
                <a:effectLst/>
              </a:rPr>
              <a:t>"</a:t>
            </a:r>
            <a:r>
              <a:rPr lang="en-US" err="1">
                <a:effectLst/>
              </a:rPr>
              <a:t>src</a:t>
            </a:r>
            <a:r>
              <a:rPr lang="en-US">
                <a:effectLst/>
              </a:rPr>
              <a:t>/</a:t>
            </a:r>
            <a:r>
              <a:rPr lang="en-US" err="1">
                <a:effectLst/>
              </a:rPr>
              <a:t>css</a:t>
            </a:r>
            <a:r>
              <a:rPr lang="en-US">
                <a:effectLst/>
              </a:rPr>
              <a:t>/css-extension.css"</a:t>
            </a:r>
          </a:p>
          <a:p>
            <a:r>
              <a:rPr lang="en-US"/>
              <a:t>Adding styles via </a:t>
            </a:r>
            <a:r>
              <a:rPr lang="en-US" b="1" err="1">
                <a:effectLst/>
              </a:rPr>
              <a:t>angular.json</a:t>
            </a:r>
            <a:r>
              <a:rPr lang="en-US">
                <a:effectLst/>
              </a:rPr>
              <a:t> is generally faster and more reliable for your application's initial load and overall stability compared to using an external CDN link in index.html</a:t>
            </a:r>
          </a:p>
          <a:p>
            <a:r>
              <a:rPr lang="en-US" b="1">
                <a:effectLst/>
              </a:rPr>
              <a:t>Why angular.json is usually faster</a:t>
            </a:r>
          </a:p>
          <a:p>
            <a:pPr lvl="1"/>
            <a:r>
              <a:rPr lang="en-US" b="1">
                <a:effectLst/>
              </a:rPr>
              <a:t>Reduced HTTP Requests</a:t>
            </a:r>
            <a:r>
              <a:rPr lang="en-US">
                <a:effectLst/>
              </a:rPr>
              <a:t>: When you add files to angular.json, the Angular CLI bundles them into a single (or few) minified CSS files. The browser makes one request for your styles instead of multiple separate requests to different servers.</a:t>
            </a:r>
          </a:p>
          <a:p>
            <a:endParaRPr lang="en-US" b="1">
              <a:effectLst/>
            </a:endParaRPr>
          </a:p>
          <a:p>
            <a:endParaRPr lang="en-US" b="1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73336699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AD825-945B-DE52-D932-59CACBC42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D111F-5D8E-225A-25F4-349D8B030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599"/>
            <a:ext cx="10353762" cy="5077767"/>
          </a:xfrm>
        </p:spPr>
        <p:txBody>
          <a:bodyPr>
            <a:normAutofit/>
          </a:bodyPr>
          <a:lstStyle/>
          <a:p>
            <a:r>
              <a:rPr lang="en-US" sz="5400" b="1">
                <a:solidFill>
                  <a:srgbClr val="FF0000"/>
                </a:solidFill>
              </a:rPr>
              <a:t>End CSS</a:t>
            </a:r>
          </a:p>
        </p:txBody>
      </p:sp>
    </p:spTree>
    <p:extLst>
      <p:ext uri="{BB962C8B-B14F-4D97-AF65-F5344CB8AC3E}">
        <p14:creationId xmlns:p14="http://schemas.microsoft.com/office/powerpoint/2010/main" val="1918058798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DE6BD-0C7B-6BA4-77ED-677D5406A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5228492"/>
          </a:xfrm>
        </p:spPr>
        <p:txBody>
          <a:bodyPr>
            <a:normAutofit/>
          </a:bodyPr>
          <a:lstStyle/>
          <a:p>
            <a:r>
              <a:rPr lang="en-US" sz="4800" b="1">
                <a:solidFill>
                  <a:srgbClr val="FF0000"/>
                </a:solidFill>
              </a:rPr>
              <a:t>Start SideBar with Layout 1</a:t>
            </a:r>
          </a:p>
        </p:txBody>
      </p:sp>
    </p:spTree>
    <p:extLst>
      <p:ext uri="{BB962C8B-B14F-4D97-AF65-F5344CB8AC3E}">
        <p14:creationId xmlns:p14="http://schemas.microsoft.com/office/powerpoint/2010/main" val="1182502505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7B360A-4087-24E1-28BE-F532187080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030" y="974690"/>
            <a:ext cx="11224009" cy="5255288"/>
          </a:xfrm>
        </p:spPr>
        <p:txBody>
          <a:bodyPr/>
          <a:lstStyle/>
          <a:p>
            <a:r>
              <a:rPr lang="en-US" b="1"/>
              <a:t>The behavior of following code will be</a:t>
            </a:r>
          </a:p>
          <a:p>
            <a:pPr lvl="1"/>
            <a:r>
              <a:rPr lang="en-US" b="1"/>
              <a:t>A side bar that appears at md+ screens</a:t>
            </a:r>
          </a:p>
          <a:p>
            <a:pPr lvl="1"/>
            <a:r>
              <a:rPr lang="en-US" b="1"/>
              <a:t>At screen less than md+ the side bar will disappeared and toggle (hamburger) button will appear to toggle the sidebar</a:t>
            </a:r>
          </a:p>
          <a:p>
            <a:pPr lvl="1"/>
            <a:r>
              <a:rPr lang="en-US" b="1"/>
              <a:t>The sidebar will be as offcanvas</a:t>
            </a:r>
          </a:p>
        </p:txBody>
      </p:sp>
    </p:spTree>
    <p:extLst>
      <p:ext uri="{BB962C8B-B14F-4D97-AF65-F5344CB8AC3E}">
        <p14:creationId xmlns:p14="http://schemas.microsoft.com/office/powerpoint/2010/main" val="2122024485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3E56E-2E6A-CCA4-7CA5-D8DA76448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970450"/>
          </a:xfrm>
        </p:spPr>
        <p:txBody>
          <a:bodyPr/>
          <a:lstStyle/>
          <a:p>
            <a:r>
              <a:rPr lang="en-US"/>
              <a:t>Side bar HTML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918D38-5CF9-77A1-0A46-D29F1C11CEC6}"/>
              </a:ext>
            </a:extLst>
          </p:cNvPr>
          <p:cNvSpPr txBox="1"/>
          <p:nvPr/>
        </p:nvSpPr>
        <p:spPr>
          <a:xfrm>
            <a:off x="0" y="1452771"/>
            <a:ext cx="1210826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6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"container-fluid d-flex p-0 h-100"</a:t>
            </a:r>
            <a:r>
              <a:rPr lang="en-US" sz="16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&lt;!-- ONE sidebar: works as offcanvas on from xs to sm, normal from md --&gt;</a:t>
            </a:r>
            <a:endParaRPr lang="en-US" sz="16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sz="16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"offcanvas offcanvas-start d-md-block border-0"</a:t>
            </a:r>
            <a:r>
              <a:rPr lang="en-US" sz="16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tabindex</a:t>
            </a:r>
            <a:r>
              <a:rPr lang="en-US" sz="16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"-1"</a:t>
            </a:r>
            <a:r>
              <a:rPr lang="en-US" sz="16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sz="16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"a-sidebar"</a:t>
            </a:r>
            <a:r>
              <a:rPr lang="en-US" sz="16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sz="16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"offcanvas-header d-md-none"</a:t>
            </a:r>
            <a:r>
              <a:rPr lang="en-US" sz="16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6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h5</a:t>
            </a:r>
            <a:r>
              <a:rPr lang="en-US" sz="16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"offcanvas-title"</a:t>
            </a:r>
            <a:r>
              <a:rPr lang="en-US" sz="16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6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Hebrak</a:t>
            </a:r>
            <a:r>
              <a:rPr lang="en-US" sz="16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60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h5</a:t>
            </a:r>
            <a:r>
              <a:rPr lang="en-US" sz="16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6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n-US" sz="16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"btn-close"</a:t>
            </a:r>
            <a:r>
              <a:rPr lang="en-US" sz="16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data-bs-dismiss</a:t>
            </a:r>
            <a:r>
              <a:rPr lang="en-US" sz="16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"offcanvas"</a:t>
            </a:r>
            <a:r>
              <a:rPr lang="en-US" sz="16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&gt;&lt;/</a:t>
            </a:r>
            <a:r>
              <a:rPr lang="en-US" sz="160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n-US" sz="16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60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sz="16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sz="16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sz="16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"offcanvas-body p-0"</a:t>
            </a:r>
            <a:r>
              <a:rPr lang="en-US" sz="16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6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ul</a:t>
            </a:r>
            <a:r>
              <a:rPr lang="en-US" sz="16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"nav flex-column p-2"</a:t>
            </a:r>
            <a:r>
              <a:rPr lang="en-US" sz="16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</a:t>
            </a: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en-US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"nav-item"</a:t>
            </a: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&gt;&lt;</a:t>
            </a:r>
            <a:r>
              <a:rPr lang="en-US" sz="140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routerLink</a:t>
            </a:r>
            <a:r>
              <a:rPr lang="en-US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"/mainLayout/Product"</a:t>
            </a:r>
            <a:r>
              <a:rPr lang="en-US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"nav-link fw-bold "</a:t>
            </a: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Product</a:t>
            </a: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40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&gt;&lt;/</a:t>
            </a:r>
            <a:r>
              <a:rPr lang="en-US" sz="140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</a:t>
            </a: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en-US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"nav-item"</a:t>
            </a: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&gt;&lt;</a:t>
            </a:r>
            <a:r>
              <a:rPr lang="en-US" sz="140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[routerLink]</a:t>
            </a:r>
            <a:r>
              <a:rPr lang="en-US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4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'/mainLayout'</a:t>
            </a:r>
            <a:r>
              <a:rPr lang="en-US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'about'</a:t>
            </a:r>
            <a:r>
              <a:rPr lang="en-US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4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"nav-link fw-bold"</a:t>
            </a: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About</a:t>
            </a: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40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&gt;&lt;/</a:t>
            </a:r>
            <a:r>
              <a:rPr lang="en-US" sz="140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</a:t>
            </a:r>
            <a:r>
              <a:rPr lang="en-US" sz="16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en-US" sz="16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"nav-item"</a:t>
            </a:r>
            <a:r>
              <a:rPr lang="en-US" sz="16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&gt;&lt;</a:t>
            </a:r>
            <a:r>
              <a:rPr lang="en-US" sz="160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en-US" sz="16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"#"</a:t>
            </a:r>
            <a:r>
              <a:rPr lang="en-US" sz="16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"nav-link fw-bold"</a:t>
            </a:r>
            <a:r>
              <a:rPr lang="en-US" sz="16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6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Logout</a:t>
            </a:r>
            <a:r>
              <a:rPr lang="en-US" sz="16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60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&gt;&lt;/</a:t>
            </a:r>
            <a:r>
              <a:rPr lang="en-US" sz="160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en-US" sz="16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6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60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ul</a:t>
            </a:r>
            <a:r>
              <a:rPr lang="en-US" sz="16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60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sz="16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60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sz="16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60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6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</a:t>
            </a:r>
          </a:p>
        </p:txBody>
      </p:sp>
    </p:spTree>
    <p:extLst>
      <p:ext uri="{BB962C8B-B14F-4D97-AF65-F5344CB8AC3E}">
        <p14:creationId xmlns:p14="http://schemas.microsoft.com/office/powerpoint/2010/main" val="3254954461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0CF1E-44AC-5ADC-AB26-66866B167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0"/>
            <a:ext cx="10353762" cy="783771"/>
          </a:xfrm>
        </p:spPr>
        <p:txBody>
          <a:bodyPr/>
          <a:lstStyle/>
          <a:p>
            <a:r>
              <a:rPr lang="en-US"/>
              <a:t>Sidebar CSS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BA032D-8EF7-03AF-C94F-ED0F7013B336}"/>
              </a:ext>
            </a:extLst>
          </p:cNvPr>
          <p:cNvSpPr txBox="1"/>
          <p:nvPr/>
        </p:nvSpPr>
        <p:spPr>
          <a:xfrm>
            <a:off x="552659" y="1492969"/>
            <a:ext cx="10862268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#a-sidebar.offcanvas</a:t>
            </a:r>
            <a:r>
              <a:rPr lang="en-US" sz="1600" b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600" b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max-width</a:t>
            </a:r>
            <a:r>
              <a:rPr lang="en-US" sz="1600" b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600" b="1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250px</a:t>
            </a:r>
            <a:r>
              <a:rPr lang="en-US" sz="1600" b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1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!important</a:t>
            </a:r>
            <a:r>
              <a:rPr lang="en-US" sz="1600" b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background-color</a:t>
            </a:r>
            <a:r>
              <a:rPr lang="en-US" sz="1600" b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600" b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#343a40</a:t>
            </a:r>
            <a:r>
              <a:rPr lang="en-US" sz="1600" b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endParaRPr lang="en-US" sz="1600" b="1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@media</a:t>
            </a:r>
            <a:r>
              <a:rPr lang="en-US" sz="1600" b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min-width</a:t>
            </a:r>
            <a:r>
              <a:rPr lang="en-US" sz="1600" b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600" b="1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768px</a:t>
            </a:r>
            <a:r>
              <a:rPr lang="en-US" sz="1600" b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600" b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1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#a-sidebar.offcanvas</a:t>
            </a:r>
            <a:r>
              <a:rPr lang="en-US" sz="1600" b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buNone/>
            </a:pPr>
            <a:r>
              <a:rPr lang="en-US" sz="1600" b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pPr>
              <a:buNone/>
            </a:pPr>
            <a:r>
              <a:rPr lang="en-US" sz="1600" b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1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/* the default is transform: translateX(-100%); */</a:t>
            </a:r>
            <a:endParaRPr lang="en-US" sz="1600" b="1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transform</a:t>
            </a:r>
            <a:r>
              <a:rPr lang="en-US" sz="1600" b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600" b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en-US" sz="1600" b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1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!important</a:t>
            </a:r>
            <a:r>
              <a:rPr lang="en-US" sz="1600" b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pPr>
              <a:buNone/>
            </a:pPr>
            <a:r>
              <a:rPr lang="en-US" sz="1600" b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1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/* default visibility: hidden*/</a:t>
            </a:r>
            <a:endParaRPr lang="en-US" sz="1600" b="1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visibility</a:t>
            </a:r>
            <a:r>
              <a:rPr lang="en-US" sz="1600" b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600" b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visible</a:t>
            </a:r>
            <a:r>
              <a:rPr lang="en-US" sz="1600" b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1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!important</a:t>
            </a:r>
            <a:r>
              <a:rPr lang="en-US" sz="1600" b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pPr>
              <a:buNone/>
            </a:pPr>
            <a:r>
              <a:rPr lang="en-US" sz="1600" b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1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/*default position: fixed*/</a:t>
            </a:r>
            <a:endParaRPr lang="en-US" sz="1600" b="1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position</a:t>
            </a:r>
            <a:r>
              <a:rPr lang="en-US" sz="1600" b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600" b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sz="1600" b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1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!important</a:t>
            </a:r>
            <a:r>
              <a:rPr lang="en-US" sz="1600" b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    </a:t>
            </a:r>
          </a:p>
          <a:p>
            <a:pPr>
              <a:buNone/>
            </a:pPr>
            <a:r>
              <a:rPr lang="en-US" sz="1600" b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en-US" sz="1600" b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600" b="1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200px</a:t>
            </a:r>
            <a:r>
              <a:rPr lang="en-US" sz="1600" b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                   </a:t>
            </a:r>
          </a:p>
          <a:p>
            <a:pPr>
              <a:buNone/>
            </a:pPr>
            <a:r>
              <a:rPr lang="en-US" sz="1600" b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min-height</a:t>
            </a:r>
            <a:r>
              <a:rPr lang="en-US" sz="1600" b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600" b="1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100vh</a:t>
            </a:r>
            <a:r>
              <a:rPr lang="en-US" sz="1600" b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en-US" sz="1600" b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600" b="1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100%</a:t>
            </a:r>
            <a:r>
              <a:rPr lang="en-US" sz="1600" b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1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!important</a:t>
            </a:r>
            <a:r>
              <a:rPr lang="en-US" sz="1600" b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600" b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98115060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E0D53-CF4D-31D7-9D22-43AF00A37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0"/>
            <a:ext cx="10353762" cy="970450"/>
          </a:xfrm>
        </p:spPr>
        <p:txBody>
          <a:bodyPr/>
          <a:lstStyle/>
          <a:p>
            <a:r>
              <a:rPr lang="en-US"/>
              <a:t>Sidebar 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ACFEA6-9D42-E1F3-3E26-C2A2D1833FF3}"/>
              </a:ext>
            </a:extLst>
          </p:cNvPr>
          <p:cNvSpPr txBox="1"/>
          <p:nvPr/>
        </p:nvSpPr>
        <p:spPr>
          <a:xfrm>
            <a:off x="522515" y="970450"/>
            <a:ext cx="1102304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{ Component }</a:t>
            </a:r>
            <a:r>
              <a:rPr lang="en-US" b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b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'@angular/core'</a:t>
            </a:r>
            <a:r>
              <a:rPr lang="en-US" b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{ RouterLink }</a:t>
            </a:r>
            <a:r>
              <a:rPr lang="en-US" b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b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'@angular/router'</a:t>
            </a:r>
            <a:r>
              <a:rPr lang="en-US" b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br>
              <a:rPr lang="en-US" b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b="1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en-US" b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Component</a:t>
            </a:r>
            <a:r>
              <a:rPr lang="en-US" b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({</a:t>
            </a:r>
          </a:p>
          <a:p>
            <a:pPr>
              <a:buNone/>
            </a:pPr>
            <a:r>
              <a:rPr lang="en-US" b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selector</a:t>
            </a:r>
            <a:r>
              <a:rPr lang="en-US" b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'app-side-bar'</a:t>
            </a:r>
            <a:r>
              <a:rPr lang="en-US" b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b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imports</a:t>
            </a:r>
            <a:r>
              <a:rPr lang="en-US" b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b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RouterLink</a:t>
            </a:r>
            <a:r>
              <a:rPr lang="en-US" b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b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b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templateUrl</a:t>
            </a:r>
            <a:r>
              <a:rPr lang="en-US" b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'./side-bar.component.html'</a:t>
            </a:r>
            <a:r>
              <a:rPr lang="en-US" b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b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styleUrl</a:t>
            </a:r>
            <a:r>
              <a:rPr lang="en-US" b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'./side-bar.component.css'</a:t>
            </a:r>
            <a:r>
              <a:rPr lang="en-US" b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b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})</a:t>
            </a:r>
          </a:p>
          <a:p>
            <a:pPr>
              <a:buNone/>
            </a:pPr>
            <a:r>
              <a:rPr lang="en-US" b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b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SideBarComponent</a:t>
            </a:r>
            <a:r>
              <a:rPr lang="en-US" b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br>
              <a:rPr lang="en-US" b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b="1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br>
              <a:rPr lang="en-US" b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b="1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0272325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2B855-9938-F497-3B22-185FB16BB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36844"/>
            <a:ext cx="10353762" cy="970450"/>
          </a:xfrm>
        </p:spPr>
        <p:txBody>
          <a:bodyPr/>
          <a:lstStyle/>
          <a:p>
            <a:r>
              <a:rPr lang="en-US"/>
              <a:t>Main layout.ts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434F83-1273-DC7E-B6B8-6EFC0D9727B8}"/>
              </a:ext>
            </a:extLst>
          </p:cNvPr>
          <p:cNvSpPr txBox="1"/>
          <p:nvPr/>
        </p:nvSpPr>
        <p:spPr>
          <a:xfrm>
            <a:off x="291402" y="1225689"/>
            <a:ext cx="11354637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en-US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Component</a:t>
            </a:r>
            <a:r>
              <a:rPr lang="en-US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({</a:t>
            </a:r>
          </a:p>
          <a:p>
            <a:pPr>
              <a:buNone/>
            </a:pPr>
            <a:r>
              <a:rPr lang="en-US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selector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'app-main-layout'</a:t>
            </a:r>
            <a:r>
              <a:rPr lang="en-US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imports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RouterOutlet</a:t>
            </a:r>
            <a:r>
              <a:rPr lang="en-US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SideBarComponent</a:t>
            </a:r>
            <a:r>
              <a:rPr lang="en-US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templateUrl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'./main-layout.component.html'</a:t>
            </a:r>
            <a:r>
              <a:rPr lang="en-US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styleUrl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'./main-layout.component.css'</a:t>
            </a:r>
            <a:endParaRPr lang="en-US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})</a:t>
            </a:r>
          </a:p>
          <a:p>
            <a:pPr>
              <a:buNone/>
            </a:pPr>
            <a:r>
              <a:rPr lang="en-US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MainLayoutComponent</a:t>
            </a:r>
            <a:r>
              <a:rPr lang="en-US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implements</a:t>
            </a:r>
            <a:r>
              <a:rPr lang="en-US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OnInit</a:t>
            </a:r>
            <a:r>
              <a:rPr lang="en-US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{</a:t>
            </a:r>
            <a:br>
              <a:rPr lang="en-US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currentLanguage</a:t>
            </a:r>
            <a:r>
              <a:rPr lang="en-US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'ar'</a:t>
            </a:r>
            <a:r>
              <a:rPr lang="en-US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constructor</a:t>
            </a:r>
            <a:r>
              <a:rPr lang="en-US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languageService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LanguageService</a:t>
            </a:r>
            <a:r>
              <a:rPr lang="en-US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{}</a:t>
            </a:r>
            <a:endParaRPr lang="en-US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ngOnInit</a:t>
            </a:r>
            <a:r>
              <a:rPr lang="en-US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.currentLanguage 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.languageService.</a:t>
            </a:r>
            <a:r>
              <a:rPr lang="en-US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getCurrentLanguage</a:t>
            </a:r>
            <a:r>
              <a:rPr lang="en-US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();</a:t>
            </a:r>
            <a:endParaRPr lang="en-US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}</a:t>
            </a:r>
            <a:br>
              <a:rPr lang="en-US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toggleLanguage</a:t>
            </a:r>
            <a:r>
              <a:rPr lang="en-US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.currentLanguage 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.languageService.</a:t>
            </a:r>
            <a:r>
              <a:rPr lang="en-US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getCurrentLanguage</a:t>
            </a:r>
            <a:r>
              <a:rPr lang="en-US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();</a:t>
            </a:r>
            <a:endParaRPr lang="en-US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.languageService.</a:t>
            </a:r>
            <a:r>
              <a:rPr lang="en-US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toggle</a:t>
            </a:r>
            <a:r>
              <a:rPr lang="en-US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();</a:t>
            </a:r>
            <a:endParaRPr lang="en-US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.currentLanguage 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.currentLanguage 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===</a:t>
            </a:r>
            <a:r>
              <a:rPr lang="en-US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'ar'</a:t>
            </a:r>
            <a:r>
              <a:rPr lang="en-US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?</a:t>
            </a:r>
            <a:r>
              <a:rPr lang="en-US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'en'</a:t>
            </a:r>
            <a:r>
              <a:rPr lang="en-US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'ar'</a:t>
            </a:r>
            <a:r>
              <a:rPr lang="en-US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}</a:t>
            </a:r>
            <a:endParaRPr lang="en-US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0585653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20882-3A74-F22D-A1A0-0891F4397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653143"/>
          </a:xfrm>
        </p:spPr>
        <p:txBody>
          <a:bodyPr>
            <a:normAutofit fontScale="90000"/>
          </a:bodyPr>
          <a:lstStyle/>
          <a:p>
            <a:r>
              <a:rPr lang="en-US"/>
              <a:t>Main-layout.html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91D297-3B11-1BBF-3588-0C5A1FAAE4A8}"/>
              </a:ext>
            </a:extLst>
          </p:cNvPr>
          <p:cNvSpPr txBox="1"/>
          <p:nvPr/>
        </p:nvSpPr>
        <p:spPr>
          <a:xfrm>
            <a:off x="0" y="1319436"/>
            <a:ext cx="12192000" cy="4812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"container-fluid d-flex p-0 mw-100"</a:t>
            </a: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app-side-bar</a:t>
            </a: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&gt;&lt;/</a:t>
            </a:r>
            <a:r>
              <a:rPr lang="en-US" sz="140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app-side-bar</a:t>
            </a: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"col flex-column page-content"</a:t>
            </a: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"layout-header d-flex align-items-center text-bg-dark p-10"</a:t>
            </a:r>
            <a:r>
              <a:rPr lang="en-US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en-US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"font-family: cursive;"</a:t>
            </a: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200" b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200" b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200" b="1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n-US" sz="1200" b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200" b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"btn btn-primary  me-10 fs-4 me-2"</a:t>
            </a:r>
            <a:r>
              <a:rPr lang="en-US" sz="1200" b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1200" b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"button"</a:t>
            </a:r>
            <a:r>
              <a:rPr lang="en-US" sz="1200" b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data-bs-toggle</a:t>
            </a:r>
            <a:r>
              <a:rPr lang="en-US" sz="1200" b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"offcanvas"</a:t>
            </a:r>
            <a:r>
              <a:rPr lang="en-US" sz="1200" b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data-bs-target</a:t>
            </a:r>
            <a:r>
              <a:rPr lang="en-US" sz="1200" b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"#a-sidebar"</a:t>
            </a:r>
            <a:r>
              <a:rPr lang="en-US" sz="1200" b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200" b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☰</a:t>
            </a:r>
            <a:r>
              <a:rPr lang="en-US" sz="1200" b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200" b="1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n-US" sz="1200" b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200" b="1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</a:t>
            </a:r>
            <a:r>
              <a:rPr lang="en-US" sz="1400" b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1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sz="1400" b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"d-flex justify-content-between w-100"</a:t>
            </a:r>
            <a:r>
              <a:rPr lang="en-US" sz="1400" b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400" b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ct val="150000"/>
              </a:lnSpc>
              <a:buNone/>
            </a:pPr>
            <a:r>
              <a:rPr lang="en-US" sz="1400" b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</a:t>
            </a:r>
            <a:r>
              <a:rPr lang="en-US" sz="1400" b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1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400" b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"p-0 m-0 fw-bold fs-4"</a:t>
            </a:r>
            <a:r>
              <a:rPr lang="en-US" sz="1400" b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400" b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Hebrak</a:t>
            </a:r>
            <a:r>
              <a:rPr lang="en-US" sz="1400" b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400" b="1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400" b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400" b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ct val="150000"/>
              </a:lnSpc>
              <a:buNone/>
            </a:pPr>
            <a:r>
              <a:rPr lang="en-US" sz="1200" b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1200" b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200" b="1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n-US" sz="1200" b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200" b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"btn btn-outline-light"</a:t>
            </a:r>
            <a:r>
              <a:rPr lang="en-US" sz="1200" b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1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(click)</a:t>
            </a:r>
            <a:r>
              <a:rPr lang="en-US" sz="1200" b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toggleLanguage</a:t>
            </a:r>
            <a:r>
              <a:rPr lang="en-US" sz="1200" b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sz="1200" b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200" b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{{ </a:t>
            </a:r>
            <a:r>
              <a:rPr lang="en-US" sz="1200" b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currentLanguage</a:t>
            </a:r>
            <a:r>
              <a:rPr lang="en-US" sz="1200" b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===</a:t>
            </a:r>
            <a:r>
              <a:rPr lang="en-US" sz="1200" b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'ar'</a:t>
            </a:r>
            <a:r>
              <a:rPr lang="en-US" sz="1200" b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?</a:t>
            </a:r>
            <a:r>
              <a:rPr lang="en-US" sz="1200" b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'English'</a:t>
            </a:r>
            <a:r>
              <a:rPr lang="en-US" sz="1200" b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200" b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ar-EG" sz="1200" b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العربية</a:t>
            </a:r>
            <a:r>
              <a:rPr lang="ar-EG" sz="1200" b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'}}</a:t>
            </a:r>
            <a:r>
              <a:rPr lang="ar-EG" sz="1200" b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ar-EG" sz="1200" b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200" b="1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n-US" sz="1200" b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200" b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ct val="150000"/>
              </a:lnSpc>
              <a:buNone/>
            </a:pPr>
            <a:r>
              <a:rPr lang="en-US" sz="1100" b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   </a:t>
            </a:r>
            <a:r>
              <a:rPr lang="en-US" sz="1400" b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400" b="1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sz="1400" b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1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40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ct val="150000"/>
              </a:lnSpc>
              <a:buNone/>
            </a:pPr>
            <a:r>
              <a:rPr lang="en-US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"fluid-container p-10"</a:t>
            </a: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router-outlet</a:t>
            </a: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&gt;&lt;/</a:t>
            </a:r>
            <a:r>
              <a:rPr lang="en-US" sz="140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router-outlet</a:t>
            </a: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40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ct val="150000"/>
              </a:lnSpc>
              <a:buNone/>
            </a:pPr>
            <a:r>
              <a:rPr lang="en-US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40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ct val="150000"/>
              </a:lnSpc>
              <a:buNone/>
            </a:pP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40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1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3374815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C1D31-DB66-B772-1221-31330DBD6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42681"/>
            <a:ext cx="10353762" cy="620510"/>
          </a:xfrm>
        </p:spPr>
        <p:txBody>
          <a:bodyPr>
            <a:normAutofit/>
          </a:bodyPr>
          <a:lstStyle/>
          <a:p>
            <a:r>
              <a:rPr lang="en-US" sz="3200" b="1"/>
              <a:t>main layout  (app.routes.ts)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A2F1B2-E592-5489-A07A-D30131FE95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CF604B-F529-23DE-6DDA-1442997D1C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030" y="1607736"/>
            <a:ext cx="11154129" cy="380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833622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A38B0-7FC1-476B-675A-8A5AD2C17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9898E-1D5A-7922-6501-046FFA0BF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5228492"/>
          </a:xfrm>
        </p:spPr>
        <p:txBody>
          <a:bodyPr>
            <a:normAutofit/>
          </a:bodyPr>
          <a:lstStyle/>
          <a:p>
            <a:r>
              <a:rPr lang="en-US" sz="4800" b="1">
                <a:solidFill>
                  <a:srgbClr val="FF0000"/>
                </a:solidFill>
              </a:rPr>
              <a:t>End Sidebar with layout 1</a:t>
            </a:r>
          </a:p>
        </p:txBody>
      </p:sp>
    </p:spTree>
    <p:extLst>
      <p:ext uri="{BB962C8B-B14F-4D97-AF65-F5344CB8AC3E}">
        <p14:creationId xmlns:p14="http://schemas.microsoft.com/office/powerpoint/2010/main" val="47735592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94648-D685-4D5B-BE6E-492D5F1AE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736879"/>
          </a:xfrm>
        </p:spPr>
        <p:txBody>
          <a:bodyPr/>
          <a:lstStyle/>
          <a:p>
            <a:r>
              <a:rPr lang="en-US" b="1">
                <a:solidFill>
                  <a:srgbClr val="FF0000"/>
                </a:solidFill>
              </a:rPr>
              <a:t>@Injectable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404C01-3F5F-961A-EEE2-E76DA66C0E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25" y="736879"/>
            <a:ext cx="11971282" cy="5995517"/>
          </a:xfrm>
        </p:spPr>
        <p:txBody>
          <a:bodyPr/>
          <a:lstStyle/>
          <a:p>
            <a:pPr marL="36900" indent="0">
              <a:buNone/>
            </a:pPr>
            <a:r>
              <a:rPr lang="en-US" b="1">
                <a:solidFill>
                  <a:srgbClr val="00B0F0"/>
                </a:solidFill>
              </a:rPr>
              <a:t>@Injectable</a:t>
            </a:r>
            <a:r>
              <a:rPr lang="en-US" b="1">
                <a:solidFill>
                  <a:srgbClr val="FFFF00"/>
                </a:solidFill>
              </a:rPr>
              <a:t> </a:t>
            </a:r>
            <a:r>
              <a:rPr lang="en-US" b="1">
                <a:solidFill>
                  <a:srgbClr val="FF0000"/>
                </a:solidFill>
              </a:rPr>
              <a:t>({</a:t>
            </a:r>
          </a:p>
          <a:p>
            <a:pPr marL="36900" indent="0">
              <a:buNone/>
            </a:pPr>
            <a:r>
              <a:rPr lang="en-US"/>
              <a:t>	providedIn: 'root'</a:t>
            </a:r>
            <a:endParaRPr lang="en-US" b="1">
              <a:solidFill>
                <a:srgbClr val="FF0000"/>
              </a:solidFill>
            </a:endParaRPr>
          </a:p>
          <a:p>
            <a:pPr marL="36900" indent="0">
              <a:buNone/>
            </a:pPr>
            <a:r>
              <a:rPr lang="en-US" b="1">
                <a:solidFill>
                  <a:srgbClr val="FF0000"/>
                </a:solidFill>
              </a:rPr>
              <a:t>})</a:t>
            </a:r>
          </a:p>
          <a:p>
            <a:r>
              <a:rPr lang="en-US" b="1"/>
              <a:t>register a service in Angular’s </a:t>
            </a:r>
            <a:r>
              <a:rPr lang="en-US" b="1">
                <a:solidFill>
                  <a:srgbClr val="FFFF00"/>
                </a:solidFill>
              </a:rPr>
              <a:t>Dependency Injection system</a:t>
            </a:r>
            <a:r>
              <a:rPr lang="en-US" b="1"/>
              <a:t> so it can be automatically created and injected anywhere in the application.</a:t>
            </a:r>
          </a:p>
          <a:p>
            <a:r>
              <a:rPr lang="en-US"/>
              <a:t>Angular knows this class </a:t>
            </a:r>
            <a:r>
              <a:rPr lang="en-US" b="1"/>
              <a:t>can be injected into components or other services</a:t>
            </a:r>
            <a:r>
              <a:rPr lang="en-US"/>
              <a:t>.</a:t>
            </a:r>
          </a:p>
          <a:p>
            <a:r>
              <a:rPr lang="en-US"/>
              <a:t>Create </a:t>
            </a:r>
            <a:r>
              <a:rPr lang="en-US" b="1"/>
              <a:t>one single instance of the service for the whole application</a:t>
            </a:r>
            <a:r>
              <a:rPr lang="en-US"/>
              <a:t>. </a:t>
            </a:r>
            <a:r>
              <a:rPr lang="en-US" b="1"/>
              <a:t>[ Singleton Service ]</a:t>
            </a:r>
          </a:p>
          <a:p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3991652767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B7719-2ADD-F546-8678-83CB988B6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458549"/>
            <a:ext cx="10353762" cy="1118663"/>
          </a:xfrm>
        </p:spPr>
        <p:txBody>
          <a:bodyPr>
            <a:normAutofit/>
          </a:bodyPr>
          <a:lstStyle/>
          <a:p>
            <a:r>
              <a:rPr lang="en-US" sz="6000" b="1">
                <a:solidFill>
                  <a:srgbClr val="FF0000"/>
                </a:solidFill>
              </a:rPr>
              <a:t>Start Forms</a:t>
            </a:r>
          </a:p>
        </p:txBody>
      </p:sp>
    </p:spTree>
    <p:extLst>
      <p:ext uri="{BB962C8B-B14F-4D97-AF65-F5344CB8AC3E}">
        <p14:creationId xmlns:p14="http://schemas.microsoft.com/office/powerpoint/2010/main" val="3988666239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34E81-35BE-40C1-EDF7-01A34930D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450" y="0"/>
            <a:ext cx="11525459" cy="643095"/>
          </a:xfrm>
        </p:spPr>
        <p:txBody>
          <a:bodyPr>
            <a:normAutofit/>
          </a:bodyPr>
          <a:lstStyle/>
          <a:p>
            <a:r>
              <a:rPr lang="en-US" sz="3600" b="1">
                <a:solidFill>
                  <a:srgbClr val="FF0000"/>
                </a:solidFill>
              </a:rPr>
              <a:t>Template Driven Forms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FC0645-62BC-3BAE-0D48-E625847395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1450" y="643095"/>
            <a:ext cx="11525459" cy="6079252"/>
          </a:xfrm>
        </p:spPr>
        <p:txBody>
          <a:bodyPr/>
          <a:lstStyle/>
          <a:p>
            <a:r>
              <a:rPr lang="en-US"/>
              <a:t>Import </a:t>
            </a:r>
            <a:r>
              <a:rPr lang="en-US" b="1">
                <a:solidFill>
                  <a:srgbClr val="00B0F0"/>
                </a:solidFill>
              </a:rPr>
              <a:t>FormsModule</a:t>
            </a:r>
            <a:r>
              <a:rPr lang="en-US"/>
              <a:t> inside the component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204B2A-0E74-96F1-7E17-310E3F507F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449" y="1106364"/>
            <a:ext cx="5606982" cy="1627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497455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90C42-D9D3-2A67-C852-BA6401691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596202"/>
          </a:xfrm>
        </p:spPr>
        <p:txBody>
          <a:bodyPr>
            <a:normAutofit fontScale="90000"/>
          </a:bodyPr>
          <a:lstStyle/>
          <a:p>
            <a:r>
              <a:rPr lang="en-US" sz="3600" b="1">
                <a:solidFill>
                  <a:srgbClr val="FF0000"/>
                </a:solidFill>
              </a:rPr>
              <a:t>ReactiveFormsModule (model driven forms)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51E7E9-69C9-6754-D51B-6B97DF0B01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1014" y="596201"/>
            <a:ext cx="11776669" cy="6176387"/>
          </a:xfrm>
        </p:spPr>
        <p:txBody>
          <a:bodyPr/>
          <a:lstStyle/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 sz="1800" b="1">
              <a:solidFill>
                <a:srgbClr val="FFC000"/>
              </a:solidFill>
              <a:effectLst/>
            </a:endParaRPr>
          </a:p>
          <a:p>
            <a:pPr marL="36900" indent="0">
              <a:buNone/>
            </a:pPr>
            <a:endParaRPr lang="en-US" sz="1800" b="1">
              <a:solidFill>
                <a:srgbClr val="FFC000"/>
              </a:solidFill>
              <a:effectLst/>
            </a:endParaRPr>
          </a:p>
          <a:p>
            <a:r>
              <a:rPr lang="en-US" sz="1800" b="1">
                <a:solidFill>
                  <a:srgbClr val="FFC000"/>
                </a:solidFill>
                <a:effectLst/>
              </a:rPr>
              <a:t>FormControl Prop</a:t>
            </a:r>
          </a:p>
          <a:p>
            <a:r>
              <a:rPr lang="en-US" sz="1800" b="1">
                <a:solidFill>
                  <a:srgbClr val="FFC000"/>
                </a:solidFill>
                <a:effectLst/>
              </a:rPr>
              <a:t>this</a:t>
            </a:r>
            <a:r>
              <a:rPr lang="en-US" sz="1800">
                <a:effectLst/>
              </a:rPr>
              <a:t>.</a:t>
            </a:r>
            <a:r>
              <a:rPr lang="en-US" sz="1800" b="1">
                <a:solidFill>
                  <a:srgbClr val="00B0F0"/>
                </a:solidFill>
                <a:effectLst/>
              </a:rPr>
              <a:t>ColorOptionForm</a:t>
            </a:r>
            <a:r>
              <a:rPr lang="en-US" sz="1800">
                <a:effectLst/>
              </a:rPr>
              <a:t>.</a:t>
            </a:r>
            <a:r>
              <a:rPr lang="en-US" sz="1800" b="1">
                <a:solidFill>
                  <a:srgbClr val="00B050"/>
                </a:solidFill>
                <a:effectLst/>
              </a:rPr>
              <a:t>value</a:t>
            </a:r>
            <a:r>
              <a:rPr lang="en-US" sz="1800">
                <a:solidFill>
                  <a:srgbClr val="00B050"/>
                </a:solidFill>
                <a:effectLst/>
              </a:rPr>
              <a:t> // </a:t>
            </a:r>
            <a:r>
              <a:rPr lang="en-US" sz="1800" b="1">
                <a:solidFill>
                  <a:schemeClr val="tx1"/>
                </a:solidFill>
                <a:effectLst/>
              </a:rPr>
              <a:t>{ColorName: '', ColorHexCode: ''}</a:t>
            </a:r>
          </a:p>
          <a:p>
            <a:r>
              <a:rPr lang="en-US" sz="1800" b="1">
                <a:solidFill>
                  <a:srgbClr val="FFC000"/>
                </a:solidFill>
                <a:effectLst/>
              </a:rPr>
              <a:t>this</a:t>
            </a:r>
            <a:r>
              <a:rPr lang="en-US" sz="1800"/>
              <a:t>.</a:t>
            </a:r>
            <a:r>
              <a:rPr lang="en-US" sz="1800" b="1">
                <a:solidFill>
                  <a:srgbClr val="00B0F0"/>
                </a:solidFill>
                <a:effectLst/>
              </a:rPr>
              <a:t>productForm</a:t>
            </a:r>
            <a:r>
              <a:rPr lang="en-US" sz="1800" b="1"/>
              <a:t>.</a:t>
            </a:r>
            <a:r>
              <a:rPr lang="en-US" sz="1800" b="1">
                <a:solidFill>
                  <a:srgbClr val="FFFF00"/>
                </a:solidFill>
              </a:rPr>
              <a:t>controls</a:t>
            </a:r>
            <a:r>
              <a:rPr lang="en-US" sz="1800" b="1"/>
              <a:t>.</a:t>
            </a:r>
            <a:r>
              <a:rPr lang="en-US" sz="1800" b="1">
                <a:solidFill>
                  <a:srgbClr val="00B050"/>
                </a:solidFill>
              </a:rPr>
              <a:t>ColorName</a:t>
            </a:r>
            <a:r>
              <a:rPr lang="en-US" sz="1800" b="1">
                <a:solidFill>
                  <a:srgbClr val="FFC000"/>
                </a:solidFill>
              </a:rPr>
              <a:t>.Value </a:t>
            </a:r>
            <a:r>
              <a:rPr lang="en-US" sz="1800" b="1">
                <a:solidFill>
                  <a:schemeClr val="tx1"/>
                </a:solidFill>
              </a:rPr>
              <a:t>// value is a read-only</a:t>
            </a:r>
            <a:endParaRPr lang="en-US" sz="1800" b="1">
              <a:solidFill>
                <a:schemeClr val="tx1"/>
              </a:solidFill>
              <a:effectLst/>
            </a:endParaRPr>
          </a:p>
          <a:p>
            <a:r>
              <a:rPr lang="en-US" sz="1800" b="1">
                <a:solidFill>
                  <a:srgbClr val="FFC000"/>
                </a:solidFill>
              </a:rPr>
              <a:t>this</a:t>
            </a:r>
            <a:r>
              <a:rPr lang="en-US" sz="1800" b="1">
                <a:solidFill>
                  <a:schemeClr val="tx1"/>
                </a:solidFill>
              </a:rPr>
              <a:t>.</a:t>
            </a:r>
            <a:r>
              <a:rPr lang="en-US" sz="1800" b="1">
                <a:solidFill>
                  <a:srgbClr val="00B0F0"/>
                </a:solidFill>
              </a:rPr>
              <a:t>productForm</a:t>
            </a:r>
            <a:r>
              <a:rPr lang="en-US" sz="1800" b="1">
                <a:solidFill>
                  <a:schemeClr val="tx1"/>
                </a:solidFill>
              </a:rPr>
              <a:t>.controls.price.hasError('required')</a:t>
            </a:r>
          </a:p>
          <a:p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486A2C-AA3F-0343-A02E-C71C5DF7805C}"/>
              </a:ext>
            </a:extLst>
          </p:cNvPr>
          <p:cNvSpPr/>
          <p:nvPr/>
        </p:nvSpPr>
        <p:spPr>
          <a:xfrm>
            <a:off x="344993" y="656489"/>
            <a:ext cx="4759570" cy="226758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>
                <a:solidFill>
                  <a:srgbClr val="00B0F0"/>
                </a:solidFill>
              </a:rPr>
              <a:t>ColorOptionForm</a:t>
            </a:r>
            <a:r>
              <a:rPr lang="en-US"/>
              <a:t> = new </a:t>
            </a:r>
            <a:r>
              <a:rPr lang="en-US" b="1">
                <a:solidFill>
                  <a:srgbClr val="00B050"/>
                </a:solidFill>
              </a:rPr>
              <a:t>FormGroup</a:t>
            </a:r>
            <a:r>
              <a:rPr lang="en-US"/>
              <a:t>({</a:t>
            </a:r>
          </a:p>
          <a:p>
            <a:endParaRPr lang="en-US"/>
          </a:p>
          <a:p>
            <a:r>
              <a:rPr lang="en-US"/>
              <a:t>    </a:t>
            </a:r>
            <a:r>
              <a:rPr lang="en-US" b="1">
                <a:solidFill>
                  <a:srgbClr val="FFFF00"/>
                </a:solidFill>
              </a:rPr>
              <a:t>ColorName</a:t>
            </a:r>
            <a:r>
              <a:rPr lang="en-US"/>
              <a:t>: </a:t>
            </a:r>
            <a:r>
              <a:rPr lang="en-US" b="1">
                <a:solidFill>
                  <a:srgbClr val="7030A0"/>
                </a:solidFill>
              </a:rPr>
              <a:t>new</a:t>
            </a:r>
            <a:r>
              <a:rPr lang="en-US"/>
              <a:t> </a:t>
            </a:r>
            <a:r>
              <a:rPr lang="en-US" b="1">
                <a:solidFill>
                  <a:srgbClr val="00B050"/>
                </a:solidFill>
              </a:rPr>
              <a:t>FormControl</a:t>
            </a:r>
            <a:r>
              <a:rPr lang="en-US"/>
              <a:t>(''),</a:t>
            </a:r>
          </a:p>
          <a:p>
            <a:r>
              <a:rPr lang="en-US"/>
              <a:t>    </a:t>
            </a:r>
            <a:r>
              <a:rPr lang="en-US" b="1">
                <a:solidFill>
                  <a:srgbClr val="FFFF00"/>
                </a:solidFill>
              </a:rPr>
              <a:t>ColorHexCode</a:t>
            </a:r>
            <a:r>
              <a:rPr lang="en-US"/>
              <a:t>: </a:t>
            </a:r>
            <a:r>
              <a:rPr lang="en-US" b="1">
                <a:solidFill>
                  <a:srgbClr val="7030A0"/>
                </a:solidFill>
              </a:rPr>
              <a:t>new</a:t>
            </a:r>
            <a:r>
              <a:rPr lang="en-US"/>
              <a:t> </a:t>
            </a:r>
            <a:r>
              <a:rPr lang="en-US" b="1">
                <a:solidFill>
                  <a:srgbClr val="00B050"/>
                </a:solidFill>
              </a:rPr>
              <a:t>FormControl</a:t>
            </a:r>
            <a:r>
              <a:rPr lang="en-US"/>
              <a:t>(''),</a:t>
            </a:r>
          </a:p>
          <a:p>
            <a:endParaRPr lang="en-US"/>
          </a:p>
          <a:p>
            <a:r>
              <a:rPr lang="en-US"/>
              <a:t>  })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2CD0215-0797-DBC6-4A0B-75E0DBBEAF9C}"/>
              </a:ext>
            </a:extLst>
          </p:cNvPr>
          <p:cNvSpPr/>
          <p:nvPr/>
        </p:nvSpPr>
        <p:spPr>
          <a:xfrm>
            <a:off x="5551714" y="656489"/>
            <a:ext cx="4759570" cy="226758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>
                <a:solidFill>
                  <a:srgbClr val="00B0F0"/>
                </a:solidFill>
              </a:rPr>
              <a:t>ColorOptionForm</a:t>
            </a:r>
            <a:r>
              <a:rPr lang="en-US"/>
              <a:t> = new </a:t>
            </a:r>
            <a:r>
              <a:rPr lang="en-US" b="1">
                <a:solidFill>
                  <a:srgbClr val="00B050"/>
                </a:solidFill>
              </a:rPr>
              <a:t>FormGroup</a:t>
            </a:r>
            <a:r>
              <a:rPr lang="en-US"/>
              <a:t>({</a:t>
            </a:r>
          </a:p>
          <a:p>
            <a:endParaRPr lang="en-US"/>
          </a:p>
          <a:p>
            <a:r>
              <a:rPr lang="en-US"/>
              <a:t>    </a:t>
            </a:r>
            <a:r>
              <a:rPr lang="en-US" b="1">
                <a:solidFill>
                  <a:srgbClr val="FFFF00"/>
                </a:solidFill>
              </a:rPr>
              <a:t>ColorName</a:t>
            </a:r>
            <a:r>
              <a:rPr lang="en-US"/>
              <a:t>: </a:t>
            </a:r>
            <a:r>
              <a:rPr lang="en-US" b="1">
                <a:solidFill>
                  <a:srgbClr val="7030A0"/>
                </a:solidFill>
              </a:rPr>
              <a:t>new</a:t>
            </a:r>
            <a:r>
              <a:rPr lang="en-US"/>
              <a:t> </a:t>
            </a:r>
            <a:r>
              <a:rPr lang="en-US" b="1">
                <a:solidFill>
                  <a:srgbClr val="00B050"/>
                </a:solidFill>
              </a:rPr>
              <a:t>FormControl</a:t>
            </a:r>
            <a:r>
              <a:rPr lang="en-US"/>
              <a:t>(''),</a:t>
            </a:r>
          </a:p>
          <a:p>
            <a:r>
              <a:rPr lang="en-US"/>
              <a:t>    </a:t>
            </a:r>
            <a:r>
              <a:rPr lang="en-US" b="1">
                <a:solidFill>
                  <a:srgbClr val="FFFF00"/>
                </a:solidFill>
              </a:rPr>
              <a:t>ColorHexCode</a:t>
            </a:r>
            <a:r>
              <a:rPr lang="en-US"/>
              <a:t>: </a:t>
            </a:r>
            <a:r>
              <a:rPr lang="en-US" b="1">
                <a:solidFill>
                  <a:srgbClr val="7030A0"/>
                </a:solidFill>
              </a:rPr>
              <a:t>new</a:t>
            </a:r>
            <a:r>
              <a:rPr lang="en-US"/>
              <a:t> </a:t>
            </a:r>
            <a:r>
              <a:rPr lang="en-US" b="1">
                <a:solidFill>
                  <a:srgbClr val="00B050"/>
                </a:solidFill>
              </a:rPr>
              <a:t>FormControl</a:t>
            </a:r>
            <a:r>
              <a:rPr lang="en-US"/>
              <a:t>(''),</a:t>
            </a:r>
          </a:p>
          <a:p>
            <a:endParaRPr lang="en-US"/>
          </a:p>
          <a:p>
            <a:r>
              <a:rPr lang="en-US"/>
              <a:t>  })</a:t>
            </a:r>
          </a:p>
        </p:txBody>
      </p:sp>
    </p:spTree>
    <p:extLst>
      <p:ext uri="{BB962C8B-B14F-4D97-AF65-F5344CB8AC3E}">
        <p14:creationId xmlns:p14="http://schemas.microsoft.com/office/powerpoint/2010/main" val="3359443030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1D747-64E4-5582-14F6-6E7C47E0B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"/>
            <a:ext cx="10353762" cy="512466"/>
          </a:xfrm>
        </p:spPr>
        <p:txBody>
          <a:bodyPr>
            <a:normAutofit fontScale="90000"/>
          </a:bodyPr>
          <a:lstStyle/>
          <a:p>
            <a:r>
              <a:rPr lang="en-US" sz="3200" b="1">
                <a:solidFill>
                  <a:srgbClr val="FF0000"/>
                </a:solidFill>
              </a:rPr>
              <a:t>ReactiveFormsModule (</a:t>
            </a:r>
            <a:r>
              <a:rPr lang="en-US" sz="3200" b="1">
                <a:solidFill>
                  <a:schemeClr val="tx1"/>
                </a:solidFill>
              </a:rPr>
              <a:t>FormControl</a:t>
            </a:r>
            <a:r>
              <a:rPr lang="en-US" sz="3200" b="1">
                <a:solidFill>
                  <a:srgbClr val="FF0000"/>
                </a:solidFill>
              </a:rPr>
              <a:t>) [cont.1]</a:t>
            </a:r>
            <a:endParaRPr lang="en-US" sz="3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41B2B3-0C49-364C-4961-97252139EF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53142"/>
            <a:ext cx="12192000" cy="6204857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FFFF00"/>
                </a:solidFill>
              </a:rPr>
              <a:t>FormControl</a:t>
            </a:r>
            <a:r>
              <a:rPr lang="en-US"/>
              <a:t> Properties</a:t>
            </a:r>
            <a:endParaRPr lang="ar-EG"/>
          </a:p>
          <a:p>
            <a:pPr lvl="1"/>
            <a:r>
              <a:rPr lang="en-US" b="1">
                <a:solidFill>
                  <a:srgbClr val="FFFF00"/>
                </a:solidFill>
              </a:rPr>
              <a:t>value</a:t>
            </a:r>
            <a:r>
              <a:rPr lang="en-US"/>
              <a:t>: string</a:t>
            </a:r>
          </a:p>
          <a:p>
            <a:pPr lvl="1"/>
            <a:r>
              <a:rPr lang="en-US" b="1">
                <a:solidFill>
                  <a:srgbClr val="FFFF00"/>
                </a:solidFill>
                <a:effectLst/>
              </a:rPr>
              <a:t>valueChanges.</a:t>
            </a:r>
            <a:r>
              <a:rPr lang="en-US" b="1">
                <a:solidFill>
                  <a:srgbClr val="00B0F0"/>
                </a:solidFill>
                <a:effectLst/>
              </a:rPr>
              <a:t>subscribe </a:t>
            </a:r>
            <a:r>
              <a:rPr lang="en-US">
                <a:effectLst/>
              </a:rPr>
              <a:t>( val=&gt;console.log(val) )   </a:t>
            </a:r>
            <a:r>
              <a:rPr lang="en-US" b="1">
                <a:solidFill>
                  <a:schemeClr val="tx1"/>
                </a:solidFill>
                <a:effectLst/>
              </a:rPr>
              <a:t>//</a:t>
            </a:r>
            <a:r>
              <a:rPr lang="en-US" b="1">
                <a:effectLst/>
              </a:rPr>
              <a:t> </a:t>
            </a:r>
            <a:r>
              <a:rPr lang="en-US" b="1"/>
              <a:t>Observable that emits whenever value changes</a:t>
            </a:r>
          </a:p>
          <a:p>
            <a:pPr lvl="1"/>
            <a:r>
              <a:rPr lang="en-US" b="1">
                <a:solidFill>
                  <a:srgbClr val="FFFF00"/>
                </a:solidFill>
              </a:rPr>
              <a:t>statusChanges</a:t>
            </a:r>
            <a:r>
              <a:rPr lang="en-US"/>
              <a:t>.</a:t>
            </a:r>
            <a:r>
              <a:rPr lang="en-US" b="1">
                <a:solidFill>
                  <a:srgbClr val="00B0F0"/>
                </a:solidFill>
                <a:effectLst/>
              </a:rPr>
              <a:t>subscribe</a:t>
            </a:r>
            <a:r>
              <a:rPr lang="en-US"/>
              <a:t> (</a:t>
            </a:r>
            <a:r>
              <a:rPr lang="en-US">
                <a:effectLst/>
              </a:rPr>
              <a:t>val=&gt;console.log(val) </a:t>
            </a:r>
            <a:r>
              <a:rPr lang="en-US"/>
              <a:t>)  </a:t>
            </a:r>
            <a:r>
              <a:rPr lang="en-US" b="1"/>
              <a:t>// Observable that emits when validation status changes</a:t>
            </a:r>
            <a:r>
              <a:rPr lang="en-US"/>
              <a:t> </a:t>
            </a:r>
          </a:p>
          <a:p>
            <a:pPr lvl="1"/>
            <a:r>
              <a:rPr lang="en-US" b="1">
                <a:solidFill>
                  <a:srgbClr val="FFFF00"/>
                </a:solidFill>
              </a:rPr>
              <a:t>errors</a:t>
            </a:r>
            <a:r>
              <a:rPr lang="en-US"/>
              <a:t>      // </a:t>
            </a:r>
            <a:r>
              <a:rPr lang="en-US" b="1"/>
              <a:t>{ {key: value}, {key: value} }</a:t>
            </a:r>
          </a:p>
          <a:p>
            <a:pPr lvl="1"/>
            <a:r>
              <a:rPr lang="en-US" b="1">
                <a:solidFill>
                  <a:srgbClr val="FFFF00"/>
                </a:solidFill>
              </a:rPr>
              <a:t>valid</a:t>
            </a:r>
            <a:r>
              <a:rPr lang="en-US"/>
              <a:t>  	     //  boolean</a:t>
            </a:r>
          </a:p>
          <a:p>
            <a:pPr lvl="1"/>
            <a:r>
              <a:rPr lang="en-US" b="1">
                <a:solidFill>
                  <a:srgbClr val="FFFF00"/>
                </a:solidFill>
                <a:effectLst/>
              </a:rPr>
              <a:t>touched</a:t>
            </a:r>
            <a:r>
              <a:rPr lang="en-US">
                <a:effectLst/>
              </a:rPr>
              <a:t>   //  The form control has been blurred (focused and then left).</a:t>
            </a:r>
          </a:p>
          <a:p>
            <a:pPr lvl="1"/>
            <a:r>
              <a:rPr lang="en-US" b="1">
                <a:solidFill>
                  <a:srgbClr val="FFFF00"/>
                </a:solidFill>
                <a:effectLst/>
              </a:rPr>
              <a:t>pristine</a:t>
            </a:r>
            <a:r>
              <a:rPr lang="en-US">
                <a:effectLst/>
              </a:rPr>
              <a:t>   //  The value has not changed from the initial value</a:t>
            </a:r>
          </a:p>
          <a:p>
            <a:pPr lvl="1"/>
            <a:r>
              <a:rPr lang="en-US" b="1">
                <a:solidFill>
                  <a:srgbClr val="FFFF00"/>
                </a:solidFill>
              </a:rPr>
              <a:t>dirty</a:t>
            </a:r>
            <a:r>
              <a:rPr lang="en-US"/>
              <a:t>	    //   The value has changed from the initial value</a:t>
            </a:r>
          </a:p>
          <a:p>
            <a:pPr lvl="1"/>
            <a:r>
              <a:rPr lang="en-US" b="1">
                <a:solidFill>
                  <a:srgbClr val="FFFF00"/>
                </a:solidFill>
              </a:rPr>
              <a:t>status</a:t>
            </a:r>
            <a:r>
              <a:rPr lang="en-US"/>
              <a:t>	    //   Valid, Invalid, Pending, Disabled</a:t>
            </a:r>
          </a:p>
          <a:p>
            <a:pPr lvl="1"/>
            <a:r>
              <a:rPr lang="en-US" b="1">
                <a:solidFill>
                  <a:srgbClr val="FFFF00"/>
                </a:solidFill>
              </a:rPr>
              <a:t>valid</a:t>
            </a:r>
            <a:r>
              <a:rPr lang="en-US"/>
              <a:t>	    //   bool</a:t>
            </a:r>
          </a:p>
          <a:p>
            <a:pPr lvl="1"/>
            <a:r>
              <a:rPr lang="en-US" b="1">
                <a:solidFill>
                  <a:srgbClr val="FFFF00"/>
                </a:solidFill>
                <a:effectLst/>
              </a:rPr>
              <a:t>invalid</a:t>
            </a:r>
            <a:r>
              <a:rPr lang="en-US">
                <a:effectLst/>
              </a:rPr>
              <a:t>   //   bool</a:t>
            </a:r>
          </a:p>
          <a:p>
            <a:pPr lvl="1"/>
            <a:r>
              <a:rPr lang="en-US" b="1">
                <a:solidFill>
                  <a:srgbClr val="FFFF00"/>
                </a:solidFill>
              </a:rPr>
              <a:t>hasError</a:t>
            </a:r>
            <a:r>
              <a:rPr lang="en-US"/>
              <a:t>('required')	// bool</a:t>
            </a:r>
          </a:p>
        </p:txBody>
      </p:sp>
    </p:spTree>
    <p:extLst>
      <p:ext uri="{BB962C8B-B14F-4D97-AF65-F5344CB8AC3E}">
        <p14:creationId xmlns:p14="http://schemas.microsoft.com/office/powerpoint/2010/main" val="2530550446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A4D541-2EEB-64BD-D6DF-C96EB5D68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17BA3-016A-FE38-815B-4FB3759A6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"/>
            <a:ext cx="10353762" cy="512466"/>
          </a:xfrm>
        </p:spPr>
        <p:txBody>
          <a:bodyPr>
            <a:normAutofit fontScale="90000"/>
          </a:bodyPr>
          <a:lstStyle/>
          <a:p>
            <a:r>
              <a:rPr lang="en-US" sz="3200" b="1">
                <a:solidFill>
                  <a:srgbClr val="FF0000"/>
                </a:solidFill>
              </a:rPr>
              <a:t>ReactiveFormsModule (</a:t>
            </a:r>
            <a:r>
              <a:rPr lang="en-US" sz="3200" b="1">
                <a:solidFill>
                  <a:schemeClr val="tx1"/>
                </a:solidFill>
              </a:rPr>
              <a:t>FormControl</a:t>
            </a:r>
            <a:r>
              <a:rPr lang="en-US" sz="3200" b="1">
                <a:solidFill>
                  <a:srgbClr val="FF0000"/>
                </a:solidFill>
              </a:rPr>
              <a:t>) [cont.2]</a:t>
            </a:r>
            <a:endParaRPr lang="en-US" sz="3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97F07F-F9F3-9692-8C69-E16D658A61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484" y="653142"/>
            <a:ext cx="11917345" cy="6069205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FFFF00"/>
                </a:solidFill>
              </a:rPr>
              <a:t>FormControl</a:t>
            </a:r>
            <a:r>
              <a:rPr lang="en-US"/>
              <a:t> Properties</a:t>
            </a:r>
          </a:p>
          <a:p>
            <a:pPr lvl="1"/>
            <a:r>
              <a:rPr lang="en-US" b="1">
                <a:solidFill>
                  <a:srgbClr val="FFFF00"/>
                </a:solidFill>
                <a:effectLst/>
              </a:rPr>
              <a:t>disable</a:t>
            </a:r>
            <a:r>
              <a:rPr lang="en-US">
                <a:effectLst/>
              </a:rPr>
              <a:t> :  Disables the control</a:t>
            </a:r>
            <a:endParaRPr lang="ar-EG"/>
          </a:p>
          <a:p>
            <a:pPr lvl="1"/>
            <a:r>
              <a:rPr lang="en-US" b="1">
                <a:solidFill>
                  <a:srgbClr val="FFFF00"/>
                </a:solidFill>
                <a:effectLst/>
              </a:rPr>
              <a:t>disabled</a:t>
            </a:r>
            <a:r>
              <a:rPr lang="en-US">
                <a:effectLst/>
              </a:rPr>
              <a:t> : bool ,  </a:t>
            </a:r>
            <a:r>
              <a:rPr lang="en-US" sz="1600">
                <a:effectLst/>
              </a:rPr>
              <a:t>A control is disabled when its status is DISABLED, Disabled controls are exempt from validation checks </a:t>
            </a:r>
            <a:endParaRPr lang="en-US">
              <a:effectLst/>
            </a:endParaRPr>
          </a:p>
          <a:p>
            <a:pPr lvl="1"/>
            <a:r>
              <a:rPr lang="en-US" b="1">
                <a:solidFill>
                  <a:srgbClr val="FFFF00"/>
                </a:solidFill>
                <a:effectLst/>
              </a:rPr>
              <a:t>enable </a:t>
            </a:r>
            <a:r>
              <a:rPr lang="en-US" b="1">
                <a:solidFill>
                  <a:schemeClr val="tx1"/>
                </a:solidFill>
                <a:effectLst/>
              </a:rPr>
              <a:t>:</a:t>
            </a:r>
            <a:r>
              <a:rPr lang="en-US" b="1">
                <a:solidFill>
                  <a:srgbClr val="FFFF00"/>
                </a:solidFill>
                <a:effectLst/>
              </a:rPr>
              <a:t> </a:t>
            </a:r>
          </a:p>
          <a:p>
            <a:pPr lvl="1"/>
            <a:r>
              <a:rPr lang="en-US" b="1">
                <a:solidFill>
                  <a:srgbClr val="FFFF00"/>
                </a:solidFill>
                <a:effectLst/>
              </a:rPr>
              <a:t>enabled </a:t>
            </a:r>
            <a:r>
              <a:rPr lang="en-US" b="1">
                <a:solidFill>
                  <a:schemeClr val="tx1"/>
                </a:solidFill>
                <a:effectLst/>
              </a:rPr>
              <a:t>:</a:t>
            </a:r>
            <a:r>
              <a:rPr lang="en-US" b="1">
                <a:solidFill>
                  <a:srgbClr val="FFFF00"/>
                </a:solidFill>
                <a:effectLst/>
              </a:rPr>
              <a:t> </a:t>
            </a:r>
            <a:endParaRPr lang="en-US">
              <a:effectLst/>
            </a:endParaRPr>
          </a:p>
          <a:p>
            <a:pPr lvl="1"/>
            <a:r>
              <a:rPr lang="en-US" b="1">
                <a:solidFill>
                  <a:srgbClr val="FFFF00"/>
                </a:solidFill>
                <a:effectLst/>
              </a:rPr>
              <a:t>parent </a:t>
            </a:r>
            <a:r>
              <a:rPr lang="en-US" b="1">
                <a:solidFill>
                  <a:schemeClr val="tx1"/>
                </a:solidFill>
                <a:effectLst/>
              </a:rPr>
              <a:t>:</a:t>
            </a:r>
            <a:r>
              <a:rPr lang="en-US" b="1">
                <a:solidFill>
                  <a:srgbClr val="FFFF00"/>
                </a:solidFill>
                <a:effectLst/>
              </a:rPr>
              <a:t> </a:t>
            </a:r>
            <a:r>
              <a:rPr lang="en-US"/>
              <a:t>Reference to parent ( </a:t>
            </a:r>
            <a:r>
              <a:rPr lang="en-US" b="1">
                <a:solidFill>
                  <a:srgbClr val="FFC000"/>
                </a:solidFill>
              </a:rPr>
              <a:t>FormGroup</a:t>
            </a:r>
            <a:r>
              <a:rPr lang="en-US"/>
              <a:t> or </a:t>
            </a:r>
            <a:r>
              <a:rPr lang="en-US" b="1">
                <a:solidFill>
                  <a:srgbClr val="FFC000"/>
                </a:solidFill>
              </a:rPr>
              <a:t>FormArray</a:t>
            </a:r>
            <a:r>
              <a:rPr lang="en-US"/>
              <a:t> )</a:t>
            </a:r>
          </a:p>
          <a:p>
            <a:pPr lvl="1"/>
            <a:r>
              <a:rPr lang="en-US" b="1">
                <a:solidFill>
                  <a:srgbClr val="FFFF00"/>
                </a:solidFill>
              </a:rPr>
              <a:t>setValue</a:t>
            </a:r>
            <a:r>
              <a:rPr lang="en-US"/>
              <a:t>('Ahmed’)  // automatically triggers validation</a:t>
            </a:r>
            <a:endParaRPr lang="en-US" b="1">
              <a:solidFill>
                <a:srgbClr val="FFFF00"/>
              </a:solidFill>
              <a:effectLst/>
            </a:endParaRPr>
          </a:p>
          <a:p>
            <a:pPr lvl="1"/>
            <a:r>
              <a:rPr lang="en-US" b="1">
                <a:solidFill>
                  <a:srgbClr val="FFFF00"/>
                </a:solidFill>
              </a:rPr>
              <a:t>patchValue</a:t>
            </a:r>
            <a:r>
              <a:rPr lang="en-US"/>
              <a:t>('Ahmed');</a:t>
            </a:r>
            <a:endParaRPr lang="en-US">
              <a:effectLst/>
            </a:endParaRPr>
          </a:p>
          <a:p>
            <a:pPr lvl="1"/>
            <a:r>
              <a:rPr lang="en-US" b="1">
                <a:solidFill>
                  <a:srgbClr val="FFFF00"/>
                </a:solidFill>
              </a:rPr>
              <a:t>reset()</a:t>
            </a:r>
            <a:endParaRPr lang="en-US" b="1">
              <a:solidFill>
                <a:srgbClr val="FFFF00"/>
              </a:solidFill>
              <a:effectLst/>
            </a:endParaRPr>
          </a:p>
          <a:p>
            <a:pPr lvl="1"/>
            <a:r>
              <a:rPr lang="en-US" b="1">
                <a:solidFill>
                  <a:srgbClr val="FFFF00"/>
                </a:solidFill>
                <a:effectLst/>
              </a:rPr>
              <a:t>markAsTouched()</a:t>
            </a:r>
            <a:r>
              <a:rPr lang="en-US">
                <a:effectLst/>
              </a:rPr>
              <a:t>;</a:t>
            </a:r>
          </a:p>
          <a:p>
            <a:pPr lvl="1"/>
            <a:r>
              <a:rPr lang="en-US" b="1">
                <a:solidFill>
                  <a:srgbClr val="FFFF00"/>
                </a:solidFill>
                <a:effectLst/>
              </a:rPr>
              <a:t>markAsUntouched()</a:t>
            </a:r>
            <a:r>
              <a:rPr lang="en-US">
                <a:effectLst/>
              </a:rPr>
              <a:t>;</a:t>
            </a:r>
          </a:p>
          <a:p>
            <a:pPr lvl="1"/>
            <a:r>
              <a:rPr lang="en-US" b="1">
                <a:solidFill>
                  <a:srgbClr val="FFFF00"/>
                </a:solidFill>
                <a:effectLst/>
              </a:rPr>
              <a:t>markAsDirty()</a:t>
            </a:r>
            <a:r>
              <a:rPr lang="en-US">
                <a:effectLst/>
              </a:rPr>
              <a:t>;</a:t>
            </a:r>
          </a:p>
          <a:p>
            <a:pPr lvl="1"/>
            <a:r>
              <a:rPr lang="en-US" b="1">
                <a:solidFill>
                  <a:srgbClr val="FFFF00"/>
                </a:solidFill>
                <a:effectLst/>
              </a:rPr>
              <a:t>markAsPristine();</a:t>
            </a:r>
          </a:p>
          <a:p>
            <a:endParaRPr lang="en-US">
              <a:effectLst/>
            </a:endParaRPr>
          </a:p>
          <a:p>
            <a:endParaRPr lang="en-US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536094232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E1F43-9166-A779-3949-4AA791E34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592853"/>
          </a:xfrm>
        </p:spPr>
        <p:txBody>
          <a:bodyPr>
            <a:normAutofit fontScale="90000"/>
          </a:bodyPr>
          <a:lstStyle/>
          <a:p>
            <a:r>
              <a:rPr lang="en-US" sz="3600" b="1">
                <a:solidFill>
                  <a:srgbClr val="FF0000"/>
                </a:solidFill>
              </a:rPr>
              <a:t>ReactiveFormsModule ( </a:t>
            </a:r>
            <a:r>
              <a:rPr lang="en-US" sz="3600" b="1"/>
              <a:t>FormGroup </a:t>
            </a:r>
            <a:r>
              <a:rPr lang="en-US" sz="3600" b="1">
                <a:solidFill>
                  <a:srgbClr val="FF0000"/>
                </a:solidFill>
              </a:rPr>
              <a:t>) [cont.3]</a:t>
            </a:r>
            <a:endParaRPr lang="en-US" sz="36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2B704E-52E1-3227-2D1B-9F875C2528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435" y="592853"/>
            <a:ext cx="12101565" cy="6265147"/>
          </a:xfrm>
        </p:spPr>
        <p:txBody>
          <a:bodyPr>
            <a:normAutofit lnSpcReduction="10000"/>
          </a:bodyPr>
          <a:lstStyle/>
          <a:p>
            <a:r>
              <a:rPr lang="en-US" b="1"/>
              <a:t>FormGroup Properties</a:t>
            </a:r>
          </a:p>
          <a:p>
            <a:pPr lvl="1"/>
            <a:r>
              <a:rPr lang="en-US" b="1">
                <a:solidFill>
                  <a:srgbClr val="FFFF00"/>
                </a:solidFill>
              </a:rPr>
              <a:t>value</a:t>
            </a:r>
            <a:r>
              <a:rPr lang="en-US" b="1"/>
              <a:t> : { username: 'Ahmed' , password: '123456' }</a:t>
            </a:r>
          </a:p>
          <a:p>
            <a:pPr lvl="1"/>
            <a:r>
              <a:rPr lang="en-US" b="1"/>
              <a:t>getRawValue():  Includes disabled controls</a:t>
            </a:r>
          </a:p>
          <a:p>
            <a:pPr lvl="1"/>
            <a:r>
              <a:rPr lang="en-US" b="1">
                <a:effectLst/>
              </a:rPr>
              <a:t>controls['ColorHexCode']   // </a:t>
            </a:r>
          </a:p>
          <a:p>
            <a:pPr lvl="1"/>
            <a:r>
              <a:rPr lang="en-US" b="1">
                <a:effectLst/>
              </a:rPr>
              <a:t>get('ColorHexCode')		// </a:t>
            </a:r>
          </a:p>
          <a:p>
            <a:pPr lvl="1"/>
            <a:r>
              <a:rPr lang="en-US" b="1"/>
              <a:t>valid: bool, </a:t>
            </a:r>
            <a:r>
              <a:rPr lang="en-US" b="1">
                <a:effectLst/>
              </a:rPr>
              <a:t>A control is valid when its status is VALID</a:t>
            </a:r>
            <a:endParaRPr lang="en-US" b="1"/>
          </a:p>
          <a:p>
            <a:pPr lvl="1"/>
            <a:r>
              <a:rPr lang="en-US" b="1"/>
              <a:t>invalid</a:t>
            </a:r>
          </a:p>
          <a:p>
            <a:pPr lvl="1"/>
            <a:r>
              <a:rPr lang="en-US" b="1"/>
              <a:t>errors // Errors applied to the group itself (not children)</a:t>
            </a:r>
          </a:p>
          <a:p>
            <a:pPr lvl="1"/>
            <a:r>
              <a:rPr lang="en-US" b="1"/>
              <a:t>status </a:t>
            </a:r>
          </a:p>
          <a:p>
            <a:pPr lvl="1"/>
            <a:r>
              <a:rPr lang="en-US" b="1"/>
              <a:t>form.setValue({ username: 'Ahmed’, password: '123’ }); // Must include ALL controls</a:t>
            </a:r>
          </a:p>
          <a:p>
            <a:pPr lvl="1"/>
            <a:r>
              <a:rPr lang="en-US" b="1"/>
              <a:t>form.patchValue({  username: 'Ahmed’ }); // lets you update only the fields you provide, </a:t>
            </a:r>
            <a:r>
              <a:rPr lang="en-US" sz="1600" b="1"/>
              <a:t>always triggers validation</a:t>
            </a:r>
            <a:endParaRPr lang="en-US" b="1"/>
          </a:p>
          <a:p>
            <a:pPr lvl="1"/>
            <a:r>
              <a:rPr lang="en-US" b="1"/>
              <a:t>form.</a:t>
            </a:r>
            <a:r>
              <a:rPr lang="en-US" b="1">
                <a:solidFill>
                  <a:srgbClr val="FFFF00"/>
                </a:solidFill>
              </a:rPr>
              <a:t>markAllAsTouched</a:t>
            </a:r>
            <a:r>
              <a:rPr lang="en-US" b="1"/>
              <a:t>(); // The form control has been blurred (focused and then left).</a:t>
            </a:r>
          </a:p>
          <a:p>
            <a:pPr lvl="1"/>
            <a:r>
              <a:rPr lang="en-US" b="1"/>
              <a:t>form.</a:t>
            </a:r>
            <a:r>
              <a:rPr lang="en-US" b="1">
                <a:solidFill>
                  <a:srgbClr val="FFFF00"/>
                </a:solidFill>
              </a:rPr>
              <a:t>markAsDirty</a:t>
            </a:r>
            <a:r>
              <a:rPr lang="en-US" b="1"/>
              <a:t>();   // The value has changed from the initial value.</a:t>
            </a:r>
          </a:p>
          <a:p>
            <a:pPr lvl="1"/>
            <a:r>
              <a:rPr lang="en-US" b="1"/>
              <a:t>form.</a:t>
            </a:r>
            <a:r>
              <a:rPr lang="en-US" b="1">
                <a:solidFill>
                  <a:srgbClr val="FFFF00"/>
                </a:solidFill>
              </a:rPr>
              <a:t>markAsPristine</a:t>
            </a:r>
            <a:r>
              <a:rPr lang="en-US" b="1"/>
              <a:t>();  // The value has not changed from the initial value.</a:t>
            </a:r>
          </a:p>
          <a:p>
            <a:pPr lvl="1"/>
            <a:r>
              <a:rPr lang="en-US" b="1"/>
              <a:t>form.</a:t>
            </a:r>
            <a:r>
              <a:rPr lang="en-US" b="1">
                <a:solidFill>
                  <a:srgbClr val="FFFF00"/>
                </a:solidFill>
              </a:rPr>
              <a:t>markAsUntouched</a:t>
            </a:r>
            <a:r>
              <a:rPr lang="en-US" b="1"/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629440981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6E995-C527-4F8D-DF33-01615D3C0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532563"/>
          </a:xfrm>
        </p:spPr>
        <p:txBody>
          <a:bodyPr>
            <a:normAutofit fontScale="90000"/>
          </a:bodyPr>
          <a:lstStyle/>
          <a:p>
            <a:r>
              <a:rPr lang="en-US" b="1">
                <a:solidFill>
                  <a:srgbClr val="FF0000"/>
                </a:solidFill>
              </a:rPr>
              <a:t>ReactiveFormsModule ( </a:t>
            </a:r>
            <a:r>
              <a:rPr lang="en-US" b="1"/>
              <a:t>FormGroup </a:t>
            </a:r>
            <a:r>
              <a:rPr lang="en-US" b="1">
                <a:solidFill>
                  <a:srgbClr val="FF0000"/>
                </a:solidFill>
              </a:rPr>
              <a:t>) [cont.4]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3770AA-D8E9-CB22-3C6A-9BC11CD41E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209" y="532563"/>
            <a:ext cx="11445072" cy="6189784"/>
          </a:xfrm>
        </p:spPr>
        <p:txBody>
          <a:bodyPr/>
          <a:lstStyle/>
          <a:p>
            <a:r>
              <a:rPr lang="en-US" b="1"/>
              <a:t>FormGroup Properties</a:t>
            </a:r>
            <a:endParaRPr lang="en-US"/>
          </a:p>
          <a:p>
            <a:pPr lvl="1"/>
            <a:r>
              <a:rPr lang="en-US"/>
              <a:t>updateValueAndValidity() </a:t>
            </a:r>
          </a:p>
        </p:txBody>
      </p:sp>
    </p:spTree>
    <p:extLst>
      <p:ext uri="{BB962C8B-B14F-4D97-AF65-F5344CB8AC3E}">
        <p14:creationId xmlns:p14="http://schemas.microsoft.com/office/powerpoint/2010/main" val="1703609518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1D0C4-ACC1-BA03-4A6A-9DC8F11D7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808002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FF0000"/>
                </a:solidFill>
              </a:rPr>
              <a:t>ReactiveFormsModule creation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C8C125-E20B-2C32-467E-ABFFC0054A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582" y="808002"/>
            <a:ext cx="11806811" cy="5874151"/>
          </a:xfrm>
        </p:spPr>
        <p:txBody>
          <a:bodyPr/>
          <a:lstStyle/>
          <a:p>
            <a:endParaRPr lang="en-US">
              <a:effectLst/>
            </a:endParaRPr>
          </a:p>
          <a:p>
            <a:endParaRPr lang="en-US">
              <a:effectLst/>
            </a:endParaRPr>
          </a:p>
          <a:p>
            <a:endParaRPr lang="en-US">
              <a:effectLst/>
            </a:endParaRPr>
          </a:p>
          <a:p>
            <a:endParaRPr lang="en-US">
              <a:effectLst/>
            </a:endParaRPr>
          </a:p>
          <a:p>
            <a:endParaRPr lang="en-US">
              <a:effectLst/>
            </a:endParaRPr>
          </a:p>
          <a:p>
            <a:endParaRPr lang="en-US">
              <a:effectLst/>
            </a:endParaRPr>
          </a:p>
          <a:p>
            <a:endParaRPr lang="en-US">
              <a:effectLst/>
            </a:endParaRPr>
          </a:p>
          <a:p>
            <a:endParaRPr lang="en-US">
              <a:effectLst/>
            </a:endParaRPr>
          </a:p>
          <a:p>
            <a:r>
              <a:rPr lang="en-US" sz="1800">
                <a:effectLst/>
              </a:rPr>
              <a:t>The FormControl(‘initial value’, ValidatorFn | ValidatorFn[] | null , AsyncValidatorFn | AsyncValidatorFn[] | null)</a:t>
            </a:r>
          </a:p>
          <a:p>
            <a:r>
              <a:rPr lang="en-US" b="1">
                <a:solidFill>
                  <a:srgbClr val="FFFF00"/>
                </a:solidFill>
                <a:effectLst/>
              </a:rPr>
              <a:t>updateOnBlur</a:t>
            </a:r>
          </a:p>
          <a:p>
            <a:pPr lvl="1"/>
            <a:r>
              <a:rPr lang="en-US"/>
              <a:t>ALL validations run after user blur from input</a:t>
            </a:r>
            <a:endParaRPr lang="en-US">
              <a:effectLst/>
            </a:endParaRPr>
          </a:p>
          <a:p>
            <a:endParaRPr lang="en-US">
              <a:effectLst/>
            </a:endParaRPr>
          </a:p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9061A14-236C-A0C6-7512-412A348191C5}"/>
              </a:ext>
            </a:extLst>
          </p:cNvPr>
          <p:cNvSpPr/>
          <p:nvPr/>
        </p:nvSpPr>
        <p:spPr>
          <a:xfrm>
            <a:off x="264607" y="1205803"/>
            <a:ext cx="6189784" cy="301450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/>
              <a:t>ColorOptionForm = new </a:t>
            </a:r>
            <a:r>
              <a:rPr lang="en-US" b="1">
                <a:solidFill>
                  <a:srgbClr val="00B0F0"/>
                </a:solidFill>
              </a:rPr>
              <a:t>FormGroup</a:t>
            </a:r>
            <a:r>
              <a:rPr lang="en-US"/>
              <a:t>({</a:t>
            </a:r>
          </a:p>
          <a:p>
            <a:r>
              <a:rPr lang="en-US"/>
              <a:t>    ColorName: new </a:t>
            </a:r>
            <a:r>
              <a:rPr lang="en-US" b="1">
                <a:solidFill>
                  <a:srgbClr val="FFFF00"/>
                </a:solidFill>
              </a:rPr>
              <a:t>FormControl</a:t>
            </a:r>
            <a:r>
              <a:rPr lang="en-US"/>
              <a:t>('', {</a:t>
            </a:r>
          </a:p>
          <a:p>
            <a:r>
              <a:rPr lang="en-US"/>
              <a:t>        validators: [ </a:t>
            </a:r>
            <a:r>
              <a:rPr lang="en-US" b="1">
                <a:solidFill>
                  <a:srgbClr val="00B0F0"/>
                </a:solidFill>
              </a:rPr>
              <a:t>Validators</a:t>
            </a:r>
            <a:r>
              <a:rPr lang="en-US"/>
              <a:t>.</a:t>
            </a:r>
            <a:r>
              <a:rPr lang="en-US" b="1">
                <a:solidFill>
                  <a:srgbClr val="FFC000"/>
                </a:solidFill>
              </a:rPr>
              <a:t>required</a:t>
            </a:r>
            <a:r>
              <a:rPr lang="en-US"/>
              <a:t> ], </a:t>
            </a:r>
          </a:p>
          <a:p>
            <a:r>
              <a:rPr lang="en-US"/>
              <a:t>        asyncValidators: [this.</a:t>
            </a:r>
            <a:r>
              <a:rPr lang="en-US" b="1">
                <a:solidFill>
                  <a:srgbClr val="FFC000"/>
                </a:solidFill>
              </a:rPr>
              <a:t>UniqueNameValidator</a:t>
            </a:r>
            <a:r>
              <a:rPr lang="en-US"/>
              <a:t>()],</a:t>
            </a:r>
          </a:p>
          <a:p>
            <a:r>
              <a:rPr lang="en-US"/>
              <a:t>        </a:t>
            </a:r>
            <a:r>
              <a:rPr lang="en-US" b="1">
                <a:solidFill>
                  <a:srgbClr val="FFFF00"/>
                </a:solidFill>
              </a:rPr>
              <a:t>updateOn</a:t>
            </a:r>
            <a:r>
              <a:rPr lang="en-US"/>
              <a:t>: 'blur'</a:t>
            </a:r>
          </a:p>
          <a:p>
            <a:r>
              <a:rPr lang="en-US"/>
              <a:t>      },</a:t>
            </a:r>
          </a:p>
          <a:p>
            <a:r>
              <a:rPr lang="en-US"/>
              <a:t>    ),</a:t>
            </a:r>
          </a:p>
          <a:p>
            <a:r>
              <a:rPr lang="en-US"/>
              <a:t>    ColorHexCode: new FormControl('', [Validators.required]),</a:t>
            </a:r>
          </a:p>
          <a:p>
            <a:r>
              <a:rPr lang="en-US"/>
              <a:t>  })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278978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62D46-AA64-CA90-0C3C-B8FB68B2E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3DAC0-7595-6351-C7B9-77ACD931E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458549"/>
            <a:ext cx="10353762" cy="1118663"/>
          </a:xfrm>
        </p:spPr>
        <p:txBody>
          <a:bodyPr>
            <a:normAutofit/>
          </a:bodyPr>
          <a:lstStyle/>
          <a:p>
            <a:r>
              <a:rPr lang="en-US" sz="6000" b="1">
                <a:solidFill>
                  <a:srgbClr val="FF0000"/>
                </a:solidFill>
              </a:rPr>
              <a:t>End Forms</a:t>
            </a:r>
          </a:p>
        </p:txBody>
      </p:sp>
    </p:spTree>
    <p:extLst>
      <p:ext uri="{BB962C8B-B14F-4D97-AF65-F5344CB8AC3E}">
        <p14:creationId xmlns:p14="http://schemas.microsoft.com/office/powerpoint/2010/main" val="3223754909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D5A59-A856-90A1-8FED-919F4D833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602902"/>
          </a:xfrm>
        </p:spPr>
        <p:txBody>
          <a:bodyPr>
            <a:normAutofit fontScale="90000"/>
          </a:bodyPr>
          <a:lstStyle/>
          <a:p>
            <a:r>
              <a:rPr lang="en-US" b="1">
                <a:solidFill>
                  <a:srgbClr val="FF0000"/>
                </a:solidFill>
              </a:rPr>
              <a:t>Sweat Alert</a:t>
            </a:r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E460CD-D3F5-1544-D00C-8EF814FC82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580" y="602903"/>
            <a:ext cx="11877152" cy="6049106"/>
          </a:xfrm>
        </p:spPr>
        <p:txBody>
          <a:bodyPr/>
          <a:lstStyle/>
          <a:p>
            <a:r>
              <a:rPr lang="en-US" b="1">
                <a:solidFill>
                  <a:srgbClr val="FFFF00"/>
                </a:solidFill>
              </a:rPr>
              <a:t>npm</a:t>
            </a:r>
            <a:r>
              <a:rPr lang="en-US"/>
              <a:t> </a:t>
            </a:r>
            <a:r>
              <a:rPr lang="en-US" b="1">
                <a:solidFill>
                  <a:srgbClr val="FF0000"/>
                </a:solidFill>
              </a:rPr>
              <a:t>install</a:t>
            </a:r>
            <a:r>
              <a:rPr lang="en-US"/>
              <a:t> </a:t>
            </a:r>
            <a:r>
              <a:rPr lang="en-US" b="1"/>
              <a:t>sweetalert2</a:t>
            </a:r>
          </a:p>
          <a:p>
            <a:endParaRPr lang="en-US">
              <a:effectLst/>
            </a:endParaRPr>
          </a:p>
          <a:p>
            <a:endParaRPr lang="en-US">
              <a:effectLst/>
            </a:endParaRPr>
          </a:p>
          <a:p>
            <a:endParaRPr lang="en-US">
              <a:effectLst/>
            </a:endParaRPr>
          </a:p>
          <a:p>
            <a:r>
              <a:rPr lang="en-US">
                <a:effectLst/>
              </a:rPr>
              <a:t>Swal.fire(options) // it returns promise --- </a:t>
            </a:r>
            <a:r>
              <a:rPr lang="en-US" b="1">
                <a:solidFill>
                  <a:srgbClr val="FFFF00"/>
                </a:solidFill>
                <a:effectLst/>
              </a:rPr>
              <a:t>Promise</a:t>
            </a:r>
            <a:r>
              <a:rPr lang="en-US">
                <a:effectLst/>
              </a:rPr>
              <a:t>&lt;</a:t>
            </a:r>
            <a:r>
              <a:rPr lang="en-US" b="1">
                <a:solidFill>
                  <a:srgbClr val="FF0000"/>
                </a:solidFill>
                <a:effectLst/>
              </a:rPr>
              <a:t>SweetAlertResult</a:t>
            </a:r>
            <a:r>
              <a:rPr lang="en-US">
                <a:effectLst/>
              </a:rPr>
              <a:t>&lt;any&gt;&gt;</a:t>
            </a:r>
          </a:p>
          <a:p>
            <a:pPr lvl="1"/>
            <a:r>
              <a:rPr lang="en-US" b="1">
                <a:solidFill>
                  <a:srgbClr val="FF0000"/>
                </a:solidFill>
                <a:effectLst/>
              </a:rPr>
              <a:t>SweetAlertResult.</a:t>
            </a:r>
            <a:r>
              <a:rPr lang="en-US">
                <a:effectLst/>
              </a:rPr>
              <a:t>isConfirmed</a:t>
            </a:r>
          </a:p>
          <a:p>
            <a:pPr lvl="1"/>
            <a:r>
              <a:rPr lang="en-US" b="1">
                <a:solidFill>
                  <a:srgbClr val="FF0000"/>
                </a:solidFill>
                <a:effectLst/>
              </a:rPr>
              <a:t>SweetAlertResult.</a:t>
            </a:r>
            <a:r>
              <a:rPr lang="en-US">
                <a:effectLst/>
              </a:rPr>
              <a:t>isDenied</a:t>
            </a:r>
          </a:p>
          <a:p>
            <a:pPr lvl="1"/>
            <a:r>
              <a:rPr lang="en-US" b="1">
                <a:solidFill>
                  <a:srgbClr val="FF0000"/>
                </a:solidFill>
                <a:effectLst/>
              </a:rPr>
              <a:t>SweetAlertResult.</a:t>
            </a:r>
            <a:r>
              <a:rPr lang="en-US">
                <a:effectLst/>
              </a:rPr>
              <a:t>isDismissed</a:t>
            </a:r>
          </a:p>
          <a:p>
            <a:endParaRPr lang="en-US">
              <a:effectLst/>
            </a:endParaRPr>
          </a:p>
          <a:p>
            <a:pPr marL="3690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882693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D6289-A31A-D2F3-CA0A-FDBD3D533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6390752"/>
          </a:xfrm>
        </p:spPr>
        <p:txBody>
          <a:bodyPr>
            <a:normAutofit/>
          </a:bodyPr>
          <a:lstStyle/>
          <a:p>
            <a:r>
              <a:rPr lang="en-US" sz="4800" b="1">
                <a:solidFill>
                  <a:srgbClr val="FF0000"/>
                </a:solidFill>
              </a:rPr>
              <a:t>Start Sweat Alert</a:t>
            </a:r>
          </a:p>
        </p:txBody>
      </p:sp>
    </p:spTree>
    <p:extLst>
      <p:ext uri="{BB962C8B-B14F-4D97-AF65-F5344CB8AC3E}">
        <p14:creationId xmlns:p14="http://schemas.microsoft.com/office/powerpoint/2010/main" val="3709272118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F6CD6-0D81-7390-4CDC-26D1A4E1A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599"/>
            <a:ext cx="10353762" cy="5362575"/>
          </a:xfrm>
        </p:spPr>
        <p:txBody>
          <a:bodyPr/>
          <a:lstStyle/>
          <a:p>
            <a:r>
              <a:rPr lang="en-US" b="1">
                <a:solidFill>
                  <a:srgbClr val="FF0000"/>
                </a:solidFill>
              </a:rPr>
              <a:t>End Sweat Alert</a:t>
            </a:r>
          </a:p>
        </p:txBody>
      </p:sp>
    </p:spTree>
    <p:extLst>
      <p:ext uri="{BB962C8B-B14F-4D97-AF65-F5344CB8AC3E}">
        <p14:creationId xmlns:p14="http://schemas.microsoft.com/office/powerpoint/2010/main" val="881942264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4BE66-9208-201E-099B-E6D3C4F69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633046"/>
          </a:xfrm>
        </p:spPr>
        <p:txBody>
          <a:bodyPr>
            <a:normAutofit fontScale="90000"/>
          </a:bodyPr>
          <a:lstStyle/>
          <a:p>
            <a:r>
              <a:rPr lang="en-US"/>
              <a:t>HTTP Client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095313-3881-361A-D401-D5FB46E15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402" y="633046"/>
            <a:ext cx="11445073" cy="5817995"/>
          </a:xfrm>
        </p:spPr>
        <p:txBody>
          <a:bodyPr/>
          <a:lstStyle/>
          <a:p>
            <a:r>
              <a:rPr lang="en-US"/>
              <a:t>You need to make httpClient Injectable [make provider for httpClient]</a:t>
            </a:r>
          </a:p>
          <a:p>
            <a:r>
              <a:rPr lang="en-US"/>
              <a:t>configure angular httpClient Service to be available for injection</a:t>
            </a:r>
          </a:p>
          <a:p>
            <a:pPr lvl="1"/>
            <a:r>
              <a:rPr lang="en-US"/>
              <a:t>At </a:t>
            </a:r>
            <a:r>
              <a:rPr lang="en-US" b="1">
                <a:solidFill>
                  <a:srgbClr val="00B0F0"/>
                </a:solidFill>
              </a:rPr>
              <a:t>app.config.ts</a:t>
            </a:r>
            <a:r>
              <a:rPr lang="en-US"/>
              <a:t> : </a:t>
            </a:r>
            <a:r>
              <a:rPr lang="en-US" b="1"/>
              <a:t>at provider array add</a:t>
            </a:r>
            <a:r>
              <a:rPr lang="en-US"/>
              <a:t> ---- </a:t>
            </a:r>
            <a:r>
              <a:rPr lang="en-US" b="1">
                <a:solidFill>
                  <a:srgbClr val="FFFF00"/>
                </a:solidFill>
              </a:rPr>
              <a:t>provideHttpClient(withFetch())</a:t>
            </a:r>
            <a:r>
              <a:rPr lang="en-US"/>
              <a:t> </a:t>
            </a:r>
          </a:p>
          <a:p>
            <a:pPr lvl="1"/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0175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973614-4A5D-57A3-2066-B233B8F6C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FD689-324F-7A20-90B5-59151A21E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644" y="609599"/>
            <a:ext cx="11465169" cy="5298831"/>
          </a:xfrm>
        </p:spPr>
        <p:txBody>
          <a:bodyPr>
            <a:normAutofit/>
          </a:bodyPr>
          <a:lstStyle/>
          <a:p>
            <a:r>
              <a:rPr lang="en-US" sz="6000" b="1">
                <a:solidFill>
                  <a:srgbClr val="FF0000"/>
                </a:solidFill>
              </a:rPr>
              <a:t>Start Validation</a:t>
            </a:r>
          </a:p>
        </p:txBody>
      </p:sp>
    </p:spTree>
    <p:extLst>
      <p:ext uri="{BB962C8B-B14F-4D97-AF65-F5344CB8AC3E}">
        <p14:creationId xmlns:p14="http://schemas.microsoft.com/office/powerpoint/2010/main" val="92037173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15632-BAA9-D22C-D580-BDA47538F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970450"/>
          </a:xfrm>
        </p:spPr>
        <p:txBody>
          <a:bodyPr/>
          <a:lstStyle/>
          <a:p>
            <a:r>
              <a:rPr lang="en-US"/>
              <a:t>Is Name Unique validation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ED26F9-0E7E-A9E9-BC92-BB0D42C46120}"/>
              </a:ext>
            </a:extLst>
          </p:cNvPr>
          <p:cNvSpPr txBox="1"/>
          <p:nvPr/>
        </p:nvSpPr>
        <p:spPr>
          <a:xfrm>
            <a:off x="160774" y="849519"/>
            <a:ext cx="1192739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IsNameUniqueValidator</a:t>
            </a:r>
            <a:r>
              <a:rPr lang="en-US" sz="16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sz="16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6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AsyncValidatorFn</a:t>
            </a:r>
            <a:r>
              <a:rPr lang="en-US" sz="16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sz="16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sz="16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control</a:t>
            </a:r>
            <a:r>
              <a:rPr lang="en-US" sz="16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6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AbstractControl</a:t>
            </a:r>
            <a:r>
              <a:rPr lang="en-US" sz="16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6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6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Observable</a:t>
            </a:r>
            <a:r>
              <a:rPr lang="en-US" sz="16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ValidationErrors</a:t>
            </a:r>
            <a:r>
              <a:rPr lang="en-US" sz="16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|</a:t>
            </a:r>
            <a:r>
              <a:rPr lang="en-US" sz="16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16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sz="16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sz="16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{</a:t>
            </a:r>
            <a:endParaRPr lang="en-US" sz="16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sz="16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6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en-US" sz="16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control</a:t>
            </a:r>
            <a:r>
              <a:rPr lang="en-US" sz="16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6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) </a:t>
            </a:r>
            <a:endParaRPr lang="en-US" sz="16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of</a:t>
            </a:r>
            <a:r>
              <a:rPr lang="en-US" sz="16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16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sz="16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sz="16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6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( </a:t>
            </a:r>
            <a:r>
              <a:rPr lang="en-US" sz="16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6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.IsEditMode </a:t>
            </a:r>
            <a:r>
              <a:rPr lang="en-US" sz="16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sz="16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6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.SelectedCategory </a:t>
            </a:r>
            <a:r>
              <a:rPr lang="en-US" sz="16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sz="16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control</a:t>
            </a:r>
            <a:r>
              <a:rPr lang="en-US" sz="16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6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===</a:t>
            </a:r>
            <a:r>
              <a:rPr lang="en-US" sz="16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6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.SelectedCategory.name) {</a:t>
            </a:r>
            <a:endParaRPr lang="en-US" sz="16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of</a:t>
            </a:r>
            <a:r>
              <a:rPr lang="en-US" sz="16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16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sz="16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}</a:t>
            </a:r>
            <a:endParaRPr lang="en-US" sz="16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sz="16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6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6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.categoryService.</a:t>
            </a:r>
            <a:r>
              <a:rPr lang="en-US" sz="16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IsNameUnique</a:t>
            </a:r>
            <a:r>
              <a:rPr lang="en-US" sz="16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control</a:t>
            </a:r>
            <a:r>
              <a:rPr lang="en-US" sz="16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6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6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.SelectedCategory?.id)</a:t>
            </a:r>
            <a:endParaRPr lang="en-US" sz="16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.</a:t>
            </a:r>
            <a:r>
              <a:rPr lang="en-US" sz="16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pipe</a:t>
            </a:r>
            <a:r>
              <a:rPr lang="en-US" sz="16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(</a:t>
            </a:r>
            <a:endParaRPr lang="en-US" sz="16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sz="16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US" sz="16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sz="16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sz="16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sz="16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.data </a:t>
            </a:r>
            <a:r>
              <a:rPr lang="en-US" sz="16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?</a:t>
            </a:r>
            <a:r>
              <a:rPr lang="en-US" sz="16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16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6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{ nameIsNotUnique</a:t>
            </a:r>
            <a:r>
              <a:rPr lang="en-US" sz="16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6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16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})),</a:t>
            </a:r>
            <a:endParaRPr lang="en-US" sz="16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sz="16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catchError</a:t>
            </a:r>
            <a:r>
              <a:rPr lang="en-US" sz="16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(() </a:t>
            </a:r>
            <a:r>
              <a:rPr lang="en-US" sz="16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sz="16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of</a:t>
            </a:r>
            <a:r>
              <a:rPr lang="en-US" sz="16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16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))</a:t>
            </a:r>
            <a:endParaRPr lang="en-US" sz="16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);</a:t>
            </a:r>
            <a:endParaRPr lang="en-US" sz="16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};</a:t>
            </a:r>
            <a:endParaRPr lang="en-US" sz="16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}</a:t>
            </a:r>
            <a:endParaRPr lang="en-US" sz="16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2091696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A36C6-02CF-8AA3-982A-D81C39277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80128-2B4A-5795-A0C4-1088037BB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644" y="609599"/>
            <a:ext cx="11465169" cy="5298831"/>
          </a:xfrm>
        </p:spPr>
        <p:txBody>
          <a:bodyPr>
            <a:normAutofit/>
          </a:bodyPr>
          <a:lstStyle/>
          <a:p>
            <a:r>
              <a:rPr lang="en-US" sz="6000" b="1">
                <a:solidFill>
                  <a:srgbClr val="FF0000"/>
                </a:solidFill>
              </a:rPr>
              <a:t>End Validation</a:t>
            </a:r>
          </a:p>
        </p:txBody>
      </p:sp>
    </p:spTree>
    <p:extLst>
      <p:ext uri="{BB962C8B-B14F-4D97-AF65-F5344CB8AC3E}">
        <p14:creationId xmlns:p14="http://schemas.microsoft.com/office/powerpoint/2010/main" val="3837535713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47D1C-3D2B-71F1-EB50-DC0BB38BD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566057"/>
          </a:xfrm>
        </p:spPr>
        <p:txBody>
          <a:bodyPr>
            <a:normAutofit fontScale="90000"/>
          </a:bodyPr>
          <a:lstStyle/>
          <a:p>
            <a:r>
              <a:rPr lang="en-US" b="1">
                <a:solidFill>
                  <a:srgbClr val="FF0000"/>
                </a:solidFill>
              </a:rPr>
              <a:t>New Types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7632D9-4FCE-E448-1365-D16A50CCAF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822" y="566056"/>
            <a:ext cx="11796765" cy="6291943"/>
          </a:xfrm>
        </p:spPr>
        <p:txBody>
          <a:bodyPr/>
          <a:lstStyle/>
          <a:p>
            <a:r>
              <a:rPr lang="en-US" b="1">
                <a:solidFill>
                  <a:srgbClr val="00B0F0"/>
                </a:solidFill>
              </a:rPr>
              <a:t>HTMLInputElement</a:t>
            </a:r>
          </a:p>
          <a:p>
            <a:pPr lvl="1"/>
            <a:r>
              <a:rPr lang="en-US"/>
              <a:t>let target = e.target as HTMLInputElement</a:t>
            </a:r>
          </a:p>
          <a:p>
            <a:r>
              <a:rPr lang="en-US" b="1">
                <a:solidFill>
                  <a:srgbClr val="00B0F0"/>
                </a:solidFill>
              </a:rPr>
              <a:t>KeyboardEvent</a:t>
            </a:r>
          </a:p>
          <a:p>
            <a:pPr lvl="1"/>
            <a:r>
              <a:rPr lang="en-US"/>
              <a:t>If(</a:t>
            </a:r>
            <a:r>
              <a:rPr lang="en-US">
                <a:solidFill>
                  <a:srgbClr val="FFC000"/>
                </a:solidFill>
                <a:effectLst/>
              </a:rPr>
              <a:t>event</a:t>
            </a:r>
            <a:r>
              <a:rPr lang="en-US">
                <a:effectLst/>
              </a:rPr>
              <a:t>.key=== "</a:t>
            </a:r>
            <a:r>
              <a:rPr lang="en-US">
                <a:solidFill>
                  <a:schemeClr val="accent1">
                    <a:lumMod val="40000"/>
                    <a:lumOff val="60000"/>
                  </a:schemeClr>
                </a:solidFill>
                <a:effectLst/>
              </a:rPr>
              <a:t>Enter</a:t>
            </a:r>
            <a:r>
              <a:rPr lang="en-US">
                <a:effectLst/>
              </a:rPr>
              <a:t>"</a:t>
            </a:r>
            <a:r>
              <a:rPr lang="en-US"/>
              <a:t>) {}</a:t>
            </a:r>
          </a:p>
          <a:p>
            <a:r>
              <a:rPr lang="en-US" b="1">
                <a:solidFill>
                  <a:srgbClr val="00B0F0"/>
                </a:solidFill>
              </a:rPr>
              <a:t>TemplateRef&lt;T&gt;</a:t>
            </a:r>
          </a:p>
          <a:p>
            <a:pPr lvl="1"/>
            <a:r>
              <a:rPr lang="en-US"/>
              <a:t>This is the official Angular type for any </a:t>
            </a:r>
            <a:r>
              <a:rPr lang="en-US" b="1">
                <a:solidFill>
                  <a:srgbClr val="00B0F0"/>
                </a:solidFill>
              </a:rPr>
              <a:t>&lt;ng-template&gt;</a:t>
            </a:r>
            <a:r>
              <a:rPr lang="en-US"/>
              <a:t> reference</a:t>
            </a:r>
          </a:p>
          <a:p>
            <a:r>
              <a:rPr lang="en-US" b="1">
                <a:solidFill>
                  <a:srgbClr val="00B0F0"/>
                </a:solidFill>
              </a:rPr>
              <a:t>ElementRef&lt;T&gt;</a:t>
            </a:r>
          </a:p>
          <a:p>
            <a:pPr lvl="1"/>
            <a:r>
              <a:rPr lang="en-US"/>
              <a:t>is a class that gives you </a:t>
            </a:r>
            <a:r>
              <a:rPr lang="en-US" b="1"/>
              <a:t>direct access to a DOM element</a:t>
            </a:r>
            <a:r>
              <a:rPr lang="en-US"/>
              <a:t> inside your component</a:t>
            </a:r>
            <a:endParaRPr lang="en-US">
              <a:effectLst/>
            </a:endParaRPr>
          </a:p>
          <a:p>
            <a:pPr lvl="1"/>
            <a:r>
              <a:rPr lang="en-US"/>
              <a:t>usually used together with </a:t>
            </a:r>
            <a:r>
              <a:rPr lang="en-US" b="1"/>
              <a:t>@ViewChild</a:t>
            </a:r>
            <a:r>
              <a:rPr lang="en-US"/>
              <a:t>.</a:t>
            </a:r>
            <a:endParaRPr lang="en-US">
              <a:effectLst/>
            </a:endParaRPr>
          </a:p>
          <a:p>
            <a:pPr lvl="1"/>
            <a:r>
              <a:rPr lang="en-US">
                <a:effectLst/>
              </a:rPr>
              <a:t>Ex: </a:t>
            </a:r>
            <a:r>
              <a:rPr lang="en-US" b="1">
                <a:solidFill>
                  <a:schemeClr val="tx1"/>
                </a:solidFill>
                <a:effectLst/>
              </a:rPr>
              <a:t>@</a:t>
            </a:r>
            <a:r>
              <a:rPr lang="en-US" b="1">
                <a:solidFill>
                  <a:srgbClr val="FF0000"/>
                </a:solidFill>
                <a:effectLst/>
              </a:rPr>
              <a:t>ViewChild</a:t>
            </a:r>
            <a:r>
              <a:rPr lang="en-US">
                <a:effectLst/>
              </a:rPr>
              <a:t>(</a:t>
            </a:r>
            <a:r>
              <a:rPr lang="en-US" b="1">
                <a:effectLst/>
              </a:rPr>
              <a:t>'</a:t>
            </a:r>
            <a:r>
              <a:rPr lang="en-US" b="1">
                <a:solidFill>
                  <a:srgbClr val="FFC000"/>
                </a:solidFill>
                <a:effectLst/>
              </a:rPr>
              <a:t>ColorHexCodeInput</a:t>
            </a:r>
            <a:r>
              <a:rPr lang="en-US">
                <a:effectLst/>
              </a:rPr>
              <a:t>') colorHexCodeInput!: </a:t>
            </a:r>
            <a:r>
              <a:rPr lang="en-US" b="1">
                <a:solidFill>
                  <a:srgbClr val="00B0F0"/>
                </a:solidFill>
                <a:effectLst/>
              </a:rPr>
              <a:t>ElementRef</a:t>
            </a:r>
            <a:r>
              <a:rPr lang="en-US">
                <a:solidFill>
                  <a:srgbClr val="0070C0"/>
                </a:solidFill>
                <a:effectLst/>
              </a:rPr>
              <a:t>&lt;</a:t>
            </a:r>
            <a:r>
              <a:rPr lang="en-US" b="1">
                <a:solidFill>
                  <a:srgbClr val="00B0F0"/>
                </a:solidFill>
                <a:effectLst/>
              </a:rPr>
              <a:t>HTMLInputElement</a:t>
            </a:r>
            <a:r>
              <a:rPr lang="en-US">
                <a:solidFill>
                  <a:srgbClr val="7030A0"/>
                </a:solidFill>
                <a:effectLst/>
              </a:rPr>
              <a:t>&gt;</a:t>
            </a:r>
            <a:r>
              <a:rPr lang="en-US">
                <a:effectLst/>
              </a:rPr>
              <a:t>;</a:t>
            </a:r>
          </a:p>
          <a:p>
            <a:r>
              <a:rPr lang="en-US" b="1">
                <a:solidFill>
                  <a:srgbClr val="00B0F0"/>
                </a:solidFill>
                <a:effectLst/>
              </a:rPr>
              <a:t>NgbModalRef</a:t>
            </a:r>
          </a:p>
          <a:p>
            <a:pPr lvl="1"/>
            <a:r>
              <a:rPr lang="en-US">
                <a:effectLst/>
              </a:rPr>
              <a:t>Modal </a:t>
            </a:r>
          </a:p>
          <a:p>
            <a:r>
              <a:rPr lang="en-US" b="1">
                <a:solidFill>
                  <a:srgbClr val="00B0F0"/>
                </a:solidFill>
                <a:effectLst/>
              </a:rPr>
              <a:t>NgbActiveModal</a:t>
            </a:r>
          </a:p>
          <a:p>
            <a:r>
              <a:rPr lang="en-US" b="1">
                <a:solidFill>
                  <a:srgbClr val="00B0F0"/>
                </a:solidFill>
                <a:effectLst/>
              </a:rPr>
              <a:t>NgbModal</a:t>
            </a:r>
          </a:p>
        </p:txBody>
      </p:sp>
    </p:spTree>
    <p:extLst>
      <p:ext uri="{BB962C8B-B14F-4D97-AF65-F5344CB8AC3E}">
        <p14:creationId xmlns:p14="http://schemas.microsoft.com/office/powerpoint/2010/main" val="949246702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B8E2A-9311-430D-5D11-CD0FDE901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6350"/>
            <a:ext cx="12191999" cy="970450"/>
          </a:xfrm>
        </p:spPr>
        <p:txBody>
          <a:bodyPr>
            <a:normAutofit/>
          </a:bodyPr>
          <a:lstStyle/>
          <a:p>
            <a:r>
              <a:rPr lang="en-US" sz="3600" b="1">
                <a:solidFill>
                  <a:srgbClr val="FF0000"/>
                </a:solidFill>
                <a:effectLst/>
              </a:rPr>
              <a:t>AsyncValidatorFn &amp; </a:t>
            </a:r>
            <a:r>
              <a:rPr lang="en-US" sz="3600" b="1">
                <a:solidFill>
                  <a:srgbClr val="FFC000"/>
                </a:solidFill>
                <a:effectLst/>
              </a:rPr>
              <a:t>ValidatorFn &amp; ValidationErrors</a:t>
            </a:r>
            <a:endParaRPr lang="en-US" sz="3600" b="1">
              <a:solidFill>
                <a:srgbClr val="FFC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A0EF0-FDB5-3CEA-4048-7B5BD4572F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1596" y="1066800"/>
            <a:ext cx="11575701" cy="5694849"/>
          </a:xfrm>
        </p:spPr>
        <p:txBody>
          <a:bodyPr/>
          <a:lstStyle/>
          <a:p>
            <a:r>
              <a:rPr lang="en-US"/>
              <a:t>AsyncValidatorFn signature</a:t>
            </a:r>
          </a:p>
          <a:p>
            <a:r>
              <a:rPr lang="en-US" sz="1800" b="1">
                <a:solidFill>
                  <a:srgbClr val="00B0F0"/>
                </a:solidFill>
                <a:effectLst/>
              </a:rPr>
              <a:t>interface</a:t>
            </a:r>
            <a:r>
              <a:rPr lang="en-US" sz="1800">
                <a:effectLst/>
              </a:rPr>
              <a:t> </a:t>
            </a:r>
            <a:r>
              <a:rPr lang="en-US" sz="1800" b="1">
                <a:solidFill>
                  <a:srgbClr val="FFFF00"/>
                </a:solidFill>
                <a:effectLst/>
              </a:rPr>
              <a:t>AsyncValidatorFn</a:t>
            </a:r>
            <a:r>
              <a:rPr lang="en-US" sz="1800">
                <a:effectLst/>
              </a:rPr>
              <a:t> {</a:t>
            </a:r>
          </a:p>
          <a:p>
            <a:pPr marL="36900" indent="0">
              <a:buNone/>
            </a:pPr>
            <a:r>
              <a:rPr lang="en-US" sz="1800" b="1">
                <a:effectLst/>
              </a:rPr>
              <a:t>  	  ( </a:t>
            </a:r>
            <a:r>
              <a:rPr lang="en-US" sz="1800" b="1">
                <a:solidFill>
                  <a:srgbClr val="00B050"/>
                </a:solidFill>
                <a:effectLst/>
              </a:rPr>
              <a:t>control</a:t>
            </a:r>
            <a:r>
              <a:rPr lang="en-US" sz="1800" b="1">
                <a:effectLst/>
              </a:rPr>
              <a:t>: </a:t>
            </a:r>
            <a:r>
              <a:rPr lang="en-US" sz="1800" b="1">
                <a:solidFill>
                  <a:srgbClr val="FFC000"/>
                </a:solidFill>
                <a:effectLst/>
              </a:rPr>
              <a:t>AbstractControl</a:t>
            </a:r>
            <a:r>
              <a:rPr lang="en-US" sz="1800" b="1">
                <a:effectLst/>
              </a:rPr>
              <a:t> ): Promise&lt; </a:t>
            </a:r>
            <a:r>
              <a:rPr lang="en-US" sz="1800" b="1">
                <a:solidFill>
                  <a:srgbClr val="FFC000"/>
                </a:solidFill>
                <a:effectLst/>
              </a:rPr>
              <a:t>ValidationErrors</a:t>
            </a:r>
            <a:r>
              <a:rPr lang="en-US" sz="1800" b="1">
                <a:effectLst/>
              </a:rPr>
              <a:t> | null &gt; | Observable&lt; </a:t>
            </a:r>
            <a:r>
              <a:rPr lang="en-US" sz="1800" b="1">
                <a:solidFill>
                  <a:srgbClr val="FFC000"/>
                </a:solidFill>
                <a:effectLst/>
              </a:rPr>
              <a:t>ValidationErrors</a:t>
            </a:r>
            <a:r>
              <a:rPr lang="en-US" sz="1800" b="1">
                <a:effectLst/>
              </a:rPr>
              <a:t> | null &gt;;</a:t>
            </a:r>
          </a:p>
          <a:p>
            <a:pPr marL="36900" indent="0">
              <a:buNone/>
            </a:pPr>
            <a:r>
              <a:rPr lang="en-US" sz="1800">
                <a:effectLst/>
              </a:rPr>
              <a:t>    }</a:t>
            </a:r>
          </a:p>
          <a:p>
            <a:r>
              <a:rPr lang="en-US" b="1">
                <a:solidFill>
                  <a:srgbClr val="FFC000"/>
                </a:solidFill>
              </a:rPr>
              <a:t>AsyncValidatorFn</a:t>
            </a:r>
            <a:r>
              <a:rPr lang="en-US"/>
              <a:t> DT means it waits a function that takes </a:t>
            </a:r>
            <a:r>
              <a:rPr lang="en-US" b="1">
                <a:solidFill>
                  <a:srgbClr val="FFC000"/>
                </a:solidFill>
              </a:rPr>
              <a:t>AbstractControl </a:t>
            </a:r>
            <a:r>
              <a:rPr lang="en-US"/>
              <a:t>as a parameter and returns </a:t>
            </a:r>
            <a:r>
              <a:rPr lang="en-US" b="1">
                <a:solidFill>
                  <a:srgbClr val="FFC000"/>
                </a:solidFill>
              </a:rPr>
              <a:t>observable</a:t>
            </a:r>
            <a:r>
              <a:rPr lang="en-US"/>
              <a:t> or </a:t>
            </a:r>
            <a:r>
              <a:rPr lang="en-US" b="1">
                <a:solidFill>
                  <a:srgbClr val="FFC000"/>
                </a:solidFill>
              </a:rPr>
              <a:t>promise</a:t>
            </a:r>
          </a:p>
          <a:p>
            <a:r>
              <a:rPr lang="en-US" b="1">
                <a:solidFill>
                  <a:srgbClr val="FFC000"/>
                </a:solidFill>
                <a:effectLst/>
              </a:rPr>
              <a:t>ValidationErrors</a:t>
            </a:r>
            <a:r>
              <a:rPr lang="en-US">
                <a:effectLst/>
              </a:rPr>
              <a:t> = {	[ key: string ]: any;  }; // object with any number of poperties</a:t>
            </a:r>
          </a:p>
          <a:p>
            <a:endParaRPr lang="en-US"/>
          </a:p>
          <a:p>
            <a:r>
              <a:rPr lang="en-US" b="1">
                <a:solidFill>
                  <a:srgbClr val="00B0F0"/>
                </a:solidFill>
                <a:effectLst/>
              </a:rPr>
              <a:t>interface</a:t>
            </a:r>
            <a:r>
              <a:rPr lang="en-US">
                <a:effectLst/>
              </a:rPr>
              <a:t> </a:t>
            </a:r>
            <a:r>
              <a:rPr lang="en-US" b="1">
                <a:solidFill>
                  <a:srgbClr val="FFC000"/>
                </a:solidFill>
                <a:effectLst/>
              </a:rPr>
              <a:t>ValidatorFn</a:t>
            </a:r>
            <a:r>
              <a:rPr lang="en-US">
                <a:effectLst/>
              </a:rPr>
              <a:t> {</a:t>
            </a:r>
          </a:p>
          <a:p>
            <a:pPr marL="36900" indent="0">
              <a:buNone/>
            </a:pPr>
            <a:r>
              <a:rPr lang="en-US">
                <a:effectLst/>
              </a:rPr>
              <a:t>    	( </a:t>
            </a:r>
            <a:r>
              <a:rPr lang="en-US" b="1">
                <a:solidFill>
                  <a:srgbClr val="00B050"/>
                </a:solidFill>
                <a:effectLst/>
              </a:rPr>
              <a:t>control</a:t>
            </a:r>
            <a:r>
              <a:rPr lang="en-US">
                <a:effectLst/>
              </a:rPr>
              <a:t>: </a:t>
            </a:r>
            <a:r>
              <a:rPr lang="en-US" b="1">
                <a:solidFill>
                  <a:srgbClr val="92D050"/>
                </a:solidFill>
                <a:effectLst/>
              </a:rPr>
              <a:t>AbstractControl</a:t>
            </a:r>
            <a:r>
              <a:rPr lang="en-US">
                <a:effectLst/>
              </a:rPr>
              <a:t> ): </a:t>
            </a:r>
            <a:r>
              <a:rPr lang="en-US" b="1">
                <a:solidFill>
                  <a:srgbClr val="FFFF00"/>
                </a:solidFill>
                <a:effectLst/>
              </a:rPr>
              <a:t>ValidationErrors</a:t>
            </a:r>
            <a:r>
              <a:rPr lang="en-US">
                <a:effectLst/>
              </a:rPr>
              <a:t> | </a:t>
            </a:r>
            <a:r>
              <a:rPr lang="en-US" b="1">
                <a:solidFill>
                  <a:srgbClr val="00B0F0"/>
                </a:solidFill>
                <a:effectLst/>
              </a:rPr>
              <a:t>null</a:t>
            </a:r>
            <a:r>
              <a:rPr lang="en-US">
                <a:effectLst/>
              </a:rPr>
              <a:t>;</a:t>
            </a:r>
          </a:p>
          <a:p>
            <a:pPr marL="36900" indent="0">
              <a:buNone/>
            </a:pPr>
            <a:r>
              <a:rPr lang="en-US">
                <a:effectLst/>
              </a:rPr>
              <a:t>  }</a:t>
            </a:r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30308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D59DB-BC9D-E1C9-D1BE-AE297903D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673240"/>
          </a:xfrm>
        </p:spPr>
        <p:txBody>
          <a:bodyPr>
            <a:normAutofit fontScale="90000"/>
          </a:bodyPr>
          <a:lstStyle/>
          <a:p>
            <a:r>
              <a:rPr lang="en-US" b="1">
                <a:solidFill>
                  <a:srgbClr val="FF0000"/>
                </a:solidFill>
              </a:rPr>
              <a:t>Type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690B54-A5C3-8A06-1F31-333509CCC1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1546" y="673240"/>
            <a:ext cx="11515411" cy="5908429"/>
          </a:xfrm>
        </p:spPr>
        <p:txBody>
          <a:bodyPr/>
          <a:lstStyle/>
          <a:p>
            <a:r>
              <a:rPr lang="en-US" b="1">
                <a:solidFill>
                  <a:srgbClr val="FFFF00"/>
                </a:solidFill>
              </a:rPr>
              <a:t>purpose</a:t>
            </a:r>
          </a:p>
          <a:p>
            <a:pPr lvl="1"/>
            <a:r>
              <a:rPr lang="en-US" b="1">
                <a:solidFill>
                  <a:srgbClr val="FFFF00"/>
                </a:solidFill>
              </a:rPr>
              <a:t>If you want to make a variable that waits a specific function</a:t>
            </a:r>
          </a:p>
          <a:p>
            <a:endParaRPr lang="en-US" b="1">
              <a:solidFill>
                <a:srgbClr val="CC3399"/>
              </a:solidFill>
            </a:endParaRPr>
          </a:p>
          <a:p>
            <a:r>
              <a:rPr lang="en-US" b="1">
                <a:solidFill>
                  <a:srgbClr val="CC3399"/>
                </a:solidFill>
              </a:rPr>
              <a:t>implentation</a:t>
            </a:r>
          </a:p>
          <a:p>
            <a:pPr lvl="1"/>
            <a:r>
              <a:rPr lang="en-US" b="1">
                <a:solidFill>
                  <a:srgbClr val="CC3399"/>
                </a:solidFill>
              </a:rPr>
              <a:t>type</a:t>
            </a:r>
            <a:r>
              <a:rPr lang="en-US" b="1"/>
              <a:t> </a:t>
            </a:r>
            <a:r>
              <a:rPr lang="en-US" b="1">
                <a:solidFill>
                  <a:srgbClr val="FF0000"/>
                </a:solidFill>
              </a:rPr>
              <a:t>MyMethod</a:t>
            </a:r>
            <a:r>
              <a:rPr lang="en-US" b="1"/>
              <a:t> = ( </a:t>
            </a:r>
            <a:r>
              <a:rPr lang="en-US" b="1">
                <a:solidFill>
                  <a:srgbClr val="FFFF00"/>
                </a:solidFill>
              </a:rPr>
              <a:t>num1</a:t>
            </a:r>
            <a:r>
              <a:rPr lang="en-US" b="1"/>
              <a:t>: number, </a:t>
            </a:r>
            <a:r>
              <a:rPr lang="en-US" b="1">
                <a:solidFill>
                  <a:srgbClr val="FFFF00"/>
                </a:solidFill>
              </a:rPr>
              <a:t>num2</a:t>
            </a:r>
            <a:r>
              <a:rPr lang="en-US" b="1"/>
              <a:t>: number ) =&gt; number;</a:t>
            </a:r>
          </a:p>
          <a:p>
            <a:pPr lvl="1"/>
            <a:endParaRPr lang="en-US" b="1"/>
          </a:p>
          <a:p>
            <a:endParaRPr lang="en-US" b="1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15D3DB1-A37A-EABC-E300-723C0C8440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214" y="2879271"/>
            <a:ext cx="5949229" cy="3855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559157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DACB9-7F3C-CAA1-EC95-304613051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970450"/>
          </a:xfrm>
        </p:spPr>
        <p:txBody>
          <a:bodyPr/>
          <a:lstStyle/>
          <a:p>
            <a:r>
              <a:rPr lang="en-US" b="1">
                <a:solidFill>
                  <a:srgbClr val="FFFF00"/>
                </a:solidFill>
              </a:rPr>
              <a:t>EventEmitter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B20FE1-6BBA-2CC0-F20E-BED6E56D8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918" y="970450"/>
            <a:ext cx="12001081" cy="5611219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00B050"/>
                </a:solidFill>
              </a:rPr>
              <a:t>page</a:t>
            </a:r>
            <a:r>
              <a:rPr lang="en-US"/>
              <a:t> = new </a:t>
            </a:r>
            <a:r>
              <a:rPr lang="en-US" b="1">
                <a:solidFill>
                  <a:srgbClr val="FFFF00"/>
                </a:solidFill>
              </a:rPr>
              <a:t>EventEmitter</a:t>
            </a:r>
            <a:r>
              <a:rPr lang="en-US"/>
              <a:t>&lt;number&gt;();	// "I can emit numbers.“ , [ at child]</a:t>
            </a:r>
          </a:p>
          <a:p>
            <a:r>
              <a:rPr lang="en-US"/>
              <a:t>(page)="handlePage($event)“ // at parent </a:t>
            </a:r>
          </a:p>
          <a:p>
            <a:pPr lvl="1"/>
            <a:r>
              <a:rPr lang="en-US"/>
              <a:t>Angular internally does something LIKE:  </a:t>
            </a:r>
            <a:r>
              <a:rPr lang="en-US" b="1"/>
              <a:t>page.</a:t>
            </a:r>
            <a:r>
              <a:rPr lang="en-US" b="1">
                <a:solidFill>
                  <a:srgbClr val="FFFF00"/>
                </a:solidFill>
              </a:rPr>
              <a:t>subscribe</a:t>
            </a:r>
            <a:r>
              <a:rPr lang="en-US" b="1"/>
              <a:t>(value =&gt; {  </a:t>
            </a:r>
            <a:r>
              <a:rPr lang="en-US" b="1">
                <a:solidFill>
                  <a:srgbClr val="00B0F0"/>
                </a:solidFill>
              </a:rPr>
              <a:t>handlePage</a:t>
            </a:r>
            <a:r>
              <a:rPr lang="en-US" b="1"/>
              <a:t>(value);});</a:t>
            </a:r>
          </a:p>
          <a:p>
            <a:pPr lvl="1"/>
            <a:r>
              <a:rPr lang="en-US" b="1"/>
              <a:t>This mean listen to page until something is emitted, run </a:t>
            </a:r>
            <a:r>
              <a:rPr lang="en-US"/>
              <a:t>handlePage() when value is emitted</a:t>
            </a:r>
          </a:p>
          <a:p>
            <a:pPr lvl="1"/>
            <a:endParaRPr lang="en-US" b="1"/>
          </a:p>
          <a:p>
            <a:r>
              <a:rPr lang="en-US" b="1">
                <a:solidFill>
                  <a:srgbClr val="00B050"/>
                </a:solidFill>
              </a:rPr>
              <a:t>page</a:t>
            </a:r>
            <a:r>
              <a:rPr lang="en-US"/>
              <a:t>.</a:t>
            </a:r>
            <a:r>
              <a:rPr lang="en-US" b="1">
                <a:solidFill>
                  <a:srgbClr val="FFFF00"/>
                </a:solidFill>
              </a:rPr>
              <a:t>emit</a:t>
            </a:r>
            <a:r>
              <a:rPr lang="en-US"/>
              <a:t>(5); </a:t>
            </a:r>
          </a:p>
          <a:p>
            <a:pPr lvl="1"/>
            <a:r>
              <a:rPr lang="en-US"/>
              <a:t>emit() calls ALL SUBSCRIBED FUNCTIONS.</a:t>
            </a:r>
          </a:p>
          <a:p>
            <a:r>
              <a:rPr lang="en-US"/>
              <a:t>The Flow</a:t>
            </a:r>
          </a:p>
          <a:p>
            <a:pPr lvl="1"/>
            <a:r>
              <a:rPr lang="en-US"/>
              <a:t>page.emit(5);</a:t>
            </a:r>
          </a:p>
          <a:p>
            <a:pPr lvl="1"/>
            <a:r>
              <a:rPr lang="en-US"/>
              <a:t>(page)="handlePage($event)“  == :  </a:t>
            </a:r>
            <a:r>
              <a:rPr lang="en-US" b="1"/>
              <a:t>page.</a:t>
            </a:r>
            <a:r>
              <a:rPr lang="en-US" b="1">
                <a:solidFill>
                  <a:srgbClr val="FFFF00"/>
                </a:solidFill>
              </a:rPr>
              <a:t>subscribe</a:t>
            </a:r>
            <a:r>
              <a:rPr lang="en-US" b="1"/>
              <a:t>(value =&gt; {  </a:t>
            </a:r>
            <a:r>
              <a:rPr lang="en-US" b="1">
                <a:solidFill>
                  <a:srgbClr val="00B0F0"/>
                </a:solidFill>
              </a:rPr>
              <a:t>handlePage</a:t>
            </a:r>
            <a:r>
              <a:rPr lang="en-US" b="1"/>
              <a:t>(value);});</a:t>
            </a:r>
          </a:p>
          <a:p>
            <a:pPr lvl="1"/>
            <a:r>
              <a:rPr lang="en-US"/>
              <a:t>handlePage(5);</a:t>
            </a:r>
          </a:p>
          <a:p>
            <a:pPr lvl="1"/>
            <a:endParaRPr lang="en-US"/>
          </a:p>
          <a:p>
            <a:r>
              <a:rPr lang="en-US"/>
              <a:t>The child emit , the parent listen</a:t>
            </a:r>
          </a:p>
        </p:txBody>
      </p:sp>
    </p:spTree>
    <p:extLst>
      <p:ext uri="{BB962C8B-B14F-4D97-AF65-F5344CB8AC3E}">
        <p14:creationId xmlns:p14="http://schemas.microsoft.com/office/powerpoint/2010/main" val="2915860230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62B24-9DD0-F698-7EC2-FE771EE56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600075"/>
          </a:xfrm>
        </p:spPr>
        <p:txBody>
          <a:bodyPr>
            <a:normAutofit fontScale="90000"/>
          </a:bodyPr>
          <a:lstStyle/>
          <a:p>
            <a:r>
              <a:rPr lang="en-US" b="1">
                <a:solidFill>
                  <a:srgbClr val="FFFF00"/>
                </a:solidFill>
                <a:effectLst/>
              </a:rPr>
              <a:t>HttpRequest</a:t>
            </a:r>
            <a:endParaRPr lang="en-US" b="1">
              <a:solidFill>
                <a:srgbClr val="FFFF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699B50-7E7C-8FA8-2DF6-AB4A59F5E9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925" y="600075"/>
            <a:ext cx="11944350" cy="6115050"/>
          </a:xfrm>
        </p:spPr>
        <p:txBody>
          <a:bodyPr/>
          <a:lstStyle/>
          <a:p>
            <a:r>
              <a:rPr lang="en-US"/>
              <a:t>This creates a custom Angular HTTP </a:t>
            </a:r>
            <a:r>
              <a:rPr lang="en-US" b="1"/>
              <a:t>request </a:t>
            </a:r>
            <a:r>
              <a:rPr lang="en-US"/>
              <a:t>object </a:t>
            </a:r>
          </a:p>
          <a:p>
            <a:r>
              <a:rPr lang="en-US"/>
              <a:t>Creates a manual HTTP request instead of using shortcuts like:</a:t>
            </a:r>
          </a:p>
          <a:p>
            <a:pPr lvl="1"/>
            <a:r>
              <a:rPr lang="en-US"/>
              <a:t>this.http.get() , this.http.post()</a:t>
            </a:r>
          </a:p>
          <a:p>
            <a:r>
              <a:rPr lang="en-US" sz="1800"/>
              <a:t>It gives you more control over: </a:t>
            </a:r>
            <a:r>
              <a:rPr lang="en-US" sz="1800" b="1"/>
              <a:t>Headers, upload progress, download progress, body, header,  response type, events</a:t>
            </a:r>
          </a:p>
          <a:p>
            <a:r>
              <a:rPr lang="en-US" sz="1800"/>
              <a:t>new HttpRequest(</a:t>
            </a:r>
            <a:r>
              <a:rPr lang="en-US" sz="1800">
                <a:solidFill>
                  <a:srgbClr val="FFFF00"/>
                </a:solidFill>
              </a:rPr>
              <a:t>method</a:t>
            </a:r>
            <a:r>
              <a:rPr lang="en-US" sz="1800"/>
              <a:t>, </a:t>
            </a:r>
            <a:r>
              <a:rPr lang="en-US" sz="1800" b="1">
                <a:solidFill>
                  <a:srgbClr val="FFFF00"/>
                </a:solidFill>
              </a:rPr>
              <a:t>url</a:t>
            </a:r>
            <a:r>
              <a:rPr lang="en-US" sz="1800"/>
              <a:t>, </a:t>
            </a:r>
            <a:r>
              <a:rPr lang="en-US" sz="1800" b="1">
                <a:solidFill>
                  <a:srgbClr val="FFFF00"/>
                </a:solidFill>
              </a:rPr>
              <a:t>body</a:t>
            </a:r>
            <a:r>
              <a:rPr lang="en-US" sz="1800"/>
              <a:t>?, </a:t>
            </a:r>
            <a:r>
              <a:rPr lang="en-US" sz="1800" b="1">
                <a:solidFill>
                  <a:srgbClr val="FFFF00"/>
                </a:solidFill>
              </a:rPr>
              <a:t>options</a:t>
            </a:r>
            <a:r>
              <a:rPr lang="en-US" sz="1800"/>
              <a:t>? )</a:t>
            </a:r>
          </a:p>
          <a:p>
            <a:r>
              <a:rPr lang="en-US"/>
              <a:t>It is immutable DT</a:t>
            </a:r>
          </a:p>
          <a:p>
            <a:r>
              <a:rPr lang="en-US"/>
              <a:t>Options: it is an object its members as following</a:t>
            </a:r>
          </a:p>
          <a:p>
            <a:pPr lvl="1"/>
            <a:r>
              <a:rPr lang="en-US"/>
              <a:t>headers: </a:t>
            </a:r>
            <a:r>
              <a:rPr lang="en-US" b="1">
                <a:solidFill>
                  <a:srgbClr val="FFFF00"/>
                </a:solidFill>
              </a:rPr>
              <a:t>HttpHeaders</a:t>
            </a:r>
          </a:p>
          <a:p>
            <a:pPr lvl="1"/>
            <a:r>
              <a:rPr lang="en-US" b="1">
                <a:solidFill>
                  <a:schemeClr val="tx1"/>
                </a:solidFill>
              </a:rPr>
              <a:t>Params:</a:t>
            </a:r>
            <a:r>
              <a:rPr lang="en-US" b="1">
                <a:solidFill>
                  <a:srgbClr val="FFFF00"/>
                </a:solidFill>
              </a:rPr>
              <a:t> HttpParams</a:t>
            </a:r>
          </a:p>
          <a:p>
            <a:pPr lvl="1"/>
            <a:endParaRPr lang="en-US" b="1">
              <a:solidFill>
                <a:srgbClr val="FFFF00"/>
              </a:solidFill>
            </a:endParaRPr>
          </a:p>
          <a:p>
            <a:pPr lvl="1"/>
            <a:endParaRPr lang="en-US" b="1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7561469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82F51-C929-37BD-EADE-E2BCA1578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545" y="-66675"/>
            <a:ext cx="10353762" cy="685800"/>
          </a:xfrm>
        </p:spPr>
        <p:txBody>
          <a:bodyPr>
            <a:normAutofit fontScale="90000"/>
          </a:bodyPr>
          <a:lstStyle/>
          <a:p>
            <a:r>
              <a:rPr lang="en-US" b="1">
                <a:solidFill>
                  <a:srgbClr val="FFFF00"/>
                </a:solidFill>
              </a:rPr>
              <a:t>HttpHeaders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678EA5-CC87-D0AE-E17B-19344AD6BB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" y="619125"/>
            <a:ext cx="11934825" cy="6086476"/>
          </a:xfrm>
        </p:spPr>
        <p:txBody>
          <a:bodyPr>
            <a:normAutofit/>
          </a:bodyPr>
          <a:lstStyle/>
          <a:p>
            <a:r>
              <a:rPr lang="en-US"/>
              <a:t>headers: </a:t>
            </a:r>
            <a:r>
              <a:rPr lang="en-US" b="1">
                <a:solidFill>
                  <a:srgbClr val="FFFF00"/>
                </a:solidFill>
              </a:rPr>
              <a:t>HttpHeaders</a:t>
            </a:r>
          </a:p>
          <a:p>
            <a:pPr lvl="1"/>
            <a:r>
              <a:rPr lang="en-US" sz="1600" b="1"/>
              <a:t>const </a:t>
            </a:r>
            <a:r>
              <a:rPr lang="en-US" sz="1600" b="1">
                <a:solidFill>
                  <a:srgbClr val="FFFF00"/>
                </a:solidFill>
              </a:rPr>
              <a:t>headers</a:t>
            </a:r>
            <a:r>
              <a:rPr lang="en-US" sz="1600" b="1"/>
              <a:t> = new </a:t>
            </a:r>
            <a:r>
              <a:rPr lang="en-US" sz="1600" b="1">
                <a:solidFill>
                  <a:srgbClr val="00B050"/>
                </a:solidFill>
              </a:rPr>
              <a:t>HttpHeaders</a:t>
            </a:r>
            <a:r>
              <a:rPr lang="en-US" sz="1600" b="1"/>
              <a:t>({</a:t>
            </a:r>
            <a:br>
              <a:rPr lang="en-US" sz="1600" b="1"/>
            </a:br>
            <a:r>
              <a:rPr lang="en-US" sz="1600" b="1"/>
              <a:t>	</a:t>
            </a:r>
            <a:r>
              <a:rPr lang="en-US" sz="1600" b="1">
                <a:solidFill>
                  <a:srgbClr val="00B0F0"/>
                </a:solidFill>
              </a:rPr>
              <a:t>Authorization</a:t>
            </a:r>
            <a:r>
              <a:rPr lang="en-US" sz="1600" b="1"/>
              <a:t>: 'Bearer token’,</a:t>
            </a:r>
            <a:br>
              <a:rPr lang="en-US" sz="1600" b="1"/>
            </a:br>
            <a:r>
              <a:rPr lang="en-US" sz="1600" b="1"/>
              <a:t>	'Content-Type' : 'application/json'</a:t>
            </a:r>
            <a:br>
              <a:rPr lang="en-US" sz="1600" b="1"/>
            </a:br>
            <a:r>
              <a:rPr lang="en-US" sz="1600" b="1"/>
              <a:t>});</a:t>
            </a:r>
          </a:p>
          <a:p>
            <a:pPr lvl="1"/>
            <a:r>
              <a:rPr lang="en-US" sz="1600"/>
              <a:t>Add Header: </a:t>
            </a:r>
            <a:r>
              <a:rPr lang="en-US" sz="1600" b="1"/>
              <a:t>headers.</a:t>
            </a:r>
            <a:r>
              <a:rPr lang="en-US" sz="1600" b="1">
                <a:solidFill>
                  <a:srgbClr val="00B0F0"/>
                </a:solidFill>
              </a:rPr>
              <a:t>append</a:t>
            </a:r>
            <a:r>
              <a:rPr lang="en-US" sz="1600" b="1"/>
              <a:t>('token', '123’);</a:t>
            </a:r>
          </a:p>
          <a:p>
            <a:pPr lvl="1"/>
            <a:r>
              <a:rPr lang="en-US" sz="1600" b="1"/>
              <a:t>Set Header: headers.</a:t>
            </a:r>
            <a:r>
              <a:rPr lang="en-US" sz="1600" b="1">
                <a:solidFill>
                  <a:srgbClr val="00B0F0"/>
                </a:solidFill>
              </a:rPr>
              <a:t>set</a:t>
            </a:r>
            <a:r>
              <a:rPr lang="en-US" sz="1600" b="1"/>
              <a:t>('token', '123’);</a:t>
            </a:r>
          </a:p>
          <a:p>
            <a:pPr lvl="1"/>
            <a:r>
              <a:rPr lang="en-US" sz="1600" b="1"/>
              <a:t>Delete  Header: headers.</a:t>
            </a:r>
            <a:r>
              <a:rPr lang="en-US" sz="1600" b="1">
                <a:solidFill>
                  <a:srgbClr val="00B0F0"/>
                </a:solidFill>
              </a:rPr>
              <a:t>delete</a:t>
            </a:r>
            <a:r>
              <a:rPr lang="en-US" sz="1600" b="1"/>
              <a:t>('token');</a:t>
            </a:r>
          </a:p>
          <a:p>
            <a:pPr lvl="1"/>
            <a:r>
              <a:rPr lang="en-US" sz="1600" b="1"/>
              <a:t>Get Header : headers.</a:t>
            </a:r>
            <a:r>
              <a:rPr lang="en-US" sz="1600" b="1">
                <a:solidFill>
                  <a:srgbClr val="00B0F0"/>
                </a:solidFill>
              </a:rPr>
              <a:t>get</a:t>
            </a:r>
            <a:r>
              <a:rPr lang="en-US" sz="1600" b="1"/>
              <a:t>('Authorization');</a:t>
            </a:r>
          </a:p>
          <a:p>
            <a:r>
              <a:rPr lang="en-US" sz="1600"/>
              <a:t>HttpHeaders objects are immutable. That means methods like .set(), .append(), and .delete() do not modify the existing instance — they return a new HttpHeaders object instead.</a:t>
            </a:r>
          </a:p>
          <a:p>
            <a:r>
              <a:rPr lang="en-US" sz="1800"/>
              <a:t>Usage</a:t>
            </a:r>
            <a:endParaRPr lang="en-US"/>
          </a:p>
          <a:p>
            <a:pPr lvl="1"/>
            <a:r>
              <a:rPr lang="en-US" sz="1700"/>
              <a:t>let headers = new HttpHeaders();    headers = headers.set('Authorization', 'Bearer token');</a:t>
            </a:r>
          </a:p>
          <a:p>
            <a:pPr lvl="1"/>
            <a:r>
              <a:rPr lang="en-US" sz="1600" b="1"/>
              <a:t>const headers = new </a:t>
            </a:r>
            <a:r>
              <a:rPr lang="en-US" sz="1600" b="1">
                <a:solidFill>
                  <a:srgbClr val="FFFF00"/>
                </a:solidFill>
              </a:rPr>
              <a:t>HttpHeaders</a:t>
            </a:r>
            <a:r>
              <a:rPr lang="en-US" sz="1600" b="1"/>
              <a:t>()</a:t>
            </a:r>
            <a:br>
              <a:rPr lang="en-US" sz="1600" b="1"/>
            </a:br>
            <a:r>
              <a:rPr lang="en-US" sz="1600" b="1"/>
              <a:t>	.set('Authorization', 'Bearer token’)</a:t>
            </a:r>
            <a:br>
              <a:rPr lang="en-US" sz="1600" b="1"/>
            </a:br>
            <a:r>
              <a:rPr lang="en-US" sz="1600" b="1"/>
              <a:t>	.set('Content-Type', 'application/json’);</a:t>
            </a:r>
          </a:p>
          <a:p>
            <a:r>
              <a:rPr lang="en-US" sz="1800"/>
              <a:t>const clonedReq = req.</a:t>
            </a:r>
            <a:r>
              <a:rPr lang="en-US" sz="1800">
                <a:solidFill>
                  <a:srgbClr val="00B0F0"/>
                </a:solidFill>
              </a:rPr>
              <a:t>clone</a:t>
            </a:r>
            <a:r>
              <a:rPr lang="en-US" sz="1800"/>
              <a:t>({ headers: req.headers.set('x-token', token)});</a:t>
            </a:r>
          </a:p>
        </p:txBody>
      </p:sp>
    </p:spTree>
    <p:extLst>
      <p:ext uri="{BB962C8B-B14F-4D97-AF65-F5344CB8AC3E}">
        <p14:creationId xmlns:p14="http://schemas.microsoft.com/office/powerpoint/2010/main" val="2832696959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15FD5-E5AE-5498-8957-BE1C6B5A0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466725"/>
          </a:xfrm>
        </p:spPr>
        <p:txBody>
          <a:bodyPr>
            <a:normAutofit fontScale="90000"/>
          </a:bodyPr>
          <a:lstStyle/>
          <a:p>
            <a:r>
              <a:rPr lang="en-US" b="1">
                <a:solidFill>
                  <a:srgbClr val="FFFF00"/>
                </a:solidFill>
              </a:rPr>
              <a:t>HttpParams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4C24F4-AB0F-8418-EE8A-AD357B2CDB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" y="466726"/>
            <a:ext cx="11744325" cy="6305550"/>
          </a:xfrm>
        </p:spPr>
        <p:txBody>
          <a:bodyPr>
            <a:normAutofit/>
          </a:bodyPr>
          <a:lstStyle/>
          <a:p>
            <a:r>
              <a:rPr lang="en-US" sz="1800"/>
              <a:t>is the class used to build and manage URL query</a:t>
            </a:r>
          </a:p>
          <a:p>
            <a:r>
              <a:rPr lang="en-US"/>
              <a:t>HttpParams</a:t>
            </a:r>
            <a:r>
              <a:rPr lang="en-US" sz="1800"/>
              <a:t> is </a:t>
            </a:r>
            <a:r>
              <a:rPr lang="en-US" sz="1800" b="1"/>
              <a:t>immutable</a:t>
            </a:r>
            <a:r>
              <a:rPr lang="en-US" sz="1800"/>
              <a:t>.</a:t>
            </a:r>
            <a:endParaRPr lang="en-US" sz="1800" b="1"/>
          </a:p>
          <a:p>
            <a:endParaRPr lang="en-US" sz="1800" b="1"/>
          </a:p>
          <a:p>
            <a:r>
              <a:rPr lang="en-US" sz="1800" b="1"/>
              <a:t>params: new </a:t>
            </a:r>
            <a:r>
              <a:rPr lang="en-US" sz="1800" b="1">
                <a:solidFill>
                  <a:srgbClr val="FFFF00"/>
                </a:solidFill>
              </a:rPr>
              <a:t>HttpParams</a:t>
            </a:r>
            <a:r>
              <a:rPr lang="en-US" sz="1800" b="1"/>
              <a:t>()</a:t>
            </a:r>
            <a:br>
              <a:rPr lang="en-US" sz="1800" b="1"/>
            </a:br>
            <a:r>
              <a:rPr lang="en-US" sz="1800" b="1"/>
              <a:t>	.</a:t>
            </a:r>
            <a:r>
              <a:rPr lang="en-US" sz="1800" b="1">
                <a:solidFill>
                  <a:srgbClr val="FFFF00"/>
                </a:solidFill>
              </a:rPr>
              <a:t>set</a:t>
            </a:r>
            <a:r>
              <a:rPr lang="en-US" sz="1800" b="1"/>
              <a:t>('page', '1’)</a:t>
            </a:r>
            <a:br>
              <a:rPr lang="en-US" sz="1800" b="1"/>
            </a:br>
            <a:r>
              <a:rPr lang="en-US" sz="1800" b="1"/>
              <a:t>	.</a:t>
            </a:r>
            <a:r>
              <a:rPr lang="en-US" sz="1800" b="1">
                <a:solidFill>
                  <a:srgbClr val="FFFF00"/>
                </a:solidFill>
              </a:rPr>
              <a:t>set</a:t>
            </a:r>
            <a:r>
              <a:rPr lang="en-US" sz="1800" b="1"/>
              <a:t>('limit', '10’);</a:t>
            </a:r>
          </a:p>
          <a:p>
            <a:pPr lvl="1"/>
            <a:r>
              <a:rPr lang="en-US" b="1"/>
              <a:t>Set replace value</a:t>
            </a:r>
          </a:p>
          <a:p>
            <a:pPr lvl="1"/>
            <a:r>
              <a:rPr lang="fr-FR" sz="1600" b="1"/>
              <a:t>Final URL: /api/users?</a:t>
            </a:r>
            <a:r>
              <a:rPr lang="fr-FR" sz="1600" b="1">
                <a:solidFill>
                  <a:srgbClr val="00B0F0"/>
                </a:solidFill>
              </a:rPr>
              <a:t>page</a:t>
            </a:r>
            <a:r>
              <a:rPr lang="fr-FR" sz="1600" b="1"/>
              <a:t>=1&amp;</a:t>
            </a:r>
            <a:r>
              <a:rPr lang="fr-FR" sz="1600" b="1">
                <a:solidFill>
                  <a:srgbClr val="00B0F0"/>
                </a:solidFill>
              </a:rPr>
              <a:t>limit</a:t>
            </a:r>
            <a:r>
              <a:rPr lang="fr-FR" sz="1600" b="1"/>
              <a:t>=10</a:t>
            </a:r>
            <a:endParaRPr lang="fr-FR" b="1"/>
          </a:p>
          <a:p>
            <a:endParaRPr lang="en-US" sz="1800" b="1"/>
          </a:p>
          <a:p>
            <a:r>
              <a:rPr lang="en-US" sz="1800" b="1"/>
              <a:t>new HttpParams()</a:t>
            </a:r>
          </a:p>
          <a:p>
            <a:pPr marL="450000" lvl="1" indent="0">
              <a:buNone/>
            </a:pPr>
            <a:r>
              <a:rPr lang="en-US" sz="1600" b="1"/>
              <a:t>.</a:t>
            </a:r>
            <a:r>
              <a:rPr lang="en-US" sz="1600" b="1">
                <a:solidFill>
                  <a:srgbClr val="FFFF00"/>
                </a:solidFill>
              </a:rPr>
              <a:t>append</a:t>
            </a:r>
            <a:r>
              <a:rPr lang="en-US" sz="1600" b="1"/>
              <a:t>(</a:t>
            </a:r>
            <a:r>
              <a:rPr lang="en-US" sz="1600" b="1">
                <a:solidFill>
                  <a:srgbClr val="00B050"/>
                </a:solidFill>
              </a:rPr>
              <a:t>'category</a:t>
            </a:r>
            <a:r>
              <a:rPr lang="en-US" sz="1600" b="1"/>
              <a:t>', 'books')</a:t>
            </a:r>
            <a:br>
              <a:rPr lang="en-US" sz="1600" b="1"/>
            </a:br>
            <a:r>
              <a:rPr lang="en-US" sz="1600" b="1"/>
              <a:t>.</a:t>
            </a:r>
            <a:r>
              <a:rPr lang="en-US" sz="1600" b="1">
                <a:solidFill>
                  <a:srgbClr val="FFFF00"/>
                </a:solidFill>
              </a:rPr>
              <a:t>append</a:t>
            </a:r>
            <a:r>
              <a:rPr lang="en-US" sz="1600" b="1"/>
              <a:t>(</a:t>
            </a:r>
            <a:r>
              <a:rPr lang="en-US" sz="1600" b="1">
                <a:solidFill>
                  <a:srgbClr val="00B050"/>
                </a:solidFill>
              </a:rPr>
              <a:t>'category</a:t>
            </a:r>
            <a:r>
              <a:rPr lang="en-US" sz="1600" b="1"/>
              <a:t>', 'movies’)</a:t>
            </a:r>
          </a:p>
          <a:p>
            <a:pPr lvl="1"/>
            <a:r>
              <a:rPr lang="en-US" b="1"/>
              <a:t>Append: add another value, Useful for </a:t>
            </a:r>
            <a:r>
              <a:rPr lang="en-US" b="1">
                <a:solidFill>
                  <a:srgbClr val="FFFF00"/>
                </a:solidFill>
              </a:rPr>
              <a:t>Multi-Select, Array</a:t>
            </a:r>
          </a:p>
          <a:p>
            <a:pPr lvl="1"/>
            <a:r>
              <a:rPr lang="en-US" b="1"/>
              <a:t>params.</a:t>
            </a:r>
            <a:r>
              <a:rPr lang="en-US" b="1">
                <a:solidFill>
                  <a:srgbClr val="00B0F0"/>
                </a:solidFill>
              </a:rPr>
              <a:t>getAll</a:t>
            </a:r>
            <a:r>
              <a:rPr lang="en-US" b="1"/>
              <a:t>('category’); // ['books', 'movies']</a:t>
            </a:r>
            <a:endParaRPr lang="en-US" b="1">
              <a:solidFill>
                <a:srgbClr val="FFFF00"/>
              </a:solidFill>
            </a:endParaRPr>
          </a:p>
          <a:p>
            <a:pPr lvl="1"/>
            <a:r>
              <a:rPr lang="fr-FR" sz="1600" b="1"/>
              <a:t>Final URL: /api/user?</a:t>
            </a:r>
            <a:r>
              <a:rPr lang="fr-FR" sz="1600" b="1">
                <a:solidFill>
                  <a:srgbClr val="FFFF00"/>
                </a:solidFill>
              </a:rPr>
              <a:t>category</a:t>
            </a:r>
            <a:r>
              <a:rPr lang="fr-FR" sz="1600" b="1"/>
              <a:t>=books&amp;</a:t>
            </a:r>
            <a:r>
              <a:rPr lang="fr-FR" sz="1600" b="1">
                <a:solidFill>
                  <a:srgbClr val="FFFF00"/>
                </a:solidFill>
              </a:rPr>
              <a:t>category</a:t>
            </a:r>
            <a:r>
              <a:rPr lang="fr-FR" sz="1600" b="1"/>
              <a:t>=movies</a:t>
            </a:r>
          </a:p>
          <a:p>
            <a:endParaRPr lang="en-US" sz="1600" b="1"/>
          </a:p>
        </p:txBody>
      </p:sp>
    </p:spTree>
    <p:extLst>
      <p:ext uri="{BB962C8B-B14F-4D97-AF65-F5344CB8AC3E}">
        <p14:creationId xmlns:p14="http://schemas.microsoft.com/office/powerpoint/2010/main" val="1167622843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C1B7E-8E2A-9BB4-BA3C-DBF083CFD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-76200"/>
            <a:ext cx="10353762" cy="600075"/>
          </a:xfrm>
        </p:spPr>
        <p:txBody>
          <a:bodyPr>
            <a:normAutofit fontScale="90000"/>
          </a:bodyPr>
          <a:lstStyle/>
          <a:p>
            <a:r>
              <a:rPr lang="en-US" b="1">
                <a:solidFill>
                  <a:srgbClr val="FFFF00"/>
                </a:solidFill>
              </a:rPr>
              <a:t>HttpParams [ CONT.]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0D206E-AB2E-71F3-1B72-7F3E6EBB85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523874"/>
            <a:ext cx="11668125" cy="6334125"/>
          </a:xfrm>
        </p:spPr>
        <p:txBody>
          <a:bodyPr>
            <a:normAutofit/>
          </a:bodyPr>
          <a:lstStyle/>
          <a:p>
            <a:r>
              <a:rPr lang="en-US" sz="1800" b="1"/>
              <a:t>Add many params at once using appendAll</a:t>
            </a:r>
            <a:endParaRPr lang="en-US" sz="1600" b="1"/>
          </a:p>
          <a:p>
            <a:pPr lvl="1"/>
            <a:r>
              <a:rPr lang="en-US" sz="1600" b="1"/>
              <a:t>const params = new HttpParams().appendAll (  { page: 1,  limit: 10,  sort: 'name'  }   );</a:t>
            </a:r>
            <a:endParaRPr lang="en-US"/>
          </a:p>
          <a:p>
            <a:r>
              <a:rPr lang="en-US"/>
              <a:t>Initialize from object.</a:t>
            </a:r>
          </a:p>
          <a:p>
            <a:pPr lvl="1"/>
            <a:r>
              <a:rPr lang="en-US"/>
              <a:t>const params = new HttpParams({    </a:t>
            </a:r>
            <a:r>
              <a:rPr lang="en-US" sz="1800"/>
              <a:t>fromObject: { page: '1’, limit: '10’, search: 'john’ }   </a:t>
            </a:r>
            <a:r>
              <a:rPr lang="en-US"/>
              <a:t>});</a:t>
            </a:r>
          </a:p>
          <a:p>
            <a:r>
              <a:rPr lang="en-US" sz="1800"/>
              <a:t>Reading</a:t>
            </a:r>
            <a:endParaRPr lang="en-US"/>
          </a:p>
          <a:p>
            <a:pPr lvl="1"/>
            <a:r>
              <a:rPr lang="en-US"/>
              <a:t>params.get('page’);    // 1</a:t>
            </a:r>
          </a:p>
          <a:p>
            <a:pPr lvl="1"/>
            <a:r>
              <a:rPr lang="en-US"/>
              <a:t>params.getAll('category’);  // ['books', 'movies’]</a:t>
            </a:r>
          </a:p>
          <a:p>
            <a:pPr lvl="1"/>
            <a:r>
              <a:rPr lang="en-US"/>
              <a:t>params.keys();  // Returns all parameter names.</a:t>
            </a:r>
          </a:p>
          <a:p>
            <a:r>
              <a:rPr lang="en-US" sz="1800"/>
              <a:t>Checks existence</a:t>
            </a:r>
            <a:r>
              <a:rPr lang="en-US"/>
              <a:t>.</a:t>
            </a:r>
          </a:p>
          <a:p>
            <a:pPr lvl="1"/>
            <a:r>
              <a:rPr lang="en-US"/>
              <a:t>params.has('page’);</a:t>
            </a:r>
          </a:p>
          <a:p>
            <a:r>
              <a:rPr lang="en-US" b="1"/>
              <a:t>delete()</a:t>
            </a:r>
            <a:endParaRPr lang="en-US"/>
          </a:p>
          <a:p>
            <a:pPr lvl="1"/>
            <a:r>
              <a:rPr lang="en-US"/>
              <a:t>params = params.delete('page');</a:t>
            </a:r>
          </a:p>
          <a:p>
            <a:pPr lvl="1"/>
            <a:r>
              <a:rPr lang="en-US"/>
              <a:t>params = params.delete('category', 'books’);</a:t>
            </a:r>
          </a:p>
          <a:p>
            <a:r>
              <a:rPr lang="en-US" sz="1800" b="1"/>
              <a:t>Converting to String</a:t>
            </a:r>
          </a:p>
          <a:p>
            <a:pPr lvl="1"/>
            <a:r>
              <a:rPr lang="en-US"/>
              <a:t>params.toString();  // page=1&amp;limit=10</a:t>
            </a:r>
          </a:p>
        </p:txBody>
      </p:sp>
    </p:spTree>
    <p:extLst>
      <p:ext uri="{BB962C8B-B14F-4D97-AF65-F5344CB8AC3E}">
        <p14:creationId xmlns:p14="http://schemas.microsoft.com/office/powerpoint/2010/main" val="3992200640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81FC6-4B70-AE29-654E-CB73924B4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96350"/>
            <a:ext cx="10353762" cy="627131"/>
          </a:xfrm>
        </p:spPr>
        <p:txBody>
          <a:bodyPr>
            <a:normAutofit fontScale="90000"/>
          </a:bodyPr>
          <a:lstStyle/>
          <a:p>
            <a:r>
              <a:rPr lang="en-US" b="1">
                <a:solidFill>
                  <a:srgbClr val="FFFF00"/>
                </a:solidFill>
              </a:rPr>
              <a:t>HttpErrorResponse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F2EE4B-5411-108B-F096-5EA7CAEDBC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966" y="723481"/>
            <a:ext cx="11786717" cy="6038169"/>
          </a:xfrm>
        </p:spPr>
        <p:txBody>
          <a:bodyPr/>
          <a:lstStyle/>
          <a:p>
            <a:r>
              <a:rPr lang="en-US"/>
              <a:t>class for representing </a:t>
            </a:r>
            <a:r>
              <a:rPr lang="en-US" b="1"/>
              <a:t>failed HTTP requests</a:t>
            </a:r>
            <a:r>
              <a:rPr lang="en-US"/>
              <a:t> made through HttpClient</a:t>
            </a:r>
          </a:p>
          <a:p>
            <a:r>
              <a:rPr lang="en-US"/>
              <a:t>Whenever an HTTP request fails, Angular does </a:t>
            </a:r>
            <a:r>
              <a:rPr lang="en-US" b="1"/>
              <a:t>not</a:t>
            </a:r>
            <a:r>
              <a:rPr lang="en-US"/>
              <a:t> return a normal HttpResponse&lt;T&gt;. Instead, it emits an HttpErrorResponse</a:t>
            </a:r>
          </a:p>
          <a:p>
            <a:r>
              <a:rPr lang="en-US"/>
              <a:t>Example with subscribe</a:t>
            </a:r>
            <a:r>
              <a:rPr lang="en-US">
                <a:sym typeface="Wingdings" panose="05000000000000000000" pitchFamily="2" charset="2"/>
              </a:rPr>
              <a:t> error: (error: 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204656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9F826-99F3-E16F-3175-E8761712C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DE2AC-220C-CDAC-98EA-694781CE7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96350"/>
            <a:ext cx="10353762" cy="627131"/>
          </a:xfrm>
        </p:spPr>
        <p:txBody>
          <a:bodyPr>
            <a:normAutofit fontScale="90000"/>
          </a:bodyPr>
          <a:lstStyle/>
          <a:p>
            <a:r>
              <a:rPr lang="en-US"/>
              <a:t>HttpErrorResponse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BEF8F5-DF2D-7BFF-3958-CDA0AC17BD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966" y="723481"/>
            <a:ext cx="11786717" cy="6038169"/>
          </a:xfrm>
        </p:spPr>
        <p:txBody>
          <a:bodyPr/>
          <a:lstStyle/>
          <a:p>
            <a:r>
              <a:rPr lang="en-US"/>
              <a:t>class for representing </a:t>
            </a:r>
            <a:r>
              <a:rPr lang="en-US" b="1"/>
              <a:t>failed HTTP requests</a:t>
            </a:r>
            <a:r>
              <a:rPr lang="en-US"/>
              <a:t> made through HttpClient</a:t>
            </a:r>
          </a:p>
          <a:p>
            <a:r>
              <a:rPr lang="en-US"/>
              <a:t>Whenever an HTTP request fails, Angular does </a:t>
            </a:r>
            <a:r>
              <a:rPr lang="en-US" b="1"/>
              <a:t>not</a:t>
            </a:r>
            <a:r>
              <a:rPr lang="en-US"/>
              <a:t> return a normal HttpResponse&lt;T&gt;. Instead, it emits an HttpErrorResponse</a:t>
            </a:r>
          </a:p>
          <a:p>
            <a:r>
              <a:rPr lang="en-US"/>
              <a:t>Example with subscribe</a:t>
            </a:r>
            <a:r>
              <a:rPr lang="en-US">
                <a:sym typeface="Wingdings" panose="05000000000000000000" pitchFamily="2" charset="2"/>
              </a:rPr>
              <a:t> error: (error: </a:t>
            </a:r>
            <a:r>
              <a:rPr lang="en-US">
                <a:solidFill>
                  <a:srgbClr val="FFFF00"/>
                </a:solidFill>
              </a:rPr>
              <a:t>HttpErrorResponse</a:t>
            </a:r>
            <a:r>
              <a:rPr lang="en-US">
                <a:sym typeface="Wingdings" panose="05000000000000000000" pitchFamily="2" charset="2"/>
              </a:rPr>
              <a:t>)=&gt;{}</a:t>
            </a:r>
          </a:p>
          <a:p>
            <a:r>
              <a:rPr lang="en-US" b="1">
                <a:solidFill>
                  <a:srgbClr val="FFFF00"/>
                </a:solidFill>
              </a:rPr>
              <a:t>HttpErrorResponse properties</a:t>
            </a:r>
          </a:p>
          <a:p>
            <a:pPr lvl="1"/>
            <a:r>
              <a:rPr lang="en-US"/>
              <a:t>status: </a:t>
            </a:r>
            <a:r>
              <a:rPr lang="en-US">
                <a:effectLst/>
              </a:rPr>
              <a:t>HttpStatusCode (enum)</a:t>
            </a:r>
          </a:p>
          <a:p>
            <a:pPr lvl="1"/>
            <a:r>
              <a:rPr lang="en-US"/>
              <a:t>statusText</a:t>
            </a:r>
          </a:p>
          <a:p>
            <a:pPr lvl="1"/>
            <a:r>
              <a:rPr lang="en-US"/>
              <a:t>url</a:t>
            </a:r>
          </a:p>
          <a:p>
            <a:pPr lvl="1"/>
            <a:r>
              <a:rPr lang="en-US"/>
              <a:t>error: Contains the actual error returned by the backend.</a:t>
            </a:r>
          </a:p>
          <a:p>
            <a:pPr lvl="1"/>
            <a:r>
              <a:rPr lang="en-US"/>
              <a:t>ok: boolean</a:t>
            </a:r>
          </a:p>
          <a:p>
            <a:pPr lvl="1"/>
            <a:endParaRPr lang="en-US"/>
          </a:p>
          <a:p>
            <a:pPr lvl="1"/>
            <a:endParaRPr lang="en-US" b="1">
              <a:solidFill>
                <a:srgbClr val="FFFF00"/>
              </a:solidFill>
            </a:endParaRPr>
          </a:p>
          <a:p>
            <a:pPr lvl="1"/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742283751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B6515-6A24-FD8A-2605-BDE018FD4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0"/>
            <a:ext cx="10353762" cy="612949"/>
          </a:xfrm>
        </p:spPr>
        <p:txBody>
          <a:bodyPr>
            <a:normAutofit fontScale="90000"/>
          </a:bodyPr>
          <a:lstStyle/>
          <a:p>
            <a:r>
              <a:rPr lang="en-US" b="1">
                <a:solidFill>
                  <a:srgbClr val="FF0000"/>
                </a:solidFill>
              </a:rPr>
              <a:t>ng-container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CC1C4-4EA0-D7F6-B0E1-6158BFC9ED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918" y="612949"/>
            <a:ext cx="11816861" cy="6018963"/>
          </a:xfrm>
        </p:spPr>
        <p:txBody>
          <a:bodyPr/>
          <a:lstStyle/>
          <a:p>
            <a:r>
              <a:rPr lang="en-US" b="1">
                <a:solidFill>
                  <a:srgbClr val="FFFF00"/>
                </a:solidFill>
              </a:rPr>
              <a:t>ng-container</a:t>
            </a:r>
          </a:p>
          <a:p>
            <a:pPr lvl="1"/>
            <a:r>
              <a:rPr lang="en-US" b="1"/>
              <a:t>group elements and apply structural directives ( like *ngIf, *ngFor, *ngSwitchCase )</a:t>
            </a:r>
          </a:p>
          <a:p>
            <a:pPr lvl="1"/>
            <a:r>
              <a:rPr lang="en-US" b="1"/>
              <a:t>DOM Impact: It is a logical grouping that is not rendered as a separate element in the browser's DOM</a:t>
            </a:r>
          </a:p>
          <a:p>
            <a:pPr lvl="1"/>
            <a:r>
              <a:rPr lang="en-US" b="1"/>
              <a:t>Use Case : avoid unnecessary wrapping elements that might affect styling.</a:t>
            </a:r>
          </a:p>
          <a:p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1696757168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1E39F-6A22-005D-1E9B-08E52E0E8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0"/>
            <a:ext cx="10353762" cy="411982"/>
          </a:xfrm>
        </p:spPr>
        <p:txBody>
          <a:bodyPr>
            <a:normAutofit fontScale="90000"/>
          </a:bodyPr>
          <a:lstStyle/>
          <a:p>
            <a:r>
              <a:rPr lang="en-US" b="1">
                <a:solidFill>
                  <a:srgbClr val="FF0000"/>
                </a:solidFill>
              </a:rPr>
              <a:t>ng-template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11E5A0-7D56-D4E0-4ADD-6CDEEA6C59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1014" y="592853"/>
            <a:ext cx="11766621" cy="6109398"/>
          </a:xfrm>
        </p:spPr>
        <p:txBody>
          <a:bodyPr/>
          <a:lstStyle/>
          <a:p>
            <a:r>
              <a:rPr lang="en-US" sz="2400" b="1">
                <a:solidFill>
                  <a:srgbClr val="FFFF00"/>
                </a:solidFill>
              </a:rPr>
              <a:t>ng-template</a:t>
            </a:r>
          </a:p>
          <a:p>
            <a:pPr lvl="1"/>
            <a:r>
              <a:rPr lang="en-US"/>
              <a:t>Defines a reusable block of HTML content that is not rendered by default</a:t>
            </a:r>
          </a:p>
          <a:p>
            <a:pPr lvl="1"/>
            <a:r>
              <a:rPr lang="en-US"/>
              <a:t>DOM Impact: The content within an ng-template is not rendered in the DOM unless explicitly demand it</a:t>
            </a:r>
          </a:p>
          <a:p>
            <a:endParaRPr lang="en-US"/>
          </a:p>
          <a:p>
            <a:endParaRPr lang="en-US"/>
          </a:p>
          <a:p>
            <a:pPr marL="36900" indent="0">
              <a:buNone/>
            </a:pPr>
            <a:endParaRPr lang="en-US"/>
          </a:p>
          <a:p>
            <a:r>
              <a:rPr lang="en-US"/>
              <a:t>ng-template: It is a ready code </a:t>
            </a:r>
            <a:r>
              <a:rPr lang="en-US" b="1">
                <a:solidFill>
                  <a:srgbClr val="FFFF00"/>
                </a:solidFill>
              </a:rPr>
              <a:t>waits you to call it </a:t>
            </a:r>
          </a:p>
          <a:p>
            <a:endParaRPr lang="en-US" b="1">
              <a:solidFill>
                <a:srgbClr val="FFFF00"/>
              </a:solidFill>
            </a:endParaRPr>
          </a:p>
          <a:p>
            <a:endParaRPr lang="en-US" b="1">
              <a:solidFill>
                <a:srgbClr val="FFFF00"/>
              </a:solidFill>
            </a:endParaRPr>
          </a:p>
          <a:p>
            <a:endParaRPr lang="en-US" b="1">
              <a:solidFill>
                <a:srgbClr val="FFFF00"/>
              </a:solidFill>
            </a:endParaRPr>
          </a:p>
          <a:p>
            <a:r>
              <a:rPr lang="en-US" b="1">
                <a:solidFill>
                  <a:srgbClr val="FFFF00"/>
                </a:solidFill>
              </a:rPr>
              <a:t>*ngTemplateOutlet: it tell angular bring the template that its name </a:t>
            </a:r>
            <a:r>
              <a:rPr lang="en-US" b="1">
                <a:solidFill>
                  <a:srgbClr val="00B0F0"/>
                </a:solidFill>
              </a:rPr>
              <a:t>myTemplate</a:t>
            </a:r>
            <a:r>
              <a:rPr lang="en-US" b="1">
                <a:solidFill>
                  <a:srgbClr val="FFFF00"/>
                </a:solidFill>
              </a:rPr>
              <a:t> and render it here</a:t>
            </a:r>
          </a:p>
          <a:p>
            <a:endParaRPr lang="en-US" b="1">
              <a:solidFill>
                <a:srgbClr val="FFFF00"/>
              </a:solidFill>
            </a:endParaRPr>
          </a:p>
          <a:p>
            <a:endParaRPr lang="en-US" b="1">
              <a:solidFill>
                <a:srgbClr val="FFFF00"/>
              </a:solidFill>
            </a:endParaRPr>
          </a:p>
          <a:p>
            <a:endParaRPr lang="en-US" b="1">
              <a:solidFill>
                <a:srgbClr val="FFFF00"/>
              </a:solidFill>
            </a:endParaRPr>
          </a:p>
          <a:p>
            <a:endParaRPr lang="en-US" b="1">
              <a:solidFill>
                <a:srgbClr val="FFFF00"/>
              </a:solidFill>
            </a:endParaRPr>
          </a:p>
          <a:p>
            <a:endParaRPr lang="en-US" b="1">
              <a:solidFill>
                <a:srgbClr val="FFFF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697FD7-5082-2A7C-0B72-3C66A138FB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287" y="1868822"/>
            <a:ext cx="4783016" cy="13968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C4B6550-C7DA-24AF-22BC-1937B48BB0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287" y="3778181"/>
            <a:ext cx="6167595" cy="1125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607328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93702-CF6E-9468-2160-F99882684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970450"/>
          </a:xfrm>
        </p:spPr>
        <p:txBody>
          <a:bodyPr/>
          <a:lstStyle/>
          <a:p>
            <a:r>
              <a:rPr lang="en-US" b="1">
                <a:solidFill>
                  <a:srgbClr val="FF0000"/>
                </a:solidFill>
              </a:rPr>
              <a:t>ng-template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634CCE-0995-92AE-14AF-07C23D5694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532" y="970451"/>
            <a:ext cx="11867103" cy="5741848"/>
          </a:xfrm>
        </p:spPr>
        <p:txBody>
          <a:bodyPr/>
          <a:lstStyle/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x</a:t>
            </a:r>
          </a:p>
          <a:p>
            <a:endParaRPr lang="en-US"/>
          </a:p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4F2767B-5805-7F4A-5EA4-6537F754B0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717" y="1086090"/>
            <a:ext cx="4611356" cy="2755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615704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F89F6-C8C7-176D-CBB3-028C5194B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542611"/>
          </a:xfrm>
        </p:spPr>
        <p:txBody>
          <a:bodyPr>
            <a:normAutofit fontScale="90000"/>
          </a:bodyPr>
          <a:lstStyle/>
          <a:p>
            <a:r>
              <a:rPr lang="en-US" b="1">
                <a:solidFill>
                  <a:srgbClr val="FF0000"/>
                </a:solidFill>
              </a:rPr>
              <a:t>ng-template [cont.2]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3B2E28-0119-907F-D773-715773C3D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024" y="643095"/>
            <a:ext cx="11137533" cy="5817995"/>
          </a:xfrm>
        </p:spPr>
        <p:txBody>
          <a:bodyPr/>
          <a:lstStyle/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let-itemmm="item“ // it means receive a value that it is name called item from context and this value will be available within ng-template with name item</a:t>
            </a:r>
          </a:p>
          <a:p>
            <a:endParaRPr lang="en-US"/>
          </a:p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D2676E-1EA6-E93F-82C2-BF5EAF5561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24" y="743578"/>
            <a:ext cx="8382000" cy="3495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129965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B098A-A839-AD30-A94F-CFA5BB2F9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1F280-2225-5EAD-88E6-87EB3A01D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644" y="609599"/>
            <a:ext cx="11465169" cy="5298831"/>
          </a:xfrm>
        </p:spPr>
        <p:txBody>
          <a:bodyPr>
            <a:normAutofit/>
          </a:bodyPr>
          <a:lstStyle/>
          <a:p>
            <a:r>
              <a:rPr lang="en-US" sz="6000" b="1">
                <a:solidFill>
                  <a:srgbClr val="FF0000"/>
                </a:solidFill>
              </a:rPr>
              <a:t>End Angular DT</a:t>
            </a:r>
          </a:p>
        </p:txBody>
      </p:sp>
    </p:spTree>
    <p:extLst>
      <p:ext uri="{BB962C8B-B14F-4D97-AF65-F5344CB8AC3E}">
        <p14:creationId xmlns:p14="http://schemas.microsoft.com/office/powerpoint/2010/main" val="2670712418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58D298-F834-EFD3-CA38-BB9BCCAE3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B3AA4-65E1-F7DB-AEFA-C62D5194A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644" y="609599"/>
            <a:ext cx="11465169" cy="5298831"/>
          </a:xfrm>
        </p:spPr>
        <p:txBody>
          <a:bodyPr>
            <a:normAutofit/>
          </a:bodyPr>
          <a:lstStyle/>
          <a:p>
            <a:r>
              <a:rPr lang="en-US" sz="6000" b="1">
                <a:solidFill>
                  <a:srgbClr val="FF0000"/>
                </a:solidFill>
              </a:rPr>
              <a:t>Start new variable</a:t>
            </a:r>
          </a:p>
        </p:txBody>
      </p:sp>
    </p:spTree>
    <p:extLst>
      <p:ext uri="{BB962C8B-B14F-4D97-AF65-F5344CB8AC3E}">
        <p14:creationId xmlns:p14="http://schemas.microsoft.com/office/powerpoint/2010/main" val="2638354772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AE7D7-0329-20B4-C625-E9F949BC1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4133" y="0"/>
            <a:ext cx="10353762" cy="643095"/>
          </a:xfrm>
        </p:spPr>
        <p:txBody>
          <a:bodyPr>
            <a:normAutofit fontScale="90000"/>
          </a:bodyPr>
          <a:lstStyle/>
          <a:p>
            <a:r>
              <a:rPr lang="en-US" b="1">
                <a:solidFill>
                  <a:srgbClr val="00B0F0"/>
                </a:solidFill>
              </a:rPr>
              <a:t>New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23B0FF-CD57-B24C-8D75-8E1123CFE1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774" y="643095"/>
            <a:ext cx="11106783" cy="5988817"/>
          </a:xfrm>
        </p:spPr>
        <p:txBody>
          <a:bodyPr/>
          <a:lstStyle/>
          <a:p>
            <a:r>
              <a:rPr lang="en-US" sz="2400" b="1">
                <a:solidFill>
                  <a:srgbClr val="00B0F0"/>
                </a:solidFill>
              </a:rPr>
              <a:t>$event</a:t>
            </a:r>
            <a:r>
              <a:rPr lang="en-US"/>
              <a:t>: </a:t>
            </a:r>
          </a:p>
          <a:p>
            <a:pPr lvl="1"/>
            <a:r>
              <a:rPr lang="en-US"/>
              <a:t>a </a:t>
            </a:r>
            <a:r>
              <a:rPr lang="en-US" b="1"/>
              <a:t>special Angular template variable</a:t>
            </a:r>
            <a:r>
              <a:rPr lang="en-US"/>
              <a:t> that represents the </a:t>
            </a:r>
            <a:r>
              <a:rPr lang="en-US" b="1">
                <a:solidFill>
                  <a:srgbClr val="FFFF00"/>
                </a:solidFill>
              </a:rPr>
              <a:t>emitted event object</a:t>
            </a:r>
            <a:r>
              <a:rPr lang="en-US"/>
              <a:t>.</a:t>
            </a:r>
          </a:p>
          <a:p>
            <a:pPr lvl="1"/>
            <a:r>
              <a:rPr lang="en-US"/>
              <a:t>$ is  a mendatory</a:t>
            </a:r>
          </a:p>
          <a:p>
            <a:r>
              <a:rPr lang="en-US" b="1">
                <a:solidFill>
                  <a:srgbClr val="00B0F0"/>
                </a:solidFill>
              </a:rPr>
              <a:t>#inputCount</a:t>
            </a:r>
            <a:r>
              <a:rPr lang="en-US"/>
              <a:t>: </a:t>
            </a:r>
          </a:p>
          <a:p>
            <a:pPr lvl="1"/>
            <a:r>
              <a:rPr lang="en-US"/>
              <a:t>template variable</a:t>
            </a:r>
          </a:p>
          <a:p>
            <a:pPr lvl="1"/>
            <a:r>
              <a:rPr lang="en-US"/>
              <a:t>we call it without #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759449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14070-D898-F1AF-ACE6-846B99F46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6EDBB-5E01-3B17-0265-A28E1B07C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644" y="609599"/>
            <a:ext cx="11465169" cy="5298831"/>
          </a:xfrm>
        </p:spPr>
        <p:txBody>
          <a:bodyPr>
            <a:normAutofit/>
          </a:bodyPr>
          <a:lstStyle/>
          <a:p>
            <a:r>
              <a:rPr lang="en-US" sz="6000" b="1">
                <a:solidFill>
                  <a:srgbClr val="FF0000"/>
                </a:solidFill>
              </a:rPr>
              <a:t>End new variable</a:t>
            </a:r>
          </a:p>
        </p:txBody>
      </p:sp>
    </p:spTree>
    <p:extLst>
      <p:ext uri="{BB962C8B-B14F-4D97-AF65-F5344CB8AC3E}">
        <p14:creationId xmlns:p14="http://schemas.microsoft.com/office/powerpoint/2010/main" val="3047076085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F29F7-A718-CBF6-52BB-CA8584ACE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599"/>
            <a:ext cx="10353762" cy="5698067"/>
          </a:xfrm>
        </p:spPr>
        <p:txBody>
          <a:bodyPr>
            <a:normAutofit/>
          </a:bodyPr>
          <a:lstStyle/>
          <a:p>
            <a:r>
              <a:rPr lang="en-US" sz="5400" b="1">
                <a:solidFill>
                  <a:srgbClr val="FF0000"/>
                </a:solidFill>
              </a:rPr>
              <a:t>Start File&amp; Download &amp; Upload</a:t>
            </a:r>
          </a:p>
        </p:txBody>
      </p:sp>
    </p:spTree>
    <p:extLst>
      <p:ext uri="{BB962C8B-B14F-4D97-AF65-F5344CB8AC3E}">
        <p14:creationId xmlns:p14="http://schemas.microsoft.com/office/powerpoint/2010/main" val="930891690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201C1-BB0C-255A-DE00-947A8A23F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96350"/>
            <a:ext cx="10353762" cy="697470"/>
          </a:xfrm>
        </p:spPr>
        <p:txBody>
          <a:bodyPr>
            <a:normAutofit fontScale="90000"/>
          </a:bodyPr>
          <a:lstStyle/>
          <a:p>
            <a:r>
              <a:rPr lang="en-US" b="1">
                <a:solidFill>
                  <a:srgbClr val="FF0000"/>
                </a:solidFill>
              </a:rPr>
              <a:t>window</a:t>
            </a:r>
            <a:r>
              <a:rPr lang="en-US"/>
              <a:t>.</a:t>
            </a:r>
            <a:r>
              <a:rPr lang="en-US" b="1">
                <a:solidFill>
                  <a:srgbClr val="FFFF00"/>
                </a:solidFill>
              </a:rPr>
              <a:t>URL</a:t>
            </a:r>
            <a:r>
              <a:rPr lang="en-US"/>
              <a:t>.</a:t>
            </a:r>
            <a:r>
              <a:rPr lang="en-US" b="1">
                <a:solidFill>
                  <a:srgbClr val="00B0F0"/>
                </a:solidFill>
              </a:rPr>
              <a:t>createObjectURL(File)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3CA6C-CF82-C591-CCB1-C9D1311644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966" y="793820"/>
            <a:ext cx="11756571" cy="5727560"/>
          </a:xfrm>
        </p:spPr>
        <p:txBody>
          <a:bodyPr/>
          <a:lstStyle/>
          <a:p>
            <a:r>
              <a:rPr lang="en-US"/>
              <a:t>creates a </a:t>
            </a:r>
            <a:r>
              <a:rPr lang="en-US" b="1"/>
              <a:t>temporary browser URL that points to a file/blob stored in browser memory</a:t>
            </a:r>
            <a:r>
              <a:rPr lang="en-US"/>
              <a:t>.</a:t>
            </a:r>
          </a:p>
          <a:p>
            <a:r>
              <a:rPr lang="en-US"/>
              <a:t>It's very commonly used for </a:t>
            </a:r>
            <a:r>
              <a:rPr lang="en-US" b="1"/>
              <a:t>previewing before uploading</a:t>
            </a:r>
            <a:r>
              <a:rPr lang="en-US"/>
              <a:t>.</a:t>
            </a:r>
          </a:p>
          <a:p>
            <a:r>
              <a:rPr lang="en-US" b="1"/>
              <a:t>You can use this generated link as the </a:t>
            </a:r>
            <a:r>
              <a:rPr lang="en-US" b="1">
                <a:effectLst/>
              </a:rPr>
              <a:t>src</a:t>
            </a:r>
            <a:r>
              <a:rPr lang="en-US" b="1"/>
              <a:t> for images, videos, audio, or download links so the browser can display or download the file</a:t>
            </a:r>
          </a:p>
          <a:p>
            <a:r>
              <a:rPr lang="en-US"/>
              <a:t>blob:http://localhost:4200/8a7f2c91-....</a:t>
            </a:r>
          </a:p>
          <a:p>
            <a:r>
              <a:rPr lang="en-US"/>
              <a:t>only creates a temporary URL for the browser.</a:t>
            </a:r>
          </a:p>
          <a:p>
            <a:r>
              <a:rPr lang="en-US" sz="1800"/>
              <a:t>When you're finished with the preview: </a:t>
            </a:r>
            <a:r>
              <a:rPr lang="en-US" sz="1800">
                <a:effectLst/>
              </a:rPr>
              <a:t>URL.revokeObjectURL(item.previewUrl); // to release resources</a:t>
            </a:r>
          </a:p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F5B3FB-BD5B-684D-A4C2-D4D5E94A44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714" y="4151540"/>
            <a:ext cx="5440708" cy="21722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ADBE96C-32A2-1C16-2926-C879C26B18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3168" y="4250427"/>
            <a:ext cx="6147520" cy="1519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413242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DFD20-716D-7F23-5AA9-05C0CE569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6061" y="0"/>
            <a:ext cx="10353762" cy="618067"/>
          </a:xfrm>
        </p:spPr>
        <p:txBody>
          <a:bodyPr>
            <a:normAutofit fontScale="90000"/>
          </a:bodyPr>
          <a:lstStyle/>
          <a:p>
            <a:r>
              <a:rPr lang="en-US"/>
              <a:t>Download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0EA7C-9279-2FBF-1913-3A8FBF4A1B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333" y="685800"/>
            <a:ext cx="10844224" cy="6172200"/>
          </a:xfrm>
        </p:spPr>
        <p:txBody>
          <a:bodyPr>
            <a:normAutofit/>
          </a:bodyPr>
          <a:lstStyle/>
          <a:p>
            <a:r>
              <a:rPr lang="en-US"/>
              <a:t>At Service</a:t>
            </a:r>
          </a:p>
          <a:p>
            <a:pPr lvl="1"/>
            <a:r>
              <a:rPr lang="en-US" b="1">
                <a:solidFill>
                  <a:srgbClr val="00B0F0"/>
                </a:solidFill>
              </a:rPr>
              <a:t>httpClient</a:t>
            </a:r>
            <a:r>
              <a:rPr lang="en-US" b="1"/>
              <a:t>.post(URL,  payload, { response: blob });</a:t>
            </a:r>
          </a:p>
          <a:p>
            <a:r>
              <a:rPr lang="en-US" b="1"/>
              <a:t>At ts code</a:t>
            </a:r>
          </a:p>
          <a:p>
            <a:pPr lvl="1"/>
            <a:r>
              <a:rPr lang="en-US" b="1"/>
              <a:t>request  = this.service.download(payload).</a:t>
            </a:r>
            <a:r>
              <a:rPr lang="en-US" b="1">
                <a:effectLst/>
              </a:rPr>
              <a:t>subscribe({</a:t>
            </a:r>
          </a:p>
          <a:p>
            <a:pPr marL="810000" lvl="2" indent="0">
              <a:buNone/>
            </a:pPr>
            <a:r>
              <a:rPr lang="en-US" b="1">
                <a:effectLst/>
              </a:rPr>
              <a:t>next: (response: Blob)=&gt;{</a:t>
            </a:r>
          </a:p>
          <a:p>
            <a:pPr marL="810000" lvl="2" indent="0">
              <a:buNone/>
            </a:pPr>
            <a:r>
              <a:rPr lang="en-US" b="1">
                <a:effectLst/>
              </a:rPr>
              <a:t>	</a:t>
            </a:r>
            <a:r>
              <a:rPr lang="en-US">
                <a:effectLst/>
              </a:rPr>
              <a:t>const downloadURL = window.URL.</a:t>
            </a:r>
            <a:r>
              <a:rPr lang="en-US" b="1">
                <a:solidFill>
                  <a:srgbClr val="FFFF00"/>
                </a:solidFill>
                <a:effectLst/>
              </a:rPr>
              <a:t>createObjectURL</a:t>
            </a:r>
            <a:r>
              <a:rPr lang="en-US">
                <a:effectLst/>
              </a:rPr>
              <a:t>(response);</a:t>
            </a:r>
          </a:p>
          <a:p>
            <a:pPr marL="810000" lvl="2" indent="0">
              <a:buNone/>
            </a:pPr>
            <a:r>
              <a:rPr lang="en-US">
                <a:effectLst/>
              </a:rPr>
              <a:t>	const link = document.</a:t>
            </a:r>
            <a:r>
              <a:rPr lang="en-US" b="1">
                <a:solidFill>
                  <a:srgbClr val="FFFF00"/>
                </a:solidFill>
                <a:effectLst/>
              </a:rPr>
              <a:t>createElement</a:t>
            </a:r>
            <a:r>
              <a:rPr lang="en-US">
                <a:effectLst/>
              </a:rPr>
              <a:t>('a’);   link.href = downloadURL;</a:t>
            </a:r>
          </a:p>
          <a:p>
            <a:pPr marL="810000" lvl="2" indent="0">
              <a:buNone/>
            </a:pPr>
            <a:r>
              <a:rPr lang="en-US">
                <a:effectLst/>
              </a:rPr>
              <a:t> 	link.download = 'SanctionAML_Report.xlsx’;</a:t>
            </a:r>
          </a:p>
          <a:p>
            <a:pPr marL="810000" lvl="2" indent="0">
              <a:buNone/>
            </a:pPr>
            <a:r>
              <a:rPr lang="en-US">
                <a:effectLst/>
              </a:rPr>
              <a:t>	document.body.</a:t>
            </a:r>
            <a:r>
              <a:rPr lang="en-US" b="1">
                <a:solidFill>
                  <a:srgbClr val="FFFF00"/>
                </a:solidFill>
                <a:effectLst/>
              </a:rPr>
              <a:t>appendChild</a:t>
            </a:r>
            <a:r>
              <a:rPr lang="en-US">
                <a:effectLst/>
              </a:rPr>
              <a:t>(link);  link.click();</a:t>
            </a:r>
          </a:p>
          <a:p>
            <a:pPr marL="810000" lvl="2" indent="0">
              <a:buNone/>
            </a:pPr>
            <a:r>
              <a:rPr lang="en-US">
                <a:effectLst/>
              </a:rPr>
              <a:t>	document.body.</a:t>
            </a:r>
            <a:r>
              <a:rPr lang="en-US" b="1">
                <a:solidFill>
                  <a:srgbClr val="FFFF00"/>
                </a:solidFill>
                <a:effectLst/>
              </a:rPr>
              <a:t>removeChild</a:t>
            </a:r>
            <a:r>
              <a:rPr lang="en-US">
                <a:effectLst/>
              </a:rPr>
              <a:t>(link);</a:t>
            </a:r>
          </a:p>
          <a:p>
            <a:pPr marL="810000" lvl="2" indent="0">
              <a:buNone/>
            </a:pPr>
            <a:r>
              <a:rPr lang="en-US">
                <a:effectLst/>
              </a:rPr>
              <a:t>	window.URL.</a:t>
            </a:r>
            <a:r>
              <a:rPr lang="en-US" b="1">
                <a:solidFill>
                  <a:srgbClr val="FFFF00"/>
                </a:solidFill>
                <a:effectLst/>
              </a:rPr>
              <a:t>revokeObjectURL</a:t>
            </a:r>
            <a:r>
              <a:rPr lang="en-US">
                <a:effectLst/>
              </a:rPr>
              <a:t>(downloadURL);</a:t>
            </a:r>
          </a:p>
          <a:p>
            <a:pPr marL="810000" lvl="2" indent="0">
              <a:buNone/>
            </a:pPr>
            <a:r>
              <a:rPr lang="en-US" b="1">
                <a:effectLst/>
              </a:rPr>
              <a:t>	</a:t>
            </a:r>
            <a:r>
              <a:rPr lang="en-US"/>
              <a:t>Swal.close();    // close the current opening sweat alert</a:t>
            </a:r>
            <a:endParaRPr lang="en-US" b="1">
              <a:effectLst/>
            </a:endParaRPr>
          </a:p>
          <a:p>
            <a:pPr marL="810000" lvl="2" indent="0">
              <a:buNone/>
            </a:pPr>
            <a:r>
              <a:rPr lang="en-US" b="1">
                <a:effectLst/>
              </a:rPr>
              <a:t>}</a:t>
            </a:r>
          </a:p>
          <a:p>
            <a:pPr marL="450000" lvl="1" indent="0">
              <a:buNone/>
            </a:pPr>
            <a:r>
              <a:rPr lang="en-US" b="1">
                <a:effectLst/>
              </a:rPr>
              <a:t>	 });</a:t>
            </a:r>
          </a:p>
          <a:p>
            <a:r>
              <a:rPr lang="en-US" sz="1600" b="1">
                <a:effectLst/>
              </a:rPr>
              <a:t>To cancel the operation (download) : </a:t>
            </a:r>
            <a:r>
              <a:rPr lang="en-US" b="1">
                <a:solidFill>
                  <a:srgbClr val="FFFF00"/>
                </a:solidFill>
                <a:effectLst/>
              </a:rPr>
              <a:t>request</a:t>
            </a:r>
            <a:r>
              <a:rPr lang="en-US">
                <a:effectLst/>
              </a:rPr>
              <a:t>.</a:t>
            </a:r>
            <a:r>
              <a:rPr lang="en-US" b="1">
                <a:solidFill>
                  <a:srgbClr val="00B0F0"/>
                </a:solidFill>
                <a:effectLst/>
              </a:rPr>
              <a:t>unsubscribe</a:t>
            </a:r>
            <a:r>
              <a:rPr lang="en-US">
                <a:effectLst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1837649939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B8971-4F44-64C9-F90F-D05555003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476250"/>
          </a:xfrm>
        </p:spPr>
        <p:txBody>
          <a:bodyPr>
            <a:normAutofit fontScale="90000"/>
          </a:bodyPr>
          <a:lstStyle/>
          <a:p>
            <a:r>
              <a:rPr lang="en-US" b="1"/>
              <a:t>Uploading</a:t>
            </a:r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E786D0-6974-AED6-FB0C-6F9234604C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571499"/>
            <a:ext cx="11601450" cy="6067425"/>
          </a:xfrm>
        </p:spPr>
        <p:txBody>
          <a:bodyPr/>
          <a:lstStyle/>
          <a:p>
            <a:r>
              <a:rPr lang="en-US" b="1"/>
              <a:t>At service</a:t>
            </a:r>
          </a:p>
          <a:p>
            <a:pPr lvl="1"/>
            <a:r>
              <a:rPr lang="en-US">
                <a:effectLst/>
              </a:rPr>
              <a:t> const </a:t>
            </a:r>
            <a:r>
              <a:rPr lang="en-US" b="1">
                <a:solidFill>
                  <a:srgbClr val="00B0F0"/>
                </a:solidFill>
                <a:effectLst/>
              </a:rPr>
              <a:t>formData</a:t>
            </a:r>
            <a:r>
              <a:rPr lang="en-US">
                <a:effectLst/>
              </a:rPr>
              <a:t> = new </a:t>
            </a:r>
            <a:r>
              <a:rPr lang="en-US" b="1">
                <a:solidFill>
                  <a:srgbClr val="FFFF00"/>
                </a:solidFill>
                <a:effectLst/>
              </a:rPr>
              <a:t>FormData()</a:t>
            </a:r>
            <a:r>
              <a:rPr lang="en-US">
                <a:effectLst/>
              </a:rPr>
              <a:t>;</a:t>
            </a:r>
          </a:p>
          <a:p>
            <a:pPr lvl="1"/>
            <a:r>
              <a:rPr lang="en-US">
                <a:effectLst/>
              </a:rPr>
              <a:t>formData.</a:t>
            </a:r>
            <a:r>
              <a:rPr lang="en-US" b="1">
                <a:solidFill>
                  <a:srgbClr val="FFFF00"/>
                </a:solidFill>
                <a:effectLst/>
              </a:rPr>
              <a:t>append</a:t>
            </a:r>
            <a:r>
              <a:rPr lang="en-US">
                <a:effectLst/>
              </a:rPr>
              <a:t>("Image", </a:t>
            </a:r>
            <a:r>
              <a:rPr lang="en-US" b="1">
                <a:solidFill>
                  <a:srgbClr val="FFFF00"/>
                </a:solidFill>
                <a:effectLst/>
              </a:rPr>
              <a:t>productDTO</a:t>
            </a:r>
            <a:r>
              <a:rPr lang="en-US">
                <a:effectLst/>
              </a:rPr>
              <a:t>.Image as </a:t>
            </a:r>
            <a:r>
              <a:rPr lang="en-US" b="1">
                <a:solidFill>
                  <a:srgbClr val="92D050"/>
                </a:solidFill>
                <a:effectLst/>
              </a:rPr>
              <a:t>File</a:t>
            </a:r>
            <a:r>
              <a:rPr lang="en-US">
                <a:effectLst/>
              </a:rPr>
              <a:t>);</a:t>
            </a:r>
          </a:p>
          <a:p>
            <a:pPr lvl="1"/>
            <a:r>
              <a:rPr lang="en-US" b="1"/>
              <a:t>At edit</a:t>
            </a:r>
          </a:p>
          <a:p>
            <a:pPr marL="810000" lvl="2" indent="0">
              <a:buNone/>
            </a:pPr>
            <a:r>
              <a:rPr lang="en-US" sz="1800" b="1">
                <a:effectLst/>
              </a:rPr>
              <a:t>if(categoryDTO.Image instanceof </a:t>
            </a:r>
            <a:r>
              <a:rPr lang="en-US" sz="1800" b="1">
                <a:solidFill>
                  <a:srgbClr val="00B0F0"/>
                </a:solidFill>
                <a:effectLst/>
              </a:rPr>
              <a:t>File</a:t>
            </a:r>
            <a:r>
              <a:rPr lang="en-US" sz="1800" b="1">
                <a:effectLst/>
              </a:rPr>
              <a:t>) { formData.append("image", categoryDTO.Image as File) }</a:t>
            </a:r>
          </a:p>
          <a:p>
            <a:pPr lvl="2"/>
            <a:r>
              <a:rPr lang="en-US" b="1">
                <a:effectLst/>
              </a:rPr>
              <a:t>categoryDTO.Image // </a:t>
            </a:r>
            <a:r>
              <a:rPr lang="en-US">
                <a:effectLst/>
              </a:rPr>
              <a:t>Image: File | null</a:t>
            </a:r>
          </a:p>
          <a:p>
            <a:pPr lvl="2"/>
            <a:endParaRPr lang="en-US" b="1"/>
          </a:p>
          <a:p>
            <a:endParaRPr lang="en-US" b="1"/>
          </a:p>
          <a:p>
            <a:endParaRPr lang="en-US" b="1"/>
          </a:p>
          <a:p>
            <a:endParaRPr lang="en-US" b="1"/>
          </a:p>
          <a:p>
            <a:endParaRPr lang="en-US" b="1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458153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515B46-34F3-1065-FF9E-E4290DFCA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AFCBF-612E-6C21-E7A7-6ADCE6A7E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599"/>
            <a:ext cx="10353762" cy="5698067"/>
          </a:xfrm>
        </p:spPr>
        <p:txBody>
          <a:bodyPr>
            <a:normAutofit/>
          </a:bodyPr>
          <a:lstStyle/>
          <a:p>
            <a:r>
              <a:rPr lang="en-US" sz="5400" b="1">
                <a:solidFill>
                  <a:srgbClr val="FF0000"/>
                </a:solidFill>
              </a:rPr>
              <a:t>End Download &amp; Upload</a:t>
            </a:r>
          </a:p>
        </p:txBody>
      </p:sp>
    </p:spTree>
    <p:extLst>
      <p:ext uri="{BB962C8B-B14F-4D97-AF65-F5344CB8AC3E}">
        <p14:creationId xmlns:p14="http://schemas.microsoft.com/office/powerpoint/2010/main" val="3825124757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98596-4391-88B0-AD29-4D64D57D3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462224"/>
          </a:xfrm>
        </p:spPr>
        <p:txBody>
          <a:bodyPr>
            <a:normAutofit fontScale="90000"/>
          </a:bodyPr>
          <a:lstStyle/>
          <a:p>
            <a:r>
              <a:rPr lang="en-US"/>
              <a:t>Modal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A1C6CC-2375-1E48-862C-B483B36EB6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1692" y="462224"/>
            <a:ext cx="11555605" cy="6260123"/>
          </a:xfrm>
        </p:spPr>
        <p:txBody>
          <a:bodyPr/>
          <a:lstStyle/>
          <a:p>
            <a:r>
              <a:rPr lang="en-US">
                <a:effectLst/>
              </a:rPr>
              <a:t>  import { </a:t>
            </a:r>
            <a:r>
              <a:rPr lang="en-US" b="1">
                <a:solidFill>
                  <a:srgbClr val="00B0F0"/>
                </a:solidFill>
                <a:effectLst/>
              </a:rPr>
              <a:t>NgbModal</a:t>
            </a:r>
            <a:r>
              <a:rPr lang="en-US">
                <a:effectLst/>
              </a:rPr>
              <a:t>, </a:t>
            </a:r>
            <a:r>
              <a:rPr lang="en-US" b="1">
                <a:solidFill>
                  <a:srgbClr val="00B0F0"/>
                </a:solidFill>
                <a:effectLst/>
              </a:rPr>
              <a:t>NgbModalRef</a:t>
            </a:r>
            <a:r>
              <a:rPr lang="en-US">
                <a:effectLst/>
              </a:rPr>
              <a:t> } from '@ng-bootstrap/ng-bootstrap’;</a:t>
            </a:r>
          </a:p>
          <a:p>
            <a:endParaRPr lang="en-US">
              <a:effectLst/>
            </a:endParaRPr>
          </a:p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5BB35B-436E-652D-00D9-76DB0BB91D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703" y="924449"/>
            <a:ext cx="10982854" cy="432057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C08B79C-C658-EDBC-9048-C48820010B0C}"/>
              </a:ext>
            </a:extLst>
          </p:cNvPr>
          <p:cNvSpPr txBox="1"/>
          <p:nvPr/>
        </p:nvSpPr>
        <p:spPr>
          <a:xfrm>
            <a:off x="140677" y="5380672"/>
            <a:ext cx="117666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00B0F0"/>
                </a:solidFill>
              </a:rPr>
              <a:t>let-modal</a:t>
            </a:r>
            <a:r>
              <a:rPr lang="en-US"/>
              <a:t> --- Receives a value from </a:t>
            </a:r>
            <a:r>
              <a:rPr lang="en-US" b="1">
                <a:solidFill>
                  <a:srgbClr val="00B0F0"/>
                </a:solidFill>
              </a:rPr>
              <a:t>context</a:t>
            </a:r>
            <a:r>
              <a:rPr lang="en-US"/>
              <a:t> and makes its name is modal inside </a:t>
            </a:r>
            <a:r>
              <a:rPr lang="en-US" b="1">
                <a:solidFill>
                  <a:srgbClr val="FFFF00"/>
                </a:solidFill>
              </a:rPr>
              <a:t>ng-template</a:t>
            </a:r>
            <a:r>
              <a:rPr lang="en-US"/>
              <a:t> and the question is from where this value is gained </a:t>
            </a:r>
          </a:p>
          <a:p>
            <a:endParaRPr lang="en-US"/>
          </a:p>
          <a:p>
            <a:r>
              <a:rPr lang="en-US"/>
              <a:t>When modal is opened VIA : this.</a:t>
            </a:r>
            <a:r>
              <a:rPr lang="en-US" b="1">
                <a:solidFill>
                  <a:srgbClr val="FFFF00"/>
                </a:solidFill>
              </a:rPr>
              <a:t>modalService</a:t>
            </a:r>
            <a:r>
              <a:rPr lang="en-US"/>
              <a:t>.open(editModal);</a:t>
            </a:r>
          </a:p>
        </p:txBody>
      </p:sp>
    </p:spTree>
    <p:extLst>
      <p:ext uri="{BB962C8B-B14F-4D97-AF65-F5344CB8AC3E}">
        <p14:creationId xmlns:p14="http://schemas.microsoft.com/office/powerpoint/2010/main" val="1927891169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FC174-99D2-F3AB-DB62-CEBCFFE24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606251"/>
          </a:xfrm>
        </p:spPr>
        <p:txBody>
          <a:bodyPr>
            <a:normAutofit fontScale="90000"/>
          </a:bodyPr>
          <a:lstStyle/>
          <a:p>
            <a:r>
              <a:rPr lang="en-US" b="1"/>
              <a:t>Modal [cont.]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A839BE-DB0B-FB50-7B82-004098EEA9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726" y="606251"/>
            <a:ext cx="11749872" cy="6146241"/>
          </a:xfrm>
        </p:spPr>
        <p:txBody>
          <a:bodyPr/>
          <a:lstStyle/>
          <a:p>
            <a:r>
              <a:rPr lang="en-US">
                <a:effectLst/>
              </a:rPr>
              <a:t>import { </a:t>
            </a:r>
            <a:r>
              <a:rPr lang="en-US" b="1">
                <a:solidFill>
                  <a:srgbClr val="00B0F0"/>
                </a:solidFill>
                <a:effectLst/>
              </a:rPr>
              <a:t>NgbModal, NgbModal</a:t>
            </a:r>
            <a:r>
              <a:rPr lang="en-US">
                <a:effectLst/>
              </a:rPr>
              <a:t>, </a:t>
            </a:r>
            <a:r>
              <a:rPr lang="en-US" b="1">
                <a:solidFill>
                  <a:srgbClr val="00B0F0"/>
                </a:solidFill>
                <a:effectLst/>
              </a:rPr>
              <a:t>NgbModalRef</a:t>
            </a:r>
            <a:r>
              <a:rPr lang="en-US">
                <a:effectLst/>
              </a:rPr>
              <a:t> } from '@ng-bootstrap/ng-bootstrap';</a:t>
            </a:r>
          </a:p>
          <a:p>
            <a:r>
              <a:rPr lang="en-US">
                <a:effectLst/>
              </a:rPr>
              <a:t>Constructor ( private </a:t>
            </a:r>
            <a:r>
              <a:rPr lang="en-US" b="1">
                <a:solidFill>
                  <a:srgbClr val="FFFF00"/>
                </a:solidFill>
                <a:effectLst/>
              </a:rPr>
              <a:t>modalService</a:t>
            </a:r>
            <a:r>
              <a:rPr lang="en-US">
                <a:effectLst/>
              </a:rPr>
              <a:t>: </a:t>
            </a:r>
            <a:r>
              <a:rPr lang="en-US" b="1">
                <a:solidFill>
                  <a:srgbClr val="00B0F0"/>
                </a:solidFill>
                <a:effectLst/>
              </a:rPr>
              <a:t>NgbModal</a:t>
            </a:r>
            <a:r>
              <a:rPr lang="en-US">
                <a:effectLst/>
              </a:rPr>
              <a:t> ) {}</a:t>
            </a:r>
          </a:p>
          <a:p>
            <a:endParaRPr lang="en-US">
              <a:effectLst/>
            </a:endParaRPr>
          </a:p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FCB0A2-7966-0428-A902-B017AF9F74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401" y="1672894"/>
            <a:ext cx="8990247" cy="128257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33BD1F3-F05F-1A40-4FE9-DB94A34C7D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401" y="3131055"/>
            <a:ext cx="4310744" cy="1089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546887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05F32-0908-AE4A-42DB-A37AFD33E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120202"/>
            <a:ext cx="10353762" cy="1778558"/>
          </a:xfrm>
        </p:spPr>
        <p:txBody>
          <a:bodyPr>
            <a:normAutofit/>
          </a:bodyPr>
          <a:lstStyle/>
          <a:p>
            <a:r>
              <a:rPr lang="en-US" sz="4800" b="1">
                <a:solidFill>
                  <a:srgbClr val="FF0000"/>
                </a:solidFill>
              </a:rPr>
              <a:t>Start Angular Material </a:t>
            </a:r>
          </a:p>
        </p:txBody>
      </p:sp>
    </p:spTree>
    <p:extLst>
      <p:ext uri="{BB962C8B-B14F-4D97-AF65-F5344CB8AC3E}">
        <p14:creationId xmlns:p14="http://schemas.microsoft.com/office/powerpoint/2010/main" val="3626811731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0E7BC-D472-1FBC-B850-0F6CE4166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827314"/>
          </a:xfrm>
        </p:spPr>
        <p:txBody>
          <a:bodyPr/>
          <a:lstStyle/>
          <a:p>
            <a:r>
              <a:rPr lang="en-US"/>
              <a:t>Installation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4126CE-284C-2EF0-0815-366F73A647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32449"/>
            <a:ext cx="10353762" cy="4859270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FF0000"/>
                </a:solidFill>
              </a:rPr>
              <a:t>ng add @angular/material</a:t>
            </a:r>
          </a:p>
          <a:p>
            <a:r>
              <a:rPr lang="en-US">
                <a:latin typeface="+mj-lt"/>
                <a:ea typeface="+mj-ea"/>
              </a:rPr>
              <a:t>Choose a prebuilt theme name, or "custom" for a custom theme: Azure/Blue</a:t>
            </a:r>
          </a:p>
          <a:p>
            <a:r>
              <a:rPr lang="en-US">
                <a:latin typeface="+mj-lt"/>
                <a:ea typeface="+mj-ea"/>
              </a:rPr>
              <a:t>At angular.json </a:t>
            </a:r>
          </a:p>
          <a:p>
            <a:pPr lvl="1"/>
            <a:r>
              <a:rPr lang="en-US">
                <a:latin typeface="+mj-lt"/>
                <a:ea typeface="+mj-ea"/>
              </a:rPr>
              <a:t>At style : </a:t>
            </a:r>
            <a:r>
              <a:rPr lang="en-US">
                <a:effectLst/>
              </a:rPr>
              <a:t>"@angular/material/prebuilt-themes/azure-blue.css"</a:t>
            </a:r>
            <a:endParaRPr lang="en-US">
              <a:latin typeface="+mj-lt"/>
              <a:ea typeface="+mj-ea"/>
            </a:endParaRPr>
          </a:p>
          <a:p>
            <a:r>
              <a:rPr lang="en-US">
                <a:latin typeface="+mj-lt"/>
                <a:ea typeface="+mj-ea"/>
              </a:rPr>
              <a:t> </a:t>
            </a:r>
            <a:endParaRPr lang="en-US" sz="3600">
              <a:latin typeface="+mj-lt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834084368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6A21D-6DF8-A5B7-D472-3D5757185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014" y="1"/>
            <a:ext cx="11056543" cy="462224"/>
          </a:xfrm>
        </p:spPr>
        <p:txBody>
          <a:bodyPr>
            <a:normAutofit fontScale="90000"/>
          </a:bodyPr>
          <a:lstStyle/>
          <a:p>
            <a:r>
              <a:rPr lang="en-US" b="1">
                <a:solidFill>
                  <a:srgbClr val="FF0000"/>
                </a:solidFill>
                <a:effectLst/>
              </a:rPr>
              <a:t>mat-paginator</a:t>
            </a:r>
            <a:endParaRPr lang="en-US" b="1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EE85BD-0B8A-0C35-5AF5-C02BB1A536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436" y="462226"/>
            <a:ext cx="11917344" cy="6395774"/>
          </a:xfrm>
        </p:spPr>
        <p:txBody>
          <a:bodyPr>
            <a:normAutofit fontScale="85000" lnSpcReduction="20000"/>
          </a:bodyPr>
          <a:lstStyle/>
          <a:p>
            <a:r>
              <a:rPr lang="en-US">
                <a:effectLst/>
              </a:rPr>
              <a:t>  imports: [MatPaginatorModule],</a:t>
            </a:r>
          </a:p>
          <a:p>
            <a:endParaRPr lang="en-US">
              <a:effectLst/>
            </a:endParaRPr>
          </a:p>
          <a:p>
            <a:endParaRPr lang="en-US">
              <a:effectLst/>
            </a:endParaRPr>
          </a:p>
          <a:p>
            <a:endParaRPr lang="en-US">
              <a:effectLst/>
            </a:endParaRPr>
          </a:p>
          <a:p>
            <a:endParaRPr lang="en-US">
              <a:effectLst/>
            </a:endParaRPr>
          </a:p>
          <a:p>
            <a:pPr marL="36900" indent="0">
              <a:buNone/>
            </a:pPr>
            <a:endParaRPr lang="en-US">
              <a:effectLst/>
            </a:endParaRPr>
          </a:p>
          <a:p>
            <a:endParaRPr lang="en-US">
              <a:effectLst/>
            </a:endParaRPr>
          </a:p>
          <a:p>
            <a:endParaRPr lang="en-US">
              <a:effectLst/>
            </a:endParaRPr>
          </a:p>
          <a:p>
            <a:endParaRPr lang="en-US">
              <a:effectLst/>
            </a:endParaRPr>
          </a:p>
          <a:p>
            <a:r>
              <a:rPr lang="en-US">
                <a:effectLst/>
              </a:rPr>
              <a:t>(page) </a:t>
            </a:r>
          </a:p>
          <a:p>
            <a:pPr lvl="1"/>
            <a:r>
              <a:rPr lang="en-US" b="1">
                <a:effectLst/>
              </a:rPr>
              <a:t>MatPaginator.page: </a:t>
            </a:r>
            <a:r>
              <a:rPr lang="en-US" b="1">
                <a:solidFill>
                  <a:srgbClr val="00B0F0"/>
                </a:solidFill>
                <a:effectLst/>
              </a:rPr>
              <a:t>EventEmitter</a:t>
            </a:r>
            <a:r>
              <a:rPr lang="en-US" b="1">
                <a:effectLst/>
              </a:rPr>
              <a:t>&lt;</a:t>
            </a:r>
            <a:r>
              <a:rPr lang="en-US" b="1">
                <a:solidFill>
                  <a:srgbClr val="FFFF00"/>
                </a:solidFill>
                <a:effectLst/>
              </a:rPr>
              <a:t>PageEvent</a:t>
            </a:r>
            <a:r>
              <a:rPr lang="en-US" b="1">
                <a:effectLst/>
              </a:rPr>
              <a:t>&gt;</a:t>
            </a:r>
          </a:p>
          <a:p>
            <a:pPr lvl="1"/>
            <a:r>
              <a:rPr lang="en-US" b="1">
                <a:effectLst/>
              </a:rPr>
              <a:t>It wait a method that has </a:t>
            </a:r>
            <a:r>
              <a:rPr lang="en-US" b="1">
                <a:solidFill>
                  <a:srgbClr val="00B0F0"/>
                </a:solidFill>
                <a:effectLst/>
              </a:rPr>
              <a:t>PageEvent</a:t>
            </a:r>
            <a:r>
              <a:rPr lang="en-US" b="1">
                <a:effectLst/>
              </a:rPr>
              <a:t> as parameter</a:t>
            </a:r>
          </a:p>
          <a:p>
            <a:pPr lvl="1"/>
            <a:r>
              <a:rPr lang="en-US" b="1">
                <a:effectLst/>
              </a:rPr>
              <a:t>Event emitted when the paginator changes the </a:t>
            </a:r>
            <a:r>
              <a:rPr lang="en-US" b="1">
                <a:solidFill>
                  <a:srgbClr val="00B0F0"/>
                </a:solidFill>
                <a:effectLst/>
              </a:rPr>
              <a:t>page size</a:t>
            </a:r>
            <a:r>
              <a:rPr lang="en-US" b="1">
                <a:effectLst/>
              </a:rPr>
              <a:t> or </a:t>
            </a:r>
            <a:r>
              <a:rPr lang="en-US" b="1">
                <a:solidFill>
                  <a:srgbClr val="00B0F0"/>
                </a:solidFill>
                <a:effectLst/>
              </a:rPr>
              <a:t>page index</a:t>
            </a:r>
            <a:r>
              <a:rPr lang="en-US" b="1">
                <a:effectLst/>
              </a:rPr>
              <a:t>.</a:t>
            </a:r>
          </a:p>
          <a:p>
            <a:r>
              <a:rPr lang="en-US" b="1"/>
              <a:t>What PageEvent contains</a:t>
            </a:r>
          </a:p>
          <a:p>
            <a:pPr lvl="1"/>
            <a:r>
              <a:rPr lang="en-US" b="1">
                <a:solidFill>
                  <a:srgbClr val="FF0000"/>
                </a:solidFill>
              </a:rPr>
              <a:t>pageIndex</a:t>
            </a:r>
            <a:r>
              <a:rPr lang="en-US" b="1"/>
              <a:t>: number;</a:t>
            </a:r>
          </a:p>
          <a:p>
            <a:pPr lvl="1"/>
            <a:r>
              <a:rPr lang="en-US" b="1">
                <a:solidFill>
                  <a:srgbClr val="FF0000"/>
                </a:solidFill>
              </a:rPr>
              <a:t>previousPageIndex</a:t>
            </a:r>
            <a:r>
              <a:rPr lang="en-US" b="1"/>
              <a:t>?: number;</a:t>
            </a:r>
          </a:p>
          <a:p>
            <a:pPr lvl="1"/>
            <a:r>
              <a:rPr lang="en-US" b="1">
                <a:solidFill>
                  <a:srgbClr val="FF0000"/>
                </a:solidFill>
              </a:rPr>
              <a:t>pageSize</a:t>
            </a:r>
            <a:r>
              <a:rPr lang="en-US" b="1"/>
              <a:t>: number;</a:t>
            </a:r>
          </a:p>
          <a:p>
            <a:pPr lvl="1"/>
            <a:r>
              <a:rPr lang="en-US" b="1">
                <a:solidFill>
                  <a:srgbClr val="FF0000"/>
                </a:solidFill>
              </a:rPr>
              <a:t>length</a:t>
            </a:r>
            <a:r>
              <a:rPr lang="en-US" b="1"/>
              <a:t>: number;</a:t>
            </a:r>
            <a:br>
              <a:rPr lang="en-US" b="1">
                <a:effectLst/>
              </a:rPr>
            </a:br>
            <a:endParaRPr lang="en-US" b="1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20D9F5A-5887-5391-D285-66BAF23707C6}"/>
              </a:ext>
            </a:extLst>
          </p:cNvPr>
          <p:cNvSpPr/>
          <p:nvPr/>
        </p:nvSpPr>
        <p:spPr>
          <a:xfrm>
            <a:off x="170822" y="801356"/>
            <a:ext cx="5687368" cy="2567356"/>
          </a:xfrm>
          <a:prstGeom prst="rect">
            <a:avLst/>
          </a:prstGeom>
          <a:solidFill>
            <a:schemeClr val="tx2">
              <a:lumMod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solidFill>
                  <a:srgbClr val="FFC000"/>
                </a:solidFill>
              </a:rPr>
              <a:t>&lt;</a:t>
            </a:r>
            <a:r>
              <a:rPr lang="en-US" b="1">
                <a:solidFill>
                  <a:srgbClr val="FFC000"/>
                </a:solidFill>
              </a:rPr>
              <a:t>mat-paginator</a:t>
            </a:r>
          </a:p>
          <a:p>
            <a:r>
              <a:rPr lang="en-US"/>
              <a:t>            </a:t>
            </a:r>
            <a:r>
              <a:rPr lang="en-US">
                <a:solidFill>
                  <a:srgbClr val="00B0F0"/>
                </a:solidFill>
              </a:rPr>
              <a:t>[pageSizeOptions]</a:t>
            </a:r>
            <a:r>
              <a:rPr lang="en-US"/>
              <a:t>="[4,8,10,15]"</a:t>
            </a:r>
          </a:p>
          <a:p>
            <a:r>
              <a:rPr lang="en-US">
                <a:solidFill>
                  <a:srgbClr val="00B0F0"/>
                </a:solidFill>
              </a:rPr>
              <a:t>            [length]</a:t>
            </a:r>
            <a:r>
              <a:rPr lang="en-US"/>
              <a:t>="PaginationResult?.totalCount"</a:t>
            </a:r>
          </a:p>
          <a:p>
            <a:r>
              <a:rPr lang="en-US"/>
              <a:t>            </a:t>
            </a:r>
            <a:r>
              <a:rPr lang="en-US">
                <a:solidFill>
                  <a:srgbClr val="00B0F0"/>
                </a:solidFill>
              </a:rPr>
              <a:t>[pageSize]</a:t>
            </a:r>
            <a:r>
              <a:rPr lang="en-US"/>
              <a:t>="PaginationResult?.pageSize"</a:t>
            </a:r>
          </a:p>
          <a:p>
            <a:r>
              <a:rPr lang="en-US"/>
              <a:t>            </a:t>
            </a:r>
            <a:r>
              <a:rPr lang="en-US">
                <a:solidFill>
                  <a:srgbClr val="00B0F0"/>
                </a:solidFill>
              </a:rPr>
              <a:t>[pageIndex]</a:t>
            </a:r>
            <a:r>
              <a:rPr lang="en-US"/>
              <a:t>="PaginationResult?.currentPage! -1"</a:t>
            </a:r>
          </a:p>
          <a:p>
            <a:r>
              <a:rPr lang="en-US"/>
              <a:t>	    </a:t>
            </a:r>
            <a:r>
              <a:rPr lang="en-US">
                <a:solidFill>
                  <a:srgbClr val="00B0F0"/>
                </a:solidFill>
              </a:rPr>
              <a:t>[showFirstLastButtons]</a:t>
            </a:r>
            <a:r>
              <a:rPr lang="en-US"/>
              <a:t>="true"</a:t>
            </a:r>
          </a:p>
          <a:p>
            <a:r>
              <a:rPr lang="en-US"/>
              <a:t>            </a:t>
            </a:r>
            <a:r>
              <a:rPr lang="en-US" b="1">
                <a:solidFill>
                  <a:srgbClr val="00B0F0"/>
                </a:solidFill>
              </a:rPr>
              <a:t>(page)</a:t>
            </a:r>
            <a:r>
              <a:rPr lang="en-US"/>
              <a:t>="onPageChange</a:t>
            </a:r>
            <a:r>
              <a:rPr lang="en-US" b="1">
                <a:solidFill>
                  <a:srgbClr val="FFFF00"/>
                </a:solidFill>
              </a:rPr>
              <a:t>($event</a:t>
            </a:r>
            <a:r>
              <a:rPr lang="en-US"/>
              <a:t>)"&gt;</a:t>
            </a:r>
          </a:p>
          <a:p>
            <a:r>
              <a:rPr lang="en-US"/>
              <a:t> </a:t>
            </a:r>
            <a:r>
              <a:rPr lang="en-US" b="1">
                <a:solidFill>
                  <a:srgbClr val="FFC000"/>
                </a:solidFill>
              </a:rPr>
              <a:t>&lt;/mat-paginator&gt;</a:t>
            </a:r>
          </a:p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860A90-BE1A-F628-1F3F-C993BDBFAF6E}"/>
              </a:ext>
            </a:extLst>
          </p:cNvPr>
          <p:cNvSpPr/>
          <p:nvPr/>
        </p:nvSpPr>
        <p:spPr>
          <a:xfrm>
            <a:off x="5928531" y="811404"/>
            <a:ext cx="6173037" cy="2567356"/>
          </a:xfrm>
          <a:prstGeom prst="rect">
            <a:avLst/>
          </a:prstGeom>
          <a:solidFill>
            <a:schemeClr val="tx2">
              <a:lumMod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>
                <a:solidFill>
                  <a:srgbClr val="00B0F0"/>
                </a:solidFill>
              </a:rPr>
              <a:t>onPageChange</a:t>
            </a:r>
            <a:r>
              <a:rPr lang="en-US"/>
              <a:t>(</a:t>
            </a:r>
            <a:r>
              <a:rPr lang="en-US">
                <a:solidFill>
                  <a:srgbClr val="92D050"/>
                </a:solidFill>
              </a:rPr>
              <a:t>pageEvent</a:t>
            </a:r>
            <a:r>
              <a:rPr lang="en-US"/>
              <a:t>: </a:t>
            </a:r>
            <a:r>
              <a:rPr lang="en-US">
                <a:solidFill>
                  <a:srgbClr val="00B050"/>
                </a:solidFill>
              </a:rPr>
              <a:t>PageEvent</a:t>
            </a:r>
            <a:r>
              <a:rPr lang="en-US"/>
              <a:t>) {</a:t>
            </a:r>
          </a:p>
          <a:p>
            <a:r>
              <a:rPr lang="en-US"/>
              <a:t>    </a:t>
            </a:r>
            <a:r>
              <a:rPr lang="en-US">
                <a:solidFill>
                  <a:srgbClr val="00B0F0"/>
                </a:solidFill>
              </a:rPr>
              <a:t>this</a:t>
            </a:r>
            <a:r>
              <a:rPr lang="en-US"/>
              <a:t>.PageParam.PageNumber = pageEvent.</a:t>
            </a:r>
            <a:r>
              <a:rPr lang="en-US" b="1">
                <a:solidFill>
                  <a:srgbClr val="FF0000"/>
                </a:solidFill>
              </a:rPr>
              <a:t>pageIndex</a:t>
            </a:r>
            <a:r>
              <a:rPr lang="en-US"/>
              <a:t>+1;</a:t>
            </a:r>
          </a:p>
          <a:p>
            <a:r>
              <a:rPr lang="en-US"/>
              <a:t>    </a:t>
            </a:r>
            <a:r>
              <a:rPr lang="en-US">
                <a:solidFill>
                  <a:srgbClr val="00B0F0"/>
                </a:solidFill>
              </a:rPr>
              <a:t>this</a:t>
            </a:r>
            <a:r>
              <a:rPr lang="en-US"/>
              <a:t>.PageParam.PageSize = pageEvent.pageSize;</a:t>
            </a:r>
          </a:p>
          <a:p>
            <a:r>
              <a:rPr lang="en-US"/>
              <a:t>    </a:t>
            </a:r>
            <a:r>
              <a:rPr lang="en-US">
                <a:solidFill>
                  <a:srgbClr val="00B0F0"/>
                </a:solidFill>
              </a:rPr>
              <a:t>this</a:t>
            </a:r>
            <a:r>
              <a:rPr lang="en-US"/>
              <a:t>.</a:t>
            </a:r>
            <a:r>
              <a:rPr lang="en-US" b="1">
                <a:solidFill>
                  <a:srgbClr val="FFC000"/>
                </a:solidFill>
              </a:rPr>
              <a:t>GetPagedList</a:t>
            </a:r>
            <a:r>
              <a:rPr lang="en-US"/>
              <a:t>();</a:t>
            </a:r>
          </a:p>
          <a:p>
            <a:r>
              <a:rPr lang="en-US"/>
              <a:t>  }</a:t>
            </a:r>
          </a:p>
        </p:txBody>
      </p:sp>
    </p:spTree>
    <p:extLst>
      <p:ext uri="{BB962C8B-B14F-4D97-AF65-F5344CB8AC3E}">
        <p14:creationId xmlns:p14="http://schemas.microsoft.com/office/powerpoint/2010/main" val="3721040554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B6AEC-0EFE-A3C1-B982-F0A40451E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633046"/>
          </a:xfrm>
        </p:spPr>
        <p:txBody>
          <a:bodyPr>
            <a:normAutofit fontScale="90000"/>
          </a:bodyPr>
          <a:lstStyle/>
          <a:p>
            <a:r>
              <a:rPr lang="en-US" b="1">
                <a:effectLst/>
              </a:rPr>
              <a:t>&lt;mat-divider&gt;</a:t>
            </a:r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5C5A86-3E9B-A5CC-49E8-49BB71F6F2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1014" y="633047"/>
            <a:ext cx="11736475" cy="6129494"/>
          </a:xfrm>
        </p:spPr>
        <p:txBody>
          <a:bodyPr/>
          <a:lstStyle/>
          <a:p>
            <a:r>
              <a:rPr lang="en-US">
                <a:effectLst/>
              </a:rPr>
              <a:t>create a horizontal or vertical line styled with a Material theme</a:t>
            </a:r>
          </a:p>
          <a:p>
            <a:endParaRPr lang="en-US">
              <a:effectLst/>
            </a:endParaRPr>
          </a:p>
          <a:p>
            <a:r>
              <a:rPr lang="en-US" sz="1800" b="1">
                <a:effectLst/>
              </a:rPr>
              <a:t> &lt;mat-divider&gt;&lt;/mat-divider&gt;   // horizontal</a:t>
            </a:r>
            <a:endParaRPr lang="ar-EG" sz="1800" b="1">
              <a:effectLst/>
            </a:endParaRPr>
          </a:p>
          <a:p>
            <a:r>
              <a:rPr lang="en-US" sz="1800" b="1">
                <a:effectLst/>
              </a:rPr>
              <a:t>&lt;</a:t>
            </a:r>
            <a:r>
              <a:rPr lang="en-US" sz="1800" b="1">
                <a:solidFill>
                  <a:srgbClr val="00B0F0"/>
                </a:solidFill>
                <a:effectLst/>
              </a:rPr>
              <a:t>mat-divider</a:t>
            </a:r>
            <a:r>
              <a:rPr lang="en-US" sz="1800" b="1">
                <a:effectLst/>
              </a:rPr>
              <a:t> [vertical]="true"&gt;&lt;/</a:t>
            </a:r>
            <a:r>
              <a:rPr lang="en-US" sz="1800" b="1">
                <a:solidFill>
                  <a:srgbClr val="00B0F0"/>
                </a:solidFill>
                <a:effectLst/>
              </a:rPr>
              <a:t>mat-divider</a:t>
            </a:r>
            <a:r>
              <a:rPr lang="en-US" sz="1800" b="1">
                <a:effectLst/>
              </a:rPr>
              <a:t>&gt;</a:t>
            </a:r>
          </a:p>
          <a:p>
            <a:endParaRPr lang="en-US" sz="1800" b="1"/>
          </a:p>
        </p:txBody>
      </p:sp>
    </p:spTree>
    <p:extLst>
      <p:ext uri="{BB962C8B-B14F-4D97-AF65-F5344CB8AC3E}">
        <p14:creationId xmlns:p14="http://schemas.microsoft.com/office/powerpoint/2010/main" val="3094071463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FA434-D969-4DB6-BF4E-B2D7460E5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970450"/>
          </a:xfrm>
        </p:spPr>
        <p:txBody>
          <a:bodyPr>
            <a:normAutofit/>
          </a:bodyPr>
          <a:lstStyle/>
          <a:p>
            <a:r>
              <a:rPr lang="en-US">
                <a:effectLst/>
              </a:rPr>
              <a:t>mat-autocomplete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04C1E7-F5C0-DC7D-5482-55AE04A450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754776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BBE282-2490-D937-4CD4-B4E428EC2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F3CA2-43EE-9985-92D9-90B610EA7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120202"/>
            <a:ext cx="10353762" cy="1778558"/>
          </a:xfrm>
        </p:spPr>
        <p:txBody>
          <a:bodyPr>
            <a:normAutofit/>
          </a:bodyPr>
          <a:lstStyle/>
          <a:p>
            <a:r>
              <a:rPr lang="en-US" sz="4800" b="1">
                <a:solidFill>
                  <a:srgbClr val="FF0000"/>
                </a:solidFill>
              </a:rPr>
              <a:t>End Angular Material </a:t>
            </a:r>
          </a:p>
        </p:txBody>
      </p:sp>
    </p:spTree>
    <p:extLst>
      <p:ext uri="{BB962C8B-B14F-4D97-AF65-F5344CB8AC3E}">
        <p14:creationId xmlns:p14="http://schemas.microsoft.com/office/powerpoint/2010/main" val="1724169713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561F7-D13B-CC09-3AE9-BB94EDF5C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Febric.js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A35B0F-6B77-0DCD-5499-5A4FDADA63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214203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BD241-91BC-982E-E8D8-DA059E13C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544310"/>
          </a:xfrm>
        </p:spPr>
        <p:txBody>
          <a:bodyPr>
            <a:noAutofit/>
          </a:bodyPr>
          <a:lstStyle/>
          <a:p>
            <a:r>
              <a:rPr lang="en-US" sz="3200"/>
              <a:t>Layout [cont.]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0292FF-FB71-EABA-22C8-49723B52D0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544310"/>
            <a:ext cx="10353762" cy="5246891"/>
          </a:xfrm>
        </p:spPr>
        <p:txBody>
          <a:bodyPr/>
          <a:lstStyle/>
          <a:p>
            <a:r>
              <a:rPr lang="en-US"/>
              <a:t>Create sidebar component at components folder</a:t>
            </a:r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EC7977-8DB6-5D26-4E6F-029EB93135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8827"/>
            <a:ext cx="7332109" cy="38443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7B2557A-5613-A7A6-6167-C88E6497C3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2109" y="798004"/>
            <a:ext cx="4774377" cy="37522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5B8091C-F973-69E1-483C-A812643E42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0245" y="4813093"/>
            <a:ext cx="4158186" cy="1956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281297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DE403-0C1D-E280-07E7-84EDF9AC7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599"/>
            <a:ext cx="10353762" cy="5218445"/>
          </a:xfrm>
        </p:spPr>
        <p:txBody>
          <a:bodyPr>
            <a:normAutofit/>
          </a:bodyPr>
          <a:lstStyle/>
          <a:p>
            <a:r>
              <a:rPr lang="en-US" sz="4800" b="1">
                <a:solidFill>
                  <a:srgbClr val="FF0000"/>
                </a:solidFill>
              </a:rPr>
              <a:t>Start Localization</a:t>
            </a:r>
          </a:p>
        </p:txBody>
      </p:sp>
    </p:spTree>
    <p:extLst>
      <p:ext uri="{BB962C8B-B14F-4D97-AF65-F5344CB8AC3E}">
        <p14:creationId xmlns:p14="http://schemas.microsoft.com/office/powerpoint/2010/main" val="3979000692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71352-8B4F-82B1-BD5E-51061C21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582804"/>
          </a:xfrm>
        </p:spPr>
        <p:txBody>
          <a:bodyPr>
            <a:normAutofit fontScale="90000"/>
          </a:bodyPr>
          <a:lstStyle/>
          <a:p>
            <a:r>
              <a:rPr lang="en-US"/>
              <a:t>localization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9C0FAE-2D0B-57FF-F845-0AAF6D4871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837" y="582805"/>
            <a:ext cx="10885720" cy="6119446"/>
          </a:xfrm>
        </p:spPr>
        <p:txBody>
          <a:bodyPr/>
          <a:lstStyle/>
          <a:p>
            <a:r>
              <a:rPr lang="en-US"/>
              <a:t>Installation and configuration</a:t>
            </a:r>
          </a:p>
          <a:p>
            <a:endParaRPr lang="en-US"/>
          </a:p>
          <a:p>
            <a:r>
              <a:rPr lang="en-US"/>
              <a:t>npm install @ngx-translate/core @ngx-translate/http-loader</a:t>
            </a:r>
          </a:p>
          <a:p>
            <a:r>
              <a:rPr lang="en-US"/>
              <a:t>At </a:t>
            </a:r>
            <a:r>
              <a:rPr lang="en-US" b="1">
                <a:solidFill>
                  <a:srgbClr val="FFC000"/>
                </a:solidFill>
              </a:rPr>
              <a:t>app.config.ts</a:t>
            </a:r>
            <a:r>
              <a:rPr lang="en-US"/>
              <a:t> , </a:t>
            </a:r>
            <a:r>
              <a:rPr lang="en-US" b="1"/>
              <a:t>provider</a:t>
            </a:r>
          </a:p>
          <a:p>
            <a:pPr lvl="1"/>
            <a:r>
              <a:rPr lang="en-US" b="1">
                <a:effectLst/>
              </a:rPr>
              <a:t>provideTranslateHttpLoader({ prefix: './assets/Localization/', suffix: '.json' }),</a:t>
            </a:r>
          </a:p>
          <a:p>
            <a:pPr lvl="1"/>
            <a:r>
              <a:rPr lang="en-US" sz="1600" b="1">
                <a:effectLst/>
              </a:rPr>
              <a:t>provideTranslateService({</a:t>
            </a:r>
          </a:p>
          <a:p>
            <a:pPr marL="810000" lvl="2" indent="0">
              <a:buNone/>
            </a:pPr>
            <a:r>
              <a:rPr lang="en-US" b="1">
                <a:effectLst/>
              </a:rPr>
              <a:t>	</a:t>
            </a:r>
            <a:r>
              <a:rPr lang="en-US" b="1">
                <a:solidFill>
                  <a:srgbClr val="00B0F0"/>
                </a:solidFill>
                <a:effectLst/>
              </a:rPr>
              <a:t>fallbackLang</a:t>
            </a:r>
            <a:r>
              <a:rPr lang="en-US" b="1">
                <a:effectLst/>
              </a:rPr>
              <a:t>: 'ar’,</a:t>
            </a:r>
          </a:p>
          <a:p>
            <a:pPr marL="810000" lvl="2" indent="0">
              <a:buNone/>
            </a:pPr>
            <a:r>
              <a:rPr lang="en-US" b="1">
                <a:effectLst/>
              </a:rPr>
              <a:t>	</a:t>
            </a:r>
            <a:r>
              <a:rPr lang="en-US" b="1">
                <a:solidFill>
                  <a:srgbClr val="00B0F0"/>
                </a:solidFill>
                <a:effectLst/>
              </a:rPr>
              <a:t>loader</a:t>
            </a:r>
            <a:r>
              <a:rPr lang="en-US" b="1">
                <a:effectLst/>
              </a:rPr>
              <a:t>: {  provide: </a:t>
            </a:r>
            <a:r>
              <a:rPr lang="en-US" b="1">
                <a:solidFill>
                  <a:srgbClr val="FFFF00"/>
                </a:solidFill>
                <a:effectLst/>
              </a:rPr>
              <a:t>TranslateLoader</a:t>
            </a:r>
            <a:r>
              <a:rPr lang="en-US" b="1">
                <a:effectLst/>
              </a:rPr>
              <a:t> , </a:t>
            </a:r>
            <a:r>
              <a:rPr lang="en-US" b="1">
                <a:solidFill>
                  <a:srgbClr val="92D050"/>
                </a:solidFill>
                <a:effectLst/>
              </a:rPr>
              <a:t>useClass</a:t>
            </a:r>
            <a:r>
              <a:rPr lang="en-US" b="1">
                <a:effectLst/>
              </a:rPr>
              <a:t>: </a:t>
            </a:r>
            <a:r>
              <a:rPr lang="en-US" b="1">
                <a:solidFill>
                  <a:srgbClr val="92D050"/>
                </a:solidFill>
                <a:effectLst/>
              </a:rPr>
              <a:t>TranslateHttpLoader</a:t>
            </a:r>
            <a:r>
              <a:rPr lang="en-US" b="1">
                <a:effectLst/>
              </a:rPr>
              <a:t> }</a:t>
            </a:r>
          </a:p>
          <a:p>
            <a:pPr marL="810000" lvl="2" indent="0">
              <a:buNone/>
            </a:pPr>
            <a:r>
              <a:rPr lang="en-US" b="1">
                <a:effectLst/>
              </a:rPr>
              <a:t>})</a:t>
            </a:r>
          </a:p>
          <a:p>
            <a:pPr lvl="1"/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106798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A5C11-06CA-D8AB-FD07-606BB04EC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422031"/>
          </a:xfrm>
        </p:spPr>
        <p:txBody>
          <a:bodyPr>
            <a:normAutofit fontScale="90000"/>
          </a:bodyPr>
          <a:lstStyle/>
          <a:p>
            <a:r>
              <a:rPr lang="en-US">
                <a:effectLst/>
              </a:rPr>
              <a:t>LanguageService</a:t>
            </a:r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749EDB5-0CC4-7270-20D6-744A17ED26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512258"/>
            <a:ext cx="9611889" cy="2703006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5DB4C9F-B012-FAE7-80BB-EFCE87FD29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91" y="3285600"/>
            <a:ext cx="5695950" cy="30289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457DD2C-685A-7C2C-06D6-5F3D322580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934" y="3739110"/>
            <a:ext cx="4798826" cy="2121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550568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D5C2B-B9C6-C16E-D1CA-9E348E14F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552659"/>
          </a:xfrm>
        </p:spPr>
        <p:txBody>
          <a:bodyPr>
            <a:normAutofit fontScale="90000"/>
          </a:bodyPr>
          <a:lstStyle/>
          <a:p>
            <a:r>
              <a:rPr lang="en-US"/>
              <a:t>At App.Component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DA27E5-5EA1-1212-CF9E-2C078FEE0A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741" y="673240"/>
            <a:ext cx="10905816" cy="6069203"/>
          </a:xfrm>
        </p:spPr>
        <p:txBody>
          <a:bodyPr/>
          <a:lstStyle/>
          <a:p>
            <a:r>
              <a:rPr lang="en-US"/>
              <a:t>you must ensure LanguageService is instantiated during app startup</a:t>
            </a:r>
          </a:p>
          <a:p>
            <a:r>
              <a:rPr lang="en-US" b="1">
                <a:solidFill>
                  <a:srgbClr val="FFC000"/>
                </a:solidFill>
                <a:effectLst/>
              </a:rPr>
              <a:t>constructor</a:t>
            </a:r>
            <a:r>
              <a:rPr lang="en-US" b="1">
                <a:effectLst/>
              </a:rPr>
              <a:t>(</a:t>
            </a:r>
            <a:r>
              <a:rPr lang="en-US" b="1">
                <a:solidFill>
                  <a:srgbClr val="CC3399"/>
                </a:solidFill>
                <a:effectLst/>
              </a:rPr>
              <a:t>private</a:t>
            </a:r>
            <a:r>
              <a:rPr lang="en-US" b="1">
                <a:effectLst/>
              </a:rPr>
              <a:t> </a:t>
            </a:r>
            <a:r>
              <a:rPr lang="en-US" b="1">
                <a:solidFill>
                  <a:srgbClr val="FFFF00"/>
                </a:solidFill>
                <a:effectLst/>
              </a:rPr>
              <a:t>LanguageService</a:t>
            </a:r>
            <a:r>
              <a:rPr lang="en-US" b="1">
                <a:effectLst/>
              </a:rPr>
              <a:t>: LanguageService){}</a:t>
            </a:r>
          </a:p>
          <a:p>
            <a:pPr marL="36900" indent="0">
              <a:buNone/>
            </a:pPr>
            <a:r>
              <a:rPr lang="en-US">
                <a:effectLst/>
              </a:rPr>
              <a:t>Why : to call its constructor to get the last chosen lang</a:t>
            </a:r>
          </a:p>
          <a:p>
            <a:pPr marL="36900" indent="0">
              <a:buNone/>
            </a:pPr>
            <a:br>
              <a:rPr lang="en-US">
                <a:effectLst/>
              </a:rPr>
            </a:br>
            <a:endParaRPr lang="en-US">
              <a:effectLst/>
            </a:endParaRP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89147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A01B3-3CD4-46AC-8171-C2869D151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0"/>
            <a:ext cx="10353762" cy="686637"/>
          </a:xfrm>
        </p:spPr>
        <p:txBody>
          <a:bodyPr>
            <a:normAutofit fontScale="90000"/>
          </a:bodyPr>
          <a:lstStyle/>
          <a:p>
            <a:r>
              <a:rPr lang="en-US"/>
              <a:t>Usage At component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69D2F7A-3D97-7161-67DF-A871F50623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580" y="894302"/>
            <a:ext cx="11656088" cy="5963697"/>
          </a:xfrm>
        </p:spPr>
        <p:txBody>
          <a:bodyPr/>
          <a:lstStyle/>
          <a:p>
            <a:r>
              <a:rPr lang="en-US">
                <a:effectLst/>
              </a:rPr>
              <a:t>To change the lang in all app and vice versw</a:t>
            </a:r>
          </a:p>
        </p:txBody>
      </p:sp>
      <p:pic>
        <p:nvPicPr>
          <p:cNvPr id="10" name="Content Placeholder 4">
            <a:extLst>
              <a:ext uri="{FF2B5EF4-FFF2-40B4-BE49-F238E27FC236}">
                <a16:creationId xmlns:a16="http://schemas.microsoft.com/office/drawing/2014/main" id="{93DB0663-B853-8A1B-85EE-6F7B6B4265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897" y="1570595"/>
            <a:ext cx="6626409" cy="3113613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D458814-30B6-F40F-F367-E3E7B8526C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896" y="4883529"/>
            <a:ext cx="6626409" cy="887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477383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82016-9D4D-97FB-894C-AC6D20B0E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8BAC87-2A21-0C78-9BB9-60D4200C96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effectLst/>
              </a:rPr>
              <a:t>if you intend to use key from en.json or ar.json at component</a:t>
            </a:r>
            <a:endParaRPr lang="en-US"/>
          </a:p>
          <a:p>
            <a:pPr lvl="1"/>
            <a:r>
              <a:rPr lang="en-US" sz="2000"/>
              <a:t>.html</a:t>
            </a:r>
          </a:p>
          <a:p>
            <a:pPr lvl="2"/>
            <a:r>
              <a:rPr lang="en-US" sz="1800"/>
              <a:t>you need to import  </a:t>
            </a:r>
            <a:r>
              <a:rPr lang="en-US" sz="1800">
                <a:effectLst/>
              </a:rPr>
              <a:t>TranslatePipe</a:t>
            </a:r>
          </a:p>
          <a:p>
            <a:pPr lvl="2"/>
            <a:r>
              <a:rPr lang="en-US" sz="1800">
                <a:effectLst/>
              </a:rPr>
              <a:t>imports: [</a:t>
            </a:r>
            <a:r>
              <a:rPr lang="en-US" sz="1800" b="1">
                <a:solidFill>
                  <a:srgbClr val="FFFF00"/>
                </a:solidFill>
                <a:effectLst/>
              </a:rPr>
              <a:t>TranslatePipe</a:t>
            </a:r>
            <a:r>
              <a:rPr lang="en-US" sz="1800">
                <a:effectLst/>
              </a:rPr>
              <a:t>],</a:t>
            </a:r>
          </a:p>
          <a:p>
            <a:pPr lvl="2"/>
            <a:r>
              <a:rPr lang="en-US" sz="1800">
                <a:effectLst/>
              </a:rPr>
              <a:t>At html    &lt;label class="ms-2"&gt;{{"nameAr" | translate}}&lt;/label&gt;</a:t>
            </a:r>
          </a:p>
          <a:p>
            <a:pPr lvl="1"/>
            <a:r>
              <a:rPr lang="en-US"/>
              <a:t>ts</a:t>
            </a:r>
          </a:p>
          <a:p>
            <a:pPr lvl="2"/>
            <a:r>
              <a:rPr lang="en-US" sz="1800">
                <a:effectLst/>
              </a:rPr>
              <a:t>At ts : this.translate.use(lang);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20721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56245-A428-C239-B19C-583684394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7B0D9-6497-D7C5-3874-1849D510D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599"/>
            <a:ext cx="10353762" cy="5700765"/>
          </a:xfrm>
        </p:spPr>
        <p:txBody>
          <a:bodyPr>
            <a:normAutofit/>
          </a:bodyPr>
          <a:lstStyle/>
          <a:p>
            <a:r>
              <a:rPr lang="en-US" sz="4800" b="1">
                <a:solidFill>
                  <a:srgbClr val="FF0000"/>
                </a:solidFill>
              </a:rPr>
              <a:t>End Localization</a:t>
            </a:r>
          </a:p>
        </p:txBody>
      </p:sp>
    </p:spTree>
    <p:extLst>
      <p:ext uri="{BB962C8B-B14F-4D97-AF65-F5344CB8AC3E}">
        <p14:creationId xmlns:p14="http://schemas.microsoft.com/office/powerpoint/2010/main" val="867720948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800BA-09F5-CC31-4890-0431F9407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369277"/>
            <a:ext cx="10353762" cy="6119446"/>
          </a:xfrm>
        </p:spPr>
        <p:txBody>
          <a:bodyPr>
            <a:normAutofit/>
          </a:bodyPr>
          <a:lstStyle/>
          <a:p>
            <a:r>
              <a:rPr lang="en-US" sz="6000" b="1">
                <a:solidFill>
                  <a:srgbClr val="FF0000"/>
                </a:solidFill>
              </a:rPr>
              <a:t>Start interceptors</a:t>
            </a:r>
          </a:p>
        </p:txBody>
      </p:sp>
    </p:spTree>
    <p:extLst>
      <p:ext uri="{BB962C8B-B14F-4D97-AF65-F5344CB8AC3E}">
        <p14:creationId xmlns:p14="http://schemas.microsoft.com/office/powerpoint/2010/main" val="782010588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CBBCD-3318-4190-7632-572F67C37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648207"/>
          </a:xfrm>
        </p:spPr>
        <p:txBody>
          <a:bodyPr>
            <a:normAutofit fontScale="90000"/>
          </a:bodyPr>
          <a:lstStyle/>
          <a:p>
            <a:r>
              <a:rPr lang="en-US"/>
              <a:t>Creating interceptor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7B4862-CCB4-40A1-9075-223076C4D7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89890" y="763675"/>
            <a:ext cx="3989196" cy="6094325"/>
          </a:xfrm>
        </p:spPr>
        <p:txBody>
          <a:bodyPr/>
          <a:lstStyle/>
          <a:p>
            <a:r>
              <a:rPr lang="en-US"/>
              <a:t>For example we are going to implement interceptor that handle </a:t>
            </a:r>
            <a:r>
              <a:rPr lang="en-US">
                <a:effectLst/>
              </a:rPr>
              <a:t>HttpErrorResponse</a:t>
            </a:r>
          </a:p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06E01F-E87D-064C-964F-EE89F2301A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8208"/>
            <a:ext cx="8149213" cy="6209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272779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7A2D8-AEDE-CFCB-A4A7-B03E052ED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693336"/>
          </a:xfrm>
        </p:spPr>
        <p:txBody>
          <a:bodyPr>
            <a:normAutofit fontScale="90000"/>
          </a:bodyPr>
          <a:lstStyle/>
          <a:p>
            <a:r>
              <a:rPr lang="en-US"/>
              <a:t>Register the interceptor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7BA7A1-809F-19E0-8CA5-0D70065F38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918" y="693336"/>
            <a:ext cx="11927393" cy="5878285"/>
          </a:xfrm>
        </p:spPr>
        <p:txBody>
          <a:bodyPr/>
          <a:lstStyle/>
          <a:p>
            <a:r>
              <a:rPr lang="en-US">
                <a:effectLst/>
              </a:rPr>
              <a:t>{ </a:t>
            </a:r>
            <a:r>
              <a:rPr lang="en-US" b="1">
                <a:solidFill>
                  <a:srgbClr val="92D050"/>
                </a:solidFill>
                <a:effectLst/>
              </a:rPr>
              <a:t>provide</a:t>
            </a:r>
            <a:r>
              <a:rPr lang="en-US">
                <a:effectLst/>
              </a:rPr>
              <a:t>: HTTP_INTERCEPTORS, </a:t>
            </a:r>
            <a:r>
              <a:rPr lang="en-US" b="1">
                <a:solidFill>
                  <a:srgbClr val="92D050"/>
                </a:solidFill>
                <a:effectLst/>
              </a:rPr>
              <a:t>useClass</a:t>
            </a:r>
            <a:r>
              <a:rPr lang="en-US">
                <a:effectLst/>
              </a:rPr>
              <a:t>: HttpErrorInterceptor, </a:t>
            </a:r>
            <a:r>
              <a:rPr lang="en-US" b="1">
                <a:solidFill>
                  <a:srgbClr val="92D050"/>
                </a:solidFill>
                <a:effectLst/>
              </a:rPr>
              <a:t>multi</a:t>
            </a:r>
            <a:r>
              <a:rPr lang="en-US">
                <a:effectLst/>
              </a:rPr>
              <a:t>: true },</a:t>
            </a:r>
          </a:p>
          <a:p>
            <a:r>
              <a:rPr lang="en-US" b="1">
                <a:solidFill>
                  <a:srgbClr val="92D050"/>
                </a:solidFill>
                <a:effectLst/>
              </a:rPr>
              <a:t>provide</a:t>
            </a:r>
            <a:r>
              <a:rPr lang="en-US">
                <a:effectLst/>
              </a:rPr>
              <a:t>: HTTP_INTERCEPTORS</a:t>
            </a:r>
          </a:p>
          <a:p>
            <a:pPr lvl="1"/>
            <a:r>
              <a:rPr lang="en-US">
                <a:effectLst/>
              </a:rPr>
              <a:t>It means I register this to participate in HTTP interceptor pipeline</a:t>
            </a:r>
          </a:p>
          <a:p>
            <a:pPr lvl="1"/>
            <a:r>
              <a:rPr lang="en-US">
                <a:effectLst/>
              </a:rPr>
              <a:t>Angular later looks for everything registered under HTTP_INTERCEPTORS and builds the interceptor chain</a:t>
            </a:r>
          </a:p>
          <a:p>
            <a:r>
              <a:rPr lang="en-US" b="1">
                <a:solidFill>
                  <a:srgbClr val="92D050"/>
                </a:solidFill>
                <a:effectLst/>
              </a:rPr>
              <a:t>useClass</a:t>
            </a:r>
            <a:r>
              <a:rPr lang="en-US"/>
              <a:t>: </a:t>
            </a:r>
            <a:r>
              <a:rPr lang="en-US">
                <a:effectLst/>
              </a:rPr>
              <a:t>HttpErrorInterceptor</a:t>
            </a:r>
          </a:p>
          <a:p>
            <a:pPr lvl="1"/>
            <a:r>
              <a:rPr lang="en-US">
                <a:effectLst/>
              </a:rPr>
              <a:t>The class itself</a:t>
            </a:r>
          </a:p>
          <a:p>
            <a:r>
              <a:rPr lang="en-US" b="1">
                <a:solidFill>
                  <a:srgbClr val="92D050"/>
                </a:solidFill>
                <a:effectLst/>
              </a:rPr>
              <a:t>multi</a:t>
            </a:r>
            <a:r>
              <a:rPr lang="en-US">
                <a:effectLst/>
              </a:rPr>
              <a:t>: true</a:t>
            </a:r>
          </a:p>
          <a:p>
            <a:pPr lvl="1"/>
            <a:r>
              <a:rPr lang="en-US" b="1"/>
              <a:t>Withtout multi: true, angular would expect only one value for HTTP_INTERCEPTOR and every new registration will overwrite the previous one</a:t>
            </a:r>
          </a:p>
          <a:p>
            <a:pPr lvl="1"/>
            <a:r>
              <a:rPr lang="en-US" sz="1400" b="1">
                <a:effectLst/>
              </a:rPr>
              <a:t>{ </a:t>
            </a:r>
            <a:r>
              <a:rPr lang="en-US" sz="1400" b="1">
                <a:solidFill>
                  <a:srgbClr val="92D050"/>
                </a:solidFill>
                <a:effectLst/>
              </a:rPr>
              <a:t>provide</a:t>
            </a:r>
            <a:r>
              <a:rPr lang="en-US" sz="1400" b="1">
                <a:effectLst/>
              </a:rPr>
              <a:t>: HTTP_INTERCEPTORS, </a:t>
            </a:r>
            <a:r>
              <a:rPr lang="en-US" sz="1400" b="1">
                <a:solidFill>
                  <a:srgbClr val="92D050"/>
                </a:solidFill>
                <a:effectLst/>
              </a:rPr>
              <a:t>useClass</a:t>
            </a:r>
            <a:r>
              <a:rPr lang="en-US" sz="1400" b="1">
                <a:effectLst/>
              </a:rPr>
              <a:t>: HttpErrorInterceptor}, { </a:t>
            </a:r>
            <a:r>
              <a:rPr lang="en-US" sz="1400" b="1">
                <a:solidFill>
                  <a:srgbClr val="92D050"/>
                </a:solidFill>
                <a:effectLst/>
              </a:rPr>
              <a:t>provide</a:t>
            </a:r>
            <a:r>
              <a:rPr lang="en-US" sz="1400" b="1">
                <a:effectLst/>
              </a:rPr>
              <a:t>: HTTP_INTERCEPTORS, </a:t>
            </a:r>
            <a:r>
              <a:rPr lang="en-US" sz="1400" b="1">
                <a:solidFill>
                  <a:srgbClr val="92D050"/>
                </a:solidFill>
                <a:effectLst/>
              </a:rPr>
              <a:t>useClass</a:t>
            </a:r>
            <a:r>
              <a:rPr lang="en-US" sz="1400" b="1">
                <a:effectLst/>
              </a:rPr>
              <a:t>: AuthInterceptor},</a:t>
            </a:r>
          </a:p>
          <a:p>
            <a:pPr lvl="1"/>
            <a:r>
              <a:rPr lang="en-US" sz="1600" b="1">
                <a:effectLst/>
              </a:rPr>
              <a:t>INTERCEPTORS = AuthInterceptor // cause it is the last one</a:t>
            </a:r>
            <a:endParaRPr lang="en-US" sz="1600" b="1"/>
          </a:p>
          <a:p>
            <a:pPr lvl="1"/>
            <a:r>
              <a:rPr lang="en-US"/>
              <a:t>With multi: true, </a:t>
            </a:r>
            <a:r>
              <a:rPr lang="en-US" sz="1600" b="1">
                <a:solidFill>
                  <a:srgbClr val="FFFF00"/>
                </a:solidFill>
                <a:effectLst/>
              </a:rPr>
              <a:t>HTTP_INTERCEPTORS </a:t>
            </a:r>
            <a:r>
              <a:rPr lang="en-US" sz="1600" b="1">
                <a:effectLst/>
              </a:rPr>
              <a:t>= [</a:t>
            </a:r>
            <a:r>
              <a:rPr lang="en-US" sz="1600" b="1">
                <a:solidFill>
                  <a:srgbClr val="00B0F0"/>
                </a:solidFill>
                <a:effectLst/>
              </a:rPr>
              <a:t>AuthInterceptor</a:t>
            </a:r>
            <a:r>
              <a:rPr lang="en-US" sz="1600" b="1">
                <a:effectLst/>
              </a:rPr>
              <a:t>, </a:t>
            </a:r>
            <a:r>
              <a:rPr lang="en-US" b="1">
                <a:solidFill>
                  <a:srgbClr val="00B0F0"/>
                </a:solidFill>
                <a:effectLst/>
              </a:rPr>
              <a:t>HttpErrorInterceptor</a:t>
            </a:r>
            <a:r>
              <a:rPr lang="en-US" b="1">
                <a:effectLst/>
              </a:rPr>
              <a:t> ]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490335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89BD1-13B1-E2FD-B3E8-31B230F97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797169"/>
          </a:xfrm>
        </p:spPr>
        <p:txBody>
          <a:bodyPr/>
          <a:lstStyle/>
          <a:p>
            <a:r>
              <a:rPr lang="en-US"/>
              <a:t>Configuring HttpClient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C999D2-B706-4DA7-F3E6-0725523EB7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966" y="797169"/>
            <a:ext cx="11746523" cy="5945275"/>
          </a:xfrm>
        </p:spPr>
        <p:txBody>
          <a:bodyPr/>
          <a:lstStyle/>
          <a:p>
            <a:r>
              <a:rPr lang="en-US">
                <a:effectLst/>
              </a:rPr>
              <a:t>provideHttpClient(withFetch(), </a:t>
            </a:r>
            <a:r>
              <a:rPr lang="en-US" b="1">
                <a:solidFill>
                  <a:srgbClr val="00B0F0"/>
                </a:solidFill>
                <a:effectLst/>
              </a:rPr>
              <a:t>withInterceptorsFromDi()</a:t>
            </a:r>
            <a:r>
              <a:rPr lang="en-US">
                <a:effectLst/>
              </a:rPr>
              <a:t> )</a:t>
            </a:r>
          </a:p>
          <a:p>
            <a:r>
              <a:rPr lang="en-US" b="1">
                <a:solidFill>
                  <a:srgbClr val="00B0F0"/>
                </a:solidFill>
                <a:effectLst/>
              </a:rPr>
              <a:t>withInterceptorsFromDi()</a:t>
            </a:r>
          </a:p>
          <a:p>
            <a:pPr lvl="1"/>
            <a:r>
              <a:rPr lang="en-US" b="1"/>
              <a:t>look in DI container for anything registered under </a:t>
            </a:r>
            <a:r>
              <a:rPr lang="en-US" b="1">
                <a:solidFill>
                  <a:srgbClr val="00B0F0"/>
                </a:solidFill>
              </a:rPr>
              <a:t>HTTP_INTERCEPTORS and use those interceptors to build interceptors chain</a:t>
            </a:r>
          </a:p>
          <a:p>
            <a:r>
              <a:rPr lang="en-US" sz="1800" b="1"/>
              <a:t>HttpClient </a:t>
            </a:r>
            <a:r>
              <a:rPr lang="en-US" sz="1800" b="1">
                <a:sym typeface="Wingdings" panose="05000000000000000000" pitchFamily="2" charset="2"/>
              </a:rPr>
              <a:t></a:t>
            </a:r>
            <a:r>
              <a:rPr lang="en-US" sz="1800" b="1"/>
              <a:t> All registered interceptors </a:t>
            </a:r>
            <a:r>
              <a:rPr lang="en-US" sz="1800" b="1">
                <a:sym typeface="Wingdings" panose="05000000000000000000" pitchFamily="2" charset="2"/>
              </a:rPr>
              <a:t> Fetch Backend</a:t>
            </a:r>
            <a:endParaRPr lang="en-US" sz="1800" b="1"/>
          </a:p>
        </p:txBody>
      </p:sp>
    </p:spTree>
    <p:extLst>
      <p:ext uri="{BB962C8B-B14F-4D97-AF65-F5344CB8AC3E}">
        <p14:creationId xmlns:p14="http://schemas.microsoft.com/office/powerpoint/2010/main" val="176871073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1BF1E-FA0A-2C71-C2E4-141E87F59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5911780"/>
          </a:xfrm>
        </p:spPr>
        <p:txBody>
          <a:bodyPr>
            <a:normAutofit/>
          </a:bodyPr>
          <a:lstStyle/>
          <a:p>
            <a:r>
              <a:rPr lang="en-US" sz="4800" b="1">
                <a:solidFill>
                  <a:srgbClr val="FF0000"/>
                </a:solidFill>
              </a:rPr>
              <a:t>Start Pipes</a:t>
            </a:r>
          </a:p>
        </p:txBody>
      </p:sp>
    </p:spTree>
    <p:extLst>
      <p:ext uri="{BB962C8B-B14F-4D97-AF65-F5344CB8AC3E}">
        <p14:creationId xmlns:p14="http://schemas.microsoft.com/office/powerpoint/2010/main" val="1456316557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97944-3FB1-C1BB-018F-FF580C7CD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970450"/>
          </a:xfrm>
        </p:spPr>
        <p:txBody>
          <a:bodyPr/>
          <a:lstStyle/>
          <a:p>
            <a:r>
              <a:rPr lang="en-US"/>
              <a:t>pipes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8C0826-2045-F9BD-6023-17AFCF370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853" y="970450"/>
            <a:ext cx="10674704" cy="5761946"/>
          </a:xfrm>
        </p:spPr>
        <p:txBody>
          <a:bodyPr/>
          <a:lstStyle/>
          <a:p>
            <a:r>
              <a:rPr lang="en-US"/>
              <a:t>applied on </a:t>
            </a:r>
            <a:r>
              <a:rPr lang="en-US" b="1">
                <a:solidFill>
                  <a:srgbClr val="FF0000"/>
                </a:solidFill>
              </a:rPr>
              <a:t>value</a:t>
            </a:r>
            <a:r>
              <a:rPr lang="en-US"/>
              <a:t> while directive applied on </a:t>
            </a:r>
            <a:r>
              <a:rPr lang="en-US" b="1">
                <a:solidFill>
                  <a:srgbClr val="FF0000"/>
                </a:solidFill>
              </a:rPr>
              <a:t>elements</a:t>
            </a:r>
          </a:p>
          <a:p>
            <a:r>
              <a:rPr lang="en-US"/>
              <a:t>used to display (transform) value in a desired format</a:t>
            </a:r>
          </a:p>
          <a:p>
            <a:endParaRPr lang="en-US"/>
          </a:p>
          <a:p>
            <a:r>
              <a:rPr lang="en-US" b="1">
                <a:solidFill>
                  <a:srgbClr val="FF0000"/>
                </a:solidFill>
              </a:rPr>
              <a:t>async</a:t>
            </a:r>
            <a:r>
              <a:rPr lang="en-US"/>
              <a:t> : subscribe to an Observable or Promise and display its latest value.</a:t>
            </a:r>
          </a:p>
          <a:p>
            <a:r>
              <a:rPr lang="en-US"/>
              <a:t>uppercase</a:t>
            </a:r>
          </a:p>
          <a:p>
            <a:r>
              <a:rPr lang="en-US"/>
              <a:t>lowercase</a:t>
            </a:r>
          </a:p>
          <a:p>
            <a:r>
              <a:rPr lang="en-US"/>
              <a:t>titlecase: [ pascal case ]</a:t>
            </a:r>
          </a:p>
          <a:p>
            <a:r>
              <a:rPr lang="en-US"/>
              <a:t>date</a:t>
            </a:r>
          </a:p>
          <a:p>
            <a:pPr lvl="1"/>
            <a:r>
              <a:rPr lang="en-US"/>
              <a:t>{{ today | date }} // Jun 12, 2026</a:t>
            </a:r>
          </a:p>
          <a:p>
            <a:pPr lvl="1"/>
            <a:r>
              <a:rPr lang="en-US"/>
              <a:t>{{ today | date:'dd/MM/yyyy’ }} // 12/06/2026</a:t>
            </a:r>
          </a:p>
          <a:p>
            <a:r>
              <a:rPr lang="en-US"/>
              <a:t>json</a:t>
            </a:r>
          </a:p>
          <a:p>
            <a:endParaRPr lang="en-US"/>
          </a:p>
          <a:p>
            <a:pPr lvl="1"/>
            <a:endParaRPr lang="en-US"/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303979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8072E-1875-9970-D7A2-E0658BDA1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E6684-90B7-F69D-FB0E-AFD6E9AE9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5911780"/>
          </a:xfrm>
        </p:spPr>
        <p:txBody>
          <a:bodyPr>
            <a:normAutofit/>
          </a:bodyPr>
          <a:lstStyle/>
          <a:p>
            <a:r>
              <a:rPr lang="en-US" sz="4800" b="1">
                <a:solidFill>
                  <a:srgbClr val="FF0000"/>
                </a:solidFill>
              </a:rPr>
              <a:t>End Pipes</a:t>
            </a:r>
          </a:p>
        </p:txBody>
      </p:sp>
    </p:spTree>
    <p:extLst>
      <p:ext uri="{BB962C8B-B14F-4D97-AF65-F5344CB8AC3E}">
        <p14:creationId xmlns:p14="http://schemas.microsoft.com/office/powerpoint/2010/main" val="4387557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89004-FEC8-579F-7143-8FA9BC133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5DEDE-A2B9-94BC-6B7B-DAD9C5548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369277"/>
            <a:ext cx="10353762" cy="6119446"/>
          </a:xfrm>
        </p:spPr>
        <p:txBody>
          <a:bodyPr>
            <a:normAutofit/>
          </a:bodyPr>
          <a:lstStyle/>
          <a:p>
            <a:r>
              <a:rPr lang="en-US" sz="6000" b="1">
                <a:solidFill>
                  <a:srgbClr val="FF0000"/>
                </a:solidFill>
              </a:rPr>
              <a:t>End interceptors</a:t>
            </a:r>
          </a:p>
        </p:txBody>
      </p:sp>
    </p:spTree>
    <p:extLst>
      <p:ext uri="{BB962C8B-B14F-4D97-AF65-F5344CB8AC3E}">
        <p14:creationId xmlns:p14="http://schemas.microsoft.com/office/powerpoint/2010/main" val="4284460061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37ED4-E69D-F586-0742-5D562697F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231922"/>
            <a:ext cx="10353762" cy="1837659"/>
          </a:xfrm>
        </p:spPr>
        <p:txBody>
          <a:bodyPr>
            <a:normAutofit/>
          </a:bodyPr>
          <a:lstStyle/>
          <a:p>
            <a:r>
              <a:rPr lang="en-US" sz="6000" b="1">
                <a:solidFill>
                  <a:srgbClr val="FF0000"/>
                </a:solidFill>
              </a:rPr>
              <a:t>Type Script</a:t>
            </a:r>
          </a:p>
        </p:txBody>
      </p:sp>
    </p:spTree>
    <p:extLst>
      <p:ext uri="{BB962C8B-B14F-4D97-AF65-F5344CB8AC3E}">
        <p14:creationId xmlns:p14="http://schemas.microsoft.com/office/powerpoint/2010/main" val="385122793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3D029-E978-AEE8-ED75-7E72EB0D8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763675"/>
          </a:xfrm>
        </p:spPr>
        <p:txBody>
          <a:bodyPr/>
          <a:lstStyle/>
          <a:p>
            <a:r>
              <a:rPr lang="en-US" b="1">
                <a:solidFill>
                  <a:srgbClr val="FF0000"/>
                </a:solidFill>
              </a:rPr>
              <a:t>Optional chaining</a:t>
            </a:r>
            <a:r>
              <a:rPr lang="en-US"/>
              <a:t> [ ?.]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492802-FC35-F4E0-D620-E17D28D3B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886" y="763675"/>
            <a:ext cx="11535507" cy="5767754"/>
          </a:xfrm>
        </p:spPr>
        <p:txBody>
          <a:bodyPr/>
          <a:lstStyle/>
          <a:p>
            <a:r>
              <a:rPr lang="en-US"/>
              <a:t>It is only allowed when reading values not writing </a:t>
            </a:r>
          </a:p>
          <a:p>
            <a:r>
              <a:rPr lang="en-US"/>
              <a:t>this.PageParam?.PageNumber = 55; // XXX cause it can not be used when assigning values</a:t>
            </a:r>
          </a:p>
          <a:p>
            <a:r>
              <a:rPr lang="en-US"/>
              <a:t>The three correct usages </a:t>
            </a:r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FEDDBD-1B9A-9654-8F21-4758DF5DE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87505"/>
            <a:ext cx="4152900" cy="27241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D74F759-61FA-94A2-10A8-DDDC6B11E7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764" y="2254180"/>
            <a:ext cx="3048000" cy="2590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B1FFB5B-E965-FCF6-3DF7-A4F9BCAE83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8629" y="2275480"/>
            <a:ext cx="4582690" cy="2307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047436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E2E32-EFED-F35A-9424-023F63E70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!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0DBD8A-04CE-0168-E84D-334290C80D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called the </a:t>
            </a:r>
            <a:r>
              <a:rPr lang="en-US" b="1">
                <a:effectLst/>
              </a:rPr>
              <a:t>definite assignment assertion operator</a:t>
            </a:r>
          </a:p>
          <a:p>
            <a:r>
              <a:rPr lang="en-US"/>
              <a:t>It tells the compiler "I promise this variable will be assigned a value later, so stop showing an uninitialized error</a:t>
            </a:r>
          </a:p>
          <a:p>
            <a:r>
              <a:rPr lang="en-US"/>
              <a:t>When </a:t>
            </a:r>
            <a:r>
              <a:rPr lang="en-US" b="1">
                <a:effectLst/>
              </a:rPr>
              <a:t>Strict Mode</a:t>
            </a:r>
            <a:r>
              <a:rPr lang="en-US"/>
              <a:t> is enabled in TypeScript, you must initialize every variable or property you declare.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16543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B01CF-F2C3-BCAB-6B52-1559107BB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783771"/>
          </a:xfrm>
        </p:spPr>
        <p:txBody>
          <a:bodyPr/>
          <a:lstStyle/>
          <a:p>
            <a:r>
              <a:rPr lang="en-US" b="1">
                <a:effectLst/>
              </a:rPr>
              <a:t>index signature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DFDD6B-65AC-C08E-4B0D-A178769FFA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1304" y="954593"/>
            <a:ext cx="11736476" cy="5305530"/>
          </a:xfrm>
        </p:spPr>
        <p:txBody>
          <a:bodyPr/>
          <a:lstStyle/>
          <a:p>
            <a:r>
              <a:rPr lang="en-US">
                <a:effectLst/>
              </a:rPr>
              <a:t>let </a:t>
            </a:r>
            <a:r>
              <a:rPr lang="en-US" b="1">
                <a:solidFill>
                  <a:srgbClr val="FF0000"/>
                </a:solidFill>
                <a:effectLst/>
              </a:rPr>
              <a:t>myDynamicObject</a:t>
            </a:r>
            <a:r>
              <a:rPr lang="en-US">
                <a:effectLst/>
              </a:rPr>
              <a:t>: { [key: string]: any } = {};</a:t>
            </a:r>
          </a:p>
          <a:p>
            <a:pPr lvl="1"/>
            <a:r>
              <a:rPr lang="en-US" i="1">
                <a:effectLst/>
              </a:rPr>
              <a:t> </a:t>
            </a:r>
            <a:r>
              <a:rPr lang="en-US" sz="2000" i="1">
                <a:effectLst/>
              </a:rPr>
              <a:t>Declares that 'myDynamicObject' can have any string key, with any value type</a:t>
            </a:r>
            <a:endParaRPr lang="en-US">
              <a:effectLst/>
            </a:endParaRPr>
          </a:p>
          <a:p>
            <a:pPr lvl="1"/>
            <a:endParaRPr lang="en-US">
              <a:effectLst/>
            </a:endParaRPr>
          </a:p>
          <a:p>
            <a:r>
              <a:rPr lang="en-US" i="1">
                <a:effectLst/>
              </a:rPr>
              <a:t>// Valid assignments (TypeScript will not complain):</a:t>
            </a:r>
            <a:endParaRPr lang="en-US">
              <a:effectLst/>
            </a:endParaRPr>
          </a:p>
          <a:p>
            <a:r>
              <a:rPr lang="en-US">
                <a:effectLst/>
              </a:rPr>
              <a:t>myDynamicObject["name"] = "Alice";      </a:t>
            </a:r>
            <a:r>
              <a:rPr lang="en-US" i="1">
                <a:effectLst/>
              </a:rPr>
              <a:t>// string value</a:t>
            </a:r>
            <a:endParaRPr lang="en-US">
              <a:effectLst/>
            </a:endParaRPr>
          </a:p>
          <a:p>
            <a:r>
              <a:rPr lang="en-US">
                <a:effectLst/>
              </a:rPr>
              <a:t>myDynamicObject.age = 42;               </a:t>
            </a:r>
            <a:r>
              <a:rPr lang="en-US" i="1">
                <a:effectLst/>
              </a:rPr>
              <a:t>// number value (dot notation works too)</a:t>
            </a:r>
            <a:endParaRPr lang="en-US">
              <a:effectLst/>
            </a:endParaRPr>
          </a:p>
          <a:p>
            <a:r>
              <a:rPr lang="en-US">
                <a:effectLst/>
              </a:rPr>
              <a:t>myDynamicObject["isActive"] = true;     </a:t>
            </a:r>
            <a:r>
              <a:rPr lang="en-US" i="1">
                <a:effectLst/>
              </a:rPr>
              <a:t>// boolean value</a:t>
            </a:r>
            <a:endParaRPr lang="en-US">
              <a:effectLst/>
            </a:endParaRPr>
          </a:p>
          <a:p>
            <a:r>
              <a:rPr lang="en-US">
                <a:effectLst/>
              </a:rPr>
              <a:t>myDynamicObject.nested = { prop: "hello" }; </a:t>
            </a:r>
            <a:r>
              <a:rPr lang="en-US" i="1">
                <a:effectLst/>
              </a:rPr>
              <a:t>// object value</a:t>
            </a:r>
            <a:endParaRPr lang="en-US">
              <a:effectLst/>
            </a:endParaRP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680933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C9F86-545D-49F3-6A31-47F4A3072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0"/>
            <a:ext cx="10353762" cy="616299"/>
          </a:xfrm>
        </p:spPr>
        <p:txBody>
          <a:bodyPr>
            <a:normAutofit fontScale="90000"/>
          </a:bodyPr>
          <a:lstStyle/>
          <a:p>
            <a:r>
              <a:rPr lang="en-US" b="1">
                <a:solidFill>
                  <a:srgbClr val="FF0000"/>
                </a:solidFill>
              </a:rPr>
              <a:t>as keyword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7C24E1-51C5-F241-16A7-5AD8ED504D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16299"/>
            <a:ext cx="11977635" cy="5965371"/>
          </a:xfrm>
        </p:spPr>
        <p:txBody>
          <a:bodyPr/>
          <a:lstStyle/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te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B8FA743-37B4-8F99-0722-B40B7C083BCD}"/>
              </a:ext>
            </a:extLst>
          </p:cNvPr>
          <p:cNvSpPr/>
          <p:nvPr/>
        </p:nvSpPr>
        <p:spPr>
          <a:xfrm>
            <a:off x="214365" y="787121"/>
            <a:ext cx="4707958" cy="4046136"/>
          </a:xfrm>
          <a:prstGeom prst="rect">
            <a:avLst/>
          </a:prstGeom>
          <a:solidFill>
            <a:schemeClr val="tx2">
              <a:lumMod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>
                <a:solidFill>
                  <a:srgbClr val="CC3399"/>
                </a:solidFill>
              </a:rPr>
              <a:t>interface</a:t>
            </a:r>
            <a:r>
              <a:rPr lang="en-US"/>
              <a:t> </a:t>
            </a:r>
            <a:r>
              <a:rPr lang="en-US">
                <a:solidFill>
                  <a:srgbClr val="0070C0"/>
                </a:solidFill>
              </a:rPr>
              <a:t>A</a:t>
            </a:r>
            <a:r>
              <a:rPr lang="en-US"/>
              <a:t> {</a:t>
            </a:r>
            <a:br>
              <a:rPr lang="en-US"/>
            </a:br>
            <a:r>
              <a:rPr lang="en-US"/>
              <a:t>	x: </a:t>
            </a:r>
            <a:r>
              <a:rPr lang="en-US">
                <a:solidFill>
                  <a:srgbClr val="0070C0"/>
                </a:solidFill>
              </a:rPr>
              <a:t>number</a:t>
            </a:r>
            <a:r>
              <a:rPr lang="en-US"/>
              <a:t>;</a:t>
            </a:r>
            <a:br>
              <a:rPr lang="en-US"/>
            </a:br>
            <a:r>
              <a:rPr lang="en-US"/>
              <a:t>}</a:t>
            </a:r>
            <a:br>
              <a:rPr lang="en-US"/>
            </a:br>
            <a:br>
              <a:rPr lang="en-US"/>
            </a:br>
            <a:r>
              <a:rPr lang="en-US" b="1">
                <a:solidFill>
                  <a:srgbClr val="CC3399"/>
                </a:solidFill>
              </a:rPr>
              <a:t>const</a:t>
            </a:r>
            <a:r>
              <a:rPr lang="en-US"/>
              <a:t> obj = {</a:t>
            </a:r>
            <a:br>
              <a:rPr lang="en-US"/>
            </a:br>
            <a:r>
              <a:rPr lang="en-US"/>
              <a:t>	x: 10,</a:t>
            </a:r>
            <a:br>
              <a:rPr lang="en-US"/>
            </a:br>
            <a:r>
              <a:rPr lang="en-US"/>
              <a:t>	y: 20</a:t>
            </a:r>
            <a:br>
              <a:rPr lang="en-US"/>
            </a:br>
            <a:r>
              <a:rPr lang="en-US"/>
              <a:t>};</a:t>
            </a:r>
            <a:br>
              <a:rPr lang="en-US"/>
            </a:br>
            <a:br>
              <a:rPr lang="en-US"/>
            </a:br>
            <a:r>
              <a:rPr lang="en-US" sz="2000"/>
              <a:t>const </a:t>
            </a:r>
            <a:r>
              <a:rPr lang="en-US" sz="2000">
                <a:solidFill>
                  <a:srgbClr val="FFFF00"/>
                </a:solidFill>
              </a:rPr>
              <a:t>test</a:t>
            </a:r>
            <a:r>
              <a:rPr lang="en-US" sz="2000"/>
              <a:t>: A = obj;</a:t>
            </a:r>
          </a:p>
          <a:p>
            <a:endParaRPr lang="en-US" sz="2000"/>
          </a:p>
          <a:p>
            <a:r>
              <a:rPr lang="en-US"/>
              <a:t>Valid : because --- ✔ x exists , ✔ y is ignored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DBF93D0-7E4C-C93F-D9E6-8F761035A0DC}"/>
              </a:ext>
            </a:extLst>
          </p:cNvPr>
          <p:cNvSpPr/>
          <p:nvPr/>
        </p:nvSpPr>
        <p:spPr>
          <a:xfrm>
            <a:off x="5742632" y="787121"/>
            <a:ext cx="5963697" cy="4046136"/>
          </a:xfrm>
          <a:prstGeom prst="rect">
            <a:avLst/>
          </a:prstGeom>
          <a:solidFill>
            <a:schemeClr val="tx2">
              <a:lumMod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>
                <a:solidFill>
                  <a:srgbClr val="CC3399"/>
                </a:solidFill>
              </a:rPr>
              <a:t>interface</a:t>
            </a:r>
            <a:r>
              <a:rPr lang="en-US"/>
              <a:t> </a:t>
            </a:r>
            <a:r>
              <a:rPr lang="en-US" b="1">
                <a:solidFill>
                  <a:srgbClr val="FFFF00"/>
                </a:solidFill>
              </a:rPr>
              <a:t>User</a:t>
            </a:r>
            <a:r>
              <a:rPr lang="en-US"/>
              <a:t> {</a:t>
            </a:r>
            <a:br>
              <a:rPr lang="en-US"/>
            </a:br>
            <a:r>
              <a:rPr lang="en-US"/>
              <a:t>	name: </a:t>
            </a:r>
            <a:r>
              <a:rPr lang="en-US">
                <a:solidFill>
                  <a:srgbClr val="0070C0"/>
                </a:solidFill>
              </a:rPr>
              <a:t>string</a:t>
            </a:r>
            <a:r>
              <a:rPr lang="en-US"/>
              <a:t>;</a:t>
            </a:r>
            <a:br>
              <a:rPr lang="en-US"/>
            </a:br>
            <a:r>
              <a:rPr lang="en-US"/>
              <a:t>}</a:t>
            </a:r>
            <a:br>
              <a:rPr lang="en-US"/>
            </a:br>
            <a:br>
              <a:rPr lang="en-US"/>
            </a:br>
            <a:r>
              <a:rPr lang="en-US" b="1">
                <a:solidFill>
                  <a:srgbClr val="CC3399"/>
                </a:solidFill>
              </a:rPr>
              <a:t>const</a:t>
            </a:r>
            <a:r>
              <a:rPr lang="en-US"/>
              <a:t> obj = {</a:t>
            </a:r>
            <a:br>
              <a:rPr lang="en-US"/>
            </a:br>
            <a:r>
              <a:rPr lang="en-US"/>
              <a:t>	age: 10,</a:t>
            </a:r>
            <a:br>
              <a:rPr lang="en-US"/>
            </a:br>
            <a:r>
              <a:rPr lang="en-US"/>
              <a:t>};</a:t>
            </a:r>
            <a:br>
              <a:rPr lang="en-US"/>
            </a:br>
            <a:br>
              <a:rPr lang="en-US"/>
            </a:br>
            <a:r>
              <a:rPr lang="pt-BR"/>
              <a:t>const user = obj as User;</a:t>
            </a:r>
          </a:p>
          <a:p>
            <a:endParaRPr lang="en-US" sz="2000"/>
          </a:p>
          <a:p>
            <a:r>
              <a:rPr lang="en-US"/>
              <a:t>TypeScript </a:t>
            </a:r>
            <a:r>
              <a:rPr lang="en-US" b="1"/>
              <a:t>will accept it</a:t>
            </a:r>
            <a:r>
              <a:rPr lang="en-US"/>
              <a:t>, even though: name is missing</a:t>
            </a:r>
          </a:p>
          <a:p>
            <a:endParaRPr lang="en-US"/>
          </a:p>
          <a:p>
            <a:r>
              <a:rPr lang="en-US"/>
              <a:t>At runtime -- </a:t>
            </a:r>
            <a:r>
              <a:rPr lang="en-US" b="1">
                <a:solidFill>
                  <a:srgbClr val="FFC000"/>
                </a:solidFill>
              </a:rPr>
              <a:t>user</a:t>
            </a:r>
            <a:r>
              <a:rPr lang="en-US"/>
              <a:t>.</a:t>
            </a:r>
            <a:r>
              <a:rPr lang="en-US">
                <a:solidFill>
                  <a:srgbClr val="0070C0"/>
                </a:solidFill>
              </a:rPr>
              <a:t>name</a:t>
            </a:r>
            <a:r>
              <a:rPr lang="en-US"/>
              <a:t> // undefined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373733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E4143-5E81-0203-196C-C47EDA654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633046"/>
          </a:xfrm>
        </p:spPr>
        <p:txBody>
          <a:bodyPr>
            <a:normAutofit fontScale="90000"/>
          </a:bodyPr>
          <a:lstStyle/>
          <a:p>
            <a:r>
              <a:rPr lang="en-US" b="1">
                <a:solidFill>
                  <a:srgbClr val="FF0000"/>
                </a:solidFill>
              </a:rPr>
              <a:t>type narrowing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547C57-EF2D-D4A6-79ED-DD112F1B6B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160" y="633047"/>
            <a:ext cx="11676185" cy="5978768"/>
          </a:xfrm>
        </p:spPr>
        <p:txBody>
          <a:bodyPr/>
          <a:lstStyle/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“Does the object </a:t>
            </a:r>
            <a:r>
              <a:rPr lang="en-US" b="1">
                <a:solidFill>
                  <a:srgbClr val="FFFF00"/>
                </a:solidFill>
              </a:rPr>
              <a:t>obj</a:t>
            </a:r>
            <a:r>
              <a:rPr lang="en-US"/>
              <a:t> have a property called success?”</a:t>
            </a:r>
          </a:p>
          <a:p>
            <a:r>
              <a:rPr lang="en-US"/>
              <a:t>It </a:t>
            </a:r>
            <a:r>
              <a:rPr lang="en-US" b="1">
                <a:solidFill>
                  <a:srgbClr val="FFFF00"/>
                </a:solidFill>
              </a:rPr>
              <a:t>narrows</a:t>
            </a:r>
            <a:r>
              <a:rPr lang="en-US"/>
              <a:t> the type of obj inside the if to </a:t>
            </a:r>
            <a:r>
              <a:rPr lang="en-US" b="1">
                <a:solidFill>
                  <a:srgbClr val="FF0000"/>
                </a:solidFill>
              </a:rPr>
              <a:t>OperationResult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BD6816-42FB-B937-0106-E925BFCFBC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0574" y="633046"/>
            <a:ext cx="3416772" cy="30279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67DD9A0-A769-4559-AAE4-0389121239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159" y="2813538"/>
            <a:ext cx="4046137" cy="105397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4048B71-F5DC-EBAA-B266-AE48F6AAF6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159" y="964641"/>
            <a:ext cx="4411228" cy="1392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078428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81DC5-E2E2-5620-813E-13F7DD0D7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279" y="0"/>
            <a:ext cx="10353762" cy="773723"/>
          </a:xfrm>
        </p:spPr>
        <p:txBody>
          <a:bodyPr/>
          <a:lstStyle/>
          <a:p>
            <a:r>
              <a:rPr lang="en-US" b="1"/>
              <a:t>Find()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B29F50-1031-1E4A-3D73-456E21CC5D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725" y="773723"/>
            <a:ext cx="11857055" cy="5888334"/>
          </a:xfrm>
        </p:spPr>
        <p:txBody>
          <a:bodyPr/>
          <a:lstStyle/>
          <a:p>
            <a:r>
              <a:rPr lang="en-US"/>
              <a:t>find(...) returns a </a:t>
            </a:r>
            <a:r>
              <a:rPr lang="en-US" b="1"/>
              <a:t>reference</a:t>
            </a:r>
            <a:r>
              <a:rPr lang="en-US"/>
              <a:t> to the object inside the items array (not a copy).</a:t>
            </a:r>
          </a:p>
          <a:p>
            <a:r>
              <a:rPr lang="en-US"/>
              <a:t>let x = (this.PaginationResult?.items.find(x =&gt; x.id == this.SelectedColorOptionId))!;</a:t>
            </a:r>
          </a:p>
          <a:p>
            <a:pPr lvl="1"/>
            <a:r>
              <a:rPr lang="en-US"/>
              <a:t>x is pointing to the </a:t>
            </a:r>
            <a:r>
              <a:rPr lang="en-US" b="1"/>
              <a:t>same object in memory</a:t>
            </a:r>
            <a:r>
              <a:rPr lang="en-US"/>
              <a:t> as the one inside items</a:t>
            </a:r>
          </a:p>
          <a:p>
            <a:pPr lvl="1"/>
            <a:r>
              <a:rPr lang="en-US"/>
              <a:t>Any changes made on x is reflected to the </a:t>
            </a:r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302242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DC102-74D5-6A5A-C16F-A6633D668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668594"/>
          </a:xfrm>
        </p:spPr>
        <p:txBody>
          <a:bodyPr>
            <a:normAutofit fontScale="90000"/>
          </a:bodyPr>
          <a:lstStyle/>
          <a:p>
            <a:r>
              <a:rPr lang="en-US" b="1"/>
              <a:t>Enum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C153522-2A32-E7A7-CA2E-3619FCE519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093" y="3437700"/>
            <a:ext cx="11314972" cy="1153969"/>
          </a:xfrm>
        </p:spPr>
        <p:txBody>
          <a:bodyPr>
            <a:normAutofit lnSpcReduction="10000"/>
          </a:bodyPr>
          <a:lstStyle/>
          <a:p>
            <a:r>
              <a:rPr lang="en-US"/>
              <a:t>note : Enums in TypeScript are technically objects where :</a:t>
            </a:r>
          </a:p>
          <a:p>
            <a:pPr lvl="1"/>
            <a:r>
              <a:rPr lang="en-US"/>
              <a:t>Keys are strings.</a:t>
            </a:r>
          </a:p>
          <a:p>
            <a:pPr lvl="1"/>
            <a:r>
              <a:rPr lang="en-US"/>
              <a:t>Values are numbers (if it's a numeric Enum) or strings (if it's a string Enum).</a:t>
            </a:r>
          </a:p>
        </p:txBody>
      </p:sp>
      <p:pic>
        <p:nvPicPr>
          <p:cNvPr id="10" name="Content Placeholder 4">
            <a:extLst>
              <a:ext uri="{FF2B5EF4-FFF2-40B4-BE49-F238E27FC236}">
                <a16:creationId xmlns:a16="http://schemas.microsoft.com/office/drawing/2014/main" id="{468FE5B5-EF94-C9D7-A34B-FF927FCCAD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093" y="334297"/>
            <a:ext cx="3141593" cy="15650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53EC381-3C7D-477D-7149-FEB84B36FF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093" y="2126682"/>
            <a:ext cx="11019572" cy="126744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633A0A3-A288-DD0A-5D7F-1B49AE1513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094" y="4700192"/>
            <a:ext cx="10430068" cy="2002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595754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15371-D61B-31E4-661F-5E9792296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27280"/>
            <a:ext cx="10353762" cy="970450"/>
          </a:xfrm>
        </p:spPr>
        <p:txBody>
          <a:bodyPr/>
          <a:lstStyle/>
          <a:p>
            <a:r>
              <a:rPr lang="en-US"/>
              <a:t>Method that takes a methods as parameters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6CB2783-2910-9D85-25D5-9E0D955D32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3795" y="1097730"/>
            <a:ext cx="3959656" cy="552528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04426639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C5846-35C9-0109-21A9-C4765CF78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5486400"/>
          </a:xfrm>
        </p:spPr>
        <p:txBody>
          <a:bodyPr>
            <a:normAutofit/>
          </a:bodyPr>
          <a:lstStyle/>
          <a:p>
            <a:r>
              <a:rPr lang="en-US" sz="4400" b="1">
                <a:solidFill>
                  <a:srgbClr val="FF0000"/>
                </a:solidFill>
              </a:rPr>
              <a:t>Start Signal</a:t>
            </a:r>
          </a:p>
        </p:txBody>
      </p:sp>
    </p:spTree>
    <p:extLst>
      <p:ext uri="{BB962C8B-B14F-4D97-AF65-F5344CB8AC3E}">
        <p14:creationId xmlns:p14="http://schemas.microsoft.com/office/powerpoint/2010/main" val="2699539490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D31FE-46FD-786B-B9ED-17E5BECB3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970450"/>
          </a:xfrm>
        </p:spPr>
        <p:txBody>
          <a:bodyPr/>
          <a:lstStyle/>
          <a:p>
            <a:r>
              <a:rPr lang="en-US"/>
              <a:t>Normal Variable &amp; Signal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234E5-8975-AA49-F02A-6A2D1C1390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644" y="970450"/>
            <a:ext cx="10925913" cy="5601171"/>
          </a:xfrm>
        </p:spPr>
        <p:txBody>
          <a:bodyPr/>
          <a:lstStyle/>
          <a:p>
            <a:r>
              <a:rPr lang="en-US"/>
              <a:t>Normal Variable: Angular doesn't know it changed until a change detection cycle runs.</a:t>
            </a:r>
          </a:p>
          <a:p>
            <a:r>
              <a:rPr lang="en-US"/>
              <a:t>Angular Signal: It notifies Angular immediately when its value changes, notifies the DOM when it changes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9B27B1-4EAD-0621-67BB-613C8CE833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6458" y="2247271"/>
            <a:ext cx="4362450" cy="14192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2353072-D7CD-9BF6-B900-AAF008164D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644" y="3666496"/>
            <a:ext cx="9286875" cy="290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993570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D9C9BC9-16F8-6D20-F045-B213774117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2465" y="94119"/>
            <a:ext cx="6571622" cy="666976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C7128B9-B0C5-F67E-41F7-6110D9A381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5461" y="1637466"/>
            <a:ext cx="2047875" cy="235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735435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97D26-F002-9044-1C71-BCE379D9C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9E6A3-C206-CA4C-84B3-EBC701928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356526"/>
            <a:ext cx="10353762" cy="4129873"/>
          </a:xfrm>
        </p:spPr>
        <p:txBody>
          <a:bodyPr>
            <a:normAutofit/>
          </a:bodyPr>
          <a:lstStyle/>
          <a:p>
            <a:r>
              <a:rPr lang="en-US" sz="4400" b="1">
                <a:solidFill>
                  <a:srgbClr val="FF0000"/>
                </a:solidFill>
              </a:rPr>
              <a:t>End Signal</a:t>
            </a:r>
          </a:p>
        </p:txBody>
      </p:sp>
    </p:spTree>
    <p:extLst>
      <p:ext uri="{BB962C8B-B14F-4D97-AF65-F5344CB8AC3E}">
        <p14:creationId xmlns:p14="http://schemas.microsoft.com/office/powerpoint/2010/main" val="57915419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Slate</Template>
  <TotalTime>140308</TotalTime>
  <Words>6296</Words>
  <Application>Microsoft Office PowerPoint</Application>
  <PresentationFormat>Widescreen</PresentationFormat>
  <Paragraphs>948</Paragraphs>
  <Slides>172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172</vt:i4>
      </vt:variant>
    </vt:vector>
  </HeadingPairs>
  <TitlesOfParts>
    <vt:vector size="178" baseType="lpstr">
      <vt:lpstr>Aptos</vt:lpstr>
      <vt:lpstr>Calisto MT</vt:lpstr>
      <vt:lpstr>Consolas</vt:lpstr>
      <vt:lpstr>Wingdings</vt:lpstr>
      <vt:lpstr>Wingdings 2</vt:lpstr>
      <vt:lpstr>Slate</vt:lpstr>
      <vt:lpstr>Angular &amp; TypeScript</vt:lpstr>
      <vt:lpstr>Installation</vt:lpstr>
      <vt:lpstr>Creating Project </vt:lpstr>
      <vt:lpstr>Run the project</vt:lpstr>
      <vt:lpstr>Environment Creation</vt:lpstr>
      <vt:lpstr>Start Routing</vt:lpstr>
      <vt:lpstr>Routes [app.route.ts] , Lazy loading</vt:lpstr>
      <vt:lpstr>Navigate Via HTML</vt:lpstr>
      <vt:lpstr>Navigate Via TS</vt:lpstr>
      <vt:lpstr>RouterLinkActive, </vt:lpstr>
      <vt:lpstr>routerLinkActiveOptions</vt:lpstr>
      <vt:lpstr>Router outlet</vt:lpstr>
      <vt:lpstr>PowerPoint Presentation</vt:lpstr>
      <vt:lpstr>PowerPoint Presentation</vt:lpstr>
      <vt:lpstr>PowerPoint Presentation</vt:lpstr>
      <vt:lpstr>PowerPoint Presentation</vt:lpstr>
      <vt:lpstr>Combine params and queryParams together</vt:lpstr>
      <vt:lpstr>PowerPoint Presentation</vt:lpstr>
      <vt:lpstr>Start Angular Life cycle</vt:lpstr>
      <vt:lpstr>1. constructor() [commonly used]</vt:lpstr>
      <vt:lpstr>2. ngOnChanges() [commonly used]</vt:lpstr>
      <vt:lpstr>3. ngOnInit() [commonly used]</vt:lpstr>
      <vt:lpstr>4. ngDoCheck()</vt:lpstr>
      <vt:lpstr>5. ngAfterContentInit()</vt:lpstr>
      <vt:lpstr>6. ngAfterContentChecked()</vt:lpstr>
      <vt:lpstr>7 ngAfterViewInit() [commonly used]</vt:lpstr>
      <vt:lpstr>8. ngAfterViewChecked()</vt:lpstr>
      <vt:lpstr>9. ngOnDestroy()</vt:lpstr>
      <vt:lpstr>End Angular Life cycles</vt:lpstr>
      <vt:lpstr>Start Binding</vt:lpstr>
      <vt:lpstr>Binding</vt:lpstr>
      <vt:lpstr>Event binding</vt:lpstr>
      <vt:lpstr>End Binding</vt:lpstr>
      <vt:lpstr>Start Access element</vt:lpstr>
      <vt:lpstr>access element</vt:lpstr>
      <vt:lpstr>access element [ViewChild]</vt:lpstr>
      <vt:lpstr>End Access element</vt:lpstr>
      <vt:lpstr>Start Observable</vt:lpstr>
      <vt:lpstr>Observable</vt:lpstr>
      <vt:lpstr>Observer</vt:lpstr>
      <vt:lpstr>Subscriber</vt:lpstr>
      <vt:lpstr>Observable example</vt:lpstr>
      <vt:lpstr>Next()</vt:lpstr>
      <vt:lpstr>Complete()</vt:lpstr>
      <vt:lpstr>BehaviorSubject</vt:lpstr>
      <vt:lpstr>Example 1: Login State</vt:lpstr>
      <vt:lpstr>Example 1: Login State [cont.1]</vt:lpstr>
      <vt:lpstr>BehaviorSubject [cont.]</vt:lpstr>
      <vt:lpstr>BehaviorSubject [cont.2]</vt:lpstr>
      <vt:lpstr>Advanced Example (User Object)</vt:lpstr>
      <vt:lpstr>Plain Subject</vt:lpstr>
      <vt:lpstr>PIPES with Observable</vt:lpstr>
      <vt:lpstr>PIPES with Observable [cont.1]</vt:lpstr>
      <vt:lpstr>Pipeable Operators</vt:lpstr>
      <vt:lpstr>Pipeable Operators map</vt:lpstr>
      <vt:lpstr>Pipeable Operators filter</vt:lpstr>
      <vt:lpstr>Pipeable Operators CatchError signature</vt:lpstr>
      <vt:lpstr>Pipeable Operators CatchError</vt:lpstr>
      <vt:lpstr>Finalize()</vt:lpstr>
      <vt:lpstr>Finalize() [cont.1]</vt:lpstr>
      <vt:lpstr>Of()</vt:lpstr>
      <vt:lpstr>tap()</vt:lpstr>
      <vt:lpstr>tap()</vt:lpstr>
      <vt:lpstr>SwitchMap</vt:lpstr>
      <vt:lpstr>SwitchMap [cont.1]</vt:lpstr>
      <vt:lpstr>SwitchMap</vt:lpstr>
      <vt:lpstr>SwitchMap</vt:lpstr>
      <vt:lpstr>SwitchMap</vt:lpstr>
      <vt:lpstr>SwitchMap [ multiple switchMap ]</vt:lpstr>
      <vt:lpstr>merge()</vt:lpstr>
      <vt:lpstr>End Observable</vt:lpstr>
      <vt:lpstr>Start ResizeObserver</vt:lpstr>
      <vt:lpstr>ResizeObserver</vt:lpstr>
      <vt:lpstr>Example 1</vt:lpstr>
      <vt:lpstr>End ResizeObserver</vt:lpstr>
      <vt:lpstr>visible$ | async</vt:lpstr>
      <vt:lpstr>Creating side bar</vt:lpstr>
      <vt:lpstr>Creating new component</vt:lpstr>
      <vt:lpstr>Start Bootstrap</vt:lpstr>
      <vt:lpstr>Adding bootstrap &amp; Bootstrap icon</vt:lpstr>
      <vt:lpstr>End Bootstrap</vt:lpstr>
      <vt:lpstr>End Bootstrap</vt:lpstr>
      <vt:lpstr>Start CSS</vt:lpstr>
      <vt:lpstr>Addin CSS file globally</vt:lpstr>
      <vt:lpstr>End CSS</vt:lpstr>
      <vt:lpstr>Start SideBar with Layout 1</vt:lpstr>
      <vt:lpstr>PowerPoint Presentation</vt:lpstr>
      <vt:lpstr>Side bar HTML</vt:lpstr>
      <vt:lpstr>Sidebar CSS</vt:lpstr>
      <vt:lpstr>Sidebar ts</vt:lpstr>
      <vt:lpstr>Main layout.ts</vt:lpstr>
      <vt:lpstr>Main-layout.html</vt:lpstr>
      <vt:lpstr>main layout  (app.routes.ts)</vt:lpstr>
      <vt:lpstr>End Sidebar with layout 1</vt:lpstr>
      <vt:lpstr>@Injectable</vt:lpstr>
      <vt:lpstr>Start Forms</vt:lpstr>
      <vt:lpstr>Template Driven Forms</vt:lpstr>
      <vt:lpstr>ReactiveFormsModule (model driven forms)</vt:lpstr>
      <vt:lpstr>ReactiveFormsModule (FormControl) [cont.1]</vt:lpstr>
      <vt:lpstr>ReactiveFormsModule (FormControl) [cont.2]</vt:lpstr>
      <vt:lpstr>ReactiveFormsModule ( FormGroup ) [cont.3]</vt:lpstr>
      <vt:lpstr>ReactiveFormsModule ( FormGroup ) [cont.4]</vt:lpstr>
      <vt:lpstr>ReactiveFormsModule creation</vt:lpstr>
      <vt:lpstr>End Forms</vt:lpstr>
      <vt:lpstr>Sweat Alert </vt:lpstr>
      <vt:lpstr>Start Sweat Alert</vt:lpstr>
      <vt:lpstr>End Sweat Alert</vt:lpstr>
      <vt:lpstr>HTTP Client </vt:lpstr>
      <vt:lpstr>Start Validation</vt:lpstr>
      <vt:lpstr>Is Name Unique validation</vt:lpstr>
      <vt:lpstr>End Validation</vt:lpstr>
      <vt:lpstr>New Types </vt:lpstr>
      <vt:lpstr>AsyncValidatorFn &amp; ValidatorFn &amp; ValidationErrors</vt:lpstr>
      <vt:lpstr>Type</vt:lpstr>
      <vt:lpstr>EventEmitter</vt:lpstr>
      <vt:lpstr>HttpRequest</vt:lpstr>
      <vt:lpstr>HttpHeaders</vt:lpstr>
      <vt:lpstr>HttpParams</vt:lpstr>
      <vt:lpstr>HttpParams [ CONT.]</vt:lpstr>
      <vt:lpstr>HttpErrorResponse</vt:lpstr>
      <vt:lpstr>HttpErrorResponse</vt:lpstr>
      <vt:lpstr>ng-container</vt:lpstr>
      <vt:lpstr>ng-template</vt:lpstr>
      <vt:lpstr>ng-template</vt:lpstr>
      <vt:lpstr>ng-template [cont.2]</vt:lpstr>
      <vt:lpstr>End Angular DT</vt:lpstr>
      <vt:lpstr>Start new variable</vt:lpstr>
      <vt:lpstr>New Variables</vt:lpstr>
      <vt:lpstr>End new variable</vt:lpstr>
      <vt:lpstr>Start File&amp; Download &amp; Upload</vt:lpstr>
      <vt:lpstr>window.URL.createObjectURL(File)</vt:lpstr>
      <vt:lpstr>Download code</vt:lpstr>
      <vt:lpstr>Uploading </vt:lpstr>
      <vt:lpstr>End Download &amp; Upload</vt:lpstr>
      <vt:lpstr>Modal</vt:lpstr>
      <vt:lpstr>Modal [cont.]</vt:lpstr>
      <vt:lpstr>Start Angular Material </vt:lpstr>
      <vt:lpstr>Installation</vt:lpstr>
      <vt:lpstr>mat-paginator</vt:lpstr>
      <vt:lpstr>&lt;mat-divider&gt;</vt:lpstr>
      <vt:lpstr>mat-autocomplete</vt:lpstr>
      <vt:lpstr>End Angular Material </vt:lpstr>
      <vt:lpstr>Febric.js</vt:lpstr>
      <vt:lpstr>Layout [cont.]</vt:lpstr>
      <vt:lpstr>Start Localization</vt:lpstr>
      <vt:lpstr>localization</vt:lpstr>
      <vt:lpstr>LanguageService</vt:lpstr>
      <vt:lpstr>At App.Component</vt:lpstr>
      <vt:lpstr>Usage At component</vt:lpstr>
      <vt:lpstr>PowerPoint Presentation</vt:lpstr>
      <vt:lpstr>End Localization</vt:lpstr>
      <vt:lpstr>Start interceptors</vt:lpstr>
      <vt:lpstr>Creating interceptor</vt:lpstr>
      <vt:lpstr>Register the interceptor</vt:lpstr>
      <vt:lpstr>Configuring HttpClient</vt:lpstr>
      <vt:lpstr>Start Pipes</vt:lpstr>
      <vt:lpstr>pipes</vt:lpstr>
      <vt:lpstr>End Pipes</vt:lpstr>
      <vt:lpstr>End interceptors</vt:lpstr>
      <vt:lpstr>Type Script</vt:lpstr>
      <vt:lpstr>Optional chaining [ ?.]</vt:lpstr>
      <vt:lpstr>! </vt:lpstr>
      <vt:lpstr>index signature</vt:lpstr>
      <vt:lpstr>as keyword</vt:lpstr>
      <vt:lpstr>type narrowing</vt:lpstr>
      <vt:lpstr>Find()</vt:lpstr>
      <vt:lpstr>Enum</vt:lpstr>
      <vt:lpstr>Method that takes a methods as parameters</vt:lpstr>
      <vt:lpstr>Start Signal</vt:lpstr>
      <vt:lpstr>Normal Variable &amp; Signal</vt:lpstr>
      <vt:lpstr>PowerPoint Presentation</vt:lpstr>
      <vt:lpstr>End Signal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احمد محمد سمير</dc:creator>
  <cp:lastModifiedBy>Ahmed Mohamed</cp:lastModifiedBy>
  <cp:revision>778</cp:revision>
  <dcterms:created xsi:type="dcterms:W3CDTF">2026-01-29T20:04:39Z</dcterms:created>
  <dcterms:modified xsi:type="dcterms:W3CDTF">2026-10-09T21:24:25Z</dcterms:modified>
</cp:coreProperties>
</file>