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82" r:id="rId5"/>
    <p:sldId id="259" r:id="rId6"/>
    <p:sldId id="283" r:id="rId7"/>
    <p:sldId id="288" r:id="rId8"/>
    <p:sldId id="284" r:id="rId9"/>
    <p:sldId id="285" r:id="rId10"/>
    <p:sldId id="287" r:id="rId11"/>
    <p:sldId id="286" r:id="rId12"/>
    <p:sldId id="257" r:id="rId13"/>
    <p:sldId id="258" r:id="rId14"/>
    <p:sldId id="260" r:id="rId15"/>
    <p:sldId id="261" r:id="rId16"/>
    <p:sldId id="262" r:id="rId17"/>
    <p:sldId id="263" r:id="rId18"/>
    <p:sldId id="267" r:id="rId19"/>
    <p:sldId id="264" r:id="rId20"/>
    <p:sldId id="270" r:id="rId21"/>
    <p:sldId id="271" r:id="rId22"/>
    <p:sldId id="272" r:id="rId23"/>
    <p:sldId id="273" r:id="rId24"/>
    <p:sldId id="294" r:id="rId25"/>
    <p:sldId id="292" r:id="rId26"/>
    <p:sldId id="295" r:id="rId27"/>
    <p:sldId id="293" r:id="rId28"/>
    <p:sldId id="296" r:id="rId29"/>
    <p:sldId id="298" r:id="rId30"/>
    <p:sldId id="297" r:id="rId31"/>
    <p:sldId id="274" r:id="rId32"/>
    <p:sldId id="276" r:id="rId33"/>
    <p:sldId id="275" r:id="rId34"/>
    <p:sldId id="277" r:id="rId35"/>
    <p:sldId id="278" r:id="rId36"/>
    <p:sldId id="279" r:id="rId37"/>
    <p:sldId id="299" r:id="rId38"/>
    <p:sldId id="300" r:id="rId39"/>
    <p:sldId id="301" r:id="rId40"/>
    <p:sldId id="304" r:id="rId41"/>
    <p:sldId id="305" r:id="rId42"/>
    <p:sldId id="306" r:id="rId43"/>
    <p:sldId id="303" r:id="rId44"/>
    <p:sldId id="302" r:id="rId45"/>
    <p:sldId id="308" r:id="rId46"/>
    <p:sldId id="307" r:id="rId47"/>
    <p:sldId id="315" r:id="rId48"/>
    <p:sldId id="310" r:id="rId49"/>
    <p:sldId id="311" r:id="rId50"/>
    <p:sldId id="314" r:id="rId51"/>
    <p:sldId id="313" r:id="rId52"/>
    <p:sldId id="316" r:id="rId53"/>
    <p:sldId id="289" r:id="rId54"/>
    <p:sldId id="290" r:id="rId55"/>
    <p:sldId id="312" r:id="rId56"/>
    <p:sldId id="269" r:id="rId57"/>
    <p:sldId id="309" r:id="rId58"/>
    <p:sldId id="280" r:id="rId59"/>
    <p:sldId id="268" r:id="rId6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8A399-696D-AA40-A828-B9F6B419C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3191"/>
          </a:xfrm>
        </p:spPr>
        <p:txBody>
          <a:bodyPr>
            <a:normAutofit fontScale="90000"/>
          </a:bodyPr>
          <a:lstStyle/>
          <a:p>
            <a:r>
              <a:rPr lang="en-US" b="1"/>
              <a:t>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18DD8-DCD6-A95B-D1B4-49DD639A9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870" y="663191"/>
            <a:ext cx="11847007" cy="6089301"/>
          </a:xfrm>
        </p:spPr>
        <p:txBody>
          <a:bodyPr/>
          <a:lstStyle/>
          <a:p>
            <a:r>
              <a:rPr lang="en-US"/>
              <a:t>App folder</a:t>
            </a:r>
          </a:p>
          <a:p>
            <a:pPr lvl="1"/>
            <a:r>
              <a:rPr lang="en-US"/>
              <a:t>Core</a:t>
            </a:r>
          </a:p>
          <a:p>
            <a:pPr lvl="1"/>
            <a:r>
              <a:rPr lang="en-US"/>
              <a:t>Features</a:t>
            </a:r>
          </a:p>
          <a:p>
            <a:pPr lvl="1"/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267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F7D4E-E9DF-520F-77A7-2C837037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756C4-12AC-68A7-C575-F9674002C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354" y="633047"/>
            <a:ext cx="11826910" cy="5958672"/>
          </a:xfrm>
        </p:spPr>
        <p:txBody>
          <a:bodyPr/>
          <a:lstStyle/>
          <a:p>
            <a:r>
              <a:rPr lang="en-US" sz="2800" err="1">
                <a:solidFill>
                  <a:srgbClr val="FF0000"/>
                </a:solidFill>
              </a:rPr>
              <a:t>src</a:t>
            </a:r>
            <a:endParaRPr lang="en-US">
              <a:solidFill>
                <a:srgbClr val="FF0000"/>
              </a:solidFill>
            </a:endParaRPr>
          </a:p>
          <a:p>
            <a:pPr lvl="1"/>
            <a:r>
              <a:rPr lang="en-US" sz="2000" b="1">
                <a:solidFill>
                  <a:srgbClr val="FF0000"/>
                </a:solidFill>
              </a:rPr>
              <a:t>app folder</a:t>
            </a:r>
          </a:p>
          <a:p>
            <a:pPr lvl="2"/>
            <a:r>
              <a:rPr lang="en-US" sz="1800" b="1">
                <a:solidFill>
                  <a:srgbClr val="FF0000"/>
                </a:solidFill>
              </a:rPr>
              <a:t>Components folder</a:t>
            </a:r>
          </a:p>
          <a:p>
            <a:pPr lvl="2"/>
            <a:r>
              <a:rPr lang="en-US" sz="1800" b="1">
                <a:solidFill>
                  <a:srgbClr val="FF0000"/>
                </a:solidFill>
              </a:rPr>
              <a:t>DTOs folder</a:t>
            </a:r>
          </a:p>
          <a:p>
            <a:pPr lvl="2"/>
            <a:r>
              <a:rPr lang="en-US" sz="1800" b="1" err="1">
                <a:solidFill>
                  <a:srgbClr val="FFFF00"/>
                </a:solidFill>
              </a:rPr>
              <a:t>app.route.ts</a:t>
            </a:r>
            <a:endParaRPr lang="en-US" sz="1800" b="1">
              <a:solidFill>
                <a:srgbClr val="FFFF00"/>
              </a:solidFill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assets folder</a:t>
            </a:r>
          </a:p>
          <a:p>
            <a:pPr lvl="1"/>
            <a:r>
              <a:rPr lang="en-US" b="1">
                <a:solidFill>
                  <a:srgbClr val="00B050"/>
                </a:solidFill>
              </a:rPr>
              <a:t>css folder</a:t>
            </a:r>
          </a:p>
          <a:p>
            <a:pPr lvl="1"/>
            <a:r>
              <a:rPr lang="en-US" b="1"/>
              <a:t>index.html</a:t>
            </a:r>
          </a:p>
          <a:p>
            <a:pPr lvl="1"/>
            <a:r>
              <a:rPr lang="en-US" b="1" err="1">
                <a:solidFill>
                  <a:schemeClr val="accent5">
                    <a:lumMod val="40000"/>
                    <a:lumOff val="60000"/>
                  </a:schemeClr>
                </a:solidFill>
              </a:rPr>
              <a:t>main.ts</a:t>
            </a:r>
            <a:endParaRPr lang="en-US" b="1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lvl="1"/>
            <a:r>
              <a:rPr lang="en-US" b="1">
                <a:solidFill>
                  <a:srgbClr val="FFC000"/>
                </a:solidFill>
              </a:rPr>
              <a:t>style.css</a:t>
            </a:r>
          </a:p>
          <a:p>
            <a:endParaRPr lang="en-US"/>
          </a:p>
          <a:p>
            <a:endParaRPr lang="en-US"/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098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8555F-1F4C-F99E-0C84-E0E0F7B2F1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734" y="107183"/>
            <a:ext cx="10778532" cy="74692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D0838-12BA-A35E-B1C3-40FEC10CE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418" y="1077633"/>
            <a:ext cx="10982848" cy="5554279"/>
          </a:xfrm>
        </p:spPr>
        <p:txBody>
          <a:bodyPr/>
          <a:lstStyle/>
          <a:p>
            <a:r>
              <a:rPr lang="en-US"/>
              <a:t>A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D9BF44-3A44-C230-3B43-FC2CFB960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418" y="1905261"/>
            <a:ext cx="6810984" cy="4264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701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DDBFC-0859-C305-91EF-073D0AD74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32079"/>
          </a:xfrm>
        </p:spPr>
        <p:txBody>
          <a:bodyPr>
            <a:normAutofit fontScale="90000"/>
          </a:bodyPr>
          <a:lstStyle/>
          <a:p>
            <a:r>
              <a:rPr lang="en-US" b="1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19249-8C27-E0D3-3645-3AD29CACB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32080"/>
            <a:ext cx="11857055" cy="6425920"/>
          </a:xfrm>
        </p:spPr>
        <p:txBody>
          <a:bodyPr>
            <a:noAutofit/>
          </a:bodyPr>
          <a:lstStyle/>
          <a:p>
            <a:r>
              <a:rPr lang="en-US" sz="1500" b="1"/>
              <a:t>Inside app</a:t>
            </a:r>
          </a:p>
          <a:p>
            <a:pPr lvl="1"/>
            <a:r>
              <a:rPr lang="en-US" sz="1600" b="1">
                <a:solidFill>
                  <a:srgbClr val="FF0000"/>
                </a:solidFill>
              </a:rPr>
              <a:t>core</a:t>
            </a:r>
            <a:r>
              <a:rPr lang="en-US" sz="1500" b="1"/>
              <a:t> : contains the things that is are not connected with UI</a:t>
            </a:r>
          </a:p>
          <a:p>
            <a:pPr lvl="2"/>
            <a:r>
              <a:rPr lang="en-US" sz="1500" b="1"/>
              <a:t>Interceptors</a:t>
            </a:r>
          </a:p>
          <a:p>
            <a:pPr lvl="2"/>
            <a:r>
              <a:rPr lang="en-US" sz="1500" b="1"/>
              <a:t>gaurds</a:t>
            </a:r>
          </a:p>
          <a:p>
            <a:pPr lvl="2"/>
            <a:r>
              <a:rPr lang="en-US" sz="1500" b="1"/>
              <a:t>services</a:t>
            </a:r>
          </a:p>
          <a:p>
            <a:pPr lvl="2"/>
            <a:r>
              <a:rPr lang="en-US" sz="1500" b="1"/>
              <a:t>constants</a:t>
            </a:r>
          </a:p>
          <a:p>
            <a:pPr lvl="3"/>
            <a:r>
              <a:rPr lang="en-US" sz="1500" b="1"/>
              <a:t>Global.Constant.ts</a:t>
            </a:r>
          </a:p>
          <a:p>
            <a:pPr lvl="2"/>
            <a:r>
              <a:rPr lang="en-US" sz="1500" b="1"/>
              <a:t>models</a:t>
            </a:r>
          </a:p>
          <a:p>
            <a:pPr lvl="3"/>
            <a:r>
              <a:rPr lang="en-US" sz="1500" b="1"/>
              <a:t>classes</a:t>
            </a:r>
          </a:p>
          <a:p>
            <a:pPr lvl="3"/>
            <a:r>
              <a:rPr lang="en-US" sz="1500" b="1"/>
              <a:t>Interfaces : ColorOptionDTOs</a:t>
            </a:r>
          </a:p>
          <a:p>
            <a:pPr lvl="2"/>
            <a:r>
              <a:rPr lang="en-US" sz="1500" b="1"/>
              <a:t>enums</a:t>
            </a:r>
          </a:p>
          <a:p>
            <a:pPr lvl="2"/>
            <a:r>
              <a:rPr lang="en-US" sz="1500" b="1"/>
              <a:t>Helpers</a:t>
            </a:r>
          </a:p>
          <a:p>
            <a:pPr lvl="3"/>
            <a:r>
              <a:rPr lang="en-US" sz="1500" b="1"/>
              <a:t>common.helper.ts</a:t>
            </a:r>
          </a:p>
          <a:p>
            <a:pPr lvl="2"/>
            <a:r>
              <a:rPr lang="en-US" sz="1500" b="1"/>
              <a:t>resolvers</a:t>
            </a:r>
          </a:p>
          <a:p>
            <a:pPr lvl="1"/>
            <a:r>
              <a:rPr lang="en-US" sz="1600" b="1">
                <a:solidFill>
                  <a:srgbClr val="FF0000"/>
                </a:solidFill>
              </a:rPr>
              <a:t>Pages</a:t>
            </a:r>
            <a:endParaRPr lang="en-US" sz="1500" b="1">
              <a:solidFill>
                <a:srgbClr val="FF0000"/>
              </a:solidFill>
            </a:endParaRPr>
          </a:p>
          <a:p>
            <a:pPr lvl="2"/>
            <a:r>
              <a:rPr lang="en-US" sz="1500" b="1"/>
              <a:t>contains the components which is not reusable and could be accessed via route</a:t>
            </a:r>
          </a:p>
          <a:p>
            <a:pPr lvl="1"/>
            <a:r>
              <a:rPr lang="en-US" sz="1600" b="1">
                <a:solidFill>
                  <a:srgbClr val="FF0000"/>
                </a:solidFill>
              </a:rPr>
              <a:t>shared</a:t>
            </a:r>
            <a:endParaRPr lang="en-US" sz="1500" b="1">
              <a:solidFill>
                <a:srgbClr val="FF0000"/>
              </a:solidFill>
            </a:endParaRPr>
          </a:p>
          <a:p>
            <a:pPr lvl="2"/>
            <a:r>
              <a:rPr lang="en-US" sz="1500" b="1"/>
              <a:t>contains things that are connected with UI like directives, pipes, reusable components</a:t>
            </a:r>
          </a:p>
        </p:txBody>
      </p:sp>
    </p:spTree>
    <p:extLst>
      <p:ext uri="{BB962C8B-B14F-4D97-AF65-F5344CB8AC3E}">
        <p14:creationId xmlns:p14="http://schemas.microsoft.com/office/powerpoint/2010/main" val="1099757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43282-4201-A672-3DDD-2529F44FD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2828" y="16747"/>
            <a:ext cx="10353762" cy="666541"/>
          </a:xfrm>
        </p:spPr>
        <p:txBody>
          <a:bodyPr>
            <a:normAutofit fontScale="90000"/>
          </a:bodyPr>
          <a:lstStyle/>
          <a:p>
            <a:r>
              <a:rPr lang="en-US" b="1"/>
              <a:t>Core Folder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1D83F7-332B-ACD9-139D-B3C2E1D4E0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683289"/>
            <a:ext cx="11756571" cy="6059156"/>
          </a:xfrm>
        </p:spPr>
        <p:txBody>
          <a:bodyPr>
            <a:normAutofit/>
          </a:bodyPr>
          <a:lstStyle/>
          <a:p>
            <a:r>
              <a:rPr lang="en-US"/>
              <a:t>Inside app</a:t>
            </a:r>
          </a:p>
          <a:p>
            <a:pPr lvl="1"/>
            <a:r>
              <a:rPr lang="en-US"/>
              <a:t>core : contains the things that is are not connected with UI</a:t>
            </a:r>
          </a:p>
          <a:p>
            <a:pPr lvl="2"/>
            <a:r>
              <a:rPr lang="en-US"/>
              <a:t>Interceptors</a:t>
            </a:r>
          </a:p>
          <a:p>
            <a:pPr lvl="2"/>
            <a:r>
              <a:rPr lang="en-US"/>
              <a:t>gaurds</a:t>
            </a:r>
          </a:p>
          <a:p>
            <a:pPr lvl="2"/>
            <a:r>
              <a:rPr lang="en-US" sz="1800"/>
              <a:t>services</a:t>
            </a:r>
          </a:p>
          <a:p>
            <a:pPr lvl="2"/>
            <a:r>
              <a:rPr lang="en-US" sz="1800"/>
              <a:t>constants</a:t>
            </a:r>
          </a:p>
          <a:p>
            <a:pPr lvl="3"/>
            <a:r>
              <a:rPr lang="en-US" sz="1600"/>
              <a:t>Global.Constant.ts</a:t>
            </a:r>
          </a:p>
          <a:p>
            <a:pPr lvl="2"/>
            <a:r>
              <a:rPr lang="en-US" sz="1800"/>
              <a:t>models</a:t>
            </a:r>
          </a:p>
          <a:p>
            <a:pPr lvl="3"/>
            <a:r>
              <a:rPr lang="en-US" sz="1800"/>
              <a:t>classes</a:t>
            </a:r>
          </a:p>
          <a:p>
            <a:pPr lvl="3"/>
            <a:r>
              <a:rPr lang="en-US" sz="1800"/>
              <a:t>interfaces</a:t>
            </a:r>
          </a:p>
          <a:p>
            <a:pPr lvl="2"/>
            <a:r>
              <a:rPr lang="en-US" sz="1800"/>
              <a:t>enums</a:t>
            </a:r>
          </a:p>
          <a:p>
            <a:pPr lvl="2"/>
            <a:r>
              <a:rPr lang="en-US" sz="1800"/>
              <a:t>Helpers</a:t>
            </a:r>
          </a:p>
          <a:p>
            <a:pPr lvl="3"/>
            <a:r>
              <a:rPr lang="en-US" sz="1600"/>
              <a:t>common.helper.ts</a:t>
            </a:r>
          </a:p>
          <a:p>
            <a:pPr lvl="2"/>
            <a:r>
              <a:rPr lang="en-US" sz="1800"/>
              <a:t>resolvers</a:t>
            </a:r>
          </a:p>
        </p:txBody>
      </p:sp>
    </p:spTree>
    <p:extLst>
      <p:ext uri="{BB962C8B-B14F-4D97-AF65-F5344CB8AC3E}">
        <p14:creationId xmlns:p14="http://schemas.microsoft.com/office/powerpoint/2010/main" val="33313186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EACA9-ED7F-FFC3-6BB8-E431F02A4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Shared folder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D2451-8AF8-5BA1-6AE2-2C98C8AAF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970451"/>
            <a:ext cx="10353762" cy="4820750"/>
          </a:xfrm>
        </p:spPr>
        <p:txBody>
          <a:bodyPr/>
          <a:lstStyle/>
          <a:p>
            <a:r>
              <a:rPr lang="en-US"/>
              <a:t>app folder</a:t>
            </a:r>
          </a:p>
          <a:p>
            <a:pPr lvl="1"/>
            <a:r>
              <a:rPr lang="en-US"/>
              <a:t>Shared : contains things that are connected with UI like directives, pipes, reusable components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400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75598-8B9C-17B3-4A42-1E65F5973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807218"/>
          </a:xfrm>
        </p:spPr>
        <p:txBody>
          <a:bodyPr/>
          <a:lstStyle/>
          <a:p>
            <a:r>
              <a:rPr lang="en-US" b="1"/>
              <a:t>Pages Folder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4491EA-F511-601B-31E3-FF557B4C29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807219"/>
            <a:ext cx="11435024" cy="5854838"/>
          </a:xfrm>
        </p:spPr>
        <p:txBody>
          <a:bodyPr/>
          <a:lstStyle/>
          <a:p>
            <a:r>
              <a:rPr lang="en-US"/>
              <a:t>Inside app</a:t>
            </a:r>
          </a:p>
          <a:p>
            <a:pPr lvl="1"/>
            <a:r>
              <a:rPr lang="en-US"/>
              <a:t>Pages: contains the components which is not reusable and could be accessed via route</a:t>
            </a:r>
          </a:p>
          <a:p>
            <a:pPr lvl="2"/>
            <a:r>
              <a:rPr lang="en-US" sz="1800"/>
              <a:t>employee</a:t>
            </a:r>
          </a:p>
          <a:p>
            <a:pPr lvl="3"/>
            <a:r>
              <a:rPr lang="en-US" sz="1800"/>
              <a:t>employee-list</a:t>
            </a:r>
          </a:p>
          <a:p>
            <a:pPr lvl="3"/>
            <a:r>
              <a:rPr lang="en-US" sz="1800"/>
              <a:t>new-employee</a:t>
            </a:r>
          </a:p>
          <a:p>
            <a:pPr lvl="2"/>
            <a:r>
              <a:rPr lang="en-US"/>
              <a:t>Department folder</a:t>
            </a:r>
          </a:p>
          <a:p>
            <a:pPr lvl="3"/>
            <a:r>
              <a:rPr lang="en-US" sz="1800"/>
              <a:t>Department-list</a:t>
            </a:r>
          </a:p>
          <a:p>
            <a:pPr lvl="3"/>
            <a:r>
              <a:rPr lang="en-US" sz="1800"/>
              <a:t>New-department</a:t>
            </a:r>
          </a:p>
        </p:txBody>
      </p:sp>
    </p:spTree>
    <p:extLst>
      <p:ext uri="{BB962C8B-B14F-4D97-AF65-F5344CB8AC3E}">
        <p14:creationId xmlns:p14="http://schemas.microsoft.com/office/powerpoint/2010/main" val="3202478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454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/>
              <a:t>it is used to handle (manage) asynchronous operations</a:t>
            </a:r>
          </a:p>
          <a:p>
            <a:r>
              <a:rPr lang="en-US"/>
              <a:t>Emits multiple values over time (better for data streaming) (data producer)</a:t>
            </a:r>
          </a:p>
          <a:p>
            <a:r>
              <a:rPr lang="en-US"/>
              <a:t>Lazy (executed when subscribed).</a:t>
            </a:r>
          </a:p>
          <a:p>
            <a:r>
              <a:rPr lang="en-US"/>
              <a:t>Can be canceled (by unsubscribing).</a:t>
            </a:r>
          </a:p>
          <a:p>
            <a:r>
              <a:rPr lang="en-US"/>
              <a:t>Included in ReactiveX Library</a:t>
            </a:r>
          </a:p>
          <a:p>
            <a:r>
              <a:rPr lang="en-US">
                <a:effectLst/>
              </a:rPr>
              <a:t>A stream of data or events (like news) that can be sent over time.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4861-F8BC-F199-21FB-61F4353A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8" y="0"/>
            <a:ext cx="11776667" cy="69668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Plain 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221E-2F66-AD65-2FC8-F30EF0024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696686"/>
            <a:ext cx="11776668" cy="605580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222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C6D-5605-0212-1DF2-26BBF1A8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208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E6A4-EB49-E428-D7E3-26728F58B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20842"/>
            <a:ext cx="12111613" cy="6337158"/>
          </a:xfrm>
        </p:spPr>
        <p:txBody>
          <a:bodyPr>
            <a:normAutofit/>
          </a:bodyPr>
          <a:lstStyle/>
          <a:p>
            <a:r>
              <a:rPr lang="en-US" sz="1800"/>
              <a:t>manage </a:t>
            </a:r>
            <a:r>
              <a:rPr lang="en-US" sz="1800" b="1"/>
              <a:t>shared state between components</a:t>
            </a:r>
            <a:r>
              <a:rPr lang="en-US" sz="1800"/>
              <a:t>, like login status, theme changes, cart updates, etc.</a:t>
            </a:r>
          </a:p>
          <a:p>
            <a:r>
              <a:rPr lang="en-US" sz="1800"/>
              <a:t>A </a:t>
            </a:r>
            <a:r>
              <a:rPr lang="en-US" sz="1800" b="1"/>
              <a:t>BehaviorSubject</a:t>
            </a:r>
            <a:r>
              <a:rPr lang="en-US" sz="1800"/>
              <a:t> is a special type of </a:t>
            </a:r>
            <a:r>
              <a:rPr lang="en-US" sz="1800" b="1"/>
              <a:t>Observable </a:t>
            </a:r>
            <a:r>
              <a:rPr lang="en-US" sz="1800"/>
              <a:t>that </a:t>
            </a:r>
          </a:p>
          <a:p>
            <a:pPr lvl="1"/>
            <a:r>
              <a:rPr lang="en-US"/>
              <a:t>stores the latest value</a:t>
            </a:r>
            <a:endParaRPr lang="en-US" b="1"/>
          </a:p>
          <a:p>
            <a:pPr lvl="1"/>
            <a:r>
              <a:rPr lang="en-US"/>
              <a:t>Immediately sends the last value to new subscribers</a:t>
            </a:r>
            <a:endParaRPr lang="en-US" b="1"/>
          </a:p>
          <a:p>
            <a:r>
              <a:rPr lang="en-US" sz="1800"/>
              <a:t>So any component that subscribes will always receive the </a:t>
            </a:r>
            <a:r>
              <a:rPr lang="en-US" sz="1800" b="1"/>
              <a:t>current state instantly</a:t>
            </a:r>
            <a:r>
              <a:rPr lang="en-US" sz="1800"/>
              <a:t>.</a:t>
            </a:r>
          </a:p>
          <a:p>
            <a:r>
              <a:rPr lang="en-US" sz="1800" b="1"/>
              <a:t>BehaviorSubject = Observable + Current Value Storage</a:t>
            </a:r>
          </a:p>
          <a:p>
            <a:endParaRPr lang="en-US" sz="18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57395D-480D-4A9A-E183-7328C3D9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121" y="2465477"/>
            <a:ext cx="4785492" cy="43925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3D7E00-8E9E-74B4-53FC-B844DD2C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220" y="3429001"/>
            <a:ext cx="5091165" cy="2605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675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D2ED-C010-3A25-B3D4-7D6BCCC8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707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Example 1: Login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884EF8-44F0-8020-3758-D09D633C7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38212"/>
            <a:ext cx="5205045" cy="51117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D5F1D-B4A3-DD0A-447B-EB06D400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6" y="938212"/>
            <a:ext cx="4903595" cy="400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1706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D8548-84FF-0F62-E996-3F97F301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Example 1: Login State [cont.1]</a:t>
            </a:r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52A7A-4B94-1CD8-B5A7-FCB6B8A8C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622998"/>
            <a:ext cx="6392698" cy="5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167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278E-CBE4-CF30-C56E-8ADB194A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 [cont.]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AEAB2-B0E6-0078-12CF-E00DBFF4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2338"/>
            <a:ext cx="4108154" cy="5120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EC121D-C332-9F96-074B-1FFA4A1E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154" y="748132"/>
            <a:ext cx="4286250" cy="1438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3B65E-1F3F-C36C-0ACC-5493204F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411" y="2361783"/>
            <a:ext cx="4871503" cy="363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757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07099-2758-6033-8A35-0FE7B4B56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9747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BehaviorSubject [cont.2]</a:t>
            </a:r>
            <a:endParaRPr lang="en-US" sz="36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65342F-1240-8B02-27B9-A9F4875D5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6842"/>
            <a:ext cx="6621864" cy="61668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40266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FD92-343B-8F2D-B4BE-703234B5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1726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Advanced Example (User Object)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3F10A0-9D69-567A-4873-BC0C20B47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15" y="927169"/>
            <a:ext cx="5879661" cy="57895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54410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componentName</a:t>
            </a:r>
            <a:r>
              <a:rPr lang="en-US"/>
              <a:t> --skip-tests</a:t>
            </a:r>
          </a:p>
          <a:p>
            <a:r>
              <a:rPr lang="en-US" b="1">
                <a:solidFill>
                  <a:srgbClr val="FF0000"/>
                </a:solidFill>
              </a:rPr>
              <a:t>ng</a:t>
            </a:r>
            <a:r>
              <a:rPr lang="en-US"/>
              <a:t> g c project-details </a:t>
            </a:r>
            <a:r>
              <a:rPr lang="en-US" b="1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/>
              <a:t>project-details folder will be created and includes</a:t>
            </a:r>
          </a:p>
          <a:p>
            <a:pPr lvl="2"/>
            <a:r>
              <a:rPr lang="en-US" sz="1800" err="1"/>
              <a:t>ProjectDetails.component.ts</a:t>
            </a:r>
            <a:endParaRPr lang="en-US" sz="1800"/>
          </a:p>
          <a:p>
            <a:pPr lvl="2"/>
            <a:r>
              <a:rPr lang="en-US" sz="1800"/>
              <a:t>ProjectDetails.Component.html</a:t>
            </a:r>
          </a:p>
          <a:p>
            <a:pPr lvl="2"/>
            <a:r>
              <a:rPr lang="en-US" sz="1800"/>
              <a:t>ProjectDetails.Component.css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296" y="737419"/>
            <a:ext cx="11472517" cy="5456904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</a:p>
          <a:p>
            <a:pPr lvl="1"/>
            <a:endParaRPr lang="en-US" sz="1600" b="1"/>
          </a:p>
          <a:p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Create main layout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7AF94-85B5-5DEF-7C1D-6E5E758E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28" y="653143"/>
            <a:ext cx="11585749" cy="6018962"/>
          </a:xfrm>
        </p:spPr>
        <p:txBody>
          <a:bodyPr/>
          <a:lstStyle/>
          <a:p>
            <a:r>
              <a:rPr lang="en-US"/>
              <a:t>This layout has layout </a:t>
            </a:r>
            <a:r>
              <a:rPr lang="en-US" sz="2400" b="1">
                <a:solidFill>
                  <a:srgbClr val="FFFF00"/>
                </a:solidFill>
              </a:rPr>
              <a:t>header and sidebar </a:t>
            </a:r>
            <a:r>
              <a:rPr lang="en-US"/>
              <a:t>(</a:t>
            </a:r>
            <a:r>
              <a:rPr lang="en-US" err="1"/>
              <a:t>offcanvas</a:t>
            </a:r>
            <a:r>
              <a:rPr lang="en-US"/>
              <a:t> sidebar)</a:t>
            </a:r>
          </a:p>
          <a:p>
            <a:r>
              <a:rPr lang="en-US"/>
              <a:t>Create </a:t>
            </a:r>
            <a:r>
              <a:rPr lang="en-US" b="1">
                <a:solidFill>
                  <a:srgbClr val="FF0000"/>
                </a:solidFill>
              </a:rPr>
              <a:t>main-layout</a:t>
            </a:r>
            <a:r>
              <a:rPr lang="en-US"/>
              <a:t> components at app/Layouts folder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FA0F56-935A-ABBE-E9A7-72E5F50A7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" y="1578743"/>
            <a:ext cx="4305300" cy="2124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9936B2-A3C4-42E4-7F25-02C4852D7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" y="3818111"/>
            <a:ext cx="11993648" cy="238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Create main layout 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4" y="803868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4648-D685-4D5B-BE6E-492D5F1AE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6879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@Injectable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04C01-3F5F-961A-EEE2-E76DA66C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5" y="736879"/>
            <a:ext cx="11971282" cy="5995517"/>
          </a:xfrm>
        </p:spPr>
        <p:txBody>
          <a:bodyPr/>
          <a:lstStyle/>
          <a:p>
            <a:pPr marL="36900" indent="0">
              <a:buNone/>
            </a:pPr>
            <a:r>
              <a:rPr lang="en-US" b="1">
                <a:solidFill>
                  <a:srgbClr val="00B0F0"/>
                </a:solidFill>
              </a:rPr>
              <a:t>@Injectable</a:t>
            </a:r>
            <a:r>
              <a:rPr lang="en-US" b="1">
                <a:solidFill>
                  <a:srgbClr val="FFFF00"/>
                </a:solidFill>
              </a:rPr>
              <a:t> </a:t>
            </a:r>
            <a:r>
              <a:rPr lang="en-US" b="1">
                <a:solidFill>
                  <a:srgbClr val="FF0000"/>
                </a:solidFill>
              </a:rPr>
              <a:t>({</a:t>
            </a:r>
          </a:p>
          <a:p>
            <a:pPr marL="36900" indent="0">
              <a:buNone/>
            </a:pPr>
            <a:r>
              <a:rPr lang="en-US"/>
              <a:t>	providedIn: 'root'</a:t>
            </a:r>
            <a:endParaRPr lang="en-US" b="1">
              <a:solidFill>
                <a:srgbClr val="FF0000"/>
              </a:solidFill>
            </a:endParaRPr>
          </a:p>
          <a:p>
            <a:pPr marL="36900" indent="0">
              <a:buNone/>
            </a:pPr>
            <a:r>
              <a:rPr lang="en-US" b="1">
                <a:solidFill>
                  <a:srgbClr val="FF0000"/>
                </a:solidFill>
              </a:rPr>
              <a:t>})</a:t>
            </a:r>
          </a:p>
          <a:p>
            <a:r>
              <a:rPr lang="en-US" b="1"/>
              <a:t>register a service in Angular’s </a:t>
            </a:r>
            <a:r>
              <a:rPr lang="en-US" b="1">
                <a:solidFill>
                  <a:srgbClr val="FFFF00"/>
                </a:solidFill>
              </a:rPr>
              <a:t>Dependency Injection system</a:t>
            </a:r>
            <a:r>
              <a:rPr lang="en-US" b="1"/>
              <a:t> so it can be automatically created and injected anywhere in the application.</a:t>
            </a:r>
          </a:p>
          <a:p>
            <a:r>
              <a:rPr lang="en-US"/>
              <a:t>Angular knows this class </a:t>
            </a:r>
            <a:r>
              <a:rPr lang="en-US" b="1"/>
              <a:t>can be injected into components or other services</a:t>
            </a:r>
            <a:r>
              <a:rPr lang="en-US"/>
              <a:t>.</a:t>
            </a:r>
          </a:p>
          <a:p>
            <a:r>
              <a:rPr lang="en-US"/>
              <a:t>Create </a:t>
            </a:r>
            <a:r>
              <a:rPr lang="en-US" b="1"/>
              <a:t>one single instance of the service for the whole application</a:t>
            </a:r>
            <a:r>
              <a:rPr lang="en-US"/>
              <a:t>. </a:t>
            </a:r>
            <a:r>
              <a:rPr lang="en-US" b="1"/>
              <a:t>[ Singleton Service ]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916527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569E3-5080-4C73-6A3F-42BC1A4F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1470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PIPES with 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DC09F-B99C-A835-218C-3FFC5845A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" y="714704"/>
            <a:ext cx="11950264" cy="6011918"/>
          </a:xfrm>
        </p:spPr>
        <p:txBody>
          <a:bodyPr>
            <a:normAutofit/>
          </a:bodyPr>
          <a:lstStyle/>
          <a:p>
            <a:r>
              <a:rPr lang="en-US" b="1"/>
              <a:t>It allows you to transform, filter, or manipulate the data emitted by an observable before it reaches its final subscribing</a:t>
            </a:r>
          </a:p>
          <a:p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Returns a New Observable</a:t>
            </a:r>
            <a:r>
              <a:rPr lang="en-US" b="1"/>
              <a:t>: When you use the pipe method, it doesn't modify the original observable. Instead, it returns a new observable that applies the defined transformations.</a:t>
            </a:r>
          </a:p>
          <a:p>
            <a:pPr marL="36900" indent="0">
              <a:buNone/>
            </a:pPr>
            <a:r>
              <a:rPr lang="en-US" b="1"/>
              <a:t>const </a:t>
            </a:r>
            <a:r>
              <a:rPr lang="en-US" b="1">
                <a:solidFill>
                  <a:srgbClr val="00B0F0"/>
                </a:solidFill>
              </a:rPr>
              <a:t>obs</a:t>
            </a:r>
            <a:r>
              <a:rPr lang="en-US" b="1"/>
              <a:t> = new </a:t>
            </a:r>
            <a:r>
              <a:rPr lang="en-US" b="1">
                <a:solidFill>
                  <a:srgbClr val="00B0F0"/>
                </a:solidFill>
              </a:rPr>
              <a:t>Observable</a:t>
            </a:r>
            <a:r>
              <a:rPr lang="en-US" b="1"/>
              <a:t>((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) =&gt; {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.next(1);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.next(2);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.next(3);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.next(4);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.next(5);  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.complete();  // Signals that no more values will be emitted</a:t>
            </a:r>
          </a:p>
          <a:p>
            <a:pPr marL="36900" indent="0">
              <a:buNone/>
            </a:pPr>
            <a:r>
              <a:rPr lang="en-US" b="1"/>
              <a:t>}).</a:t>
            </a:r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pipe</a:t>
            </a:r>
            <a:r>
              <a:rPr lang="en-US" b="1"/>
              <a:t>(</a:t>
            </a:r>
          </a:p>
          <a:p>
            <a:pPr marL="36900" indent="0">
              <a:buNone/>
            </a:pPr>
            <a:r>
              <a:rPr lang="en-US" sz="1800" b="1"/>
              <a:t>	</a:t>
            </a:r>
            <a:r>
              <a:rPr lang="en-US" b="1">
                <a:solidFill>
                  <a:srgbClr val="00B050"/>
                </a:solidFill>
              </a:rPr>
              <a:t>filter</a:t>
            </a:r>
            <a:r>
              <a:rPr lang="en-US" sz="1800" b="1"/>
              <a:t>((data) =&gt; data &gt; 2),                // Filters out values less than or equal to 2</a:t>
            </a:r>
          </a:p>
          <a:p>
            <a:pPr marL="36900" indent="0">
              <a:buNone/>
            </a:pPr>
            <a:r>
              <a:rPr lang="en-US" sz="1800" b="1"/>
              <a:t>  	</a:t>
            </a:r>
            <a:r>
              <a:rPr lang="en-US" b="1">
                <a:solidFill>
                  <a:srgbClr val="00B050"/>
                </a:solidFill>
              </a:rPr>
              <a:t>map</a:t>
            </a:r>
            <a:r>
              <a:rPr lang="en-US" sz="1800" b="1"/>
              <a:t>((val) =&gt; val * 2)                      // Transforms remaining values by multiplying by 2</a:t>
            </a:r>
            <a:endParaRPr lang="en-US" b="1"/>
          </a:p>
          <a:p>
            <a:pPr marL="36900" indent="0">
              <a:buNone/>
            </a:pPr>
            <a:r>
              <a:rPr lang="en-US" b="1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712796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9052-1BE6-21DA-99AF-0D72C69A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6538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PIPES with Observable [cont.1]</a:t>
            </a:r>
            <a:endParaRPr lang="en-US" sz="32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55740B2-8968-545D-C20E-7CE57927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46539"/>
            <a:ext cx="11141433" cy="5244662"/>
          </a:xfrm>
        </p:spPr>
        <p:txBody>
          <a:bodyPr/>
          <a:lstStyle/>
          <a:p>
            <a:r>
              <a:rPr lang="en-US"/>
              <a:t>Pipes could handle errors before the subscriber receives it.</a:t>
            </a:r>
          </a:p>
          <a:p>
            <a:r>
              <a:rPr lang="en-US"/>
              <a:t>pipe() allows you to attach operators to the Observable</a:t>
            </a:r>
          </a:p>
          <a:p>
            <a:r>
              <a:rPr lang="en-US"/>
              <a:t>catchError(Helper.HandleError&lt;OperationResult&gt;('Add’))</a:t>
            </a:r>
          </a:p>
          <a:p>
            <a:pPr fontAlgn="base"/>
            <a:r>
              <a:rPr lang="en-US"/>
              <a:t>This means if request fails : </a:t>
            </a:r>
            <a:r>
              <a:rPr lang="en-US" altLang="en-US"/>
              <a:t>network error,  server error (500), bad request (400)</a:t>
            </a:r>
          </a:p>
          <a:p>
            <a:pPr lvl="1" fontAlgn="base"/>
            <a:r>
              <a:rPr lang="en-US"/>
              <a:t>catchError intercepts the error then calls Helper.HandleError()</a:t>
            </a:r>
            <a:endParaRPr lang="en-US" altLang="en-US"/>
          </a:p>
          <a:p>
            <a:pPr fontAlgn="base"/>
            <a:endParaRPr lang="en-US" altLang="en-US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841B35B-520B-F046-8FE3-8FBFEE89B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54" y="3429000"/>
            <a:ext cx="9249708" cy="21625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1788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9D80-AAED-7B44-CFD1-51147BE33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551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Pipeable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79AC3-B4A6-D8CB-0C9B-64B3717FD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25517"/>
            <a:ext cx="11866179" cy="6190593"/>
          </a:xfrm>
        </p:spPr>
        <p:txBody>
          <a:bodyPr/>
          <a:lstStyle/>
          <a:p>
            <a:r>
              <a:rPr lang="en-US"/>
              <a:t>inside pipe() you place </a:t>
            </a:r>
            <a:r>
              <a:rPr lang="en-US" b="1"/>
              <a:t>operators</a:t>
            </a:r>
            <a:r>
              <a:rPr lang="en-US"/>
              <a:t>, and they are commonly called </a:t>
            </a:r>
            <a:r>
              <a:rPr lang="en-US" b="1"/>
              <a:t>RxJS operators</a:t>
            </a:r>
            <a:r>
              <a:rPr lang="en-US"/>
              <a:t> (or </a:t>
            </a:r>
            <a:r>
              <a:rPr lang="en-US" b="1"/>
              <a:t>pipeable operators</a:t>
            </a:r>
            <a:r>
              <a:rPr lang="en-US"/>
              <a:t>).</a:t>
            </a:r>
          </a:p>
          <a:p>
            <a:r>
              <a:rPr lang="en-US"/>
              <a:t>map()</a:t>
            </a:r>
          </a:p>
          <a:p>
            <a:r>
              <a:rPr lang="en-US"/>
              <a:t>filter()</a:t>
            </a:r>
          </a:p>
          <a:p>
            <a:r>
              <a:rPr lang="en-US"/>
              <a:t>catchError()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3738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181D6-47A1-3B08-2AD2-9B8CF624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D3A0F-52E1-319A-0737-0CE93342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0EB42-6149-7B10-93BA-DF60AA0C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192" y="761835"/>
            <a:ext cx="7847615" cy="571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7174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6239A-5F43-0C3A-C42F-B9AC0A9D9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3BCE1-D83E-59B8-9A45-532170AE4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filter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297C2-41A8-E139-A03B-31743F95E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EDC41F-89BF-838A-4451-86D92A43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015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C9D85-BA3B-6719-5092-8214F43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1131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BE29-7945-CD2A-04BC-31FC921D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1130"/>
            <a:ext cx="12192000" cy="621686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catchError&lt;OperationResult, Observable&lt;OperationResult&gt;&gt;</a:t>
            </a:r>
          </a:p>
          <a:p>
            <a:pPr lvl="1"/>
            <a:r>
              <a:rPr lang="en-US"/>
              <a:t>OperationResult : Type emitted before error</a:t>
            </a:r>
          </a:p>
          <a:p>
            <a:pPr lvl="1"/>
            <a:r>
              <a:rPr lang="en-US"/>
              <a:t>Observable&lt;OperationResult&gt; : Type emitted before error</a:t>
            </a:r>
          </a:p>
          <a:p>
            <a:r>
              <a:rPr lang="en-US"/>
              <a:t>OperatorFunction&lt;OperationResult, OperationResult&gt;</a:t>
            </a:r>
          </a:p>
          <a:p>
            <a:pPr lvl="1"/>
            <a:r>
              <a:rPr lang="en-US" sz="2000"/>
              <a:t>receives an Observable emitting OperationResult</a:t>
            </a:r>
          </a:p>
          <a:p>
            <a:pPr lvl="1"/>
            <a:r>
              <a:rPr lang="en-US" sz="2000"/>
              <a:t>returns another Observable emitting OperationResult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A1F74-1586-AEC8-7DFD-3CD9489C0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29"/>
            <a:ext cx="83058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419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8C64-DA73-C56E-A73F-A4834DA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7255"/>
          </a:xfrm>
        </p:spPr>
        <p:txBody>
          <a:bodyPr/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E3A6-679E-5089-0654-870D7BCDD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654" y="756745"/>
            <a:ext cx="12034345" cy="5843752"/>
          </a:xfrm>
        </p:spPr>
        <p:txBody>
          <a:bodyPr/>
          <a:lstStyle/>
          <a:p>
            <a:r>
              <a:rPr lang="en-US"/>
              <a:t>catchError is an </a:t>
            </a:r>
            <a:r>
              <a:rPr lang="en-US" b="1">
                <a:solidFill>
                  <a:srgbClr val="FFFF00"/>
                </a:solidFill>
              </a:rPr>
              <a:t>RxJS operator</a:t>
            </a:r>
            <a:r>
              <a:rPr lang="en-US"/>
              <a:t> used inside pipe() to </a:t>
            </a:r>
            <a:r>
              <a:rPr lang="en-US" b="1"/>
              <a:t>intercept errors from an Observable</a:t>
            </a:r>
            <a:r>
              <a:rPr lang="en-US"/>
              <a:t> and replace them </a:t>
            </a:r>
            <a:r>
              <a:rPr lang="en-US" b="1"/>
              <a:t>with </a:t>
            </a:r>
            <a:r>
              <a:rPr lang="en-US" b="1">
                <a:solidFill>
                  <a:srgbClr val="FFC000"/>
                </a:solidFill>
              </a:rPr>
              <a:t>another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1F4D9-39EF-8EE6-67E0-A8D38D466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287" y="1164512"/>
            <a:ext cx="4752975" cy="183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1739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B7719-2ADD-F546-8678-83CB988B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Forms</a:t>
            </a:r>
          </a:p>
        </p:txBody>
      </p:sp>
    </p:spTree>
    <p:extLst>
      <p:ext uri="{BB962C8B-B14F-4D97-AF65-F5344CB8AC3E}">
        <p14:creationId xmlns:p14="http://schemas.microsoft.com/office/powerpoint/2010/main" val="39886662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4E81-35BE-40C1-EDF7-01A34930D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50" y="0"/>
            <a:ext cx="11525459" cy="643095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Template Driven 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C0645-62BC-3BAE-0D48-E6258473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450" y="643095"/>
            <a:ext cx="11525459" cy="6079252"/>
          </a:xfrm>
        </p:spPr>
        <p:txBody>
          <a:bodyPr/>
          <a:lstStyle/>
          <a:p>
            <a:r>
              <a:rPr lang="en-US"/>
              <a:t>Import </a:t>
            </a:r>
            <a:r>
              <a:rPr lang="en-US" b="1">
                <a:solidFill>
                  <a:srgbClr val="00B0F0"/>
                </a:solidFill>
              </a:rPr>
              <a:t>FormsModule</a:t>
            </a:r>
            <a:r>
              <a:rPr lang="en-US"/>
              <a:t> inside the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04B2A-0E74-96F1-7E17-310E3F507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9" y="1106364"/>
            <a:ext cx="5017177" cy="145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974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90C42-D9D3-2A67-C852-BA6401691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6202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(model driven forms)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1E7E9-69C9-6754-D51B-6B97DF0B0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5" y="596202"/>
            <a:ext cx="11716378" cy="6045757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ColorOptionForm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50"/>
                </a:solidFill>
                <a:effectLst/>
              </a:rPr>
              <a:t>value</a:t>
            </a:r>
            <a:r>
              <a:rPr lang="en-US" sz="1800">
                <a:solidFill>
                  <a:srgbClr val="00B050"/>
                </a:solidFill>
                <a:effectLst/>
              </a:rPr>
              <a:t> // </a:t>
            </a:r>
            <a:r>
              <a:rPr lang="en-US" sz="1800" b="1">
                <a:solidFill>
                  <a:schemeClr val="tx1"/>
                </a:solidFill>
                <a:effectLst/>
              </a:rPr>
              <a:t>{ColorName: '', ColorHexCode: ''}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/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productForm</a:t>
            </a:r>
            <a:r>
              <a:rPr lang="en-US" sz="1800" b="1"/>
              <a:t>.</a:t>
            </a:r>
            <a:r>
              <a:rPr lang="en-US" sz="1800" b="1">
                <a:solidFill>
                  <a:srgbClr val="FFFF00"/>
                </a:solidFill>
              </a:rPr>
              <a:t>controls</a:t>
            </a:r>
            <a:r>
              <a:rPr lang="en-US" sz="1800" b="1"/>
              <a:t>.</a:t>
            </a:r>
            <a:r>
              <a:rPr lang="en-US" sz="1800" b="1">
                <a:solidFill>
                  <a:srgbClr val="00B050"/>
                </a:solidFill>
              </a:rPr>
              <a:t>price</a:t>
            </a:r>
            <a:r>
              <a:rPr lang="en-US" sz="1800" b="1"/>
              <a:t>.</a:t>
            </a:r>
            <a:r>
              <a:rPr lang="en-US" sz="1800" b="1">
                <a:solidFill>
                  <a:srgbClr val="FFC000"/>
                </a:solidFill>
              </a:rPr>
              <a:t>ColorName </a:t>
            </a:r>
            <a:r>
              <a:rPr lang="en-US" sz="1800" b="1">
                <a:solidFill>
                  <a:schemeClr val="tx1"/>
                </a:solidFill>
              </a:rPr>
              <a:t>// value is a read-only</a:t>
            </a:r>
            <a:endParaRPr lang="en-US" sz="1800" b="1">
              <a:solidFill>
                <a:schemeClr val="tx1"/>
              </a:solidFill>
              <a:effectLst/>
            </a:endParaRPr>
          </a:p>
          <a:p>
            <a:r>
              <a:rPr lang="en-US" sz="1800" b="1">
                <a:solidFill>
                  <a:schemeClr val="tx1"/>
                </a:solidFill>
              </a:rPr>
              <a:t>this.</a:t>
            </a:r>
            <a:r>
              <a:rPr lang="en-US" sz="1800" b="1">
                <a:solidFill>
                  <a:srgbClr val="00B0F0"/>
                </a:solidFill>
              </a:rPr>
              <a:t>productForm</a:t>
            </a:r>
            <a:r>
              <a:rPr lang="en-US" sz="1800" b="1">
                <a:solidFill>
                  <a:schemeClr val="tx1"/>
                </a:solidFill>
              </a:rPr>
              <a:t>.controls.price.hasError('required')</a:t>
            </a:r>
          </a:p>
          <a:p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486A2C-AA3F-0343-A02E-C71C5DF7805C}"/>
              </a:ext>
            </a:extLst>
          </p:cNvPr>
          <p:cNvSpPr/>
          <p:nvPr/>
        </p:nvSpPr>
        <p:spPr>
          <a:xfrm>
            <a:off x="344993" y="656490"/>
            <a:ext cx="4839956" cy="158345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})</a:t>
            </a:r>
          </a:p>
        </p:txBody>
      </p:sp>
    </p:spTree>
    <p:extLst>
      <p:ext uri="{BB962C8B-B14F-4D97-AF65-F5344CB8AC3E}">
        <p14:creationId xmlns:p14="http://schemas.microsoft.com/office/powerpoint/2010/main" val="33594430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5A59-A856-90A1-8FED-919F4D83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290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Sweat Alert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460CD-D3F5-1544-D00C-8EF814FC8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602903"/>
            <a:ext cx="11877152" cy="6049106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npm</a:t>
            </a:r>
            <a:r>
              <a:rPr lang="en-US"/>
              <a:t> </a:t>
            </a:r>
            <a:r>
              <a:rPr lang="en-US" b="1">
                <a:solidFill>
                  <a:srgbClr val="FF0000"/>
                </a:solidFill>
              </a:rPr>
              <a:t>install</a:t>
            </a:r>
            <a:r>
              <a:rPr lang="en-US"/>
              <a:t> </a:t>
            </a:r>
            <a:r>
              <a:rPr lang="en-US" b="1"/>
              <a:t>sweetalert2</a:t>
            </a:r>
          </a:p>
          <a:p>
            <a:r>
              <a:rPr lang="en-US">
                <a:effectLst/>
              </a:rPr>
              <a:t>Swal.fire(options) // it returns promise --- </a:t>
            </a:r>
            <a:r>
              <a:rPr lang="en-US" b="1">
                <a:solidFill>
                  <a:srgbClr val="FFFF00"/>
                </a:solidFill>
                <a:effectLst/>
              </a:rPr>
              <a:t>Promise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0000"/>
                </a:solidFill>
                <a:effectLst/>
              </a:rPr>
              <a:t>SweetAlertResult</a:t>
            </a:r>
            <a:r>
              <a:rPr lang="en-US">
                <a:effectLst/>
              </a:rPr>
              <a:t>&lt;any&gt;&gt;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isConfirmed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isDenied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isDismissed</a:t>
            </a:r>
          </a:p>
          <a:p>
            <a:endParaRPr lang="en-US">
              <a:effectLst/>
            </a:endParaRPr>
          </a:p>
          <a:p>
            <a:endParaRPr lang="en-US"/>
          </a:p>
          <a:p>
            <a:r>
              <a:rPr lang="en-US"/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254988269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BE66-9208-201E-099B-E6D3C4F6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HTTP Client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95313-3881-361A-D401-D5FB46E15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402" y="633046"/>
            <a:ext cx="11445073" cy="5817995"/>
          </a:xfrm>
        </p:spPr>
        <p:txBody>
          <a:bodyPr/>
          <a:lstStyle/>
          <a:p>
            <a:r>
              <a:rPr lang="en-US"/>
              <a:t>You need to make httpClient Injectable [make provider for httpClient]</a:t>
            </a:r>
          </a:p>
          <a:p>
            <a:r>
              <a:rPr lang="en-US"/>
              <a:t>configure angular httpClient Service to be available for injection</a:t>
            </a:r>
          </a:p>
          <a:p>
            <a:pPr lvl="1"/>
            <a:r>
              <a:rPr lang="en-US"/>
              <a:t>At </a:t>
            </a:r>
            <a:r>
              <a:rPr lang="en-US" b="1">
                <a:solidFill>
                  <a:srgbClr val="00B0F0"/>
                </a:solidFill>
              </a:rPr>
              <a:t>app.config.ts</a:t>
            </a:r>
            <a:r>
              <a:rPr lang="en-US"/>
              <a:t> : </a:t>
            </a:r>
            <a:r>
              <a:rPr lang="en-US" b="1"/>
              <a:t>at provider array add</a:t>
            </a:r>
            <a:r>
              <a:rPr lang="en-US"/>
              <a:t> ---- </a:t>
            </a:r>
            <a:r>
              <a:rPr lang="en-US" b="1">
                <a:solidFill>
                  <a:srgbClr val="FFFF00"/>
                </a:solidFill>
              </a:rPr>
              <a:t>provideHttpClient(withFetch())</a:t>
            </a:r>
            <a:r>
              <a:rPr lang="en-US"/>
              <a:t> 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1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7D1C-3D2B-71F1-EB50-DC0BB38BD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605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New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632D9-4FCE-E448-1365-D16A50CCA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822" y="566056"/>
            <a:ext cx="11796765" cy="6291943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HTMLInputElement</a:t>
            </a:r>
          </a:p>
          <a:p>
            <a:pPr lvl="1"/>
            <a:r>
              <a:rPr lang="en-US"/>
              <a:t>let target = e.target as HTMLInputElement</a:t>
            </a:r>
          </a:p>
          <a:p>
            <a:r>
              <a:rPr lang="en-US" b="1">
                <a:solidFill>
                  <a:srgbClr val="00B0F0"/>
                </a:solidFill>
              </a:rPr>
              <a:t>KeyboardEvent</a:t>
            </a:r>
          </a:p>
          <a:p>
            <a:pPr lvl="1"/>
            <a:r>
              <a:rPr lang="en-US"/>
              <a:t>If(</a:t>
            </a:r>
            <a:r>
              <a:rPr lang="en-US">
                <a:solidFill>
                  <a:srgbClr val="FFC000"/>
                </a:solidFill>
                <a:effectLst/>
              </a:rPr>
              <a:t>event</a:t>
            </a:r>
            <a:r>
              <a:rPr lang="en-US">
                <a:effectLst/>
              </a:rPr>
              <a:t>.key=== "</a:t>
            </a:r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  <a:effectLst/>
              </a:rPr>
              <a:t>Enter</a:t>
            </a:r>
            <a:r>
              <a:rPr lang="en-US">
                <a:effectLst/>
              </a:rPr>
              <a:t>"</a:t>
            </a:r>
            <a:r>
              <a:rPr lang="en-US"/>
              <a:t>) {}</a:t>
            </a:r>
          </a:p>
          <a:p>
            <a:r>
              <a:rPr lang="en-US" b="1">
                <a:solidFill>
                  <a:srgbClr val="00B0F0"/>
                </a:solidFill>
              </a:rPr>
              <a:t>TemplateRef&lt;T&gt;</a:t>
            </a:r>
          </a:p>
          <a:p>
            <a:pPr lvl="1"/>
            <a:r>
              <a:rPr lang="en-US"/>
              <a:t>This is the official Angular type for any </a:t>
            </a:r>
            <a:r>
              <a:rPr lang="en-US" b="1">
                <a:solidFill>
                  <a:srgbClr val="00B0F0"/>
                </a:solidFill>
              </a:rPr>
              <a:t>&lt;ng-template&gt;</a:t>
            </a:r>
            <a:r>
              <a:rPr lang="en-US"/>
              <a:t> reference</a:t>
            </a:r>
          </a:p>
          <a:p>
            <a:r>
              <a:rPr lang="en-US" b="1">
                <a:solidFill>
                  <a:srgbClr val="00B0F0"/>
                </a:solidFill>
              </a:rPr>
              <a:t>ElementRef&lt;T&gt;</a:t>
            </a:r>
          </a:p>
          <a:p>
            <a:pPr lvl="1"/>
            <a:r>
              <a:rPr lang="en-US"/>
              <a:t>is a class that gives you </a:t>
            </a:r>
            <a:r>
              <a:rPr lang="en-US" b="1"/>
              <a:t>direct access to a DOM element</a:t>
            </a:r>
            <a:r>
              <a:rPr lang="en-US"/>
              <a:t> inside your component</a:t>
            </a:r>
            <a:endParaRPr lang="en-US">
              <a:effectLst/>
            </a:endParaRPr>
          </a:p>
          <a:p>
            <a:pPr lvl="1"/>
            <a:r>
              <a:rPr lang="en-US"/>
              <a:t>usually used together with </a:t>
            </a:r>
            <a:r>
              <a:rPr lang="en-US" b="1"/>
              <a:t>@ViewChild</a:t>
            </a:r>
            <a:r>
              <a:rPr lang="en-US"/>
              <a:t>.</a:t>
            </a:r>
            <a:endParaRPr lang="en-US">
              <a:effectLst/>
            </a:endParaRPr>
          </a:p>
          <a:p>
            <a:pPr lvl="1"/>
            <a:r>
              <a:rPr lang="en-US">
                <a:effectLst/>
              </a:rPr>
              <a:t>Ex: </a:t>
            </a:r>
            <a:r>
              <a:rPr lang="en-US" b="1">
                <a:solidFill>
                  <a:schemeClr val="tx1"/>
                </a:solidFill>
                <a:effectLst/>
              </a:rPr>
              <a:t>@</a:t>
            </a:r>
            <a:r>
              <a:rPr lang="en-US" b="1">
                <a:solidFill>
                  <a:srgbClr val="FF0000"/>
                </a:solidFill>
                <a:effectLst/>
              </a:rPr>
              <a:t>ViewChild</a:t>
            </a:r>
            <a:r>
              <a:rPr lang="en-US">
                <a:effectLst/>
              </a:rPr>
              <a:t>('</a:t>
            </a:r>
            <a:r>
              <a:rPr lang="en-US">
                <a:solidFill>
                  <a:srgbClr val="FFC000"/>
                </a:solidFill>
                <a:effectLst/>
              </a:rPr>
              <a:t>ColorHexCodeInput</a:t>
            </a:r>
            <a:r>
              <a:rPr lang="en-US">
                <a:effectLst/>
              </a:rPr>
              <a:t>') colorHexCodeInput!: </a:t>
            </a:r>
            <a:r>
              <a:rPr lang="en-US" b="1">
                <a:solidFill>
                  <a:srgbClr val="00B0F0"/>
                </a:solidFill>
                <a:effectLst/>
              </a:rPr>
              <a:t>ElementRef</a:t>
            </a:r>
            <a:r>
              <a:rPr lang="en-US">
                <a:solidFill>
                  <a:srgbClr val="0070C0"/>
                </a:solidFill>
                <a:effectLst/>
              </a:rPr>
              <a:t>&lt;</a:t>
            </a:r>
            <a:r>
              <a:rPr lang="en-US" b="1">
                <a:solidFill>
                  <a:srgbClr val="00B0F0"/>
                </a:solidFill>
                <a:effectLst/>
              </a:rPr>
              <a:t>HTMLInputElement</a:t>
            </a:r>
            <a:r>
              <a:rPr lang="en-US">
                <a:solidFill>
                  <a:srgbClr val="7030A0"/>
                </a:solidFill>
                <a:effectLst/>
              </a:rPr>
              <a:t>&gt;</a:t>
            </a:r>
            <a:r>
              <a:rPr lang="en-US">
                <a:effectLst/>
              </a:rPr>
              <a:t>;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</a:p>
          <a:p>
            <a:pPr lvl="1"/>
            <a:r>
              <a:rPr lang="en-US">
                <a:effectLst/>
              </a:rPr>
              <a:t>Modal 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NgbActiveModal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</a:p>
        </p:txBody>
      </p:sp>
    </p:spTree>
    <p:extLst>
      <p:ext uri="{BB962C8B-B14F-4D97-AF65-F5344CB8AC3E}">
        <p14:creationId xmlns:p14="http://schemas.microsoft.com/office/powerpoint/2010/main" val="9492467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E7D7-0329-20B4-C625-E9F949BC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4309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00B0F0"/>
                </a:solidFill>
              </a:rPr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3B0FF-CD57-B24C-8D75-8E1123C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43095"/>
            <a:ext cx="11106783" cy="5988817"/>
          </a:xfrm>
        </p:spPr>
        <p:txBody>
          <a:bodyPr/>
          <a:lstStyle/>
          <a:p>
            <a:r>
              <a:rPr lang="en-US" sz="2400" b="1">
                <a:solidFill>
                  <a:srgbClr val="00B0F0"/>
                </a:solidFill>
              </a:rPr>
              <a:t>$event</a:t>
            </a:r>
            <a:r>
              <a:rPr lang="en-US"/>
              <a:t>: </a:t>
            </a:r>
          </a:p>
          <a:p>
            <a:pPr lvl="1"/>
            <a:r>
              <a:rPr lang="en-US"/>
              <a:t>a </a:t>
            </a:r>
            <a:r>
              <a:rPr lang="en-US" b="1"/>
              <a:t>special Angular template variable</a:t>
            </a:r>
            <a:r>
              <a:rPr lang="en-US"/>
              <a:t> that represents the emitted event object.</a:t>
            </a:r>
          </a:p>
          <a:p>
            <a:pPr lvl="1"/>
            <a:r>
              <a:rPr lang="en-US"/>
              <a:t>$ is  a mendatory</a:t>
            </a:r>
          </a:p>
          <a:p>
            <a:r>
              <a:rPr lang="en-US" b="1">
                <a:solidFill>
                  <a:srgbClr val="00B0F0"/>
                </a:solidFill>
              </a:rPr>
              <a:t>#inputCount</a:t>
            </a:r>
            <a:r>
              <a:rPr lang="en-US"/>
              <a:t>: </a:t>
            </a:r>
          </a:p>
          <a:p>
            <a:pPr lvl="1"/>
            <a:r>
              <a:rPr lang="en-US"/>
              <a:t>template variable</a:t>
            </a:r>
          </a:p>
          <a:p>
            <a:pPr lvl="1"/>
            <a:r>
              <a:rPr lang="en-US"/>
              <a:t>we call it without #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594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596-4391-88B0-AD29-4D64D57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Modal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C6CC-2375-1E48-862C-B483B36E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633047"/>
            <a:ext cx="10353762" cy="5158154"/>
          </a:xfrm>
        </p:spPr>
        <p:txBody>
          <a:bodyPr/>
          <a:lstStyle/>
          <a:p>
            <a:r>
              <a:rPr lang="en-US">
                <a:effectLst/>
              </a:rPr>
              <a:t>  import { </a:t>
            </a:r>
            <a:r>
              <a:rPr lang="en-US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'@ng-bootstrap/ng-bootstrap';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8911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A21D-6DF8-A5B7-D472-3D5757185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014" y="1"/>
            <a:ext cx="11056543" cy="462224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  <a:effectLst/>
              </a:rPr>
              <a:t>mat-paginator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85BD-0B8A-0C35-5AF5-C02BB1A5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462226"/>
            <a:ext cx="11796765" cy="6395774"/>
          </a:xfrm>
        </p:spPr>
        <p:txBody>
          <a:bodyPr>
            <a:normAutofit fontScale="92500" lnSpcReduction="20000"/>
          </a:bodyPr>
          <a:lstStyle/>
          <a:p>
            <a:r>
              <a:rPr lang="en-US">
                <a:effectLst/>
              </a:rPr>
              <a:t>  imports: [MatPaginatorModule],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(page) </a:t>
            </a:r>
          </a:p>
          <a:p>
            <a:pPr lvl="1"/>
            <a:r>
              <a:rPr lang="en-US" b="1">
                <a:solidFill>
                  <a:srgbClr val="00B0F0"/>
                </a:solidFill>
                <a:effectLst/>
              </a:rPr>
              <a:t>declare</a:t>
            </a:r>
            <a:r>
              <a:rPr lang="en-US">
                <a:effectLst/>
              </a:rPr>
              <a:t> (event) MatPaginator.page: </a:t>
            </a:r>
            <a:r>
              <a:rPr lang="en-US">
                <a:solidFill>
                  <a:srgbClr val="00B0F0"/>
                </a:solidFill>
                <a:effectLst/>
              </a:rPr>
              <a:t>EventEmitter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FF00"/>
                </a:solidFill>
                <a:effectLst/>
              </a:rPr>
              <a:t>PageEvent</a:t>
            </a:r>
            <a:r>
              <a:rPr lang="en-US">
                <a:effectLst/>
              </a:rPr>
              <a:t>&gt;</a:t>
            </a:r>
          </a:p>
          <a:p>
            <a:pPr lvl="1"/>
            <a:r>
              <a:rPr lang="en-US">
                <a:effectLst/>
              </a:rPr>
              <a:t>It wait a method that has </a:t>
            </a:r>
            <a:r>
              <a:rPr lang="en-US" b="1">
                <a:solidFill>
                  <a:srgbClr val="00B0F0"/>
                </a:solidFill>
                <a:effectLst/>
              </a:rPr>
              <a:t>PageEvent</a:t>
            </a:r>
            <a:r>
              <a:rPr lang="en-US">
                <a:effectLst/>
              </a:rPr>
              <a:t> as parameter</a:t>
            </a:r>
          </a:p>
          <a:p>
            <a:pPr lvl="1"/>
            <a:r>
              <a:rPr lang="en-US">
                <a:effectLst/>
              </a:rPr>
              <a:t>Event emitted when the paginator changes the </a:t>
            </a:r>
            <a:r>
              <a:rPr lang="en-US" b="1">
                <a:solidFill>
                  <a:srgbClr val="00B0F0"/>
                </a:solidFill>
                <a:effectLst/>
              </a:rPr>
              <a:t>page size</a:t>
            </a:r>
            <a:r>
              <a:rPr lang="en-US">
                <a:effectLst/>
              </a:rPr>
              <a:t> or </a:t>
            </a:r>
            <a:r>
              <a:rPr lang="en-US">
                <a:solidFill>
                  <a:srgbClr val="00B0F0"/>
                </a:solidFill>
                <a:effectLst/>
              </a:rPr>
              <a:t>page index</a:t>
            </a:r>
            <a:r>
              <a:rPr lang="en-US">
                <a:effectLst/>
              </a:rPr>
              <a:t>.</a:t>
            </a:r>
          </a:p>
          <a:p>
            <a:r>
              <a:rPr lang="en-US" b="1"/>
              <a:t>What PageEvent contains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/>
              <a:t>: number;</a:t>
            </a:r>
          </a:p>
          <a:p>
            <a:pPr lvl="1"/>
            <a:r>
              <a:rPr lang="en-US"/>
              <a:t>previousPageIndex?: number;</a:t>
            </a:r>
          </a:p>
          <a:p>
            <a:pPr lvl="1"/>
            <a:r>
              <a:rPr lang="en-US"/>
              <a:t>pageSize: number;</a:t>
            </a:r>
          </a:p>
          <a:p>
            <a:pPr lvl="1"/>
            <a:r>
              <a:rPr lang="en-US"/>
              <a:t>length: number;</a:t>
            </a:r>
            <a:br>
              <a:rPr lang="en-US">
                <a:effectLst/>
              </a:rPr>
            </a:b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D9F5A-5887-5391-D285-66BAF23707C6}"/>
              </a:ext>
            </a:extLst>
          </p:cNvPr>
          <p:cNvSpPr/>
          <p:nvPr/>
        </p:nvSpPr>
        <p:spPr>
          <a:xfrm>
            <a:off x="211014" y="861644"/>
            <a:ext cx="5687368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rgbClr val="FFC000"/>
                </a:solidFill>
              </a:rPr>
              <a:t>&lt;</a:t>
            </a:r>
            <a:r>
              <a:rPr lang="en-US" b="1">
                <a:solidFill>
                  <a:srgbClr val="FFC000"/>
                </a:solidFill>
              </a:rPr>
              <a:t>mat-paginator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[pageSizeOptions]</a:t>
            </a:r>
            <a:r>
              <a:rPr lang="en-US"/>
              <a:t>="[4,8,10,15]"</a:t>
            </a:r>
          </a:p>
          <a:p>
            <a:r>
              <a:rPr lang="en-US">
                <a:solidFill>
                  <a:srgbClr val="00B0F0"/>
                </a:solidFill>
              </a:rPr>
              <a:t>            [length]</a:t>
            </a:r>
            <a:r>
              <a:rPr lang="en-US"/>
              <a:t>="PaginationResult?.totalCount"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[pageSize]</a:t>
            </a:r>
            <a:r>
              <a:rPr lang="en-US"/>
              <a:t>="PaginationResult?.pageSize"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[pageIndex]</a:t>
            </a:r>
            <a:r>
              <a:rPr lang="en-US"/>
              <a:t>="PaginationResult?.currentPage! -1"</a:t>
            </a:r>
          </a:p>
          <a:p>
            <a:r>
              <a:rPr lang="en-US"/>
              <a:t>	    </a:t>
            </a:r>
            <a:r>
              <a:rPr lang="en-US">
                <a:solidFill>
                  <a:srgbClr val="00B0F0"/>
                </a:solidFill>
              </a:rPr>
              <a:t>[showFirstLastButtons]</a:t>
            </a:r>
            <a:r>
              <a:rPr lang="en-US"/>
              <a:t>="true"</a:t>
            </a:r>
          </a:p>
          <a:p>
            <a:r>
              <a:rPr lang="en-US"/>
              <a:t>            </a:t>
            </a:r>
            <a:r>
              <a:rPr lang="en-US" b="1">
                <a:solidFill>
                  <a:srgbClr val="00B0F0"/>
                </a:solidFill>
              </a:rPr>
              <a:t>(page)</a:t>
            </a:r>
            <a:r>
              <a:rPr lang="en-US"/>
              <a:t>="onPageChange</a:t>
            </a:r>
            <a:r>
              <a:rPr lang="en-US" b="1">
                <a:solidFill>
                  <a:srgbClr val="FFFF00"/>
                </a:solidFill>
              </a:rPr>
              <a:t>($event</a:t>
            </a:r>
            <a:r>
              <a:rPr lang="en-US"/>
              <a:t>)"&gt;</a:t>
            </a:r>
          </a:p>
          <a:p>
            <a:r>
              <a:rPr lang="en-US"/>
              <a:t> </a:t>
            </a:r>
            <a:r>
              <a:rPr lang="en-US" b="1">
                <a:solidFill>
                  <a:srgbClr val="FFC000"/>
                </a:solidFill>
              </a:rPr>
              <a:t>&lt;/mat-paginator&gt;</a:t>
            </a:r>
          </a:p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0A90-BE1A-F628-1F3F-C993BDBFAF6E}"/>
              </a:ext>
            </a:extLst>
          </p:cNvPr>
          <p:cNvSpPr/>
          <p:nvPr/>
        </p:nvSpPr>
        <p:spPr>
          <a:xfrm>
            <a:off x="6162991" y="974690"/>
            <a:ext cx="6029009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onPageChange</a:t>
            </a:r>
            <a:r>
              <a:rPr lang="en-US"/>
              <a:t>(</a:t>
            </a:r>
            <a:r>
              <a:rPr lang="en-US">
                <a:solidFill>
                  <a:srgbClr val="92D050"/>
                </a:solidFill>
              </a:rPr>
              <a:t>pageEvent</a:t>
            </a:r>
            <a:r>
              <a:rPr lang="en-US"/>
              <a:t>: </a:t>
            </a:r>
            <a:r>
              <a:rPr lang="en-US">
                <a:solidFill>
                  <a:srgbClr val="00B050"/>
                </a:solidFill>
              </a:rPr>
              <a:t>PageEvent</a:t>
            </a:r>
            <a:r>
              <a:rPr lang="en-US"/>
              <a:t>) {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.PageParam.PageNumber = pageEvent.pageIndex+1;</a:t>
            </a:r>
          </a:p>
          <a:p>
            <a:r>
              <a:rPr lang="en-US"/>
              <a:t>   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.PageParam.PageSize = pageEvent.pageSize;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GetPagedList</a:t>
            </a:r>
            <a:r>
              <a:rPr lang="en-US"/>
              <a:t>();</a:t>
            </a:r>
          </a:p>
          <a:p>
            <a:r>
              <a:rPr lang="en-US"/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2104055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D029-E978-AEE8-ED75-7E72EB0D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36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Optional chaining</a:t>
            </a:r>
            <a:r>
              <a:rPr lang="en-US"/>
              <a:t> [ ?.]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92802-FC35-F4E0-D620-E17D28D3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763675"/>
            <a:ext cx="11535507" cy="5767754"/>
          </a:xfrm>
        </p:spPr>
        <p:txBody>
          <a:bodyPr/>
          <a:lstStyle/>
          <a:p>
            <a:r>
              <a:rPr lang="en-US"/>
              <a:t>It is only allowed when reading values not writing </a:t>
            </a:r>
          </a:p>
          <a:p>
            <a:r>
              <a:rPr lang="en-US"/>
              <a:t>this.PageParam?.PageNumber = 55; // XXX cause it can not be used when assigning values</a:t>
            </a:r>
          </a:p>
          <a:p>
            <a:r>
              <a:rPr lang="en-US"/>
              <a:t>The three correct usages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DDBD-1B9A-9654-8F21-4758DF5DE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7505"/>
            <a:ext cx="4152900" cy="2724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74F759-61FA-94A2-10A8-DDDC6B11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764" y="2254180"/>
            <a:ext cx="3048000" cy="259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1FFB5B-E965-FCF6-3DF7-A4F9BCAE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629" y="2275480"/>
            <a:ext cx="4582690" cy="230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4743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21337</TotalTime>
  <Words>1827</Words>
  <Application>Microsoft Office PowerPoint</Application>
  <PresentationFormat>Widescreen</PresentationFormat>
  <Paragraphs>319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2" baseType="lpstr">
      <vt:lpstr>Calisto MT</vt:lpstr>
      <vt:lpstr>Wingdings 2</vt:lpstr>
      <vt:lpstr>Slate</vt:lpstr>
      <vt:lpstr>Angular &amp; TypeScript</vt:lpstr>
      <vt:lpstr>Installation</vt:lpstr>
      <vt:lpstr>Creating Project </vt:lpstr>
      <vt:lpstr>Project Structure</vt:lpstr>
      <vt:lpstr>Project Structure</vt:lpstr>
      <vt:lpstr>PowerPoint Presentation</vt:lpstr>
      <vt:lpstr>Architecture</vt:lpstr>
      <vt:lpstr>Environment Creation</vt:lpstr>
      <vt:lpstr>Core Folder</vt:lpstr>
      <vt:lpstr>Shared folder</vt:lpstr>
      <vt:lpstr>Pages Folder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Binding</vt:lpstr>
      <vt:lpstr>Observable</vt:lpstr>
      <vt:lpstr>Observer</vt:lpstr>
      <vt:lpstr>Subscriber</vt:lpstr>
      <vt:lpstr>Observable example</vt:lpstr>
      <vt:lpstr>Plain Subject</vt:lpstr>
      <vt:lpstr>BehaviorSubject</vt:lpstr>
      <vt:lpstr>Example 1: Login State</vt:lpstr>
      <vt:lpstr>Example 1: Login State [cont.1]</vt:lpstr>
      <vt:lpstr>BehaviorSubject [cont.]</vt:lpstr>
      <vt:lpstr>BehaviorSubject [cont.2]</vt:lpstr>
      <vt:lpstr>Advanced Example (User Object)</vt:lpstr>
      <vt:lpstr>Creating new component</vt:lpstr>
      <vt:lpstr>Creating side bar</vt:lpstr>
      <vt:lpstr>Adding bootstrap &amp; Bootstrap icon</vt:lpstr>
      <vt:lpstr>Addin CSS file globally</vt:lpstr>
      <vt:lpstr>Create main layout </vt:lpstr>
      <vt:lpstr>Create main layout  (cont.)</vt:lpstr>
      <vt:lpstr>@Injectable</vt:lpstr>
      <vt:lpstr>PIPES with Observable</vt:lpstr>
      <vt:lpstr>PIPES with Observable [cont.1]</vt:lpstr>
      <vt:lpstr>Pipeable Operators</vt:lpstr>
      <vt:lpstr>Pipeable Operators map</vt:lpstr>
      <vt:lpstr>Pipeable Operators filter</vt:lpstr>
      <vt:lpstr>Pipeable Operators CatchError signature</vt:lpstr>
      <vt:lpstr>Pipeable Operators CatchError</vt:lpstr>
      <vt:lpstr>Forms</vt:lpstr>
      <vt:lpstr>Template Driven Forms</vt:lpstr>
      <vt:lpstr>ReactiveFormsModule (model driven forms)</vt:lpstr>
      <vt:lpstr>Sweat Alert </vt:lpstr>
      <vt:lpstr>HTTP Client </vt:lpstr>
      <vt:lpstr>New Types </vt:lpstr>
      <vt:lpstr>New Variables</vt:lpstr>
      <vt:lpstr>Modal</vt:lpstr>
      <vt:lpstr>Angular Material </vt:lpstr>
      <vt:lpstr>Installation</vt:lpstr>
      <vt:lpstr>mat-paginator</vt:lpstr>
      <vt:lpstr>Type Script</vt:lpstr>
      <vt:lpstr>Optional chaining [ ?.]</vt:lpstr>
      <vt:lpstr>Layout [cont.]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احمد محمد سمير</cp:lastModifiedBy>
  <cp:revision>326</cp:revision>
  <dcterms:created xsi:type="dcterms:W3CDTF">2026-01-29T20:04:39Z</dcterms:created>
  <dcterms:modified xsi:type="dcterms:W3CDTF">2026-03-14T22:52:54Z</dcterms:modified>
</cp:coreProperties>
</file>