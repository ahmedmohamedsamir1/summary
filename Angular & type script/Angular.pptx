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84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337" r:id="rId13"/>
    <p:sldId id="264" r:id="rId14"/>
    <p:sldId id="318" r:id="rId15"/>
    <p:sldId id="338" r:id="rId16"/>
    <p:sldId id="270" r:id="rId17"/>
    <p:sldId id="271" r:id="rId18"/>
    <p:sldId id="272" r:id="rId19"/>
    <p:sldId id="273" r:id="rId20"/>
    <p:sldId id="294" r:id="rId21"/>
    <p:sldId id="292" r:id="rId22"/>
    <p:sldId id="295" r:id="rId23"/>
    <p:sldId id="293" r:id="rId24"/>
    <p:sldId id="296" r:id="rId25"/>
    <p:sldId id="298" r:id="rId26"/>
    <p:sldId id="297" r:id="rId27"/>
    <p:sldId id="274" r:id="rId28"/>
    <p:sldId id="276" r:id="rId29"/>
    <p:sldId id="275" r:id="rId30"/>
    <p:sldId id="277" r:id="rId31"/>
    <p:sldId id="278" r:id="rId32"/>
    <p:sldId id="279" r:id="rId33"/>
    <p:sldId id="299" r:id="rId34"/>
    <p:sldId id="300" r:id="rId35"/>
    <p:sldId id="301" r:id="rId36"/>
    <p:sldId id="304" r:id="rId37"/>
    <p:sldId id="305" r:id="rId38"/>
    <p:sldId id="306" r:id="rId39"/>
    <p:sldId id="303" r:id="rId40"/>
    <p:sldId id="302" r:id="rId41"/>
    <p:sldId id="308" r:id="rId42"/>
    <p:sldId id="307" r:id="rId43"/>
    <p:sldId id="315" r:id="rId44"/>
    <p:sldId id="319" r:id="rId45"/>
    <p:sldId id="321" r:id="rId46"/>
    <p:sldId id="320" r:id="rId47"/>
    <p:sldId id="323" r:id="rId48"/>
    <p:sldId id="329" r:id="rId49"/>
    <p:sldId id="310" r:id="rId50"/>
    <p:sldId id="311" r:id="rId51"/>
    <p:sldId id="325" r:id="rId52"/>
    <p:sldId id="314" r:id="rId53"/>
    <p:sldId id="328" r:id="rId54"/>
    <p:sldId id="332" r:id="rId55"/>
    <p:sldId id="327" r:id="rId56"/>
    <p:sldId id="330" r:id="rId57"/>
    <p:sldId id="326" r:id="rId58"/>
    <p:sldId id="333" r:id="rId59"/>
    <p:sldId id="334" r:id="rId60"/>
    <p:sldId id="313" r:id="rId61"/>
    <p:sldId id="316" r:id="rId62"/>
    <p:sldId id="335" r:id="rId63"/>
    <p:sldId id="289" r:id="rId64"/>
    <p:sldId id="290" r:id="rId65"/>
    <p:sldId id="312" r:id="rId66"/>
    <p:sldId id="322" r:id="rId67"/>
    <p:sldId id="280" r:id="rId68"/>
    <p:sldId id="269" r:id="rId69"/>
    <p:sldId id="309" r:id="rId70"/>
    <p:sldId id="324" r:id="rId71"/>
    <p:sldId id="317" r:id="rId72"/>
    <p:sldId id="331" r:id="rId73"/>
    <p:sldId id="336" r:id="rId74"/>
    <p:sldId id="268" r:id="rId7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/>
              <a:t>it is used to handle (manage) asynchronous operations</a:t>
            </a:r>
          </a:p>
          <a:p>
            <a:r>
              <a:rPr lang="en-US"/>
              <a:t>Emits multiple values over time (better for data streaming) (data producer)</a:t>
            </a:r>
          </a:p>
          <a:p>
            <a:r>
              <a:rPr lang="en-US"/>
              <a:t>Lazy (executed when subscribed).</a:t>
            </a:r>
          </a:p>
          <a:p>
            <a:r>
              <a:rPr lang="en-US"/>
              <a:t>Can be canceled (by unsubscribing).</a:t>
            </a:r>
          </a:p>
          <a:p>
            <a:r>
              <a:rPr lang="en-US"/>
              <a:t>Included in ReactiveX Library</a:t>
            </a:r>
          </a:p>
          <a:p>
            <a:r>
              <a:rPr lang="en-US">
                <a:effectLst/>
              </a:rPr>
              <a:t>A stream of data or events (like news) that can be sent over time.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/>
              <a:t>stores the latest value</a:t>
            </a:r>
            <a:endParaRPr lang="en-US" b="1"/>
          </a:p>
          <a:p>
            <a:pPr lvl="1"/>
            <a:r>
              <a:rPr lang="en-US"/>
              <a:t>Immediately sends the last value to new subscribers</a:t>
            </a:r>
            <a:endParaRPr lang="en-US" b="1"/>
          </a:p>
          <a:p>
            <a:r>
              <a:rPr lang="en-US" sz="1800"/>
              <a:t>So any component that subscribes will always receive the </a:t>
            </a:r>
            <a:r>
              <a:rPr lang="en-US" sz="1800" b="1"/>
              <a:t>current state instantly</a:t>
            </a:r>
            <a:r>
              <a:rPr lang="en-US" sz="1800"/>
              <a:t>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296" y="737419"/>
            <a:ext cx="11472517" cy="5456904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</a:p>
          <a:p>
            <a:pPr lvl="1"/>
            <a:endParaRPr lang="en-US" sz="1600" b="1"/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/>
              <a:t>This layout has layout </a:t>
            </a:r>
            <a:r>
              <a:rPr lang="en-US" sz="2400" b="1">
                <a:solidFill>
                  <a:srgbClr val="FFFF00"/>
                </a:solidFill>
              </a:rPr>
              <a:t>header and sidebar </a:t>
            </a:r>
            <a:r>
              <a:rPr lang="en-US"/>
              <a:t>(</a:t>
            </a:r>
            <a:r>
              <a:rPr lang="en-US" err="1"/>
              <a:t>offcanvas</a:t>
            </a:r>
            <a:r>
              <a:rPr lang="en-US"/>
              <a:t> sidebar)</a:t>
            </a:r>
          </a:p>
          <a:p>
            <a:r>
              <a:rPr lang="en-US"/>
              <a:t>Create </a:t>
            </a:r>
            <a:r>
              <a:rPr lang="en-US" b="1">
                <a:solidFill>
                  <a:srgbClr val="FF0000"/>
                </a:solidFill>
              </a:rPr>
              <a:t>main-layout</a:t>
            </a:r>
            <a:r>
              <a:rPr lang="en-US"/>
              <a:t> components at app/Layouts folder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92853"/>
            <a:ext cx="12192000" cy="6139543"/>
          </a:xfrm>
        </p:spPr>
        <p:txBody>
          <a:bodyPr>
            <a:normAutofit/>
          </a:bodyPr>
          <a:lstStyle/>
          <a:p>
            <a:r>
              <a:rPr lang="en-US" b="1"/>
              <a:t>FormGroup </a:t>
            </a:r>
            <a:r>
              <a:rPr lang="en-US"/>
              <a:t>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 : { username: 'Ahmed' , password: '123456' }</a:t>
            </a:r>
          </a:p>
          <a:p>
            <a:pPr lvl="1"/>
            <a:r>
              <a:rPr lang="en-US"/>
              <a:t>getRawValue():  Includes </a:t>
            </a:r>
            <a:r>
              <a:rPr lang="en-US" b="1"/>
              <a:t>disabled controls</a:t>
            </a:r>
            <a:endParaRPr lang="en-US"/>
          </a:p>
          <a:p>
            <a:pPr lvl="1"/>
            <a:r>
              <a:rPr lang="en-US">
                <a:effectLst/>
              </a:rPr>
              <a:t>controls['ColorHexCode']   // </a:t>
            </a:r>
          </a:p>
          <a:p>
            <a:pPr lvl="1"/>
            <a:r>
              <a:rPr lang="en-US">
                <a:effectLst/>
              </a:rPr>
              <a:t>get('ColorHexCode')		// </a:t>
            </a:r>
          </a:p>
          <a:p>
            <a:pPr lvl="1"/>
            <a:r>
              <a:rPr lang="en-US"/>
              <a:t>valid: bool, </a:t>
            </a:r>
            <a:r>
              <a:rPr lang="en-US">
                <a:effectLst/>
              </a:rPr>
              <a:t>A control is valid when its status is VALID</a:t>
            </a:r>
            <a:endParaRPr lang="en-US"/>
          </a:p>
          <a:p>
            <a:pPr lvl="1"/>
            <a:r>
              <a:rPr lang="en-US"/>
              <a:t>invalid</a:t>
            </a:r>
          </a:p>
          <a:p>
            <a:pPr lvl="1"/>
            <a:r>
              <a:rPr lang="en-US"/>
              <a:t>errors // Errors applied to the </a:t>
            </a:r>
            <a:r>
              <a:rPr lang="en-US" b="1"/>
              <a:t>group itself</a:t>
            </a:r>
            <a:r>
              <a:rPr lang="en-US"/>
              <a:t> (not children)</a:t>
            </a:r>
          </a:p>
          <a:p>
            <a:pPr lvl="1"/>
            <a:r>
              <a:rPr lang="en-US"/>
              <a:t>status </a:t>
            </a:r>
          </a:p>
          <a:p>
            <a:pPr lvl="1"/>
            <a:r>
              <a:rPr lang="en-US"/>
              <a:t>form.setValue({ username: 'Ahmed’, password: '123’ }); // Must include ALL controls</a:t>
            </a:r>
          </a:p>
          <a:p>
            <a:pPr lvl="1"/>
            <a:r>
              <a:rPr lang="en-US"/>
              <a:t>form.patchValue({  username: 'Ahmed’ }); // lets you update </a:t>
            </a:r>
            <a:r>
              <a:rPr lang="en-US" b="1"/>
              <a:t>only the fields you provide, </a:t>
            </a:r>
            <a:r>
              <a:rPr lang="en-US" sz="1600" b="1"/>
              <a:t>always triggers validation</a:t>
            </a:r>
            <a:endParaRPr lang="en-US"/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endParaRPr lang="en-US"/>
          </a:p>
          <a:p>
            <a:r>
              <a:rPr lang="en-US"/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EB160-5530-65CA-AC3A-EEED12B3B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Angular DT</a:t>
            </a:r>
          </a:p>
        </p:txBody>
      </p:sp>
    </p:spTree>
    <p:extLst>
      <p:ext uri="{BB962C8B-B14F-4D97-AF65-F5344CB8AC3E}">
        <p14:creationId xmlns:p14="http://schemas.microsoft.com/office/powerpoint/2010/main" val="14058692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/>
              <a:t> </a:t>
            </a:r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B8C-B4AC-666B-1F7E-38E2ECDB9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A98D0-3E4E-AD05-D805-81F7B4427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5162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emitted event object.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462226"/>
            <a:ext cx="11796765" cy="6395774"/>
          </a:xfrm>
        </p:spPr>
        <p:txBody>
          <a:bodyPr>
            <a:normAutofit fontScale="925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solidFill>
                  <a:srgbClr val="00B0F0"/>
                </a:solidFill>
                <a:effectLst/>
              </a:rPr>
              <a:t>declare</a:t>
            </a:r>
            <a:r>
              <a:rPr lang="en-US">
                <a:effectLst/>
              </a:rPr>
              <a:t> (event) MatPaginator.page: </a:t>
            </a:r>
            <a:r>
              <a:rPr lang="en-US">
                <a:solidFill>
                  <a:srgbClr val="00B0F0"/>
                </a:solidFill>
                <a:effectLst/>
              </a:rPr>
              <a:t>EventEmitter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>
                <a:effectLst/>
              </a:rPr>
              <a:t>&gt;</a:t>
            </a:r>
          </a:p>
          <a:p>
            <a:pPr lvl="1"/>
            <a:r>
              <a:rPr lang="en-US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>
                <a:effectLst/>
              </a:rPr>
              <a:t> as parameter</a:t>
            </a:r>
          </a:p>
          <a:p>
            <a:pPr lvl="1"/>
            <a:r>
              <a:rPr lang="en-US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>
                <a:effectLst/>
              </a:rPr>
              <a:t> or </a:t>
            </a:r>
            <a:r>
              <a:rPr lang="en-US">
                <a:solidFill>
                  <a:srgbClr val="00B0F0"/>
                </a:solidFill>
                <a:effectLst/>
              </a:rPr>
              <a:t>page index</a:t>
            </a:r>
            <a:r>
              <a:rPr lang="en-US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: number;</a:t>
            </a:r>
          </a:p>
          <a:p>
            <a:pPr lvl="1"/>
            <a:r>
              <a:rPr lang="en-US"/>
              <a:t>previousPageIndex?: number;</a:t>
            </a:r>
          </a:p>
          <a:p>
            <a:pPr lvl="1"/>
            <a:r>
              <a:rPr lang="en-US"/>
              <a:t>pageSize: number;</a:t>
            </a:r>
          </a:p>
          <a:p>
            <a:pPr lvl="1"/>
            <a:r>
              <a:rPr lang="en-US"/>
              <a:t>length: number;</a:t>
            </a:r>
            <a:br>
              <a:rPr lang="en-US">
                <a:effectLst/>
              </a:rPr>
            </a:b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211014" y="861644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6162991" y="974690"/>
            <a:ext cx="6029009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pageEvent.pageIndex+1;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58553</TotalTime>
  <Words>2755</Words>
  <Application>Microsoft Office PowerPoint</Application>
  <PresentationFormat>Widescreen</PresentationFormat>
  <Paragraphs>456</Paragraphs>
  <Slides>74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Environment Creation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Start Binding</vt:lpstr>
      <vt:lpstr>Binding</vt:lpstr>
      <vt:lpstr>Event binding</vt:lpstr>
      <vt:lpstr>End Binding</vt:lpstr>
      <vt:lpstr>Observable</vt:lpstr>
      <vt:lpstr>Observer</vt:lpstr>
      <vt:lpstr>Subscriber</vt:lpstr>
      <vt:lpstr>Observable example</vt:lpstr>
      <vt:lpstr>Plain Subject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Creating new component</vt:lpstr>
      <vt:lpstr>Creating side bar</vt:lpstr>
      <vt:lpstr>Adding bootstrap &amp; Bootstrap icon</vt:lpstr>
      <vt:lpstr>Addin CSS file globally</vt:lpstr>
      <vt:lpstr>Create main layout </vt:lpstr>
      <vt:lpstr>Create main layout  (cont.)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HTTP Client </vt:lpstr>
      <vt:lpstr>Angular DT</vt:lpstr>
      <vt:lpstr>New Types </vt:lpstr>
      <vt:lpstr>AsyncValidatorFn &amp; ValidatorFn &amp; ValidationErrors</vt:lpstr>
      <vt:lpstr>PowerPoint Presentation</vt:lpstr>
      <vt:lpstr>End Angular DT</vt:lpstr>
      <vt:lpstr>ng-container</vt:lpstr>
      <vt:lpstr>ng-template</vt:lpstr>
      <vt:lpstr>ng-template</vt:lpstr>
      <vt:lpstr>ng-template [cont.2]</vt:lpstr>
      <vt:lpstr>New Variables</vt:lpstr>
      <vt:lpstr>Modal</vt:lpstr>
      <vt:lpstr>Modal [cont.]</vt:lpstr>
      <vt:lpstr>Angular Material </vt:lpstr>
      <vt:lpstr>Installation</vt:lpstr>
      <vt:lpstr>mat-paginator</vt:lpstr>
      <vt:lpstr>Febric.js</vt:lpstr>
      <vt:lpstr>Layout [cont.]</vt:lpstr>
      <vt:lpstr>Type Script</vt:lpstr>
      <vt:lpstr>Optional chaining [ ?.]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احمد محمد سمير</cp:lastModifiedBy>
  <cp:revision>522</cp:revision>
  <dcterms:created xsi:type="dcterms:W3CDTF">2026-01-29T20:04:39Z</dcterms:created>
  <dcterms:modified xsi:type="dcterms:W3CDTF">2026-04-16T18:55:34Z</dcterms:modified>
</cp:coreProperties>
</file>