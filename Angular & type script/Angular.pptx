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0"/>
  </p:notesMasterIdLst>
  <p:sldIdLst>
    <p:sldId id="256" r:id="rId2"/>
    <p:sldId id="266" r:id="rId3"/>
    <p:sldId id="265" r:id="rId4"/>
    <p:sldId id="284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337" r:id="rId13"/>
    <p:sldId id="264" r:id="rId14"/>
    <p:sldId id="318" r:id="rId15"/>
    <p:sldId id="338" r:id="rId16"/>
    <p:sldId id="361" r:id="rId17"/>
    <p:sldId id="270" r:id="rId18"/>
    <p:sldId id="271" r:id="rId19"/>
    <p:sldId id="272" r:id="rId20"/>
    <p:sldId id="273" r:id="rId21"/>
    <p:sldId id="292" r:id="rId22"/>
    <p:sldId id="295" r:id="rId23"/>
    <p:sldId id="293" r:id="rId24"/>
    <p:sldId id="296" r:id="rId25"/>
    <p:sldId id="298" r:id="rId26"/>
    <p:sldId id="297" r:id="rId27"/>
    <p:sldId id="294" r:id="rId28"/>
    <p:sldId id="362" r:id="rId29"/>
    <p:sldId id="363" r:id="rId30"/>
    <p:sldId id="276" r:id="rId31"/>
    <p:sldId id="274" r:id="rId32"/>
    <p:sldId id="340" r:id="rId33"/>
    <p:sldId id="275" r:id="rId34"/>
    <p:sldId id="339" r:id="rId35"/>
    <p:sldId id="366" r:id="rId36"/>
    <p:sldId id="367" r:id="rId37"/>
    <p:sldId id="277" r:id="rId38"/>
    <p:sldId id="368" r:id="rId39"/>
    <p:sldId id="383" r:id="rId40"/>
    <p:sldId id="387" r:id="rId41"/>
    <p:sldId id="388" r:id="rId42"/>
    <p:sldId id="389" r:id="rId43"/>
    <p:sldId id="390" r:id="rId44"/>
    <p:sldId id="391" r:id="rId45"/>
    <p:sldId id="278" r:id="rId46"/>
    <p:sldId id="279" r:id="rId47"/>
    <p:sldId id="386" r:id="rId48"/>
    <p:sldId id="299" r:id="rId49"/>
    <p:sldId id="300" r:id="rId50"/>
    <p:sldId id="301" r:id="rId51"/>
    <p:sldId id="304" r:id="rId52"/>
    <p:sldId id="305" r:id="rId53"/>
    <p:sldId id="306" r:id="rId54"/>
    <p:sldId id="303" r:id="rId55"/>
    <p:sldId id="302" r:id="rId56"/>
    <p:sldId id="308" r:id="rId57"/>
    <p:sldId id="307" r:id="rId58"/>
    <p:sldId id="315" r:id="rId59"/>
    <p:sldId id="319" r:id="rId60"/>
    <p:sldId id="321" r:id="rId61"/>
    <p:sldId id="320" r:id="rId62"/>
    <p:sldId id="323" r:id="rId63"/>
    <p:sldId id="329" r:id="rId64"/>
    <p:sldId id="310" r:id="rId65"/>
    <p:sldId id="351" r:id="rId66"/>
    <p:sldId id="350" r:id="rId67"/>
    <p:sldId id="311" r:id="rId68"/>
    <p:sldId id="325" r:id="rId69"/>
    <p:sldId id="314" r:id="rId70"/>
    <p:sldId id="328" r:id="rId71"/>
    <p:sldId id="342" r:id="rId72"/>
    <p:sldId id="346" r:id="rId73"/>
    <p:sldId id="353" r:id="rId74"/>
    <p:sldId id="354" r:id="rId75"/>
    <p:sldId id="355" r:id="rId76"/>
    <p:sldId id="356" r:id="rId77"/>
    <p:sldId id="369" r:id="rId78"/>
    <p:sldId id="372" r:id="rId79"/>
    <p:sldId id="330" r:id="rId80"/>
    <p:sldId id="326" r:id="rId81"/>
    <p:sldId id="333" r:id="rId82"/>
    <p:sldId id="334" r:id="rId83"/>
    <p:sldId id="327" r:id="rId84"/>
    <p:sldId id="344" r:id="rId85"/>
    <p:sldId id="313" r:id="rId86"/>
    <p:sldId id="345" r:id="rId87"/>
    <p:sldId id="347" r:id="rId88"/>
    <p:sldId id="349" r:id="rId89"/>
    <p:sldId id="352" r:id="rId90"/>
    <p:sldId id="348" r:id="rId91"/>
    <p:sldId id="316" r:id="rId92"/>
    <p:sldId id="335" r:id="rId93"/>
    <p:sldId id="289" r:id="rId94"/>
    <p:sldId id="290" r:id="rId95"/>
    <p:sldId id="312" r:id="rId96"/>
    <p:sldId id="357" r:id="rId97"/>
    <p:sldId id="341" r:id="rId98"/>
    <p:sldId id="322" r:id="rId99"/>
    <p:sldId id="280" r:id="rId100"/>
    <p:sldId id="358" r:id="rId101"/>
    <p:sldId id="360" r:id="rId102"/>
    <p:sldId id="373" r:id="rId103"/>
    <p:sldId id="374" r:id="rId104"/>
    <p:sldId id="375" r:id="rId105"/>
    <p:sldId id="382" r:id="rId106"/>
    <p:sldId id="359" r:id="rId107"/>
    <p:sldId id="376" r:id="rId108"/>
    <p:sldId id="379" r:id="rId109"/>
    <p:sldId id="380" r:id="rId110"/>
    <p:sldId id="381" r:id="rId111"/>
    <p:sldId id="378" r:id="rId112"/>
    <p:sldId id="269" r:id="rId113"/>
    <p:sldId id="309" r:id="rId114"/>
    <p:sldId id="324" r:id="rId115"/>
    <p:sldId id="317" r:id="rId116"/>
    <p:sldId id="331" r:id="rId117"/>
    <p:sldId id="336" r:id="rId118"/>
    <p:sldId id="268" r:id="rId1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35B1F55-086F-4E48-B9CC-106EC9368258}">
          <p14:sldIdLst>
            <p14:sldId id="256"/>
            <p14:sldId id="266"/>
            <p14:sldId id="265"/>
            <p14:sldId id="284"/>
            <p14:sldId id="257"/>
            <p14:sldId id="258"/>
            <p14:sldId id="260"/>
            <p14:sldId id="261"/>
            <p14:sldId id="262"/>
            <p14:sldId id="263"/>
            <p14:sldId id="267"/>
            <p14:sldId id="337"/>
            <p14:sldId id="264"/>
            <p14:sldId id="318"/>
            <p14:sldId id="338"/>
            <p14:sldId id="361"/>
            <p14:sldId id="270"/>
            <p14:sldId id="271"/>
            <p14:sldId id="272"/>
            <p14:sldId id="273"/>
            <p14:sldId id="292"/>
            <p14:sldId id="295"/>
            <p14:sldId id="293"/>
            <p14:sldId id="296"/>
            <p14:sldId id="298"/>
            <p14:sldId id="297"/>
            <p14:sldId id="294"/>
            <p14:sldId id="362"/>
            <p14:sldId id="363"/>
            <p14:sldId id="276"/>
            <p14:sldId id="274"/>
            <p14:sldId id="340"/>
            <p14:sldId id="275"/>
            <p14:sldId id="339"/>
            <p14:sldId id="366"/>
            <p14:sldId id="367"/>
            <p14:sldId id="277"/>
            <p14:sldId id="368"/>
            <p14:sldId id="383"/>
            <p14:sldId id="387"/>
            <p14:sldId id="388"/>
            <p14:sldId id="389"/>
            <p14:sldId id="390"/>
            <p14:sldId id="391"/>
            <p14:sldId id="278"/>
            <p14:sldId id="279"/>
            <p14:sldId id="386"/>
            <p14:sldId id="299"/>
            <p14:sldId id="300"/>
            <p14:sldId id="301"/>
            <p14:sldId id="304"/>
            <p14:sldId id="305"/>
            <p14:sldId id="306"/>
            <p14:sldId id="303"/>
            <p14:sldId id="302"/>
            <p14:sldId id="308"/>
            <p14:sldId id="307"/>
            <p14:sldId id="315"/>
            <p14:sldId id="319"/>
            <p14:sldId id="321"/>
            <p14:sldId id="320"/>
            <p14:sldId id="323"/>
            <p14:sldId id="329"/>
            <p14:sldId id="310"/>
            <p14:sldId id="351"/>
            <p14:sldId id="350"/>
            <p14:sldId id="311"/>
            <p14:sldId id="325"/>
            <p14:sldId id="314"/>
            <p14:sldId id="328"/>
            <p14:sldId id="342"/>
            <p14:sldId id="346"/>
            <p14:sldId id="353"/>
            <p14:sldId id="354"/>
            <p14:sldId id="355"/>
            <p14:sldId id="356"/>
            <p14:sldId id="369"/>
            <p14:sldId id="372"/>
            <p14:sldId id="330"/>
            <p14:sldId id="326"/>
            <p14:sldId id="333"/>
            <p14:sldId id="334"/>
            <p14:sldId id="327"/>
            <p14:sldId id="344"/>
            <p14:sldId id="313"/>
            <p14:sldId id="345"/>
            <p14:sldId id="347"/>
            <p14:sldId id="349"/>
            <p14:sldId id="352"/>
            <p14:sldId id="348"/>
            <p14:sldId id="316"/>
            <p14:sldId id="335"/>
            <p14:sldId id="289"/>
            <p14:sldId id="290"/>
            <p14:sldId id="312"/>
            <p14:sldId id="357"/>
            <p14:sldId id="341"/>
            <p14:sldId id="322"/>
            <p14:sldId id="280"/>
            <p14:sldId id="358"/>
            <p14:sldId id="360"/>
            <p14:sldId id="373"/>
            <p14:sldId id="374"/>
            <p14:sldId id="375"/>
            <p14:sldId id="382"/>
            <p14:sldId id="359"/>
            <p14:sldId id="376"/>
            <p14:sldId id="379"/>
            <p14:sldId id="380"/>
            <p14:sldId id="381"/>
            <p14:sldId id="378"/>
            <p14:sldId id="269"/>
            <p14:sldId id="309"/>
            <p14:sldId id="324"/>
            <p14:sldId id="317"/>
            <p14:sldId id="331"/>
            <p14:sldId id="336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62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presProps" Target="pres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7F856-C08C-4D83-8D37-28A6206D94A8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F432B-6366-4A70-9E8F-11E1E8450E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459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0F432B-6366-4A70-9E8F-11E1E8450E94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262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388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548D-0C11-F00B-C5A2-BFB09807E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Observable</a:t>
            </a:r>
          </a:p>
        </p:txBody>
      </p:sp>
    </p:spTree>
    <p:extLst>
      <p:ext uri="{BB962C8B-B14F-4D97-AF65-F5344CB8AC3E}">
        <p14:creationId xmlns:p14="http://schemas.microsoft.com/office/powerpoint/2010/main" val="1742012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b="1"/>
              <a:t>it is used to handle (manage) asynchronous operations</a:t>
            </a:r>
          </a:p>
          <a:p>
            <a:r>
              <a:rPr lang="en-US" b="1"/>
              <a:t>Emits multiple values over time (better for data streaming) (data producer)</a:t>
            </a:r>
          </a:p>
          <a:p>
            <a:r>
              <a:rPr lang="en-US" b="1"/>
              <a:t>Lazy (executed when subscribed).</a:t>
            </a:r>
          </a:p>
          <a:p>
            <a:r>
              <a:rPr lang="en-US" b="1"/>
              <a:t>Can be canceled (by unsubscribing).</a:t>
            </a:r>
          </a:p>
          <a:p>
            <a:r>
              <a:rPr lang="en-US" b="1"/>
              <a:t>Included in ReactiveX Library</a:t>
            </a:r>
          </a:p>
          <a:p>
            <a:r>
              <a:rPr lang="en-US" b="1">
                <a:effectLst/>
              </a:rPr>
              <a:t>A stream of data or events (like news) that can be sent over time.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 b="1"/>
              <a:t>stores the latest value</a:t>
            </a:r>
          </a:p>
          <a:p>
            <a:pPr lvl="1"/>
            <a:r>
              <a:rPr lang="en-US" b="1"/>
              <a:t>Immediately sends the last value to new subscribers</a:t>
            </a:r>
          </a:p>
          <a:p>
            <a:r>
              <a:rPr lang="en-US" sz="1800" b="1"/>
              <a:t>So any component that subscribes will always receive the current state instantly.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  <a:p>
            <a:r>
              <a:rPr lang="en-US" sz="2000"/>
              <a:t>The subscriber is like listener to valuw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2C2F-28FC-4F15-C67A-2F9ABA5B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4103-3158-6B5D-CAA8-6052AEC03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Observable</a:t>
            </a:r>
          </a:p>
        </p:txBody>
      </p:sp>
    </p:spTree>
    <p:extLst>
      <p:ext uri="{BB962C8B-B14F-4D97-AF65-F5344CB8AC3E}">
        <p14:creationId xmlns:p14="http://schemas.microsoft.com/office/powerpoint/2010/main" val="25163865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5831-9ABD-4BDF-3724-5DDD29B8B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3530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visible$ | async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AE03B-CB90-1824-3342-A2B2EAFEC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33530"/>
            <a:ext cx="10353762" cy="5948623"/>
          </a:xfrm>
        </p:spPr>
        <p:txBody>
          <a:bodyPr>
            <a:normAutofit/>
          </a:bodyPr>
          <a:lstStyle/>
          <a:p>
            <a:r>
              <a:rPr lang="en-US"/>
              <a:t>&lt;div class="loading" *ngIf="</a:t>
            </a:r>
            <a:r>
              <a:rPr lang="en-US" b="1">
                <a:solidFill>
                  <a:srgbClr val="CC3399"/>
                </a:solidFill>
              </a:rPr>
              <a:t>visible$</a:t>
            </a:r>
            <a:r>
              <a:rPr lang="en-US"/>
              <a:t> | </a:t>
            </a:r>
            <a:r>
              <a:rPr lang="en-US" b="1">
                <a:solidFill>
                  <a:srgbClr val="00B0F0"/>
                </a:solidFill>
              </a:rPr>
              <a:t>async</a:t>
            </a:r>
            <a:r>
              <a:rPr lang="en-US"/>
              <a:t>"&gt;&lt;/div&gt;</a:t>
            </a:r>
          </a:p>
          <a:p>
            <a:r>
              <a:rPr lang="en-US"/>
              <a:t>visible$ is observable -- you component.ts has:  </a:t>
            </a:r>
            <a:r>
              <a:rPr lang="en-US" b="1">
                <a:solidFill>
                  <a:srgbClr val="FFFF00"/>
                </a:solidFill>
              </a:rPr>
              <a:t>visible$</a:t>
            </a:r>
            <a:r>
              <a:rPr lang="en-US" b="1"/>
              <a:t>: Observable&lt;</a:t>
            </a:r>
            <a:r>
              <a:rPr lang="en-US" b="1">
                <a:solidFill>
                  <a:srgbClr val="CC3399"/>
                </a:solidFill>
              </a:rPr>
              <a:t>boolean</a:t>
            </a:r>
            <a:r>
              <a:rPr lang="en-US" b="1"/>
              <a:t>&gt;;</a:t>
            </a:r>
          </a:p>
          <a:p>
            <a:r>
              <a:rPr lang="en-US"/>
              <a:t>The async pipe </a:t>
            </a:r>
          </a:p>
          <a:p>
            <a:pPr lvl="1"/>
            <a:r>
              <a:rPr lang="en-US" b="1"/>
              <a:t>subscribes to the observable </a:t>
            </a:r>
          </a:p>
          <a:p>
            <a:pPr lvl="1"/>
            <a:r>
              <a:rPr lang="en-US" b="1"/>
              <a:t>gets the latest emitted value </a:t>
            </a:r>
          </a:p>
          <a:p>
            <a:pPr lvl="1"/>
            <a:r>
              <a:rPr lang="en-US" b="1"/>
              <a:t>updates the UI when the value changes </a:t>
            </a:r>
          </a:p>
          <a:p>
            <a:pPr lvl="1"/>
            <a:r>
              <a:rPr lang="en-US" b="1"/>
              <a:t>unsubscribes when the component is destroyed </a:t>
            </a:r>
            <a:endParaRPr lang="en-US"/>
          </a:p>
          <a:p>
            <a:r>
              <a:rPr lang="en-US" b="1"/>
              <a:t>Without async, you'd need: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false;</a:t>
            </a:r>
          </a:p>
          <a:p>
            <a:pPr lvl="1"/>
            <a:r>
              <a:rPr lang="en-US"/>
              <a:t>ngOnInit() { this.spinnerService.visible$.subscribe(value =&gt; { this.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value; });  }</a:t>
            </a:r>
          </a:p>
          <a:p>
            <a:pPr lvl="1"/>
            <a:r>
              <a:rPr lang="en-US"/>
              <a:t>&lt;div *ngIf="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"&gt;&lt;/div&gt;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5857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FDE5-1E08-14BD-BCC4-85D0620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E7F3-AB74-8C5F-694E-A1DD37CC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1513299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 b="1"/>
              <a:t>npm install @ng-bootstrap/ng-bootstrap@15	// with angular 16</a:t>
            </a:r>
          </a:p>
          <a:p>
            <a:pPr lvl="1"/>
            <a:r>
              <a:rPr lang="en-US" b="1"/>
              <a:t>npm install @ng-bootstrap/ng-bootstrap@16  	// with angular 17</a:t>
            </a:r>
          </a:p>
          <a:p>
            <a:pPr lvl="1"/>
            <a:r>
              <a:rPr lang="en-US" b="1"/>
              <a:t>npm install @ng-bootstrap/ng-bootstrap@17 	// with angular 18</a:t>
            </a:r>
          </a:p>
          <a:p>
            <a:pPr lvl="1"/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725366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2835917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169E4-AEBB-D18C-40E1-04387CDC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F285-F64F-E46E-5F12-D0FEAE0C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CSS</a:t>
            </a:r>
          </a:p>
        </p:txBody>
      </p:sp>
    </p:spTree>
    <p:extLst>
      <p:ext uri="{BB962C8B-B14F-4D97-AF65-F5344CB8AC3E}">
        <p14:creationId xmlns:p14="http://schemas.microsoft.com/office/powerpoint/2010/main" val="38976978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AD825-945B-DE52-D932-59CACBC4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D111F-5D8E-225A-25F4-349D8B030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CSS</a:t>
            </a:r>
          </a:p>
        </p:txBody>
      </p:sp>
    </p:spTree>
    <p:extLst>
      <p:ext uri="{BB962C8B-B14F-4D97-AF65-F5344CB8AC3E}">
        <p14:creationId xmlns:p14="http://schemas.microsoft.com/office/powerpoint/2010/main" val="19180587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E6BD-0C7B-6BA4-77ED-677D5406A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1182502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B360A-4087-24E1-28BE-F53218708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030" y="974690"/>
            <a:ext cx="11224009" cy="5255288"/>
          </a:xfrm>
        </p:spPr>
        <p:txBody>
          <a:bodyPr/>
          <a:lstStyle/>
          <a:p>
            <a:r>
              <a:rPr lang="en-US" b="1"/>
              <a:t>The behavior of following code will be</a:t>
            </a:r>
          </a:p>
          <a:p>
            <a:pPr lvl="1"/>
            <a:r>
              <a:rPr lang="en-US" b="1"/>
              <a:t>A side bar that appears at md+ screens</a:t>
            </a:r>
          </a:p>
          <a:p>
            <a:pPr lvl="1"/>
            <a:r>
              <a:rPr lang="en-US" b="1"/>
              <a:t>At screen less than md+ the side bar will disappeared and toggle (hamburger) button will appear to toggle the sidebar</a:t>
            </a:r>
          </a:p>
          <a:p>
            <a:pPr lvl="1"/>
            <a:r>
              <a:rPr lang="en-US" b="1"/>
              <a:t>The sidebar will be as offcanvas</a:t>
            </a:r>
          </a:p>
        </p:txBody>
      </p:sp>
    </p:spTree>
    <p:extLst>
      <p:ext uri="{BB962C8B-B14F-4D97-AF65-F5344CB8AC3E}">
        <p14:creationId xmlns:p14="http://schemas.microsoft.com/office/powerpoint/2010/main" val="21220244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E56E-2E6A-CCA4-7CA5-D8DA7644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Side bar HTML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918D38-5CF9-77A1-0A46-D29F1C11CEC6}"/>
              </a:ext>
            </a:extLst>
          </p:cNvPr>
          <p:cNvSpPr txBox="1"/>
          <p:nvPr/>
        </p:nvSpPr>
        <p:spPr>
          <a:xfrm>
            <a:off x="0" y="1452771"/>
            <a:ext cx="121082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h-100"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&lt;!-- ONE sidebar: works as offcanvas on from xs to sm, normal from md --&gt;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 offcanvas-start d-md-block border-0"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tabindex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"-1"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"a-sidebar"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"offcanvas-header d-md-none"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"offcanvas-title"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"btn-close"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data-bs-dismiss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"offcanvas-body p-0"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 flex-column p-2"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"/mainLayout/Product"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 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[routerLink]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'/mainLayout'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'about'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About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Logout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</a:p>
        </p:txBody>
      </p:sp>
    </p:spTree>
    <p:extLst>
      <p:ext uri="{BB962C8B-B14F-4D97-AF65-F5344CB8AC3E}">
        <p14:creationId xmlns:p14="http://schemas.microsoft.com/office/powerpoint/2010/main" val="3254954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0CF1E-44AC-5ADC-AB26-66866B167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783771"/>
          </a:xfrm>
        </p:spPr>
        <p:txBody>
          <a:bodyPr/>
          <a:lstStyle/>
          <a:p>
            <a:r>
              <a:rPr lang="en-US"/>
              <a:t>Sidebar CSS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BA032D-8EF7-03AF-C94F-ED0F7013B336}"/>
              </a:ext>
            </a:extLst>
          </p:cNvPr>
          <p:cNvSpPr txBox="1"/>
          <p:nvPr/>
        </p:nvSpPr>
        <p:spPr>
          <a:xfrm>
            <a:off x="552659" y="1492969"/>
            <a:ext cx="1086226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max-width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background-color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#343a40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@media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768px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the default is transform: translateX(-100%); 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default visibility: hidden*/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visibility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visible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/*default position: fixed*/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              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100vh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81150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E0D53-CF4D-31D7-9D22-43AF00A3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70450"/>
          </a:xfrm>
        </p:spPr>
        <p:txBody>
          <a:bodyPr/>
          <a:lstStyle/>
          <a:p>
            <a:r>
              <a:rPr lang="en-US"/>
              <a:t>Sidebar 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FEA6-9D42-E1F3-3E26-C2A2D1833FF3}"/>
              </a:ext>
            </a:extLst>
          </p:cNvPr>
          <p:cNvSpPr txBox="1"/>
          <p:nvPr/>
        </p:nvSpPr>
        <p:spPr>
          <a:xfrm>
            <a:off x="522515" y="970450"/>
            <a:ext cx="1102304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Component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'@angular/core'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RouterLink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'@angular/router'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'app-side-bar'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'./side-bar.component.html'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'./side-bar.component.css'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2723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2B855-9938-F497-3B22-185FB16B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844"/>
            <a:ext cx="10353762" cy="970450"/>
          </a:xfrm>
        </p:spPr>
        <p:txBody>
          <a:bodyPr/>
          <a:lstStyle/>
          <a:p>
            <a:r>
              <a:rPr lang="en-US"/>
              <a:t>Main layout.ts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434F83-1273-DC7E-B6B8-6EFC0D9727B8}"/>
              </a:ext>
            </a:extLst>
          </p:cNvPr>
          <p:cNvSpPr txBox="1"/>
          <p:nvPr/>
        </p:nvSpPr>
        <p:spPr>
          <a:xfrm>
            <a:off x="291402" y="1225689"/>
            <a:ext cx="11354637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'app-main-layout'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RouterOutlet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'./main-layout.component.html'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'./main-layout.component.css'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MainLayoutComponent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ngOnInit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05856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Main-layout.html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91D297-3B11-1BBF-3588-0C5A1FAAE4A8}"/>
              </a:ext>
            </a:extLst>
          </p:cNvPr>
          <p:cNvSpPr txBox="1"/>
          <p:nvPr/>
        </p:nvSpPr>
        <p:spPr>
          <a:xfrm>
            <a:off x="0" y="1319436"/>
            <a:ext cx="12192000" cy="4812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mw-100"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"col flex-column page-content"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"layout-header d-flex align-items-center text-bg-dark p-10"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style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"font-family: cursive;"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btn-primary  me-10 fs-4 me-2"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"button"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data-bs-toggle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data-bs-target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"#a-sidebar"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☰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"d-flex justify-content-between w-100"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"p-0 m-0 fw-bold fs-4"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btn-outline-light"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(click)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{{ </a:t>
            </a:r>
            <a:r>
              <a:rPr lang="en-US" sz="1200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'English'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ar-EG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العربية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'}}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ar-EG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1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  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"fluid-container p-10"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main layout  (app.routes.ts)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0" y="1607736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A38B0-7FC1-476B-675A-8A5AD2C17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98E-1D5A-7922-6501-046FFA0BF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Sidebar with layout</a:t>
            </a:r>
          </a:p>
        </p:txBody>
      </p:sp>
    </p:spTree>
    <p:extLst>
      <p:ext uri="{BB962C8B-B14F-4D97-AF65-F5344CB8AC3E}">
        <p14:creationId xmlns:p14="http://schemas.microsoft.com/office/powerpoint/2010/main" val="477355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92853"/>
            <a:ext cx="12192000" cy="6139543"/>
          </a:xfrm>
        </p:spPr>
        <p:txBody>
          <a:bodyPr>
            <a:normAutofit/>
          </a:bodyPr>
          <a:lstStyle/>
          <a:p>
            <a:r>
              <a:rPr lang="en-US" b="1"/>
              <a:t>FormGroup </a:t>
            </a:r>
            <a:r>
              <a:rPr lang="en-US"/>
              <a:t>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 : { username: 'Ahmed' , password: '123456' }</a:t>
            </a:r>
          </a:p>
          <a:p>
            <a:pPr lvl="1"/>
            <a:r>
              <a:rPr lang="en-US"/>
              <a:t>getRawValue():  Includes </a:t>
            </a:r>
            <a:r>
              <a:rPr lang="en-US" b="1"/>
              <a:t>disabled controls</a:t>
            </a:r>
            <a:endParaRPr lang="en-US"/>
          </a:p>
          <a:p>
            <a:pPr lvl="1"/>
            <a:r>
              <a:rPr lang="en-US">
                <a:effectLst/>
              </a:rPr>
              <a:t>controls['ColorHexCode']   // </a:t>
            </a:r>
          </a:p>
          <a:p>
            <a:pPr lvl="1"/>
            <a:r>
              <a:rPr lang="en-US">
                <a:effectLst/>
              </a:rPr>
              <a:t>get('ColorHexCode')		// </a:t>
            </a:r>
          </a:p>
          <a:p>
            <a:pPr lvl="1"/>
            <a:r>
              <a:rPr lang="en-US"/>
              <a:t>valid: bool, </a:t>
            </a:r>
            <a:r>
              <a:rPr lang="en-US">
                <a:effectLst/>
              </a:rPr>
              <a:t>A control is valid when its status is VALID</a:t>
            </a:r>
            <a:endParaRPr lang="en-US"/>
          </a:p>
          <a:p>
            <a:pPr lvl="1"/>
            <a:r>
              <a:rPr lang="en-US"/>
              <a:t>invalid</a:t>
            </a:r>
          </a:p>
          <a:p>
            <a:pPr lvl="1"/>
            <a:r>
              <a:rPr lang="en-US"/>
              <a:t>errors // Errors applied to the </a:t>
            </a:r>
            <a:r>
              <a:rPr lang="en-US" b="1"/>
              <a:t>group itself</a:t>
            </a:r>
            <a:r>
              <a:rPr lang="en-US"/>
              <a:t> (not children)</a:t>
            </a:r>
          </a:p>
          <a:p>
            <a:pPr lvl="1"/>
            <a:r>
              <a:rPr lang="en-US"/>
              <a:t>status </a:t>
            </a:r>
          </a:p>
          <a:p>
            <a:pPr lvl="1"/>
            <a:r>
              <a:rPr lang="en-US"/>
              <a:t>form.setValue({ username: 'Ahmed’, password: '123’ }); // Must include ALL controls</a:t>
            </a:r>
          </a:p>
          <a:p>
            <a:pPr lvl="1"/>
            <a:r>
              <a:rPr lang="en-US"/>
              <a:t>form.patchValue({  username: 'Ahmed’ }); // lets you update </a:t>
            </a:r>
            <a:r>
              <a:rPr lang="en-US" b="1"/>
              <a:t>only the fields you provide, </a:t>
            </a:r>
            <a:r>
              <a:rPr lang="en-US" sz="1600" b="1"/>
              <a:t>always triggers validation</a:t>
            </a:r>
            <a:endParaRPr lang="en-US"/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/>
              <a:t>(); // The form control has been blurred (focused and then left).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/>
              <a:t>();   // The value has changed from the initial value.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/>
              <a:t>();  // The value has not changed from the initial value.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r>
              <a:rPr lang="en-US">
                <a:effectLst/>
              </a:rPr>
              <a:t>import Swal, { SweetAlertIcon, SweetAlertOptions } from 'sweetalert2';</a:t>
            </a:r>
          </a:p>
          <a:p>
            <a:br>
              <a:rPr lang="en-US">
                <a:effectLst/>
              </a:rPr>
            </a:b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D6289-A31A-D2F3-CA0A-FDBD3D53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53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Start Sweat Alert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7E92C-3C88-05B1-405C-56CC9651C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95325"/>
            <a:ext cx="10353762" cy="59912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2721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F6CD6-0D81-7390-4CDC-26D1A4E1A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3625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Sweat Alert</a:t>
            </a:r>
          </a:p>
        </p:txBody>
      </p:sp>
    </p:spTree>
    <p:extLst>
      <p:ext uri="{BB962C8B-B14F-4D97-AF65-F5344CB8AC3E}">
        <p14:creationId xmlns:p14="http://schemas.microsoft.com/office/powerpoint/2010/main" val="88194226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EB160-5530-65CA-AC3A-EEED12B3B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Angular DT</a:t>
            </a:r>
          </a:p>
        </p:txBody>
      </p:sp>
    </p:spTree>
    <p:extLst>
      <p:ext uri="{BB962C8B-B14F-4D97-AF65-F5344CB8AC3E}">
        <p14:creationId xmlns:p14="http://schemas.microsoft.com/office/powerpoint/2010/main" val="14058692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 b="1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 b="1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 b="1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59DB-BC9D-E1C9-D1BE-AE297903D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732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0B54-A5C3-8A06-1F31-333509CCC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546" y="673240"/>
            <a:ext cx="11515411" cy="5908429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purpose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If you want to make a variable that waits a specific function</a:t>
            </a:r>
          </a:p>
          <a:p>
            <a:endParaRPr lang="en-US" b="1">
              <a:solidFill>
                <a:srgbClr val="CC3399"/>
              </a:solidFill>
            </a:endParaRPr>
          </a:p>
          <a:p>
            <a:r>
              <a:rPr lang="en-US" b="1">
                <a:solidFill>
                  <a:srgbClr val="CC3399"/>
                </a:solidFill>
              </a:rPr>
              <a:t>implentation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type</a:t>
            </a:r>
            <a:r>
              <a:rPr lang="en-US" b="1"/>
              <a:t> </a:t>
            </a:r>
            <a:r>
              <a:rPr lang="en-US" b="1">
                <a:solidFill>
                  <a:srgbClr val="FF0000"/>
                </a:solidFill>
              </a:rPr>
              <a:t>MyMethod</a:t>
            </a:r>
            <a:r>
              <a:rPr lang="en-US" b="1"/>
              <a:t> = ( </a:t>
            </a:r>
            <a:r>
              <a:rPr lang="en-US" b="1">
                <a:solidFill>
                  <a:srgbClr val="FFFF00"/>
                </a:solidFill>
              </a:rPr>
              <a:t>num1</a:t>
            </a:r>
            <a:r>
              <a:rPr lang="en-US" b="1"/>
              <a:t>: number, </a:t>
            </a:r>
            <a:r>
              <a:rPr lang="en-US" b="1">
                <a:solidFill>
                  <a:srgbClr val="FFFF00"/>
                </a:solidFill>
              </a:rPr>
              <a:t>num2</a:t>
            </a:r>
            <a:r>
              <a:rPr lang="en-US" b="1"/>
              <a:t>: number ) =&gt; number;</a:t>
            </a:r>
          </a:p>
          <a:p>
            <a:pPr lvl="1"/>
            <a:endParaRPr lang="en-US" b="1"/>
          </a:p>
          <a:p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D3DB1-A37A-EABC-E300-723C0C844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14" y="2879271"/>
            <a:ext cx="5949229" cy="38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591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DACB9-7F3C-CAA1-EC95-30461305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EventEmitter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0FE1-6BBA-2CC0-F20E-BED6E56D8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970450"/>
            <a:ext cx="12001081" cy="56112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 = new </a:t>
            </a:r>
            <a:r>
              <a:rPr lang="en-US" b="1">
                <a:solidFill>
                  <a:srgbClr val="FFFF00"/>
                </a:solidFill>
              </a:rPr>
              <a:t>EventEmitter</a:t>
            </a:r>
            <a:r>
              <a:rPr lang="en-US"/>
              <a:t>&lt;number&gt;();	// "I can emit numbers.“ , [ at child]</a:t>
            </a:r>
          </a:p>
          <a:p>
            <a:r>
              <a:rPr lang="en-US"/>
              <a:t>(page)="handlePage($event)“ // at parent </a:t>
            </a:r>
          </a:p>
          <a:p>
            <a:pPr lvl="1"/>
            <a:r>
              <a:rPr lang="en-US"/>
              <a:t>Angular internally does something LIKE: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 b="1"/>
              <a:t>This mean listen to page until something is emitted, run </a:t>
            </a:r>
            <a:r>
              <a:rPr lang="en-US"/>
              <a:t>handlePage() when value is emitted</a:t>
            </a:r>
          </a:p>
          <a:p>
            <a:pPr lvl="1"/>
            <a:endParaRPr lang="en-US" b="1"/>
          </a:p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emit</a:t>
            </a:r>
            <a:r>
              <a:rPr lang="en-US"/>
              <a:t>(5); </a:t>
            </a:r>
          </a:p>
          <a:p>
            <a:pPr lvl="1"/>
            <a:r>
              <a:rPr lang="en-US"/>
              <a:t>emit() calls ALL SUBSCRIBED FUNCTIONS.</a:t>
            </a:r>
          </a:p>
          <a:p>
            <a:r>
              <a:rPr lang="en-US"/>
              <a:t>The Flow</a:t>
            </a:r>
          </a:p>
          <a:p>
            <a:pPr lvl="1"/>
            <a:r>
              <a:rPr lang="en-US"/>
              <a:t>page.emit(5);</a:t>
            </a:r>
          </a:p>
          <a:p>
            <a:pPr lvl="1"/>
            <a:r>
              <a:rPr lang="en-US"/>
              <a:t>(page)="handlePage($event)“  == 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/>
              <a:t>handlePage(5);</a:t>
            </a:r>
          </a:p>
          <a:p>
            <a:pPr lvl="1"/>
            <a:endParaRPr lang="en-US"/>
          </a:p>
          <a:p>
            <a:r>
              <a:rPr lang="en-US"/>
              <a:t>The child emit , the parent listen</a:t>
            </a:r>
          </a:p>
        </p:txBody>
      </p:sp>
    </p:spTree>
    <p:extLst>
      <p:ext uri="{BB962C8B-B14F-4D97-AF65-F5344CB8AC3E}">
        <p14:creationId xmlns:p14="http://schemas.microsoft.com/office/powerpoint/2010/main" val="291586023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62B24-9DD0-F698-7EC2-FE771EE56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HttpRequest</a:t>
            </a:r>
            <a:endParaRPr lang="en-US" b="1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99B50-7E7C-8FA8-2DF6-AB4A59F5E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600075"/>
            <a:ext cx="11944350" cy="6115050"/>
          </a:xfrm>
        </p:spPr>
        <p:txBody>
          <a:bodyPr/>
          <a:lstStyle/>
          <a:p>
            <a:r>
              <a:rPr lang="en-US"/>
              <a:t>This creates a custom Angular HTTP </a:t>
            </a:r>
            <a:r>
              <a:rPr lang="en-US" b="1"/>
              <a:t>request </a:t>
            </a:r>
            <a:r>
              <a:rPr lang="en-US"/>
              <a:t>object </a:t>
            </a:r>
          </a:p>
          <a:p>
            <a:r>
              <a:rPr lang="en-US"/>
              <a:t>Creates a manual HTTP request instead of using shortcuts like:</a:t>
            </a:r>
          </a:p>
          <a:p>
            <a:pPr lvl="1"/>
            <a:r>
              <a:rPr lang="en-US"/>
              <a:t>this.http.get() , this.http.post()</a:t>
            </a:r>
          </a:p>
          <a:p>
            <a:r>
              <a:rPr lang="en-US" sz="1800"/>
              <a:t>It gives you more control over: </a:t>
            </a:r>
            <a:r>
              <a:rPr lang="en-US" sz="1800" b="1"/>
              <a:t>Headers, upload progress, download progress, body, header,  response type, events</a:t>
            </a:r>
          </a:p>
          <a:p>
            <a:r>
              <a:rPr lang="en-US" sz="1800"/>
              <a:t>new HttpRequest(</a:t>
            </a:r>
            <a:r>
              <a:rPr lang="en-US" sz="1800">
                <a:solidFill>
                  <a:srgbClr val="FFFF00"/>
                </a:solidFill>
              </a:rPr>
              <a:t>method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url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body</a:t>
            </a:r>
            <a:r>
              <a:rPr lang="en-US" sz="1800"/>
              <a:t>?, </a:t>
            </a:r>
            <a:r>
              <a:rPr lang="en-US" sz="1800" b="1">
                <a:solidFill>
                  <a:srgbClr val="FFFF00"/>
                </a:solidFill>
              </a:rPr>
              <a:t>options</a:t>
            </a:r>
            <a:r>
              <a:rPr lang="en-US" sz="1800"/>
              <a:t>? )</a:t>
            </a:r>
          </a:p>
          <a:p>
            <a:r>
              <a:rPr lang="en-US"/>
              <a:t>It is immutable DT</a:t>
            </a:r>
          </a:p>
          <a:p>
            <a:r>
              <a:rPr lang="en-US"/>
              <a:t>Options: it is an object its members as following</a:t>
            </a:r>
          </a:p>
          <a:p>
            <a:pPr lvl="1"/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b="1">
                <a:solidFill>
                  <a:schemeClr val="tx1"/>
                </a:solidFill>
              </a:rPr>
              <a:t>Params:</a:t>
            </a:r>
            <a:r>
              <a:rPr lang="en-US" b="1">
                <a:solidFill>
                  <a:srgbClr val="FFFF00"/>
                </a:solidFill>
              </a:rPr>
              <a:t> HttpParams</a:t>
            </a:r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56146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2F51-C929-37BD-EADE-E2BCA15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45" y="-66675"/>
            <a:ext cx="10353762" cy="6858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HttpHeaders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78EA5-CC87-D0AE-E17B-19344AD6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" y="619125"/>
            <a:ext cx="11934825" cy="6086476"/>
          </a:xfrm>
        </p:spPr>
        <p:txBody>
          <a:bodyPr>
            <a:normAutofit/>
          </a:bodyPr>
          <a:lstStyle/>
          <a:p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sz="1600" b="1"/>
              <a:t>const </a:t>
            </a:r>
            <a:r>
              <a:rPr lang="en-US" sz="1600" b="1">
                <a:solidFill>
                  <a:srgbClr val="FFFF00"/>
                </a:solidFill>
              </a:rPr>
              <a:t>headers</a:t>
            </a:r>
            <a:r>
              <a:rPr lang="en-US" sz="1600" b="1"/>
              <a:t> = new </a:t>
            </a:r>
            <a:r>
              <a:rPr lang="en-US" sz="1600" b="1">
                <a:solidFill>
                  <a:srgbClr val="00B050"/>
                </a:solidFill>
              </a:rPr>
              <a:t>HttpHeaders</a:t>
            </a:r>
            <a:r>
              <a:rPr lang="en-US" sz="1600" b="1"/>
              <a:t>({</a:t>
            </a:r>
            <a:br>
              <a:rPr lang="en-US" sz="1600" b="1"/>
            </a:br>
            <a:r>
              <a:rPr lang="en-US" sz="1600" b="1"/>
              <a:t>	</a:t>
            </a:r>
            <a:r>
              <a:rPr lang="en-US" sz="1600" b="1">
                <a:solidFill>
                  <a:srgbClr val="00B0F0"/>
                </a:solidFill>
              </a:rPr>
              <a:t>Authorization</a:t>
            </a:r>
            <a:r>
              <a:rPr lang="en-US" sz="1600" b="1"/>
              <a:t>: 'Bearer token’,</a:t>
            </a:r>
            <a:br>
              <a:rPr lang="en-US" sz="1600" b="1"/>
            </a:br>
            <a:r>
              <a:rPr lang="en-US" sz="1600" b="1"/>
              <a:t>	'Content-Type' : 'application/json'</a:t>
            </a:r>
            <a:br>
              <a:rPr lang="en-US" sz="1600" b="1"/>
            </a:br>
            <a:r>
              <a:rPr lang="en-US" sz="1600" b="1"/>
              <a:t>});</a:t>
            </a:r>
          </a:p>
          <a:p>
            <a:pPr lvl="1"/>
            <a:r>
              <a:rPr lang="en-US" sz="1600"/>
              <a:t>Add Header: </a:t>
            </a:r>
            <a:r>
              <a:rPr lang="en-US" sz="1600" b="1"/>
              <a:t>headers.</a:t>
            </a:r>
            <a:r>
              <a:rPr lang="en-US" sz="1600" b="1">
                <a:solidFill>
                  <a:srgbClr val="00B0F0"/>
                </a:solidFill>
              </a:rPr>
              <a:t>append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Set Header: headers.</a:t>
            </a:r>
            <a:r>
              <a:rPr lang="en-US" sz="1600" b="1">
                <a:solidFill>
                  <a:srgbClr val="00B0F0"/>
                </a:solidFill>
              </a:rPr>
              <a:t>set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Delete  Header: headers.</a:t>
            </a:r>
            <a:r>
              <a:rPr lang="en-US" sz="1600" b="1">
                <a:solidFill>
                  <a:srgbClr val="00B0F0"/>
                </a:solidFill>
              </a:rPr>
              <a:t>delete</a:t>
            </a:r>
            <a:r>
              <a:rPr lang="en-US" sz="1600" b="1"/>
              <a:t>('token');</a:t>
            </a:r>
          </a:p>
          <a:p>
            <a:pPr lvl="1"/>
            <a:r>
              <a:rPr lang="en-US" sz="1600" b="1"/>
              <a:t>Get Header : headers.</a:t>
            </a:r>
            <a:r>
              <a:rPr lang="en-US" sz="1600" b="1">
                <a:solidFill>
                  <a:srgbClr val="00B0F0"/>
                </a:solidFill>
              </a:rPr>
              <a:t>get</a:t>
            </a:r>
            <a:r>
              <a:rPr lang="en-US" sz="1600" b="1"/>
              <a:t>('Authorization');</a:t>
            </a:r>
          </a:p>
          <a:p>
            <a:r>
              <a:rPr lang="en-US" sz="1600"/>
              <a:t>HttpHeaders objects are immutable. That means methods like .set(), .append(), and .delete() do not modify the existing instance — they return a new HttpHeaders object instead.</a:t>
            </a:r>
          </a:p>
          <a:p>
            <a:r>
              <a:rPr lang="en-US" sz="1800"/>
              <a:t>Usage</a:t>
            </a:r>
            <a:endParaRPr lang="en-US"/>
          </a:p>
          <a:p>
            <a:pPr lvl="1"/>
            <a:r>
              <a:rPr lang="en-US" sz="1700"/>
              <a:t>let headers = new HttpHeaders();    headers = headers.set('Authorization', 'Bearer token');</a:t>
            </a:r>
          </a:p>
          <a:p>
            <a:pPr lvl="1"/>
            <a:r>
              <a:rPr lang="en-US" sz="1600" b="1"/>
              <a:t>const headers = new </a:t>
            </a:r>
            <a:r>
              <a:rPr lang="en-US" sz="1600" b="1">
                <a:solidFill>
                  <a:srgbClr val="FFFF00"/>
                </a:solidFill>
              </a:rPr>
              <a:t>HttpHeaders</a:t>
            </a:r>
            <a:r>
              <a:rPr lang="en-US" sz="1600" b="1"/>
              <a:t>()</a:t>
            </a:r>
            <a:br>
              <a:rPr lang="en-US" sz="1600" b="1"/>
            </a:br>
            <a:r>
              <a:rPr lang="en-US" sz="1600" b="1"/>
              <a:t>	.set('Authorization', 'Bearer token’)</a:t>
            </a:r>
            <a:br>
              <a:rPr lang="en-US" sz="1600" b="1"/>
            </a:br>
            <a:r>
              <a:rPr lang="en-US" sz="1600" b="1"/>
              <a:t>	.set('Content-Type', 'application/json’);</a:t>
            </a:r>
          </a:p>
          <a:p>
            <a:r>
              <a:rPr lang="en-US" sz="1800"/>
              <a:t>const clonedReq = req.</a:t>
            </a:r>
            <a:r>
              <a:rPr lang="en-US" sz="1800">
                <a:solidFill>
                  <a:srgbClr val="00B0F0"/>
                </a:solidFill>
              </a:rPr>
              <a:t>clone</a:t>
            </a:r>
            <a:r>
              <a:rPr lang="en-US" sz="1800"/>
              <a:t>({ headers: req.headers.set('x-token', token)});</a:t>
            </a:r>
          </a:p>
        </p:txBody>
      </p:sp>
    </p:spTree>
    <p:extLst>
      <p:ext uri="{BB962C8B-B14F-4D97-AF65-F5344CB8AC3E}">
        <p14:creationId xmlns:p14="http://schemas.microsoft.com/office/powerpoint/2010/main" val="283269695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5FD5-E5AE-5498-8957-BE1C6B5A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67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C24F4-AB0F-8418-EE8A-AD357B2CD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66726"/>
            <a:ext cx="11744325" cy="6305550"/>
          </a:xfrm>
        </p:spPr>
        <p:txBody>
          <a:bodyPr>
            <a:normAutofit/>
          </a:bodyPr>
          <a:lstStyle/>
          <a:p>
            <a:r>
              <a:rPr lang="en-US" sz="1800"/>
              <a:t>is the class used to build and manage URL query</a:t>
            </a:r>
          </a:p>
          <a:p>
            <a:r>
              <a:rPr lang="en-US"/>
              <a:t>HttpParams</a:t>
            </a:r>
            <a:r>
              <a:rPr lang="en-US" sz="1800"/>
              <a:t> is </a:t>
            </a:r>
            <a:r>
              <a:rPr lang="en-US" sz="1800" b="1"/>
              <a:t>immutable</a:t>
            </a:r>
            <a:r>
              <a:rPr lang="en-US" sz="1800"/>
              <a:t>.</a:t>
            </a:r>
            <a:endParaRPr lang="en-US" sz="1800" b="1"/>
          </a:p>
          <a:p>
            <a:endParaRPr lang="en-US" sz="1800" b="1"/>
          </a:p>
          <a:p>
            <a:r>
              <a:rPr lang="en-US" sz="1800" b="1"/>
              <a:t>params: new </a:t>
            </a:r>
            <a:r>
              <a:rPr lang="en-US" sz="1800" b="1">
                <a:solidFill>
                  <a:srgbClr val="FFFF00"/>
                </a:solidFill>
              </a:rPr>
              <a:t>HttpParams</a:t>
            </a:r>
            <a:r>
              <a:rPr lang="en-US" sz="1800" b="1"/>
              <a:t>()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('page', '1’)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('limit', '10’);</a:t>
            </a:r>
          </a:p>
          <a:p>
            <a:pPr lvl="1"/>
            <a:r>
              <a:rPr lang="en-US" b="1"/>
              <a:t>Set replace value</a:t>
            </a:r>
          </a:p>
          <a:p>
            <a:pPr lvl="1"/>
            <a:r>
              <a:rPr lang="fr-FR" sz="1600" b="1"/>
              <a:t>Final URL: /api/users?</a:t>
            </a:r>
            <a:r>
              <a:rPr lang="fr-FR" sz="1600" b="1">
                <a:solidFill>
                  <a:srgbClr val="00B0F0"/>
                </a:solidFill>
              </a:rPr>
              <a:t>page</a:t>
            </a:r>
            <a:r>
              <a:rPr lang="fr-FR" sz="1600" b="1"/>
              <a:t>=1&amp;</a:t>
            </a:r>
            <a:r>
              <a:rPr lang="fr-FR" sz="1600" b="1">
                <a:solidFill>
                  <a:srgbClr val="00B0F0"/>
                </a:solidFill>
              </a:rPr>
              <a:t>limit</a:t>
            </a:r>
            <a:r>
              <a:rPr lang="fr-FR" sz="1600" b="1"/>
              <a:t>=10</a:t>
            </a:r>
            <a:endParaRPr lang="fr-FR" b="1"/>
          </a:p>
          <a:p>
            <a:endParaRPr lang="en-US" sz="1800" b="1"/>
          </a:p>
          <a:p>
            <a:r>
              <a:rPr lang="en-US" sz="1800" b="1"/>
              <a:t>new HttpParams()</a:t>
            </a:r>
          </a:p>
          <a:p>
            <a:pPr marL="450000" lvl="1" indent="0">
              <a:buNone/>
            </a:pP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'books')</a:t>
            </a:r>
            <a:br>
              <a:rPr lang="en-US" sz="1600" b="1"/>
            </a:b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'movies’)</a:t>
            </a:r>
          </a:p>
          <a:p>
            <a:pPr lvl="1"/>
            <a:r>
              <a:rPr lang="en-US" b="1"/>
              <a:t>Append: add another value, Useful for </a:t>
            </a:r>
            <a:r>
              <a:rPr lang="en-US" b="1">
                <a:solidFill>
                  <a:srgbClr val="FFFF00"/>
                </a:solidFill>
              </a:rPr>
              <a:t>Multi-Select, Array</a:t>
            </a:r>
          </a:p>
          <a:p>
            <a:pPr lvl="1"/>
            <a:r>
              <a:rPr lang="en-US" b="1"/>
              <a:t>params.</a:t>
            </a:r>
            <a:r>
              <a:rPr lang="en-US" b="1">
                <a:solidFill>
                  <a:srgbClr val="00B0F0"/>
                </a:solidFill>
              </a:rPr>
              <a:t>getAll</a:t>
            </a:r>
            <a:r>
              <a:rPr lang="en-US" b="1"/>
              <a:t>('category’); // ['books', 'movies']</a:t>
            </a:r>
            <a:endParaRPr lang="en-US" b="1">
              <a:solidFill>
                <a:srgbClr val="FFFF00"/>
              </a:solidFill>
            </a:endParaRPr>
          </a:p>
          <a:p>
            <a:pPr lvl="1"/>
            <a:r>
              <a:rPr lang="fr-FR" sz="1600" b="1"/>
              <a:t>Final URL: /api/user?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=books&amp;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=movies</a:t>
            </a:r>
          </a:p>
          <a:p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11676228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1B7E-8E2A-9BB4-BA3C-DBF083CF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7620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 [ 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D206E-AB2E-71F3-1B72-7F3E6EBB8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3874"/>
            <a:ext cx="11668125" cy="6334125"/>
          </a:xfrm>
        </p:spPr>
        <p:txBody>
          <a:bodyPr>
            <a:normAutofit/>
          </a:bodyPr>
          <a:lstStyle/>
          <a:p>
            <a:r>
              <a:rPr lang="en-US" sz="1800" b="1"/>
              <a:t>Add many params at once using appendAll</a:t>
            </a:r>
            <a:endParaRPr lang="en-US" sz="1600" b="1"/>
          </a:p>
          <a:p>
            <a:pPr lvl="1"/>
            <a:r>
              <a:rPr lang="en-US" sz="1600" b="1"/>
              <a:t>const params = new HttpParams().appendAll (  { page: 1,  limit: 10,  sort: 'name'  }   );</a:t>
            </a:r>
            <a:endParaRPr lang="en-US"/>
          </a:p>
          <a:p>
            <a:r>
              <a:rPr lang="en-US"/>
              <a:t>Initialize from object.</a:t>
            </a:r>
          </a:p>
          <a:p>
            <a:pPr lvl="1"/>
            <a:r>
              <a:rPr lang="en-US"/>
              <a:t>const params = new HttpParams({    </a:t>
            </a:r>
            <a:r>
              <a:rPr lang="en-US" sz="1800"/>
              <a:t>fromObject: { page: '1’, limit: '10’, search: 'john’ }   </a:t>
            </a:r>
            <a:r>
              <a:rPr lang="en-US"/>
              <a:t>});</a:t>
            </a:r>
          </a:p>
          <a:p>
            <a:r>
              <a:rPr lang="en-US" sz="1800"/>
              <a:t>Reading</a:t>
            </a:r>
            <a:endParaRPr lang="en-US"/>
          </a:p>
          <a:p>
            <a:pPr lvl="1"/>
            <a:r>
              <a:rPr lang="en-US"/>
              <a:t>params.get('page’);    // 1</a:t>
            </a:r>
          </a:p>
          <a:p>
            <a:pPr lvl="1"/>
            <a:r>
              <a:rPr lang="en-US"/>
              <a:t>params.getAll('category’);  // ['books', 'movies’]</a:t>
            </a:r>
          </a:p>
          <a:p>
            <a:pPr lvl="1"/>
            <a:r>
              <a:rPr lang="en-US"/>
              <a:t>params.keys();  // Returns all parameter names.</a:t>
            </a:r>
          </a:p>
          <a:p>
            <a:r>
              <a:rPr lang="en-US" sz="1800"/>
              <a:t>Checks existence</a:t>
            </a:r>
            <a:r>
              <a:rPr lang="en-US"/>
              <a:t>.</a:t>
            </a:r>
          </a:p>
          <a:p>
            <a:pPr lvl="1"/>
            <a:r>
              <a:rPr lang="en-US"/>
              <a:t>params.has('page’);</a:t>
            </a:r>
          </a:p>
          <a:p>
            <a:r>
              <a:rPr lang="en-US" b="1"/>
              <a:t>delete()</a:t>
            </a:r>
            <a:endParaRPr lang="en-US"/>
          </a:p>
          <a:p>
            <a:pPr lvl="1"/>
            <a:r>
              <a:rPr lang="en-US"/>
              <a:t>params = params.delete('page');</a:t>
            </a:r>
          </a:p>
          <a:p>
            <a:pPr lvl="1"/>
            <a:r>
              <a:rPr lang="en-US"/>
              <a:t>params = params.delete('category', 'books’);</a:t>
            </a:r>
          </a:p>
          <a:p>
            <a:r>
              <a:rPr lang="en-US" sz="1800" b="1"/>
              <a:t>Converting to String</a:t>
            </a:r>
          </a:p>
          <a:p>
            <a:pPr lvl="1"/>
            <a:r>
              <a:rPr lang="en-US"/>
              <a:t>params.toString();  // page=1&amp;limit=10</a:t>
            </a:r>
          </a:p>
        </p:txBody>
      </p:sp>
    </p:spTree>
    <p:extLst>
      <p:ext uri="{BB962C8B-B14F-4D97-AF65-F5344CB8AC3E}">
        <p14:creationId xmlns:p14="http://schemas.microsoft.com/office/powerpoint/2010/main" val="39922006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81FC6-4B70-AE29-654E-CB73924B4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2EE4B-5411-108B-F096-5EA7CAEDB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046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F826-99F3-E16F-3175-E8761712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DE2AC-220C-CDAC-98EA-694781CE7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/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EF8F5-DF2D-7BFF-3958-CDA0AC17B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</a:t>
            </a:r>
            <a:r>
              <a:rPr lang="en-US">
                <a:solidFill>
                  <a:srgbClr val="FFFF00"/>
                </a:solidFill>
              </a:rPr>
              <a:t>HttpErrorResponse</a:t>
            </a:r>
            <a:r>
              <a:rPr lang="en-US">
                <a:sym typeface="Wingdings" panose="05000000000000000000" pitchFamily="2" charset="2"/>
              </a:rPr>
              <a:t>)=&gt;{}</a:t>
            </a:r>
          </a:p>
          <a:p>
            <a:r>
              <a:rPr lang="en-US" b="1">
                <a:solidFill>
                  <a:srgbClr val="FFFF00"/>
                </a:solidFill>
              </a:rPr>
              <a:t>HttpErrorResponse properties</a:t>
            </a:r>
          </a:p>
          <a:p>
            <a:pPr lvl="1"/>
            <a:r>
              <a:rPr lang="en-US"/>
              <a:t>status: </a:t>
            </a:r>
            <a:r>
              <a:rPr lang="en-US">
                <a:effectLst/>
              </a:rPr>
              <a:t>HttpStatusCode (enum)</a:t>
            </a:r>
          </a:p>
          <a:p>
            <a:pPr lvl="1"/>
            <a:r>
              <a:rPr lang="en-US"/>
              <a:t>statusText</a:t>
            </a:r>
          </a:p>
          <a:p>
            <a:pPr lvl="1"/>
            <a:r>
              <a:rPr lang="en-US"/>
              <a:t>url</a:t>
            </a:r>
          </a:p>
          <a:p>
            <a:pPr lvl="1"/>
            <a:r>
              <a:rPr lang="en-US"/>
              <a:t>error: Contains the actual error returned by the backend.</a:t>
            </a:r>
          </a:p>
          <a:p>
            <a:pPr lvl="1"/>
            <a:r>
              <a:rPr lang="en-US"/>
              <a:t>ok: boolean</a:t>
            </a:r>
          </a:p>
          <a:p>
            <a:pPr lvl="1"/>
            <a:endParaRPr lang="en-US"/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74228375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8D298-F834-EFD3-CA38-BB9BCCAE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B3AA4-65E1-F7DB-AEFA-C62D5194A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263835477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</a:t>
            </a:r>
            <a:r>
              <a:rPr lang="en-US" b="1">
                <a:solidFill>
                  <a:srgbClr val="FFFF00"/>
                </a:solidFill>
              </a:rPr>
              <a:t>emitted event object</a:t>
            </a:r>
            <a:r>
              <a:rPr lang="en-US"/>
              <a:t>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070-D898-F1AF-ACE6-846B99F4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EDBB-5E01-3B17-0265-A28E1B07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new variable</a:t>
            </a:r>
          </a:p>
        </p:txBody>
      </p:sp>
    </p:spTree>
    <p:extLst>
      <p:ext uri="{BB962C8B-B14F-4D97-AF65-F5344CB8AC3E}">
        <p14:creationId xmlns:p14="http://schemas.microsoft.com/office/powerpoint/2010/main" val="304707608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F29F7-A718-CBF6-52BB-CA8584ACE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9308916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DFD20-716D-7F23-5AA9-05C0CE569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061" y="0"/>
            <a:ext cx="10353762" cy="618067"/>
          </a:xfrm>
        </p:spPr>
        <p:txBody>
          <a:bodyPr>
            <a:normAutofit fontScale="90000"/>
          </a:bodyPr>
          <a:lstStyle/>
          <a:p>
            <a:r>
              <a:rPr lang="en-US"/>
              <a:t>Download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EA7C-9279-2FBF-1913-3A8FBF4A1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685800"/>
            <a:ext cx="10844224" cy="6172200"/>
          </a:xfrm>
        </p:spPr>
        <p:txBody>
          <a:bodyPr>
            <a:normAutofit/>
          </a:bodyPr>
          <a:lstStyle/>
          <a:p>
            <a:r>
              <a:rPr lang="en-US"/>
              <a:t>At Service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httpClient</a:t>
            </a:r>
            <a:r>
              <a:rPr lang="en-US" b="1"/>
              <a:t>.post(URL,  payload, { response: blob });</a:t>
            </a:r>
          </a:p>
          <a:p>
            <a:r>
              <a:rPr lang="en-US" b="1"/>
              <a:t>At ts code</a:t>
            </a:r>
          </a:p>
          <a:p>
            <a:pPr lvl="1"/>
            <a:r>
              <a:rPr lang="en-US" b="1"/>
              <a:t>request  = this.service.download(payload).</a:t>
            </a:r>
            <a:r>
              <a:rPr lang="en-US" b="1">
                <a:effectLst/>
              </a:rPr>
              <a:t>subscribe({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next: (response: Blob)=&gt;{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>
                <a:effectLst/>
              </a:rPr>
              <a:t>const downloadURL = window.URL.</a:t>
            </a:r>
            <a:r>
              <a:rPr lang="en-US" b="1">
                <a:solidFill>
                  <a:srgbClr val="FFFF00"/>
                </a:solidFill>
                <a:effectLst/>
              </a:rPr>
              <a:t>createObjectURL</a:t>
            </a:r>
            <a:r>
              <a:rPr lang="en-US">
                <a:effectLst/>
              </a:rPr>
              <a:t>(response);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const link = document.</a:t>
            </a:r>
            <a:r>
              <a:rPr lang="en-US" b="1">
                <a:solidFill>
                  <a:srgbClr val="FFFF00"/>
                </a:solidFill>
                <a:effectLst/>
              </a:rPr>
              <a:t>createElement</a:t>
            </a:r>
            <a:r>
              <a:rPr lang="en-US">
                <a:effectLst/>
              </a:rPr>
              <a:t>('a’);   link.href = downloadURL;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 	link.download = 'SanctionAML_Report.xlsx’;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appendChild</a:t>
            </a:r>
            <a:r>
              <a:rPr lang="en-US">
                <a:effectLst/>
              </a:rPr>
              <a:t>(link);  link.click();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removeChild</a:t>
            </a:r>
            <a:r>
              <a:rPr lang="en-US">
                <a:effectLst/>
              </a:rPr>
              <a:t>(link);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window.URL.</a:t>
            </a:r>
            <a:r>
              <a:rPr lang="en-US" b="1">
                <a:solidFill>
                  <a:srgbClr val="FFFF00"/>
                </a:solidFill>
                <a:effectLst/>
              </a:rPr>
              <a:t>revokeObjectURL</a:t>
            </a:r>
            <a:r>
              <a:rPr lang="en-US">
                <a:effectLst/>
              </a:rPr>
              <a:t>(downloadURL);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/>
              <a:t>Swal.close();    // close the current opening sweat alert</a:t>
            </a:r>
            <a:endParaRPr lang="en-US" b="1">
              <a:effectLst/>
            </a:endParaRPr>
          </a:p>
          <a:p>
            <a:pPr marL="810000" lvl="2" indent="0">
              <a:buNone/>
            </a:pPr>
            <a:r>
              <a:rPr lang="en-US" b="1">
                <a:effectLst/>
              </a:rPr>
              <a:t>}</a:t>
            </a:r>
          </a:p>
          <a:p>
            <a:pPr marL="450000" lvl="1" indent="0">
              <a:buNone/>
            </a:pPr>
            <a:r>
              <a:rPr lang="en-US" b="1">
                <a:effectLst/>
              </a:rPr>
              <a:t>	 });</a:t>
            </a:r>
          </a:p>
          <a:p>
            <a:r>
              <a:rPr lang="en-US" sz="1600" b="1">
                <a:effectLst/>
              </a:rPr>
              <a:t>To cancel the operation (download) : </a:t>
            </a:r>
            <a:r>
              <a:rPr lang="en-US" b="1">
                <a:solidFill>
                  <a:srgbClr val="FFFF00"/>
                </a:solidFill>
                <a:effectLst/>
              </a:rPr>
              <a:t>request</a:t>
            </a:r>
            <a:r>
              <a:rPr lang="en-US">
                <a:effectLst/>
              </a:rPr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unsubscribe</a:t>
            </a:r>
            <a:r>
              <a:rPr lang="en-US">
                <a:effectLst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83764993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8971-4F44-64C9-F90F-D05555003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6250"/>
          </a:xfrm>
        </p:spPr>
        <p:txBody>
          <a:bodyPr>
            <a:normAutofit fontScale="90000"/>
          </a:bodyPr>
          <a:lstStyle/>
          <a:p>
            <a:r>
              <a:rPr lang="en-US" b="1"/>
              <a:t>Uploading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786D0-6974-AED6-FB0C-6F9234604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71499"/>
            <a:ext cx="11601450" cy="6067425"/>
          </a:xfrm>
        </p:spPr>
        <p:txBody>
          <a:bodyPr/>
          <a:lstStyle/>
          <a:p>
            <a:r>
              <a:rPr lang="en-US" b="1"/>
              <a:t>At service</a:t>
            </a:r>
          </a:p>
          <a:p>
            <a:pPr lvl="1"/>
            <a:r>
              <a:rPr lang="en-US">
                <a:effectLst/>
              </a:rPr>
              <a:t> const </a:t>
            </a:r>
            <a:r>
              <a:rPr lang="en-US" b="1">
                <a:solidFill>
                  <a:srgbClr val="00B0F0"/>
                </a:solidFill>
                <a:effectLst/>
              </a:rPr>
              <a:t>formData</a:t>
            </a:r>
            <a:r>
              <a:rPr lang="en-US">
                <a:effectLst/>
              </a:rPr>
              <a:t> = new </a:t>
            </a:r>
            <a:r>
              <a:rPr lang="en-US" b="1">
                <a:solidFill>
                  <a:srgbClr val="FFFF00"/>
                </a:solidFill>
                <a:effectLst/>
              </a:rPr>
              <a:t>FormData()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>
                <a:effectLst/>
              </a:rPr>
              <a:t>formData.</a:t>
            </a:r>
            <a:r>
              <a:rPr lang="en-US" b="1">
                <a:solidFill>
                  <a:srgbClr val="FFFF00"/>
                </a:solidFill>
                <a:effectLst/>
              </a:rPr>
              <a:t>append</a:t>
            </a:r>
            <a:r>
              <a:rPr lang="en-US">
                <a:effectLst/>
              </a:rPr>
              <a:t>("Image", </a:t>
            </a:r>
            <a:r>
              <a:rPr lang="en-US" b="1">
                <a:solidFill>
                  <a:srgbClr val="FFFF00"/>
                </a:solidFill>
                <a:effectLst/>
              </a:rPr>
              <a:t>productDTO</a:t>
            </a:r>
            <a:r>
              <a:rPr lang="en-US">
                <a:effectLst/>
              </a:rPr>
              <a:t>.Image as </a:t>
            </a:r>
            <a:r>
              <a:rPr lang="en-US" b="1">
                <a:solidFill>
                  <a:srgbClr val="92D050"/>
                </a:solidFill>
                <a:effectLst/>
              </a:rPr>
              <a:t>File</a:t>
            </a:r>
            <a:r>
              <a:rPr lang="en-US">
                <a:effectLst/>
              </a:rPr>
              <a:t>);</a:t>
            </a:r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815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15B46-34F3-1065-FF9E-E4290DFC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FCBF-612E-6C21-E7A7-6ADCE6A7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382512475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6" y="462226"/>
            <a:ext cx="11917344" cy="6395774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effectLst/>
              </a:rPr>
              <a:t>MatPaginator.page: </a:t>
            </a:r>
            <a:r>
              <a:rPr lang="en-US" b="1">
                <a:solidFill>
                  <a:srgbClr val="00B0F0"/>
                </a:solidFill>
                <a:effectLst/>
              </a:rPr>
              <a:t>EventEmitter</a:t>
            </a:r>
            <a:r>
              <a:rPr lang="en-US" b="1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 b="1">
                <a:effectLst/>
              </a:rPr>
              <a:t>&gt;</a:t>
            </a:r>
          </a:p>
          <a:p>
            <a:pPr lvl="1"/>
            <a:r>
              <a:rPr lang="en-US" b="1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 b="1">
                <a:effectLst/>
              </a:rPr>
              <a:t> as parameter</a:t>
            </a:r>
          </a:p>
          <a:p>
            <a:pPr lvl="1"/>
            <a:r>
              <a:rPr lang="en-US" b="1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 b="1">
                <a:effectLst/>
              </a:rPr>
              <a:t> or </a:t>
            </a:r>
            <a:r>
              <a:rPr lang="en-US" b="1">
                <a:solidFill>
                  <a:srgbClr val="00B0F0"/>
                </a:solidFill>
                <a:effectLst/>
              </a:rPr>
              <a:t>page index</a:t>
            </a:r>
            <a:r>
              <a:rPr lang="en-US" b="1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previousPageIndex</a:t>
            </a:r>
            <a:r>
              <a:rPr lang="en-US" b="1"/>
              <a:t>?: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pageSize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length</a:t>
            </a:r>
            <a:r>
              <a:rPr lang="en-US" b="1"/>
              <a:t>: number;</a:t>
            </a:r>
            <a:br>
              <a:rPr lang="en-US" b="1">
                <a:effectLst/>
              </a:rPr>
            </a:br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170822" y="801356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5928531" y="811404"/>
            <a:ext cx="6173037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</a:t>
            </a:r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6AEC-0EFE-A3C1-B982-F0A40451E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&lt;mat-divider&gt;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C5A86-3E9B-A5CC-49E8-49BB71F6F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633047"/>
            <a:ext cx="11736475" cy="6129494"/>
          </a:xfrm>
        </p:spPr>
        <p:txBody>
          <a:bodyPr/>
          <a:lstStyle/>
          <a:p>
            <a:r>
              <a:rPr lang="en-US">
                <a:effectLst/>
              </a:rPr>
              <a:t>create a horizontal or vertical line styled with a Material theme</a:t>
            </a:r>
          </a:p>
          <a:p>
            <a:endParaRPr lang="en-US">
              <a:effectLst/>
            </a:endParaRPr>
          </a:p>
          <a:p>
            <a:r>
              <a:rPr lang="en-US" sz="1800" b="1">
                <a:effectLst/>
              </a:rPr>
              <a:t> &lt;mat-divider&gt;&lt;/mat-divider&gt;   // horizontal</a:t>
            </a:r>
            <a:endParaRPr lang="ar-EG" sz="1800" b="1">
              <a:effectLst/>
            </a:endParaRPr>
          </a:p>
          <a:p>
            <a:r>
              <a:rPr lang="en-US" sz="1800" b="1">
                <a:effectLst/>
              </a:rPr>
              <a:t>&lt;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 [vertical]="true"&gt;&lt;/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&gt;</a:t>
            </a:r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309407146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BE282-2490-D937-4CD4-B4E428EC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3CA2-43EE-9985-92D9-90B610EA7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172416971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DE403-0C1D-E280-07E7-84EDF9AC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1844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Localization</a:t>
            </a:r>
          </a:p>
        </p:txBody>
      </p:sp>
    </p:spTree>
    <p:extLst>
      <p:ext uri="{BB962C8B-B14F-4D97-AF65-F5344CB8AC3E}">
        <p14:creationId xmlns:p14="http://schemas.microsoft.com/office/powerpoint/2010/main" val="397900069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71352-8B4F-82B1-BD5E-51061C21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2804"/>
          </a:xfrm>
        </p:spPr>
        <p:txBody>
          <a:bodyPr>
            <a:normAutofit fontScale="90000"/>
          </a:bodyPr>
          <a:lstStyle/>
          <a:p>
            <a:r>
              <a:rPr lang="en-US"/>
              <a:t>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C0FAE-2D0B-57FF-F845-0AAF6D487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837" y="582805"/>
            <a:ext cx="10885720" cy="6119446"/>
          </a:xfrm>
        </p:spPr>
        <p:txBody>
          <a:bodyPr/>
          <a:lstStyle/>
          <a:p>
            <a:r>
              <a:rPr lang="en-US"/>
              <a:t>Installation and configuration</a:t>
            </a:r>
          </a:p>
          <a:p>
            <a:endParaRPr lang="en-US"/>
          </a:p>
          <a:p>
            <a:r>
              <a:rPr lang="en-US"/>
              <a:t>npm install @ngx-translate/core @ngx-translate/http-loader</a:t>
            </a:r>
          </a:p>
          <a:p>
            <a:r>
              <a:rPr lang="en-US"/>
              <a:t>At </a:t>
            </a:r>
            <a:r>
              <a:rPr lang="en-US" b="1">
                <a:solidFill>
                  <a:srgbClr val="FFC000"/>
                </a:solidFill>
              </a:rPr>
              <a:t>app.config.ts</a:t>
            </a:r>
            <a:r>
              <a:rPr lang="en-US"/>
              <a:t> , </a:t>
            </a:r>
            <a:r>
              <a:rPr lang="en-US" b="1"/>
              <a:t>provider</a:t>
            </a:r>
          </a:p>
          <a:p>
            <a:pPr lvl="1"/>
            <a:r>
              <a:rPr lang="en-US" b="1">
                <a:effectLst/>
              </a:rPr>
              <a:t>provideTranslateHttpLoader({ prefix: './assets/Localization/', suffix: '.json' }),</a:t>
            </a:r>
          </a:p>
          <a:p>
            <a:pPr lvl="1"/>
            <a:r>
              <a:rPr lang="en-US" sz="1600" b="1">
                <a:effectLst/>
              </a:rPr>
              <a:t>provideTranslateService({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fallbackLang</a:t>
            </a:r>
            <a:r>
              <a:rPr lang="en-US" b="1">
                <a:effectLst/>
              </a:rPr>
              <a:t>: 'ar’,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loader</a:t>
            </a:r>
            <a:r>
              <a:rPr lang="en-US" b="1">
                <a:effectLst/>
              </a:rPr>
              <a:t>: {  provide: </a:t>
            </a:r>
            <a:r>
              <a:rPr lang="en-US" b="1">
                <a:solidFill>
                  <a:srgbClr val="FFFF00"/>
                </a:solidFill>
                <a:effectLst/>
              </a:rPr>
              <a:t>TranslateLoader</a:t>
            </a:r>
            <a:r>
              <a:rPr lang="en-US" b="1">
                <a:effectLst/>
              </a:rPr>
              <a:t> 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 b="1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TranslateHttpLoader</a:t>
            </a:r>
            <a:r>
              <a:rPr lang="en-US" b="1">
                <a:effectLst/>
              </a:rPr>
              <a:t> }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})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0679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A5C11-06CA-D8AB-FD07-606BB04EC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22031"/>
          </a:xfrm>
        </p:spPr>
        <p:txBody>
          <a:bodyPr>
            <a:normAutofit fontScale="90000"/>
          </a:bodyPr>
          <a:lstStyle/>
          <a:p>
            <a:r>
              <a:rPr lang="en-US">
                <a:effectLst/>
              </a:rPr>
              <a:t>LanguageService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49EDB5-0CC4-7270-20D6-744A17ED26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12258"/>
            <a:ext cx="9611889" cy="270300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DB4C9F-B012-FAE7-80BB-EFCE87F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91" y="3285600"/>
            <a:ext cx="5695950" cy="30289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57DD2C-685A-7C2C-06D6-5F3D3225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934" y="3739110"/>
            <a:ext cx="4798826" cy="212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5056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D5C2B-B9C6-C16E-D1CA-9E348E14F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2659"/>
          </a:xfrm>
        </p:spPr>
        <p:txBody>
          <a:bodyPr>
            <a:normAutofit fontScale="90000"/>
          </a:bodyPr>
          <a:lstStyle/>
          <a:p>
            <a:r>
              <a:rPr lang="en-US"/>
              <a:t>At App.Component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A27E5-5EA1-1212-CF9E-2C078FEE0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73240"/>
            <a:ext cx="10905816" cy="6069203"/>
          </a:xfrm>
        </p:spPr>
        <p:txBody>
          <a:bodyPr/>
          <a:lstStyle/>
          <a:p>
            <a:r>
              <a:rPr lang="en-US"/>
              <a:t>you must ensure LanguageService is instantiated during app startup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constructor</a:t>
            </a:r>
            <a:r>
              <a:rPr lang="en-US" b="1">
                <a:effectLst/>
              </a:rPr>
              <a:t>(</a:t>
            </a:r>
            <a:r>
              <a:rPr lang="en-US" b="1">
                <a:solidFill>
                  <a:srgbClr val="CC3399"/>
                </a:solidFill>
                <a:effectLst/>
              </a:rPr>
              <a:t>private</a:t>
            </a:r>
            <a:r>
              <a:rPr lang="en-US" b="1">
                <a:effectLst/>
              </a:rPr>
              <a:t> </a:t>
            </a:r>
            <a:r>
              <a:rPr lang="en-US" b="1">
                <a:solidFill>
                  <a:srgbClr val="FFFF00"/>
                </a:solidFill>
                <a:effectLst/>
              </a:rPr>
              <a:t>LanguageService</a:t>
            </a:r>
            <a:r>
              <a:rPr lang="en-US" b="1">
                <a:effectLst/>
              </a:rPr>
              <a:t>: LanguageService){}</a:t>
            </a:r>
          </a:p>
          <a:p>
            <a:pPr marL="36900" indent="0">
              <a:buNone/>
            </a:pPr>
            <a:r>
              <a:rPr lang="en-US">
                <a:effectLst/>
              </a:rPr>
              <a:t>Why : to call its constructor to get the last chosen lang</a:t>
            </a:r>
          </a:p>
          <a:p>
            <a:pPr marL="36900" indent="0">
              <a:buNone/>
            </a:pPr>
            <a:br>
              <a:rPr lang="en-US">
                <a:effectLst/>
              </a:rPr>
            </a:b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8914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A01B3-3CD4-46AC-8171-C2869D151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86637"/>
          </a:xfrm>
        </p:spPr>
        <p:txBody>
          <a:bodyPr>
            <a:normAutofit fontScale="90000"/>
          </a:bodyPr>
          <a:lstStyle/>
          <a:p>
            <a:r>
              <a:rPr lang="en-US"/>
              <a:t>Usage At component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9D2F7A-3D97-7161-67DF-A871F50623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894302"/>
            <a:ext cx="11656088" cy="5963697"/>
          </a:xfrm>
        </p:spPr>
        <p:txBody>
          <a:bodyPr/>
          <a:lstStyle/>
          <a:p>
            <a:r>
              <a:rPr lang="en-US">
                <a:effectLst/>
              </a:rPr>
              <a:t>To change the lang in all app and vice versw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93DB0663-B853-8A1B-85EE-6F7B6B426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97" y="1570595"/>
            <a:ext cx="6626409" cy="31136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458814-30B6-F40F-F367-E3E7B8526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96" y="4883529"/>
            <a:ext cx="6626409" cy="887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7738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82016-9D4D-97FB-894C-AC6D20B0E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BAC87-2A21-0C78-9BB9-60D4200C9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effectLst/>
              </a:rPr>
              <a:t>if you intend to use key from en.json or ar.json at component</a:t>
            </a:r>
            <a:endParaRPr lang="en-US"/>
          </a:p>
          <a:p>
            <a:pPr lvl="1"/>
            <a:r>
              <a:rPr lang="en-US" sz="2000"/>
              <a:t>.html</a:t>
            </a:r>
          </a:p>
          <a:p>
            <a:pPr lvl="2"/>
            <a:r>
              <a:rPr lang="en-US" sz="1800"/>
              <a:t>you need to import  </a:t>
            </a:r>
            <a:r>
              <a:rPr lang="en-US" sz="1800">
                <a:effectLst/>
              </a:rPr>
              <a:t>TranslatePipe</a:t>
            </a:r>
          </a:p>
          <a:p>
            <a:pPr lvl="2"/>
            <a:r>
              <a:rPr lang="en-US" sz="1800">
                <a:effectLst/>
              </a:rPr>
              <a:t>imports: [</a:t>
            </a:r>
            <a:r>
              <a:rPr lang="en-US" sz="1800" b="1">
                <a:solidFill>
                  <a:srgbClr val="FFFF00"/>
                </a:solidFill>
                <a:effectLst/>
              </a:rPr>
              <a:t>TranslatePipe</a:t>
            </a:r>
            <a:r>
              <a:rPr lang="en-US" sz="1800">
                <a:effectLst/>
              </a:rPr>
              <a:t>],</a:t>
            </a:r>
          </a:p>
          <a:p>
            <a:pPr lvl="2"/>
            <a:r>
              <a:rPr lang="en-US" sz="1800">
                <a:effectLst/>
              </a:rPr>
              <a:t>At html    &lt;label class="ms-2"&gt;{{"nameAr" | translate}}&lt;/label&gt;</a:t>
            </a:r>
          </a:p>
          <a:p>
            <a:pPr lvl="1"/>
            <a:r>
              <a:rPr lang="en-US"/>
              <a:t>ts</a:t>
            </a:r>
          </a:p>
          <a:p>
            <a:pPr lvl="2"/>
            <a:r>
              <a:rPr lang="en-US" sz="1800">
                <a:effectLst/>
              </a:rPr>
              <a:t>At ts : this.translate.use(lang);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2072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56245-A428-C239-B19C-583684394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B0D9-6497-D7C5-3874-1849D510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70076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Localization</a:t>
            </a:r>
          </a:p>
        </p:txBody>
      </p:sp>
    </p:spTree>
    <p:extLst>
      <p:ext uri="{BB962C8B-B14F-4D97-AF65-F5344CB8AC3E}">
        <p14:creationId xmlns:p14="http://schemas.microsoft.com/office/powerpoint/2010/main" val="86772094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00BA-09F5-CC31-4890-0431F9407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interceptors</a:t>
            </a:r>
          </a:p>
        </p:txBody>
      </p:sp>
    </p:spTree>
    <p:extLst>
      <p:ext uri="{BB962C8B-B14F-4D97-AF65-F5344CB8AC3E}">
        <p14:creationId xmlns:p14="http://schemas.microsoft.com/office/powerpoint/2010/main" val="78201058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CBBCD-3318-4190-7632-572F67C37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8207"/>
          </a:xfrm>
        </p:spPr>
        <p:txBody>
          <a:bodyPr>
            <a:normAutofit fontScale="90000"/>
          </a:bodyPr>
          <a:lstStyle/>
          <a:p>
            <a:r>
              <a:rPr lang="en-US"/>
              <a:t>Creating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B4862-CCB4-40A1-9075-223076C4D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9890" y="763675"/>
            <a:ext cx="3989196" cy="6094325"/>
          </a:xfrm>
        </p:spPr>
        <p:txBody>
          <a:bodyPr/>
          <a:lstStyle/>
          <a:p>
            <a:r>
              <a:rPr lang="en-US"/>
              <a:t>For example we are going to implement interceptor that handle </a:t>
            </a:r>
            <a:r>
              <a:rPr lang="en-US">
                <a:effectLst/>
              </a:rPr>
              <a:t>HttpErrorResponse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6E01F-E87D-064C-964F-EE89F2301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8208"/>
            <a:ext cx="8149213" cy="62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2727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A2D8-AEDE-CFCB-A4A7-B03E052E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/>
              <a:t>Register the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BA7A1-809F-19E0-8CA5-0D70065F3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93336"/>
            <a:ext cx="11927393" cy="5878285"/>
          </a:xfrm>
        </p:spPr>
        <p:txBody>
          <a:bodyPr/>
          <a:lstStyle/>
          <a:p>
            <a:r>
              <a:rPr lang="en-US">
                <a:effectLst/>
              </a:rPr>
              <a:t>{ </a:t>
            </a:r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>
                <a:effectLst/>
              </a:rPr>
              <a:t>: HttpErrorInterceptor, </a:t>
            </a:r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 },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</a:t>
            </a:r>
          </a:p>
          <a:p>
            <a:pPr lvl="1"/>
            <a:r>
              <a:rPr lang="en-US">
                <a:effectLst/>
              </a:rPr>
              <a:t>It means I register this to participate in HTTP interceptor pipeline</a:t>
            </a:r>
          </a:p>
          <a:p>
            <a:pPr lvl="1"/>
            <a:r>
              <a:rPr lang="en-US">
                <a:effectLst/>
              </a:rPr>
              <a:t>Angular later looks for everything registered under HTTP_INTERCEPTORS and builds the interceptor chain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/>
              <a:t>: </a:t>
            </a:r>
            <a:r>
              <a:rPr lang="en-US">
                <a:effectLst/>
              </a:rPr>
              <a:t>HttpErrorInterceptor</a:t>
            </a:r>
          </a:p>
          <a:p>
            <a:pPr lvl="1"/>
            <a:r>
              <a:rPr lang="en-US">
                <a:effectLst/>
              </a:rPr>
              <a:t>The class itself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</a:t>
            </a:r>
          </a:p>
          <a:p>
            <a:pPr lvl="1"/>
            <a:r>
              <a:rPr lang="en-US" b="1"/>
              <a:t>Withtout multi: true, angular would expect only one value for HTTP_INTERCEPTOR and every new registration will overwrite the previous one</a:t>
            </a:r>
          </a:p>
          <a:p>
            <a:pPr lvl="1"/>
            <a:r>
              <a:rPr lang="en-US" sz="1400" b="1">
                <a:effectLst/>
              </a:rPr>
              <a:t>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HttpErrorInterceptor}, 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AuthInterceptor},</a:t>
            </a:r>
          </a:p>
          <a:p>
            <a:pPr lvl="1"/>
            <a:r>
              <a:rPr lang="en-US" sz="1600" b="1">
                <a:effectLst/>
              </a:rPr>
              <a:t>INTERCEPTORS = AuthInterceptor // cause it is the last one</a:t>
            </a:r>
            <a:endParaRPr lang="en-US" sz="1600" b="1"/>
          </a:p>
          <a:p>
            <a:pPr lvl="1"/>
            <a:r>
              <a:rPr lang="en-US"/>
              <a:t>With multi: true, </a:t>
            </a:r>
            <a:r>
              <a:rPr lang="en-US" sz="1600" b="1">
                <a:solidFill>
                  <a:srgbClr val="FFFF00"/>
                </a:solidFill>
                <a:effectLst/>
              </a:rPr>
              <a:t>HTTP_INTERCEPTORS </a:t>
            </a:r>
            <a:r>
              <a:rPr lang="en-US" sz="1600" b="1">
                <a:effectLst/>
              </a:rPr>
              <a:t>= [</a:t>
            </a:r>
            <a:r>
              <a:rPr lang="en-US" sz="1600" b="1">
                <a:solidFill>
                  <a:srgbClr val="00B0F0"/>
                </a:solidFill>
                <a:effectLst/>
              </a:rPr>
              <a:t>AuthInterceptor</a:t>
            </a:r>
            <a:r>
              <a:rPr lang="en-US" sz="1600" b="1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HttpErrorInterceptor</a:t>
            </a:r>
            <a:r>
              <a:rPr lang="en-US" b="1">
                <a:effectLst/>
              </a:rPr>
              <a:t> ]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9033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89BD1-13B1-E2FD-B3E8-31B230F97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97169"/>
          </a:xfrm>
        </p:spPr>
        <p:txBody>
          <a:bodyPr/>
          <a:lstStyle/>
          <a:p>
            <a:r>
              <a:rPr lang="en-US"/>
              <a:t>Configuring HttpClient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999D2-B706-4DA7-F3E6-0725523E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97169"/>
            <a:ext cx="11746523" cy="5945275"/>
          </a:xfrm>
        </p:spPr>
        <p:txBody>
          <a:bodyPr/>
          <a:lstStyle/>
          <a:p>
            <a:r>
              <a:rPr lang="en-US">
                <a:effectLst/>
              </a:rPr>
              <a:t>provideHttpClient(withFetch(), </a:t>
            </a:r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  <a:r>
              <a:rPr lang="en-US">
                <a:effectLst/>
              </a:rPr>
              <a:t> )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</a:p>
          <a:p>
            <a:pPr lvl="1"/>
            <a:r>
              <a:rPr lang="en-US" b="1"/>
              <a:t>look in DI container for anything registered under </a:t>
            </a:r>
            <a:r>
              <a:rPr lang="en-US" b="1">
                <a:solidFill>
                  <a:srgbClr val="00B0F0"/>
                </a:solidFill>
              </a:rPr>
              <a:t>HTTP_INTERCEPTORS and use those interceptors to build interceptors chain</a:t>
            </a:r>
          </a:p>
          <a:p>
            <a:r>
              <a:rPr lang="en-US" sz="1800" b="1"/>
              <a:t>HttpClient </a:t>
            </a:r>
            <a:r>
              <a:rPr lang="en-US" sz="1800" b="1">
                <a:sym typeface="Wingdings" panose="05000000000000000000" pitchFamily="2" charset="2"/>
              </a:rPr>
              <a:t></a:t>
            </a:r>
            <a:r>
              <a:rPr lang="en-US" sz="1800" b="1"/>
              <a:t> All registered interceptors </a:t>
            </a:r>
            <a:r>
              <a:rPr lang="en-US" sz="1800" b="1">
                <a:sym typeface="Wingdings" panose="05000000000000000000" pitchFamily="2" charset="2"/>
              </a:rPr>
              <a:t> Fetch Backend</a:t>
            </a:r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17687107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89004-FEC8-579F-7143-8FA9BC133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5DEDE-A2B9-94BC-6B7B-DAD9C5548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interceptors</a:t>
            </a:r>
          </a:p>
        </p:txBody>
      </p:sp>
    </p:spTree>
    <p:extLst>
      <p:ext uri="{BB962C8B-B14F-4D97-AF65-F5344CB8AC3E}">
        <p14:creationId xmlns:p14="http://schemas.microsoft.com/office/powerpoint/2010/main" val="428446006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80781</TotalTime>
  <Words>4953</Words>
  <Application>Microsoft Office PowerPoint</Application>
  <PresentationFormat>Widescreen</PresentationFormat>
  <Paragraphs>749</Paragraphs>
  <Slides>118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118</vt:i4>
      </vt:variant>
    </vt:vector>
  </HeadingPairs>
  <TitlesOfParts>
    <vt:vector size="124" baseType="lpstr">
      <vt:lpstr>Aptos</vt:lpstr>
      <vt:lpstr>Calisto MT</vt:lpstr>
      <vt:lpstr>Consolas</vt:lpstr>
      <vt:lpstr>Wingdings</vt:lpstr>
      <vt:lpstr>Wingdings 2</vt:lpstr>
      <vt:lpstr>Slate</vt:lpstr>
      <vt:lpstr>Angular &amp; TypeScript</vt:lpstr>
      <vt:lpstr>Installation</vt:lpstr>
      <vt:lpstr>Creating Project </vt:lpstr>
      <vt:lpstr>Environment Creation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Start Binding</vt:lpstr>
      <vt:lpstr>Binding</vt:lpstr>
      <vt:lpstr>Event binding</vt:lpstr>
      <vt:lpstr>End Binding</vt:lpstr>
      <vt:lpstr>Start Observable</vt:lpstr>
      <vt:lpstr>Observable</vt:lpstr>
      <vt:lpstr>Observer</vt:lpstr>
      <vt:lpstr>Subscriber</vt:lpstr>
      <vt:lpstr>Observable example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Plain Subject</vt:lpstr>
      <vt:lpstr>End Observable</vt:lpstr>
      <vt:lpstr>visible$ | async</vt:lpstr>
      <vt:lpstr>Creating side bar</vt:lpstr>
      <vt:lpstr>Creating new component</vt:lpstr>
      <vt:lpstr>Start Bootstrap</vt:lpstr>
      <vt:lpstr>Adding bootstrap &amp; Bootstrap icon</vt:lpstr>
      <vt:lpstr>End Bootstrap</vt:lpstr>
      <vt:lpstr>End Bootstrap</vt:lpstr>
      <vt:lpstr>Start CSS</vt:lpstr>
      <vt:lpstr>Addin CSS file globally</vt:lpstr>
      <vt:lpstr>End CSS</vt:lpstr>
      <vt:lpstr>Start SideBar with Layout 1</vt:lpstr>
      <vt:lpstr>PowerPoint Presentation</vt:lpstr>
      <vt:lpstr>Side bar HTML</vt:lpstr>
      <vt:lpstr>Sidebar CSS</vt:lpstr>
      <vt:lpstr>Sidebar ts</vt:lpstr>
      <vt:lpstr>Main layout.ts</vt:lpstr>
      <vt:lpstr>Main-layout.html</vt:lpstr>
      <vt:lpstr>main layout  (app.routes.ts)</vt:lpstr>
      <vt:lpstr>End Sidebar with layout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Start 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Start Sweat Alert</vt:lpstr>
      <vt:lpstr>End Sweat Alert</vt:lpstr>
      <vt:lpstr>HTTP Client </vt:lpstr>
      <vt:lpstr>Start Angular DT</vt:lpstr>
      <vt:lpstr>New Types </vt:lpstr>
      <vt:lpstr>AsyncValidatorFn &amp; ValidatorFn &amp; ValidationErrors</vt:lpstr>
      <vt:lpstr>Type</vt:lpstr>
      <vt:lpstr>EventEmitter</vt:lpstr>
      <vt:lpstr>HttpRequest</vt:lpstr>
      <vt:lpstr>HttpHeaders</vt:lpstr>
      <vt:lpstr>HttpParams</vt:lpstr>
      <vt:lpstr>HttpParams [ CONT.]</vt:lpstr>
      <vt:lpstr>HttpErrorResponse</vt:lpstr>
      <vt:lpstr>HttpErrorResponse</vt:lpstr>
      <vt:lpstr>ng-container</vt:lpstr>
      <vt:lpstr>ng-template</vt:lpstr>
      <vt:lpstr>ng-template</vt:lpstr>
      <vt:lpstr>ng-template [cont.2]</vt:lpstr>
      <vt:lpstr>End Angular DT</vt:lpstr>
      <vt:lpstr>Start new variable</vt:lpstr>
      <vt:lpstr>New Variables</vt:lpstr>
      <vt:lpstr>End new variable</vt:lpstr>
      <vt:lpstr>Start Download &amp; Upload</vt:lpstr>
      <vt:lpstr>Download code</vt:lpstr>
      <vt:lpstr>Uploading </vt:lpstr>
      <vt:lpstr>End Download &amp; Upload</vt:lpstr>
      <vt:lpstr>Modal</vt:lpstr>
      <vt:lpstr>Modal [cont.]</vt:lpstr>
      <vt:lpstr>Start Angular Material </vt:lpstr>
      <vt:lpstr>Installation</vt:lpstr>
      <vt:lpstr>mat-paginator</vt:lpstr>
      <vt:lpstr>&lt;mat-divider&gt;</vt:lpstr>
      <vt:lpstr>End Angular Material </vt:lpstr>
      <vt:lpstr>Febric.js</vt:lpstr>
      <vt:lpstr>Layout [cont.]</vt:lpstr>
      <vt:lpstr>Start Localization</vt:lpstr>
      <vt:lpstr>localization</vt:lpstr>
      <vt:lpstr>LanguageService</vt:lpstr>
      <vt:lpstr>At App.Component</vt:lpstr>
      <vt:lpstr>Usage At component</vt:lpstr>
      <vt:lpstr>PowerPoint Presentation</vt:lpstr>
      <vt:lpstr>End Localization</vt:lpstr>
      <vt:lpstr>Start interceptors</vt:lpstr>
      <vt:lpstr>Creating interceptor</vt:lpstr>
      <vt:lpstr>Register the interceptor</vt:lpstr>
      <vt:lpstr>Configuring HttpClient</vt:lpstr>
      <vt:lpstr>End interceptors</vt:lpstr>
      <vt:lpstr>Type Script</vt:lpstr>
      <vt:lpstr>Optional chaining [ ?.]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Ahmed  Mohamed Samir</cp:lastModifiedBy>
  <cp:revision>661</cp:revision>
  <dcterms:created xsi:type="dcterms:W3CDTF">2026-01-29T20:04:39Z</dcterms:created>
  <dcterms:modified xsi:type="dcterms:W3CDTF">2026-06-11T06:54:38Z</dcterms:modified>
</cp:coreProperties>
</file>