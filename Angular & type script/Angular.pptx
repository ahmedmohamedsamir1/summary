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66" r:id="rId3"/>
    <p:sldId id="265" r:id="rId4"/>
    <p:sldId id="284" r:id="rId5"/>
    <p:sldId id="257" r:id="rId6"/>
    <p:sldId id="258" r:id="rId7"/>
    <p:sldId id="260" r:id="rId8"/>
    <p:sldId id="261" r:id="rId9"/>
    <p:sldId id="262" r:id="rId10"/>
    <p:sldId id="263" r:id="rId11"/>
    <p:sldId id="267" r:id="rId12"/>
    <p:sldId id="337" r:id="rId13"/>
    <p:sldId id="264" r:id="rId14"/>
    <p:sldId id="318" r:id="rId15"/>
    <p:sldId id="338" r:id="rId16"/>
    <p:sldId id="270" r:id="rId17"/>
    <p:sldId id="271" r:id="rId18"/>
    <p:sldId id="272" r:id="rId19"/>
    <p:sldId id="273" r:id="rId20"/>
    <p:sldId id="294" r:id="rId21"/>
    <p:sldId id="292" r:id="rId22"/>
    <p:sldId id="295" r:id="rId23"/>
    <p:sldId id="293" r:id="rId24"/>
    <p:sldId id="296" r:id="rId25"/>
    <p:sldId id="298" r:id="rId26"/>
    <p:sldId id="297" r:id="rId27"/>
    <p:sldId id="274" r:id="rId28"/>
    <p:sldId id="276" r:id="rId29"/>
    <p:sldId id="275" r:id="rId30"/>
    <p:sldId id="277" r:id="rId31"/>
    <p:sldId id="278" r:id="rId32"/>
    <p:sldId id="279" r:id="rId33"/>
    <p:sldId id="299" r:id="rId34"/>
    <p:sldId id="300" r:id="rId35"/>
    <p:sldId id="301" r:id="rId36"/>
    <p:sldId id="304" r:id="rId37"/>
    <p:sldId id="305" r:id="rId38"/>
    <p:sldId id="306" r:id="rId39"/>
    <p:sldId id="303" r:id="rId40"/>
    <p:sldId id="302" r:id="rId41"/>
    <p:sldId id="308" r:id="rId42"/>
    <p:sldId id="307" r:id="rId43"/>
    <p:sldId id="315" r:id="rId44"/>
    <p:sldId id="319" r:id="rId45"/>
    <p:sldId id="321" r:id="rId46"/>
    <p:sldId id="320" r:id="rId47"/>
    <p:sldId id="323" r:id="rId48"/>
    <p:sldId id="329" r:id="rId49"/>
    <p:sldId id="310" r:id="rId50"/>
    <p:sldId id="311" r:id="rId51"/>
    <p:sldId id="325" r:id="rId52"/>
    <p:sldId id="314" r:id="rId53"/>
    <p:sldId id="328" r:id="rId54"/>
    <p:sldId id="332" r:id="rId55"/>
    <p:sldId id="327" r:id="rId56"/>
    <p:sldId id="330" r:id="rId57"/>
    <p:sldId id="326" r:id="rId58"/>
    <p:sldId id="333" r:id="rId59"/>
    <p:sldId id="334" r:id="rId60"/>
    <p:sldId id="313" r:id="rId61"/>
    <p:sldId id="316" r:id="rId62"/>
    <p:sldId id="335" r:id="rId63"/>
    <p:sldId id="289" r:id="rId64"/>
    <p:sldId id="290" r:id="rId65"/>
    <p:sldId id="312" r:id="rId66"/>
    <p:sldId id="322" r:id="rId67"/>
    <p:sldId id="280" r:id="rId68"/>
    <p:sldId id="269" r:id="rId69"/>
    <p:sldId id="309" r:id="rId70"/>
    <p:sldId id="324" r:id="rId71"/>
    <p:sldId id="317" r:id="rId72"/>
    <p:sldId id="331" r:id="rId73"/>
    <p:sldId id="336" r:id="rId74"/>
    <p:sldId id="268" r:id="rId7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01" y="23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slide" Target="slides/slide73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59833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394816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70454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589879"/>
            <a:ext cx="9590550" cy="150705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9962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1732449"/>
            <a:ext cx="5060497" cy="4058750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2892" y="1732449"/>
            <a:ext cx="5064665" cy="405875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73823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89072" cy="4148769"/>
          </a:xfrm>
          <a:prstGeom prst="rect">
            <a:avLst/>
          </a:prstGeom>
        </p:spPr>
      </p:pic>
      <p:pic>
        <p:nvPicPr>
          <p:cNvPr id="21" name="Picture 20" descr="Slate-V2-HD-comp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8485" y="1734506"/>
            <a:ext cx="5089072" cy="414876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05872" y="1835254"/>
            <a:ext cx="4876344" cy="54488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05872" y="2380137"/>
            <a:ext cx="4876344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94967" y="1835254"/>
            <a:ext cx="4895330" cy="544883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94967" y="2380137"/>
            <a:ext cx="4895330" cy="341106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60778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4660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07377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181600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1518"/>
            <a:ext cx="3706889" cy="3359681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8166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923"/>
            <a:ext cx="5934949" cy="1829338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439261"/>
            <a:ext cx="5934949" cy="337613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02419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108728"/>
            <a:ext cx="10353762" cy="682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70241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49888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586577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25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571750"/>
            <a:ext cx="3300984" cy="3219450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365281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480368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480367"/>
            <a:ext cx="3300984" cy="1310833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480365"/>
            <a:ext cx="3300984" cy="131083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0295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946777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83068" y="609599"/>
            <a:ext cx="2284487" cy="5181601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13796" y="609599"/>
            <a:ext cx="7916872" cy="5181601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44647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1732449"/>
            <a:ext cx="10353762" cy="4058751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BFD97FD3-0E3C-4940-AC08-248FE3BAAF7F}" type="datetimeFigureOut">
              <a:rPr lang="en-US" smtClean="0"/>
              <a:t>5/12/2026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5883275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7E1E4303-CC65-4D52-A3E4-D34B882591C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157160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0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0.png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pn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0.png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1.png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4.png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7.png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3CF1E4-0D28-D7EA-7965-239A745D8F7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Angular &amp; TypeScript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D9CF8B3-0D29-D356-42C5-62C1962330A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By. ahmedmohamedmvp@gmail.com</a:t>
            </a:r>
          </a:p>
        </p:txBody>
      </p:sp>
    </p:spTree>
    <p:extLst>
      <p:ext uri="{BB962C8B-B14F-4D97-AF65-F5344CB8AC3E}">
        <p14:creationId xmlns:p14="http://schemas.microsoft.com/office/powerpoint/2010/main" val="37853018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D6E4D5-76F9-66CF-D54B-FA70D7214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183F88-F295-1AB5-0837-35AF7BCF8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04173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12646F-CD7E-D994-0559-6788B36985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93336"/>
          </a:xfrm>
        </p:spPr>
        <p:txBody>
          <a:bodyPr>
            <a:normAutofit fontScale="90000"/>
          </a:bodyPr>
          <a:lstStyle/>
          <a:p>
            <a:r>
              <a:rPr lang="en-US" b="1"/>
              <a:t>Creating Project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E4577F-6B57-3330-540E-DCA4B34EBA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741" y="693337"/>
            <a:ext cx="11424975" cy="6018962"/>
          </a:xfrm>
        </p:spPr>
        <p:txBody>
          <a:bodyPr/>
          <a:lstStyle/>
          <a:p>
            <a:r>
              <a:rPr lang="en-US"/>
              <a:t>ng new projectName // it will cerate new folder with name projectName</a:t>
            </a:r>
          </a:p>
          <a:p>
            <a:pPr lvl="1"/>
            <a:r>
              <a:rPr lang="en-US" b="1"/>
              <a:t>which </a:t>
            </a:r>
            <a:r>
              <a:rPr lang="en-US" b="1">
                <a:solidFill>
                  <a:srgbClr val="FFFF00"/>
                </a:solidFill>
              </a:rPr>
              <a:t>stylesheet</a:t>
            </a:r>
            <a:r>
              <a:rPr lang="en-US" b="1"/>
              <a:t> format would you like to use ---- choose css</a:t>
            </a:r>
          </a:p>
          <a:p>
            <a:pPr lvl="1"/>
            <a:r>
              <a:rPr lang="en-US" b="1"/>
              <a:t>do you want to enable server-side rendering     ---- choose NO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83228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6BD5F5-1EB6-2753-8B20-F6CE7ED52A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/>
              <a:t>Environment Creation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BBF66A-A19F-2476-A12C-29D72913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1644" y="622999"/>
            <a:ext cx="10925913" cy="6039058"/>
          </a:xfrm>
        </p:spPr>
        <p:txBody>
          <a:bodyPr/>
          <a:lstStyle/>
          <a:p>
            <a:r>
              <a:rPr lang="en-US"/>
              <a:t>Inside </a:t>
            </a:r>
            <a:r>
              <a:rPr lang="en-US" err="1"/>
              <a:t>src</a:t>
            </a:r>
            <a:r>
              <a:rPr lang="en-US"/>
              <a:t> folder</a:t>
            </a:r>
          </a:p>
          <a:p>
            <a:r>
              <a:rPr lang="en-US"/>
              <a:t>ng g environments</a:t>
            </a:r>
          </a:p>
          <a:p>
            <a:pPr lvl="1"/>
            <a:r>
              <a:rPr lang="en-US" sz="2000"/>
              <a:t>It creates two folder: </a:t>
            </a:r>
          </a:p>
          <a:p>
            <a:pPr lvl="2"/>
            <a:r>
              <a:rPr lang="en-US" sz="2000"/>
              <a:t>environment.ts 				// when you build this file will be considered</a:t>
            </a:r>
          </a:p>
          <a:p>
            <a:pPr lvl="2"/>
            <a:r>
              <a:rPr lang="en-US" sz="2000"/>
              <a:t>environment.development.ts // when you run this file will be considered</a:t>
            </a:r>
            <a:endParaRPr lang="en-US"/>
          </a:p>
          <a:p>
            <a:pPr lvl="1"/>
            <a:r>
              <a:rPr lang="en-US"/>
              <a:t>Update Angular.json</a:t>
            </a:r>
          </a:p>
          <a:p>
            <a:pPr lvl="1"/>
            <a:endParaRPr lang="en-US"/>
          </a:p>
          <a:p>
            <a:pPr lvl="1"/>
            <a:endParaRPr lang="en-US"/>
          </a:p>
          <a:p>
            <a:pPr lvl="1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03EF84D-472C-0006-10E2-A858018E63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717" y="3439735"/>
            <a:ext cx="5830714" cy="1262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9541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159EA1-B5EF-4182-712D-DE9FA736D5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070" y="2337917"/>
            <a:ext cx="10353762" cy="970450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Routing</a:t>
            </a:r>
          </a:p>
        </p:txBody>
      </p:sp>
    </p:spTree>
    <p:extLst>
      <p:ext uri="{BB962C8B-B14F-4D97-AF65-F5344CB8AC3E}">
        <p14:creationId xmlns:p14="http://schemas.microsoft.com/office/powerpoint/2010/main" val="24522977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E13025-464A-F3C0-EA1F-E214128D54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1290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Routes [</a:t>
            </a:r>
            <a:r>
              <a:rPr lang="en-US" b="1" err="1">
                <a:solidFill>
                  <a:srgbClr val="FF0000"/>
                </a:solidFill>
              </a:rPr>
              <a:t>app.route.ts</a:t>
            </a:r>
            <a:r>
              <a:rPr lang="en-US" b="1">
                <a:solidFill>
                  <a:srgbClr val="FF0000"/>
                </a:solidFill>
              </a:rPr>
              <a:t>] , Lazy loading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23E028D-620A-F0B4-90F4-4DBD6B8BB8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5474" y="779822"/>
            <a:ext cx="6603007" cy="120975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D0A3FA7-0F9C-4110-F411-E227B971C5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426" y="593264"/>
            <a:ext cx="5322100" cy="23377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A7A6604-B775-CCD0-6B68-94AB167F5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75" y="3002811"/>
            <a:ext cx="9940471" cy="3855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882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961FF9-5732-8B38-AE0F-02650F615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83048"/>
            <a:ext cx="10353762" cy="630386"/>
          </a:xfrm>
        </p:spPr>
        <p:txBody>
          <a:bodyPr>
            <a:normAutofit fontScale="90000"/>
          </a:bodyPr>
          <a:lstStyle/>
          <a:p>
            <a:r>
              <a:rPr lang="en-US" b="1"/>
              <a:t>Navigate Via HTML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57539ED8-C96E-6231-2F1A-ED9CACC5B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90796" y="1437008"/>
            <a:ext cx="9552979" cy="630386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1A0193-51DD-5F37-A766-20A701398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0797" y="2213176"/>
            <a:ext cx="9552982" cy="63038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F85CF3-A54B-3CAA-A07C-2B77E01A64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0796" y="713435"/>
            <a:ext cx="4090285" cy="648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6740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6DDFF4-8539-CDAC-581A-0E7EA59EE2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96350"/>
            <a:ext cx="10353762" cy="970450"/>
          </a:xfrm>
        </p:spPr>
        <p:txBody>
          <a:bodyPr/>
          <a:lstStyle/>
          <a:p>
            <a:r>
              <a:rPr lang="en-US"/>
              <a:t>Navigate Via TS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79201EF-0C16-9208-FEFB-608B13E75C8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13795" y="1066800"/>
            <a:ext cx="6024406" cy="64022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E1A31C-79F1-19F1-8861-F95ED2039B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795" y="1865672"/>
            <a:ext cx="6024406" cy="6402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03991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074E3F-1632-D5DC-2837-58BED44C5F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72273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</a:t>
            </a:r>
            <a:r>
              <a:rPr lang="en-US" b="1">
                <a:solidFill>
                  <a:srgbClr val="FF0000"/>
                </a:solidFill>
              </a:rPr>
              <a:t>, 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541D93D-A3A5-9C73-82B4-5E3B80BFD9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9959" y="637632"/>
            <a:ext cx="3665353" cy="58065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8AD4D536-5A2F-6CAB-63C3-79706F63B5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9959" y="1314438"/>
            <a:ext cx="3778176" cy="472272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D07B321-3FD8-A0A1-21D3-F6C13CE6DF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9959" y="1882866"/>
            <a:ext cx="3778176" cy="608470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421C60A0-82B2-91E0-AAF1-AEA26943117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59" y="2638587"/>
            <a:ext cx="5375868" cy="10003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3524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5A01A3-1E11-9C77-884C-98E8ACBF7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 err="1">
                <a:solidFill>
                  <a:srgbClr val="FF0000"/>
                </a:solidFill>
              </a:rPr>
              <a:t>routerLinkActiveOptions</a:t>
            </a:r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E69ABF2-B39B-7000-B910-D04E38E145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533" y="542610"/>
            <a:ext cx="5150788" cy="234126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3388C7C-297C-31FB-B9C6-A792CA4B8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533" y="3074797"/>
            <a:ext cx="3972921" cy="308640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982232A-3E3C-20CB-6FF6-1F07B89185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83454" y="3743010"/>
            <a:ext cx="1590675" cy="19621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B4F43EB5-4E9C-5036-DB47-7C79AB4A5C3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4035" y="866060"/>
            <a:ext cx="3523205" cy="2413534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66440FA3-1361-A746-4C2B-61CCD53B74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17240" y="1177477"/>
            <a:ext cx="1876425" cy="1790700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4652D9DB-C436-C549-F06C-BB59EA4B27C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7873" y="3743010"/>
            <a:ext cx="4771809" cy="1790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493323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291A9-D68F-593A-1138-70C5711B2D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/>
              <a:t>Router outlet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C2FC2D-1F50-F2D6-CA80-6F4001707B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970451"/>
            <a:ext cx="11635991" cy="5681558"/>
          </a:xfrm>
        </p:spPr>
        <p:txBody>
          <a:bodyPr/>
          <a:lstStyle/>
          <a:p>
            <a:r>
              <a:rPr lang="en-US"/>
              <a:t>In this example we have sidebar(dashboard) component // existed at layouts/dashboard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135703-096A-213A-39E5-64F8AD98444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5251" y="1382872"/>
            <a:ext cx="3568700" cy="57354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632FE0-BBF0-41EE-5F36-135295B69C9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251" y="1956417"/>
            <a:ext cx="10755201" cy="30482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82288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028761-724C-C01B-B135-895E216EC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1105320"/>
            <a:ext cx="10353762" cy="371789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Start Binding</a:t>
            </a:r>
          </a:p>
        </p:txBody>
      </p:sp>
    </p:spTree>
    <p:extLst>
      <p:ext uri="{BB962C8B-B14F-4D97-AF65-F5344CB8AC3E}">
        <p14:creationId xmlns:p14="http://schemas.microsoft.com/office/powerpoint/2010/main" val="22661863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B8FB81-CAF0-BEDE-05F1-96E505B87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>
            <a:normAutofit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Binding</a:t>
            </a:r>
            <a:endParaRPr lang="en-US" sz="44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14B1D5-538A-EA13-52C2-4F04C8BE92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8090" y="999946"/>
            <a:ext cx="10776155" cy="5204207"/>
          </a:xfrm>
        </p:spPr>
        <p:txBody>
          <a:bodyPr/>
          <a:lstStyle/>
          <a:p>
            <a:r>
              <a:rPr lang="en-US" b="1"/>
              <a:t>Interpolation</a:t>
            </a:r>
          </a:p>
          <a:p>
            <a:r>
              <a:rPr lang="en-US" b="1"/>
              <a:t>attribute (property) binding</a:t>
            </a:r>
          </a:p>
          <a:p>
            <a:r>
              <a:rPr lang="en-US" b="1"/>
              <a:t>class binding</a:t>
            </a:r>
          </a:p>
          <a:p>
            <a:r>
              <a:rPr lang="en-US" b="1"/>
              <a:t>style binding</a:t>
            </a:r>
          </a:p>
          <a:p>
            <a:r>
              <a:rPr lang="en-US" b="1"/>
              <a:t>Event Binding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521996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7EB9FE-AB7D-CDD7-BEF9-70EA3EBEBB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26831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Event binding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67971-C05A-29CD-B962-ACCE29ECF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726831"/>
            <a:ext cx="10353762" cy="5064369"/>
          </a:xfrm>
        </p:spPr>
        <p:txBody>
          <a:bodyPr/>
          <a:lstStyle/>
          <a:p>
            <a:r>
              <a:rPr lang="en-US">
                <a:effectLst/>
              </a:rPr>
              <a:t>Function in event binding should be invoked</a:t>
            </a:r>
          </a:p>
          <a:p>
            <a:pPr lvl="1"/>
            <a:r>
              <a:rPr lang="en-US">
                <a:effectLst/>
              </a:rPr>
              <a:t>(submit)="SubmitAddingColorOption"  // XXX</a:t>
            </a:r>
          </a:p>
          <a:p>
            <a:pPr lvl="1"/>
            <a:r>
              <a:rPr lang="en-US">
                <a:effectLst/>
              </a:rPr>
              <a:t>(submit)="SubmitAddingColorOption()" 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47262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FB163C-BE07-DC9B-86D8-C2A225BDC4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600"/>
            <a:ext cx="11354637" cy="5911780"/>
          </a:xfrm>
        </p:spPr>
        <p:txBody>
          <a:bodyPr>
            <a:normAutofit/>
          </a:bodyPr>
          <a:lstStyle/>
          <a:p>
            <a:r>
              <a:rPr lang="en-US" sz="7200" b="1">
                <a:solidFill>
                  <a:srgbClr val="FF0000"/>
                </a:solidFill>
              </a:rPr>
              <a:t>End Binding</a:t>
            </a:r>
            <a:endParaRPr lang="en-US" sz="7200"/>
          </a:p>
        </p:txBody>
      </p:sp>
    </p:spTree>
    <p:extLst>
      <p:ext uri="{BB962C8B-B14F-4D97-AF65-F5344CB8AC3E}">
        <p14:creationId xmlns:p14="http://schemas.microsoft.com/office/powerpoint/2010/main" val="40479307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523F1A-83BC-D35C-BA4C-54902FC858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50606"/>
          </a:xfrm>
        </p:spPr>
        <p:txBody>
          <a:bodyPr>
            <a:normAutofit fontScale="90000"/>
          </a:bodyPr>
          <a:lstStyle/>
          <a:p>
            <a:r>
              <a:rPr lang="en-US"/>
              <a:t>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33B1E-E103-C154-025F-8F7D67B2F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794" y="550607"/>
            <a:ext cx="11415251" cy="5978012"/>
          </a:xfrm>
        </p:spPr>
        <p:txBody>
          <a:bodyPr/>
          <a:lstStyle/>
          <a:p>
            <a:r>
              <a:rPr lang="en-US"/>
              <a:t>it is used to handle (manage) asynchronous operations</a:t>
            </a:r>
          </a:p>
          <a:p>
            <a:r>
              <a:rPr lang="en-US"/>
              <a:t>Emits multiple values over time (better for data streaming) (data producer)</a:t>
            </a:r>
          </a:p>
          <a:p>
            <a:r>
              <a:rPr lang="en-US"/>
              <a:t>Lazy (executed when subscribed).</a:t>
            </a:r>
          </a:p>
          <a:p>
            <a:r>
              <a:rPr lang="en-US"/>
              <a:t>Can be canceled (by unsubscribing).</a:t>
            </a:r>
          </a:p>
          <a:p>
            <a:r>
              <a:rPr lang="en-US"/>
              <a:t>Included in ReactiveX Library</a:t>
            </a:r>
          </a:p>
          <a:p>
            <a:r>
              <a:rPr lang="en-US">
                <a:effectLst/>
              </a:rPr>
              <a:t>A stream of data or events (like news) that can be sent over time.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511938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99BF36-BBE9-F3EC-68D8-A0C569DEBD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976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Observer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6FE41-5DF8-3B8A-99CF-C4F98A2003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4464" y="599769"/>
            <a:ext cx="11641393" cy="5997676"/>
          </a:xfrm>
        </p:spPr>
        <p:txBody>
          <a:bodyPr/>
          <a:lstStyle/>
          <a:p>
            <a:r>
              <a:rPr lang="en-US">
                <a:effectLst/>
              </a:rPr>
              <a:t>It is an object (or a set of callbacks) that defines </a:t>
            </a:r>
            <a:r>
              <a:rPr lang="en-US" i="1">
                <a:effectLst/>
              </a:rPr>
              <a:t>how</a:t>
            </a:r>
            <a:r>
              <a:rPr lang="en-US">
                <a:effectLst/>
              </a:rPr>
              <a:t> to handle the data coming from the Observable</a:t>
            </a:r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The object passed inside the </a:t>
            </a:r>
            <a:r>
              <a:rPr lang="en-US" b="1">
                <a:solidFill>
                  <a:srgbClr val="FFFF00"/>
                </a:solidFill>
              </a:rPr>
              <a:t>.subscribe()</a:t>
            </a:r>
            <a:r>
              <a:rPr lang="en-US"/>
              <a:t> method is the </a:t>
            </a:r>
            <a:r>
              <a:rPr lang="en-US" b="1">
                <a:solidFill>
                  <a:srgbClr val="FFFF00"/>
                </a:solidFill>
              </a:rPr>
              <a:t>Observer</a:t>
            </a:r>
          </a:p>
          <a:p>
            <a:r>
              <a:rPr lang="en-US"/>
              <a:t>The complete is called when the Observable finishes its lifecycle , NOT called if an error happens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AE29D33-4B89-224D-D545-09A825300F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464" y="1253367"/>
            <a:ext cx="5275062" cy="24338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0813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F302-55BD-6F9E-F1D9-C6B30B72D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19432"/>
          </a:xfrm>
        </p:spPr>
        <p:txBody>
          <a:bodyPr>
            <a:normAutofit fontScale="90000"/>
          </a:bodyPr>
          <a:lstStyle/>
          <a:p>
            <a:r>
              <a:rPr lang="en-US" sz="4400" b="1">
                <a:solidFill>
                  <a:srgbClr val="FF0000"/>
                </a:solidFill>
              </a:rPr>
              <a:t>Subscriber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8A388-1F3E-2877-3CB0-63D95487DD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6645" y="707923"/>
            <a:ext cx="11818374" cy="5899354"/>
          </a:xfrm>
        </p:spPr>
        <p:txBody>
          <a:bodyPr/>
          <a:lstStyle/>
          <a:p>
            <a:r>
              <a:rPr lang="en-US">
                <a:effectLst/>
              </a:rPr>
              <a:t>acts as the middleman: It takes value from the Observable and hands it to the Observer's next() method</a:t>
            </a:r>
            <a:endParaRPr lang="en-US"/>
          </a:p>
          <a:p>
            <a:r>
              <a:rPr lang="en-US"/>
              <a:t>The 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/>
              <a:t> parameter inside the new </a:t>
            </a:r>
            <a:r>
              <a:rPr lang="en-US" b="1">
                <a:solidFill>
                  <a:srgbClr val="FFFF00"/>
                </a:solidFill>
              </a:rPr>
              <a:t>Observable constructor</a:t>
            </a:r>
            <a:r>
              <a:rPr lang="en-US"/>
              <a:t> is Subscriber.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46793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DAFF-652F-D97C-B156-17FBE471C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9935"/>
          </a:xfrm>
        </p:spPr>
        <p:txBody>
          <a:bodyPr>
            <a:normAutofit fontScale="90000"/>
          </a:bodyPr>
          <a:lstStyle/>
          <a:p>
            <a:r>
              <a:rPr lang="en-US" b="1"/>
              <a:t>Observable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2204C2-0829-E37C-9C3D-E7463B466F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8889" y="721816"/>
            <a:ext cx="5728817" cy="219346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8C0BDF-7358-793F-BD0C-A5CFDE7B1E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0565" y="3298371"/>
            <a:ext cx="5727141" cy="2427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40026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DA4861-F8BC-F199-21FB-61F4353A31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208" y="0"/>
            <a:ext cx="11776667" cy="69668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Plain 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32221E-2F66-AD65-2FC8-F30EF00240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209" y="696686"/>
            <a:ext cx="11776668" cy="6055805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312223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103C6D-5605-0212-1DF2-26BBF1A8A3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20840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FE6A4-EB49-E428-D7E3-26728F58B1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386" y="520842"/>
            <a:ext cx="12111613" cy="6337158"/>
          </a:xfrm>
        </p:spPr>
        <p:txBody>
          <a:bodyPr>
            <a:normAutofit/>
          </a:bodyPr>
          <a:lstStyle/>
          <a:p>
            <a:r>
              <a:rPr lang="en-US" sz="1800"/>
              <a:t>manage </a:t>
            </a:r>
            <a:r>
              <a:rPr lang="en-US" sz="1800" b="1"/>
              <a:t>shared state between components</a:t>
            </a:r>
            <a:r>
              <a:rPr lang="en-US" sz="1800"/>
              <a:t>, like login status, theme changes, cart updates, etc.</a:t>
            </a:r>
          </a:p>
          <a:p>
            <a:r>
              <a:rPr lang="en-US" sz="1800"/>
              <a:t>A </a:t>
            </a:r>
            <a:r>
              <a:rPr lang="en-US" sz="1800" b="1"/>
              <a:t>BehaviorSubject</a:t>
            </a:r>
            <a:r>
              <a:rPr lang="en-US" sz="1800"/>
              <a:t> is a special type of </a:t>
            </a:r>
            <a:r>
              <a:rPr lang="en-US" sz="1800" b="1"/>
              <a:t>Observable </a:t>
            </a:r>
            <a:r>
              <a:rPr lang="en-US" sz="1800"/>
              <a:t>that </a:t>
            </a:r>
          </a:p>
          <a:p>
            <a:pPr lvl="1"/>
            <a:r>
              <a:rPr lang="en-US"/>
              <a:t>stores the latest value</a:t>
            </a:r>
            <a:endParaRPr lang="en-US" b="1"/>
          </a:p>
          <a:p>
            <a:pPr lvl="1"/>
            <a:r>
              <a:rPr lang="en-US"/>
              <a:t>Immediately sends the last value to new subscribers</a:t>
            </a:r>
            <a:endParaRPr lang="en-US" b="1"/>
          </a:p>
          <a:p>
            <a:r>
              <a:rPr lang="en-US" sz="1800"/>
              <a:t>So any component that subscribes will always receive the </a:t>
            </a:r>
            <a:r>
              <a:rPr lang="en-US" sz="1800" b="1"/>
              <a:t>current state instantly</a:t>
            </a:r>
            <a:r>
              <a:rPr lang="en-US" sz="1800"/>
              <a:t>.</a:t>
            </a:r>
          </a:p>
          <a:p>
            <a:r>
              <a:rPr lang="en-US" sz="1800" b="1"/>
              <a:t>BehaviorSubject = Observable + Current Value Storage</a:t>
            </a:r>
          </a:p>
          <a:p>
            <a:endParaRPr lang="en-US" sz="180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D57395D-480D-4A9A-E183-7328C3D96D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06508" y="2465476"/>
            <a:ext cx="4785492" cy="439252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C3D7E00-8E9E-74B4-53FC-B844DD2C69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545" y="3097405"/>
            <a:ext cx="4572001" cy="2605424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75824B4-C5B7-AA14-0CEB-78DD29A4BD4F}"/>
              </a:ext>
            </a:extLst>
          </p:cNvPr>
          <p:cNvSpPr txBox="1"/>
          <p:nvPr/>
        </p:nvSpPr>
        <p:spPr>
          <a:xfrm>
            <a:off x="357153" y="5861157"/>
            <a:ext cx="60938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/>
              <a:t>When a </a:t>
            </a:r>
            <a:r>
              <a:rPr lang="en-US"/>
              <a:t>Subject</a:t>
            </a:r>
            <a:r>
              <a:rPr lang="en-US" sz="2000"/>
              <a:t> </a:t>
            </a:r>
            <a:r>
              <a:rPr lang="en-US" sz="2000" b="1">
                <a:solidFill>
                  <a:srgbClr val="FFC000"/>
                </a:solidFill>
              </a:rPr>
              <a:t>emits</a:t>
            </a:r>
            <a:r>
              <a:rPr lang="en-US" sz="2000"/>
              <a:t> a value </a:t>
            </a:r>
            <a:r>
              <a:rPr lang="en-US" sz="2000" b="1">
                <a:solidFill>
                  <a:srgbClr val="FFC000"/>
                </a:solidFill>
              </a:rPr>
              <a:t>using </a:t>
            </a:r>
            <a:r>
              <a:rPr lang="en-US" b="1">
                <a:solidFill>
                  <a:srgbClr val="FFC000"/>
                </a:solidFill>
              </a:rPr>
              <a:t>.next()</a:t>
            </a:r>
            <a:r>
              <a:rPr lang="en-US" sz="2000"/>
              <a:t>, </a:t>
            </a:r>
            <a:r>
              <a:rPr lang="en-US" sz="2000" b="1"/>
              <a:t>all current </a:t>
            </a:r>
            <a:r>
              <a:rPr lang="en-US" sz="2000" b="1">
                <a:solidFill>
                  <a:srgbClr val="FFC000"/>
                </a:solidFill>
              </a:rPr>
              <a:t>subscribers</a:t>
            </a:r>
            <a:r>
              <a:rPr lang="en-US" sz="2000"/>
              <a:t> </a:t>
            </a:r>
            <a:r>
              <a:rPr lang="en-US" sz="2000" b="1">
                <a:solidFill>
                  <a:srgbClr val="92D050"/>
                </a:solidFill>
              </a:rPr>
              <a:t>receive</a:t>
            </a:r>
            <a:r>
              <a:rPr lang="en-US" sz="2000"/>
              <a:t> that value.</a:t>
            </a:r>
          </a:p>
        </p:txBody>
      </p:sp>
    </p:spTree>
    <p:extLst>
      <p:ext uri="{BB962C8B-B14F-4D97-AF65-F5344CB8AC3E}">
        <p14:creationId xmlns:p14="http://schemas.microsoft.com/office/powerpoint/2010/main" val="209167500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DD2ED-C010-3A25-B3D4-7D6BCCC81C6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7707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Example 1: Login State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4884EF8-44F0-8020-3758-D09D633C70A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938212"/>
            <a:ext cx="5205045" cy="511175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71D5F1D-B4A3-DD0A-447B-EB06D4001BC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6256" y="938212"/>
            <a:ext cx="4903595" cy="4006815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B6C77695-EE4D-20EA-DB98-6C91EDE4A2D3}"/>
              </a:ext>
            </a:extLst>
          </p:cNvPr>
          <p:cNvSpPr/>
          <p:nvPr/>
        </p:nvSpPr>
        <p:spPr>
          <a:xfrm>
            <a:off x="1175656" y="6139543"/>
            <a:ext cx="10018207" cy="71845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b="1"/>
              <a:t>The Observable here relays (forwards) whatever the BehaviorSubject emits.</a:t>
            </a:r>
          </a:p>
        </p:txBody>
      </p:sp>
    </p:spTree>
    <p:extLst>
      <p:ext uri="{BB962C8B-B14F-4D97-AF65-F5344CB8AC3E}">
        <p14:creationId xmlns:p14="http://schemas.microsoft.com/office/powerpoint/2010/main" val="159117062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CD8548-84FF-0F62-E996-3F97F301FD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356" y="0"/>
            <a:ext cx="10353762" cy="622998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Example 1: Login State [cont.1]</a:t>
            </a:r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1C252A7A-4B94-1CD8-B5A7-FCB6B8A8C58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622998"/>
            <a:ext cx="6392698" cy="56447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05167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FA278E-CBE4-CF30-C56E-8ADB194AFF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7275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BehaviorSubject [cont.]</a:t>
            </a:r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E6AEAB2-B0E6-0078-12CF-E00DBFF43A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702338"/>
            <a:ext cx="4108154" cy="512078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6EEC121D-C332-9F96-074B-1FFA4A1E7D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08154" y="748132"/>
            <a:ext cx="4286250" cy="14382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8E3B65E-1F3F-C36C-0ACC-5493204FB8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5411" y="2361783"/>
            <a:ext cx="4871503" cy="36337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63757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F07099-2758-6033-8A35-0FE7B4B565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9747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BehaviorSubject [cont.2]</a:t>
            </a:r>
            <a:endParaRPr lang="en-US" sz="360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65342F-1240-8B02-27B9-A9F4875D5BC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0" y="566842"/>
            <a:ext cx="6621864" cy="6166805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140266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3CFD92-343B-8F2D-B4BE-703234B5E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17266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Advanced Example (User Object)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123F10A0-9D69-567A-4873-BC0C20B47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1015" y="927169"/>
            <a:ext cx="5879661" cy="5789512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27544101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5734B3-3F11-7C03-2D92-0B3DB8D4E2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80103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Creating new component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3D2559-9DB4-4235-E157-38E45495D0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2618" y="580103"/>
            <a:ext cx="11375923" cy="6145162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componentName</a:t>
            </a:r>
            <a:r>
              <a:rPr lang="en-US"/>
              <a:t> --skip-tests</a:t>
            </a:r>
          </a:p>
          <a:p>
            <a:r>
              <a:rPr lang="en-US" b="1">
                <a:solidFill>
                  <a:srgbClr val="FF0000"/>
                </a:solidFill>
              </a:rPr>
              <a:t>ng</a:t>
            </a:r>
            <a:r>
              <a:rPr lang="en-US"/>
              <a:t> g c project-details </a:t>
            </a:r>
            <a:r>
              <a:rPr lang="en-US" b="1">
                <a:solidFill>
                  <a:srgbClr val="0070C0"/>
                </a:solidFill>
              </a:rPr>
              <a:t>--skip-tests</a:t>
            </a:r>
          </a:p>
          <a:p>
            <a:pPr lvl="1"/>
            <a:r>
              <a:rPr lang="en-US"/>
              <a:t>project-details folder will be created and includes</a:t>
            </a:r>
          </a:p>
          <a:p>
            <a:pPr lvl="2"/>
            <a:r>
              <a:rPr lang="en-US" sz="1800" err="1"/>
              <a:t>ProjectDetails.component.ts</a:t>
            </a:r>
            <a:endParaRPr lang="en-US" sz="1800"/>
          </a:p>
          <a:p>
            <a:pPr lvl="2"/>
            <a:r>
              <a:rPr lang="en-US" sz="1800"/>
              <a:t>ProjectDetails.Component.html</a:t>
            </a:r>
          </a:p>
          <a:p>
            <a:pPr lvl="2"/>
            <a:r>
              <a:rPr lang="en-US" sz="1800"/>
              <a:t>ProjectDetails.Component.css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4637D5B-8B8B-98DD-59F9-9474B5F23C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372" y="3143800"/>
            <a:ext cx="11729041" cy="1810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424728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4C49B-2F1D-97B3-0A85-352A55AC2E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47252"/>
          </a:xfrm>
        </p:spPr>
        <p:txBody>
          <a:bodyPr/>
          <a:lstStyle/>
          <a:p>
            <a:r>
              <a:rPr lang="en-US" b="1"/>
              <a:t>Creating side bar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16EB86-5D99-4E2C-2247-FA4A7724D2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4" y="747253"/>
            <a:ext cx="11464413" cy="5702708"/>
          </a:xfrm>
        </p:spPr>
        <p:txBody>
          <a:bodyPr/>
          <a:lstStyle/>
          <a:p>
            <a:r>
              <a:rPr lang="en-US"/>
              <a:t>ng g c </a:t>
            </a:r>
            <a:r>
              <a:rPr lang="en-US" err="1"/>
              <a:t>SideBar</a:t>
            </a:r>
            <a:r>
              <a:rPr lang="en-US"/>
              <a:t> --skip-tests</a:t>
            </a:r>
          </a:p>
        </p:txBody>
      </p:sp>
    </p:spTree>
    <p:extLst>
      <p:ext uri="{BB962C8B-B14F-4D97-AF65-F5344CB8AC3E}">
        <p14:creationId xmlns:p14="http://schemas.microsoft.com/office/powerpoint/2010/main" val="898701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8D13E-4D03-33C1-BF51-610117BB7E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7419"/>
          </a:xfrm>
        </p:spPr>
        <p:txBody>
          <a:bodyPr/>
          <a:lstStyle/>
          <a:p>
            <a:r>
              <a:rPr lang="en-US" b="1">
                <a:solidFill>
                  <a:srgbClr val="0070C0"/>
                </a:solidFill>
              </a:rPr>
              <a:t>Adding bootstrap &amp; Bootstrap icon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9C21FE-7EFF-39B9-60D6-6206D8DBF3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019" y="737418"/>
            <a:ext cx="11859490" cy="6042073"/>
          </a:xfrm>
        </p:spPr>
        <p:txBody>
          <a:bodyPr>
            <a:normAutofit/>
          </a:bodyPr>
          <a:lstStyle/>
          <a:p>
            <a:r>
              <a:rPr lang="en-US" sz="1800" b="1">
                <a:solidFill>
                  <a:srgbClr val="FFFF00"/>
                </a:solidFill>
              </a:rPr>
              <a:t>ng</a:t>
            </a:r>
            <a:r>
              <a:rPr lang="en-US" sz="1800"/>
              <a:t> </a:t>
            </a:r>
            <a:r>
              <a:rPr lang="en-US" sz="1800" b="1">
                <a:solidFill>
                  <a:srgbClr val="00B0F0"/>
                </a:solidFill>
              </a:rPr>
              <a:t>add</a:t>
            </a:r>
            <a:r>
              <a:rPr lang="en-US" sz="1800"/>
              <a:t> </a:t>
            </a:r>
            <a:r>
              <a:rPr lang="en-US" sz="1800" b="1">
                <a:solidFill>
                  <a:srgbClr val="00B050"/>
                </a:solidFill>
              </a:rPr>
              <a:t>@ng-bootstrap/ng-bootstrap</a:t>
            </a:r>
            <a:r>
              <a:rPr lang="en-US" sz="1800"/>
              <a:t>  //</a:t>
            </a:r>
            <a:r>
              <a:rPr lang="en-US" sz="1800" b="1"/>
              <a:t>recommended, to use the component that need the JS code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@ng-bootstrap/ng-bootstrap  // like the above</a:t>
            </a:r>
          </a:p>
          <a:p>
            <a:r>
              <a:rPr lang="en-US" sz="1800" b="1"/>
              <a:t>at </a:t>
            </a:r>
            <a:r>
              <a:rPr lang="en-US" sz="1800" b="1" err="1"/>
              <a:t>angular.json</a:t>
            </a:r>
            <a:r>
              <a:rPr lang="en-US" sz="1800" b="1"/>
              <a:t> / at architect object / build object / options object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css</a:t>
            </a:r>
            <a:r>
              <a:rPr lang="en-US" b="1"/>
              <a:t>/bootstrap.min.css",        // bootstrap CSS file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scripts array</a:t>
            </a:r>
            <a:r>
              <a:rPr lang="en-US" b="1"/>
              <a:t>  -- "</a:t>
            </a:r>
            <a:r>
              <a:rPr lang="en-US" b="1" err="1"/>
              <a:t>node_modules</a:t>
            </a:r>
            <a:r>
              <a:rPr lang="en-US" b="1"/>
              <a:t>/bootstrap/</a:t>
            </a:r>
            <a:r>
              <a:rPr lang="en-US" b="1" err="1"/>
              <a:t>dist</a:t>
            </a:r>
            <a:r>
              <a:rPr lang="en-US" b="1"/>
              <a:t>/</a:t>
            </a:r>
            <a:r>
              <a:rPr lang="en-US" b="1" err="1"/>
              <a:t>js</a:t>
            </a:r>
            <a:r>
              <a:rPr lang="en-US" b="1"/>
              <a:t>/bootstrap.bundle.min.js"  // bootstrap JS file</a:t>
            </a:r>
          </a:p>
          <a:p>
            <a:r>
              <a:rPr lang="en-US" sz="1800" b="1"/>
              <a:t>For angular 17 , ng-bootstrap 16</a:t>
            </a:r>
            <a:r>
              <a:rPr lang="en-US" sz="1800"/>
              <a:t> → Stable</a:t>
            </a:r>
          </a:p>
          <a:p>
            <a:pPr lvl="1"/>
            <a:r>
              <a:rPr lang="en-US" b="1" err="1">
                <a:solidFill>
                  <a:srgbClr val="FFFF00"/>
                </a:solidFill>
              </a:rPr>
              <a:t>npm</a:t>
            </a:r>
            <a:r>
              <a:rPr lang="en-US" b="1"/>
              <a:t> </a:t>
            </a:r>
            <a:r>
              <a:rPr lang="en-US" b="1" err="1"/>
              <a:t>i</a:t>
            </a:r>
            <a:r>
              <a:rPr lang="en-US" b="1"/>
              <a:t> @ng-bootstrap/ng-bootstrap</a:t>
            </a:r>
          </a:p>
          <a:p>
            <a:r>
              <a:rPr lang="en-US" sz="1800" b="1" err="1">
                <a:solidFill>
                  <a:srgbClr val="FFFF00"/>
                </a:solidFill>
              </a:rPr>
              <a:t>npm</a:t>
            </a:r>
            <a:r>
              <a:rPr lang="en-US" sz="1800" b="1"/>
              <a:t> </a:t>
            </a:r>
            <a:r>
              <a:rPr lang="en-US" sz="1800" b="1" err="1"/>
              <a:t>i</a:t>
            </a:r>
            <a:r>
              <a:rPr lang="en-US" sz="1800" b="1"/>
              <a:t> </a:t>
            </a:r>
            <a:r>
              <a:rPr lang="en-US" sz="1800" b="1">
                <a:solidFill>
                  <a:srgbClr val="00B050"/>
                </a:solidFill>
              </a:rPr>
              <a:t>bootstrap-icons</a:t>
            </a:r>
          </a:p>
          <a:p>
            <a:pPr lvl="1"/>
            <a:r>
              <a:rPr lang="en-US" b="1">
                <a:solidFill>
                  <a:srgbClr val="00B0F0"/>
                </a:solidFill>
              </a:rPr>
              <a:t>at style array</a:t>
            </a:r>
            <a:r>
              <a:rPr lang="en-US" b="1"/>
              <a:t> "</a:t>
            </a:r>
            <a:r>
              <a:rPr lang="en-US" b="1" err="1"/>
              <a:t>node_modules</a:t>
            </a:r>
            <a:r>
              <a:rPr lang="en-US" b="1"/>
              <a:t>/bootstrap-icons/font/bootstrap-icons.min.css"</a:t>
            </a:r>
          </a:p>
          <a:p>
            <a:pPr lvl="1"/>
            <a:endParaRPr lang="en-US" sz="1600" b="1"/>
          </a:p>
          <a:p>
            <a:r>
              <a:rPr lang="en-US" sz="1800" b="1"/>
              <a:t>Versions</a:t>
            </a:r>
          </a:p>
          <a:p>
            <a:pPr lvl="1"/>
            <a:r>
              <a:rPr lang="en-US"/>
              <a:t>npm install @ng-bootstrap/ng-bootstrap@15  // with angular 16</a:t>
            </a:r>
          </a:p>
          <a:p>
            <a:pPr lvl="1"/>
            <a:r>
              <a:rPr lang="en-US"/>
              <a:t>npm install @ng-bootstrap/ng-bootstrap@16  // with angular 17</a:t>
            </a:r>
          </a:p>
          <a:p>
            <a:pPr lvl="1"/>
            <a:r>
              <a:rPr lang="en-US"/>
              <a:t>npm install @ng-bootstrap/ng-bootstrap@17  // with angular 18</a:t>
            </a:r>
          </a:p>
          <a:p>
            <a:pPr lvl="1"/>
            <a:endParaRPr lang="en-US" sz="1600" b="1"/>
          </a:p>
        </p:txBody>
      </p:sp>
    </p:spTree>
    <p:extLst>
      <p:ext uri="{BB962C8B-B14F-4D97-AF65-F5344CB8AC3E}">
        <p14:creationId xmlns:p14="http://schemas.microsoft.com/office/powerpoint/2010/main" val="20949399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A78EBE-03FD-D8DE-35CF-1926B0CA38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88258"/>
          </a:xfrm>
        </p:spPr>
        <p:txBody>
          <a:bodyPr>
            <a:normAutofit fontScale="90000"/>
          </a:bodyPr>
          <a:lstStyle/>
          <a:p>
            <a:r>
              <a:rPr lang="en-US" b="1"/>
              <a:t>Addin CSS file globally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A55FB4-19F2-A5D7-3E15-C94C5CEB2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88258"/>
            <a:ext cx="11887200" cy="5938683"/>
          </a:xfrm>
        </p:spPr>
        <p:txBody>
          <a:bodyPr/>
          <a:lstStyle/>
          <a:p>
            <a:r>
              <a:rPr lang="en-US"/>
              <a:t>at </a:t>
            </a:r>
            <a:r>
              <a:rPr lang="en-US" err="1"/>
              <a:t>src</a:t>
            </a:r>
            <a:r>
              <a:rPr lang="en-US"/>
              <a:t> folder / </a:t>
            </a:r>
            <a:r>
              <a:rPr lang="en-US" err="1"/>
              <a:t>css</a:t>
            </a:r>
            <a:r>
              <a:rPr lang="en-US"/>
              <a:t> folder / css-extensions.css</a:t>
            </a:r>
          </a:p>
          <a:p>
            <a:r>
              <a:rPr lang="en-US" b="1"/>
              <a:t>at </a:t>
            </a:r>
            <a:r>
              <a:rPr lang="en-US" b="1" err="1"/>
              <a:t>angular.json</a:t>
            </a:r>
            <a:r>
              <a:rPr lang="en-US" b="1"/>
              <a:t> / at architect object / build object / options object</a:t>
            </a:r>
            <a:endParaRPr lang="en-US"/>
          </a:p>
          <a:p>
            <a:pPr lvl="1"/>
            <a:r>
              <a:rPr lang="en-US" b="1">
                <a:solidFill>
                  <a:srgbClr val="00B0F0"/>
                </a:solidFill>
              </a:rPr>
              <a:t>at styles array</a:t>
            </a:r>
            <a:r>
              <a:rPr lang="en-US" b="1"/>
              <a:t>    --- </a:t>
            </a:r>
            <a:r>
              <a:rPr lang="en-US">
                <a:effectLst/>
              </a:rPr>
              <a:t>"</a:t>
            </a:r>
            <a:r>
              <a:rPr lang="en-US" err="1">
                <a:effectLst/>
              </a:rPr>
              <a:t>src</a:t>
            </a:r>
            <a:r>
              <a:rPr lang="en-US">
                <a:effectLst/>
              </a:rPr>
              <a:t>/</a:t>
            </a:r>
            <a:r>
              <a:rPr lang="en-US" err="1">
                <a:effectLst/>
              </a:rPr>
              <a:t>css</a:t>
            </a:r>
            <a:r>
              <a:rPr lang="en-US">
                <a:effectLst/>
              </a:rPr>
              <a:t>/css-extension.css"</a:t>
            </a:r>
          </a:p>
          <a:p>
            <a:r>
              <a:rPr lang="en-US"/>
              <a:t>Adding styles via </a:t>
            </a:r>
            <a:r>
              <a:rPr lang="en-US" b="1" err="1">
                <a:effectLst/>
              </a:rPr>
              <a:t>angular.json</a:t>
            </a:r>
            <a:r>
              <a:rPr lang="en-US">
                <a:effectLst/>
              </a:rPr>
              <a:t> is generally faster and more reliable for your application's initial load and overall stability compared to using an external CDN link in index.html</a:t>
            </a:r>
          </a:p>
          <a:p>
            <a:r>
              <a:rPr lang="en-US" b="1">
                <a:effectLst/>
              </a:rPr>
              <a:t>Why angular.json is usually faster</a:t>
            </a:r>
          </a:p>
          <a:p>
            <a:pPr lvl="1"/>
            <a:r>
              <a:rPr lang="en-US" b="1">
                <a:effectLst/>
              </a:rPr>
              <a:t>Reduced HTTP Requests</a:t>
            </a:r>
            <a:r>
              <a:rPr lang="en-US">
                <a:effectLst/>
              </a:rPr>
              <a:t>: When you add files to angular.json, the Angular CLI bundles them into a single (or few) minified CSS files. The browser makes one request for your styles instead of multiple separate requests to different servers.</a:t>
            </a:r>
          </a:p>
          <a:p>
            <a:endParaRPr lang="en-US" b="1">
              <a:effectLst/>
            </a:endParaRPr>
          </a:p>
          <a:p>
            <a:endParaRPr lang="en-US" b="1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73336699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620882-3A74-F22D-A1A0-0891F4397F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53143"/>
          </a:xfrm>
        </p:spPr>
        <p:txBody>
          <a:bodyPr>
            <a:normAutofit fontScale="90000"/>
          </a:bodyPr>
          <a:lstStyle/>
          <a:p>
            <a:r>
              <a:rPr lang="en-US"/>
              <a:t>Create main layout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57AF94-85B5-5DEF-7C1D-6E5E758EEB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628" y="653143"/>
            <a:ext cx="11585749" cy="6018962"/>
          </a:xfrm>
        </p:spPr>
        <p:txBody>
          <a:bodyPr/>
          <a:lstStyle/>
          <a:p>
            <a:r>
              <a:rPr lang="en-US"/>
              <a:t>This layout has layout </a:t>
            </a:r>
            <a:r>
              <a:rPr lang="en-US" sz="2400" b="1">
                <a:solidFill>
                  <a:srgbClr val="FFFF00"/>
                </a:solidFill>
              </a:rPr>
              <a:t>header and sidebar </a:t>
            </a:r>
            <a:r>
              <a:rPr lang="en-US"/>
              <a:t>(</a:t>
            </a:r>
            <a:r>
              <a:rPr lang="en-US" err="1"/>
              <a:t>offcanvas</a:t>
            </a:r>
            <a:r>
              <a:rPr lang="en-US"/>
              <a:t> sidebar)</a:t>
            </a:r>
          </a:p>
          <a:p>
            <a:r>
              <a:rPr lang="en-US"/>
              <a:t>Create </a:t>
            </a:r>
            <a:r>
              <a:rPr lang="en-US" b="1">
                <a:solidFill>
                  <a:srgbClr val="FF0000"/>
                </a:solidFill>
              </a:rPr>
              <a:t>main-layout</a:t>
            </a:r>
            <a:r>
              <a:rPr lang="en-US"/>
              <a:t> components at app/Layouts folder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FA0F56-935A-ABBE-E9A7-72E5F50A76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628" y="1578743"/>
            <a:ext cx="4305300" cy="2124075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E9936B2-A3C4-42E4-7F25-02C4852D76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24" y="3818111"/>
            <a:ext cx="11993648" cy="23867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5337481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8C1D31-DB66-B772-1221-31330DBD6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42681"/>
            <a:ext cx="10353762" cy="620510"/>
          </a:xfrm>
        </p:spPr>
        <p:txBody>
          <a:bodyPr>
            <a:normAutofit/>
          </a:bodyPr>
          <a:lstStyle/>
          <a:p>
            <a:r>
              <a:rPr lang="en-US" sz="3200" b="1"/>
              <a:t>Create main layout  (cont.)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A2F1B2-E592-5489-A07A-D30131FE95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CF604B-F529-23DE-6DDA-1442997D1CE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934" y="803868"/>
            <a:ext cx="11154129" cy="3808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48336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94648-D685-4D5B-BE6E-492D5F1AE9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36879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@Injectable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404C01-3F5F-961A-EEE2-E76DA66C0EE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5" y="736879"/>
            <a:ext cx="11971282" cy="5995517"/>
          </a:xfrm>
        </p:spPr>
        <p:txBody>
          <a:bodyPr/>
          <a:lstStyle/>
          <a:p>
            <a:pPr marL="36900" indent="0">
              <a:buNone/>
            </a:pPr>
            <a:r>
              <a:rPr lang="en-US" b="1">
                <a:solidFill>
                  <a:srgbClr val="00B0F0"/>
                </a:solidFill>
              </a:rPr>
              <a:t>@Injectable</a:t>
            </a:r>
            <a:r>
              <a:rPr lang="en-US" b="1">
                <a:solidFill>
                  <a:srgbClr val="FFFF00"/>
                </a:solidFill>
              </a:rPr>
              <a:t> </a:t>
            </a:r>
            <a:r>
              <a:rPr lang="en-US" b="1">
                <a:solidFill>
                  <a:srgbClr val="FF0000"/>
                </a:solidFill>
              </a:rPr>
              <a:t>({</a:t>
            </a:r>
          </a:p>
          <a:p>
            <a:pPr marL="36900" indent="0">
              <a:buNone/>
            </a:pPr>
            <a:r>
              <a:rPr lang="en-US"/>
              <a:t>	providedIn: 'root'</a:t>
            </a:r>
            <a:endParaRPr lang="en-US" b="1">
              <a:solidFill>
                <a:srgbClr val="FF0000"/>
              </a:solidFill>
            </a:endParaRPr>
          </a:p>
          <a:p>
            <a:pPr marL="36900" indent="0">
              <a:buNone/>
            </a:pPr>
            <a:r>
              <a:rPr lang="en-US" b="1">
                <a:solidFill>
                  <a:srgbClr val="FF0000"/>
                </a:solidFill>
              </a:rPr>
              <a:t>})</a:t>
            </a:r>
          </a:p>
          <a:p>
            <a:r>
              <a:rPr lang="en-US" b="1"/>
              <a:t>register a service in Angular’s </a:t>
            </a:r>
            <a:r>
              <a:rPr lang="en-US" b="1">
                <a:solidFill>
                  <a:srgbClr val="FFFF00"/>
                </a:solidFill>
              </a:rPr>
              <a:t>Dependency Injection system</a:t>
            </a:r>
            <a:r>
              <a:rPr lang="en-US" b="1"/>
              <a:t> so it can be automatically created and injected anywhere in the application.</a:t>
            </a:r>
          </a:p>
          <a:p>
            <a:r>
              <a:rPr lang="en-US"/>
              <a:t>Angular knows this class </a:t>
            </a:r>
            <a:r>
              <a:rPr lang="en-US" b="1"/>
              <a:t>can be injected into components or other services</a:t>
            </a:r>
            <a:r>
              <a:rPr lang="en-US"/>
              <a:t>.</a:t>
            </a:r>
          </a:p>
          <a:p>
            <a:r>
              <a:rPr lang="en-US"/>
              <a:t>Create </a:t>
            </a:r>
            <a:r>
              <a:rPr lang="en-US" b="1"/>
              <a:t>one single instance of the service for the whole application</a:t>
            </a:r>
            <a:r>
              <a:rPr lang="en-US"/>
              <a:t>. </a:t>
            </a:r>
            <a:r>
              <a:rPr lang="en-US" b="1"/>
              <a:t>[ Singleton Service ]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399165276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9569E3-5080-4C73-6A3F-42BC1A4FEC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14703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PIPES with Observable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6DC09F-B99C-A835-218C-3FFC5845A4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5103" y="714704"/>
            <a:ext cx="11950264" cy="6011918"/>
          </a:xfrm>
        </p:spPr>
        <p:txBody>
          <a:bodyPr>
            <a:normAutofit/>
          </a:bodyPr>
          <a:lstStyle/>
          <a:p>
            <a:r>
              <a:rPr lang="en-US" b="1"/>
              <a:t>It allows you to transform, filter, or manipulate the data emitted by an observable before it reaches its final subscribing</a:t>
            </a:r>
          </a:p>
          <a:p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Returns a New Observable</a:t>
            </a:r>
            <a:r>
              <a:rPr lang="en-US" b="1"/>
              <a:t>: When you use the pipe method, it doesn't modify the original observable. Instead, it returns a new observable that applies the defined transformations.</a:t>
            </a:r>
          </a:p>
          <a:p>
            <a:pPr marL="36900" indent="0">
              <a:buNone/>
            </a:pPr>
            <a:r>
              <a:rPr lang="en-US" b="1"/>
              <a:t>const </a:t>
            </a:r>
            <a:r>
              <a:rPr lang="en-US" b="1">
                <a:solidFill>
                  <a:srgbClr val="00B0F0"/>
                </a:solidFill>
              </a:rPr>
              <a:t>obs</a:t>
            </a:r>
            <a:r>
              <a:rPr lang="en-US" b="1"/>
              <a:t> = new </a:t>
            </a:r>
            <a:r>
              <a:rPr lang="en-US" b="1">
                <a:solidFill>
                  <a:srgbClr val="00B0F0"/>
                </a:solidFill>
              </a:rPr>
              <a:t>Observable</a:t>
            </a:r>
            <a:r>
              <a:rPr lang="en-US" b="1"/>
              <a:t>((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) =&gt; {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.next(1);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.next(2);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.next(3);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.next(4);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.next(5);  </a:t>
            </a:r>
          </a:p>
          <a:p>
            <a:pPr marL="36900" indent="0">
              <a:buNone/>
            </a:pPr>
            <a:r>
              <a:rPr lang="en-US" b="1"/>
              <a:t>	</a:t>
            </a:r>
            <a:r>
              <a:rPr lang="en-US" b="1">
                <a:solidFill>
                  <a:srgbClr val="FFFF00"/>
                </a:solidFill>
              </a:rPr>
              <a:t>subscriber</a:t>
            </a:r>
            <a:r>
              <a:rPr lang="en-US" b="1"/>
              <a:t>.complete();  // Signals that no more values will be emitted</a:t>
            </a:r>
          </a:p>
          <a:p>
            <a:pPr marL="36900" indent="0">
              <a:buNone/>
            </a:pPr>
            <a:r>
              <a:rPr lang="en-US" b="1"/>
              <a:t>}).</a:t>
            </a:r>
            <a:r>
              <a:rPr lang="en-US" b="1">
                <a:solidFill>
                  <a:schemeClr val="accent1">
                    <a:lumMod val="40000"/>
                    <a:lumOff val="60000"/>
                  </a:schemeClr>
                </a:solidFill>
              </a:rPr>
              <a:t>pipe</a:t>
            </a:r>
            <a:r>
              <a:rPr lang="en-US" b="1"/>
              <a:t>(</a:t>
            </a:r>
          </a:p>
          <a:p>
            <a:pPr marL="36900" indent="0">
              <a:buNone/>
            </a:pPr>
            <a:r>
              <a:rPr lang="en-US" sz="1800" b="1"/>
              <a:t>	</a:t>
            </a:r>
            <a:r>
              <a:rPr lang="en-US" b="1">
                <a:solidFill>
                  <a:srgbClr val="00B050"/>
                </a:solidFill>
              </a:rPr>
              <a:t>filter</a:t>
            </a:r>
            <a:r>
              <a:rPr lang="en-US" sz="1800" b="1"/>
              <a:t>((data) =&gt; data &gt; 2),                // Filters out values less than or equal to 2</a:t>
            </a:r>
          </a:p>
          <a:p>
            <a:pPr marL="36900" indent="0">
              <a:buNone/>
            </a:pPr>
            <a:r>
              <a:rPr lang="en-US" sz="1800" b="1"/>
              <a:t>  	</a:t>
            </a:r>
            <a:r>
              <a:rPr lang="en-US" b="1">
                <a:solidFill>
                  <a:srgbClr val="00B050"/>
                </a:solidFill>
              </a:rPr>
              <a:t>map</a:t>
            </a:r>
            <a:r>
              <a:rPr lang="en-US" sz="1800" b="1"/>
              <a:t>((val) =&gt; val * 2)                      // Transforms remaining values by multiplying by 2</a:t>
            </a:r>
            <a:endParaRPr lang="en-US" b="1"/>
          </a:p>
          <a:p>
            <a:pPr marL="36900" indent="0">
              <a:buNone/>
            </a:pPr>
            <a:r>
              <a:rPr lang="en-US" b="1"/>
              <a:t>);</a:t>
            </a:r>
          </a:p>
        </p:txBody>
      </p:sp>
    </p:spTree>
    <p:extLst>
      <p:ext uri="{BB962C8B-B14F-4D97-AF65-F5344CB8AC3E}">
        <p14:creationId xmlns:p14="http://schemas.microsoft.com/office/powerpoint/2010/main" val="7127961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DE9052-1BE6-21DA-99AF-0D72C69A30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6538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PIPES with Observable [cont.1]</a:t>
            </a:r>
            <a:endParaRPr lang="en-US" sz="3200"/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255740B2-8968-545D-C20E-7CE57927A9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46539"/>
            <a:ext cx="11141433" cy="5244662"/>
          </a:xfrm>
        </p:spPr>
        <p:txBody>
          <a:bodyPr/>
          <a:lstStyle/>
          <a:p>
            <a:r>
              <a:rPr lang="en-US"/>
              <a:t>Pipes could handle errors before the subscriber receives it.</a:t>
            </a:r>
          </a:p>
          <a:p>
            <a:r>
              <a:rPr lang="en-US"/>
              <a:t>pipe() allows you to attach operators to the Observable</a:t>
            </a:r>
          </a:p>
          <a:p>
            <a:r>
              <a:rPr lang="en-US"/>
              <a:t>catchError(Helper.HandleError&lt;OperationResult&gt;('Add’))</a:t>
            </a:r>
          </a:p>
          <a:p>
            <a:pPr fontAlgn="base"/>
            <a:r>
              <a:rPr lang="en-US"/>
              <a:t>This means if request fails : </a:t>
            </a:r>
            <a:r>
              <a:rPr lang="en-US" altLang="en-US"/>
              <a:t>network error,  server error (500), bad request (400)</a:t>
            </a:r>
          </a:p>
          <a:p>
            <a:pPr lvl="1" fontAlgn="base"/>
            <a:r>
              <a:rPr lang="en-US"/>
              <a:t>catchError intercepts the error then calls Helper.HandleError()</a:t>
            </a:r>
            <a:endParaRPr lang="en-US" altLang="en-US"/>
          </a:p>
          <a:p>
            <a:pPr fontAlgn="base"/>
            <a:endParaRPr lang="en-US" altLang="en-US"/>
          </a:p>
        </p:txBody>
      </p:sp>
      <p:pic>
        <p:nvPicPr>
          <p:cNvPr id="10" name="Content Placeholder 6">
            <a:extLst>
              <a:ext uri="{FF2B5EF4-FFF2-40B4-BE49-F238E27FC236}">
                <a16:creationId xmlns:a16="http://schemas.microsoft.com/office/drawing/2014/main" id="{6841B35B-520B-F046-8FE3-8FBFEE89BB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54" y="3429000"/>
            <a:ext cx="9249708" cy="2162504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917888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B09D80-AAED-7B44-CFD1-51147BE33E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2551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Pipeable Operators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79AC3-B4A6-D8CB-0C9B-64B3717FD9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124" y="525517"/>
            <a:ext cx="11866179" cy="6190593"/>
          </a:xfrm>
        </p:spPr>
        <p:txBody>
          <a:bodyPr/>
          <a:lstStyle/>
          <a:p>
            <a:r>
              <a:rPr lang="en-US"/>
              <a:t>inside pipe() you place </a:t>
            </a:r>
            <a:r>
              <a:rPr lang="en-US" b="1"/>
              <a:t>operators</a:t>
            </a:r>
            <a:r>
              <a:rPr lang="en-US"/>
              <a:t>, and they are commonly called </a:t>
            </a:r>
            <a:r>
              <a:rPr lang="en-US" b="1"/>
              <a:t>RxJS operators</a:t>
            </a:r>
            <a:r>
              <a:rPr lang="en-US"/>
              <a:t> (or </a:t>
            </a:r>
            <a:r>
              <a:rPr lang="en-US" b="1"/>
              <a:t>pipeable operators</a:t>
            </a:r>
            <a:r>
              <a:rPr lang="en-US"/>
              <a:t>).</a:t>
            </a:r>
          </a:p>
          <a:p>
            <a:r>
              <a:rPr lang="en-US"/>
              <a:t>map()</a:t>
            </a:r>
          </a:p>
          <a:p>
            <a:r>
              <a:rPr lang="en-US"/>
              <a:t>filter()</a:t>
            </a:r>
          </a:p>
          <a:p>
            <a:r>
              <a:rPr lang="en-US"/>
              <a:t>catchError()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2637387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181D6-47A1-3B08-2AD2-9B8CF6248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map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ED3A0F-52E1-319A-0737-0CE93342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570EB42-6149-7B10-93BA-DF60AA0C5F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72192" y="761835"/>
            <a:ext cx="7847615" cy="571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471746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56239A-5F43-0C3A-C42F-B9AC0A9D90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3BCE1-D83E-59B8-9A45-532170AE4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1975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filter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C297C2-41A8-E139-A03B-31743F95EF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8883" y="672662"/>
            <a:ext cx="11592910" cy="5980385"/>
          </a:xfrm>
        </p:spPr>
        <p:txBody>
          <a:bodyPr/>
          <a:lstStyle/>
          <a:p>
            <a:r>
              <a:rPr lang="en-US"/>
              <a:t>S</a:t>
            </a: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FEDC41F-89BF-838A-4451-86D92A4377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4575" y="785812"/>
            <a:ext cx="7562850" cy="5286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801590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8C9D85-BA3B-6719-5092-8214F434F0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41131"/>
          </a:xfrm>
        </p:spPr>
        <p:txBody>
          <a:bodyPr>
            <a:normAutofit fontScale="90000"/>
          </a:bodyPr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FBE29-7945-CD2A-04BC-31FC921DDBE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41130"/>
            <a:ext cx="12192000" cy="6216869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catchError&lt;OperationResult, Observable&lt;OperationResult&gt;&gt;</a:t>
            </a:r>
          </a:p>
          <a:p>
            <a:pPr lvl="1"/>
            <a:r>
              <a:rPr lang="en-US"/>
              <a:t>OperationResult : Type emitted before error</a:t>
            </a:r>
          </a:p>
          <a:p>
            <a:pPr lvl="1"/>
            <a:r>
              <a:rPr lang="en-US"/>
              <a:t>Observable&lt;OperationResult&gt; : Type emitted before error</a:t>
            </a:r>
          </a:p>
          <a:p>
            <a:r>
              <a:rPr lang="en-US"/>
              <a:t>OperatorFunction&lt;OperationResult, OperationResult&gt;</a:t>
            </a:r>
          </a:p>
          <a:p>
            <a:pPr lvl="1"/>
            <a:r>
              <a:rPr lang="en-US" sz="2000"/>
              <a:t>receives an Observable emitting OperationResult</a:t>
            </a:r>
          </a:p>
          <a:p>
            <a:pPr lvl="1"/>
            <a:r>
              <a:rPr lang="en-US" sz="2000"/>
              <a:t>returns another Observable emitting OperationResult</a:t>
            </a: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2A1F74-1586-AEC8-7DFD-3CD9489C0F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41129"/>
            <a:ext cx="8305800" cy="2200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364197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58C64-DA73-C56E-A73F-A4834DA570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7255"/>
          </a:xfrm>
        </p:spPr>
        <p:txBody>
          <a:bodyPr/>
          <a:lstStyle/>
          <a:p>
            <a:r>
              <a:rPr lang="en-US"/>
              <a:t>Pipeable Operators </a:t>
            </a:r>
            <a:r>
              <a:rPr lang="en-US" b="1">
                <a:solidFill>
                  <a:srgbClr val="FFFF00"/>
                </a:solidFill>
              </a:rPr>
              <a:t>CatchError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50E3A6-679E-5089-0654-870D7BCDDF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7654" y="756745"/>
            <a:ext cx="12034345" cy="5843752"/>
          </a:xfrm>
        </p:spPr>
        <p:txBody>
          <a:bodyPr/>
          <a:lstStyle/>
          <a:p>
            <a:r>
              <a:rPr lang="en-US"/>
              <a:t>catchError is an </a:t>
            </a:r>
            <a:r>
              <a:rPr lang="en-US" b="1">
                <a:solidFill>
                  <a:srgbClr val="FFFF00"/>
                </a:solidFill>
              </a:rPr>
              <a:t>RxJS operator</a:t>
            </a:r>
            <a:r>
              <a:rPr lang="en-US"/>
              <a:t> used inside pipe() to </a:t>
            </a:r>
            <a:r>
              <a:rPr lang="en-US" b="1"/>
              <a:t>intercept errors from an Observable</a:t>
            </a:r>
            <a:r>
              <a:rPr lang="en-US"/>
              <a:t> and replace them </a:t>
            </a:r>
            <a:r>
              <a:rPr lang="en-US" b="1"/>
              <a:t>with </a:t>
            </a:r>
            <a:r>
              <a:rPr lang="en-US" b="1">
                <a:solidFill>
                  <a:srgbClr val="FFC000"/>
                </a:solidFill>
              </a:rPr>
              <a:t>another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error: This is the </a:t>
            </a:r>
            <a:r>
              <a:rPr lang="en-US" b="1"/>
              <a:t>error thrown by the observable</a:t>
            </a:r>
            <a:r>
              <a:rPr lang="en-US"/>
              <a:t>.</a:t>
            </a:r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D21F4D9-39EF-8EE6-67E0-A8D38D466F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7071" y="1214753"/>
            <a:ext cx="4752975" cy="183832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42468B1-CB91-647E-0C5C-EB8C1F4729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79" y="3835947"/>
            <a:ext cx="5153025" cy="86677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3B52CE9-B7CC-9B75-EA92-5CEDDEF1DA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7654" y="1626640"/>
            <a:ext cx="5124450" cy="1885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51739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B7719-2ADD-F546-8678-83CB988B6C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Forms</a:t>
            </a:r>
          </a:p>
        </p:txBody>
      </p:sp>
    </p:spTree>
    <p:extLst>
      <p:ext uri="{BB962C8B-B14F-4D97-AF65-F5344CB8AC3E}">
        <p14:creationId xmlns:p14="http://schemas.microsoft.com/office/powerpoint/2010/main" val="39886662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934E81-35BE-40C1-EDF7-01A34930D1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01450" y="0"/>
            <a:ext cx="11525459" cy="643095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Template Driven Forms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FC0645-62BC-3BAE-0D48-E625847395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1450" y="643095"/>
            <a:ext cx="11525459" cy="6079252"/>
          </a:xfrm>
        </p:spPr>
        <p:txBody>
          <a:bodyPr/>
          <a:lstStyle/>
          <a:p>
            <a:r>
              <a:rPr lang="en-US"/>
              <a:t>Import </a:t>
            </a:r>
            <a:r>
              <a:rPr lang="en-US" b="1">
                <a:solidFill>
                  <a:srgbClr val="00B0F0"/>
                </a:solidFill>
              </a:rPr>
              <a:t>FormsModule</a:t>
            </a:r>
            <a:r>
              <a:rPr lang="en-US"/>
              <a:t> inside the component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204B2A-0E74-96F1-7E17-310E3F507F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449" y="1106364"/>
            <a:ext cx="5606982" cy="16271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14974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590C42-D9D3-2A67-C852-BA64016916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6202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(model driven forms)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51E7E9-69C9-6754-D51B-6B97DF0B01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6201"/>
            <a:ext cx="11776669" cy="6176387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 sz="1800" b="1">
              <a:solidFill>
                <a:srgbClr val="FFC000"/>
              </a:solidFill>
              <a:effectLst/>
            </a:endParaRPr>
          </a:p>
          <a:p>
            <a:pPr marL="36900" indent="0">
              <a:buNone/>
            </a:pPr>
            <a:endParaRPr lang="en-US" sz="1800" b="1">
              <a:solidFill>
                <a:srgbClr val="FFC000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FormControl Prop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ColorOptionForm</a:t>
            </a:r>
            <a:r>
              <a:rPr lang="en-US" sz="1800">
                <a:effectLst/>
              </a:rPr>
              <a:t>.</a:t>
            </a:r>
            <a:r>
              <a:rPr lang="en-US" sz="1800" b="1">
                <a:solidFill>
                  <a:srgbClr val="00B050"/>
                </a:solidFill>
                <a:effectLst/>
              </a:rPr>
              <a:t>value</a:t>
            </a:r>
            <a:r>
              <a:rPr lang="en-US" sz="1800">
                <a:solidFill>
                  <a:srgbClr val="00B050"/>
                </a:solidFill>
                <a:effectLst/>
              </a:rPr>
              <a:t> // </a:t>
            </a:r>
            <a:r>
              <a:rPr lang="en-US" sz="1800" b="1">
                <a:solidFill>
                  <a:schemeClr val="tx1"/>
                </a:solidFill>
                <a:effectLst/>
              </a:rPr>
              <a:t>{ColorName: '', ColorHexCode: ''}</a:t>
            </a:r>
          </a:p>
          <a:p>
            <a:r>
              <a:rPr lang="en-US" sz="1800" b="1">
                <a:solidFill>
                  <a:srgbClr val="FFC000"/>
                </a:solidFill>
                <a:effectLst/>
              </a:rPr>
              <a:t>this</a:t>
            </a:r>
            <a:r>
              <a:rPr lang="en-US" sz="1800"/>
              <a:t>.</a:t>
            </a:r>
            <a:r>
              <a:rPr lang="en-US" sz="1800" b="1">
                <a:solidFill>
                  <a:srgbClr val="00B0F0"/>
                </a:solidFill>
                <a:effectLst/>
              </a:rPr>
              <a:t>productForm</a:t>
            </a:r>
            <a:r>
              <a:rPr lang="en-US" sz="1800" b="1"/>
              <a:t>.</a:t>
            </a:r>
            <a:r>
              <a:rPr lang="en-US" sz="1800" b="1">
                <a:solidFill>
                  <a:srgbClr val="FFFF00"/>
                </a:solidFill>
              </a:rPr>
              <a:t>controls</a:t>
            </a:r>
            <a:r>
              <a:rPr lang="en-US" sz="1800" b="1"/>
              <a:t>.</a:t>
            </a:r>
            <a:r>
              <a:rPr lang="en-US" sz="1800" b="1">
                <a:solidFill>
                  <a:srgbClr val="00B050"/>
                </a:solidFill>
              </a:rPr>
              <a:t>ColorName</a:t>
            </a:r>
            <a:r>
              <a:rPr lang="en-US" sz="1800" b="1">
                <a:solidFill>
                  <a:srgbClr val="FFC000"/>
                </a:solidFill>
              </a:rPr>
              <a:t>.Value </a:t>
            </a:r>
            <a:r>
              <a:rPr lang="en-US" sz="1800" b="1">
                <a:solidFill>
                  <a:schemeClr val="tx1"/>
                </a:solidFill>
              </a:rPr>
              <a:t>// value is a read-only</a:t>
            </a:r>
            <a:endParaRPr lang="en-US" sz="1800" b="1">
              <a:solidFill>
                <a:schemeClr val="tx1"/>
              </a:solidFill>
              <a:effectLst/>
            </a:endParaRPr>
          </a:p>
          <a:p>
            <a:r>
              <a:rPr lang="en-US" sz="1800" b="1">
                <a:solidFill>
                  <a:srgbClr val="FFC000"/>
                </a:solidFill>
              </a:rPr>
              <a:t>this</a:t>
            </a:r>
            <a:r>
              <a:rPr lang="en-US" sz="1800" b="1">
                <a:solidFill>
                  <a:schemeClr val="tx1"/>
                </a:solidFill>
              </a:rPr>
              <a:t>.</a:t>
            </a:r>
            <a:r>
              <a:rPr lang="en-US" sz="1800" b="1">
                <a:solidFill>
                  <a:srgbClr val="00B0F0"/>
                </a:solidFill>
              </a:rPr>
              <a:t>productForm</a:t>
            </a:r>
            <a:r>
              <a:rPr lang="en-US" sz="1800" b="1">
                <a:solidFill>
                  <a:schemeClr val="tx1"/>
                </a:solidFill>
              </a:rPr>
              <a:t>.controls.price.hasError('required')</a:t>
            </a:r>
          </a:p>
          <a:p>
            <a:endParaRPr lang="en-US" b="1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2486A2C-AA3F-0343-A02E-C71C5DF7805C}"/>
              </a:ext>
            </a:extLst>
          </p:cNvPr>
          <p:cNvSpPr/>
          <p:nvPr/>
        </p:nvSpPr>
        <p:spPr>
          <a:xfrm>
            <a:off x="344993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CD0215-0797-DBC6-4A0B-75E0DBBEAF9C}"/>
              </a:ext>
            </a:extLst>
          </p:cNvPr>
          <p:cNvSpPr/>
          <p:nvPr/>
        </p:nvSpPr>
        <p:spPr>
          <a:xfrm>
            <a:off x="5551714" y="656489"/>
            <a:ext cx="4759570" cy="2267581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ColorOptionForm</a:t>
            </a:r>
            <a:r>
              <a:rPr lang="en-US"/>
              <a:t> = new </a:t>
            </a:r>
            <a:r>
              <a:rPr lang="en-US" b="1">
                <a:solidFill>
                  <a:srgbClr val="00B050"/>
                </a:solidFill>
              </a:rPr>
              <a:t>FormGroup</a:t>
            </a:r>
            <a:r>
              <a:rPr lang="en-US"/>
              <a:t>({</a:t>
            </a:r>
          </a:p>
          <a:p>
            <a:endParaRPr lang="en-US"/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ColorName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r>
              <a:rPr lang="en-US"/>
              <a:t>    </a:t>
            </a:r>
            <a:r>
              <a:rPr lang="en-US" b="1">
                <a:solidFill>
                  <a:srgbClr val="FFFF00"/>
                </a:solidFill>
              </a:rPr>
              <a:t>ColorHexCode</a:t>
            </a:r>
            <a:r>
              <a:rPr lang="en-US"/>
              <a:t>: </a:t>
            </a:r>
            <a:r>
              <a:rPr lang="en-US" b="1">
                <a:solidFill>
                  <a:srgbClr val="7030A0"/>
                </a:solidFill>
              </a:rPr>
              <a:t>new</a:t>
            </a:r>
            <a:r>
              <a:rPr lang="en-US"/>
              <a:t> </a:t>
            </a:r>
            <a:r>
              <a:rPr lang="en-US" b="1">
                <a:solidFill>
                  <a:srgbClr val="00B050"/>
                </a:solidFill>
              </a:rPr>
              <a:t>FormControl</a:t>
            </a:r>
            <a:r>
              <a:rPr lang="en-US"/>
              <a:t>(''),</a:t>
            </a:r>
          </a:p>
          <a:p>
            <a:endParaRPr lang="en-US"/>
          </a:p>
          <a:p>
            <a:r>
              <a:rPr lang="en-US"/>
              <a:t>  })</a:t>
            </a:r>
          </a:p>
        </p:txBody>
      </p:sp>
    </p:spTree>
    <p:extLst>
      <p:ext uri="{BB962C8B-B14F-4D97-AF65-F5344CB8AC3E}">
        <p14:creationId xmlns:p14="http://schemas.microsoft.com/office/powerpoint/2010/main" val="335944303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01D747-64E4-5582-14F6-6E7C47E0B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[cont.1]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41B2B3-0C49-364C-4961-97252139EF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53142"/>
            <a:ext cx="12192000" cy="6204857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: string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valueChanges.</a:t>
            </a:r>
            <a:r>
              <a:rPr lang="en-US" b="1">
                <a:solidFill>
                  <a:srgbClr val="00B0F0"/>
                </a:solidFill>
                <a:effectLst/>
              </a:rPr>
              <a:t>subscribe </a:t>
            </a:r>
            <a:r>
              <a:rPr lang="en-US">
                <a:effectLst/>
              </a:rPr>
              <a:t>( val=&gt;console.log(val) )   </a:t>
            </a:r>
            <a:r>
              <a:rPr lang="en-US" b="1">
                <a:solidFill>
                  <a:schemeClr val="tx1"/>
                </a:solidFill>
                <a:effectLst/>
              </a:rPr>
              <a:t>//</a:t>
            </a:r>
            <a:r>
              <a:rPr lang="en-US" b="1">
                <a:effectLst/>
              </a:rPr>
              <a:t> </a:t>
            </a:r>
            <a:r>
              <a:rPr lang="en-US" b="1"/>
              <a:t>Observable that emits whenever value changes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statusChanges</a:t>
            </a:r>
            <a:r>
              <a:rPr lang="en-US"/>
              <a:t>.</a:t>
            </a:r>
            <a:r>
              <a:rPr lang="en-US" b="1">
                <a:solidFill>
                  <a:srgbClr val="00B0F0"/>
                </a:solidFill>
                <a:effectLst/>
              </a:rPr>
              <a:t>subscribe</a:t>
            </a:r>
            <a:r>
              <a:rPr lang="en-US"/>
              <a:t> (</a:t>
            </a:r>
            <a:r>
              <a:rPr lang="en-US">
                <a:effectLst/>
              </a:rPr>
              <a:t>val=&gt;console.log(val) </a:t>
            </a:r>
            <a:r>
              <a:rPr lang="en-US"/>
              <a:t>)  </a:t>
            </a:r>
            <a:r>
              <a:rPr lang="en-US" b="1"/>
              <a:t>// Observable that emits when validation status changes</a:t>
            </a:r>
            <a:r>
              <a:rPr lang="en-US"/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errors</a:t>
            </a:r>
            <a:r>
              <a:rPr lang="en-US"/>
              <a:t>      // </a:t>
            </a:r>
            <a:r>
              <a:rPr lang="en-US" b="1"/>
              <a:t>{ {key: value}, {key: value} }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  	     //  boolean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touched</a:t>
            </a:r>
            <a:r>
              <a:rPr lang="en-US">
                <a:effectLst/>
              </a:rPr>
              <a:t>   //  The form control has been blurred (focused and then left).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pristine</a:t>
            </a:r>
            <a:r>
              <a:rPr lang="en-US">
                <a:effectLst/>
              </a:rPr>
              <a:t>   //  The value has not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dirty</a:t>
            </a:r>
            <a:r>
              <a:rPr lang="en-US"/>
              <a:t>	    //   The value has changed from the initial value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status</a:t>
            </a:r>
            <a:r>
              <a:rPr lang="en-US"/>
              <a:t>	    //   Valid, Invalid, Pending, Disabled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valid</a:t>
            </a:r>
            <a:r>
              <a:rPr lang="en-US"/>
              <a:t>	    //   bool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invalid</a:t>
            </a:r>
            <a:r>
              <a:rPr lang="en-US">
                <a:effectLst/>
              </a:rPr>
              <a:t>   //   bool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hasError</a:t>
            </a:r>
            <a:r>
              <a:rPr lang="en-US"/>
              <a:t>('required')	// bool</a:t>
            </a:r>
          </a:p>
        </p:txBody>
      </p:sp>
    </p:spTree>
    <p:extLst>
      <p:ext uri="{BB962C8B-B14F-4D97-AF65-F5344CB8AC3E}">
        <p14:creationId xmlns:p14="http://schemas.microsoft.com/office/powerpoint/2010/main" val="253055044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A4D541-2EEB-64BD-D6DF-C96EB5D68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C17BA3-016A-FE38-815B-4FB3759A6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1"/>
            <a:ext cx="10353762" cy="512466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rgbClr val="FF0000"/>
                </a:solidFill>
              </a:rPr>
              <a:t>ReactiveFormsModule (</a:t>
            </a:r>
            <a:r>
              <a:rPr lang="en-US" sz="3200" b="1">
                <a:solidFill>
                  <a:schemeClr val="tx1"/>
                </a:solidFill>
              </a:rPr>
              <a:t>FormControl</a:t>
            </a:r>
            <a:r>
              <a:rPr lang="en-US" sz="3200" b="1">
                <a:solidFill>
                  <a:srgbClr val="FF0000"/>
                </a:solidFill>
              </a:rPr>
              <a:t>) [cont.2]</a:t>
            </a:r>
            <a:endParaRPr lang="en-US" sz="32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97F07F-F9F3-9692-8C69-E16D658A61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484" y="653142"/>
            <a:ext cx="11917345" cy="6069205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 Properties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</a:t>
            </a:r>
            <a:r>
              <a:rPr lang="en-US">
                <a:effectLst/>
              </a:rPr>
              <a:t> :  Disables the control</a:t>
            </a:r>
            <a:endParaRPr lang="ar-EG"/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disabled</a:t>
            </a:r>
            <a:r>
              <a:rPr lang="en-US">
                <a:effectLst/>
              </a:rPr>
              <a:t> : bool ,  </a:t>
            </a:r>
            <a:r>
              <a:rPr lang="en-US" sz="1600">
                <a:effectLst/>
              </a:rPr>
              <a:t>A control is disabled when its status is DISABLED, Disabled controls are exempt from validation checks 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enabled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parent </a:t>
            </a:r>
            <a:r>
              <a:rPr lang="en-US" b="1">
                <a:solidFill>
                  <a:schemeClr val="tx1"/>
                </a:solidFill>
                <a:effectLst/>
              </a:rPr>
              <a:t>:</a:t>
            </a:r>
            <a:r>
              <a:rPr lang="en-US" b="1">
                <a:solidFill>
                  <a:srgbClr val="FFFF00"/>
                </a:solidFill>
                <a:effectLst/>
              </a:rPr>
              <a:t> </a:t>
            </a:r>
            <a:r>
              <a:rPr lang="en-US"/>
              <a:t>Reference to parent ( </a:t>
            </a:r>
            <a:r>
              <a:rPr lang="en-US" b="1">
                <a:solidFill>
                  <a:srgbClr val="FFC000"/>
                </a:solidFill>
              </a:rPr>
              <a:t>FormGroup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FormArray</a:t>
            </a:r>
            <a:r>
              <a:rPr lang="en-US"/>
              <a:t> )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setValue</a:t>
            </a:r>
            <a:r>
              <a:rPr lang="en-US"/>
              <a:t>('Ahmed’)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patchValue</a:t>
            </a:r>
            <a:r>
              <a:rPr lang="en-US"/>
              <a:t>('Ahmed');</a:t>
            </a:r>
            <a:endParaRPr lang="en-US"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</a:rPr>
              <a:t>reset()</a:t>
            </a:r>
            <a:endParaRPr lang="en-US" b="1">
              <a:solidFill>
                <a:srgbClr val="FFFF00"/>
              </a:solidFill>
              <a:effectLst/>
            </a:endParaRP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markAsUntouched()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markAsDirty()</a:t>
            </a:r>
            <a:r>
              <a:rPr lang="en-US">
                <a:effectLst/>
              </a:rPr>
              <a:t>;</a:t>
            </a:r>
          </a:p>
          <a:p>
            <a:pPr lvl="1"/>
            <a:r>
              <a:rPr lang="en-US" b="1">
                <a:solidFill>
                  <a:srgbClr val="FFFF00"/>
                </a:solidFill>
                <a:effectLst/>
              </a:rPr>
              <a:t>markAsPristine();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53609423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E1F43-9166-A779-3949-4AA791E34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92853"/>
          </a:xfrm>
        </p:spPr>
        <p:txBody>
          <a:bodyPr>
            <a:normAutofit fontScale="90000"/>
          </a:bodyPr>
          <a:lstStyle/>
          <a:p>
            <a:r>
              <a:rPr lang="en-US" sz="3600" b="1">
                <a:solidFill>
                  <a:srgbClr val="FF0000"/>
                </a:solidFill>
              </a:rPr>
              <a:t>ReactiveFormsModule ( </a:t>
            </a:r>
            <a:r>
              <a:rPr lang="en-US" sz="3600" b="1"/>
              <a:t>FormGroup </a:t>
            </a:r>
            <a:r>
              <a:rPr lang="en-US" sz="3600" b="1">
                <a:solidFill>
                  <a:srgbClr val="FF0000"/>
                </a:solidFill>
              </a:rPr>
              <a:t>) [cont.3]</a:t>
            </a:r>
            <a:endParaRPr lang="en-US" sz="360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2B704E-52E1-3227-2D1B-9F875C2528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592853"/>
            <a:ext cx="12192000" cy="6139543"/>
          </a:xfrm>
        </p:spPr>
        <p:txBody>
          <a:bodyPr>
            <a:normAutofit/>
          </a:bodyPr>
          <a:lstStyle/>
          <a:p>
            <a:r>
              <a:rPr lang="en-US" b="1"/>
              <a:t>FormGroup </a:t>
            </a:r>
            <a:r>
              <a:rPr lang="en-US"/>
              <a:t>Properties</a:t>
            </a:r>
          </a:p>
          <a:p>
            <a:pPr lvl="1"/>
            <a:r>
              <a:rPr lang="en-US" b="1">
                <a:solidFill>
                  <a:srgbClr val="FFFF00"/>
                </a:solidFill>
              </a:rPr>
              <a:t>value</a:t>
            </a:r>
            <a:r>
              <a:rPr lang="en-US"/>
              <a:t> : { username: 'Ahmed' , password: '123456' }</a:t>
            </a:r>
          </a:p>
          <a:p>
            <a:pPr lvl="1"/>
            <a:r>
              <a:rPr lang="en-US"/>
              <a:t>getRawValue():  Includes </a:t>
            </a:r>
            <a:r>
              <a:rPr lang="en-US" b="1"/>
              <a:t>disabled controls</a:t>
            </a:r>
            <a:endParaRPr lang="en-US"/>
          </a:p>
          <a:p>
            <a:pPr lvl="1"/>
            <a:r>
              <a:rPr lang="en-US">
                <a:effectLst/>
              </a:rPr>
              <a:t>controls['ColorHexCode']   // </a:t>
            </a:r>
          </a:p>
          <a:p>
            <a:pPr lvl="1"/>
            <a:r>
              <a:rPr lang="en-US">
                <a:effectLst/>
              </a:rPr>
              <a:t>get('ColorHexCode')		// </a:t>
            </a:r>
          </a:p>
          <a:p>
            <a:pPr lvl="1"/>
            <a:r>
              <a:rPr lang="en-US"/>
              <a:t>valid: bool, </a:t>
            </a:r>
            <a:r>
              <a:rPr lang="en-US">
                <a:effectLst/>
              </a:rPr>
              <a:t>A control is valid when its status is VALID</a:t>
            </a:r>
            <a:endParaRPr lang="en-US"/>
          </a:p>
          <a:p>
            <a:pPr lvl="1"/>
            <a:r>
              <a:rPr lang="en-US"/>
              <a:t>invalid</a:t>
            </a:r>
          </a:p>
          <a:p>
            <a:pPr lvl="1"/>
            <a:r>
              <a:rPr lang="en-US"/>
              <a:t>errors // Errors applied to the </a:t>
            </a:r>
            <a:r>
              <a:rPr lang="en-US" b="1"/>
              <a:t>group itself</a:t>
            </a:r>
            <a:r>
              <a:rPr lang="en-US"/>
              <a:t> (not children)</a:t>
            </a:r>
          </a:p>
          <a:p>
            <a:pPr lvl="1"/>
            <a:r>
              <a:rPr lang="en-US"/>
              <a:t>status </a:t>
            </a:r>
          </a:p>
          <a:p>
            <a:pPr lvl="1"/>
            <a:r>
              <a:rPr lang="en-US"/>
              <a:t>form.setValue({ username: 'Ahmed’, password: '123’ }); // Must include ALL controls</a:t>
            </a:r>
          </a:p>
          <a:p>
            <a:pPr lvl="1"/>
            <a:r>
              <a:rPr lang="en-US"/>
              <a:t>form.patchValue({  username: 'Ahmed’ }); // lets you update </a:t>
            </a:r>
            <a:r>
              <a:rPr lang="en-US" b="1"/>
              <a:t>only the fields you provide, </a:t>
            </a:r>
            <a:r>
              <a:rPr lang="en-US" sz="1600" b="1"/>
              <a:t>always triggers validation</a:t>
            </a:r>
            <a:endParaRPr lang="en-US"/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markAllAsTouched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markAsDirty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markAsPristine</a:t>
            </a:r>
            <a:r>
              <a:rPr lang="en-US"/>
              <a:t>();</a:t>
            </a:r>
          </a:p>
          <a:p>
            <a:pPr lvl="1"/>
            <a:r>
              <a:rPr lang="en-US"/>
              <a:t>form.</a:t>
            </a:r>
            <a:r>
              <a:rPr lang="en-US" b="1">
                <a:solidFill>
                  <a:srgbClr val="FFFF00"/>
                </a:solidFill>
              </a:rPr>
              <a:t>markAsUntouched</a:t>
            </a:r>
            <a:r>
              <a:rPr lang="en-US"/>
              <a:t>();</a:t>
            </a:r>
          </a:p>
        </p:txBody>
      </p:sp>
    </p:spTree>
    <p:extLst>
      <p:ext uri="{BB962C8B-B14F-4D97-AF65-F5344CB8AC3E}">
        <p14:creationId xmlns:p14="http://schemas.microsoft.com/office/powerpoint/2010/main" val="6294409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A1D0C4-ACC1-BA03-4A6A-9DC8F11D70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808002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ReactiveFormsModule creation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C8C125-E20B-2C32-467E-ABFFC0054A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2" y="808002"/>
            <a:ext cx="11806811" cy="5874151"/>
          </a:xfrm>
        </p:spPr>
        <p:txBody>
          <a:bodyPr/>
          <a:lstStyle/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 sz="1800">
                <a:effectLst/>
              </a:rPr>
              <a:t>The FormControl(‘initial value’, ValidatorFn | ValidatorFn[] | null , AsyncValidatorFn | AsyncValidatorFn[] | null)</a:t>
            </a:r>
          </a:p>
          <a:p>
            <a:r>
              <a:rPr lang="en-US" b="1">
                <a:solidFill>
                  <a:srgbClr val="FFFF00"/>
                </a:solidFill>
                <a:effectLst/>
              </a:rPr>
              <a:t>updateOnBlur</a:t>
            </a:r>
          </a:p>
          <a:p>
            <a:pPr lvl="1"/>
            <a:r>
              <a:rPr lang="en-US"/>
              <a:t>ALL validations run after user blur from input</a:t>
            </a: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9061A14-236C-A0C6-7512-412A348191C5}"/>
              </a:ext>
            </a:extLst>
          </p:cNvPr>
          <p:cNvSpPr/>
          <p:nvPr/>
        </p:nvSpPr>
        <p:spPr>
          <a:xfrm>
            <a:off x="264607" y="1205803"/>
            <a:ext cx="6189784" cy="301450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/>
              <a:t>ColorOptionForm = new </a:t>
            </a:r>
            <a:r>
              <a:rPr lang="en-US" b="1">
                <a:solidFill>
                  <a:srgbClr val="00B0F0"/>
                </a:solidFill>
              </a:rPr>
              <a:t>FormGroup</a:t>
            </a:r>
            <a:r>
              <a:rPr lang="en-US"/>
              <a:t>({</a:t>
            </a:r>
          </a:p>
          <a:p>
            <a:r>
              <a:rPr lang="en-US"/>
              <a:t>    ColorName: new </a:t>
            </a:r>
            <a:r>
              <a:rPr lang="en-US" b="1">
                <a:solidFill>
                  <a:srgbClr val="FFFF00"/>
                </a:solidFill>
              </a:rPr>
              <a:t>FormControl</a:t>
            </a:r>
            <a:r>
              <a:rPr lang="en-US"/>
              <a:t>('', {</a:t>
            </a:r>
          </a:p>
          <a:p>
            <a:r>
              <a:rPr lang="en-US"/>
              <a:t>        validators: [ </a:t>
            </a:r>
            <a:r>
              <a:rPr lang="en-US" b="1">
                <a:solidFill>
                  <a:srgbClr val="00B0F0"/>
                </a:solidFill>
              </a:rPr>
              <a:t>Validators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required</a:t>
            </a:r>
            <a:r>
              <a:rPr lang="en-US"/>
              <a:t> ], </a:t>
            </a:r>
          </a:p>
          <a:p>
            <a:r>
              <a:rPr lang="en-US"/>
              <a:t>        asyncValidators: [this.</a:t>
            </a:r>
            <a:r>
              <a:rPr lang="en-US" b="1">
                <a:solidFill>
                  <a:srgbClr val="FFC000"/>
                </a:solidFill>
              </a:rPr>
              <a:t>UniqueNameValidator</a:t>
            </a:r>
            <a:r>
              <a:rPr lang="en-US"/>
              <a:t>()],</a:t>
            </a:r>
          </a:p>
          <a:p>
            <a:r>
              <a:rPr lang="en-US"/>
              <a:t>        </a:t>
            </a:r>
            <a:r>
              <a:rPr lang="en-US" b="1">
                <a:solidFill>
                  <a:srgbClr val="FFFF00"/>
                </a:solidFill>
              </a:rPr>
              <a:t>updateOn</a:t>
            </a:r>
            <a:r>
              <a:rPr lang="en-US"/>
              <a:t>: 'blur'</a:t>
            </a:r>
          </a:p>
          <a:p>
            <a:r>
              <a:rPr lang="en-US"/>
              <a:t>      },</a:t>
            </a:r>
          </a:p>
          <a:p>
            <a:r>
              <a:rPr lang="en-US"/>
              <a:t>    ),</a:t>
            </a:r>
          </a:p>
          <a:p>
            <a:r>
              <a:rPr lang="en-US"/>
              <a:t>    ColorHexCode: new FormControl('', [Validators.required]),</a:t>
            </a:r>
          </a:p>
          <a:p>
            <a:r>
              <a:rPr lang="en-US"/>
              <a:t>  })</a:t>
            </a:r>
          </a:p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327897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962D46-AA64-CA90-0C3C-B8FB68B2E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23DAC0-7595-6351-C7B9-77ACD931E6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458549"/>
            <a:ext cx="10353762" cy="1118663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Forms</a:t>
            </a:r>
          </a:p>
        </p:txBody>
      </p:sp>
    </p:spTree>
    <p:extLst>
      <p:ext uri="{BB962C8B-B14F-4D97-AF65-F5344CB8AC3E}">
        <p14:creationId xmlns:p14="http://schemas.microsoft.com/office/powerpoint/2010/main" val="322375490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ED5A59-A856-90A1-8FED-919F4D8337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290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Sweat Alert</a:t>
            </a:r>
            <a:r>
              <a:rPr lang="en-US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E460CD-D3F5-1544-D00C-8EF814FC82C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580" y="602903"/>
            <a:ext cx="11877152" cy="6049106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npm</a:t>
            </a:r>
            <a:r>
              <a:rPr lang="en-US"/>
              <a:t> </a:t>
            </a:r>
            <a:r>
              <a:rPr lang="en-US" b="1">
                <a:solidFill>
                  <a:srgbClr val="FF0000"/>
                </a:solidFill>
              </a:rPr>
              <a:t>install</a:t>
            </a:r>
            <a:r>
              <a:rPr lang="en-US"/>
              <a:t> </a:t>
            </a:r>
            <a:r>
              <a:rPr lang="en-US" b="1"/>
              <a:t>sweetalert2</a:t>
            </a:r>
          </a:p>
          <a:p>
            <a:r>
              <a:rPr lang="en-US">
                <a:effectLst/>
              </a:rPr>
              <a:t>Swal.fire(options) // it returns promise --- </a:t>
            </a:r>
            <a:r>
              <a:rPr lang="en-US" b="1">
                <a:solidFill>
                  <a:srgbClr val="FFFF00"/>
                </a:solidFill>
                <a:effectLst/>
              </a:rPr>
              <a:t>Promise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0000"/>
                </a:solidFill>
                <a:effectLst/>
              </a:rPr>
              <a:t>SweetAlertResult</a:t>
            </a:r>
            <a:r>
              <a:rPr lang="en-US">
                <a:effectLst/>
              </a:rPr>
              <a:t>&lt;any&gt;&gt;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isConfirmed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isDenied</a:t>
            </a:r>
          </a:p>
          <a:p>
            <a:pPr lvl="1"/>
            <a:r>
              <a:rPr lang="en-US" b="1">
                <a:solidFill>
                  <a:srgbClr val="FF0000"/>
                </a:solidFill>
                <a:effectLst/>
              </a:rPr>
              <a:t>SweetAlertResult.</a:t>
            </a:r>
            <a:r>
              <a:rPr lang="en-US">
                <a:effectLst/>
              </a:rPr>
              <a:t>isDismissed</a:t>
            </a:r>
          </a:p>
          <a:p>
            <a:endParaRPr lang="en-US">
              <a:effectLst/>
            </a:endParaRPr>
          </a:p>
          <a:p>
            <a:endParaRPr lang="en-US"/>
          </a:p>
          <a:p>
            <a:r>
              <a:rPr lang="en-US"/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254988269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B4BE66-9208-201E-099B-E6D3C4F69D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/>
              <a:t>HTTP Client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95313-3881-361A-D401-D5FB46E15E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1402" y="633046"/>
            <a:ext cx="11445073" cy="5817995"/>
          </a:xfrm>
        </p:spPr>
        <p:txBody>
          <a:bodyPr/>
          <a:lstStyle/>
          <a:p>
            <a:r>
              <a:rPr lang="en-US"/>
              <a:t>You need to make httpClient Injectable [make provider for httpClient]</a:t>
            </a:r>
          </a:p>
          <a:p>
            <a:r>
              <a:rPr lang="en-US"/>
              <a:t>configure angular httpClient Service to be available for injection</a:t>
            </a:r>
          </a:p>
          <a:p>
            <a:pPr lvl="1"/>
            <a:r>
              <a:rPr lang="en-US"/>
              <a:t>At </a:t>
            </a:r>
            <a:r>
              <a:rPr lang="en-US" b="1">
                <a:solidFill>
                  <a:srgbClr val="00B0F0"/>
                </a:solidFill>
              </a:rPr>
              <a:t>app.config.ts</a:t>
            </a:r>
            <a:r>
              <a:rPr lang="en-US"/>
              <a:t> : </a:t>
            </a:r>
            <a:r>
              <a:rPr lang="en-US" b="1"/>
              <a:t>at provider array add</a:t>
            </a:r>
            <a:r>
              <a:rPr lang="en-US"/>
              <a:t> ---- </a:t>
            </a:r>
            <a:r>
              <a:rPr lang="en-US" b="1">
                <a:solidFill>
                  <a:srgbClr val="FFFF00"/>
                </a:solidFill>
              </a:rPr>
              <a:t>provideHttpClient(withFetch())</a:t>
            </a:r>
            <a:r>
              <a:rPr lang="en-US"/>
              <a:t> </a:t>
            </a:r>
          </a:p>
          <a:p>
            <a:pPr lvl="1"/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017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3EB160-5530-65CA-AC3A-EEED12B3B2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Angular DT</a:t>
            </a:r>
          </a:p>
        </p:txBody>
      </p:sp>
    </p:spTree>
    <p:extLst>
      <p:ext uri="{BB962C8B-B14F-4D97-AF65-F5344CB8AC3E}">
        <p14:creationId xmlns:p14="http://schemas.microsoft.com/office/powerpoint/2010/main" val="140586921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247D1C-3D2B-71F1-EB50-DC0BB38BD1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66057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New Types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7632D9-4FCE-E448-1365-D16A50CCAF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0822" y="566056"/>
            <a:ext cx="11796765" cy="6291943"/>
          </a:xfrm>
        </p:spPr>
        <p:txBody>
          <a:bodyPr/>
          <a:lstStyle/>
          <a:p>
            <a:r>
              <a:rPr lang="en-US" b="1">
                <a:solidFill>
                  <a:srgbClr val="00B0F0"/>
                </a:solidFill>
              </a:rPr>
              <a:t>HTMLInputElement</a:t>
            </a:r>
          </a:p>
          <a:p>
            <a:pPr lvl="1"/>
            <a:r>
              <a:rPr lang="en-US"/>
              <a:t>let target = e.target as HTMLInputElement</a:t>
            </a:r>
          </a:p>
          <a:p>
            <a:r>
              <a:rPr lang="en-US" b="1">
                <a:solidFill>
                  <a:srgbClr val="00B0F0"/>
                </a:solidFill>
              </a:rPr>
              <a:t>KeyboardEvent</a:t>
            </a:r>
          </a:p>
          <a:p>
            <a:pPr lvl="1"/>
            <a:r>
              <a:rPr lang="en-US"/>
              <a:t>If(</a:t>
            </a:r>
            <a:r>
              <a:rPr lang="en-US">
                <a:solidFill>
                  <a:srgbClr val="FFC000"/>
                </a:solidFill>
                <a:effectLst/>
              </a:rPr>
              <a:t>event</a:t>
            </a:r>
            <a:r>
              <a:rPr lang="en-US">
                <a:effectLst/>
              </a:rPr>
              <a:t>.key=== "</a:t>
            </a:r>
            <a:r>
              <a:rPr lang="en-US">
                <a:solidFill>
                  <a:schemeClr val="accent1">
                    <a:lumMod val="40000"/>
                    <a:lumOff val="60000"/>
                  </a:schemeClr>
                </a:solidFill>
                <a:effectLst/>
              </a:rPr>
              <a:t>Enter</a:t>
            </a:r>
            <a:r>
              <a:rPr lang="en-US">
                <a:effectLst/>
              </a:rPr>
              <a:t>"</a:t>
            </a:r>
            <a:r>
              <a:rPr lang="en-US"/>
              <a:t>) {}</a:t>
            </a:r>
          </a:p>
          <a:p>
            <a:r>
              <a:rPr lang="en-US" b="1">
                <a:solidFill>
                  <a:srgbClr val="00B0F0"/>
                </a:solidFill>
              </a:rPr>
              <a:t>TemplateRef&lt;T&gt;</a:t>
            </a:r>
          </a:p>
          <a:p>
            <a:pPr lvl="1"/>
            <a:r>
              <a:rPr lang="en-US"/>
              <a:t>This is the official Angular type for any </a:t>
            </a:r>
            <a:r>
              <a:rPr lang="en-US" b="1">
                <a:solidFill>
                  <a:srgbClr val="00B0F0"/>
                </a:solidFill>
              </a:rPr>
              <a:t>&lt;ng-template&gt;</a:t>
            </a:r>
            <a:r>
              <a:rPr lang="en-US"/>
              <a:t> reference</a:t>
            </a:r>
          </a:p>
          <a:p>
            <a:r>
              <a:rPr lang="en-US" b="1">
                <a:solidFill>
                  <a:srgbClr val="00B0F0"/>
                </a:solidFill>
              </a:rPr>
              <a:t>ElementRef&lt;T&gt;</a:t>
            </a:r>
          </a:p>
          <a:p>
            <a:pPr lvl="1"/>
            <a:r>
              <a:rPr lang="en-US"/>
              <a:t>is a class that gives you </a:t>
            </a:r>
            <a:r>
              <a:rPr lang="en-US" b="1"/>
              <a:t>direct access to a DOM element</a:t>
            </a:r>
            <a:r>
              <a:rPr lang="en-US"/>
              <a:t> inside your component</a:t>
            </a:r>
            <a:endParaRPr lang="en-US">
              <a:effectLst/>
            </a:endParaRPr>
          </a:p>
          <a:p>
            <a:pPr lvl="1"/>
            <a:r>
              <a:rPr lang="en-US"/>
              <a:t>usually used together with </a:t>
            </a:r>
            <a:r>
              <a:rPr lang="en-US" b="1"/>
              <a:t>@ViewChild</a:t>
            </a:r>
            <a:r>
              <a:rPr lang="en-US"/>
              <a:t>.</a:t>
            </a:r>
            <a:endParaRPr lang="en-US">
              <a:effectLst/>
            </a:endParaRPr>
          </a:p>
          <a:p>
            <a:pPr lvl="1"/>
            <a:r>
              <a:rPr lang="en-US">
                <a:effectLst/>
              </a:rPr>
              <a:t>Ex: </a:t>
            </a:r>
            <a:r>
              <a:rPr lang="en-US" b="1">
                <a:solidFill>
                  <a:schemeClr val="tx1"/>
                </a:solidFill>
                <a:effectLst/>
              </a:rPr>
              <a:t>@</a:t>
            </a:r>
            <a:r>
              <a:rPr lang="en-US" b="1">
                <a:solidFill>
                  <a:srgbClr val="FF0000"/>
                </a:solidFill>
                <a:effectLst/>
              </a:rPr>
              <a:t>ViewChild</a:t>
            </a:r>
            <a:r>
              <a:rPr lang="en-US">
                <a:effectLst/>
              </a:rPr>
              <a:t>(</a:t>
            </a:r>
            <a:r>
              <a:rPr lang="en-US" b="1">
                <a:effectLst/>
              </a:rPr>
              <a:t>'</a:t>
            </a:r>
            <a:r>
              <a:rPr lang="en-US" b="1">
                <a:solidFill>
                  <a:srgbClr val="FFC000"/>
                </a:solidFill>
                <a:effectLst/>
              </a:rPr>
              <a:t>ColorHexCodeInput</a:t>
            </a:r>
            <a:r>
              <a:rPr lang="en-US">
                <a:effectLst/>
              </a:rPr>
              <a:t>') colorHexCodeInput!: </a:t>
            </a:r>
            <a:r>
              <a:rPr lang="en-US" b="1">
                <a:solidFill>
                  <a:srgbClr val="00B0F0"/>
                </a:solidFill>
                <a:effectLst/>
              </a:rPr>
              <a:t>ElementRef</a:t>
            </a:r>
            <a:r>
              <a:rPr lang="en-US">
                <a:solidFill>
                  <a:srgbClr val="0070C0"/>
                </a:solidFill>
                <a:effectLst/>
              </a:rPr>
              <a:t>&lt;</a:t>
            </a:r>
            <a:r>
              <a:rPr lang="en-US" b="1">
                <a:solidFill>
                  <a:srgbClr val="00B0F0"/>
                </a:solidFill>
                <a:effectLst/>
              </a:rPr>
              <a:t>HTMLInputElement</a:t>
            </a:r>
            <a:r>
              <a:rPr lang="en-US">
                <a:solidFill>
                  <a:srgbClr val="7030A0"/>
                </a:solidFill>
                <a:effectLst/>
              </a:rPr>
              <a:t>&gt;</a:t>
            </a:r>
            <a:r>
              <a:rPr lang="en-US">
                <a:effectLst/>
              </a:rPr>
              <a:t>;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</a:p>
          <a:p>
            <a:pPr lvl="1"/>
            <a:r>
              <a:rPr lang="en-US">
                <a:effectLst/>
              </a:rPr>
              <a:t>Modal 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NgbActiveModal</a:t>
            </a:r>
          </a:p>
          <a:p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</a:p>
        </p:txBody>
      </p:sp>
    </p:spTree>
    <p:extLst>
      <p:ext uri="{BB962C8B-B14F-4D97-AF65-F5344CB8AC3E}">
        <p14:creationId xmlns:p14="http://schemas.microsoft.com/office/powerpoint/2010/main" val="949246702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3B8E2A-9311-430D-5D11-CD0FDE9013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96350"/>
            <a:ext cx="12191999" cy="970450"/>
          </a:xfrm>
        </p:spPr>
        <p:txBody>
          <a:bodyPr>
            <a:normAutofit/>
          </a:bodyPr>
          <a:lstStyle/>
          <a:p>
            <a:r>
              <a:rPr lang="en-US" sz="3600" b="1">
                <a:solidFill>
                  <a:srgbClr val="FF0000"/>
                </a:solidFill>
                <a:effectLst/>
              </a:rPr>
              <a:t>AsyncValidatorFn &amp; </a:t>
            </a:r>
            <a:r>
              <a:rPr lang="en-US" sz="3600" b="1">
                <a:solidFill>
                  <a:srgbClr val="FFC000"/>
                </a:solidFill>
                <a:effectLst/>
              </a:rPr>
              <a:t>ValidatorFn &amp; ValidationErrors</a:t>
            </a:r>
            <a:endParaRPr lang="en-US" sz="3600" b="1">
              <a:solidFill>
                <a:srgbClr val="FFC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1A0EF0-FDB5-3CEA-4048-7B5BD4572F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1596" y="1066800"/>
            <a:ext cx="11575701" cy="5694849"/>
          </a:xfrm>
        </p:spPr>
        <p:txBody>
          <a:bodyPr/>
          <a:lstStyle/>
          <a:p>
            <a:r>
              <a:rPr lang="en-US"/>
              <a:t>AsyncValidatorFn signature</a:t>
            </a:r>
          </a:p>
          <a:p>
            <a:r>
              <a:rPr lang="en-US" sz="1800" b="1">
                <a:solidFill>
                  <a:srgbClr val="00B0F0"/>
                </a:solidFill>
                <a:effectLst/>
              </a:rPr>
              <a:t>interface</a:t>
            </a:r>
            <a:r>
              <a:rPr lang="en-US" sz="1800">
                <a:effectLst/>
              </a:rPr>
              <a:t> </a:t>
            </a:r>
            <a:r>
              <a:rPr lang="en-US" sz="1800" b="1">
                <a:solidFill>
                  <a:srgbClr val="FFFF00"/>
                </a:solidFill>
                <a:effectLst/>
              </a:rPr>
              <a:t>AsyncValidatorFn</a:t>
            </a:r>
            <a:r>
              <a:rPr lang="en-US" sz="1800">
                <a:effectLst/>
              </a:rPr>
              <a:t> {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  	  ( </a:t>
            </a:r>
            <a:r>
              <a:rPr lang="en-US" sz="1800" b="1">
                <a:solidFill>
                  <a:srgbClr val="00B050"/>
                </a:solidFill>
                <a:effectLst/>
              </a:rPr>
              <a:t>control</a:t>
            </a:r>
            <a:r>
              <a:rPr lang="en-US" sz="1800">
                <a:effectLst/>
              </a:rPr>
              <a:t>: </a:t>
            </a:r>
            <a:r>
              <a:rPr lang="en-US" sz="1800" b="1">
                <a:solidFill>
                  <a:srgbClr val="FFC000"/>
                </a:solidFill>
                <a:effectLst/>
              </a:rPr>
              <a:t>AbstractControl</a:t>
            </a:r>
            <a:r>
              <a:rPr lang="en-US" sz="1800">
                <a:effectLst/>
              </a:rPr>
              <a:t> ): Promise&lt;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>
                <a:effectLst/>
              </a:rPr>
              <a:t> | null &gt; | Observable&lt; </a:t>
            </a:r>
            <a:r>
              <a:rPr lang="en-US" sz="1800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 sz="1800">
                <a:effectLst/>
              </a:rPr>
              <a:t> | null &gt;;</a:t>
            </a:r>
          </a:p>
          <a:p>
            <a:pPr marL="36900" indent="0">
              <a:buNone/>
            </a:pPr>
            <a:r>
              <a:rPr lang="en-US" sz="1800">
                <a:effectLst/>
              </a:rPr>
              <a:t>    }</a:t>
            </a:r>
          </a:p>
          <a:p>
            <a:r>
              <a:rPr lang="en-US"/>
              <a:t> </a:t>
            </a:r>
            <a:r>
              <a:rPr lang="en-US" b="1">
                <a:solidFill>
                  <a:srgbClr val="FFC000"/>
                </a:solidFill>
              </a:rPr>
              <a:t>AsyncValidatorFn</a:t>
            </a:r>
            <a:r>
              <a:rPr lang="en-US"/>
              <a:t> DT means it waits a function that takes </a:t>
            </a:r>
            <a:r>
              <a:rPr lang="en-US" b="1">
                <a:solidFill>
                  <a:srgbClr val="FFC000"/>
                </a:solidFill>
              </a:rPr>
              <a:t>AbstractControl </a:t>
            </a:r>
            <a:r>
              <a:rPr lang="en-US"/>
              <a:t>as a parameter and returns </a:t>
            </a:r>
            <a:r>
              <a:rPr lang="en-US" b="1">
                <a:solidFill>
                  <a:srgbClr val="FFC000"/>
                </a:solidFill>
              </a:rPr>
              <a:t>observable</a:t>
            </a:r>
            <a:r>
              <a:rPr lang="en-US"/>
              <a:t> or </a:t>
            </a:r>
            <a:r>
              <a:rPr lang="en-US" b="1">
                <a:solidFill>
                  <a:srgbClr val="FFC000"/>
                </a:solidFill>
              </a:rPr>
              <a:t>promise</a:t>
            </a:r>
          </a:p>
          <a:p>
            <a:r>
              <a:rPr lang="en-US" b="1">
                <a:solidFill>
                  <a:srgbClr val="FFC000"/>
                </a:solidFill>
                <a:effectLst/>
              </a:rPr>
              <a:t>ValidationErrors</a:t>
            </a:r>
            <a:r>
              <a:rPr lang="en-US">
                <a:effectLst/>
              </a:rPr>
              <a:t> = {	[ key: string ]: any;  }; // object with any number of poperties</a:t>
            </a:r>
          </a:p>
          <a:p>
            <a:endParaRPr lang="en-US"/>
          </a:p>
          <a:p>
            <a:r>
              <a:rPr lang="en-US" b="1">
                <a:solidFill>
                  <a:srgbClr val="00B0F0"/>
                </a:solidFill>
                <a:effectLst/>
              </a:rPr>
              <a:t>interface</a:t>
            </a:r>
            <a:r>
              <a:rPr lang="en-US">
                <a:effectLst/>
              </a:rPr>
              <a:t> </a:t>
            </a:r>
            <a:r>
              <a:rPr lang="en-US" b="1">
                <a:solidFill>
                  <a:srgbClr val="FFC000"/>
                </a:solidFill>
                <a:effectLst/>
              </a:rPr>
              <a:t>ValidatorFn</a:t>
            </a:r>
            <a:r>
              <a:rPr lang="en-US">
                <a:effectLst/>
              </a:rPr>
              <a:t> {</a:t>
            </a:r>
          </a:p>
          <a:p>
            <a:pPr marL="36900" indent="0">
              <a:buNone/>
            </a:pPr>
            <a:r>
              <a:rPr lang="en-US">
                <a:effectLst/>
              </a:rPr>
              <a:t>    	( </a:t>
            </a:r>
            <a:r>
              <a:rPr lang="en-US" b="1">
                <a:solidFill>
                  <a:srgbClr val="00B050"/>
                </a:solidFill>
                <a:effectLst/>
              </a:rPr>
              <a:t>control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92D050"/>
                </a:solidFill>
                <a:effectLst/>
              </a:rPr>
              <a:t>AbstractControl</a:t>
            </a:r>
            <a:r>
              <a:rPr lang="en-US">
                <a:effectLst/>
              </a:rPr>
              <a:t> ): </a:t>
            </a:r>
            <a:r>
              <a:rPr lang="en-US" b="1">
                <a:solidFill>
                  <a:srgbClr val="FFFF00"/>
                </a:solidFill>
                <a:effectLst/>
              </a:rPr>
              <a:t>ValidationErrors</a:t>
            </a:r>
            <a:r>
              <a:rPr lang="en-US">
                <a:effectLst/>
              </a:rPr>
              <a:t> | </a:t>
            </a:r>
            <a:r>
              <a:rPr lang="en-US" b="1">
                <a:solidFill>
                  <a:srgbClr val="00B0F0"/>
                </a:solidFill>
                <a:effectLst/>
              </a:rPr>
              <a:t>null</a:t>
            </a:r>
            <a:r>
              <a:rPr lang="en-US">
                <a:effectLst/>
              </a:rPr>
              <a:t>;</a:t>
            </a:r>
          </a:p>
          <a:p>
            <a:pPr marL="36900" indent="0">
              <a:buNone/>
            </a:pPr>
            <a:r>
              <a:rPr lang="en-US">
                <a:effectLst/>
              </a:rPr>
              <a:t>  }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1303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15B8C-B4AC-666B-1F7E-38E2ECDB9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A98D0-3E4E-AD05-D805-81F7B4427C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516270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B098A-A839-AD30-A94F-CFA5BB2F9A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11F280-2225-5EAD-88E6-87EB3A01D4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1644" y="609599"/>
            <a:ext cx="11465169" cy="5298831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End Angular DT</a:t>
            </a:r>
          </a:p>
        </p:txBody>
      </p:sp>
    </p:spTree>
    <p:extLst>
      <p:ext uri="{BB962C8B-B14F-4D97-AF65-F5344CB8AC3E}">
        <p14:creationId xmlns:p14="http://schemas.microsoft.com/office/powerpoint/2010/main" val="267071241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1B6515-6A24-FD8A-2605-BDE018FD40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294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ng-container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BCC1C4-4EA0-D7F6-B0E1-6158BFC9ED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0918" y="612949"/>
            <a:ext cx="11816861" cy="6018963"/>
          </a:xfrm>
        </p:spPr>
        <p:txBody>
          <a:bodyPr/>
          <a:lstStyle/>
          <a:p>
            <a:r>
              <a:rPr lang="en-US" b="1">
                <a:solidFill>
                  <a:srgbClr val="FFFF00"/>
                </a:solidFill>
              </a:rPr>
              <a:t>ng-container</a:t>
            </a:r>
          </a:p>
          <a:p>
            <a:pPr lvl="1"/>
            <a:r>
              <a:rPr lang="en-US" b="1"/>
              <a:t>group elements and apply structural directives ( like *ngIf, *ngFor, *ngSwitchCase )</a:t>
            </a:r>
          </a:p>
          <a:p>
            <a:pPr lvl="1"/>
            <a:r>
              <a:rPr lang="en-US" b="1"/>
              <a:t>DOM Impact: It is a logical grouping that is not rendered as a separate element in the browser's DOM</a:t>
            </a:r>
          </a:p>
          <a:p>
            <a:pPr lvl="1"/>
            <a:r>
              <a:rPr lang="en-US" b="1"/>
              <a:t>Use Case : avoid unnecessary wrapping elements that might affect styling.</a:t>
            </a:r>
          </a:p>
          <a:p>
            <a:endParaRPr lang="en-US" b="1"/>
          </a:p>
        </p:txBody>
      </p:sp>
    </p:spTree>
    <p:extLst>
      <p:ext uri="{BB962C8B-B14F-4D97-AF65-F5344CB8AC3E}">
        <p14:creationId xmlns:p14="http://schemas.microsoft.com/office/powerpoint/2010/main" val="1696757168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91E39F-6A22-005D-1E9B-08E52E0E88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411982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11E5A0-7D56-D4E0-4ADD-6CDEEA6C59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592853"/>
            <a:ext cx="11766621" cy="6109398"/>
          </a:xfrm>
        </p:spPr>
        <p:txBody>
          <a:bodyPr/>
          <a:lstStyle/>
          <a:p>
            <a:r>
              <a:rPr lang="en-US" sz="2400" b="1">
                <a:solidFill>
                  <a:srgbClr val="FFFF00"/>
                </a:solidFill>
              </a:rPr>
              <a:t>ng-template</a:t>
            </a:r>
          </a:p>
          <a:p>
            <a:pPr lvl="1"/>
            <a:r>
              <a:rPr lang="en-US"/>
              <a:t>Defines a reusable block of HTML content that is not rendered by default</a:t>
            </a:r>
          </a:p>
          <a:p>
            <a:pPr lvl="1"/>
            <a:r>
              <a:rPr lang="en-US"/>
              <a:t>DOM Impact: The content within an ng-template is not rendered in the DOM unless explicitly demand it</a:t>
            </a:r>
          </a:p>
          <a:p>
            <a:endParaRPr lang="en-US"/>
          </a:p>
          <a:p>
            <a:endParaRPr lang="en-US"/>
          </a:p>
          <a:p>
            <a:pPr marL="36900" indent="0">
              <a:buNone/>
            </a:pPr>
            <a:endParaRPr lang="en-US"/>
          </a:p>
          <a:p>
            <a:r>
              <a:rPr lang="en-US"/>
              <a:t>ng-template: It is a ready code </a:t>
            </a:r>
            <a:r>
              <a:rPr lang="en-US" b="1">
                <a:solidFill>
                  <a:srgbClr val="FFFF00"/>
                </a:solidFill>
              </a:rPr>
              <a:t>waits you to call it 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r>
              <a:rPr lang="en-US" b="1">
                <a:solidFill>
                  <a:srgbClr val="FFFF00"/>
                </a:solidFill>
              </a:rPr>
              <a:t>*ngTemplateOutlet: it tell angular bring the template that its name </a:t>
            </a:r>
            <a:r>
              <a:rPr lang="en-US" b="1">
                <a:solidFill>
                  <a:srgbClr val="00B0F0"/>
                </a:solidFill>
              </a:rPr>
              <a:t>myTemplate</a:t>
            </a:r>
            <a:r>
              <a:rPr lang="en-US" b="1">
                <a:solidFill>
                  <a:srgbClr val="FFFF00"/>
                </a:solidFill>
              </a:rPr>
              <a:t> and render it here</a:t>
            </a: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  <a:p>
            <a:endParaRPr lang="en-US" b="1">
              <a:solidFill>
                <a:srgbClr val="FFFF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4697FD7-5082-2A7C-0B72-3C66A138FB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287" y="1868822"/>
            <a:ext cx="4783016" cy="139689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C4B6550-C7DA-24AF-22BC-1937B48BB0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287" y="3778181"/>
            <a:ext cx="6167595" cy="1125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86073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F93702-CF6E-9468-2160-F998826845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970450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ng-template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34CCE-0995-92AE-14AF-07C23D56947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0532" y="970451"/>
            <a:ext cx="11867103" cy="574184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x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F2767B-5805-7F4A-5EA4-6537F754B0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717" y="1086090"/>
            <a:ext cx="4611356" cy="2755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161570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F89F6-C8C7-176D-CBB3-028C5194BE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2611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ng-template [cont.2]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3B2E28-0119-907F-D773-715773C3DEF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0024" y="643095"/>
            <a:ext cx="11137533" cy="5817995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let-itemmm="item“ // it means receive a value that it is name called item from context and this value will be available within ng-template with name item</a:t>
            </a:r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FD2676E-1EA6-E93F-82C2-BF5EAF556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024" y="743578"/>
            <a:ext cx="8382000" cy="3495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17129965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FAE7D7-0329-20B4-C625-E9F949BC1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4133" y="0"/>
            <a:ext cx="10353762" cy="643095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00B0F0"/>
                </a:solidFill>
              </a:rPr>
              <a:t>New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23B0FF-CD57-B24C-8D75-8E1123CFE1A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0774" y="643095"/>
            <a:ext cx="11106783" cy="5988817"/>
          </a:xfrm>
        </p:spPr>
        <p:txBody>
          <a:bodyPr/>
          <a:lstStyle/>
          <a:p>
            <a:r>
              <a:rPr lang="en-US" sz="2400" b="1">
                <a:solidFill>
                  <a:srgbClr val="00B0F0"/>
                </a:solidFill>
              </a:rPr>
              <a:t>$event</a:t>
            </a:r>
            <a:r>
              <a:rPr lang="en-US"/>
              <a:t>: </a:t>
            </a:r>
          </a:p>
          <a:p>
            <a:pPr lvl="1"/>
            <a:r>
              <a:rPr lang="en-US"/>
              <a:t>a </a:t>
            </a:r>
            <a:r>
              <a:rPr lang="en-US" b="1"/>
              <a:t>special Angular template variable</a:t>
            </a:r>
            <a:r>
              <a:rPr lang="en-US"/>
              <a:t> that represents the emitted event object.</a:t>
            </a:r>
          </a:p>
          <a:p>
            <a:pPr lvl="1"/>
            <a:r>
              <a:rPr lang="en-US"/>
              <a:t>$ is  a mendatory</a:t>
            </a:r>
          </a:p>
          <a:p>
            <a:r>
              <a:rPr lang="en-US" b="1">
                <a:solidFill>
                  <a:srgbClr val="00B0F0"/>
                </a:solidFill>
              </a:rPr>
              <a:t>#inputCount</a:t>
            </a:r>
            <a:r>
              <a:rPr lang="en-US"/>
              <a:t>: </a:t>
            </a:r>
          </a:p>
          <a:p>
            <a:pPr lvl="1"/>
            <a:r>
              <a:rPr lang="en-US"/>
              <a:t>template variable</a:t>
            </a:r>
          </a:p>
          <a:p>
            <a:pPr lvl="1"/>
            <a:r>
              <a:rPr lang="en-US"/>
              <a:t>we call it without #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4759449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098596-4391-88B0-AD29-4D64D57D31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462224"/>
          </a:xfrm>
        </p:spPr>
        <p:txBody>
          <a:bodyPr>
            <a:normAutofit fontScale="90000"/>
          </a:bodyPr>
          <a:lstStyle/>
          <a:p>
            <a:r>
              <a:rPr lang="en-US"/>
              <a:t>Modal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A1C6CC-2375-1E48-862C-B483B36EB6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1692" y="462224"/>
            <a:ext cx="11555605" cy="6260123"/>
          </a:xfrm>
        </p:spPr>
        <p:txBody>
          <a:bodyPr/>
          <a:lstStyle/>
          <a:p>
            <a:r>
              <a:rPr lang="en-US">
                <a:effectLst/>
              </a:rPr>
              <a:t>  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'@ng-bootstrap/ng-bootstrap’;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5BB35B-436E-652D-00D9-76DB0BB91D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4703" y="924449"/>
            <a:ext cx="10982854" cy="432057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C08B79C-C658-EDBC-9048-C48820010B0C}"/>
              </a:ext>
            </a:extLst>
          </p:cNvPr>
          <p:cNvSpPr txBox="1"/>
          <p:nvPr/>
        </p:nvSpPr>
        <p:spPr>
          <a:xfrm>
            <a:off x="140677" y="5380672"/>
            <a:ext cx="117666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>
                <a:solidFill>
                  <a:srgbClr val="00B0F0"/>
                </a:solidFill>
              </a:rPr>
              <a:t>let-modal</a:t>
            </a:r>
            <a:r>
              <a:rPr lang="en-US"/>
              <a:t> --- Receives a value from </a:t>
            </a:r>
            <a:r>
              <a:rPr lang="en-US" b="1">
                <a:solidFill>
                  <a:srgbClr val="00B0F0"/>
                </a:solidFill>
              </a:rPr>
              <a:t>context</a:t>
            </a:r>
            <a:r>
              <a:rPr lang="en-US"/>
              <a:t> and makes its name is modal inside </a:t>
            </a:r>
            <a:r>
              <a:rPr lang="en-US" b="1">
                <a:solidFill>
                  <a:srgbClr val="FFFF00"/>
                </a:solidFill>
              </a:rPr>
              <a:t>ng-template</a:t>
            </a:r>
            <a:r>
              <a:rPr lang="en-US"/>
              <a:t> and the question is from where this value is gained </a:t>
            </a:r>
          </a:p>
          <a:p>
            <a:endParaRPr lang="en-US"/>
          </a:p>
          <a:p>
            <a:r>
              <a:rPr lang="en-US"/>
              <a:t>When modal is opened VIA : this.</a:t>
            </a:r>
            <a:r>
              <a:rPr lang="en-US" b="1">
                <a:solidFill>
                  <a:srgbClr val="FFFF00"/>
                </a:solidFill>
              </a:rPr>
              <a:t>modalService</a:t>
            </a:r>
            <a:r>
              <a:rPr lang="en-US"/>
              <a:t>.open(editModal);</a:t>
            </a:r>
          </a:p>
        </p:txBody>
      </p:sp>
    </p:spTree>
    <p:extLst>
      <p:ext uri="{BB962C8B-B14F-4D97-AF65-F5344CB8AC3E}">
        <p14:creationId xmlns:p14="http://schemas.microsoft.com/office/powerpoint/2010/main" val="1927891169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6FC174-99D2-F3AB-DB62-CEBCFFE248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06251"/>
          </a:xfrm>
        </p:spPr>
        <p:txBody>
          <a:bodyPr>
            <a:normAutofit fontScale="90000"/>
          </a:bodyPr>
          <a:lstStyle/>
          <a:p>
            <a:r>
              <a:rPr lang="en-US" b="1"/>
              <a:t>Modal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A839BE-DB0B-FB50-7B82-004098EEA9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6" y="606251"/>
            <a:ext cx="11749872" cy="6146241"/>
          </a:xfrm>
        </p:spPr>
        <p:txBody>
          <a:bodyPr/>
          <a:lstStyle/>
          <a:p>
            <a:r>
              <a:rPr lang="en-US">
                <a:effectLst/>
              </a:rPr>
              <a:t>import { </a:t>
            </a:r>
            <a:r>
              <a:rPr lang="en-US" b="1">
                <a:solidFill>
                  <a:srgbClr val="00B0F0"/>
                </a:solidFill>
                <a:effectLst/>
              </a:rPr>
              <a:t>NgbModal, NgbModal</a:t>
            </a:r>
            <a:r>
              <a:rPr lang="en-US">
                <a:effectLst/>
              </a:rPr>
              <a:t>, </a:t>
            </a:r>
            <a:r>
              <a:rPr lang="en-US" b="1">
                <a:solidFill>
                  <a:srgbClr val="00B0F0"/>
                </a:solidFill>
                <a:effectLst/>
              </a:rPr>
              <a:t>NgbModalRef</a:t>
            </a:r>
            <a:r>
              <a:rPr lang="en-US">
                <a:effectLst/>
              </a:rPr>
              <a:t> } from '@ng-bootstrap/ng-bootstrap';</a:t>
            </a:r>
          </a:p>
          <a:p>
            <a:r>
              <a:rPr lang="en-US">
                <a:effectLst/>
              </a:rPr>
              <a:t>Constructor ( private </a:t>
            </a:r>
            <a:r>
              <a:rPr lang="en-US" b="1">
                <a:solidFill>
                  <a:srgbClr val="FFFF00"/>
                </a:solidFill>
                <a:effectLst/>
              </a:rPr>
              <a:t>modalService</a:t>
            </a:r>
            <a:r>
              <a:rPr lang="en-US">
                <a:effectLst/>
              </a:rPr>
              <a:t>: </a:t>
            </a:r>
            <a:r>
              <a:rPr lang="en-US" b="1">
                <a:solidFill>
                  <a:srgbClr val="00B0F0"/>
                </a:solidFill>
                <a:effectLst/>
              </a:rPr>
              <a:t>NgbModal</a:t>
            </a:r>
            <a:r>
              <a:rPr lang="en-US">
                <a:effectLst/>
              </a:rPr>
              <a:t> ) {}</a:t>
            </a:r>
          </a:p>
          <a:p>
            <a:endParaRPr lang="en-US">
              <a:effectLst/>
            </a:endParaRPr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DFCB0A2-7966-0428-A902-B017AF9F74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401" y="1672894"/>
            <a:ext cx="8990247" cy="12825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33BD1F3-F05F-1A40-4FE9-DB94A34C7D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01" y="3131055"/>
            <a:ext cx="4310744" cy="10891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8546887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05F32-0908-AE4A-42DB-A37AFD33E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120202"/>
            <a:ext cx="10353762" cy="1778558"/>
          </a:xfrm>
        </p:spPr>
        <p:txBody>
          <a:bodyPr>
            <a:normAutofit/>
          </a:bodyPr>
          <a:lstStyle/>
          <a:p>
            <a:r>
              <a:rPr lang="en-US" sz="4800" b="1">
                <a:solidFill>
                  <a:srgbClr val="FF0000"/>
                </a:solidFill>
              </a:rPr>
              <a:t>Angular Material </a:t>
            </a:r>
          </a:p>
        </p:txBody>
      </p:sp>
    </p:spTree>
    <p:extLst>
      <p:ext uri="{BB962C8B-B14F-4D97-AF65-F5344CB8AC3E}">
        <p14:creationId xmlns:p14="http://schemas.microsoft.com/office/powerpoint/2010/main" val="36268117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40E7BC-D472-1FBC-B850-0F6CE4166A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827314"/>
          </a:xfrm>
        </p:spPr>
        <p:txBody>
          <a:bodyPr/>
          <a:lstStyle/>
          <a:p>
            <a:r>
              <a:rPr lang="en-US"/>
              <a:t>Installation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4126CE-284C-2EF0-0815-366F73A647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1732449"/>
            <a:ext cx="10353762" cy="4859270"/>
          </a:xfrm>
        </p:spPr>
        <p:txBody>
          <a:bodyPr>
            <a:normAutofit/>
          </a:bodyPr>
          <a:lstStyle/>
          <a:p>
            <a:r>
              <a:rPr lang="en-US" b="1">
                <a:solidFill>
                  <a:srgbClr val="FF0000"/>
                </a:solidFill>
              </a:rPr>
              <a:t>ng add @angular/material</a:t>
            </a:r>
          </a:p>
          <a:p>
            <a:r>
              <a:rPr lang="en-US">
                <a:latin typeface="+mj-lt"/>
                <a:ea typeface="+mj-ea"/>
              </a:rPr>
              <a:t>Choose a prebuilt theme name, or "custom" for a custom theme: Azure/Blue</a:t>
            </a:r>
          </a:p>
          <a:p>
            <a:r>
              <a:rPr lang="en-US">
                <a:latin typeface="+mj-lt"/>
                <a:ea typeface="+mj-ea"/>
              </a:rPr>
              <a:t>At angular.json </a:t>
            </a:r>
          </a:p>
          <a:p>
            <a:pPr lvl="1"/>
            <a:r>
              <a:rPr lang="en-US">
                <a:latin typeface="+mj-lt"/>
                <a:ea typeface="+mj-ea"/>
              </a:rPr>
              <a:t>At style : </a:t>
            </a:r>
            <a:r>
              <a:rPr lang="en-US">
                <a:effectLst/>
              </a:rPr>
              <a:t>"@angular/material/prebuilt-themes/azure-blue.css"</a:t>
            </a:r>
            <a:endParaRPr lang="en-US">
              <a:latin typeface="+mj-lt"/>
              <a:ea typeface="+mj-ea"/>
            </a:endParaRPr>
          </a:p>
          <a:p>
            <a:r>
              <a:rPr lang="en-US">
                <a:latin typeface="+mj-lt"/>
                <a:ea typeface="+mj-ea"/>
              </a:rPr>
              <a:t> </a:t>
            </a:r>
            <a:endParaRPr lang="en-US" sz="3600">
              <a:latin typeface="+mj-lt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83408436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6A21D-6DF8-A5B7-D472-3D5757185A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014" y="1"/>
            <a:ext cx="11056543" cy="462224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  <a:effectLst/>
              </a:rPr>
              <a:t>mat-paginator</a:t>
            </a:r>
            <a:endParaRPr lang="en-US" b="1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EE85BD-0B8A-0C35-5AF5-C02BB1A536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11014" y="462226"/>
            <a:ext cx="11796765" cy="6395774"/>
          </a:xfrm>
        </p:spPr>
        <p:txBody>
          <a:bodyPr>
            <a:normAutofit fontScale="92500" lnSpcReduction="20000"/>
          </a:bodyPr>
          <a:lstStyle/>
          <a:p>
            <a:r>
              <a:rPr lang="en-US">
                <a:effectLst/>
              </a:rPr>
              <a:t>  imports: [MatPaginatorModule],</a:t>
            </a: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pPr marL="36900" indent="0">
              <a:buNone/>
            </a:pPr>
            <a:endParaRPr lang="en-US">
              <a:effectLst/>
            </a:endParaRPr>
          </a:p>
          <a:p>
            <a:endParaRPr lang="en-US">
              <a:effectLst/>
            </a:endParaRPr>
          </a:p>
          <a:p>
            <a:endParaRPr lang="en-US">
              <a:effectLst/>
            </a:endParaRPr>
          </a:p>
          <a:p>
            <a:r>
              <a:rPr lang="en-US">
                <a:effectLst/>
              </a:rPr>
              <a:t>(page) </a:t>
            </a:r>
          </a:p>
          <a:p>
            <a:pPr lvl="1"/>
            <a:r>
              <a:rPr lang="en-US" b="1">
                <a:solidFill>
                  <a:srgbClr val="00B0F0"/>
                </a:solidFill>
                <a:effectLst/>
              </a:rPr>
              <a:t>declare</a:t>
            </a:r>
            <a:r>
              <a:rPr lang="en-US">
                <a:effectLst/>
              </a:rPr>
              <a:t> (event) MatPaginator.page: </a:t>
            </a:r>
            <a:r>
              <a:rPr lang="en-US">
                <a:solidFill>
                  <a:srgbClr val="00B0F0"/>
                </a:solidFill>
                <a:effectLst/>
              </a:rPr>
              <a:t>EventEmitter</a:t>
            </a:r>
            <a:r>
              <a:rPr lang="en-US">
                <a:effectLst/>
              </a:rPr>
              <a:t>&lt;</a:t>
            </a:r>
            <a:r>
              <a:rPr lang="en-US" b="1">
                <a:solidFill>
                  <a:srgbClr val="FFFF00"/>
                </a:solidFill>
                <a:effectLst/>
              </a:rPr>
              <a:t>PageEvent</a:t>
            </a:r>
            <a:r>
              <a:rPr lang="en-US">
                <a:effectLst/>
              </a:rPr>
              <a:t>&gt;</a:t>
            </a:r>
          </a:p>
          <a:p>
            <a:pPr lvl="1"/>
            <a:r>
              <a:rPr lang="en-US">
                <a:effectLst/>
              </a:rPr>
              <a:t>It wait a method that has </a:t>
            </a:r>
            <a:r>
              <a:rPr lang="en-US" b="1">
                <a:solidFill>
                  <a:srgbClr val="00B0F0"/>
                </a:solidFill>
                <a:effectLst/>
              </a:rPr>
              <a:t>PageEvent</a:t>
            </a:r>
            <a:r>
              <a:rPr lang="en-US">
                <a:effectLst/>
              </a:rPr>
              <a:t> as parameter</a:t>
            </a:r>
          </a:p>
          <a:p>
            <a:pPr lvl="1"/>
            <a:r>
              <a:rPr lang="en-US">
                <a:effectLst/>
              </a:rPr>
              <a:t>Event emitted when the paginator changes the </a:t>
            </a:r>
            <a:r>
              <a:rPr lang="en-US" b="1">
                <a:solidFill>
                  <a:srgbClr val="00B0F0"/>
                </a:solidFill>
                <a:effectLst/>
              </a:rPr>
              <a:t>page size</a:t>
            </a:r>
            <a:r>
              <a:rPr lang="en-US">
                <a:effectLst/>
              </a:rPr>
              <a:t> or </a:t>
            </a:r>
            <a:r>
              <a:rPr lang="en-US">
                <a:solidFill>
                  <a:srgbClr val="00B0F0"/>
                </a:solidFill>
                <a:effectLst/>
              </a:rPr>
              <a:t>page index</a:t>
            </a:r>
            <a:r>
              <a:rPr lang="en-US">
                <a:effectLst/>
              </a:rPr>
              <a:t>.</a:t>
            </a:r>
          </a:p>
          <a:p>
            <a:r>
              <a:rPr lang="en-US" b="1"/>
              <a:t>What PageEvent contains</a:t>
            </a:r>
          </a:p>
          <a:p>
            <a:pPr lvl="1"/>
            <a:r>
              <a:rPr lang="en-US" b="1">
                <a:solidFill>
                  <a:srgbClr val="FF0000"/>
                </a:solidFill>
              </a:rPr>
              <a:t>pageIndex</a:t>
            </a:r>
            <a:r>
              <a:rPr lang="en-US"/>
              <a:t>: number;</a:t>
            </a:r>
          </a:p>
          <a:p>
            <a:pPr lvl="1"/>
            <a:r>
              <a:rPr lang="en-US"/>
              <a:t>previousPageIndex?: number;</a:t>
            </a:r>
          </a:p>
          <a:p>
            <a:pPr lvl="1"/>
            <a:r>
              <a:rPr lang="en-US"/>
              <a:t>pageSize: number;</a:t>
            </a:r>
          </a:p>
          <a:p>
            <a:pPr lvl="1"/>
            <a:r>
              <a:rPr lang="en-US"/>
              <a:t>length: number;</a:t>
            </a:r>
            <a:br>
              <a:rPr lang="en-US">
                <a:effectLst/>
              </a:rPr>
            </a:br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20D9F5A-5887-5391-D285-66BAF23707C6}"/>
              </a:ext>
            </a:extLst>
          </p:cNvPr>
          <p:cNvSpPr/>
          <p:nvPr/>
        </p:nvSpPr>
        <p:spPr>
          <a:xfrm>
            <a:off x="211014" y="861644"/>
            <a:ext cx="5687368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>
                <a:solidFill>
                  <a:srgbClr val="FFC000"/>
                </a:solidFill>
              </a:rPr>
              <a:t>&lt;</a:t>
            </a:r>
            <a:r>
              <a:rPr lang="en-US" b="1">
                <a:solidFill>
                  <a:srgbClr val="FFC000"/>
                </a:solidFill>
              </a:rPr>
              <a:t>mat-paginator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[pageSizeOptions]</a:t>
            </a:r>
            <a:r>
              <a:rPr lang="en-US"/>
              <a:t>="[4,8,10,15]"</a:t>
            </a:r>
          </a:p>
          <a:p>
            <a:r>
              <a:rPr lang="en-US">
                <a:solidFill>
                  <a:srgbClr val="00B0F0"/>
                </a:solidFill>
              </a:rPr>
              <a:t>            [length]</a:t>
            </a:r>
            <a:r>
              <a:rPr lang="en-US"/>
              <a:t>="PaginationResult?.totalCount"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[pageSize]</a:t>
            </a:r>
            <a:r>
              <a:rPr lang="en-US"/>
              <a:t>="PaginationResult?.pageSize"</a:t>
            </a:r>
          </a:p>
          <a:p>
            <a:r>
              <a:rPr lang="en-US"/>
              <a:t>            </a:t>
            </a:r>
            <a:r>
              <a:rPr lang="en-US">
                <a:solidFill>
                  <a:srgbClr val="00B0F0"/>
                </a:solidFill>
              </a:rPr>
              <a:t>[pageIndex]</a:t>
            </a:r>
            <a:r>
              <a:rPr lang="en-US"/>
              <a:t>="PaginationResult?.currentPage! -1"</a:t>
            </a:r>
          </a:p>
          <a:p>
            <a:r>
              <a:rPr lang="en-US"/>
              <a:t>	    </a:t>
            </a:r>
            <a:r>
              <a:rPr lang="en-US">
                <a:solidFill>
                  <a:srgbClr val="00B0F0"/>
                </a:solidFill>
              </a:rPr>
              <a:t>[showFirstLastButtons]</a:t>
            </a:r>
            <a:r>
              <a:rPr lang="en-US"/>
              <a:t>="true"</a:t>
            </a:r>
          </a:p>
          <a:p>
            <a:r>
              <a:rPr lang="en-US"/>
              <a:t>            </a:t>
            </a:r>
            <a:r>
              <a:rPr lang="en-US" b="1">
                <a:solidFill>
                  <a:srgbClr val="00B0F0"/>
                </a:solidFill>
              </a:rPr>
              <a:t>(page)</a:t>
            </a:r>
            <a:r>
              <a:rPr lang="en-US"/>
              <a:t>="onPageChange</a:t>
            </a:r>
            <a:r>
              <a:rPr lang="en-US" b="1">
                <a:solidFill>
                  <a:srgbClr val="FFFF00"/>
                </a:solidFill>
              </a:rPr>
              <a:t>($event</a:t>
            </a:r>
            <a:r>
              <a:rPr lang="en-US"/>
              <a:t>)"&gt;</a:t>
            </a:r>
          </a:p>
          <a:p>
            <a:r>
              <a:rPr lang="en-US"/>
              <a:t> </a:t>
            </a:r>
            <a:r>
              <a:rPr lang="en-US" b="1">
                <a:solidFill>
                  <a:srgbClr val="FFC000"/>
                </a:solidFill>
              </a:rPr>
              <a:t>&lt;/mat-paginator&gt;</a:t>
            </a:r>
          </a:p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3860A90-BE1A-F628-1F3F-C993BDBFAF6E}"/>
              </a:ext>
            </a:extLst>
          </p:cNvPr>
          <p:cNvSpPr/>
          <p:nvPr/>
        </p:nvSpPr>
        <p:spPr>
          <a:xfrm>
            <a:off x="6162991" y="974690"/>
            <a:ext cx="6029009" cy="256735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b="1">
                <a:solidFill>
                  <a:srgbClr val="00B0F0"/>
                </a:solidFill>
              </a:rPr>
              <a:t>onPageChange</a:t>
            </a:r>
            <a:r>
              <a:rPr lang="en-US"/>
              <a:t>(</a:t>
            </a:r>
            <a:r>
              <a:rPr lang="en-US">
                <a:solidFill>
                  <a:srgbClr val="92D050"/>
                </a:solidFill>
              </a:rPr>
              <a:t>pageEvent</a:t>
            </a:r>
            <a:r>
              <a:rPr lang="en-US"/>
              <a:t>: </a:t>
            </a:r>
            <a:r>
              <a:rPr lang="en-US">
                <a:solidFill>
                  <a:srgbClr val="00B050"/>
                </a:solidFill>
              </a:rPr>
              <a:t>PageEvent</a:t>
            </a:r>
            <a:r>
              <a:rPr lang="en-US"/>
              <a:t>) {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.PageParam.PageNumber = pageEvent.pageIndex+1;</a:t>
            </a:r>
          </a:p>
          <a:p>
            <a:r>
              <a:rPr lang="en-US"/>
              <a:t>   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.PageParam.PageSize = pageEvent.pageSize;</a:t>
            </a:r>
          </a:p>
          <a:p>
            <a:r>
              <a:rPr lang="en-US"/>
              <a:t>    </a:t>
            </a:r>
            <a:r>
              <a:rPr lang="en-US">
                <a:solidFill>
                  <a:srgbClr val="00B0F0"/>
                </a:solidFill>
              </a:rPr>
              <a:t>this</a:t>
            </a:r>
            <a:r>
              <a:rPr lang="en-US"/>
              <a:t>.</a:t>
            </a:r>
            <a:r>
              <a:rPr lang="en-US" b="1">
                <a:solidFill>
                  <a:srgbClr val="FFC000"/>
                </a:solidFill>
              </a:rPr>
              <a:t>GetPagedList</a:t>
            </a:r>
            <a:r>
              <a:rPr lang="en-US"/>
              <a:t>();</a:t>
            </a:r>
          </a:p>
          <a:p>
            <a:r>
              <a:rPr lang="en-US"/>
              <a:t>  }</a:t>
            </a:r>
          </a:p>
        </p:txBody>
      </p:sp>
    </p:spTree>
    <p:extLst>
      <p:ext uri="{BB962C8B-B14F-4D97-AF65-F5344CB8AC3E}">
        <p14:creationId xmlns:p14="http://schemas.microsoft.com/office/powerpoint/2010/main" val="372104055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8561F7-D13B-CC09-3AE9-BB94EDF5C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Febric.js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A35B0F-6B77-0DCD-5499-5A4FDADA63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21420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BD241-91BC-982E-E8D8-DA059E13C0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544310"/>
          </a:xfrm>
        </p:spPr>
        <p:txBody>
          <a:bodyPr>
            <a:noAutofit/>
          </a:bodyPr>
          <a:lstStyle/>
          <a:p>
            <a:r>
              <a:rPr lang="en-US" sz="3200"/>
              <a:t>Layout [cont.]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0292FF-FB71-EABA-22C8-49723B52D0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3795" y="544310"/>
            <a:ext cx="10353762" cy="5246891"/>
          </a:xfrm>
        </p:spPr>
        <p:txBody>
          <a:bodyPr/>
          <a:lstStyle/>
          <a:p>
            <a:r>
              <a:rPr lang="en-US"/>
              <a:t>Create sidebar component at components folder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FEC7977-8DB6-5D26-4E6F-029EB93135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968827"/>
            <a:ext cx="7332109" cy="384433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7B2557A-5613-A7A6-6167-C88E6497C3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2109" y="798004"/>
            <a:ext cx="4774377" cy="37522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5B8091C-F973-69E1-483C-A812643E422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750245" y="4813093"/>
            <a:ext cx="4158186" cy="1956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828129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437ED4-E69D-F586-0742-5D562697F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2231922"/>
            <a:ext cx="10353762" cy="1837659"/>
          </a:xfrm>
        </p:spPr>
        <p:txBody>
          <a:bodyPr>
            <a:normAutofit/>
          </a:bodyPr>
          <a:lstStyle/>
          <a:p>
            <a:r>
              <a:rPr lang="en-US" sz="6000" b="1">
                <a:solidFill>
                  <a:srgbClr val="FF0000"/>
                </a:solidFill>
              </a:rPr>
              <a:t>Type Script</a:t>
            </a:r>
          </a:p>
        </p:txBody>
      </p:sp>
    </p:spTree>
    <p:extLst>
      <p:ext uri="{BB962C8B-B14F-4D97-AF65-F5344CB8AC3E}">
        <p14:creationId xmlns:p14="http://schemas.microsoft.com/office/powerpoint/2010/main" val="38512279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53D029-E978-AEE8-ED75-7E72EB0D8B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63675"/>
          </a:xfrm>
        </p:spPr>
        <p:txBody>
          <a:bodyPr/>
          <a:lstStyle/>
          <a:p>
            <a:r>
              <a:rPr lang="en-US" b="1">
                <a:solidFill>
                  <a:srgbClr val="FF0000"/>
                </a:solidFill>
              </a:rPr>
              <a:t>Optional chaining</a:t>
            </a:r>
            <a:r>
              <a:rPr lang="en-US"/>
              <a:t> [ ?.]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492802-FC35-F4E0-D620-E17D28D3B8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1886" y="763675"/>
            <a:ext cx="11535507" cy="5767754"/>
          </a:xfrm>
        </p:spPr>
        <p:txBody>
          <a:bodyPr/>
          <a:lstStyle/>
          <a:p>
            <a:r>
              <a:rPr lang="en-US"/>
              <a:t>It is only allowed when reading values not writing </a:t>
            </a:r>
          </a:p>
          <a:p>
            <a:r>
              <a:rPr lang="en-US"/>
              <a:t>this.PageParam?.PageNumber = 55; // XXX cause it can not be used when assigning values</a:t>
            </a:r>
          </a:p>
          <a:p>
            <a:r>
              <a:rPr lang="en-US"/>
              <a:t>The three correct usages </a:t>
            </a:r>
          </a:p>
          <a:p>
            <a:endParaRPr lang="en-US"/>
          </a:p>
          <a:p>
            <a:endParaRPr lang="en-US"/>
          </a:p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FEDDBD-1B9A-9654-8F21-4758DF5DE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187505"/>
            <a:ext cx="4152900" cy="272415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D74F759-61FA-94A2-10A8-DDDC6B11E7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51764" y="2254180"/>
            <a:ext cx="3048000" cy="25908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B1FFB5B-E965-FCF6-3DF7-A4F9BCAE83F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98629" y="2275480"/>
            <a:ext cx="4582690" cy="23070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80474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8B01CF-F2C3-BCAB-6B52-1559107BB2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783771"/>
          </a:xfrm>
        </p:spPr>
        <p:txBody>
          <a:bodyPr/>
          <a:lstStyle/>
          <a:p>
            <a:r>
              <a:rPr lang="en-US" b="1">
                <a:effectLst/>
              </a:rPr>
              <a:t>index signature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DFDD6B-65AC-C08E-4B0D-A178769FFA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1304" y="954593"/>
            <a:ext cx="11736476" cy="5305530"/>
          </a:xfrm>
        </p:spPr>
        <p:txBody>
          <a:bodyPr/>
          <a:lstStyle/>
          <a:p>
            <a:r>
              <a:rPr lang="en-US">
                <a:effectLst/>
              </a:rPr>
              <a:t>let </a:t>
            </a:r>
            <a:r>
              <a:rPr lang="en-US" b="1">
                <a:solidFill>
                  <a:srgbClr val="FF0000"/>
                </a:solidFill>
                <a:effectLst/>
              </a:rPr>
              <a:t>myDynamicObject</a:t>
            </a:r>
            <a:r>
              <a:rPr lang="en-US">
                <a:effectLst/>
              </a:rPr>
              <a:t>: { [key: string]: any } = {};</a:t>
            </a:r>
          </a:p>
          <a:p>
            <a:pPr lvl="1"/>
            <a:r>
              <a:rPr lang="en-US" i="1">
                <a:effectLst/>
              </a:rPr>
              <a:t> </a:t>
            </a:r>
            <a:r>
              <a:rPr lang="en-US" sz="2000" i="1">
                <a:effectLst/>
              </a:rPr>
              <a:t>Declares that 'myDynamicObject' can have any string key, with any value type</a:t>
            </a:r>
            <a:endParaRPr lang="en-US">
              <a:effectLst/>
            </a:endParaRPr>
          </a:p>
          <a:p>
            <a:pPr lvl="1"/>
            <a:endParaRPr lang="en-US">
              <a:effectLst/>
            </a:endParaRPr>
          </a:p>
          <a:p>
            <a:r>
              <a:rPr lang="en-US" i="1">
                <a:effectLst/>
              </a:rPr>
              <a:t>// Valid assignments (TypeScript will not complain):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myDynamicObject["name"] = "Alice";      </a:t>
            </a:r>
            <a:r>
              <a:rPr lang="en-US" i="1">
                <a:effectLst/>
              </a:rPr>
              <a:t>// string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myDynamicObject.age = 42;               </a:t>
            </a:r>
            <a:r>
              <a:rPr lang="en-US" i="1">
                <a:effectLst/>
              </a:rPr>
              <a:t>// number value (dot notation works too)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myDynamicObject["isActive"] = true;     </a:t>
            </a:r>
            <a:r>
              <a:rPr lang="en-US" i="1">
                <a:effectLst/>
              </a:rPr>
              <a:t>// boolean value</a:t>
            </a:r>
            <a:endParaRPr lang="en-US">
              <a:effectLst/>
            </a:endParaRPr>
          </a:p>
          <a:p>
            <a:r>
              <a:rPr lang="en-US">
                <a:effectLst/>
              </a:rPr>
              <a:t>myDynamicObject.nested = { prop: "hello" }; </a:t>
            </a:r>
            <a:r>
              <a:rPr lang="en-US" i="1">
                <a:effectLst/>
              </a:rPr>
              <a:t>// object value</a:t>
            </a:r>
            <a:endParaRPr lang="en-US">
              <a:effectLst/>
            </a:endParaRP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68093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5C9F86-545D-49F3-6A31-47F4A30721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119" y="0"/>
            <a:ext cx="10353762" cy="616299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as keyword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C24E1-51C5-F241-16A7-5AD8ED504D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616299"/>
            <a:ext cx="11977635" cy="5965371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te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B8FA743-37B4-8F99-0722-B40B7C083BCD}"/>
              </a:ext>
            </a:extLst>
          </p:cNvPr>
          <p:cNvSpPr/>
          <p:nvPr/>
        </p:nvSpPr>
        <p:spPr>
          <a:xfrm>
            <a:off x="214365" y="787121"/>
            <a:ext cx="4707958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>
                <a:solidFill>
                  <a:srgbClr val="0070C0"/>
                </a:solidFill>
              </a:rPr>
              <a:t>A</a:t>
            </a:r>
            <a:r>
              <a:rPr lang="en-US"/>
              <a:t> {</a:t>
            </a:r>
            <a:br>
              <a:rPr lang="en-US"/>
            </a:br>
            <a:r>
              <a:rPr lang="en-US"/>
              <a:t>	x: </a:t>
            </a:r>
            <a:r>
              <a:rPr lang="en-US">
                <a:solidFill>
                  <a:srgbClr val="0070C0"/>
                </a:solidFill>
              </a:rPr>
              <a:t>number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x: 10,</a:t>
            </a:r>
            <a:br>
              <a:rPr lang="en-US"/>
            </a:br>
            <a:r>
              <a:rPr lang="en-US"/>
              <a:t>	y: 20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en-US" sz="2000"/>
              <a:t>const </a:t>
            </a:r>
            <a:r>
              <a:rPr lang="en-US" sz="2000">
                <a:solidFill>
                  <a:srgbClr val="FFFF00"/>
                </a:solidFill>
              </a:rPr>
              <a:t>test</a:t>
            </a:r>
            <a:r>
              <a:rPr lang="en-US" sz="2000"/>
              <a:t>: A = obj;</a:t>
            </a:r>
          </a:p>
          <a:p>
            <a:endParaRPr lang="en-US" sz="2000"/>
          </a:p>
          <a:p>
            <a:r>
              <a:rPr lang="en-US"/>
              <a:t>Valid : because --- ✔ x exists , ✔ y is ignored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DDBF93D0-7E4C-C93F-D9E6-8F761035A0DC}"/>
              </a:ext>
            </a:extLst>
          </p:cNvPr>
          <p:cNvSpPr/>
          <p:nvPr/>
        </p:nvSpPr>
        <p:spPr>
          <a:xfrm>
            <a:off x="5742632" y="787121"/>
            <a:ext cx="5963697" cy="4046136"/>
          </a:xfrm>
          <a:prstGeom prst="rect">
            <a:avLst/>
          </a:prstGeom>
          <a:solidFill>
            <a:schemeClr val="tx2">
              <a:lumMod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2000" b="1">
                <a:solidFill>
                  <a:srgbClr val="CC3399"/>
                </a:solidFill>
              </a:rPr>
              <a:t>interface</a:t>
            </a:r>
            <a:r>
              <a:rPr lang="en-US"/>
              <a:t> </a:t>
            </a:r>
            <a:r>
              <a:rPr lang="en-US" b="1">
                <a:solidFill>
                  <a:srgbClr val="FFFF00"/>
                </a:solidFill>
              </a:rPr>
              <a:t>User</a:t>
            </a:r>
            <a:r>
              <a:rPr lang="en-US"/>
              <a:t> {</a:t>
            </a:r>
            <a:br>
              <a:rPr lang="en-US"/>
            </a:br>
            <a:r>
              <a:rPr lang="en-US"/>
              <a:t>	name: </a:t>
            </a:r>
            <a:r>
              <a:rPr lang="en-US">
                <a:solidFill>
                  <a:srgbClr val="0070C0"/>
                </a:solidFill>
              </a:rPr>
              <a:t>string</a:t>
            </a:r>
            <a:r>
              <a:rPr lang="en-US"/>
              <a:t>;</a:t>
            </a:r>
            <a:br>
              <a:rPr lang="en-US"/>
            </a:br>
            <a:r>
              <a:rPr lang="en-US"/>
              <a:t>}</a:t>
            </a:r>
            <a:br>
              <a:rPr lang="en-US"/>
            </a:br>
            <a:br>
              <a:rPr lang="en-US"/>
            </a:br>
            <a:r>
              <a:rPr lang="en-US" b="1">
                <a:solidFill>
                  <a:srgbClr val="CC3399"/>
                </a:solidFill>
              </a:rPr>
              <a:t>const</a:t>
            </a:r>
            <a:r>
              <a:rPr lang="en-US"/>
              <a:t> obj = {</a:t>
            </a:r>
            <a:br>
              <a:rPr lang="en-US"/>
            </a:br>
            <a:r>
              <a:rPr lang="en-US"/>
              <a:t>	age: 10,</a:t>
            </a:r>
            <a:br>
              <a:rPr lang="en-US"/>
            </a:br>
            <a:r>
              <a:rPr lang="en-US"/>
              <a:t>};</a:t>
            </a:r>
            <a:br>
              <a:rPr lang="en-US"/>
            </a:br>
            <a:br>
              <a:rPr lang="en-US"/>
            </a:br>
            <a:r>
              <a:rPr lang="pt-BR"/>
              <a:t>const user = obj as User;</a:t>
            </a:r>
          </a:p>
          <a:p>
            <a:endParaRPr lang="en-US" sz="2000"/>
          </a:p>
          <a:p>
            <a:r>
              <a:rPr lang="en-US"/>
              <a:t>TypeScript </a:t>
            </a:r>
            <a:r>
              <a:rPr lang="en-US" b="1"/>
              <a:t>will accept it</a:t>
            </a:r>
            <a:r>
              <a:rPr lang="en-US"/>
              <a:t>, even though: name is missing</a:t>
            </a:r>
          </a:p>
          <a:p>
            <a:endParaRPr lang="en-US"/>
          </a:p>
          <a:p>
            <a:r>
              <a:rPr lang="en-US"/>
              <a:t>At runtime -- </a:t>
            </a:r>
            <a:r>
              <a:rPr lang="en-US" b="1">
                <a:solidFill>
                  <a:srgbClr val="FFC000"/>
                </a:solidFill>
              </a:rPr>
              <a:t>user</a:t>
            </a:r>
            <a:r>
              <a:rPr lang="en-US"/>
              <a:t>.</a:t>
            </a:r>
            <a:r>
              <a:rPr lang="en-US">
                <a:solidFill>
                  <a:srgbClr val="0070C0"/>
                </a:solidFill>
              </a:rPr>
              <a:t>name</a:t>
            </a:r>
            <a:r>
              <a:rPr lang="en-US"/>
              <a:t> // undefined</a:t>
            </a:r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373733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9E4143-5E81-0203-196C-C47EDA6540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33046"/>
          </a:xfrm>
        </p:spPr>
        <p:txBody>
          <a:bodyPr>
            <a:normAutofit fontScale="90000"/>
          </a:bodyPr>
          <a:lstStyle/>
          <a:p>
            <a:r>
              <a:rPr lang="en-US" b="1">
                <a:solidFill>
                  <a:srgbClr val="FF0000"/>
                </a:solidFill>
              </a:rPr>
              <a:t>type narrowing</a:t>
            </a:r>
            <a:endParaRPr lang="en-US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47C57-EF2D-D4A6-79ED-DD112F1B6B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1160" y="633047"/>
            <a:ext cx="11676185" cy="5978768"/>
          </a:xfrm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r>
              <a:rPr lang="en-US"/>
              <a:t>“Does the object </a:t>
            </a:r>
            <a:r>
              <a:rPr lang="en-US" b="1">
                <a:solidFill>
                  <a:srgbClr val="FFFF00"/>
                </a:solidFill>
              </a:rPr>
              <a:t>obj</a:t>
            </a:r>
            <a:r>
              <a:rPr lang="en-US"/>
              <a:t> have a property called success?”</a:t>
            </a:r>
          </a:p>
          <a:p>
            <a:r>
              <a:rPr lang="en-US"/>
              <a:t>It </a:t>
            </a:r>
            <a:r>
              <a:rPr lang="en-US" b="1">
                <a:solidFill>
                  <a:srgbClr val="FFFF00"/>
                </a:solidFill>
              </a:rPr>
              <a:t>narrows</a:t>
            </a:r>
            <a:r>
              <a:rPr lang="en-US"/>
              <a:t> the type of obj inside the if to </a:t>
            </a:r>
            <a:r>
              <a:rPr lang="en-US" b="1">
                <a:solidFill>
                  <a:srgbClr val="FF0000"/>
                </a:solidFill>
              </a:rPr>
              <a:t>OperationResult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1BD6816-42FB-B937-0106-E925BFCFB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00574" y="633046"/>
            <a:ext cx="3416772" cy="302799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67DD9A0-A769-4559-AAE4-0389121239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159" y="2813538"/>
            <a:ext cx="4046137" cy="1053973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048B71-F5DC-EBAA-B266-AE48F6AAF6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1159" y="964641"/>
            <a:ext cx="4411228" cy="13920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0078428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81DC5-E2E2-5620-813E-13F7DD0D79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4279" y="0"/>
            <a:ext cx="10353762" cy="773723"/>
          </a:xfrm>
        </p:spPr>
        <p:txBody>
          <a:bodyPr/>
          <a:lstStyle/>
          <a:p>
            <a:r>
              <a:rPr lang="en-US" b="1"/>
              <a:t>Find()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B29F50-1031-1E4A-3D73-456E21CC5D8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0725" y="773723"/>
            <a:ext cx="11857055" cy="5888334"/>
          </a:xfrm>
        </p:spPr>
        <p:txBody>
          <a:bodyPr/>
          <a:lstStyle/>
          <a:p>
            <a:r>
              <a:rPr lang="en-US"/>
              <a:t>find(...) returns a </a:t>
            </a:r>
            <a:r>
              <a:rPr lang="en-US" b="1"/>
              <a:t>reference</a:t>
            </a:r>
            <a:r>
              <a:rPr lang="en-US"/>
              <a:t> to the object inside the items array (not a copy).</a:t>
            </a:r>
          </a:p>
          <a:p>
            <a:r>
              <a:rPr lang="en-US"/>
              <a:t>let x = (this.PaginationResult?.items.find(x =&gt; x.id == this.SelectedColorOptionId))!;</a:t>
            </a:r>
          </a:p>
          <a:p>
            <a:pPr lvl="1"/>
            <a:r>
              <a:rPr lang="en-US"/>
              <a:t>x is pointing to the </a:t>
            </a:r>
            <a:r>
              <a:rPr lang="en-US" b="1"/>
              <a:t>same object in memory</a:t>
            </a:r>
            <a:r>
              <a:rPr lang="en-US"/>
              <a:t> as the one inside items</a:t>
            </a:r>
          </a:p>
          <a:p>
            <a:pPr lvl="1"/>
            <a:r>
              <a:rPr lang="en-US"/>
              <a:t>Any changes made on x is reflected to the </a:t>
            </a:r>
          </a:p>
          <a:p>
            <a:endParaRPr lang="en-US"/>
          </a:p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330224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7DC102-74D5-6A5A-C16F-A6633D668E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3795" y="0"/>
            <a:ext cx="10353762" cy="668594"/>
          </a:xfrm>
        </p:spPr>
        <p:txBody>
          <a:bodyPr>
            <a:normAutofit fontScale="90000"/>
          </a:bodyPr>
          <a:lstStyle/>
          <a:p>
            <a:r>
              <a:rPr lang="en-US" b="1"/>
              <a:t>Enum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4C153522-2A32-E7A7-CA2E-3619FCE519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7093" y="3437700"/>
            <a:ext cx="11314972" cy="1153969"/>
          </a:xfrm>
        </p:spPr>
        <p:txBody>
          <a:bodyPr>
            <a:normAutofit lnSpcReduction="10000"/>
          </a:bodyPr>
          <a:lstStyle/>
          <a:p>
            <a:r>
              <a:rPr lang="en-US"/>
              <a:t>note : Enums in TypeScript are technically objects where :</a:t>
            </a:r>
          </a:p>
          <a:p>
            <a:pPr lvl="1"/>
            <a:r>
              <a:rPr lang="en-US"/>
              <a:t>Keys are strings.</a:t>
            </a:r>
          </a:p>
          <a:p>
            <a:pPr lvl="1"/>
            <a:r>
              <a:rPr lang="en-US"/>
              <a:t>Values are numbers (if it's a numeric Enum) or strings (if it's a string Enum).</a:t>
            </a:r>
          </a:p>
        </p:txBody>
      </p:sp>
      <p:pic>
        <p:nvPicPr>
          <p:cNvPr id="10" name="Content Placeholder 4">
            <a:extLst>
              <a:ext uri="{FF2B5EF4-FFF2-40B4-BE49-F238E27FC236}">
                <a16:creationId xmlns:a16="http://schemas.microsoft.com/office/drawing/2014/main" id="{468FE5B5-EF94-C9D7-A34B-FF927FCCAD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7093" y="334297"/>
            <a:ext cx="3141593" cy="15650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353EC381-3C7D-477D-7149-FEB84B36FF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7093" y="2126682"/>
            <a:ext cx="11019572" cy="1267447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633A0A3-A288-DD0A-5D7F-1B49AE1513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7094" y="4700192"/>
            <a:ext cx="10430068" cy="20029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25957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">
  <a:themeElements>
    <a:clrScheme name="Slate">
      <a:dk1>
        <a:sysClr val="windowText" lastClr="000000"/>
      </a:dk1>
      <a:lt1>
        <a:sysClr val="window" lastClr="FFFFFF"/>
      </a:lt1>
      <a:dk2>
        <a:srgbClr val="212123"/>
      </a:dk2>
      <a:lt2>
        <a:srgbClr val="DADADA"/>
      </a:lt2>
      <a:accent1>
        <a:srgbClr val="BC451B"/>
      </a:accent1>
      <a:accent2>
        <a:srgbClr val="D3BA68"/>
      </a:accent2>
      <a:accent3>
        <a:srgbClr val="BB8640"/>
      </a:accent3>
      <a:accent4>
        <a:srgbClr val="AD9277"/>
      </a:accent4>
      <a:accent5>
        <a:srgbClr val="A55A43"/>
      </a:accent5>
      <a:accent6>
        <a:srgbClr val="AD9D7B"/>
      </a:accent6>
      <a:hlink>
        <a:srgbClr val="E98052"/>
      </a:hlink>
      <a:folHlink>
        <a:srgbClr val="F4B69B"/>
      </a:folHlink>
    </a:clrScheme>
    <a:fontScheme name="Slate">
      <a:maj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Calisto MT" panose="02040603050505030304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" id="{C3F70B94-7CE9-428E-ADC1-3269CC2C3385}" vid="{3F2DE9A5-64E6-437C-A389-CC4477E817E8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Slate</Template>
  <TotalTime>61349</TotalTime>
  <Words>2792</Words>
  <Application>Microsoft Office PowerPoint</Application>
  <PresentationFormat>Widescreen</PresentationFormat>
  <Paragraphs>461</Paragraphs>
  <Slides>74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Calisto MT</vt:lpstr>
      <vt:lpstr>Wingdings 2</vt:lpstr>
      <vt:lpstr>Slate</vt:lpstr>
      <vt:lpstr>Angular &amp; TypeScript</vt:lpstr>
      <vt:lpstr>Installation</vt:lpstr>
      <vt:lpstr>Creating Project </vt:lpstr>
      <vt:lpstr>Environment Creation</vt:lpstr>
      <vt:lpstr>Routing</vt:lpstr>
      <vt:lpstr>Routes [app.route.ts] , Lazy loading</vt:lpstr>
      <vt:lpstr>Navigate Via HTML</vt:lpstr>
      <vt:lpstr>Navigate Via TS</vt:lpstr>
      <vt:lpstr>RouterLinkActive, </vt:lpstr>
      <vt:lpstr>routerLinkActiveOptions</vt:lpstr>
      <vt:lpstr>Router outlet</vt:lpstr>
      <vt:lpstr>Start Binding</vt:lpstr>
      <vt:lpstr>Binding</vt:lpstr>
      <vt:lpstr>Event binding</vt:lpstr>
      <vt:lpstr>End Binding</vt:lpstr>
      <vt:lpstr>Observable</vt:lpstr>
      <vt:lpstr>Observer</vt:lpstr>
      <vt:lpstr>Subscriber</vt:lpstr>
      <vt:lpstr>Observable example</vt:lpstr>
      <vt:lpstr>Plain Subject</vt:lpstr>
      <vt:lpstr>BehaviorSubject</vt:lpstr>
      <vt:lpstr>Example 1: Login State</vt:lpstr>
      <vt:lpstr>Example 1: Login State [cont.1]</vt:lpstr>
      <vt:lpstr>BehaviorSubject [cont.]</vt:lpstr>
      <vt:lpstr>BehaviorSubject [cont.2]</vt:lpstr>
      <vt:lpstr>Advanced Example (User Object)</vt:lpstr>
      <vt:lpstr>Creating new component</vt:lpstr>
      <vt:lpstr>Creating side bar</vt:lpstr>
      <vt:lpstr>Adding bootstrap &amp; Bootstrap icon</vt:lpstr>
      <vt:lpstr>Addin CSS file globally</vt:lpstr>
      <vt:lpstr>Create main layout </vt:lpstr>
      <vt:lpstr>Create main layout  (cont.)</vt:lpstr>
      <vt:lpstr>@Injectable</vt:lpstr>
      <vt:lpstr>PIPES with Observable</vt:lpstr>
      <vt:lpstr>PIPES with Observable [cont.1]</vt:lpstr>
      <vt:lpstr>Pipeable Operators</vt:lpstr>
      <vt:lpstr>Pipeable Operators map</vt:lpstr>
      <vt:lpstr>Pipeable Operators filter</vt:lpstr>
      <vt:lpstr>Pipeable Operators CatchError signature</vt:lpstr>
      <vt:lpstr>Pipeable Operators CatchError</vt:lpstr>
      <vt:lpstr>Forms</vt:lpstr>
      <vt:lpstr>Template Driven Forms</vt:lpstr>
      <vt:lpstr>ReactiveFormsModule (model driven forms)</vt:lpstr>
      <vt:lpstr>ReactiveFormsModule (FormControl) [cont.1]</vt:lpstr>
      <vt:lpstr>ReactiveFormsModule (FormControl) [cont.2]</vt:lpstr>
      <vt:lpstr>ReactiveFormsModule ( FormGroup ) [cont.3]</vt:lpstr>
      <vt:lpstr>ReactiveFormsModule creation</vt:lpstr>
      <vt:lpstr>End Forms</vt:lpstr>
      <vt:lpstr>Sweat Alert </vt:lpstr>
      <vt:lpstr>HTTP Client </vt:lpstr>
      <vt:lpstr>Angular DT</vt:lpstr>
      <vt:lpstr>New Types </vt:lpstr>
      <vt:lpstr>AsyncValidatorFn &amp; ValidatorFn &amp; ValidationErrors</vt:lpstr>
      <vt:lpstr>PowerPoint Presentation</vt:lpstr>
      <vt:lpstr>End Angular DT</vt:lpstr>
      <vt:lpstr>ng-container</vt:lpstr>
      <vt:lpstr>ng-template</vt:lpstr>
      <vt:lpstr>ng-template</vt:lpstr>
      <vt:lpstr>ng-template [cont.2]</vt:lpstr>
      <vt:lpstr>New Variables</vt:lpstr>
      <vt:lpstr>Modal</vt:lpstr>
      <vt:lpstr>Modal [cont.]</vt:lpstr>
      <vt:lpstr>Angular Material </vt:lpstr>
      <vt:lpstr>Installation</vt:lpstr>
      <vt:lpstr>mat-paginator</vt:lpstr>
      <vt:lpstr>Febric.js</vt:lpstr>
      <vt:lpstr>Layout [cont.]</vt:lpstr>
      <vt:lpstr>Type Script</vt:lpstr>
      <vt:lpstr>Optional chaining [ ?.]</vt:lpstr>
      <vt:lpstr>index signature</vt:lpstr>
      <vt:lpstr>as keyword</vt:lpstr>
      <vt:lpstr>type narrowing</vt:lpstr>
      <vt:lpstr>Find()</vt:lpstr>
      <vt:lpstr>Enum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احمد محمد سمير</dc:creator>
  <cp:lastModifiedBy>Ahmed  Mohamed Samir</cp:lastModifiedBy>
  <cp:revision>524</cp:revision>
  <dcterms:created xsi:type="dcterms:W3CDTF">2026-01-29T20:04:39Z</dcterms:created>
  <dcterms:modified xsi:type="dcterms:W3CDTF">2026-05-14T07:17:04Z</dcterms:modified>
</cp:coreProperties>
</file>